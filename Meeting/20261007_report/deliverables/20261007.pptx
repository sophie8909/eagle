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1b915b45644ec1" /><Relationship Type="http://schemas.openxmlformats.org/officeDocument/2006/relationships/extended-properties" Target="/docProps/app.xml" Id="R565499efc405408e" /><Relationship Type="http://schemas.openxmlformats.org/officeDocument/2006/relationships/officeDocument" Target="/ppt/presentation.xml" Id="Rb845bfdf4eb24c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ab0240f1874cd0"/>
  </p:sldMasterIdLst>
  <p:notesMasterIdLst>
    <p:notesMasterId xmlns:r="http://schemas.openxmlformats.org/officeDocument/2006/relationships" r:id="Rf310813a3a4247cd"/>
  </p:notesMasterIdLst>
  <p:sldIdLst>
    <p:sldId xmlns:r="http://schemas.openxmlformats.org/officeDocument/2006/relationships" id="256" r:id="R7c81979269204a20"/>
    <p:sldId xmlns:r="http://schemas.openxmlformats.org/officeDocument/2006/relationships" id="257" r:id="Rc1927a7635644ed0"/>
    <p:sldId xmlns:r="http://schemas.openxmlformats.org/officeDocument/2006/relationships" id="258" r:id="R0231ce8a897641a4"/>
    <p:sldId xmlns:r="http://schemas.openxmlformats.org/officeDocument/2006/relationships" id="259" r:id="R737c48377f934448"/>
    <p:sldId xmlns:r="http://schemas.openxmlformats.org/officeDocument/2006/relationships" id="260" r:id="R6284ee7e06d94c80"/>
    <p:sldId xmlns:r="http://schemas.openxmlformats.org/officeDocument/2006/relationships" id="261" r:id="Rd660bfef5c4840a9"/>
    <p:sldId xmlns:r="http://schemas.openxmlformats.org/officeDocument/2006/relationships" id="262" r:id="R64486d5858e24161"/>
    <p:sldId xmlns:r="http://schemas.openxmlformats.org/officeDocument/2006/relationships" id="263" r:id="R555fd52746d940d0"/>
    <p:sldId xmlns:r="http://schemas.openxmlformats.org/officeDocument/2006/relationships" id="264" r:id="R4982832ab02e4885"/>
    <p:sldId xmlns:r="http://schemas.openxmlformats.org/officeDocument/2006/relationships" id="265" r:id="R30a4e6416bb34f08"/>
    <p:sldId xmlns:r="http://schemas.openxmlformats.org/officeDocument/2006/relationships" id="266" r:id="Rc67a342113384f72"/>
    <p:sldId xmlns:r="http://schemas.openxmlformats.org/officeDocument/2006/relationships" id="267" r:id="Rf9dd55e345e64125"/>
    <p:sldId xmlns:r="http://schemas.openxmlformats.org/officeDocument/2006/relationships" id="268" r:id="Rf268cb74fc25498b"/>
    <p:sldId xmlns:r="http://schemas.openxmlformats.org/officeDocument/2006/relationships" id="269" r:id="Rb5c71152a6f64624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8497E131-5584-4FF0-9A17-202609170001}">
  <a:tblStyle styleId="{8497E131-5584-4FF0-9A17-202609170001}" styleName="EAGLE 0917 Rose">
    <a:wholeTbl>
      <a:tcTxStyle b="off">
        <a:fontRef idx="minor">
          <a:srgbClr val="423C3B"/>
        </a:fontRef>
        <a:srgbClr val="423C3B"/>
      </a:tcTxStyle>
      <a:tcStyle>
        <a:tcBdr>
          <a:left>
            <a:ln w="6350">
              <a:solidFill>
                <a:srgbClr val="423C3B"/>
              </a:solidFill>
              <a:prstDash val="solid"/>
            </a:ln>
          </a:left>
          <a:right>
            <a:ln w="6350">
              <a:solidFill>
                <a:srgbClr val="423C3B"/>
              </a:solidFill>
              <a:prstDash val="solid"/>
            </a:ln>
          </a:right>
          <a:top>
            <a:ln w="6350">
              <a:solidFill>
                <a:srgbClr val="423C3B"/>
              </a:solidFill>
              <a:prstDash val="solid"/>
            </a:ln>
          </a:top>
          <a:bottom>
            <a:ln w="6350">
              <a:solidFill>
                <a:srgbClr val="423C3B"/>
              </a:solidFill>
              <a:prstDash val="solid"/>
            </a:ln>
          </a:bottom>
          <a:insideH>
            <a:ln w="6350">
              <a:solidFill>
                <a:srgbClr val="423C3B"/>
              </a:solidFill>
              <a:prstDash val="solid"/>
            </a:ln>
          </a:insideH>
          <a:insideV>
            <a:ln w="6350">
              <a:solidFill>
                <a:srgbClr val="423C3B"/>
              </a:solidFill>
              <a:prstDash val="solid"/>
            </a:ln>
          </a:insideV>
        </a:tcBdr>
        <a:fill>
          <a:solidFill>
            <a:srgbClr val="FCF8F5"/>
          </a:solidFill>
        </a:fill>
      </a:tcStyle>
    </a:wholeTbl>
    <a:firstRow>
      <a:tcTxStyle b="on">
        <a:fontRef idx="minor">
          <a:srgbClr val="423C3B"/>
        </a:fontRef>
        <a:srgbClr val="423C3B"/>
      </a:tcTxStyle>
      <a:tcStyle>
        <a:tcBdr>
          <a:left>
            <a:ln w="6350">
              <a:solidFill>
                <a:srgbClr val="423C3B"/>
              </a:solidFill>
              <a:prstDash val="solid"/>
            </a:ln>
          </a:left>
          <a:right>
            <a:ln w="6350">
              <a:solidFill>
                <a:srgbClr val="423C3B"/>
              </a:solidFill>
              <a:prstDash val="solid"/>
            </a:ln>
          </a:right>
          <a:top>
            <a:ln w="6350">
              <a:solidFill>
                <a:srgbClr val="423C3B"/>
              </a:solidFill>
              <a:prstDash val="solid"/>
            </a:ln>
          </a:top>
          <a:bottom>
            <a:ln w="6350">
              <a:solidFill>
                <a:srgbClr val="423C3B"/>
              </a:solidFill>
              <a:prstDash val="solid"/>
            </a:ln>
          </a:bottom>
          <a:insideH>
            <a:ln w="6350">
              <a:solidFill>
                <a:srgbClr val="423C3B"/>
              </a:solidFill>
              <a:prstDash val="solid"/>
            </a:ln>
          </a:insideH>
          <a:insideV>
            <a:ln w="6350">
              <a:solidFill>
                <a:srgbClr val="423C3B"/>
              </a:solidFill>
              <a:prstDash val="solid"/>
            </a:ln>
          </a:insideV>
        </a:tcBdr>
        <a:fill>
          <a:solidFill>
            <a:srgbClr val="DEB4BA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111311eb18448e" /><Relationship Type="http://schemas.openxmlformats.org/officeDocument/2006/relationships/slideMaster" Target="/ppt/slideMasters/slideMaster1.xml" Id="Rf6ab0240f1874cd0" /><Relationship Type="http://schemas.openxmlformats.org/officeDocument/2006/relationships/notesMaster" Target="/ppt/notesMasters/notesMaster1.xml" Id="Rf310813a3a4247cd" /><Relationship Type="http://schemas.openxmlformats.org/officeDocument/2006/relationships/presProps" Target="/ppt/presProps.xml" Id="R72be4bcd66e444b5" /><Relationship Type="http://schemas.openxmlformats.org/officeDocument/2006/relationships/viewProps" Target="/ppt/viewProps.xml" Id="R83eac158a0c34197" /><Relationship Type="http://schemas.openxmlformats.org/officeDocument/2006/relationships/tableStyles" Target="/ppt/tableStyles.xml" Id="Rc8133f3c9121467a" /><Relationship Type="http://schemas.openxmlformats.org/officeDocument/2006/relationships/slide" Target="/ppt/slides/slide1.xml" Id="R7c81979269204a20" /><Relationship Type="http://schemas.openxmlformats.org/officeDocument/2006/relationships/slide" Target="/ppt/slides/slide2.xml" Id="Rc1927a7635644ed0" /><Relationship Type="http://schemas.openxmlformats.org/officeDocument/2006/relationships/slide" Target="/ppt/slides/slide3.xml" Id="R0231ce8a897641a4" /><Relationship Type="http://schemas.openxmlformats.org/officeDocument/2006/relationships/slide" Target="/ppt/slides/slide4.xml" Id="R737c48377f934448" /><Relationship Type="http://schemas.openxmlformats.org/officeDocument/2006/relationships/slide" Target="/ppt/slides/slide5.xml" Id="R6284ee7e06d94c80" /><Relationship Type="http://schemas.openxmlformats.org/officeDocument/2006/relationships/slide" Target="/ppt/slides/slide6.xml" Id="Rd660bfef5c4840a9" /><Relationship Type="http://schemas.openxmlformats.org/officeDocument/2006/relationships/slide" Target="/ppt/slides/slide7.xml" Id="R64486d5858e24161" /><Relationship Type="http://schemas.openxmlformats.org/officeDocument/2006/relationships/slide" Target="/ppt/slides/slide8.xml" Id="R555fd52746d940d0" /><Relationship Type="http://schemas.openxmlformats.org/officeDocument/2006/relationships/slide" Target="/ppt/slides/slide9.xml" Id="R4982832ab02e4885" /><Relationship Type="http://schemas.openxmlformats.org/officeDocument/2006/relationships/slide" Target="/ppt/slides/slide10.xml" Id="R30a4e6416bb34f08" /><Relationship Type="http://schemas.openxmlformats.org/officeDocument/2006/relationships/slide" Target="/ppt/slides/slide11.xml" Id="Rc67a342113384f72" /><Relationship Type="http://schemas.openxmlformats.org/officeDocument/2006/relationships/slide" Target="/ppt/slides/slide12.xml" Id="Rf9dd55e345e64125" /><Relationship Type="http://schemas.openxmlformats.org/officeDocument/2006/relationships/slide" Target="/ppt/slides/slide13.xml" Id="Rf268cb74fc25498b" /><Relationship Type="http://schemas.openxmlformats.org/officeDocument/2006/relationships/slide" Target="/ppt/slides/slide14.xml" Id="Rb5c71152a6f646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c9fefafd5c4f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EAGLE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47171C"/>
      </a:accent2>
      <a:accent3>
        <a:srgbClr val="CF9BA5"/>
      </a:accent3>
      <a:accent4>
        <a:srgbClr val="C69B45"/>
      </a:accent4>
      <a:accent5>
        <a:srgbClr val="FAEDC6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Source Han Serif TW"/>
        <a:ea typeface="Source Han Serif TW"/>
        <a:cs typeface="Source Han Serif TW"/>
      </a:majorFont>
      <a:minorFont>
        <a:latin typeface="Source Han Serif TW"/>
        <a:ea typeface="Source Han Serif TW"/>
        <a:cs typeface="Source Han Serif TW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1ad013a90442be" /><Relationship Type="http://schemas.openxmlformats.org/officeDocument/2006/relationships/notesMaster" Target="/ppt/notesMasters/notesMaster1.xml" Id="Rc8e803b70fd64f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e52fd553ba45f4" /><Relationship Type="http://schemas.openxmlformats.org/officeDocument/2006/relationships/notesMaster" Target="/ppt/notesMasters/notesMaster1.xml" Id="R023852da7f224e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650fbd49854999" /><Relationship Type="http://schemas.openxmlformats.org/officeDocument/2006/relationships/notesMaster" Target="/ppt/notesMasters/notesMaster1.xml" Id="R1696b6e2b23d41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ce9bf348084d8d" /><Relationship Type="http://schemas.openxmlformats.org/officeDocument/2006/relationships/notesMaster" Target="/ppt/notesMasters/notesMaster1.xml" Id="R9794b153b27f4e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ec149d248b406b" /><Relationship Type="http://schemas.openxmlformats.org/officeDocument/2006/relationships/notesMaster" Target="/ppt/notesMasters/notesMaster1.xml" Id="R32a43606760444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9af7e0bf4f43c2" /><Relationship Type="http://schemas.openxmlformats.org/officeDocument/2006/relationships/notesMaster" Target="/ppt/notesMasters/notesMaster1.xml" Id="R1e1707d6462948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bc6374d2924463" /><Relationship Type="http://schemas.openxmlformats.org/officeDocument/2006/relationships/notesMaster" Target="/ppt/notesMasters/notesMaster1.xml" Id="Rd59edf9623b14e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f7c767a4e1477d" /><Relationship Type="http://schemas.openxmlformats.org/officeDocument/2006/relationships/notesMaster" Target="/ppt/notesMasters/notesMaster1.xml" Id="Ra9dd54f6bedd41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120eb1c117c4d15" /><Relationship Type="http://schemas.openxmlformats.org/officeDocument/2006/relationships/notesMaster" Target="/ppt/notesMasters/notesMaster1.xml" Id="R8a099783be3f4e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0b4b081a6f458f" /><Relationship Type="http://schemas.openxmlformats.org/officeDocument/2006/relationships/notesMaster" Target="/ppt/notesMasters/notesMaster1.xml" Id="R5f8d24bbcc7a454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6e1d9ac10f24d6d" /><Relationship Type="http://schemas.openxmlformats.org/officeDocument/2006/relationships/notesMaster" Target="/ppt/notesMasters/notesMaster1.xml" Id="R1e9dfd97a43f4b6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ea3e8cd27a849e6" /><Relationship Type="http://schemas.openxmlformats.org/officeDocument/2006/relationships/notesMaster" Target="/ppt/notesMasters/notesMaster1.xml" Id="Reeee1bee293c402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5f1c9f1e2a5418f" /><Relationship Type="http://schemas.openxmlformats.org/officeDocument/2006/relationships/notesMaster" Target="/ppt/notesMasters/notesMaster1.xml" Id="Ra14d3ccbf5a4467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e18212067004d93" /><Relationship Type="http://schemas.openxmlformats.org/officeDocument/2006/relationships/notesMaster" Target="/ppt/notesMasters/notesMaster1.xml" Id="R933daba7111f4a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資料來源：reports/20261007_experiment_and_changes_report.md</a:t>
            </a:r>
          </a:p>
          <a:p xmlns:a="http://schemas.openxmlformats.org/drawingml/2006/main">
            <a:r>
              <a:t>章節：1、5</a:t>
            </a:r>
          </a:p>
          <a:p xmlns:a="http://schemas.openxmlformats.org/drawingml/2006/main">
            <a:r>
              <a:t>報告日期範圍：2026-10-01 至 2026-10-07</a:t>
            </a:r>
          </a:p>
          <a:p xmlns:a="http://schemas.openxmlformats.org/drawingml/2006/main">
            <a:r>
              <a:t>分析基準 HEAD：68476fa29fc（報告所載）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資料來源：reports/20261007_experiment_and_changes_report.md</a:t>
            </a:r>
          </a:p>
          <a:p xmlns:a="http://schemas.openxmlformats.org/drawingml/2006/main">
            <a:r>
              <a:t>章節：1、2、5、6</a:t>
            </a:r>
          </a:p>
          <a:p xmlns:a="http://schemas.openxmlformats.org/drawingml/2006/main">
            <a:r>
              <a:t>報告日期範圍：2026-10-01 至 2026-10-07</a:t>
            </a:r>
          </a:p>
          <a:p xmlns:a="http://schemas.openxmlformats.org/drawingml/2006/main">
            <a:r>
              <a:t>分析基準 HEAD：68476fa29fc（報告所載）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資料來源：reports/20261007_experiment_and_changes_report.md</a:t>
            </a:r>
          </a:p>
          <a:p xmlns:a="http://schemas.openxmlformats.org/drawingml/2006/main">
            <a:r>
              <a:t>章節：3</a:t>
            </a:r>
          </a:p>
          <a:p xmlns:a="http://schemas.openxmlformats.org/drawingml/2006/main">
            <a:r>
              <a:t>報告日期範圍：2026-10-01 至 2026-10-07</a:t>
            </a:r>
          </a:p>
          <a:p xmlns:a="http://schemas.openxmlformats.org/drawingml/2006/main">
            <a:r>
              <a:t>分析基準 HEAD：68476fa29fc（報告所載）</a:t>
            </a:r>
          </a:p>
          <a:p xmlns:a="http://schemas.openxmlformats.org/drawingml/2006/main">
            <a:r>
              <a:t>歷史 artifact 位於 /home/mhlab/EAGLE/runs/。不得以現在的 config 回推舊 run。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資料來源：reports/20261007_experiment_and_changes_report.md</a:t>
            </a:r>
          </a:p>
          <a:p xmlns:a="http://schemas.openxmlformats.org/drawingml/2006/main">
            <a:r>
              <a:t>章節：1、3</a:t>
            </a:r>
          </a:p>
          <a:p xmlns:a="http://schemas.openxmlformats.org/drawingml/2006/main">
            <a:r>
              <a:t>報告日期範圍：2026-10-01 至 2026-10-07</a:t>
            </a:r>
          </a:p>
          <a:p xmlns:a="http://schemas.openxmlformats.org/drawingml/2006/main">
            <a:r>
              <a:t>分析基準 HEAD：68476fa29fc（報告所載）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資料來源：reports/20261007_experiment_and_changes_report.md</a:t>
            </a:r>
          </a:p>
          <a:p xmlns:a="http://schemas.openxmlformats.org/drawingml/2006/main">
            <a:r>
              <a:t>章節：2</a:t>
            </a:r>
          </a:p>
          <a:p xmlns:a="http://schemas.openxmlformats.org/drawingml/2006/main">
            <a:r>
              <a:t>報告日期範圍：2026-10-01 至 2026-10-07</a:t>
            </a:r>
          </a:p>
          <a:p xmlns:a="http://schemas.openxmlformats.org/drawingml/2006/main">
            <a:r>
              <a:t>分析基準 HEAD：68476fa29fc（報告所載）</a:t>
            </a:r>
          </a:p>
          <a:p xmlns:a="http://schemas.openxmlformats.org/drawingml/2006/main">
            <a:r>
              <a:t>設定檔：configs/experiments/1009_determinism_4x10_2seeds/ministral3_8b_determinism_4x10_2seeds.yaml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資料來源：reports/20261007_experiment_and_changes_report.md</a:t>
            </a:r>
          </a:p>
          <a:p xmlns:a="http://schemas.openxmlformats.org/drawingml/2006/main">
            <a:r>
              <a:t>章節：2</a:t>
            </a:r>
          </a:p>
          <a:p xmlns:a="http://schemas.openxmlformats.org/drawingml/2006/main">
            <a:r>
              <a:t>報告日期範圍：2026-10-01 至 2026-10-07</a:t>
            </a:r>
          </a:p>
          <a:p xmlns:a="http://schemas.openxmlformats.org/drawingml/2006/main">
            <a:r>
              <a:t>分析基準 HEAD：68476fa29fc（報告所載）</a:t>
            </a:r>
          </a:p>
          <a:p xmlns:a="http://schemas.openxmlformats.org/drawingml/2006/main">
            <a:r>
              <a:t>Run directories 均位於 runs/。Seed 7: 20261007_133838_331187、20261007_133856_523061。Seed 8: 20261007_133919_738016、20261007_133937_477330。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資料來源：reports/20261007_experiment_and_changes_report.md</a:t>
            </a:r>
          </a:p>
          <a:p xmlns:a="http://schemas.openxmlformats.org/drawingml/2006/main">
            <a:r>
              <a:t>章節：2、5</a:t>
            </a:r>
          </a:p>
          <a:p xmlns:a="http://schemas.openxmlformats.org/drawingml/2006/main">
            <a:r>
              <a:t>報告日期範圍：2026-10-01 至 2026-10-07</a:t>
            </a:r>
          </a:p>
          <a:p xmlns:a="http://schemas.openxmlformats.org/drawingml/2006/main">
            <a:r>
              <a:t>分析基準 HEAD：68476fa29fc（報告所載）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資料來源：reports/20261007_experiment_and_changes_report.md</a:t>
            </a:r>
          </a:p>
          <a:p xmlns:a="http://schemas.openxmlformats.org/drawingml/2006/main">
            <a:r>
              <a:t>章節：4：10/6</a:t>
            </a:r>
          </a:p>
          <a:p xmlns:a="http://schemas.openxmlformats.org/drawingml/2006/main">
            <a:r>
              <a:t>報告日期範圍：2026-10-01 至 2026-10-07</a:t>
            </a:r>
          </a:p>
          <a:p xmlns:a="http://schemas.openxmlformats.org/drawingml/2006/main">
            <a:r>
              <a:t>分析基準 HEAD：68476fa29fc（報告所載）</a:t>
            </a:r>
          </a:p>
          <a:p xmlns:a="http://schemas.openxmlformats.org/drawingml/2006/main">
            <a:r>
              <a:t>random_seeds: [7,8,9] 與 runs: 2 排程為 7,7,8,8,9,9。Match seed 持久化在 match metadata。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資料來源：reports/20261007_experiment_and_changes_report.md</a:t>
            </a:r>
          </a:p>
          <a:p xmlns:a="http://schemas.openxmlformats.org/drawingml/2006/main">
            <a:r>
              <a:t>章節：4：10/5、10/6</a:t>
            </a:r>
          </a:p>
          <a:p xmlns:a="http://schemas.openxmlformats.org/drawingml/2006/main">
            <a:r>
              <a:t>報告日期範圍：2026-10-01 至 2026-10-07</a:t>
            </a:r>
          </a:p>
          <a:p xmlns:a="http://schemas.openxmlformats.org/drawingml/2006/main">
            <a:r>
              <a:t>分析基準 HEAD：68476fa29fc（報告所載）</a:t>
            </a:r>
          </a:p>
          <a:p xmlns:a="http://schemas.openxmlformats.org/drawingml/2006/main">
            <a:r>
              <a:t>CPU llama.cpp、threads=1、batch size≥512、parallel=1、match worker=1。Batch 修正避免 GGML_ASSERT(n_tokens_all &lt;= cparams.n_batch)。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資料來源：reports/20261007_experiment_and_changes_report.md</a:t>
            </a:r>
          </a:p>
          <a:p xmlns:a="http://schemas.openxmlformats.org/drawingml/2006/main">
            <a:r>
              <a:t>章節：4：10/1–10/5</a:t>
            </a:r>
          </a:p>
          <a:p xmlns:a="http://schemas.openxmlformats.org/drawingml/2006/main">
            <a:r>
              <a:t>報告日期範圍：2026-10-01 至 2026-10-07</a:t>
            </a:r>
          </a:p>
          <a:p xmlns:a="http://schemas.openxmlformats.org/drawingml/2006/main">
            <a:r>
              <a:t>分析基準 HEAD：68476fa29fc（報告所載）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資料來源：reports/20261007_experiment_and_changes_report.md</a:t>
            </a:r>
          </a:p>
          <a:p xmlns:a="http://schemas.openxmlformats.org/drawingml/2006/main">
            <a:r>
              <a:t>章節：4：10/6、10/7、6</a:t>
            </a:r>
          </a:p>
          <a:p xmlns:a="http://schemas.openxmlformats.org/drawingml/2006/main">
            <a:r>
              <a:t>報告日期範圍：2026-10-01 至 2026-10-07</a:t>
            </a:r>
          </a:p>
          <a:p xmlns:a="http://schemas.openxmlformats.org/drawingml/2006/main">
            <a:r>
              <a:t>分析基準 HEAD：68476fa29fc（報告所載）</a:t>
            </a:r>
          </a:p>
          <a:p xmlns:a="http://schemas.openxmlformats.org/drawingml/2006/main">
            <a:r>
              <a:t>相關 commits：8b39a3c6c79、b712ec9c9da、cae83dbf851、735bc5796ea、68476fa29fc。Stable ID 以 candidate ID、generation、role、match ID、suffix 經 SHA-256 派生。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資料來源：reports/20261007_experiment_and_changes_report.md</a:t>
            </a:r>
          </a:p>
          <a:p xmlns:a="http://schemas.openxmlformats.org/drawingml/2006/main">
            <a:r>
              <a:t>章節：3：後續初始化修正</a:t>
            </a:r>
          </a:p>
          <a:p xmlns:a="http://schemas.openxmlformats.org/drawingml/2006/main">
            <a:r>
              <a:t>報告日期範圍：2026-10-01 至 2026-10-07</a:t>
            </a:r>
          </a:p>
          <a:p xmlns:a="http://schemas.openxmlformats.org/drawingml/2006/main">
            <a:r>
              <a:t>分析基準 HEAD：68476fa29fc（報告所載）</a:t>
            </a:r>
          </a:p>
          <a:p xmlns:a="http://schemas.openxmlformats.org/drawingml/2006/main">
            <a:r>
              <a:t>prompts/initial_policy_variants.txt。1009、1007、1008 deterministic configs 已切換回 llm_generated_policies。本頁描述報告中的後續修正，不能視為此次 mock runs 的實際 LLM 生成結果。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資料來源：reports/20261007_experiment_and_changes_report.md</a:t>
            </a:r>
          </a:p>
          <a:p xmlns:a="http://schemas.openxmlformats.org/drawingml/2006/main">
            <a:r>
              <a:t>章節：5</a:t>
            </a:r>
          </a:p>
          <a:p xmlns:a="http://schemas.openxmlformats.org/drawingml/2006/main">
            <a:r>
              <a:t>報告日期範圍：2026-10-01 至 2026-10-07</a:t>
            </a:r>
          </a:p>
          <a:p xmlns:a="http://schemas.openxmlformats.org/drawingml/2006/main">
            <a:r>
              <a:t>分析基準 HEAD：68476fa29fc（報告所載）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資料來源：reports/20261007_experiment_and_changes_report.md</a:t>
            </a:r>
          </a:p>
          <a:p xmlns:a="http://schemas.openxmlformats.org/drawingml/2006/main">
            <a:r>
              <a:t>章節：5、6</a:t>
            </a:r>
          </a:p>
          <a:p xmlns:a="http://schemas.openxmlformats.org/drawingml/2006/main">
            <a:r>
              <a:t>報告日期範圍：2026-10-01 至 2026-10-07</a:t>
            </a:r>
          </a:p>
          <a:p xmlns:a="http://schemas.openxmlformats.org/drawingml/2006/main">
            <a:r>
              <a:t>分析基準 HEAD：68476fa29fc（報告所載）</a:t>
            </a:r>
          </a:p>
          <a:p xmlns:a="http://schemas.openxmlformats.org/drawingml/2006/main">
            <a:r>
              <a:t>報告驗證：python -m unittest discover -s tests -q：518 tests passed、1 skipped。本簡報引用報告結果，未重新執行專案測試或實驗。下一步為有 CUDA 的 5080 host，依同一份 config 執行實際 LLM pipeline。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ce7b487592492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16098d2e8a415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18d7361db948b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498a1c1e81484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1ec042b2d2494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1d28568001432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85cd83d14441d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ba553e38924cd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3bb766be03489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2f7c4f6bee4aa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948441b71f46c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a38b4201ff4dde" /></Relationships>
</file>

<file path=ppt/slideLayouts/slideLayout1.xml><?xml version="1.0" encoding="utf-8"?>
<p:sldLayout xmlns:p="http://schemas.openxmlformats.org/presentationml/2006/main" type="title" preserve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2F34C9E6-C370-4CE6-8C49-57861F01F240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476500" y="2762250"/>
            <a:ext cx="10972800" cy="13335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7A0C5AD2-9560-46CF-A557-9D96775B73B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857500" y="4429125"/>
            <a:ext cx="10210800" cy="9525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14A15826-454A-4DF1-8D3E-49BB81D7D4E6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94FF8C53-65A6-4BE2-B1C3-0860FCD540B7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</p:cSld>
  <p:hf hdr="0" ftr="0" dt="0"/>
</p:sldLayout>
</file>

<file path=ppt/slideLayouts/slideLayout2.xml><?xml version="1.0" encoding="utf-8"?>
<p:sldLayout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E3969E06-0C81-48D2-BB37-515771E13DCE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476500" y="3238500"/>
            <a:ext cx="10972800" cy="12382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2">
            <a:extLst xmlns:a="http://schemas.openxmlformats.org/drawingml/2006/main">
              <a:ext uri="{FF2B5EF4-FFF2-40B4-BE49-F238E27FC236}">
                <a16:creationId xmlns:a16="http://schemas.microsoft.com/office/drawing/2014/main" id="{590865AA-9D35-4748-91A3-B387D561BA4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048000" y="4714875"/>
            <a:ext cx="9829800" cy="8572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按一下以新增章節說明</a:t>
            </a:r>
          </a:p>
        </p:txBody>
      </p:sp>
      <p:sp>
        <p:nvSpPr>
          <p:cNvPr id="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B40C4AC1-1C37-4C55-9BB7-22A73CFA68D8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1DC12639-B266-46C5-BCF3-45A4D32AE42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</p:cSld>
  <p:hf hdr="0" ftr="0" dt="0"/>
</p:sldLayout>
</file>

<file path=ppt/slideLayouts/slideLayout3.xml><?xml version="1.0" encoding="utf-8"?>
<p:sldLayout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6EC4DF72-535F-4440-B07D-46BAD5D2A2AE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51353937-B2B6-48C4-A2B5-2F27B15E716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92425B3F-3430-4EDE-B5B3-73C027E72E1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130683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C207E7C0-B665-4EF6-AA57-F0E133624762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1ED4EB3D-E8EE-422C-AC16-9B2450B7C42F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</p:cSld>
  <p:hf hdr="0" ftr="0" dt="0"/>
</p:sldLayout>
</file>

<file path=ppt/slideLayouts/slideLayout4.xml><?xml version="1.0" encoding="utf-8"?>
<p:sldLayout xmlns:p="http://schemas.openxmlformats.org/presentationml/2006/main" type="twoObj" preserve="1">
  <p:cSld name="兩項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3A4791D8-472B-4CB1-9BF5-68D6DDA5E08C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302C0C6D-C490-4DDF-92D9-E216E08E1CE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0892CF96-6BB8-469E-8C05-16E66270671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630555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00538733-DF1C-4D96-92B6-38724A005A9A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8191500" y="2619375"/>
            <a:ext cx="630555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B701B124-5A19-4C69-B76B-60ED9A834416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58176649-BADB-4675-AA89-5F227F3F3954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</p:cSld>
  <p:hf hdr="0" ftr="0" dt="0"/>
</p:sldLayout>
</file>

<file path=ppt/slideLayouts/slideLayout5.xml><?xml version="1.0" encoding="utf-8"?>
<p:sldLayout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C4DD0E43-2CD7-44D8-A8DE-10D092170A60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076D8F65-D3F7-4349-B3FE-19769F62948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E2F427F0-C955-46A6-9858-9A50C0C635E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571750"/>
            <a:ext cx="6305550" cy="619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按一下以新增欄位標題</a:t>
            </a:r>
          </a:p>
        </p:txBody>
      </p:sp>
      <p:sp>
        <p:nvSpPr>
          <p:cNvPr id="5" name="EAGLE_4">
            <a:extLst xmlns:a="http://schemas.openxmlformats.org/drawingml/2006/main">
              <a:ext uri="{FF2B5EF4-FFF2-40B4-BE49-F238E27FC236}">
                <a16:creationId xmlns:a16="http://schemas.microsoft.com/office/drawing/2014/main" id="{3BB99614-5410-42D4-8D56-3C67339DE590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1428750" y="3476625"/>
            <a:ext cx="6305550" cy="4048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6" name="EAGLE_3">
            <a:extLst xmlns:a="http://schemas.openxmlformats.org/drawingml/2006/main">
              <a:ext uri="{FF2B5EF4-FFF2-40B4-BE49-F238E27FC236}">
                <a16:creationId xmlns:a16="http://schemas.microsoft.com/office/drawing/2014/main" id="{A31AD1B3-6BB9-4504-B9C5-087515F7D2D4}"/>
              </a:ext>
            </a:extLst>
          </p:cNvPr>
          <p:cNvSpPr>
            <a:spLocks xmlns:a="http://schemas.openxmlformats.org/drawingml/2006/main" noGrp="1"/>
          </p:cNvSpPr>
          <p:nvPr>
            <p:ph idx="5"/>
          </p:nvPr>
        </p:nvSpPr>
        <p:spPr>
          <a:xfrm xmlns:a="http://schemas.openxmlformats.org/drawingml/2006/main">
            <a:off x="8191500" y="2571750"/>
            <a:ext cx="6305550" cy="619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按一下以新增欄位標題</a:t>
            </a:r>
          </a:p>
        </p:txBody>
      </p:sp>
      <p:sp>
        <p:nvSpPr>
          <p:cNvPr id="7" name="EAGLE_5">
            <a:extLst xmlns:a="http://schemas.openxmlformats.org/drawingml/2006/main">
              <a:ext uri="{FF2B5EF4-FFF2-40B4-BE49-F238E27FC236}">
                <a16:creationId xmlns:a16="http://schemas.microsoft.com/office/drawing/2014/main" id="{31D81A76-EB56-426E-8AAB-C05D479E14FD}"/>
              </a:ext>
            </a:extLst>
          </p:cNvPr>
          <p:cNvSpPr>
            <a:spLocks xmlns:a="http://schemas.openxmlformats.org/drawingml/2006/main" noGrp="1"/>
          </p:cNvSpPr>
          <p:nvPr>
            <p:ph idx="5"/>
          </p:nvPr>
        </p:nvSpPr>
        <p:spPr>
          <a:xfrm xmlns:a="http://schemas.openxmlformats.org/drawingml/2006/main">
            <a:off x="8191500" y="3476625"/>
            <a:ext cx="6305550" cy="4048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8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8B2B1B2F-7013-42E9-AC2C-A1D255E4C076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DAAEABEC-89D6-436E-9471-497DE5F8CC71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</p:cSld>
  <p:hf hdr="0" ftr="0" dt="0"/>
</p:sldLayout>
</file>

<file path=ppt/slideLayouts/slideLayout6.xml><?xml version="1.0" encoding="utf-8"?>
<p:sldLayout xmlns:p="http://schemas.openxmlformats.org/presentationml/2006/main" preserve="1">
  <p:cSld name="三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D22686DD-6022-4F4D-883C-A3A2AE4FE63B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6D6AF434-5A04-42F0-BBFA-BC92C579986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FEB69765-384F-41D2-A24F-900B0409C29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40386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BB259B69-1EC0-4318-8F78-3881E3FD7476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5943600" y="2619375"/>
            <a:ext cx="40386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6" name="EAGLE_4">
            <a:extLst xmlns:a="http://schemas.openxmlformats.org/drawingml/2006/main">
              <a:ext uri="{FF2B5EF4-FFF2-40B4-BE49-F238E27FC236}">
                <a16:creationId xmlns:a16="http://schemas.microsoft.com/office/drawing/2014/main" id="{86B9ECF8-06DD-4853-A29A-64E7D62F27E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0458450" y="2619375"/>
            <a:ext cx="40386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21F4EDD5-3B6F-4EC1-A1E5-CF2293EDEB66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534CC2CF-DFA1-4FF2-9601-EFC4BA57938F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</p:cSld>
  <p:hf hdr="0" ftr="0" dt="0"/>
</p:sldLayout>
</file>

<file path=ppt/slideLayouts/slideLayout7.xml><?xml version="1.0" encoding="utf-8"?>
<p:sldLayout xmlns:p="http://schemas.openxmlformats.org/presentationml/2006/main" type="picTx" preserve="1">
  <p:cSld name="圖片及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93752F55-AC4A-40BE-B03B-0C040D71840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8B7D0469-A4AB-493F-ACBF-E8CB73C3A60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9089290D-C95F-4404-8DFC-D4901DA1C1B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2000250" y="2476500"/>
            <a:ext cx="11925300" cy="46196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D1E03D6F-4B50-441D-9B62-7C7CF72080CE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2000250" y="7334250"/>
            <a:ext cx="11925300" cy="6667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按一下以新增圖片說明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D72035D-5204-49A0-B446-C91939CB2772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5C3B0106-61B7-472E-AA5A-C33DCAE7DD66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</p:cSld>
  <p:hf hdr="0" ftr="0" dt="0"/>
</p:sldLayout>
</file>

<file path=ppt/slideLayouts/slideLayout8.xml><?xml version="1.0" encoding="utf-8"?>
<p:sldLayout xmlns:p="http://schemas.openxmlformats.org/presentationml/2006/main" type="objTx" preserve="1">
  <p:cSld name="內容與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4E1AFFBC-8DD7-4858-BE9E-DF7B9E845243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51E591F6-4009-4737-9C0E-3381B92FB0A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6277AB01-EE8D-4317-87D9-BEC820CCC3C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5476875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882ACEB2-431F-4BBF-8F1B-4F07F63851B4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7429500" y="2619375"/>
            <a:ext cx="706755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3782DFB2-0D50-4054-A43C-51B05C939A0A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C110DA2E-972D-47CE-8ED2-D648217896E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</p:cSld>
  <p:hf hdr="0" ftr="0" dt="0"/>
</p:sldLayout>
</file>

<file path=ppt/slideLayouts/slideLayout9.xml><?xml version="1.0" encoding="utf-8"?>
<p:sldLayout xmlns:p="http://schemas.openxmlformats.org/presentationml/2006/main" preserve="1">
  <p:cSld name="標題及表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3F380ADE-E8BD-4361-83D4-34B395C514E3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198BEF13-EEB7-4982-8834-382B045AD4B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72D86C95-69D7-4516-97E8-EFF008A8DEC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130683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按一下以新增表格</a:t>
            </a:r>
          </a:p>
        </p:txBody>
      </p:sp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14468463-438C-4BFB-9623-E3709DAB4657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04A177D9-44BB-4EE7-B2EE-483B651A8234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</p:cSld>
  <p:hf hdr="0" ftr="0" dt="0"/>
</p:sldLayout>
</file>

<file path=ppt/slideLayouts/slideLayout10.xml><?xml version="1.0" encoding="utf-8"?>
<p:sldLayout xmlns:p="http://schemas.openxmlformats.org/presentationml/2006/main" preserve="1">
  <p:cSld name="標題及圖表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1A30452A-65F7-44A3-A2FA-1CF1F34140E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C07D963E-74AF-48B2-8248-0768C947D07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6394422A-37D3-4C97-96C5-AF5AE3C8DC4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130683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按一下以新增圖表</a:t>
            </a:r>
          </a:p>
        </p:txBody>
      </p:sp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131EABEA-CA24-4FC0-ABDD-FE4D712E20C6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86AA3F53-A20A-43C4-B655-9BABD8BDE394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</p:cSld>
  <p:hf hdr="0" ftr="0" dt="0"/>
</p:sldLayout>
</file>

<file path=ppt/slideLayouts/slideLayout11.xml><?xml version="1.0" encoding="utf-8"?>
<p:sldLayout xmlns:p="http://schemas.openxmlformats.org/presentationml/2006/main" type="titleOnly" preserve="1">
  <p:cSld name="僅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2F1A0662-494B-4627-BCEA-708F46AE5F74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5E4D67E8-1093-453A-AE8D-20B1DE405F8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291101A9-7854-443A-A361-426FA9989546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EFA42C01-117D-4BA1-BE6C-78A506A620BB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</p:cSld>
  <p:hf hdr="0" ftr="0" dt="0"/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95028CD3-6447-4F4D-9CD6-520CAC0984F1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28360F44-9DDB-4760-BE5D-FBB78FF4F621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</p:cSld>
  <p:hf hdr="0" ftr="0" dt="0"/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0e049502e8bd4b87" /><Relationship Type="http://schemas.openxmlformats.org/officeDocument/2006/relationships/theme" Target="/ppt/slideMasters/theme/theme2.xml" Id="R02cc8a599e094c8e" /><Relationship Type="http://schemas.openxmlformats.org/officeDocument/2006/relationships/slideLayout" Target="/ppt/slideLayouts/slideLayout1.xml" Id="R6cc329b8f8184c3c" /><Relationship Type="http://schemas.openxmlformats.org/officeDocument/2006/relationships/slideLayout" Target="/ppt/slideLayouts/slideLayout2.xml" Id="R3db84bcaaef54ce4" /><Relationship Type="http://schemas.openxmlformats.org/officeDocument/2006/relationships/slideLayout" Target="/ppt/slideLayouts/slideLayout3.xml" Id="R16bc56b79481488a" /><Relationship Type="http://schemas.openxmlformats.org/officeDocument/2006/relationships/slideLayout" Target="/ppt/slideLayouts/slideLayout4.xml" Id="R5e7552937f08439e" /><Relationship Type="http://schemas.openxmlformats.org/officeDocument/2006/relationships/slideLayout" Target="/ppt/slideLayouts/slideLayout5.xml" Id="R560cfd78ba6b4f81" /><Relationship Type="http://schemas.openxmlformats.org/officeDocument/2006/relationships/slideLayout" Target="/ppt/slideLayouts/slideLayout6.xml" Id="R4ff92a69ee834c4b" /><Relationship Type="http://schemas.openxmlformats.org/officeDocument/2006/relationships/slideLayout" Target="/ppt/slideLayouts/slideLayout7.xml" Id="Rb67de0efe6b64c67" /><Relationship Type="http://schemas.openxmlformats.org/officeDocument/2006/relationships/slideLayout" Target="/ppt/slideLayouts/slideLayout8.xml" Id="R90f0426fdfa6464d" /><Relationship Type="http://schemas.openxmlformats.org/officeDocument/2006/relationships/slideLayout" Target="/ppt/slideLayouts/slideLayout9.xml" Id="R7736e23f45b04084" /><Relationship Type="http://schemas.openxmlformats.org/officeDocument/2006/relationships/slideLayout" Target="/ppt/slideLayouts/slideLayout10.xml" Id="Rb9798e1a5f594c74" /><Relationship Type="http://schemas.openxmlformats.org/officeDocument/2006/relationships/slideLayout" Target="/ppt/slideLayouts/slideLayout11.xml" Id="R17dd8c0128aa4b73" /><Relationship Type="http://schemas.openxmlformats.org/officeDocument/2006/relationships/slideLayout" Target="/ppt/slideLayouts/slideLayout12.xml" Id="R72958e8d64924f28" /></Relationships>
</file>

<file path=ppt/slideMasters/slideMaster1.xml><?xml version="1.0" encoding="utf-8"?>
<p:sldMaster xmlns:p="http://schemas.openxmlformats.org/presentationml/2006/main">
  <p:cSld name="EAGLE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EAGLE geometric full-slide backgroun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049502e8bd4b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925800" cy="8963025"/>
          </a:xfrm>
          <a:prstGeom xmlns:a="http://schemas.openxmlformats.org/drawingml/2006/main" prst="rect">
            <a:avLst/>
          </a:prstGeom>
        </p:spPr>
      </p:pic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794BEE6-16F5-441D-A004-61AFD0D27CFB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c329b8f8184c3c"/>
    <p:sldLayoutId xmlns:r="http://schemas.openxmlformats.org/officeDocument/2006/relationships" id="2147483650" r:id="R3db84bcaaef54ce4"/>
    <p:sldLayoutId xmlns:r="http://schemas.openxmlformats.org/officeDocument/2006/relationships" id="2147483651" r:id="R16bc56b79481488a"/>
    <p:sldLayoutId xmlns:r="http://schemas.openxmlformats.org/officeDocument/2006/relationships" id="2147483652" r:id="R5e7552937f08439e"/>
    <p:sldLayoutId xmlns:r="http://schemas.openxmlformats.org/officeDocument/2006/relationships" id="2147483653" r:id="R560cfd78ba6b4f81"/>
    <p:sldLayoutId xmlns:r="http://schemas.openxmlformats.org/officeDocument/2006/relationships" id="2147483654" r:id="R4ff92a69ee834c4b"/>
    <p:sldLayoutId xmlns:r="http://schemas.openxmlformats.org/officeDocument/2006/relationships" id="2147483655" r:id="Rb67de0efe6b64c67"/>
    <p:sldLayoutId xmlns:r="http://schemas.openxmlformats.org/officeDocument/2006/relationships" id="2147483656" r:id="R90f0426fdfa6464d"/>
    <p:sldLayoutId xmlns:r="http://schemas.openxmlformats.org/officeDocument/2006/relationships" id="2147483657" r:id="R7736e23f45b04084"/>
    <p:sldLayoutId xmlns:r="http://schemas.openxmlformats.org/officeDocument/2006/relationships" id="2147483658" r:id="Rb9798e1a5f594c74"/>
    <p:sldLayoutId xmlns:r="http://schemas.openxmlformats.org/officeDocument/2006/relationships" id="2147483659" r:id="R17dd8c0128aa4b73"/>
    <p:sldLayoutId xmlns:r="http://schemas.openxmlformats.org/officeDocument/2006/relationships" id="2147483660" r:id="R72958e8d64924f28"/>
  </p:sldLayoutIdLst>
  <p:hf hdr="0" ft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Source Han Serif TW"/>
          <a:ea typeface="Source Han Serif TW"/>
          <a:cs typeface="Source Han Serif TW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Source Han Serif TW"/>
          <a:ea typeface="Source Han Serif TW"/>
          <a:cs typeface="Source Han Serif TW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9pPr>
    </p:otherStyle>
  </p:txStyles>
</p:sldMaster>
</file>

<file path=ppt/slideMasters/theme/theme2.xml><?xml version="1.0" encoding="utf-8"?>
<a:theme xmlns:a="http://schemas.openxmlformats.org/drawingml/2006/main" name="EAGLE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47171C"/>
      </a:accent2>
      <a:accent3>
        <a:srgbClr val="CF9BA5"/>
      </a:accent3>
      <a:accent4>
        <a:srgbClr val="C69B45"/>
      </a:accent4>
      <a:accent5>
        <a:srgbClr val="FAEDC6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Source Han Serif TW"/>
        <a:ea typeface="Source Han Serif TW"/>
        <a:cs typeface="Source Han Serif TW"/>
      </a:majorFont>
      <a:minorFont>
        <a:latin typeface="Source Han Serif TW"/>
        <a:ea typeface="Source Han Serif TW"/>
        <a:cs typeface="Source Han Serif TW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fdd617b12984e27" /><Relationship Type="http://schemas.openxmlformats.org/officeDocument/2006/relationships/notesSlide" Target="/ppt/notesSlides/notesSlide1.xml" Id="R05ba51d5bd0e4b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15e5dd9318c4acc" /><Relationship Type="http://schemas.openxmlformats.org/officeDocument/2006/relationships/notesSlide" Target="/ppt/notesSlides/notesSlide2.xml" Id="R9cd288573a6045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4f08bb683174447" /><Relationship Type="http://schemas.openxmlformats.org/officeDocument/2006/relationships/notesSlide" Target="/ppt/notesSlides/notesSlide3.xml" Id="Rca3855b389a44d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8a934ef2bbe4324" /><Relationship Type="http://schemas.openxmlformats.org/officeDocument/2006/relationships/notesSlide" Target="/ppt/notesSlides/notesSlide4.xml" Id="R93ab5fce5fce4d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a7ac3e7eafd4ad9" /><Relationship Type="http://schemas.openxmlformats.org/officeDocument/2006/relationships/notesSlide" Target="/ppt/notesSlides/notesSlide5.xml" Id="R15e6e3cc78344f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b8bb5a9f7d749ea" /><Relationship Type="http://schemas.openxmlformats.org/officeDocument/2006/relationships/notesSlide" Target="/ppt/notesSlides/notesSlide6.xml" Id="Rd0837845b7044a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7a23ffc28e54786" /><Relationship Type="http://schemas.openxmlformats.org/officeDocument/2006/relationships/notesSlide" Target="/ppt/notesSlides/notesSlide7.xml" Id="R039eba50f3444f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b09cf66217c408e" /><Relationship Type="http://schemas.openxmlformats.org/officeDocument/2006/relationships/notesSlide" Target="/ppt/notesSlides/notesSlide8.xml" Id="Rdb99f16d974344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382572bf3a04c6b" /><Relationship Type="http://schemas.openxmlformats.org/officeDocument/2006/relationships/notesSlide" Target="/ppt/notesSlides/notesSlide9.xml" Id="R68b43ad83c0a420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d68516a07d94500" /><Relationship Type="http://schemas.openxmlformats.org/officeDocument/2006/relationships/notesSlide" Target="/ppt/notesSlides/notesSlide10.xml" Id="Rdf18a3aeb59d40f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1f819cf85294eb0" /><Relationship Type="http://schemas.openxmlformats.org/officeDocument/2006/relationships/notesSlide" Target="/ppt/notesSlides/notesSlide11.xml" Id="Rcda781857251420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3b4454a8f124d18" /><Relationship Type="http://schemas.openxmlformats.org/officeDocument/2006/relationships/notesSlide" Target="/ppt/notesSlides/notesSlide12.xml" Id="R8b1332a5aec14e7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de3946a5b3d4012" /><Relationship Type="http://schemas.openxmlformats.org/officeDocument/2006/relationships/notesSlide" Target="/ppt/notesSlides/notesSlide13.xml" Id="R29953decbab045d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74aef2923a64f37" /><Relationship Type="http://schemas.openxmlformats.org/officeDocument/2006/relationships/notesSlide" Target="/ppt/notesSlides/notesSlide14.xml" Id="R8b8ce3d25a00452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14A10AF4-357C-46BD-A193-7A0BBFAE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8150"/>
            <a:ext cx="11353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EAGLE 實驗與程式變更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058B17E-9976-405C-91A3-C4D20895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09725"/>
            <a:ext cx="1230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2026/10/01–10/07 研究進度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44EC57D-AA18-4AFF-8673-248B16AE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56F8DE3-A071-4B28-8F4A-9D7F5750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00375"/>
            <a:ext cx="115443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Deterministic mode 與重複實驗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F05DE39-0AB1-495C-A7F9-28C5401F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200525"/>
            <a:ext cx="11258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4×10 mock pipeline 通過同 seed 行為比對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162A3D6-75D6-44B1-A452-11D0FDF1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057775"/>
            <a:ext cx="11258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實際 LLM 生成層的可重現性仍待驗證</a:t>
            </a:r>
          </a:p>
        </p:txBody>
      </p:sp>
    </p:spTree>
    <p:extLst>
      <p:ext uri="{BB962C8B-B14F-4D97-AF65-F5344CB8AC3E}">
        <p14:creationId xmlns:p14="http://schemas.microsoft.com/office/powerpoint/2010/main" val="20004382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12B2A49D-859E-4255-934E-57FF4DAA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8150"/>
            <a:ext cx="11353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10/7 的新增證據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F386185-D232-4F0C-A4C5-8E93D631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09725"/>
            <a:ext cx="1230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同 seed 比較演化行為，執行時間另外記錄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37AE8E3-D7D4-4918-B65F-2E1FB52A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1428750" y="2571750"/>
          <a:ext xmlns:a="http://schemas.openxmlformats.org/drawingml/2006/main" cx="1306830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4286250"/>
                <a:gridCol w="5543550"/>
              </a:tblGrid>
              <a:tr h="750094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驗證項目</a:t>
                      </a:r>
                    </a:p>
                  </a:txBody>
                  <a:tcPr marL="95250" marR="95250" marT="66675" marB="666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執行規模</a:t>
                      </a:r>
                    </a:p>
                  </a:txBody>
                  <a:tcPr marL="95250" marR="95250" marT="66675" marB="666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結果</a:t>
                      </a:r>
                    </a:p>
                  </a:txBody>
                  <a:tcPr marL="95250" marR="95250" marT="66675" marB="66675">
                    <a:solidFill>
                      <a:srgbClr val="DEB4BA"/>
                    </a:solidFill>
                  </a:tcPr>
                </a:tc>
              </a:tr>
              <a:tr h="750094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3×2 smoke gate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 7、8、9，各 2 run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mock complete，同 seed 一致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</a:tr>
              <a:tr h="750094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4×10 主實驗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 7、8，各 2 run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 run 完成，同 seed 一致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</a:tr>
              <a:tr h="750094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實際 Ministral LLM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本機沒有 CUDA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尚無完整模型生成層證據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AA3C5DED-A2E0-4ED5-B51C-7000EA3E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810375"/>
            <a:ext cx="12877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目前證據涵蓋完整 EA/mock pipeline，實際 LLM 尚待補測</a:t>
            </a:r>
          </a:p>
        </p:txBody>
      </p:sp>
    </p:spTree>
    <p:extLst>
      <p:ext uri="{BB962C8B-B14F-4D97-AF65-F5344CB8AC3E}">
        <p14:creationId xmlns:p14="http://schemas.microsoft.com/office/powerpoint/2010/main" val="145906941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48AACEC9-F076-4DCA-B922-D5288CC2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8150"/>
            <a:ext cx="11353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10/2–10/6 的歷史實驗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23152F3-B894-4CF6-A78A-54B70179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09725"/>
            <a:ext cx="1230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當時設定以各 run 的 config.yaml 為準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AAEB86B-2529-45BB-903F-8F2760F3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1428750" y="2476500"/>
          <a:ext xmlns:a="http://schemas.openxmlformats.org/drawingml/2006/main" cx="130683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4143375"/>
                <a:gridCol w="4733925"/>
              </a:tblGrid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日期與規模</a:t>
                      </a:r>
                    </a:p>
                  </a:txBody>
                  <a:tcPr marL="95250" marR="95250" marT="66675" marB="666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Runs / 狀態</a:t>
                      </a:r>
                    </a:p>
                  </a:txBody>
                  <a:tcPr marL="95250" marR="95250" marT="66675" marB="666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解讀限制</a:t>
                      </a:r>
                    </a:p>
                  </a:txBody>
                  <a:tcPr marL="95250" marR="95250" marT="66675" marB="66675">
                    <a:solidFill>
                      <a:srgbClr val="DEB4BA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10/2 parallel 20×10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 run interrupted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保留作效能與 artifact 對照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10/2–10/4 self-play 20×10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 7、8、9 各完成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GP scalar 與 semantic tie-break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10/5 self-play 4×10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 7 曾 failed，seed 7/8 完成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temperature 與 GPU runtime 未統一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10/6 self-play 10×4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 7、8、9 各 2 run 完成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deterministic mode 加入前執行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9C6355C1-8FB2-459B-9921-E9C42DAB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810375"/>
            <a:ext cx="12877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舊 10×4 重複實驗不能作為 deterministic 一致性證據</a:t>
            </a:r>
          </a:p>
        </p:txBody>
      </p:sp>
    </p:spTree>
    <p:extLst>
      <p:ext uri="{BB962C8B-B14F-4D97-AF65-F5344CB8AC3E}">
        <p14:creationId xmlns:p14="http://schemas.microsoft.com/office/powerpoint/2010/main" val="202588372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11F92683-482E-4012-8CA6-2063032F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8150"/>
            <a:ext cx="11353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Deterministic 實驗的驗證順序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F7C191E-EAE5-43F0-8EEE-AD1467B2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09725"/>
            <a:ext cx="1230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10/6 的模型生成嘗試與 10/7 的 mock gates 分開解讀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6C1CEDB-7AE2-427A-B4B9-94EC6E39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1428750" y="2571750"/>
          <a:ext xmlns:a="http://schemas.openxmlformats.org/drawingml/2006/main" cx="130683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4286250"/>
                <a:gridCol w="4305300"/>
              </a:tblGrid>
              <a:tr h="773906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日期與實驗</a:t>
                      </a:r>
                    </a:p>
                  </a:txBody>
                  <a:tcPr marL="95250" marR="95250" marT="66675" marB="666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狀態</a:t>
                      </a:r>
                    </a:p>
                  </a:txBody>
                  <a:tcPr marL="95250" marR="95250" marT="66675" marB="666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可用證據</a:t>
                      </a:r>
                    </a:p>
                  </a:txBody>
                  <a:tcPr marL="95250" marR="95250" marT="66675" marB="66675">
                    <a:solidFill>
                      <a:srgbClr val="DEB4BA"/>
                    </a:solidFill>
                  </a:tcPr>
                </a:tc>
              </a:tr>
              <a:tr h="773906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10/6 deterministic 10×4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LLM server timeout，incomplete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僅部分 generation 0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</a:tr>
              <a:tr h="773906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10/7 deterministic 3×2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 7 gate 後續跑 seed 8/9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 個 mock run，同 seed 一致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</a:tr>
              <a:tr h="773906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10/7 deterministic 4×10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 7、8 各兩次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 個 mock run，同 seed 一致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46A9D27-9151-409E-859B-B6C7B654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810375"/>
            <a:ext cx="12877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3×2 通過後再擴大至 4×10，模型生成驗證仍未完成</a:t>
            </a:r>
          </a:p>
        </p:txBody>
      </p:sp>
    </p:spTree>
    <p:extLst>
      <p:ext uri="{BB962C8B-B14F-4D97-AF65-F5344CB8AC3E}">
        <p14:creationId xmlns:p14="http://schemas.microsoft.com/office/powerpoint/2010/main" val="199073272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12471707-DDFD-4A79-897B-A56EF10B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8150"/>
            <a:ext cx="11353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4×10 主實驗設定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2AB458A-2D30-48A2-9377-FF4DCA7C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09725"/>
            <a:ext cx="1230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generations、population 10，seed 7 與 8 各重複兩次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CE6F10A-ED58-4C7D-8070-7BA961DF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1428750" y="2409825"/>
          <a:ext xmlns:a="http://schemas.openxmlformats.org/drawingml/2006/main" cx="130683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9877425"/>
              </a:tblGrid>
              <a:tr h="55789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項目</a:t>
                      </a:r>
                    </a:p>
                  </a:txBody>
                  <a:tcPr marL="95250" marR="95250" marT="66675" marB="666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設定</a:t>
                      </a:r>
                    </a:p>
                  </a:txBody>
                  <a:tcPr marL="95250" marR="95250" marT="66675" marB="66675">
                    <a:solidFill>
                      <a:srgbClr val="DEB4BA"/>
                    </a:solidFill>
                  </a:tcPr>
                </a:tc>
              </a:tr>
              <a:tr h="55789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演化規模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 generations × population 10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</a:tr>
              <a:tr h="55789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Seeds / runs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7、8，各 2 run，共 4 run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</a:tr>
              <a:tr h="55789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Self-play evaluation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 slots × 3 maps × 3 rounds × 2 sides = 180 matches/candidate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</a:tr>
              <a:tr h="55789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Reflection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static，Strategy / Prompt / Code = 0.33 / 0.33 / 0.34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</a:tr>
              <a:tr h="55789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Reproducibility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deterministic_mode=true、temperature=0、serial match worker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</a:tr>
              <a:tr h="55789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Execution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mock，完整 EA/mock pipeline 驗證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2B1CA771-075A-4BD7-852B-CA48B7FA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000875"/>
            <a:ext cx="12877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180 matches/candidate 是評估配置，本報告未提供實際 LLM 勝率</a:t>
            </a:r>
          </a:p>
        </p:txBody>
      </p:sp>
    </p:spTree>
    <p:extLst>
      <p:ext uri="{BB962C8B-B14F-4D97-AF65-F5344CB8AC3E}">
        <p14:creationId xmlns:p14="http://schemas.microsoft.com/office/powerpoint/2010/main" val="104002621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B867BD93-83F0-4A2E-94FD-61EEE2BB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8150"/>
            <a:ext cx="11353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4×10 同 seed 的行為比對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F75BB6C-D453-4F83-B8A6-39F766BD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09725"/>
            <a:ext cx="1230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四個 run 均完成，兩組 seed 內比對皆 PASS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53B4083-19B9-4469-898F-BBD0239C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428750" y="2857500"/>
          <a:ext xmlns:a="http://schemas.openxmlformats.org/drawingml/2006/main" cx="130683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5334000"/>
                <a:gridCol w="5334000"/>
                <a:gridCol w="1352550"/>
              </a:tblGrid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</a:t>
                      </a:r>
                    </a:p>
                  </a:txBody>
                  <a:tcPr marL="95250" marR="95250" marT="66675" marB="666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Run 1（runs/）</a:t>
                      </a:r>
                    </a:p>
                  </a:txBody>
                  <a:tcPr marL="95250" marR="95250" marT="66675" marB="666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Run 2（runs/）</a:t>
                      </a:r>
                    </a:p>
                  </a:txBody>
                  <a:tcPr marL="95250" marR="95250" marT="66675" marB="666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比對</a:t>
                      </a:r>
                    </a:p>
                  </a:txBody>
                  <a:tcPr marL="95250" marR="95250" marT="66675" marB="66675">
                    <a:solidFill>
                      <a:srgbClr val="DEB4BA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7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20261007_133838_331187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20261007_133856_523061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PASS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20261007_133919_738016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20261007_133937_477330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PASS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936535D1-12B7-46C8-9652-16DBB21B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10250"/>
            <a:ext cx="12877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比對單位為同 seed 的兩次 run，報告未主張不同 seed 產生相同行為。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F423EE0E-0832-420E-8E23-E4CCF399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810375"/>
            <a:ext cx="12877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結果支持 seed 7 與 seed 8 各自的 EA/mock 行為可重現</a:t>
            </a:r>
          </a:p>
        </p:txBody>
      </p:sp>
    </p:spTree>
    <p:extLst>
      <p:ext uri="{BB962C8B-B14F-4D97-AF65-F5344CB8AC3E}">
        <p14:creationId xmlns:p14="http://schemas.microsoft.com/office/powerpoint/2010/main" val="188338648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79D1C2A7-8A0A-46AA-87DE-9DEB43CE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8150"/>
            <a:ext cx="11353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行為 artifact 的比對範圍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9C85813-EF47-4E08-8E1E-ED356455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09725"/>
            <a:ext cx="1230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Timing 差異不納入演化行為一致性判定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9C23DDD-EAB3-4F41-B550-4E8D92AF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7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1428750" y="2524125"/>
          <a:ext xmlns:a="http://schemas.openxmlformats.org/drawingml/2006/main" cx="130683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8143875"/>
                <a:gridCol w="1543050"/>
              </a:tblGrid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Artifact 類型</a:t>
                      </a:r>
                    </a:p>
                  </a:txBody>
                  <a:tcPr marL="95250" marR="95250" marT="66675" marB="666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同 seed 比對內容</a:t>
                      </a:r>
                    </a:p>
                  </a:txBody>
                  <a:tcPr marL="95250" marR="95250" marT="66675" marB="666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結果</a:t>
                      </a:r>
                    </a:p>
                  </a:txBody>
                  <a:tcPr marL="95250" marR="95250" marT="66675" marB="66675">
                    <a:solidFill>
                      <a:srgbClr val="DEB4BA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Generation / candidate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generation snapshots、candidate ID、lineage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一致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Fitness / evaluation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fitness、objectives、evaluation results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一致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Match / mutation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match score/vector、mutation/operator 路徑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一致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Timing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實際執行耗時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不同，排除於行為比對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2F5DAA85-DF0B-4FDA-A5C2-3EFE60D6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810375"/>
            <a:ext cx="12877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此次結論關於演化與評估行為，執行時間仍可不同</a:t>
            </a:r>
          </a:p>
        </p:txBody>
      </p:sp>
    </p:spTree>
    <p:extLst>
      <p:ext uri="{BB962C8B-B14F-4D97-AF65-F5344CB8AC3E}">
        <p14:creationId xmlns:p14="http://schemas.microsoft.com/office/powerpoint/2010/main" val="31657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924A1130-FFCC-4972-B3EA-A5A6A353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8150"/>
            <a:ext cx="11353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propagation 的完整路徑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FD6D8EF-38BB-4AFC-B5BF-194ED3A9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09725"/>
            <a:ext cx="1230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Explicit schedule 與各階段 seed contract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FB5C214-FF73-43FA-ABF6-DBB81DC2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1428750" y="2524125"/>
          <a:ext xmlns:a="http://schemas.openxmlformats.org/drawingml/2006/main" cx="130683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9734550"/>
              </a:tblGrid>
              <a:tr h="6762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階段</a:t>
                      </a:r>
                    </a:p>
                  </a:txBody>
                  <a:tcPr marL="95250" marR="95250" marT="66675" marB="666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Deterministic contract</a:t>
                      </a:r>
                    </a:p>
                  </a:txBody>
                  <a:tcPr marL="95250" marR="95250" marT="66675" marB="66675">
                    <a:solidFill>
                      <a:srgbClr val="DEB4BA"/>
                    </a:solidFill>
                  </a:tcPr>
                </a:tc>
              </a:tr>
              <a:tr h="6762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Run 排程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random_seeds=[7,8,9]，runs=2，排程為 7,7,8,8,9,9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</a:tr>
              <a:tr h="6762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EA 搜尋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EA、selection、crossover、operator choice 共用 seeded RNG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</a:tr>
              <a:tr h="6762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MicroRTS match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run seed 與 immutable match identity 派生 JVM seed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</a:tr>
              <a:tr h="6762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LLM request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initial policy、reflection、rewrite、Java generation、repair、preflight 均傳 seed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70E9CD1C-8C6D-4B1D-9E85-6E8716FF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810375"/>
            <a:ext cx="12877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每場 match seed 寫入 metadata，便於回溯與重跑</a:t>
            </a:r>
          </a:p>
        </p:txBody>
      </p:sp>
    </p:spTree>
    <p:extLst>
      <p:ext uri="{BB962C8B-B14F-4D97-AF65-F5344CB8AC3E}">
        <p14:creationId xmlns:p14="http://schemas.microsoft.com/office/powerpoint/2010/main" val="104085391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48CB3B78-A815-447C-AE1F-9F1C1A03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8150"/>
            <a:ext cx="11353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Deterministic runtime contract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257A460-C766-496C-9E94-BB359981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09725"/>
            <a:ext cx="1230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固定模型取樣與執行條件，降低 runtime 差異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007EB24-9242-4BCE-BEB6-E20D758E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9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1428750" y="2524125"/>
          <a:ext xmlns:a="http://schemas.openxmlformats.org/drawingml/2006/main" cx="130683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9591675"/>
              </a:tblGrid>
              <a:tr h="6858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控制面向</a:t>
                      </a:r>
                    </a:p>
                  </a:txBody>
                  <a:tcPr marL="95250" marR="95250" marT="66675" marB="666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設定或變更</a:t>
                      </a:r>
                    </a:p>
                  </a:txBody>
                  <a:tcPr marL="95250" marR="95250" marT="66675" marB="66675">
                    <a:solidFill>
                      <a:srgbClr val="DEB4BA"/>
                    </a:solidFill>
                  </a:tcPr>
                </a:tc>
              </a:tr>
              <a:tr h="6858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模型取樣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temperature=0，所有 LLM requests 傳遞 experiment seed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</a:tr>
              <a:tr h="6858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llama.cpp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CPU contract、threads=1、batch size≥512、parallel=1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</a:tr>
              <a:tr h="6858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MicroRTS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match worker=1，random source 使用 -Deagle.match.seed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</a:tr>
              <a:tr h="6858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Server lifecycle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 trial 與 experiment run 邊界重啟 owned llama-server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0A63A0AB-DC6F-4C6B-8500-8A66D2CC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810375"/>
            <a:ext cx="12877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Batch size 修正避免 context decode assertion，維持 deterministic 配置可執行</a:t>
            </a:r>
          </a:p>
        </p:txBody>
      </p:sp>
    </p:spTree>
    <p:extLst>
      <p:ext uri="{BB962C8B-B14F-4D97-AF65-F5344CB8AC3E}">
        <p14:creationId xmlns:p14="http://schemas.microsoft.com/office/powerpoint/2010/main" val="185329091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7B1AB976-D7C2-4405-A933-9F618D77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8150"/>
            <a:ext cx="11353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10/1–10/5：EA、self-play 與執行基礎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29C6735-B84D-4CB7-8C98-0D585311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09725"/>
            <a:ext cx="1230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搜尋 orchestration、evaluation persistence 與 LLM lifecycle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6F3150B-3881-4377-BEEC-C891D061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1428750" y="2476500"/>
          <a:ext xmlns:a="http://schemas.openxmlformats.org/drawingml/2006/main" cx="130683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9686925"/>
              </a:tblGrid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工作面向</a:t>
                      </a:r>
                    </a:p>
                  </a:txBody>
                  <a:tcPr marL="95250" marR="95250" marT="66675" marB="666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主要變更</a:t>
                      </a:r>
                    </a:p>
                  </a:txBody>
                  <a:tcPr marL="95250" marR="95250" marT="66675" marB="66675">
                    <a:solidFill>
                      <a:srgbClr val="DEB4BA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EA 與 self-play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semantic behavior 去重、LocalLearner lifecycle、fresh/resume orchestration 統一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Evaluation 與效能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降低 persistence / compact artifacts overhead，平行 match 保留 canonical order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Objective 與 runs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semantic tie-aware GP scalar、independent runs、workflow diagram / cleanup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LLM 與失敗處理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 / stability diagnostics、80k prompt bound、failed candidates 與有效 parent pool 隔離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5A88BF4C-AF06-4D14-9EBB-CFB9CF74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810375"/>
            <a:ext cx="12877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平行 evaluation 是一般執行能力，deterministic mode 採單 match worker</a:t>
            </a:r>
          </a:p>
        </p:txBody>
      </p:sp>
    </p:spTree>
    <p:extLst>
      <p:ext uri="{BB962C8B-B14F-4D97-AF65-F5344CB8AC3E}">
        <p14:creationId xmlns:p14="http://schemas.microsoft.com/office/powerpoint/2010/main" val="15492293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42594D56-DA30-4E0D-A71A-B5DC0894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8150"/>
            <a:ext cx="11353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10/6–10/7：可重現性與 metadata 修正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73601C0-8D49-45B8-BED7-2802C53F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09725"/>
            <a:ext cx="1230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schedule、deterministic mode 與最後一個 UUID 差異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1FE86C7-0802-441C-ADDF-D9432E07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1428750" y="2524125"/>
          <a:ext xmlns:a="http://schemas.openxmlformats.org/drawingml/2006/main" cx="130683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52875"/>
                <a:gridCol w="9115425"/>
              </a:tblGrid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變更</a:t>
                      </a:r>
                    </a:p>
                  </a:txBody>
                  <a:tcPr marL="95250" marR="95250" marT="66675" marB="666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目的與效果</a:t>
                      </a:r>
                    </a:p>
                  </a:txBody>
                  <a:tcPr marL="95250" marR="95250" marT="66675" marB="66675">
                    <a:solidFill>
                      <a:srgbClr val="DEB4BA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Explicit seed schedule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明確執行同 seed 重複 run，支援成對比較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Deterministic mode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統一 EA、JVM match、LLM request 與 runtime contract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Reflection correlation ID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以 SHA-256 stable ID 取代 uuid4()，消除非行為 artifact 差異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Regression 與 smoke configs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新增 request ID regression test，以及 3×2 / 4×10 configs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772E21DA-2757-4611-8BE4-84BFBBFB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810375"/>
            <a:ext cx="12877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原 correlation ID 未送入模型，仍會造成同 seed artifact 差異</a:t>
            </a:r>
          </a:p>
        </p:txBody>
      </p:sp>
    </p:spTree>
    <p:extLst>
      <p:ext uri="{BB962C8B-B14F-4D97-AF65-F5344CB8AC3E}">
        <p14:creationId xmlns:p14="http://schemas.microsoft.com/office/powerpoint/2010/main" val="28564529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18CB9DF6-9D33-4689-98BD-A3993B8C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8150"/>
            <a:ext cx="11353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後續初始化修正：固定 strategy identity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A9F3147-4E08-49CB-BE91-4F43D1C1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09725"/>
            <a:ext cx="1230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temperature=0 下，9 個 LLM slots 仍收到不同生成目標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8F6D582-F980-41EE-BABD-1A32EB29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428750" y="2619375"/>
          <a:ext xmlns:a="http://schemas.openxmlformats.org/drawingml/2006/main" cx="130683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9591675"/>
              </a:tblGrid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項目</a:t>
                      </a:r>
                    </a:p>
                  </a:txBody>
                  <a:tcPr marL="95250" marR="95250" marT="66675" marB="666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修正後行為</a:t>
                      </a:r>
                    </a:p>
                  </a:txBody>
                  <a:tcPr marL="95250" marR="95250" marT="66675" marB="66675">
                    <a:solidFill>
                      <a:srgbClr val="DEB4BA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初始化模式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1009、1007、1008 configs 使用 llm_generated_policies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Policy slots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每個非 WorkerRush slot 指定固定的 strategy identity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不同生成目標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 個 LLM 初始 policy 接收不同目標，同 seed 重跑維持固定身份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E0A7CB32-16C6-4347-8DD7-FF53E8A7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24550"/>
            <a:ext cx="12877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Strategy identities 來自 prompts/initial_policy_variants.txt。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F863449-22E9-48EB-B7DC-6035E0F6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810375"/>
            <a:ext cx="12877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這是後續初始化設計修正，實際 LLM 的結果仍需重跑驗證</a:t>
            </a:r>
          </a:p>
        </p:txBody>
      </p:sp>
    </p:spTree>
    <p:extLst>
      <p:ext uri="{BB962C8B-B14F-4D97-AF65-F5344CB8AC3E}">
        <p14:creationId xmlns:p14="http://schemas.microsoft.com/office/powerpoint/2010/main" val="108455979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D31C93DF-3BEE-438B-82B0-75B6055E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8150"/>
            <a:ext cx="11353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可重現性的適用範圍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CC63D54-FC6A-44F8-8EDF-2E7FE8A5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09725"/>
            <a:ext cx="1230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固定環境下的 deterministic contract，與現有證據的界線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A9B25E5-9C9D-407E-85C0-AA946D76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1428750" y="2505075"/>
          <a:ext xmlns:a="http://schemas.openxmlformats.org/drawingml/2006/main" cx="130683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9544050"/>
              </a:tblGrid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範圍</a:t>
                      </a:r>
                    </a:p>
                  </a:txBody>
                  <a:tcPr marL="95250" marR="95250" marT="66675" marB="666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目前結論</a:t>
                      </a:r>
                    </a:p>
                  </a:txBody>
                  <a:tcPr marL="95250" marR="95250" marT="66675" marB="66675">
                    <a:solidFill>
                      <a:srgbClr val="DEB4BA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固定環境 contract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同機器、同 model file、同 llama.cpp build、同 JVM、同 config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本次已驗證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EA seed propagation、candidate identity、selection / mutation、self-play 與行為 artifact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待補證據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實際 OpenAI-compatible LLM 生成層的 end-to-end reproducibility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跨環境限制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不同硬體、quantization、llama.cpp build 或 JVM 不承諾 bitwise 相容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CC12429E-3D51-4147-BDC5-38F0EF45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810375"/>
            <a:ext cx="12877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Mock 一致性支持 EA 層可重現，模型生成層尚未完成驗證</a:t>
            </a:r>
          </a:p>
        </p:txBody>
      </p:sp>
    </p:spTree>
    <p:extLst>
      <p:ext uri="{BB962C8B-B14F-4D97-AF65-F5344CB8AC3E}">
        <p14:creationId xmlns:p14="http://schemas.microsoft.com/office/powerpoint/2010/main" val="148867944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60F3AEF8-BCC5-4037-9AB5-D10669CC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8150"/>
            <a:ext cx="11353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Validation 與下一步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47140A5-C08E-47C0-87D9-3E6DEAF4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09725"/>
            <a:ext cx="1230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先完成實際 LLM 重複 run，再補齊模型生成層證據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1F245B4-C6CA-4640-B7F1-4B65F787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428750" y="2619375"/>
          <a:ext xmlns:a="http://schemas.openxmlformats.org/drawingml/2006/main" cx="130683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8877300"/>
              </a:tblGrid>
              <a:tr h="678656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檢查或工作</a:t>
                      </a:r>
                    </a:p>
                  </a:txBody>
                  <a:tcPr marL="95250" marR="95250" marT="66675" marB="666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狀態</a:t>
                      </a:r>
                    </a:p>
                  </a:txBody>
                  <a:tcPr marL="95250" marR="95250" marT="66675" marB="66675">
                    <a:solidFill>
                      <a:srgbClr val="DEB4BA"/>
                    </a:solidFill>
                  </a:tcPr>
                </a:tc>
              </a:tr>
              <a:tr h="678656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Unit tests（報告所載）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518 tests passed，1 skipped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</a:tr>
              <a:tr h="678656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Deterministic mock gates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3×2 與 4×10 均完成，同 seed 行為一致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</a:tr>
              <a:tr h="678656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5080 host 實際 LLM run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待執行，依同一份 deterministic config 補測</a:t>
                      </a:r>
                    </a:p>
                  </a:txBody>
                  <a:tcPr marL="95250" marR="95250" marT="66675" marB="66675"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7AF44D6A-AF8C-48EF-A359-EEDF832B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57875"/>
            <a:ext cx="12877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下一步在有 CUDA 的 5080 host 執行實際 LLM pipeline，依同 seed 重複 run 比對模型生成與演化 artifact。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4745F5ED-5811-4130-8B23-F98D22B6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334250"/>
            <a:ext cx="12877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目前進度：EA/mock 證據完成，實際 LLM end-to-end 證據待補</a:t>
            </a:r>
          </a:p>
        </p:txBody>
      </p:sp>
    </p:spTree>
    <p:extLst>
      <p:ext uri="{BB962C8B-B14F-4D97-AF65-F5344CB8AC3E}">
        <p14:creationId xmlns:p14="http://schemas.microsoft.com/office/powerpoint/2010/main" val="451032581"/>
      </p:ext>
    </p:extLst>
  </p:cSld>
</p:sld>
</file>

<file path=ppt/theme/theme1.xml><?xml version="1.0" encoding="utf-8"?>
<a:theme xmlns:a="http://schemas.openxmlformats.org/drawingml/2006/main" name="EAGLE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47171C"/>
      </a:accent2>
      <a:accent3>
        <a:srgbClr val="CF9BA5"/>
      </a:accent3>
      <a:accent4>
        <a:srgbClr val="C69B45"/>
      </a:accent4>
      <a:accent5>
        <a:srgbClr val="FAEDC6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Source Han Serif TW"/>
        <a:ea typeface="Source Han Serif TW"/>
        <a:cs typeface="Source Han Serif TW"/>
      </a:majorFont>
      <a:minorFont>
        <a:latin typeface="Source Han Serif TW"/>
        <a:ea typeface="Source Han Serif TW"/>
        <a:cs typeface="Source Han Serif TW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2026-10-07T11:32:18.9810000Z</dcterms:created>
  <dcterms:modified xsi:type="dcterms:W3CDTF">2026-10-07T11:32:18.9810000Z</dcterms:modified>
</coreProperties>
</file>