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0a7b5d696488a" /><Relationship Type="http://schemas.openxmlformats.org/officeDocument/2006/relationships/extended-properties" Target="/docProps/app.xml" Id="R8bf3e453212e444f" /><Relationship Type="http://schemas.openxmlformats.org/officeDocument/2006/relationships/officeDocument" Target="/ppt/presentation.xml" Id="R8eda7f7672ca44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bddb1a1e4347e2"/>
  </p:sldMasterIdLst>
  <p:notesMasterIdLst>
    <p:notesMasterId xmlns:r="http://schemas.openxmlformats.org/officeDocument/2006/relationships" r:id="R4053a86498ab47ee"/>
  </p:notesMasterIdLst>
  <p:sldIdLst>
    <p:sldId xmlns:r="http://schemas.openxmlformats.org/officeDocument/2006/relationships" id="256" r:id="Rcf42cb5bd7a9498f"/>
    <p:sldId xmlns:r="http://schemas.openxmlformats.org/officeDocument/2006/relationships" id="257" r:id="R73836d8180e749f7"/>
    <p:sldId xmlns:r="http://schemas.openxmlformats.org/officeDocument/2006/relationships" id="258" r:id="Ree049d7d289c4462"/>
    <p:sldId xmlns:r="http://schemas.openxmlformats.org/officeDocument/2006/relationships" id="259" r:id="R2defd93e84fe42d6"/>
    <p:sldId xmlns:r="http://schemas.openxmlformats.org/officeDocument/2006/relationships" id="260" r:id="R9253170c7b344330"/>
    <p:sldId xmlns:r="http://schemas.openxmlformats.org/officeDocument/2006/relationships" id="261" r:id="Rdd0b13f4e57646d4"/>
    <p:sldId xmlns:r="http://schemas.openxmlformats.org/officeDocument/2006/relationships" id="262" r:id="Rbbc6794b231d4815"/>
    <p:sldId xmlns:r="http://schemas.openxmlformats.org/officeDocument/2006/relationships" id="263" r:id="R4b79748106094c5f"/>
    <p:sldId xmlns:r="http://schemas.openxmlformats.org/officeDocument/2006/relationships" id="264" r:id="R686f755da61a49d8"/>
    <p:sldId xmlns:r="http://schemas.openxmlformats.org/officeDocument/2006/relationships" id="265" r:id="Rbf0e6a791c524305"/>
    <p:sldId xmlns:r="http://schemas.openxmlformats.org/officeDocument/2006/relationships" id="266" r:id="Rf1aec3b1fdaf4056"/>
    <p:sldId xmlns:r="http://schemas.openxmlformats.org/officeDocument/2006/relationships" id="267" r:id="Rf396f684029e4bf4"/>
    <p:sldId xmlns:r="http://schemas.openxmlformats.org/officeDocument/2006/relationships" id="268" r:id="R75542118d5e74640"/>
    <p:sldId xmlns:r="http://schemas.openxmlformats.org/officeDocument/2006/relationships" id="269" r:id="Rc05fa61059e74503"/>
    <p:sldId xmlns:r="http://schemas.openxmlformats.org/officeDocument/2006/relationships" id="270" r:id="R66f36bbfd5a64627"/>
    <p:sldId xmlns:r="http://schemas.openxmlformats.org/officeDocument/2006/relationships" id="271" r:id="R6ed9fe67c65c43ad"/>
    <p:sldId xmlns:r="http://schemas.openxmlformats.org/officeDocument/2006/relationships" id="272" r:id="R18f5cd58bb594a61"/>
  </p:sldIdLst>
  <p:sldSz cx="15925800" cy="896302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  <a:la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AEDC6"/>
          </a:solidFill>
        </a:fill>
      </a:tcStyle>
    </a:la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97efcbc1184a61" /><Relationship Type="http://schemas.openxmlformats.org/officeDocument/2006/relationships/slideMaster" Target="/ppt/slideMasters/slideMaster1.xml" Id="Rc6bddb1a1e4347e2" /><Relationship Type="http://schemas.openxmlformats.org/officeDocument/2006/relationships/notesMaster" Target="/ppt/notesMasters/notesMaster1.xml" Id="R4053a86498ab47ee" /><Relationship Type="http://schemas.openxmlformats.org/officeDocument/2006/relationships/presProps" Target="/ppt/presProps.xml" Id="R788276c8186f42da" /><Relationship Type="http://schemas.openxmlformats.org/officeDocument/2006/relationships/viewProps" Target="/ppt/viewProps.xml" Id="R286de4e5636e4d52" /><Relationship Type="http://schemas.openxmlformats.org/officeDocument/2006/relationships/tableStyles" Target="/ppt/tableStyles.xml" Id="Ra6e4c1ac4e384241" /><Relationship Type="http://schemas.openxmlformats.org/officeDocument/2006/relationships/slide" Target="/ppt/slides/slide1.xml" Id="Rcf42cb5bd7a9498f" /><Relationship Type="http://schemas.openxmlformats.org/officeDocument/2006/relationships/slide" Target="/ppt/slides/slide2.xml" Id="R73836d8180e749f7" /><Relationship Type="http://schemas.openxmlformats.org/officeDocument/2006/relationships/slide" Target="/ppt/slides/slide3.xml" Id="Ree049d7d289c4462" /><Relationship Type="http://schemas.openxmlformats.org/officeDocument/2006/relationships/slide" Target="/ppt/slides/slide4.xml" Id="R2defd93e84fe42d6" /><Relationship Type="http://schemas.openxmlformats.org/officeDocument/2006/relationships/slide" Target="/ppt/slides/slide5.xml" Id="R9253170c7b344330" /><Relationship Type="http://schemas.openxmlformats.org/officeDocument/2006/relationships/slide" Target="/ppt/slides/slide6.xml" Id="Rdd0b13f4e57646d4" /><Relationship Type="http://schemas.openxmlformats.org/officeDocument/2006/relationships/slide" Target="/ppt/slides/slide7.xml" Id="Rbbc6794b231d4815" /><Relationship Type="http://schemas.openxmlformats.org/officeDocument/2006/relationships/slide" Target="/ppt/slides/slide8.xml" Id="R4b79748106094c5f" /><Relationship Type="http://schemas.openxmlformats.org/officeDocument/2006/relationships/slide" Target="/ppt/slides/slide9.xml" Id="R686f755da61a49d8" /><Relationship Type="http://schemas.openxmlformats.org/officeDocument/2006/relationships/slide" Target="/ppt/slides/slide10.xml" Id="Rbf0e6a791c524305" /><Relationship Type="http://schemas.openxmlformats.org/officeDocument/2006/relationships/slide" Target="/ppt/slides/slide11.xml" Id="Rf1aec3b1fdaf4056" /><Relationship Type="http://schemas.openxmlformats.org/officeDocument/2006/relationships/slide" Target="/ppt/slides/slide12.xml" Id="Rf396f684029e4bf4" /><Relationship Type="http://schemas.openxmlformats.org/officeDocument/2006/relationships/slide" Target="/ppt/slides/slide13.xml" Id="R75542118d5e74640" /><Relationship Type="http://schemas.openxmlformats.org/officeDocument/2006/relationships/slide" Target="/ppt/slides/slide14.xml" Id="Rc05fa61059e74503" /><Relationship Type="http://schemas.openxmlformats.org/officeDocument/2006/relationships/slide" Target="/ppt/slides/slide15.xml" Id="R66f36bbfd5a64627" /><Relationship Type="http://schemas.openxmlformats.org/officeDocument/2006/relationships/slide" Target="/ppt/slides/slide16.xml" Id="R6ed9fe67c65c43ad" /><Relationship Type="http://schemas.openxmlformats.org/officeDocument/2006/relationships/slide" Target="/ppt/slides/slide17.xml" Id="R18f5cd58bb594a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64f975b49647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c504380d1a4ef3" /><Relationship Type="http://schemas.openxmlformats.org/officeDocument/2006/relationships/notesMaster" Target="/ppt/notesMasters/notesMaster1.xml" Id="Rccf207366b93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8da9338687495e" /><Relationship Type="http://schemas.openxmlformats.org/officeDocument/2006/relationships/notesMaster" Target="/ppt/notesMasters/notesMaster1.xml" Id="R38f694a85f554e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0b6b5dafc04caa" /><Relationship Type="http://schemas.openxmlformats.org/officeDocument/2006/relationships/notesMaster" Target="/ppt/notesMasters/notesMaster1.xml" Id="R8c74c5959a494e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f561490944418f" /><Relationship Type="http://schemas.openxmlformats.org/officeDocument/2006/relationships/notesMaster" Target="/ppt/notesMasters/notesMaster1.xml" Id="Rfa8fb908e3984e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1bd8e1c43f4a50" /><Relationship Type="http://schemas.openxmlformats.org/officeDocument/2006/relationships/notesMaster" Target="/ppt/notesMasters/notesMaster1.xml" Id="R9dcef44175af41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449352527943fe" /><Relationship Type="http://schemas.openxmlformats.org/officeDocument/2006/relationships/notesMaster" Target="/ppt/notesMasters/notesMaster1.xml" Id="Rfad42cd7ceb641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8bc079bf4b4fa7" /><Relationship Type="http://schemas.openxmlformats.org/officeDocument/2006/relationships/notesMaster" Target="/ppt/notesMasters/notesMaster1.xml" Id="R0fdeb369cf8947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fbe005ae354532" /><Relationship Type="http://schemas.openxmlformats.org/officeDocument/2006/relationships/notesMaster" Target="/ppt/notesMasters/notesMaster1.xml" Id="Re0444655c4434e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be61a3aaa54603" /><Relationship Type="http://schemas.openxmlformats.org/officeDocument/2006/relationships/notesMaster" Target="/ppt/notesMasters/notesMaster1.xml" Id="R20370e7a951842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4f3c02f6de42fb" /><Relationship Type="http://schemas.openxmlformats.org/officeDocument/2006/relationships/notesMaster" Target="/ppt/notesMasters/notesMaster1.xml" Id="R7be93561098a43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ab6b728d7a40a4" /><Relationship Type="http://schemas.openxmlformats.org/officeDocument/2006/relationships/notesMaster" Target="/ppt/notesMasters/notesMaster1.xml" Id="R3d3d4c41581547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cbc6ab96254840" /><Relationship Type="http://schemas.openxmlformats.org/officeDocument/2006/relationships/notesMaster" Target="/ppt/notesMasters/notesMaster1.xml" Id="Rbc743287276f4f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f8d72e53c14ff4" /><Relationship Type="http://schemas.openxmlformats.org/officeDocument/2006/relationships/notesMaster" Target="/ppt/notesMasters/notesMaster1.xml" Id="R56d793de814b45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978aa547624f09" /><Relationship Type="http://schemas.openxmlformats.org/officeDocument/2006/relationships/notesMaster" Target="/ppt/notesMasters/notesMaster1.xml" Id="R1119b334f8bf41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2084ed5dc0465b" /><Relationship Type="http://schemas.openxmlformats.org/officeDocument/2006/relationships/notesMaster" Target="/ppt/notesMasters/notesMaster1.xml" Id="Rcfe7493b434c4f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4d28cbf32c4730" /><Relationship Type="http://schemas.openxmlformats.org/officeDocument/2006/relationships/notesMaster" Target="/ppt/notesMasters/notesMaster1.xml" Id="R0224954c28d847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b0cd803ae74d5e" /><Relationship Type="http://schemas.openxmlformats.org/officeDocument/2006/relationships/notesMaster" Target="/ppt/notesMasters/notesMaster1.xml" Id="Rdd3bafb2ebc84d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本簡報介紹程式來源94ab1869的最終運作方式，標準實驗為population10、20個演化世代，gen0初始化另列。其餘設定沿用deterministic_dsl、seed8重複三次、Strategy-only self-play。說明設定、策略表示、初始化、反思、確定性編譯、評估、選擇、平行工作、GPU啟動與續跑。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configs/experiments/1015_deterministic_dsl_20x10_seed8_3runs/ministral3_8b_deterministic_dsl_20x10_seed8_3runs.yaml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ExperimentConfig解析此self_play設定為game_performance_semantic_tiebreak。Gen0把單一WorkerRush policy複製為population_size=10，各候選有不同identity。有效genotype只有strategy_prompt；標準設定20個演化世代另有gen0初始化，三個獨立run的有效seed均為8。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configs/experiments/1015_deterministic_dsl_20x10_seed8_3runs/ministral3_8b_deterministic_dsl_20x10_seed8_3runs.yaml</a:t>
            </a:r>
          </a:p>
          <a:p xmlns:a="http://schemas.openxmlformats.org/drawingml/2006/main">
            <a:r>
              <a:t>eagle/config.py</a:t>
            </a:r>
          </a:p>
          <a:p xmlns:a="http://schemas.openxmlformats.org/drawingml/2006/main">
            <a:r>
              <a:t>eagle/operators/initialization.py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先完成GPU runtime啟動與config協定核對，gen0建立10個seed clones、編譯與bootstrap self-play評估，保存snapshot。gen1到gen20按序建立每代10個offspring，反思以2個LLM slots並行、結果固定排序；編譯與評估後以mu+lambda選10個survivors。第5、10、15、20代刷新對手快照並重評父代。stagnation門檻25高於20代預算，正常會先到代數上限。正常完成後共同final-test不回饋搜尋；外部exception/interrupt留下最後完整checkpoi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策略格式eagle-strategy-dsl-v1，上限16000字元、32rules、conditiondepth6、booleanfanout8。規則包含actor單位類型、when條件、action合法動作。choose是合法動作子集上的確定性hash選擇，沒有persistent RNG。策略本身仍由LLM反思改變，確定性的是policy到Java的物化映射，不等於不使用LLM。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prompts/strategy_dsl_reference.txt</a:t>
            </a:r>
          </a:p>
          <a:p xmlns:a="http://schemas.openxmlformats.org/drawingml/2006/main">
            <a:r>
              <a:t>eagle/strategy_dsl.py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每個目前idle的friendly actor依升序ID處理，對其type對應rules依arrayorder判斷。when false、目標不存在、path不可達、stockpile不足、cell占用或guard失敗均繼續下一條。第一個真正可issue的action終止該actor，explicitidle也終止。hash target先合法filter，selector metric ties按ID或cell y,x。一次PlayerAction累積resource/cell reservation供後續actor使用。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prompts/strategy_dsl_reference.txt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初始化clone不是多樣化，10個policy相同。初始bootstrap評估由compiled候選提供對手；之後library去重可能將10個identicalJava候選縮為一個source。snapshotcontext改變時，gen1必須先更新父代fitness，而不是無條件重用gen0分數。相同context後可reuse_cach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eagle/operators/initialization.py</a:t>
            </a:r>
          </a:p>
          <a:p xmlns:a="http://schemas.openxmlformats.org/drawingml/2006/main">
            <a:r>
              <a:t>eagle/evolution/search.py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select_self_play_library_candidates依libraryorder，以epoch=generation//refresh_interval與source_count=min(N,10)決定start=(epoch*source_count)%N，再循環填滿10slots。Gen0的10個相同Java候選在libraryhash去重後通常只剩一個source；gen1可因contextmigration重評父代。第5、10、15、20代加入當代可執行parents、刷新對手快照並重評父代。兩個刷新點之間，context一致時可reuse_cached。Library容量50、FIFO保留；每輪候選共享相同contex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>eagle/evaluation/opponents.py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GamePerformance的tier不是鏈式鄰近合併，最高分往下1.0以內屬tier。父代A在top tier選擇，B可用A語意簽章當reference。survivor先保留完整較好score tiers，容量截斷的tier才用farthest-first語意新穎度，不讓semantic distance把較差tier提升。missing/incompatible簽章走seeded fallback。finaltest固定roster，不混同搜尋的selfplay_000–009slots。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</a:t>
            </a:r>
          </a:p>
          <a:p xmlns:a="http://schemas.openxmlformats.org/drawingml/2006/main">
            <a:r>
              <a:t>eagle/evolution/offspring.py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plan_offspring先依rootseed衍生父代、crossover與operator的taskstreams。deterministic模式以整份策略作crossover的選擇單位，strategy_parent_id記錄策略來源。每代有10個offspring，mutation_rate=1且Strategy probability=1。先serial決定計畫，再並行reflection，最後按slot順序整合。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eagle/evolution/offspring.py</a:t>
            </a:r>
          </a:p>
          <a:p xmlns:a="http://schemas.openxmlformats.org/drawingml/2006/main">
            <a:r>
              <a:t>eagle/operators/crossover.py</a:t>
            </a:r>
          </a:p>
          <a:p xmlns:a="http://schemas.openxmlformats.org/drawingml/2006/main">
            <a:r>
              <a:t>eagle/execution.py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選擇只從記錄的strategy_parent_id對應parent已完成matches中挑最低有限performance的一場；若無有限score，依loss=-100、draw=0、win=100 fallback。stablematch_id打破tie；failedmatches排除。Commentator看到該場canonicaltrace；Coach看到一份diagnosis與parent全部matches的global summary。JSONL結果經驗證後形成策略基因。缺trace不換成另一場。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eagle/operators/context.py</a:t>
            </a:r>
          </a:p>
          <a:p xmlns:a="http://schemas.openxmlformats.org/drawingml/2006/main">
            <a:r>
              <a:t>eagle/operators/strategy.py</a:t>
            </a:r>
          </a:p>
          <a:p xmlns:a="http://schemas.openxmlformats.org/drawingml/2006/main">
            <a:r>
              <a:t>docs/architecture/mutation.md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Coach輸出rule-per-lineJSONL，每個record使用new_strategy_prompt；策略contractrewrite使用revised_strategy_prompt。Parser獨立驗證每條rule，不修補非法子樹，按原始行序保留合法規則。Coach回應需要至少一條合法strategy_rule；這與完整DSL空rules的idle語意不同。最多三次嘗試，正常解析失敗耗盡可保留parentpolicy；backend/server例外仍可能中止ru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eagle/strategy_dsl.py</a:t>
            </a:r>
          </a:p>
          <a:p xmlns:a="http://schemas.openxmlformats.org/drawingml/2006/main">
            <a:r>
              <a:t>eagle/operators/strategy.py</a:t>
            </a:r>
          </a:p>
          <a:p xmlns:a="http://schemas.openxmlformats.org/drawingml/2006/main">
            <a:r>
              <a:t>prompts/coach_refine.txt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DSLcompiler先validate/normalize，生成typedIR，再用eagle-dsl-java-v1與固定scaffold發射完整source。下游一般validation、單次javac與integration維持，probe/matches有自身diagnostics。deterministic模式沒有JavaGeneration、CodeReflection、PromptReflection或compile-repairLLM。compiler/validation/javacfailure保持實際failurestage與source/hash，不假裝進入遊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>eagle/evaluation/decoding.py</a:t>
            </a:r>
          </a:p>
          <a:p xmlns:a="http://schemas.openxmlformats.org/drawingml/2006/main">
            <a:r>
              <a:t>eagle/evaluation/pipeline.py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game_performance使用每場result100/0/-100加[-10,10]shaping，以詳細telemetry計算資源及軍力等訊號，不等同winrate。semanticprobe為1.0tier tie新穎度，不能突破fitness tiers。finaltest若非mock且未skip在正常runcomplete後進行；中斷/失敗時不跑。180與600是定義的matrix大小，不是已完成場數。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eagle/evaluation/game_performance.py</a:t>
            </a:r>
          </a:p>
          <a:p xmlns:a="http://schemas.openxmlformats.org/drawingml/2006/main">
            <a:r>
              <a:t>eagle/evaluation/game_metrics.py</a:t>
            </a:r>
          </a:p>
          <a:p xmlns:a="http://schemas.openxmlformats.org/drawingml/2006/main">
            <a:r>
              <a:t>eagle/opponent_cases.py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LLM_WORKERS=2、MODEL_THREADS=8、MATCH_WORKERS=10為固定執行政策。每slotcontext32768使serverctx-size=65536。Population10代表每代10個offspring，不代表10個LLMslots；獨立反思最多兩請求並行。Candidate preparation可並行，全部完成後才建立對手pool；候選評估按序，每候選180matches用10workers。parallel_map依輸入順序回傳，taskseed穩定，三個runs依序執行。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eagle/execution.py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>eagle/evaluation/pipeline.py</a:t>
            </a:r>
          </a:p>
          <a:p xmlns:a="http://schemas.openxmlformats.org/drawingml/2006/main">
            <a:r>
              <a:t>eagle/evaluation/matches.py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索引schemaeagle-experiment-index-v1；source config的runs跟random_seeds展開成orderedslots。路徑是實際run_dirs，由on_run_created更新。resume不可將不相容policyformat/compiler/scaffold默默轉換。三次同seed是重複性檢查，不能把它當三個獨立randomseed樣本；GPU/runtime差異仍需用hash與timing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>eagle/evolution/resume.py</a:t>
            </a:r>
          </a:p>
          <a:p xmlns:a="http://schemas.openxmlformats.org/drawingml/2006/main">
            <a:r>
              <a:t>docs/operations/running_eagle.md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Runtime先以--list-devices確認CUDA/NVIDIAbackend，再以--n-gpu-layers999、--fitoff要求完整model-layeroffload。--log-verbosity4讓core模型資訊可見。啟動成功需要serverhealth與本次ownedchild的新log都通過；offloadedN/N且N&gt;0才接受。缺失、部分或stale證據停止ownedprocess。此要求針對model-layerGPU執行，其他CPU上的runtime或MicroRTS工作仍依一般流程進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>eagle/runtime/config.py</a:t>
            </a:r>
          </a:p>
          <a:p xmlns:a="http://schemas.openxmlformats.org/drawingml/2006/main">
            <a:r>
              <a:t>tests/test_runtime_workflow.py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從EAGLErepo root執行experiment.sh。config保持deterministic_dsl、runs3與random_seeds[8]。首次執行建立每個run目錄與有序索引；folderresume依experiment.yaml找到未完成的run，從最後完整checkpoint接續，完成者跳過。gen0前沒有可用checkpoint時可建立替代run。正常完成且未指定skip-final-test時，run接著執行champion共同final-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experiment.sh</a:t>
            </a:r>
          </a:p>
          <a:p xmlns:a="http://schemas.openxmlformats.org/drawingml/2006/main">
            <a:r>
              <a:t>eagle/cli/experiment.py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a6aad98e346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c7410a12543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05aff8b0641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8084ec7ed45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6facf9966041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d357a9ee2466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4cbda8ab0438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c45003a6c4bc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ad29780bc4a0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b6812963c4b4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f9337a86147b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0bb4089b64a8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1e331b11d4c0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290e6eb38425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1f9dec815c4b9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156790d03407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3db386f8643d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3d126d1484693" /></Relationships>
</file>

<file path=ppt/slideLayouts/slideLayout1.xml><?xml version="1.0" encoding="utf-8"?>
<p:sldLayout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D779401-8411-4F57-B364-00A08D3D0F7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2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EA91A40-BDBE-4EF8-AB1C-C163BF4B89CC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3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4F8BDA3-F257-4248-9C77-277658BEC42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4.xml><?xml version="1.0" encoding="utf-8"?>
<p:sldLayout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5331F0-3B10-4BF6-A2A3-3DEA2BDE891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0BDD597-05AF-4E7D-B7DE-872D8C1368D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6.xml><?xml version="1.0" encoding="utf-8"?>
<p:sldLayout xmlns:p="http://schemas.openxmlformats.org/presentationml/2006/main" preserve="1">
  <p:cSld name="三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81AA091-155C-4B49-B3CF-270208548CF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7.xml><?xml version="1.0" encoding="utf-8"?>
<p:sldLayout xmlns:p="http://schemas.openxmlformats.org/presentationml/2006/main" type="picTx" preserve="1">
  <p:cSld name="圖片及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DBA40DA-42D4-45CA-9121-B12303C8820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8.xml><?xml version="1.0" encoding="utf-8"?>
<p:sldLayout xmlns:p="http://schemas.openxmlformats.org/presentationml/2006/main" type="objTx" preserve="1">
  <p:cSld name="內容與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607BD56-5922-42EE-8673-E8BDB8AA8B1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9.xml><?xml version="1.0" encoding="utf-8"?>
<p:sldLayout xmlns:p="http://schemas.openxmlformats.org/presentationml/2006/main" preserve="1">
  <p:cSld name="標題及表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A4B2483-08AD-4AAB-8D54-B0244854A19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0.xml><?xml version="1.0" encoding="utf-8"?>
<p:sldLayout xmlns:p="http://schemas.openxmlformats.org/presentationml/2006/main" preserve="1">
  <p:cSld name="標題及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7B59490-7503-487F-B730-A18C57E284F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1.xml><?xml version="1.0" encoding="utf-8"?>
<p:sldLayout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CCC836C-38EF-42B8-9F8F-EC9AB289588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BFBA9E9-D342-40B9-A850-43AECAABBC7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3.xml><?xml version="1.0" encoding="utf-8"?>
<p:sldLayout xmlns:p="http://schemas.openxmlformats.org/presentationml/2006/main">
  <p:cSld name="完整演算法流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C45608E-360F-43AE-A70F-CBC25CFD9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1D113AC-898D-41F6-9ECC-A116F98519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CF84FE4-7AFF-4FB6-AD21-1081171453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68F2BF6A-101B-4C08-868D-51489139A07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迭代細節與失敗分支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E772812-B376-4292-B7DC-F69D6AFDD5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3D1E37B-96ED-49CF-9885-14F28CA3B3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4EEC0F-80BA-462F-9F3D-5DCF1BC97E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AFE0DDD3-2014-44E4-BA86-0356DC208AC8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實驗結果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BD11E234-2890-4D9E-9BD1-FB90E5526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CF821D3-F700-48E9-B364-4E34591678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E5037F9F-C2C8-47F1-8EC8-69E886E326DE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3BCC7E98-58AF-4E44-825F-B1E83EFAB5F6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BBD12D10-8171-4B26-AD3D-A8DB635BF2A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耗時與成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3C4424CD-B7CB-4152-8DE4-69A9C2CF9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B98FBC3-D73E-4FBC-9BF4-EDF7036886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0D76A34-2FB7-4768-B9A2-DD77D2C2FBA3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5B2DA84A-9CBE-4B1B-B2C5-436F38CDA074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F17160D-33C4-42A5-9A93-DE706AF69DB0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比較分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5B43807-3063-4E37-B06D-A1600E3A7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DA31CE5-EE2A-4D77-9BB6-6D6982BAEA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C98C6D-827D-47F0-B20C-B6B2776C8CED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[基準、方法、結果差、耗時差與控制條件]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8840C198-4883-4725-A761-9A9BF303D0D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[一個有證據的解讀與必要限制]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7EB90E6-BF7A-4F0E-8F35-02A99B74784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區間與逐次變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0A90EAA-49F5-4605-ACAA-3367CC8BD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3CAE9AC-B4FE-4539-A9D5-86FBF41F7A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6378AEB-2BFE-4B58-A383-FD6B59F1CDFA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[日期／版本、before、after／目的、run、觀察影響]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04C6DF52-C32A-4039-B0E6-1CB40D6A713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[區間外基準的日期、版本、run ID 與選用原因]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4157F41-695F-4AAE-A7BD-E6182CD00A7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822baafba1449f3" /><Relationship Type="http://schemas.openxmlformats.org/officeDocument/2006/relationships/theme" Target="/ppt/slideMasters/theme/theme2.xml" Id="Rdeb339618a6a4893" /><Relationship Type="http://schemas.openxmlformats.org/officeDocument/2006/relationships/slideLayout" Target="/ppt/slideLayouts/slideLayout1.xml" Id="R07d5b30616cb4cb4" /><Relationship Type="http://schemas.openxmlformats.org/officeDocument/2006/relationships/slideLayout" Target="/ppt/slideLayouts/slideLayout2.xml" Id="R3237a42ac28a40d6" /><Relationship Type="http://schemas.openxmlformats.org/officeDocument/2006/relationships/slideLayout" Target="/ppt/slideLayouts/slideLayout3.xml" Id="Rbece734c2cbd46e6" /><Relationship Type="http://schemas.openxmlformats.org/officeDocument/2006/relationships/slideLayout" Target="/ppt/slideLayouts/slideLayout4.xml" Id="R005651ab6ff54604" /><Relationship Type="http://schemas.openxmlformats.org/officeDocument/2006/relationships/slideLayout" Target="/ppt/slideLayouts/slideLayout5.xml" Id="R980dabf9a81b4268" /><Relationship Type="http://schemas.openxmlformats.org/officeDocument/2006/relationships/slideLayout" Target="/ppt/slideLayouts/slideLayout6.xml" Id="R5169a6563de44d87" /><Relationship Type="http://schemas.openxmlformats.org/officeDocument/2006/relationships/slideLayout" Target="/ppt/slideLayouts/slideLayout7.xml" Id="R09e2e93707584943" /><Relationship Type="http://schemas.openxmlformats.org/officeDocument/2006/relationships/slideLayout" Target="/ppt/slideLayouts/slideLayout8.xml" Id="R8b139ce0ea0d4c8c" /><Relationship Type="http://schemas.openxmlformats.org/officeDocument/2006/relationships/slideLayout" Target="/ppt/slideLayouts/slideLayout9.xml" Id="R1c2ae8c364014cee" /><Relationship Type="http://schemas.openxmlformats.org/officeDocument/2006/relationships/slideLayout" Target="/ppt/slideLayouts/slideLayout10.xml" Id="Rfa4d527518f049c7" /><Relationship Type="http://schemas.openxmlformats.org/officeDocument/2006/relationships/slideLayout" Target="/ppt/slideLayouts/slideLayout11.xml" Id="R215c5735e8d14a9f" /><Relationship Type="http://schemas.openxmlformats.org/officeDocument/2006/relationships/slideLayout" Target="/ppt/slideLayouts/slideLayout12.xml" Id="R6d20e1e02dd248ee" /><Relationship Type="http://schemas.openxmlformats.org/officeDocument/2006/relationships/slideLayout" Target="/ppt/slideLayouts/slideLayout13.xml" Id="R251663d45d174240" /><Relationship Type="http://schemas.openxmlformats.org/officeDocument/2006/relationships/slideLayout" Target="/ppt/slideLayouts/slideLayout14.xml" Id="Rd5db64bbc1f84cb5" /><Relationship Type="http://schemas.openxmlformats.org/officeDocument/2006/relationships/slideLayout" Target="/ppt/slideLayouts/slideLayout15.xml" Id="R432266cfffd64f39" /><Relationship Type="http://schemas.openxmlformats.org/officeDocument/2006/relationships/slideLayout" Target="/ppt/slideLayouts/slideLayout16.xml" Id="R5446b4a282b24bc0" /><Relationship Type="http://schemas.openxmlformats.org/officeDocument/2006/relationships/slideLayout" Target="/ppt/slideLayouts/slideLayout17.xml" Id="Rada961e34733454b" /><Relationship Type="http://schemas.openxmlformats.org/officeDocument/2006/relationships/slideLayout" Target="/ppt/slideLayouts/slideLayout18.xml" Id="R9eb0c85c7b094fe2" /></Relationships>
</file>

<file path=ppt/slideMasters/slideMaster1.xml><?xml version="1.0" encoding="utf-8"?>
<p:sldMaster xmlns:p="http://schemas.openxmlformats.org/presentationml/2006/main">
  <p:cSld name="EAGL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EAGLE geometric full-slide background">
            <a:extLst xmlns:a="http://schemas.openxmlformats.org/drawingml/2006/main">
              <a:ext uri="{FF2B5EF4-FFF2-40B4-BE49-F238E27FC236}">
                <a16:creationId xmlns:a16="http://schemas.microsoft.com/office/drawing/2014/main" id="{EF374BDF-E45B-4A3D-A5DB-2459AB5B1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2baafba14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d5b30616cb4cb4"/>
    <p:sldLayoutId xmlns:r="http://schemas.openxmlformats.org/officeDocument/2006/relationships" id="2147483650" r:id="R3237a42ac28a40d6"/>
    <p:sldLayoutId xmlns:r="http://schemas.openxmlformats.org/officeDocument/2006/relationships" id="2147483651" r:id="Rbece734c2cbd46e6"/>
    <p:sldLayoutId xmlns:r="http://schemas.openxmlformats.org/officeDocument/2006/relationships" id="2147483652" r:id="R005651ab6ff54604"/>
    <p:sldLayoutId xmlns:r="http://schemas.openxmlformats.org/officeDocument/2006/relationships" id="2147483653" r:id="R980dabf9a81b4268"/>
    <p:sldLayoutId xmlns:r="http://schemas.openxmlformats.org/officeDocument/2006/relationships" id="2147483654" r:id="R5169a6563de44d87"/>
    <p:sldLayoutId xmlns:r="http://schemas.openxmlformats.org/officeDocument/2006/relationships" id="2147483655" r:id="R09e2e93707584943"/>
    <p:sldLayoutId xmlns:r="http://schemas.openxmlformats.org/officeDocument/2006/relationships" id="2147483656" r:id="R8b139ce0ea0d4c8c"/>
    <p:sldLayoutId xmlns:r="http://schemas.openxmlformats.org/officeDocument/2006/relationships" id="2147483657" r:id="R1c2ae8c364014cee"/>
    <p:sldLayoutId xmlns:r="http://schemas.openxmlformats.org/officeDocument/2006/relationships" id="2147483658" r:id="Rfa4d527518f049c7"/>
    <p:sldLayoutId xmlns:r="http://schemas.openxmlformats.org/officeDocument/2006/relationships" id="2147483659" r:id="R215c5735e8d14a9f"/>
    <p:sldLayoutId xmlns:r="http://schemas.openxmlformats.org/officeDocument/2006/relationships" id="2147483660" r:id="R6d20e1e02dd248ee"/>
    <p:sldLayoutId xmlns:r="http://schemas.openxmlformats.org/officeDocument/2006/relationships" id="2147483661" r:id="R251663d45d174240"/>
    <p:sldLayoutId xmlns:r="http://schemas.openxmlformats.org/officeDocument/2006/relationships" id="2147483662" r:id="Rd5db64bbc1f84cb5"/>
    <p:sldLayoutId xmlns:r="http://schemas.openxmlformats.org/officeDocument/2006/relationships" id="2147483663" r:id="R432266cfffd64f39"/>
    <p:sldLayoutId xmlns:r="http://schemas.openxmlformats.org/officeDocument/2006/relationships" id="2147483664" r:id="R5446b4a282b24bc0"/>
    <p:sldLayoutId xmlns:r="http://schemas.openxmlformats.org/officeDocument/2006/relationships" id="2147483665" r:id="Rada961e34733454b"/>
    <p:sldLayoutId xmlns:r="http://schemas.openxmlformats.org/officeDocument/2006/relationships" id="2147483666" r:id="R9eb0c85c7b094fe2"/>
  </p:sldLayoutIdLst>
  <p:hf sldNum="1"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Masters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f9d46145fd4418" /><Relationship Type="http://schemas.openxmlformats.org/officeDocument/2006/relationships/notesSlide" Target="/ppt/notesSlides/notesSlide1.xml" Id="R3b218ca8eacd4d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94413dda3ad4f54" /><Relationship Type="http://schemas.openxmlformats.org/officeDocument/2006/relationships/notesSlide" Target="/ppt/notesSlides/notesSlide2.xml" Id="R847c5d804fb145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fbef113d87c4c16" /><Relationship Type="http://schemas.openxmlformats.org/officeDocument/2006/relationships/notesSlide" Target="/ppt/notesSlides/notesSlide3.xml" Id="Re1f14c7f138c43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55fe720e7124fbb" /><Relationship Type="http://schemas.openxmlformats.org/officeDocument/2006/relationships/notesSlide" Target="/ppt/notesSlides/notesSlide4.xml" Id="R9381f4fd50f54a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943366f702c4101" /><Relationship Type="http://schemas.openxmlformats.org/officeDocument/2006/relationships/notesSlide" Target="/ppt/notesSlides/notesSlide5.xml" Id="Rcf60d6419eb142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aa745a10b83426b" /><Relationship Type="http://schemas.openxmlformats.org/officeDocument/2006/relationships/notesSlide" Target="/ppt/notesSlides/notesSlide6.xml" Id="R4d980a44a1a943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0510bdee8a4463a" /><Relationship Type="http://schemas.openxmlformats.org/officeDocument/2006/relationships/notesSlide" Target="/ppt/notesSlides/notesSlide7.xml" Id="R4803329b193e4c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dfde3f9a604491" /><Relationship Type="http://schemas.openxmlformats.org/officeDocument/2006/relationships/notesSlide" Target="/ppt/notesSlides/notesSlide8.xml" Id="R0af073b270744b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8f5105b1254c7c" /><Relationship Type="http://schemas.openxmlformats.org/officeDocument/2006/relationships/notesSlide" Target="/ppt/notesSlides/notesSlide9.xml" Id="Rb1d0c0d2dbde47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7339470455648d0" /><Relationship Type="http://schemas.openxmlformats.org/officeDocument/2006/relationships/notesSlide" Target="/ppt/notesSlides/notesSlide10.xml" Id="Rdd44df4051124c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d0e401b13a04754" /><Relationship Type="http://schemas.openxmlformats.org/officeDocument/2006/relationships/notesSlide" Target="/ppt/notesSlides/notesSlide11.xml" Id="R33704ffc5e2243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b7687824d44210" /><Relationship Type="http://schemas.openxmlformats.org/officeDocument/2006/relationships/notesSlide" Target="/ppt/notesSlides/notesSlide12.xml" Id="Ra4acf032f22f4c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76d1104a5ea4cd7" /><Relationship Type="http://schemas.openxmlformats.org/officeDocument/2006/relationships/notesSlide" Target="/ppt/notesSlides/notesSlide13.xml" Id="R989aebb3f8534a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3114b8c3c8342c4" /><Relationship Type="http://schemas.openxmlformats.org/officeDocument/2006/relationships/notesSlide" Target="/ppt/notesSlides/notesSlide14.xml" Id="R70f9cd2d1db448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744e9be8b59457b" /><Relationship Type="http://schemas.openxmlformats.org/officeDocument/2006/relationships/notesSlide" Target="/ppt/notesSlides/notesSlide15.xml" Id="R97bda3c6f5ec48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733adc797d14d4f" /><Relationship Type="http://schemas.openxmlformats.org/officeDocument/2006/relationships/notesSlide" Target="/ppt/notesSlides/notesSlide16.xml" Id="R99140a472f1243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db19844ffb647c5" /><Relationship Type="http://schemas.openxmlformats.org/officeDocument/2006/relationships/notesSlide" Target="/ppt/notesSlides/notesSlide17.xml" Id="R7ba660cc8c9349eb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2A80A26B-CE72-4547-9158-7E6F24022BBA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最終版本介紹</a:t>
            </a:r>
          </a:p>
        </p:txBody>
      </p:sp>
      <p:sp>
        <p:nvSpPr>
          <p:cNvPr id="2" name="text-1">
            <a:extLst>
              <a:ext uri="{FF2B5EF4-FFF2-40B4-BE49-F238E27FC236}">
                <ns2:creationId id="{0A60B77E-783C-4A18-B34A-C3F3CAB1453B}"/>
              </a:ext>
            </a:extLst>
          </p:cNvPr>
          <p:cNvSpPr>
            <a:spLocks noGrp="1"/>
          </p:cNvSpPr>
          <p:nvPr/>
        </p:nvSpPr>
        <p:spPr>
          <a:xfrm>
            <a:off x="2047875" y="3105150"/>
            <a:ext cx="118300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以 DSL 演化策略的搜尋流程</a:t>
            </a:r>
          </a:p>
        </p:txBody>
      </p:sp>
      <p:sp>
        <p:nvSpPr>
          <p:cNvPr id="3" name="text-2">
            <a:extLst>
              <a:ext uri="{FF2B5EF4-FFF2-40B4-BE49-F238E27FC236}">
                <ns2:creationId id="{097CF8C0-165E-465B-88E9-C60EB8D59986}"/>
              </a:ext>
            </a:extLst>
          </p:cNvPr>
          <p:cNvSpPr>
            <a:spLocks noGrp="1"/>
          </p:cNvSpPr>
          <p:nvPr/>
        </p:nvSpPr>
        <p:spPr>
          <a:xfrm>
            <a:off x="2476500" y="4981575"/>
            <a:ext cx="10972800" cy="16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標準規模：population 10 × 演化 20 代</a:t>
            </a:r>
          </a:p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Deterministic DSL　Ministral3 8B</a:t>
            </a:r>
          </a:p>
        </p:txBody>
      </p:sp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</a:p>
        </p:txBody>
      </p:sp>
    </p:spTree>
    <p:extLst>
      <p:ext uri="{BB962C8B-B14F-4D97-AF65-F5344CB8AC3E}">
        <ns3:creationId val="1936970505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510046B7-0E36-4440-9F3F-9104B557F4C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執行模式與實驗設定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3A5F74C9-5781-4F71-8577-6C2FAF8843C3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428875"/>
                <a:gridCol w="4714875"/>
                <a:gridCol w="5638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實際作用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策略／Java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deterministic_dsl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eagle-dsl-java-v1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 JSON → 固定 Java compiler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meta prompt 不啟用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搜尋預算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population 10、演化 20 代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8，runs 3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 另列，之後 gen1–20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三次相同 seed、獨立 run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反思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static，mutation_rate 1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 probability 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只有 Strategy Reflection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Code／Prompt Reflection 不啟用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評估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self_play，3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 mode reuse_cached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 最大化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同分以 semantic novelty 分辨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</a:p>
        </p:txBody>
      </p:sp>
    </p:spTree>
    <p:extLst>
      <p:ext uri="{BB962C8B-B14F-4D97-AF65-F5344CB8AC3E}">
        <ns3:creationId val="101870069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7" name="">
            <a:extLst>
              <a:ext uri="{FF2B5EF4-FFF2-40B4-BE49-F238E27FC236}">
                <ns2:creationId id="{4CFCDBFF-58AA-4451-AB1C-E2C9C1DD522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191125" y="676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6" name="">
            <a:extLst>
              <a:ext uri="{FF2B5EF4-FFF2-40B4-BE49-F238E27FC236}">
                <ns2:creationId id="{DD74BE13-8774-4BC0-BF0B-A05FD726E934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476625" y="5429250"/>
            <a:ext cx="0" cy="85725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5" name="">
            <a:extLst>
              <a:ext uri="{FF2B5EF4-FFF2-40B4-BE49-F238E27FC236}">
                <ns2:creationId id="{DBEF7D07-52EB-4122-996C-EB7312CA2A76}"/>
              </a:ext>
            </a:extLst>
          </p:cNvPr>
          <p:cNvCxnSpPr>
            <a:stCxn id="7" idx="0"/>
            <a:endCxn id="5" idx="0"/>
          </p:cNvCxnSpPr>
          <p:nvPr/>
        </p:nvCxnSpPr>
        <p:spPr>
          <a:xfrm>
            <a:off x="3476625" y="4152900"/>
            <a:ext cx="8858250" cy="22860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4" name="">
            <a:extLst>
              <a:ext uri="{FF2B5EF4-FFF2-40B4-BE49-F238E27FC236}">
                <ns2:creationId id="{4EAEB284-7E8B-407D-B91C-8922D955D3EE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4857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DDA54043-3741-4C64-930B-E194A805592C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20250" y="4857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B6BEEC6D-4ECA-4969-9A8F-DC3E6E49BAC4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34875" y="3429000"/>
            <a:ext cx="0" cy="952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2953B73C-D8C7-4396-8EB6-2F69530D9414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35F42A66-F90B-4A37-9B91-846BF33340AA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21" name="text-0">
            <a:extLst>
              <a:ext uri="{FF2B5EF4-FFF2-40B4-BE49-F238E27FC236}">
                <ns2:creationId id="{21A81FBD-4769-43AE-836E-BD55DCB27630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完整搜尋流程</a:t>
            </a:r>
          </a:p>
        </p:txBody>
      </p:sp>
      <p:sp>
        <p:nvSpPr>
          <p:cNvPr id="2" name="config">
            <a:extLst>
              <a:ext uri="{FF2B5EF4-FFF2-40B4-BE49-F238E27FC236}">
                <ns2:creationId id="{A4B43D13-0944-4421-849D-7EFB99CBCD72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Config、seed、GPU 檢查</a:t>
            </a:r>
          </a:p>
        </p:txBody>
      </p:sp>
      <p:sp>
        <p:nvSpPr>
          <p:cNvPr id="3" name="init">
            <a:extLst>
              <a:ext uri="{FF2B5EF4-FFF2-40B4-BE49-F238E27FC236}">
                <ns2:creationId id="{C0CBF3F2-91AC-4D11-A97D-763543748E8F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Gen0：10 個 seed clones</a:t>
            </a:r>
          </a:p>
        </p:txBody>
      </p:sp>
      <p:sp>
        <p:nvSpPr>
          <p:cNvPr id="4" name="bootstrap">
            <a:extLst>
              <a:ext uri="{FF2B5EF4-FFF2-40B4-BE49-F238E27FC236}">
                <ns2:creationId id="{37E824F3-96BD-465E-83AA-F63615BC1CD1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 編譯、初始評估</a:t>
            </a:r>
          </a:p>
        </p:txBody>
      </p:sp>
      <p:sp>
        <p:nvSpPr>
          <p:cNvPr id="5" name="iteration">
            <a:extLst>
              <a:ext uri="{FF2B5EF4-FFF2-40B4-BE49-F238E27FC236}">
                <ns2:creationId id="{4E35DEDB-AD94-49FE-91D9-4A48F5008EF9}"/>
              </a:ext>
            </a:extLst>
          </p:cNvPr>
          <p:cNvSpPr>
            <a:spLocks noGrp="1"/>
          </p:cNvSpPr>
          <p:nvPr/>
        </p:nvSpPr>
        <p:spPr>
          <a:xfrm>
            <a:off x="10620375" y="4381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父代、crossover、反思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 10 offspring</a:t>
            </a:r>
          </a:p>
        </p:txBody>
      </p:sp>
      <p:sp>
        <p:nvSpPr>
          <p:cNvPr id="6" name="eval">
            <a:extLst>
              <a:ext uri="{FF2B5EF4-FFF2-40B4-BE49-F238E27FC236}">
                <ns2:creationId id="{7EECD1B0-7691-4409-A033-8E57561F32B7}"/>
              </a:ext>
            </a:extLst>
          </p:cNvPr>
          <p:cNvSpPr>
            <a:spLocks noGrp="1"/>
          </p:cNvSpPr>
          <p:nvPr/>
        </p:nvSpPr>
        <p:spPr>
          <a:xfrm>
            <a:off x="6191250" y="4381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 編譯與對戰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μ＋λ 倖存者選擇</a:t>
            </a:r>
          </a:p>
        </p:txBody>
      </p:sp>
      <p:sp>
        <p:nvSpPr>
          <p:cNvPr id="7" name="stop">
            <a:extLst>
              <a:ext uri="{FF2B5EF4-FFF2-40B4-BE49-F238E27FC236}">
                <ns2:creationId id="{5AF87495-1ACC-43C4-9352-3B9987633E3F}"/>
              </a:ext>
            </a:extLst>
          </p:cNvPr>
          <p:cNvSpPr>
            <a:spLocks noGrp="1"/>
          </p:cNvSpPr>
          <p:nvPr/>
        </p:nvSpPr>
        <p:spPr>
          <a:xfrm>
            <a:off x="1762125" y="4286250"/>
            <a:ext cx="3429000" cy="114300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達到停止條件？</a:t>
            </a:r>
          </a:p>
        </p:txBody>
      </p:sp>
      <p:sp>
        <p:nvSpPr>
          <p:cNvPr id="8" name="final">
            <a:extLst>
              <a:ext uri="{FF2B5EF4-FFF2-40B4-BE49-F238E27FC236}">
                <ns2:creationId id="{44AC67B4-E81F-4868-AECB-DAAD4EB7CCA7}"/>
              </a:ext>
            </a:extLst>
          </p:cNvPr>
          <p:cNvSpPr>
            <a:spLocks noGrp="1"/>
          </p:cNvSpPr>
          <p:nvPr/>
        </p:nvSpPr>
        <p:spPr>
          <a:xfrm>
            <a:off x="1762125" y="628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完成：champion final-test</a:t>
            </a:r>
          </a:p>
        </p:txBody>
      </p:sp>
      <p:sp>
        <p:nvSpPr>
          <p:cNvPr id="9" name="outputs">
            <a:extLst>
              <a:ext uri="{FF2B5EF4-FFF2-40B4-BE49-F238E27FC236}">
                <ns2:creationId id="{FF4268F3-5D86-4445-82BE-F76F3941137D}"/>
              </a:ext>
            </a:extLst>
          </p:cNvPr>
          <p:cNvSpPr>
            <a:spLocks noGrp="1"/>
          </p:cNvSpPr>
          <p:nvPr/>
        </p:nvSpPr>
        <p:spPr>
          <a:xfrm>
            <a:off x="6191250" y="628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summary、checkpoint、timing</a:t>
            </a:r>
          </a:p>
        </p:txBody>
      </p:sp>
      <p:sp>
        <p:nvSpPr>
          <p:cNvPr id="18" name="text-17">
            <a:extLst>
              <a:ext uri="{FF2B5EF4-FFF2-40B4-BE49-F238E27FC236}">
                <ns2:creationId id="{825FC284-9404-4BC4-BE0F-7CA68E3430C7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否：繼續 gen1–20</a:t>
            </a:r>
          </a:p>
        </p:txBody>
      </p:sp>
      <p:sp>
        <p:nvSpPr>
          <p:cNvPr id="19" name="text-18">
            <a:extLst>
              <a:ext uri="{FF2B5EF4-FFF2-40B4-BE49-F238E27FC236}">
                <ns2:creationId id="{AEADE5C7-7849-4218-AB5F-B432DD9DD565}"/>
              </a:ext>
            </a:extLst>
          </p:cNvPr>
          <p:cNvSpPr>
            <a:spLocks noGrp="1"/>
          </p:cNvSpPr>
          <p:nvPr/>
        </p:nvSpPr>
        <p:spPr>
          <a:xfrm>
            <a:off x="2238375" y="5657850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是：正常完成</a:t>
            </a:r>
          </a:p>
        </p:txBody>
      </p:sp>
      <p:sp>
        <p:nvSpPr>
          <p:cNvPr id="20" name="text-19">
            <a:extLst>
              <a:ext uri="{FF2B5EF4-FFF2-40B4-BE49-F238E27FC236}">
                <ns2:creationId id="{73B2EA2D-5E51-48DB-933C-922EE3E3CD61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中斷／失敗：保留最後完整 checkpoint，以 --resume 接續</a:t>
            </a:r>
          </a:p>
        </p:txBody>
      </p:sp>
      <p:sp>
        <p:nvSpPr>
          <p:cNvPr id="22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</a:p>
        </p:txBody>
      </p:sp>
    </p:spTree>
    <p:extLst>
      <p:ext uri="{BB962C8B-B14F-4D97-AF65-F5344CB8AC3E}">
        <ns3:creationId val="252929268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36055F24-7C88-42BA-A70A-A0AF2436F726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DSL：策略與實作之間的固定契約</a:t>
            </a:r>
          </a:p>
        </p:txBody>
      </p:sp>
      <p:sp>
        <p:nvSpPr>
          <p:cNvPr id="2" name="text-1">
            <a:extLst>
              <a:ext uri="{FF2B5EF4-FFF2-40B4-BE49-F238E27FC236}">
                <ns2:creationId id="{5427D5C9-37A2-4952-BC71-1A2096211090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策略是一個 version + rules 的 JSON object；每條 rule 包含 actor、when、action。空 rules 明確表示 idle。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1CED5596-0D42-409A-8866-1F5B760CD339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條件只讀當前可觀測狀態；action、target、selector 使用封閉詞彙。禁止自訂 prose／Java 欄位。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CEFAB7D4-899B-49CB-8F25-9DD1DF7B140D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是離線編譯的 phenotype；固定 scaffold、compiler version 與 policy hash 一起保存。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</a:p>
        </p:txBody>
      </p:sp>
    </p:spTree>
    <p:extLst>
      <p:ext uri="{BB962C8B-B14F-4D97-AF65-F5344CB8AC3E}">
        <ns3:creationId val="1866191307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4" name="">
            <a:extLst>
              <a:ext uri="{FF2B5EF4-FFF2-40B4-BE49-F238E27FC236}">
                <ns2:creationId id="{FE14EBF7-DEEB-40F4-ABD1-0F1D379615CE}"/>
              </a:ext>
            </a:extLst>
          </p:cNvPr>
          <p:cNvCxnSpPr>
            <a:stCxn id="7" idx="0"/>
            <a:endCxn id="3" idx="2"/>
          </p:cNvCxnSpPr>
          <p:nvPr/>
        </p:nvCxnSpPr>
        <p:spPr>
          <a:xfrm flipV="1">
            <a:off x="3476625" y="3429000"/>
            <a:ext cx="4429125" cy="1143000"/>
          </a:xfrm>
          <a:prstGeom prst="bentConnector4">
            <a:avLst>
              <a:gd name="adj1" fmla="val 0"/>
              <a:gd name="adj2" fmla="val 20000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9DA9AD08-6921-46FE-A550-C428CE7B902E}"/>
              </a:ext>
            </a:extLst>
          </p:cNvPr>
          <p:cNvCxnSpPr>
            <a:stCxn id="5" idx="2"/>
            <a:endCxn id="7" idx="2"/>
          </p:cNvCxnSpPr>
          <p:nvPr/>
        </p:nvCxnSpPr>
        <p:spPr>
          <a:xfrm flipH="1" flipV="1">
            <a:off x="3476625" y="5524500"/>
            <a:ext cx="8858250" cy="32385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1BFD7866-21A4-4280-A27C-6818F5B77834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3476625" y="3524250"/>
            <a:ext cx="8858250" cy="104775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28D349CE-E08C-4937-9F7B-0D08DCA28F74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20250" y="50482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3F7BD957-999A-497F-923A-83953DD81FB8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34875" y="3524250"/>
            <a:ext cx="0" cy="952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9CF8A0A8-A986-4AD6-9E78-C9E223EF623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170E180B-035C-4886-9C30-A81383AB44D5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20" name="text-0">
            <a:extLst>
              <a:ext uri="{FF2B5EF4-FFF2-40B4-BE49-F238E27FC236}">
                <ns2:creationId id="{69BEA249-7085-4500-A4B5-84F8C23B6FE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的規則順序與 fallback</a:t>
            </a:r>
          </a:p>
        </p:txBody>
      </p:sp>
      <p:sp>
        <p:nvSpPr>
          <p:cNvPr id="2" name="actor">
            <a:extLst>
              <a:ext uri="{FF2B5EF4-FFF2-40B4-BE49-F238E27FC236}">
                <ns2:creationId id="{B599B294-36AA-47B5-B385-4C47FAABE5E5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idle friendly actors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 unit ID 升序</a:t>
            </a:r>
          </a:p>
        </p:txBody>
      </p:sp>
      <p:sp>
        <p:nvSpPr>
          <p:cNvPr id="3" name="rules">
            <a:extLst>
              <a:ext uri="{FF2B5EF4-FFF2-40B4-BE49-F238E27FC236}">
                <ns2:creationId id="{BEFBF005-A2BF-47AA-A277-6748C722E0F3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規則按 rules 陣列順序</a:t>
            </a:r>
          </a:p>
        </p:txBody>
      </p:sp>
      <p:sp>
        <p:nvSpPr>
          <p:cNvPr id="4" name="when">
            <a:extLst>
              <a:ext uri="{FF2B5EF4-FFF2-40B4-BE49-F238E27FC236}">
                <ns2:creationId id="{9FF07C93-D481-4B29-BA15-71CFAE3B03BB}"/>
              </a:ext>
            </a:extLst>
          </p:cNvPr>
          <p:cNvSpPr>
            <a:spLocks noGrp="1"/>
          </p:cNvSpPr>
          <p:nvPr/>
        </p:nvSpPr>
        <p:spPr>
          <a:xfrm>
            <a:off x="10620375" y="2381250"/>
            <a:ext cx="3429000" cy="114300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 成立？</a:t>
            </a:r>
          </a:p>
        </p:txBody>
      </p:sp>
      <p:sp>
        <p:nvSpPr>
          <p:cNvPr id="5" name="issue">
            <a:extLst>
              <a:ext uri="{FF2B5EF4-FFF2-40B4-BE49-F238E27FC236}">
                <ns2:creationId id="{873D8EF9-BFE7-4636-9434-BA7B47AB07DD}"/>
              </a:ext>
            </a:extLst>
          </p:cNvPr>
          <p:cNvSpPr>
            <a:spLocks noGrp="1"/>
          </p:cNvSpPr>
          <p:nvPr/>
        </p:nvSpPr>
        <p:spPr>
          <a:xfrm>
            <a:off x="10620375" y="4476750"/>
            <a:ext cx="3429000" cy="114300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action 可合法發出？</a:t>
            </a:r>
          </a:p>
        </p:txBody>
      </p:sp>
      <p:sp>
        <p:nvSpPr>
          <p:cNvPr id="6" name="commit">
            <a:extLst>
              <a:ext uri="{FF2B5EF4-FFF2-40B4-BE49-F238E27FC236}">
                <ns2:creationId id="{C13E4963-BE42-4C51-9409-60D4EE8CED79}"/>
              </a:ext>
            </a:extLst>
          </p:cNvPr>
          <p:cNvSpPr>
            <a:spLocks noGrp="1"/>
          </p:cNvSpPr>
          <p:nvPr/>
        </p:nvSpPr>
        <p:spPr>
          <a:xfrm>
            <a:off x="6191250" y="45720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發出一個 action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更新本輪 reservations</a:t>
            </a:r>
          </a:p>
        </p:txBody>
      </p:sp>
      <p:sp>
        <p:nvSpPr>
          <p:cNvPr id="7" name="next">
            <a:extLst>
              <a:ext uri="{FF2B5EF4-FFF2-40B4-BE49-F238E27FC236}">
                <ns2:creationId id="{E83FC422-8BBE-4E5D-97AF-673662BE80B6}"/>
              </a:ext>
            </a:extLst>
          </p:cNvPr>
          <p:cNvSpPr>
            <a:spLocks noGrp="1"/>
          </p:cNvSpPr>
          <p:nvPr/>
        </p:nvSpPr>
        <p:spPr>
          <a:xfrm>
            <a:off x="1762125" y="45720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不成立／guard 失敗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繼續下一條 rule</a:t>
            </a:r>
          </a:p>
        </p:txBody>
      </p:sp>
      <p:sp>
        <p:nvSpPr>
          <p:cNvPr id="15" name="text-14">
            <a:extLst>
              <a:ext uri="{FF2B5EF4-FFF2-40B4-BE49-F238E27FC236}">
                <ns2:creationId id="{DF83226B-A0A6-4A3D-9BF7-E980D510DD4E}"/>
              </a:ext>
            </a:extLst>
          </p:cNvPr>
          <p:cNvSpPr>
            <a:spLocks noGrp="1"/>
          </p:cNvSpPr>
          <p:nvPr/>
        </p:nvSpPr>
        <p:spPr>
          <a:xfrm>
            <a:off x="12430125" y="4171950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6" name="text-15">
            <a:extLst>
              <a:ext uri="{FF2B5EF4-FFF2-40B4-BE49-F238E27FC236}">
                <ns2:creationId id="{44B9C025-0588-4EA7-BDFD-1FA36E9AA969}"/>
              </a:ext>
            </a:extLst>
          </p:cNvPr>
          <p:cNvSpPr>
            <a:spLocks noGrp="1"/>
          </p:cNvSpPr>
          <p:nvPr/>
        </p:nvSpPr>
        <p:spPr>
          <a:xfrm>
            <a:off x="9906000" y="4733925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7" name="text-16">
            <a:extLst>
              <a:ext uri="{FF2B5EF4-FFF2-40B4-BE49-F238E27FC236}">
                <ns2:creationId id="{5D7ACB9B-C78A-4CBC-B97D-4AAC5A6820DE}"/>
              </a:ext>
            </a:extLst>
          </p:cNvPr>
          <p:cNvSpPr>
            <a:spLocks noGrp="1"/>
          </p:cNvSpPr>
          <p:nvPr/>
        </p:nvSpPr>
        <p:spPr>
          <a:xfrm>
            <a:off x="6524625" y="61150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否／無合法 action</a:t>
            </a:r>
          </a:p>
        </p:txBody>
      </p:sp>
      <p:sp>
        <p:nvSpPr>
          <p:cNvPr id="18" name="text-17">
            <a:extLst>
              <a:ext uri="{FF2B5EF4-FFF2-40B4-BE49-F238E27FC236}">
                <ns2:creationId id="{60CE93C1-4365-494A-BE07-6A9F9C951467}"/>
              </a:ext>
            </a:extLst>
          </p:cNvPr>
          <p:cNvSpPr>
            <a:spLocks noGrp="1"/>
          </p:cNvSpPr>
          <p:nvPr/>
        </p:nvSpPr>
        <p:spPr>
          <a:xfrm>
            <a:off x="5524500" y="3619500"/>
            <a:ext cx="2000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when 為否</a:t>
            </a:r>
          </a:p>
        </p:txBody>
      </p:sp>
      <p:sp>
        <p:nvSpPr>
          <p:cNvPr id="19" name="text-18">
            <a:extLst>
              <a:ext uri="{FF2B5EF4-FFF2-40B4-BE49-F238E27FC236}">
                <ns2:creationId id="{06D90102-8630-4A26-8D67-E083044FA436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actor 每 cycle 最多一個 action；沒有匹配則 idle</a:t>
            </a:r>
          </a:p>
        </p:txBody>
      </p:sp>
      <p:sp>
        <p:nvSpPr>
          <p:cNvPr id="21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</a:p>
        </p:txBody>
      </p:sp>
    </p:spTree>
    <p:extLst>
      <p:ext uri="{BB962C8B-B14F-4D97-AF65-F5344CB8AC3E}">
        <ns3:creationId val="2125942332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F34632C4-1D8A-446F-BC25-AEB12F6793AB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Gen0 與每代需要保存的狀態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BE783114-CF1D-43E0-ADB8-EF8B329574C3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428875"/>
                <a:gridCol w="5524500"/>
                <a:gridCol w="482917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候選／狀態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單一 WorkerRush policy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複製為 10 個候選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 candidate IDs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相同 DSL 與 Java hash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對手快照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bootstrap 後建立 run-local library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Java／語意等價去重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source IDs、slot IDs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 context_id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Gen1–20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每代建立 10 offspring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保存已完成 survivors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parents、strategy_parent_id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反思與 lineage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Checkpoint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只承認完整提交的 generation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config、compiler/scaffold hashes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manifest、snapshot、timing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</a:p>
        </p:txBody>
      </p:sp>
    </p:spTree>
    <p:extLst>
      <p:ext uri="{BB962C8B-B14F-4D97-AF65-F5344CB8AC3E}">
        <ns3:creationId val="1370793855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8225BF42-E3EC-470E-AB75-5B4414699045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 opponent pool 的建立與刷新</a:t>
            </a:r>
          </a:p>
        </p:txBody>
      </p:sp>
      <p:sp>
        <p:nvSpPr>
          <p:cNvPr id="2" name="text-1">
            <a:extLst>
              <a:ext uri="{FF2B5EF4-FFF2-40B4-BE49-F238E27FC236}">
                <ns2:creationId id="{DE6BD54E-689B-4BFA-9B4B-782B0A384D9B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只有完整、可執行且評估成功的 phenotype 可進入 library；依 candidate ID、Java hash 與完整語意簽章去重。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682B45CE-D95E-4111-8201-355C697B1DCF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Library 容量 50，按 FIFO 保留；刷新時循環取最多 10 個來源，再填滿 10 個 evaluation slots。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8A70BA30-E7C0-4C17-8057-2BC93A04B7E3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 5 代刷新對手快照：gen5、10、15、20。刷新或 context 改變時，先重評父代，再與 offspring 在相同快照下比較。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</a:p>
        </p:txBody>
      </p:sp>
    </p:spTree>
    <p:extLst>
      <p:ext uri="{BB962C8B-B14F-4D97-AF65-F5344CB8AC3E}">
        <ns3:creationId val="162306893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7D310F57-3C60-419F-AE56-E3F182966592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評估對手、繁殖父代與倖存者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7751BD47-92D6-4FFD-92F3-376450839558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4572000"/>
                <a:gridCol w="54483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從哪裡選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選擇規則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Evaluation opponents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self-play snapshot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不是目前 breeding pool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library 循環來源 → 10 slots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同輪所有候選共用 context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Breeding parents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 evolving population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 最高 tier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第二父代 tie 可看語意距離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Survivors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 parents + offspring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μ＋λ 選 10 人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tier 邊界用 seeded novelty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Final-test opponents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10 種共同測試對手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與搜尋 self-play pool 分開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champion 測試後不回饋搜尋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</a:p>
        </p:txBody>
      </p:sp>
    </p:spTree>
    <p:extLst>
      <p:ext uri="{BB962C8B-B14F-4D97-AF65-F5344CB8AC3E}">
        <ns3:creationId val="41486004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CBA96FCD-0209-4A1B-A036-AC80EC9842CC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每代變異與 Strategy Reflection</a:t>
            </a:r>
          </a:p>
        </p:txBody>
      </p:sp>
      <p:sp>
        <p:nvSpPr>
          <p:cNvPr id="2" name="text-1">
            <a:extLst>
              <a:ext uri="{FF2B5EF4-FFF2-40B4-BE49-F238E27FC236}">
                <ns2:creationId id="{B3D31178-B951-4C9C-BF01-24DD3E048D36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先以 root seed 衍生各 slot 的父代、crossover 與 operator stream，再一次建立 10 個 offspring 計畫。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39610199-3383-4D0B-AC20-6BAC74C3E45D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rate 0.75：從兩個父代選一份完整 policy；不拼接 rule 子樹，也不繼承 Java／generation prompt。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04E52A4F-35D5-438D-9BD5-877E0985E049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rate 1.0、Strategy probability 1：反思可改 policy；Code source gate、Prompt Mutation 都停用。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</a:p>
        </p:txBody>
      </p:sp>
    </p:spTree>
    <p:extLst>
      <p:ext uri="{BB962C8B-B14F-4D97-AF65-F5344CB8AC3E}">
        <ns3:creationId val="430788388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3" name="">
            <a:extLst>
              <a:ext uri="{FF2B5EF4-FFF2-40B4-BE49-F238E27FC236}">
                <ns2:creationId id="{A28B1F21-CF01-4DAD-B63E-C6D55E09E988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9620250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C43474E8-36F8-474F-BBDC-87FCDD75586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191125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F703B845-823A-4B49-8508-5A359B550A9A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7905750" y="3429000"/>
            <a:ext cx="4429125" cy="1333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6417D572-8F6C-457A-81F8-804F433CCF9B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3476625" y="3429000"/>
            <a:ext cx="0" cy="1333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524CD01C-D184-448A-9874-A4280C60469A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46FDB180-06A4-4D03-A07D-ACC9E978BD64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5" name="text-0">
            <a:extLst>
              <a:ext uri="{FF2B5EF4-FFF2-40B4-BE49-F238E27FC236}">
                <ns2:creationId id="{992D915F-F112-4EE6-BB2A-A2B1B4DB20A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的證據來源</a:t>
            </a:r>
          </a:p>
        </p:txBody>
      </p:sp>
      <p:sp>
        <p:nvSpPr>
          <p:cNvPr id="2" name="parent">
            <a:extLst>
              <a:ext uri="{FF2B5EF4-FFF2-40B4-BE49-F238E27FC236}">
                <ns2:creationId id="{71EBE94D-A5DD-4A38-913D-535B00C086E1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記錄的 strategy_parent_id</a:t>
            </a:r>
          </a:p>
        </p:txBody>
      </p:sp>
      <p:sp>
        <p:nvSpPr>
          <p:cNvPr id="3" name="worst">
            <a:extLst>
              <a:ext uri="{FF2B5EF4-FFF2-40B4-BE49-F238E27FC236}">
                <ns2:creationId id="{1E3A9CDB-BA83-46F7-92C9-262DEA297F83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matches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恰好選一場 worst</a:t>
            </a:r>
          </a:p>
        </p:txBody>
      </p:sp>
      <p:sp>
        <p:nvSpPr>
          <p:cNvPr id="4" name="commentator">
            <a:extLst>
              <a:ext uri="{FF2B5EF4-FFF2-40B4-BE49-F238E27FC236}">
                <ns2:creationId id="{9078DC42-5B10-4367-A867-BCE5DFD65C7A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單場 trace → diagnosis</a:t>
            </a:r>
          </a:p>
        </p:txBody>
      </p:sp>
      <p:sp>
        <p:nvSpPr>
          <p:cNvPr id="5" name="summary">
            <a:extLst>
              <a:ext uri="{FF2B5EF4-FFF2-40B4-BE49-F238E27FC236}">
                <ns2:creationId id="{942CC725-F65B-4842-9116-4D850E07640B}"/>
              </a:ext>
            </a:extLst>
          </p:cNvPr>
          <p:cNvSpPr>
            <a:spLocks noGrp="1"/>
          </p:cNvSpPr>
          <p:nvPr/>
        </p:nvSpPr>
        <p:spPr>
          <a:xfrm>
            <a:off x="176212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parent 全場摘要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global summary</a:t>
            </a:r>
          </a:p>
        </p:txBody>
      </p:sp>
      <p:sp>
        <p:nvSpPr>
          <p:cNvPr id="6" name="coach">
            <a:extLst>
              <a:ext uri="{FF2B5EF4-FFF2-40B4-BE49-F238E27FC236}">
                <ns2:creationId id="{91416697-09FB-43B6-B351-09FDC056AE1A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單場診斷＋全場摘要</a:t>
            </a:r>
          </a:p>
        </p:txBody>
      </p:sp>
      <p:sp>
        <p:nvSpPr>
          <p:cNvPr id="7" name="dsl">
            <a:extLst>
              <a:ext uri="{FF2B5EF4-FFF2-40B4-BE49-F238E27FC236}">
                <ns2:creationId id="{1621FDE5-27C9-4DC3-AB54-7383D1C03405}"/>
              </a:ext>
            </a:extLst>
          </p:cNvPr>
          <p:cNvSpPr>
            <a:spLocks noGrp="1"/>
          </p:cNvSpPr>
          <p:nvPr/>
        </p:nvSpPr>
        <p:spPr>
          <a:xfrm>
            <a:off x="1062037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JSONL 完整 rules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 → 新 policy</a:t>
            </a:r>
          </a:p>
        </p:txBody>
      </p:sp>
      <p:sp>
        <p:nvSpPr>
          <p:cNvPr id="14" name="text-13">
            <a:extLst>
              <a:ext uri="{FF2B5EF4-FFF2-40B4-BE49-F238E27FC236}">
                <ns2:creationId id="{9FB6F9DF-0099-46A9-94E5-0E39BA542875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單場診斷提供具體失敗證據；全場摘要保留整體表現</a:t>
            </a:r>
          </a:p>
        </p:txBody>
      </p:sp>
      <p:sp>
        <p:nvSpPr>
          <p:cNvPr id="1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</a:p>
        </p:txBody>
      </p:sp>
    </p:spTree>
    <p:extLst>
      <p:ext uri="{BB962C8B-B14F-4D97-AF65-F5344CB8AC3E}">
        <ns3:creationId val="2023994309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E0D9F55C-1F99-4C46-A0A0-6685F5A0626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JSONL：合法規則子集可形成策略</a:t>
            </a:r>
          </a:p>
        </p:txBody>
      </p:sp>
      <p:sp>
        <p:nvSpPr>
          <p:cNvPr id="2" name="text-1">
            <a:extLst>
              <a:ext uri="{FF2B5EF4-FFF2-40B4-BE49-F238E27FC236}">
                <ns2:creationId id="{D782B709-5FC6-41F6-B135-9DFEF2BB145A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每個實體行是一筆 strategy_rule record；Coach 使用 new_strategy_prompt，contract rewrite 使用 revised_strategy_prompt。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91F789D9-3FF0-44C1-9295-7FC9248ECEC3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每條 rule 獨立驗證 actor／when／action；丟棄 malformed、錯欄位或語意不合法的整條規則，保留合法行順序。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6C7FE364-C010-4878-9866-3E66C84AE350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至少一條合法 rule 才成功；零條合法規則最多 3 次嘗試。耗盡可保留原 policy；transport exception 仍可能中止 run。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0D019D12-9618-4135-A9D4-3F5B7AA88D72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compiler 接收的是完整、正規化 policy，不是未驗證的原始 JSONL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</a:p>
        </p:txBody>
      </p:sp>
    </p:spTree>
    <p:extLst>
      <p:ext uri="{BB962C8B-B14F-4D97-AF65-F5344CB8AC3E}">
        <ns3:creationId val="1276077145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82A21429-DB9D-4A96-83C3-E078DEFE15D2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5B17B090-AA87-4507-99BF-BBEAA382AB0E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20250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02BF1489-122C-42CB-A32E-B312B204B210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34875" y="3429000"/>
            <a:ext cx="0" cy="1333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2CC5BCF0-D7D8-413B-A3C6-8E467E8F6DF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560C2C26-55FD-4058-B397-E548223DB2C1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1FC1A430-2FD1-4C5F-BD72-E557DD2AB9F0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確定性 Java 物化與失敗邊界</a:t>
            </a:r>
          </a:p>
        </p:txBody>
      </p:sp>
      <p:sp>
        <p:nvSpPr>
          <p:cNvPr id="2" name="policy">
            <a:extLst>
              <a:ext uri="{FF2B5EF4-FFF2-40B4-BE49-F238E27FC236}">
                <ns2:creationId id="{668AB61C-0091-4BDF-9EB7-B0CF95AC9B72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canonical DSL policy</a:t>
            </a:r>
          </a:p>
        </p:txBody>
      </p:sp>
      <p:sp>
        <p:nvSpPr>
          <p:cNvPr id="3" name="ir">
            <a:extLst>
              <a:ext uri="{FF2B5EF4-FFF2-40B4-BE49-F238E27FC236}">
                <ns2:creationId id="{A1643102-5CCD-431E-8D7F-6A37227D8E8E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validate／normalize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建立 typed IR</a:t>
            </a:r>
          </a:p>
        </p:txBody>
      </p:sp>
      <p:sp>
        <p:nvSpPr>
          <p:cNvPr id="4" name="emit">
            <a:extLst>
              <a:ext uri="{FF2B5EF4-FFF2-40B4-BE49-F238E27FC236}">
                <ns2:creationId id="{E7A4859E-D769-4CE6-8502-D76AC63480B7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compiler＋scaffold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phenotype</a:t>
            </a:r>
          </a:p>
        </p:txBody>
      </p:sp>
      <p:sp>
        <p:nvSpPr>
          <p:cNvPr id="5" name="validate">
            <a:extLst>
              <a:ext uri="{FF2B5EF4-FFF2-40B4-BE49-F238E27FC236}">
                <ns2:creationId id="{0E856A3F-4E5E-4EF8-A284-BB2D6C6C19C6}"/>
              </a:ext>
            </a:extLst>
          </p:cNvPr>
          <p:cNvSpPr>
            <a:spLocks noGrp="1"/>
          </p:cNvSpPr>
          <p:nvPr/>
        </p:nvSpPr>
        <p:spPr>
          <a:xfrm>
            <a:off x="1062037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source validation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單次 javac、Integration</a:t>
            </a:r>
          </a:p>
        </p:txBody>
      </p:sp>
      <p:sp>
        <p:nvSpPr>
          <p:cNvPr id="6" name="game">
            <a:extLst>
              <a:ext uri="{FF2B5EF4-FFF2-40B4-BE49-F238E27FC236}">
                <ns2:creationId id="{9B4A016C-CB96-4DA8-8913-37A769C6CEB5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 probe、matches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fitness、diagnostics</a:t>
            </a:r>
          </a:p>
        </p:txBody>
      </p:sp>
      <p:sp>
        <p:nvSpPr>
          <p:cNvPr id="7" name="evidence">
            <a:extLst>
              <a:ext uri="{FF2B5EF4-FFF2-40B4-BE49-F238E27FC236}">
                <ns2:creationId id="{65C8D302-453D-4C6C-A807-345A292A9027}"/>
              </a:ext>
            </a:extLst>
          </p:cNvPr>
          <p:cNvSpPr>
            <a:spLocks noGrp="1"/>
          </p:cNvSpPr>
          <p:nvPr/>
        </p:nvSpPr>
        <p:spPr>
          <a:xfrm>
            <a:off x="176212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phenotype、hashes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result、lineage、timing</a:t>
            </a:r>
          </a:p>
        </p:txBody>
      </p:sp>
      <p:sp>
        <p:nvSpPr>
          <p:cNvPr id="13" name="text-12">
            <a:extLst>
              <a:ext uri="{FF2B5EF4-FFF2-40B4-BE49-F238E27FC236}">
                <ns2:creationId id="{81A2C759-3A6E-4C8B-9C9E-D65C9886A814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編譯失敗：保留原階段證據與失敗候選；沒有 Java LLM fallback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</a:p>
        </p:txBody>
      </p:sp>
    </p:spTree>
    <p:extLst>
      <p:ext uri="{BB962C8B-B14F-4D97-AF65-F5344CB8AC3E}">
        <ns3:creationId val="1629096106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42EA362B-E0CD-4492-97F8-42AE5C0A163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評估規模與 fitness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C2173E89-99AF-48E7-BB0D-F41ACF334AEB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143500"/>
                <a:gridCol w="4876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Search matrix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slots × 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× 3 rounds × 2 sides = 180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每個候選完成一次評估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slots 可重複同一來源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地圖與 tick limit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8×8：1500；16×16：3000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24×24：4000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雙方換邊、固定 match seeds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超時／失敗保留診斷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勝／和／敗基分 + bounded shaping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跨 completed matches 聚合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唯一 optimizer objective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 Quality 只作診斷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Champion final-test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opponents × 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× 10 games × 2 sides = 600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正常完成後的共同測試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 search fitness 分開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</a:p>
        </p:txBody>
      </p:sp>
    </p:spTree>
    <p:extLst>
      <p:ext uri="{BB962C8B-B14F-4D97-AF65-F5344CB8AC3E}">
        <ns3:creationId val="1293930175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3D552FC9-BFBA-425E-B849-87176E8DD4C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平行執行與固定整合順序</a:t>
            </a:r>
          </a:p>
        </p:txBody>
      </p:sp>
      <p:sp>
        <p:nvSpPr>
          <p:cNvPr id="2" name="text-1">
            <a:extLst>
              <a:ext uri="{FF2B5EF4-FFF2-40B4-BE49-F238E27FC236}">
                <ns2:creationId id="{7F94A7C9-F4BA-4E36-9FDA-F8E5C0876A11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Runtime 固定 2 request slots、每 slot context 32768；每代 10 個 offspring 的反思工作以最多 2 個同時請求處理。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24D0FCD3-173F-48E9-9CCE-E5FF2A3AE93F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DSL／Java preparation 可平行；完成全部 preparation 後才建立對手 pool。每個候選的 matches 用 10 workers。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CEDC0D63-D73A-4F96-A60A-2DD4BD8769D4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parallel_map 按輸入順序回傳；父代／operator 計畫與 survivor 整合保留固定順序，跨 run 仍依序執行。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</a:p>
        </p:txBody>
      </p:sp>
    </p:spTree>
    <p:extLst>
      <p:ext uri="{BB962C8B-B14F-4D97-AF65-F5344CB8AC3E}">
        <ns3:creationId val="1329112773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5DCACDC8-6F93-418E-A847-5021C9D33FA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三次 replicate 與資料夾續跑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52EBEAD7-1424-4F71-8A85-5463D3EF5A3F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048250"/>
                <a:gridCol w="4972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experiment.yaml／run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恢復行為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展開 config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random_seeds [8]、runs 3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有效序列 [8,8,8]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run1、run2、run3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各自獨立目錄與 checkpoint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保存索引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YAML filename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對應有序 run paths 清單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按 replicate slot 更新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不覆蓋其他 slot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--resume folder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核對每槽 config／effective seed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先處理未完成 indexed runs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已完成跳過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未啟動 replicate 接續建立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中斷時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以最後完整 generation 恢復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 前失敗無 checkpoint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無可用 checkpoint 可建替代run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原始失敗證據保留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</a:p>
        </p:txBody>
      </p:sp>
    </p:spTree>
    <p:extLst>
      <p:ext uri="{BB962C8B-B14F-4D97-AF65-F5344CB8AC3E}">
        <ns3:creationId val="544833092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AC12B5B3-3732-4AB9-B7E5-C222207FA2D6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GPU 啟動與全層 offload 驗證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01B271E6-20B3-4DC4-805B-F2425C5BB8E9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048250"/>
                <a:gridCol w="4972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檢查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不通過時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裝置 preflight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llama-server --list-devices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確認 CUDA／NVIDIA backend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停止啟動，不退回 CPU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要求全層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--n-gpu-layers 999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--fit off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禁止自動記憶體 fitting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載入失敗即保留錯誤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證據可見性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--log-verbosity 4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core INFO 才輸出 offload 行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server ready 不代表驗證成功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 full offload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只讀這次 child 的新 log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要求 offloaded N/N，N &gt; 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缺失／部分／stale 證據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停止 owned process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</a:p>
        </p:txBody>
      </p:sp>
    </p:spTree>
    <p:extLst>
      <p:ext uri="{BB962C8B-B14F-4D97-AF65-F5344CB8AC3E}">
        <ns3:creationId val="548870828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E0AFA26D-2D4F-4322-B200-3F7F26ACF7F0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執行與資料夾 resume 指令</a:t>
            </a:r>
          </a:p>
        </p:txBody>
      </p:sp>
      <p:sp>
        <p:nvSpPr>
          <p:cNvPr id="2" name="text-1">
            <a:extLst>
              <a:ext uri="{FF2B5EF4-FFF2-40B4-BE49-F238E27FC236}">
                <ns2:creationId id="{16D02165-1318-4603-A629-00ED0DF64696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開始：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./experiment.sh \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  configs/experiments/1015_deterministic_dsl_20x10_seed8_3runs</a:t>
            </a:r>
          </a:p>
        </p:txBody>
      </p:sp>
      <p:sp>
        <p:nvSpPr>
          <p:cNvPr id="3" name="text-2">
            <a:extLst>
              <a:ext uri="{FF2B5EF4-FFF2-40B4-BE49-F238E27FC236}">
                <ns2:creationId id="{4DFD959B-09EB-425E-BA09-61EE6304C576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中斷後接續：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./experiment.sh --resume \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  configs/experiments/1015_deterministic_dsl_20x10_seed8_3runs</a:t>
            </a:r>
          </a:p>
        </p:txBody>
      </p:sp>
      <p:sp>
        <p:nvSpPr>
          <p:cNvPr id="4" name="text-3">
            <a:extLst>
              <a:ext uri="{FF2B5EF4-FFF2-40B4-BE49-F238E27FC236}">
                <ns2:creationId id="{4D90FBB7-E507-4476-A654-CCAA7A60C404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檢查 experiment.yaml 的 3 個 run paths；每次保存 gen0、gen1–20 與 final-test。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</a:p>
        </p:txBody>
      </p:sp>
    </p:spTree>
    <p:extLst>
      <p:ext uri="{BB962C8B-B14F-4D97-AF65-F5344CB8AC3E}">
        <ns3:creationId val="1134108725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2026-10-14T17:19:23.4350000Z</dcterms:created>
  <dcterms:modified xsi:type="dcterms:W3CDTF">2026-10-14T17:19:23.4360000Z</dcterms:modified>
</coreProperties>
</file>