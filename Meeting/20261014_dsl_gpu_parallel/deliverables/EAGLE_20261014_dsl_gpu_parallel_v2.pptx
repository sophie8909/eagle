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0475e1dad6424f" /><Relationship Type="http://schemas.openxmlformats.org/officeDocument/2006/relationships/extended-properties" Target="/docProps/app.xml" Id="R4a9efb61307542d7" /><Relationship Type="http://schemas.openxmlformats.org/officeDocument/2006/relationships/officeDocument" Target="/ppt/presentation.xml" Id="R504c29b5e36e43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309247e9704811"/>
  </p:sldMasterIdLst>
  <p:notesMasterIdLst>
    <p:notesMasterId xmlns:r="http://schemas.openxmlformats.org/officeDocument/2006/relationships" r:id="R205973f2cde24ec2"/>
  </p:notesMasterIdLst>
  <p:sldIdLst>
    <p:sldId xmlns:r="http://schemas.openxmlformats.org/officeDocument/2006/relationships" id="256" r:id="Raffaba1503fd4151"/>
    <p:sldId xmlns:r="http://schemas.openxmlformats.org/officeDocument/2006/relationships" id="257" r:id="Rca8d637a6fc14cff"/>
    <p:sldId xmlns:r="http://schemas.openxmlformats.org/officeDocument/2006/relationships" id="258" r:id="Rece3db2624b84d13"/>
    <p:sldId xmlns:r="http://schemas.openxmlformats.org/officeDocument/2006/relationships" id="259" r:id="Re1a581d8b8d64181"/>
    <p:sldId xmlns:r="http://schemas.openxmlformats.org/officeDocument/2006/relationships" id="260" r:id="R5a4536044c5a4fc8"/>
    <p:sldId xmlns:r="http://schemas.openxmlformats.org/officeDocument/2006/relationships" id="261" r:id="R42fceb5678cf4d25"/>
    <p:sldId xmlns:r="http://schemas.openxmlformats.org/officeDocument/2006/relationships" id="262" r:id="Rd6997d0d47454c30"/>
    <p:sldId xmlns:r="http://schemas.openxmlformats.org/officeDocument/2006/relationships" id="263" r:id="Rb6f294c5041546ee"/>
    <p:sldId xmlns:r="http://schemas.openxmlformats.org/officeDocument/2006/relationships" id="264" r:id="Ra47584108e114161"/>
    <p:sldId xmlns:r="http://schemas.openxmlformats.org/officeDocument/2006/relationships" id="265" r:id="R04516cb418f44803"/>
    <p:sldId xmlns:r="http://schemas.openxmlformats.org/officeDocument/2006/relationships" id="266" r:id="R4259cbe5365446f9"/>
    <p:sldId xmlns:r="http://schemas.openxmlformats.org/officeDocument/2006/relationships" id="267" r:id="R94e9307852504c1f"/>
    <p:sldId xmlns:r="http://schemas.openxmlformats.org/officeDocument/2006/relationships" id="268" r:id="R766fcaaacfc34dad"/>
    <p:sldId xmlns:r="http://schemas.openxmlformats.org/officeDocument/2006/relationships" id="269" r:id="R0529be836ca64552"/>
    <p:sldId xmlns:r="http://schemas.openxmlformats.org/officeDocument/2006/relationships" id="270" r:id="R2eff0d212c2742eb"/>
    <p:sldId xmlns:r="http://schemas.openxmlformats.org/officeDocument/2006/relationships" id="271" r:id="Rf7165c603b014799"/>
    <p:sldId xmlns:r="http://schemas.openxmlformats.org/officeDocument/2006/relationships" id="272" r:id="R2a8b3d26c2c84cf1"/>
    <p:sldId xmlns:r="http://schemas.openxmlformats.org/officeDocument/2006/relationships" id="273" r:id="R0ebaedc0c45b4632"/>
    <p:sldId xmlns:r="http://schemas.openxmlformats.org/officeDocument/2006/relationships" id="274" r:id="Rad74eee8040346ce"/>
    <p:sldId xmlns:r="http://schemas.openxmlformats.org/officeDocument/2006/relationships" id="275" r:id="R5edba293bdb24c16"/>
    <p:sldId xmlns:r="http://schemas.openxmlformats.org/officeDocument/2006/relationships" id="276" r:id="R63a9be878c7f4893"/>
    <p:sldId xmlns:r="http://schemas.openxmlformats.org/officeDocument/2006/relationships" id="277" r:id="R4f92682f15424608"/>
    <p:sldId xmlns:r="http://schemas.openxmlformats.org/officeDocument/2006/relationships" id="278" r:id="R4de2c6c2a47a44fd"/>
    <p:sldId xmlns:r="http://schemas.openxmlformats.org/officeDocument/2006/relationships" id="279" r:id="Rf84fb25e0f354995"/>
    <p:sldId xmlns:r="http://schemas.openxmlformats.org/officeDocument/2006/relationships" id="280" r:id="Rb6708d535add4d07"/>
  </p:sldIdLst>
  <p:sldSz cx="15925800" cy="8963025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8497E131-5584-4FF0-9A17-202609170001}">
  <a:tblStyle styleId="{8497E131-5584-4FF0-9A17-202609170001}" styleName="EAGLE 0917 Rose">
    <a:wholeTbl>
      <a:tcTxStyle b="off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CF8F5"/>
          </a:solidFill>
        </a:fill>
      </a:tcStyle>
    </a:wholeTbl>
    <a:fir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DEB4BA"/>
          </a:solidFill>
        </a:fill>
      </a:tcStyle>
    </a:firstRow>
    <a:la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AEDC6"/>
          </a:solidFill>
        </a:fill>
      </a:tcStyle>
    </a:la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79843a964f4dfc" /><Relationship Type="http://schemas.openxmlformats.org/officeDocument/2006/relationships/slideMaster" Target="/ppt/slideMasters/slideMaster1.xml" Id="R75309247e9704811" /><Relationship Type="http://schemas.openxmlformats.org/officeDocument/2006/relationships/notesMaster" Target="/ppt/notesMasters/notesMaster1.xml" Id="R205973f2cde24ec2" /><Relationship Type="http://schemas.openxmlformats.org/officeDocument/2006/relationships/presProps" Target="/ppt/presProps.xml" Id="Reb8c8d6df485488b" /><Relationship Type="http://schemas.openxmlformats.org/officeDocument/2006/relationships/viewProps" Target="/ppt/viewProps.xml" Id="Ra1d492c5375e4131" /><Relationship Type="http://schemas.openxmlformats.org/officeDocument/2006/relationships/tableStyles" Target="/ppt/tableStyles.xml" Id="Rd6bb12ec890a4b5b" /><Relationship Type="http://schemas.openxmlformats.org/officeDocument/2006/relationships/slide" Target="/ppt/slides/slide1.xml" Id="Raffaba1503fd4151" /><Relationship Type="http://schemas.openxmlformats.org/officeDocument/2006/relationships/slide" Target="/ppt/slides/slide2.xml" Id="Rca8d637a6fc14cff" /><Relationship Type="http://schemas.openxmlformats.org/officeDocument/2006/relationships/slide" Target="/ppt/slides/slide3.xml" Id="Rece3db2624b84d13" /><Relationship Type="http://schemas.openxmlformats.org/officeDocument/2006/relationships/slide" Target="/ppt/slides/slide4.xml" Id="Re1a581d8b8d64181" /><Relationship Type="http://schemas.openxmlformats.org/officeDocument/2006/relationships/slide" Target="/ppt/slides/slide5.xml" Id="R5a4536044c5a4fc8" /><Relationship Type="http://schemas.openxmlformats.org/officeDocument/2006/relationships/slide" Target="/ppt/slides/slide6.xml" Id="R42fceb5678cf4d25" /><Relationship Type="http://schemas.openxmlformats.org/officeDocument/2006/relationships/slide" Target="/ppt/slides/slide7.xml" Id="Rd6997d0d47454c30" /><Relationship Type="http://schemas.openxmlformats.org/officeDocument/2006/relationships/slide" Target="/ppt/slides/slide8.xml" Id="Rb6f294c5041546ee" /><Relationship Type="http://schemas.openxmlformats.org/officeDocument/2006/relationships/slide" Target="/ppt/slides/slide9.xml" Id="Ra47584108e114161" /><Relationship Type="http://schemas.openxmlformats.org/officeDocument/2006/relationships/slide" Target="/ppt/slides/slide10.xml" Id="R04516cb418f44803" /><Relationship Type="http://schemas.openxmlformats.org/officeDocument/2006/relationships/slide" Target="/ppt/slides/slide11.xml" Id="R4259cbe5365446f9" /><Relationship Type="http://schemas.openxmlformats.org/officeDocument/2006/relationships/slide" Target="/ppt/slides/slide12.xml" Id="R94e9307852504c1f" /><Relationship Type="http://schemas.openxmlformats.org/officeDocument/2006/relationships/slide" Target="/ppt/slides/slide13.xml" Id="R766fcaaacfc34dad" /><Relationship Type="http://schemas.openxmlformats.org/officeDocument/2006/relationships/slide" Target="/ppt/slides/slide14.xml" Id="R0529be836ca64552" /><Relationship Type="http://schemas.openxmlformats.org/officeDocument/2006/relationships/slide" Target="/ppt/slides/slide15.xml" Id="R2eff0d212c2742eb" /><Relationship Type="http://schemas.openxmlformats.org/officeDocument/2006/relationships/slide" Target="/ppt/slides/slide16.xml" Id="Rf7165c603b014799" /><Relationship Type="http://schemas.openxmlformats.org/officeDocument/2006/relationships/slide" Target="/ppt/slides/slide17.xml" Id="R2a8b3d26c2c84cf1" /><Relationship Type="http://schemas.openxmlformats.org/officeDocument/2006/relationships/slide" Target="/ppt/slides/slide18.xml" Id="R0ebaedc0c45b4632" /><Relationship Type="http://schemas.openxmlformats.org/officeDocument/2006/relationships/slide" Target="/ppt/slides/slide19.xml" Id="Rad74eee8040346ce" /><Relationship Type="http://schemas.openxmlformats.org/officeDocument/2006/relationships/slide" Target="/ppt/slides/slide20.xml" Id="R5edba293bdb24c16" /><Relationship Type="http://schemas.openxmlformats.org/officeDocument/2006/relationships/slide" Target="/ppt/slides/slide21.xml" Id="R63a9be878c7f4893" /><Relationship Type="http://schemas.openxmlformats.org/officeDocument/2006/relationships/slide" Target="/ppt/slides/slide22.xml" Id="R4f92682f15424608" /><Relationship Type="http://schemas.openxmlformats.org/officeDocument/2006/relationships/slide" Target="/ppt/slides/slide23.xml" Id="R4de2c6c2a47a44fd" /><Relationship Type="http://schemas.openxmlformats.org/officeDocument/2006/relationships/slide" Target="/ppt/slides/slide24.xml" Id="Rf84fb25e0f354995" /><Relationship Type="http://schemas.openxmlformats.org/officeDocument/2006/relationships/slide" Target="/ppt/slides/slide25.xml" Id="Rb6708d535add4d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e31d6775ff4a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2e18aff323487f" /><Relationship Type="http://schemas.openxmlformats.org/officeDocument/2006/relationships/notesMaster" Target="/ppt/notesMasters/notesMaster1.xml" Id="Rf842a8dcf34343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bc041a2a264a2a" /><Relationship Type="http://schemas.openxmlformats.org/officeDocument/2006/relationships/notesMaster" Target="/ppt/notesMasters/notesMaster1.xml" Id="R26b4e97f11cd4a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4d81aac47b4ee2" /><Relationship Type="http://schemas.openxmlformats.org/officeDocument/2006/relationships/notesMaster" Target="/ppt/notesMasters/notesMaster1.xml" Id="Ra5016f3d5f7148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71800c47af4f66" /><Relationship Type="http://schemas.openxmlformats.org/officeDocument/2006/relationships/notesMaster" Target="/ppt/notesMasters/notesMaster1.xml" Id="R78033a0a20da48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80c8a3e02c4876" /><Relationship Type="http://schemas.openxmlformats.org/officeDocument/2006/relationships/notesMaster" Target="/ppt/notesMasters/notesMaster1.xml" Id="R19376ff8ee8a42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d605a3dc694b74" /><Relationship Type="http://schemas.openxmlformats.org/officeDocument/2006/relationships/notesMaster" Target="/ppt/notesMasters/notesMaster1.xml" Id="R5cc2866bd78046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c97906c50d464d" /><Relationship Type="http://schemas.openxmlformats.org/officeDocument/2006/relationships/notesMaster" Target="/ppt/notesMasters/notesMaster1.xml" Id="R273676aa8ef542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6c4c0f3e634baf" /><Relationship Type="http://schemas.openxmlformats.org/officeDocument/2006/relationships/notesMaster" Target="/ppt/notesMasters/notesMaster1.xml" Id="R10b3348e461642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a8f3ca364c4d2b" /><Relationship Type="http://schemas.openxmlformats.org/officeDocument/2006/relationships/notesMaster" Target="/ppt/notesMasters/notesMaster1.xml" Id="R3a4c7823d97b42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97e120af6b472d" /><Relationship Type="http://schemas.openxmlformats.org/officeDocument/2006/relationships/notesMaster" Target="/ppt/notesMasters/notesMaster1.xml" Id="R12acbaadfaab4e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fde6e6e8db4a12" /><Relationship Type="http://schemas.openxmlformats.org/officeDocument/2006/relationships/notesMaster" Target="/ppt/notesMasters/notesMaster1.xml" Id="R181a7d0fd93743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c80de23b9c44a3" /><Relationship Type="http://schemas.openxmlformats.org/officeDocument/2006/relationships/notesMaster" Target="/ppt/notesMasters/notesMaster1.xml" Id="R6467c991f64f45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60b63ad2114d9d" /><Relationship Type="http://schemas.openxmlformats.org/officeDocument/2006/relationships/notesMaster" Target="/ppt/notesMasters/notesMaster1.xml" Id="R02261ec5242043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5086efd7474a54" /><Relationship Type="http://schemas.openxmlformats.org/officeDocument/2006/relationships/notesMaster" Target="/ppt/notesMasters/notesMaster1.xml" Id="Rdada9643719a4f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59c5d6a5034747" /><Relationship Type="http://schemas.openxmlformats.org/officeDocument/2006/relationships/notesMaster" Target="/ppt/notesMasters/notesMaster1.xml" Id="R96ad0ca8be7444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2e74197b1464ac3" /><Relationship Type="http://schemas.openxmlformats.org/officeDocument/2006/relationships/notesMaster" Target="/ppt/notesMasters/notesMaster1.xml" Id="R6bf9133e29734c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5ad04be6b2433e" /><Relationship Type="http://schemas.openxmlformats.org/officeDocument/2006/relationships/notesMaster" Target="/ppt/notesMasters/notesMaster1.xml" Id="Rc9b6d86fa3744b8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fd83d39d3634eb9" /><Relationship Type="http://schemas.openxmlformats.org/officeDocument/2006/relationships/notesMaster" Target="/ppt/notesMasters/notesMaster1.xml" Id="R2533073867d044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9023e095d8e478f" /><Relationship Type="http://schemas.openxmlformats.org/officeDocument/2006/relationships/notesMaster" Target="/ppt/notesMasters/notesMaster1.xml" Id="R55192412138940f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38b6e9bb844068" /><Relationship Type="http://schemas.openxmlformats.org/officeDocument/2006/relationships/notesMaster" Target="/ppt/notesMasters/notesMaster1.xml" Id="Ra548baf19061490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58f44d4faab45b2" /><Relationship Type="http://schemas.openxmlformats.org/officeDocument/2006/relationships/notesMaster" Target="/ppt/notesMasters/notesMaster1.xml" Id="R6eb4476dd32c434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40a7e66e0de4eb6" /><Relationship Type="http://schemas.openxmlformats.org/officeDocument/2006/relationships/notesMaster" Target="/ppt/notesMasters/notesMaster1.xml" Id="Rfdb9dec1f2e146a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ccd7f8aa8154268" /><Relationship Type="http://schemas.openxmlformats.org/officeDocument/2006/relationships/notesMaster" Target="/ppt/notesMasters/notesMaster1.xml" Id="R0c3b54240ec3495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32f78ff1fbf4eae" /><Relationship Type="http://schemas.openxmlformats.org/officeDocument/2006/relationships/notesMaster" Target="/ppt/notesMasters/notesMaster1.xml" Id="R67a99c4dbf1f4dc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c237ac205634fad" /><Relationship Type="http://schemas.openxmlformats.org/officeDocument/2006/relationships/notesMaster" Target="/ppt/notesMasters/notesMaster1.xml" Id="Rf419293f45a44b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本簡報以94ab1869為程式截點，2026-10-14 Asia/Taipei。主線為使用者選定的deterministic DSL三次同seed實驗，介紹目前方法、執行變更、啟動失敗證據與待量測項目。沒有把程式測試當成對戰成績。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configs/experiments/1014_deterministic_dsl_3x2_seed8_3runs/ministral3_8b_deterministic_dsl_3x2_seed8_3runs.yaml</a:t>
            </a:r>
          </a:p>
          <a:p xmlns:a="http://schemas.openxmlformats.org/drawingml/2006/main">
            <a:r>
              <a:t>eagle/runtime/processes.py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37d5ec2e是compiler實作、9500d3c1是流程整合；195ec5d3是相應文件，不將它誤標為實作。這些改變的程式契約可由source確認，但目前沒有正式三次run效能量測。方法基準是10/13簡報記錄的1fa6662e，並非共同測試結果。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eagle/generation/dsl_java_compiler.py</a:t>
            </a:r>
          </a:p>
          <a:p xmlns:a="http://schemas.openxmlformats.org/drawingml/2006/main">
            <a:r>
              <a:t>eagle/generation/backend.py</a:t>
            </a:r>
          </a:p>
          <a:p xmlns:a="http://schemas.openxmlformats.org/drawingml/2006/main">
            <a:r>
              <a:t>docs/architecture/java_generation.md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此頁每項為獨立變更。JSONL parsing先由6dee建立目標欄位record，4f04加入rule-level salvage。b536提示適用LLM materialization，對主線deterministic compiler不構成處理步驟。94ab修正啟動證據可見性並禁用自動fitting；沒有宣稱硬體或搜尋效能已改善。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eagle/experiment.py</a:t>
            </a:r>
          </a:p>
          <a:p xmlns:a="http://schemas.openxmlformats.org/drawingml/2006/main">
            <a:r>
              <a:t>eagle/execution.py</a:t>
            </a:r>
          </a:p>
          <a:p xmlns:a="http://schemas.openxmlformats.org/drawingml/2006/main">
            <a:r>
              <a:t>eagle/strategy_dsl.py</a:t>
            </a:r>
          </a:p>
          <a:p xmlns:a="http://schemas.openxmlformats.org/drawingml/2006/main">
            <a:r>
              <a:t>prompts/code_reflection.txt</a:t>
            </a:r>
          </a:p>
          <a:p xmlns:a="http://schemas.openxmlformats.org/drawingml/2006/main">
            <a:r>
              <a:t>eagle/runtime/processes.py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由ExperimentConfig.from_mapping可確認self_play強制解析為game_performance_semantic_tiebreak。CLI一般banner中出現lexicase不代表此config實際採fixed-roster lexicase。單一WorkerRush設定seed在deterministic模式複製為population_size=2；gen0有兩個不同ID但相同policy的候選。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configs/experiments/1014_deterministic_dsl_3x2_seed8_3runs/ministral3_8b_deterministic_dsl_3x2_seed8_3runs.yaml</a:t>
            </a:r>
          </a:p>
          <a:p xmlns:a="http://schemas.openxmlformats.org/drawingml/2006/main">
            <a:r>
              <a:t>eagle/config.py</a:t>
            </a:r>
          </a:p>
          <a:p xmlns:a="http://schemas.openxmlformats.org/drawingml/2006/main">
            <a:r>
              <a:t>eagle/operators/initialization.py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先完成GPU runtime啟動與config協定核對，gen0建立兩個seed clones、編譯與bootstrap self-play評估，保存snapshot。gen1到gen3按序建立offspring，反思可同時發出但結果固定排序；編譯與評估後以mu+lambda選survivors。正常完成後共同final-test不回饋搜尋。stagnation門檻25高於三代預算，正常會先到代數上限。外部exception/interrupt留下最後完整checkpoi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eagle/evolution/search.py</a:t>
            </a:r>
          </a:p>
          <a:p xmlns:a="http://schemas.openxmlformats.org/drawingml/2006/main">
            <a:r>
              <a:t>eagle/evolution/generation.py</a:t>
            </a:r>
          </a:p>
          <a:p xmlns:a="http://schemas.openxmlformats.org/drawingml/2006/main">
            <a:r>
              <a:t>eagle/final_test.py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策略格式eagle-strategy-dsl-v1，上限16000字元、32rules、conditiondepth6、booleanfanout8。規則包含actor單位類型、when條件、action合法動作。choose是合法動作子集上的確定性hash選擇，沒有persistent RNG。策略本身仍由LLM反思改變，確定性的是policy到Java的物化映射，不等於不使用LLM。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prompts/strategy_dsl_reference.txt</a:t>
            </a:r>
          </a:p>
          <a:p xmlns:a="http://schemas.openxmlformats.org/drawingml/2006/main">
            <a:r>
              <a:t>eagle/strategy_dsl.py</a:t>
            </a:r>
          </a:p>
          <a:p xmlns:a="http://schemas.openxmlformats.org/drawingml/2006/main">
            <a:r>
              <a:t>eagle/generation/dsl_java_compiler.py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每個目前idle的friendly actor依升序ID處理，對其type對應rules依arrayorder判斷。when false、目標不存在、path不可達、stockpile不足、cell占用或guard失敗均繼續下一條。第一個真正可issue的action終止該actor，explicitidle也終止。hash target先合法filter，selector metric ties按ID或cell y,x。一次PlayerAction累積resource/cell reservation供後續actor使用。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prompts/strategy_dsl_reference.txt</a:t>
            </a:r>
          </a:p>
          <a:p xmlns:a="http://schemas.openxmlformats.org/drawingml/2006/main">
            <a:r>
              <a:t>eagle/generation/dsl_java_compiler.py</a:t>
            </a:r>
          </a:p>
          <a:p xmlns:a="http://schemas.openxmlformats.org/drawingml/2006/main">
            <a:r>
              <a:t>本頁數值／個體為說明演算法的教學示例，非實驗量測。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初始化clone不是多樣化，兩個policy相同。初始bootstrap評估由compiled候選提供對手；之後library去重可能將兩個identicalJava候選縮為一個source。snapshotcontext改變時，gen1必須先更新父代fitness，而不是無條件重用gen0分數。相同context後可reuse_cach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eagle/operators/initialization.py</a:t>
            </a:r>
          </a:p>
          <a:p xmlns:a="http://schemas.openxmlformats.org/drawingml/2006/main">
            <a:r>
              <a:t>eagle/evolution/search.py</a:t>
            </a:r>
          </a:p>
          <a:p xmlns:a="http://schemas.openxmlformats.org/drawingml/2006/main">
            <a:r>
              <a:t>eagle/evolution/generation.py</a:t>
            </a:r>
          </a:p>
          <a:p xmlns:a="http://schemas.openxmlformats.org/drawingml/2006/main">
            <a:r>
              <a:t>eagle/self_play.py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select_self_play_library_candidates在libraryorder上以epoch=generation//refresh_interval與source_count=min(N,10)決定start=(epoch*source_count)%N；expand_self_play_slots將非空來源按順序循環到10slots。初始兩個相同Java的seedclones在libraryhash去重後通常只剩一個來源，十格並不代表十種策略。gen0bootstrapcontext與librarysnapshotcontext可能不同，gen1觸發context_migration_required；gen2/3若context一致則可reuse。library的capacity與refresh_interval不等於全archive最優對手選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eagle/self_play.py</a:t>
            </a:r>
          </a:p>
          <a:p xmlns:a="http://schemas.openxmlformats.org/drawingml/2006/main">
            <a:r>
              <a:t>eagle/evaluation/opponents.py</a:t>
            </a:r>
          </a:p>
          <a:p xmlns:a="http://schemas.openxmlformats.org/drawingml/2006/main">
            <a:r>
              <a:t>eagle/evolution/generation.py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GamePerformance的tier不是鏈式鄰近合併，最高分往下1.0以內屬tier。父代A在top tier選擇，B可用A語意簽章當reference。survivor先保留完整較好score tiers，容量截斷的tier才用farthest-first語意新穎度，不讓semantic distance把較差tier提升。missing/incompatible簽章走seeded fallback。finaltest固定roster，不混同搜尋的selfplay_000–009slots。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eagle/operators/selection.py</a:t>
            </a:r>
          </a:p>
          <a:p xmlns:a="http://schemas.openxmlformats.org/drawingml/2006/main">
            <a:r>
              <a:t>eagle/evolution/offspring.py</a:t>
            </a:r>
          </a:p>
          <a:p xmlns:a="http://schemas.openxmlformats.org/drawingml/2006/main">
            <a:r>
              <a:t>eagle/self_play.py</a:t>
            </a:r>
          </a:p>
          <a:p xmlns:a="http://schemas.openxmlformats.org/drawingml/2006/main">
            <a:r>
              <a:t>eagle/final_test.py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deterministic branch在plan_offspring設定gate_sources=()，不呼叫independentCodeReflection。crossover(strategy_only)只在兩親中選整份strategy_prompt，source-parent provenance跟policy選擇同步。mutationsource仍按strategy_parent_id鎖定，不能隨意改用當代最好parent。所有計畫的來源選擇先serial決定，然後可並行reflection；回傳按照slot順序整合。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eagle/evolution/offspring.py</a:t>
            </a:r>
          </a:p>
          <a:p xmlns:a="http://schemas.openxmlformats.org/drawingml/2006/main">
            <a:r>
              <a:t>eagle/operators/crossover.py</a:t>
            </a:r>
          </a:p>
          <a:p xmlns:a="http://schemas.openxmlformats.org/drawingml/2006/main">
            <a:r>
              <a:t>eagle/execution.py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選擇只從記錄的strategy_parent_id對應parent已完成matches中挑最低有限performance的一場；若無有限score，依loss=-100、draw=0、win=100 fallback。stablematch_id打破tie；failedmatches排除。Commentator看到該場canonicaltrace；Coach看到一份diagnosis與parent全部matches的global summary。JSONL結果經驗證後形成策略基因。缺trace不換成另一場。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eagle/operators/context.py</a:t>
            </a:r>
          </a:p>
          <a:p xmlns:a="http://schemas.openxmlformats.org/drawingml/2006/main">
            <a:r>
              <a:t>eagle/operators/strategy.py</a:t>
            </a:r>
          </a:p>
          <a:p xmlns:a="http://schemas.openxmlformats.org/drawingml/2006/main">
            <a:r>
              <a:t>docs/architecture/mutation.md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這裡不能把合法空policy與零條合法JSONL輸出混為一談。空rules完整policy是idle，然而Coach策略變更的JSONL協定需要至少一條合法strategy_rule。Salvage不修補非法rule子樹，也不從父策略echo推斷新策略。wholeJSON/fullfence保留既有讀取behavior，但本版提示輸出目標是rule-per-lineJSONL。上限mutation_max_attempts=3。具體backend/serverexceptions與語意解析失敗走不同失敗邊界，不能保證所有例外都正常降級候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eagle/strategy_dsl.py</a:t>
            </a:r>
          </a:p>
          <a:p xmlns:a="http://schemas.openxmlformats.org/drawingml/2006/main">
            <a:r>
              <a:t>eagle/operators/strategy.py</a:t>
            </a:r>
          </a:p>
          <a:p xmlns:a="http://schemas.openxmlformats.org/drawingml/2006/main">
            <a:r>
              <a:t>prompts/coach_refine.txt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DSLcompiler先validate/normalize，生成typedIR，再用eagle-dsl-java-v1與固定scaffold發射完整source。下游一般validation、單次javac與integration維持，probe/matches有自身diagnostics。deterministic模式沒有JavaGeneration、CodeReflection、PromptReflection或compile-repairLLM。compiler/validation/javacfailure保持實際failurestage與source/hash，不假裝進入遊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eagle/generation/dsl_java_compiler.py</a:t>
            </a:r>
          </a:p>
          <a:p xmlns:a="http://schemas.openxmlformats.org/drawingml/2006/main">
            <a:r>
              <a:t>eagle/evaluation/decoding.py</a:t>
            </a:r>
          </a:p>
          <a:p xmlns:a="http://schemas.openxmlformats.org/drawingml/2006/main">
            <a:r>
              <a:t>eagle/evaluation/pipeline.py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game_performance使用每場result100/0/-100加[-10,10]shaping，以詳細telemetry計算資源及軍力等訊號，不等同winrate。semanticprobe為1.0tier tie新穎度，不能突破fitness tiers。finaltest若非mock且未skip在正常runcomplete後進行；中斷/失敗時不跑。180與600是定義的matrix大小，不是已完成場數。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eagle/evaluation/game_performance.py</a:t>
            </a:r>
          </a:p>
          <a:p xmlns:a="http://schemas.openxmlformats.org/drawingml/2006/main">
            <a:r>
              <a:t>eagle/evaluation/game_metrics.py</a:t>
            </a:r>
          </a:p>
          <a:p xmlns:a="http://schemas.openxmlformats.org/drawingml/2006/main">
            <a:r>
              <a:t>eagle/opponent_cases.py</a:t>
            </a:r>
          </a:p>
          <a:p xmlns:a="http://schemas.openxmlformats.org/drawingml/2006/main">
            <a:r>
              <a:t>eagle/final_test.py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LLM_WORKERS=2、MODEL_THREADS=8、MATCH_WORKERS=10為程式常數，config不可覆寫。serverctx-size=contextper-slot*parallel=65536。單一runtime一次只載入一個model，generation與reflectionmodel有switchbarrier；本deterministic主線不啟用Java生成LLM。evaluate_population preparation採parallel_map，但candidateevaluation仍serial、單candidate180matches內部parallel。不要宣稱3個run並行或整個generation所有階段重疊。工作有穩定taskseed；浮點GPUbackend、wall-clocktimeouts仍有外部nondeterminism。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eagle/execution.py</a:t>
            </a:r>
          </a:p>
          <a:p xmlns:a="http://schemas.openxmlformats.org/drawingml/2006/main">
            <a:r>
              <a:t>eagle/runtime/processes.py</a:t>
            </a:r>
          </a:p>
          <a:p xmlns:a="http://schemas.openxmlformats.org/drawingml/2006/main">
            <a:r>
              <a:t>eagle/evaluation/pipeline.py</a:t>
            </a:r>
          </a:p>
          <a:p xmlns:a="http://schemas.openxmlformats.org/drawingml/2006/main">
            <a:r>
              <a:t>eagle/evaluation/matches.py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索引schemaeagle-experiment-index-v1；source config的runs跟random_seeds展開成orderedslots。路徑是實際run_dirs，由on_run_created更新。resume不可將不相容policyformat/compiler/scaffold默默轉換。三次同seed是重複性檢查，不能把它當三個獨立randomseed樣本；GPU/runtime差異仍需用hash與timing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eagle/experiment.py</a:t>
            </a:r>
          </a:p>
          <a:p xmlns:a="http://schemas.openxmlformats.org/drawingml/2006/main">
            <a:r>
              <a:t>eagle/evolution/resume.py</a:t>
            </a:r>
          </a:p>
          <a:p xmlns:a="http://schemas.openxmlformats.org/drawingml/2006/main">
            <a:r>
              <a:t>docs/operations/running_eagle.md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LLAMA_LOG_INFO在common/log.cpp被GGML_INFO映射到LOG_LEVEL_TRACE4；userlogverbosity3缺少modelcorelog，但CUDAdevice以及HTTPserverready仍可見。94ab保留原strictregex，不以CUDAlisting或slots推斷成功。GPU count固定999要求多於模型layercount，實際log才驗證N/N。其含義是所有model layersoffload，並非宣稱完全沒有CPU上任何runtime工作。來源外部：https://github.com/ggml-org/llama.cpp/blob/master/common/log.cpp ; common/arg.cpp ; src/llama-model.cpp。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eagle/runtime/processes.py</a:t>
            </a:r>
          </a:p>
          <a:p xmlns:a="http://schemas.openxmlformats.org/drawingml/2006/main">
            <a:r>
              <a:t>eagle/runtime/config.py</a:t>
            </a:r>
          </a:p>
          <a:p xmlns:a="http://schemas.openxmlformats.org/drawingml/2006/main">
            <a:r>
              <a:t>tests/test_runtime_workflow.py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用戶trace採相對timestamp：model load start0.149851s，warmupstart7.051955s，ready7.217671s。分段相减6.902104s與0.165716s，加總7.067820s。第一段包括模型載入與其他初始化至warmup，第二段包括warmup與slot/server初始化，不能稱純warmupkernel耗時。這是單次失敗啟動局部walltime，不含devicepreflight或整個experiment。沒有前後對照，不估generationduration或speedu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Meeting/20261014_dsl_gpu_parallel/runtime_log_excerpt.txt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b536修改16檔，包含11promptresources、canonicalreusableheader、兩docs與兩tests。具體attack是range-only、engage可移動、harvest不自動return、moveentityrange1自指或adjacent不可issuedfallthrough。generation輸出完整Java，不改為DSLresponse。這些提示屬llm materialization，主線deterministic_dsl完全不呼叫Code/PromptReflection、JavaGeneration/compileRepair。因此不能將本次實驗效果歸因於b536。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prompts/code_reflection.txt</a:t>
            </a:r>
          </a:p>
          <a:p xmlns:a="http://schemas.openxmlformats.org/drawingml/2006/main">
            <a:r>
              <a:t>prompts/initial_generation.txt</a:t>
            </a:r>
          </a:p>
          <a:p xmlns:a="http://schemas.openxmlformats.org/drawingml/2006/main">
            <a:r>
              <a:t>eagle/operators/reusable_prompt.py</a:t>
            </a:r>
          </a:p>
          <a:p xmlns:a="http://schemas.openxmlformats.org/drawingml/2006/main">
            <a:r>
              <a:t>prompts/java_compile_repair.txt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正式run需run-localconfig、manifest、completedsnapshots與finaltestsummary驗證。Agent查找到runs/20261014_142526_546498等deterministic_dsl_smoke，不是Ministral3seed8三run且semanticdataset曾錯誤。已完成matches紀錄不能因名字相似就用於正式比較。缺乏fitness與finaltest數值，這頁明確保留結果缺口，不繪不存在的零值nativech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Meeting/20261014_dsl_gpu_parallel/version_report.md</a:t>
            </a:r>
          </a:p>
          <a:p xmlns:a="http://schemas.openxmlformats.org/drawingml/2006/main">
            <a:r>
              <a:t>Meeting/20261013_current_workflow/content.json</a:t>
            </a:r>
          </a:p>
          <a:p xmlns:a="http://schemas.openxmlformats.org/drawingml/2006/main">
            <a:r>
              <a:t>Meeting/20261014_dsl_gpu_parallel/runtime_log_excerpt.txt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測試count源自本次對話各實作阶段留下的驗證紀錄。603包含一個skip；85與49focused是不同scope而且可能重疊，不能加總成737個不重複tests。runtime tests用controlledchildlog驗證verbosity4確保freshfulloffload通過，32/33與0/33停止ownedprocess，stalepriorlog無法通過。這頁只列工程回歸證據，對戰結果另頁未提供。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tests/test_runtime_workflow.py</a:t>
            </a:r>
          </a:p>
          <a:p xmlns:a="http://schemas.openxmlformats.org/drawingml/2006/main">
            <a:r>
              <a:t>tests/test_experiment_launcher.py</a:t>
            </a:r>
          </a:p>
          <a:p xmlns:a="http://schemas.openxmlformats.org/drawingml/2006/main">
            <a:r>
              <a:t>tests/test_reusable_generation_prompt.py</a:t>
            </a:r>
          </a:p>
          <a:p xmlns:a="http://schemas.openxmlformats.org/drawingml/2006/main">
            <a:r>
              <a:t>tests/test_code_reflection.py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基準是前次workflowdeckrecord1fa，不是67fbdartifactcommit本身。比較同時改了seed、materialization與runtime，沒有matchedtest只能說methoddifferences，不能推導higherfitness、tokenreduction百分比或GPUparallel speedup。若後續要量化，需同一hardware/model/maps/budget與finaltestprotocol，保留run IDs與完整walltime。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Meeting/20261013_current_workflow/content.json</a:t>
            </a:r>
          </a:p>
          <a:p xmlns:a="http://schemas.openxmlformats.org/drawingml/2006/main">
            <a:r>
              <a:t>docs/architecture/java_generation.md</a:t>
            </a:r>
          </a:p>
          <a:p xmlns:a="http://schemas.openxmlformats.org/drawingml/2006/main">
            <a:r>
              <a:t>eagle/execution.py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從EAGLErepo root執行，experiment.sh使用condarun-neagle。啟動fix沒有新增configfields，不需修改現有YAML。第一個runtime還未on_run_created時沒有index/checkpoint，這次應先重新執行start命令；已有index才用folderresume。成功run正常會執行finaltest，skip-final-test若使用則必須一致標記比較arm。bash反斜線在換行前不要帶其他字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experiment.sh</a:t>
            </a:r>
          </a:p>
          <a:p xmlns:a="http://schemas.openxmlformats.org/drawingml/2006/main">
            <a:r>
              <a:t>eagle/cli/experiment.py</a:t>
            </a:r>
          </a:p>
          <a:p xmlns:a="http://schemas.openxmlformats.org/drawingml/2006/main">
            <a:r>
              <a:t>eagle/experiment.py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三次seed8replicates回答相同rootseed的runtime重複性，不是不同隨機初始化樣本。generationtiming以committedrecords為准，partialLLM log不能推估完整generation。必要時matchedbaseline採同硬體/模型/seed/預算但固定一個變因；本scope不啟動新experiments。remoteGPUpostfixlaunch、self-playsemanticprobe/finaltest都待正式run證據。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eagle/evolution/search.py</a:t>
            </a:r>
          </a:p>
          <a:p xmlns:a="http://schemas.openxmlformats.org/drawingml/2006/main">
            <a:r>
              <a:t>eagle/timing.py</a:t>
            </a:r>
          </a:p>
          <a:p xmlns:a="http://schemas.openxmlformats.org/drawingml/2006/main">
            <a:r>
              <a:t>eagle/final_test.py</a:t>
            </a:r>
          </a:p>
          <a:p xmlns:a="http://schemas.openxmlformats.org/drawingml/2006/main">
            <a:r>
              <a:t>Meeting/20261014_dsl_gpu_parallel/version_report.md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259b9959341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4acb319f84c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c425edd2a42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43ec87b2fb4a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5467239e26427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38df7a5e3483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03ba4f567442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ac024cc1b46a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ce2395e1a43d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4278859774d2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90cf9c48742f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a24d4ced4496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2cd273c464a0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2a3cbf97a2424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13f49b0da450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5a4e906f04c0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bfc87b069452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9275360e7249f7" /></Relationships>
</file>

<file path=ppt/slideLayouts/slideLayout1.xml><?xml version="1.0" encoding="utf-8"?>
<p:sldLayout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2762250"/>
            <a:ext cx="10972800" cy="1333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57500" y="4429125"/>
            <a:ext cx="10210800" cy="952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D779401-8411-4F57-B364-00A08D3D0F7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94FF8C53-65A6-4BE2-B1C3-0860FCD540B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2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3238500"/>
            <a:ext cx="10972800" cy="12382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 xmlns:a="http://schemas.openxmlformats.org/drawingml/2006/main"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048000" y="4714875"/>
            <a:ext cx="9829800" cy="8572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EA91A40-BDBE-4EF8-AB1C-C163BF4B89CC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DC12639-B266-46C5-BCF3-45A4D32AE42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3.xml><?xml version="1.0" encoding="utf-8"?>
<p:sldLayout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4F8BDA3-F257-4248-9C77-277658BEC42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ED4EB3D-E8EE-422C-AC16-9B2450B7C42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4.xml><?xml version="1.0" encoding="utf-8"?>
<p:sldLayout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819150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D5331F0-3B10-4BF6-A2A3-3DEA2BDE891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8176649-BADB-4675-AA89-5F227F3F395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 xmlns:a="http://schemas.openxmlformats.org/drawingml/2006/main"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42875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 xmlns:a="http://schemas.openxmlformats.org/drawingml/2006/main"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 xmlns:a="http://schemas.openxmlformats.org/drawingml/2006/main"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0BDD597-05AF-4E7D-B7DE-872D8C1368D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DAAEABEC-89D6-436E-9471-497DE5F8CC7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6.xml><?xml version="1.0" encoding="utf-8"?>
<p:sldLayout xmlns:p="http://schemas.openxmlformats.org/presentationml/2006/main" preserve="1">
  <p:cSld name="三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594360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 xmlns:a="http://schemas.openxmlformats.org/drawingml/2006/main"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04584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81AA091-155C-4B49-B3CF-270208548CF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34CC2CF-DFA1-4FF2-9601-EFC4BA57938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7.xml><?xml version="1.0" encoding="utf-8"?>
<p:sldLayout xmlns:p="http://schemas.openxmlformats.org/presentationml/2006/main" type="picTx" preserve="1">
  <p:cSld name="圖片及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000250" y="2476500"/>
            <a:ext cx="11925300" cy="4619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2000250" y="7334250"/>
            <a:ext cx="11925300" cy="6667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DBA40DA-42D4-45CA-9121-B12303C8820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C3B0106-61B7-472E-AA5A-C33DCAE7DD66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8.xml><?xml version="1.0" encoding="utf-8"?>
<p:sldLayout xmlns:p="http://schemas.openxmlformats.org/presentationml/2006/main" type="objTx" preserve="1">
  <p:cSld name="內容與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5476875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7429500" y="2619375"/>
            <a:ext cx="7067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607BD56-5922-42EE-8673-E8BDB8AA8B1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110DA2E-972D-47CE-8ED2-D648217896E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9.xml><?xml version="1.0" encoding="utf-8"?>
<p:sldLayout xmlns:p="http://schemas.openxmlformats.org/presentationml/2006/main" preserve="1">
  <p:cSld name="標題及表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A4B2483-08AD-4AAB-8D54-B0244854A19A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4A177D9-44BB-4EE7-B2EE-483B651A823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0.xml><?xml version="1.0" encoding="utf-8"?>
<p:sldLayout xmlns:p="http://schemas.openxmlformats.org/presentationml/2006/main" preserve="1">
  <p:cSld name="標題及圖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7B59490-7503-487F-B730-A18C57E284F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86AA3F53-A20A-43C4-B655-9BABD8BDE39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1.xml><?xml version="1.0" encoding="utf-8"?>
<p:sldLayout xmlns:p="http://schemas.openxmlformats.org/presentationml/2006/main" type="titleOnly" preserve="1">
  <p:cSld name="僅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CCC836C-38EF-42B8-9F8F-EC9AB2895889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EFA42C01-117D-4BA1-BE6C-78A506A620B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BFBA9E9-D342-40B9-A850-43AECAABBC7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28360F44-9DDB-4760-BE5D-FBB78FF4F62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3.xml><?xml version="1.0" encoding="utf-8"?>
<p:sldLayout xmlns:p="http://schemas.openxmlformats.org/presentationml/2006/main">
  <p:cSld name="完整演算法流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C45608E-360F-43AE-A70F-CBC25CFD95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1D113AC-898D-41F6-9ECC-A116F98519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CF84FE4-7AFF-4FB6-AD21-1081171453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14500" y="2533650"/>
            <a:ext cx="12496800" cy="438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[以可編輯節點、連線與分支放入完整流程]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68F2BF6A-101B-4C08-868D-51489139A07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迭代細節與失敗分支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E772812-B376-4292-B7DC-F69D6AFDD5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B3D1E37B-96ED-49CF-9885-14F28CA3B3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54EEC0F-80BA-462F-9F3D-5DCF1BC97E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14500" y="2533650"/>
            <a:ext cx="12496800" cy="438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[以可編輯節點、連線與分支放入完整流程]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AFE0DDD3-2014-44E4-BA86-0356DC208AC8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實驗結果圖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BD11E234-2890-4D9E-9BD1-FB90E55266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CF821D3-F700-48E9-B364-4E34591678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E5037F9F-C2C8-47F1-8EC8-69E886E326DE}"/>
              </a:ext>
            </a:extLst>
          </p:cNvPr>
          <p:cNvSpPr>
            <a:spLocks xmlns:a="http://schemas.openxmlformats.org/drawingml/2006/main" noGrp="1"/>
          </p:cNvSpPr>
          <p:nvPr>
            <p:ph type="chart" idx="2"/>
          </p:nvPr>
        </p:nvSpPr>
        <p:spPr>
          <a:xfrm xmlns:a="http://schemas.openxmlformats.org/drawingml/2006/main">
            <a:off x="1666875" y="2533650"/>
            <a:ext cx="7572375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[量測資料圖表]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3BCC7E98-58AF-4E44-825F-B1E83EFAB5F6}"/>
              </a:ext>
            </a:extLst>
          </p:cNvPr>
          <p:cNvSpPr>
            <a:spLocks xmlns:a="http://schemas.openxmlformats.org/drawingml/2006/main" noGrp="1"/>
          </p:cNvSpPr>
          <p:nvPr>
            <p:ph type="tbl" idx="3"/>
          </p:nvPr>
        </p:nvSpPr>
        <p:spPr>
          <a:xfrm xmlns:a="http://schemas.openxmlformats.org/drawingml/2006/main">
            <a:off x="9715500" y="2667000"/>
            <a:ext cx="4524375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[數值、單位、樣本與來源]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BBD12D10-8171-4B26-AD3D-A8DB635BF2A5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耗時與成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3C4424CD-B7CB-4152-8DE4-69A9C2CF9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B98FBC3-D73E-4FBC-9BF4-EDF7036886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0D76A34-2FB7-4768-B9A2-DD77D2C2FBA3}"/>
              </a:ext>
            </a:extLst>
          </p:cNvPr>
          <p:cNvSpPr>
            <a:spLocks xmlns:a="http://schemas.openxmlformats.org/drawingml/2006/main" noGrp="1"/>
          </p:cNvSpPr>
          <p:nvPr>
            <p:ph type="chart" idx="2"/>
          </p:nvPr>
        </p:nvSpPr>
        <p:spPr>
          <a:xfrm xmlns:a="http://schemas.openxmlformats.org/drawingml/2006/main">
            <a:off x="1666875" y="2533650"/>
            <a:ext cx="7572375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[量測資料圖表]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5B2DA84A-9CBE-4B1B-B2C5-436F38CDA074}"/>
              </a:ext>
            </a:extLst>
          </p:cNvPr>
          <p:cNvSpPr>
            <a:spLocks xmlns:a="http://schemas.openxmlformats.org/drawingml/2006/main" noGrp="1"/>
          </p:cNvSpPr>
          <p:nvPr>
            <p:ph type="tbl" idx="3"/>
          </p:nvPr>
        </p:nvSpPr>
        <p:spPr>
          <a:xfrm xmlns:a="http://schemas.openxmlformats.org/drawingml/2006/main">
            <a:off x="9715500" y="2667000"/>
            <a:ext cx="4524375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[數值、單位、樣本與來源]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F17160D-33C4-42A5-9A93-DE706AF69DB0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>
  <p:cSld name="比較分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5B43807-3063-4E37-B06D-A1600E3A78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FDA31CE5-EE2A-4D77-9BB6-6D6982BAEA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5C98C6D-827D-47F0-B20C-B6B2776C8CED}"/>
              </a:ext>
            </a:extLst>
          </p:cNvPr>
          <p:cNvSpPr>
            <a:spLocks xmlns:a="http://schemas.openxmlformats.org/drawingml/2006/main" noGrp="1"/>
          </p:cNvSpPr>
          <p:nvPr>
            <p:ph type="tbl" idx="2"/>
          </p:nvPr>
        </p:nvSpPr>
        <p:spPr>
          <a:xfrm xmlns:a="http://schemas.openxmlformats.org/drawingml/2006/main">
            <a:off x="1428750" y="2571750"/>
            <a:ext cx="130683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[基準、方法、結果差、耗時差與控制條件]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8840C198-4883-4725-A761-9A9BF303D0D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809750" y="6191250"/>
            <a:ext cx="123063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[一個有證據的解讀與必要限制]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7EB90E6-BF7A-4F0E-8F35-02A99B747845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>
  <p:cSld name="區間與逐次變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0A90EAA-49F5-4605-ACAA-3367CC8BDB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3CAE9AC-B4FE-4539-A9D5-86FBF41F7A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36378AEB-2BFE-4B58-A383-FD6B59F1CDFA}"/>
              </a:ext>
            </a:extLst>
          </p:cNvPr>
          <p:cNvSpPr>
            <a:spLocks xmlns:a="http://schemas.openxmlformats.org/drawingml/2006/main" noGrp="1"/>
          </p:cNvSpPr>
          <p:nvPr>
            <p:ph type="tbl" idx="2"/>
          </p:nvPr>
        </p:nvSpPr>
        <p:spPr>
          <a:xfrm xmlns:a="http://schemas.openxmlformats.org/drawingml/2006/main">
            <a:off x="1428750" y="2571750"/>
            <a:ext cx="130683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[日期／版本、before、after／目的、run、觀察影響]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04C6DF52-C32A-4039-B0E6-1CB40D6A713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809750" y="6191250"/>
            <a:ext cx="123063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[區間外基準的日期、版本、run ID 與選用原因]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44157F41-695F-4AAE-A7BD-E6182CD00A7E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7fb367b346d4492" /><Relationship Type="http://schemas.openxmlformats.org/officeDocument/2006/relationships/theme" Target="/ppt/slideMasters/theme/theme2.xml" Id="Re732948781274848" /><Relationship Type="http://schemas.openxmlformats.org/officeDocument/2006/relationships/slideLayout" Target="/ppt/slideLayouts/slideLayout1.xml" Id="R13eedc84e1494011" /><Relationship Type="http://schemas.openxmlformats.org/officeDocument/2006/relationships/slideLayout" Target="/ppt/slideLayouts/slideLayout2.xml" Id="Rc59b69e59ffe4b7f" /><Relationship Type="http://schemas.openxmlformats.org/officeDocument/2006/relationships/slideLayout" Target="/ppt/slideLayouts/slideLayout3.xml" Id="R3dc7c67732bb46ab" /><Relationship Type="http://schemas.openxmlformats.org/officeDocument/2006/relationships/slideLayout" Target="/ppt/slideLayouts/slideLayout4.xml" Id="R76d15a39750e4954" /><Relationship Type="http://schemas.openxmlformats.org/officeDocument/2006/relationships/slideLayout" Target="/ppt/slideLayouts/slideLayout5.xml" Id="Rd02067a969f747b2" /><Relationship Type="http://schemas.openxmlformats.org/officeDocument/2006/relationships/slideLayout" Target="/ppt/slideLayouts/slideLayout6.xml" Id="Raebc4c1c631c4b6a" /><Relationship Type="http://schemas.openxmlformats.org/officeDocument/2006/relationships/slideLayout" Target="/ppt/slideLayouts/slideLayout7.xml" Id="Rd9291da2de594fc6" /><Relationship Type="http://schemas.openxmlformats.org/officeDocument/2006/relationships/slideLayout" Target="/ppt/slideLayouts/slideLayout8.xml" Id="R1a7f1fe1138c4620" /><Relationship Type="http://schemas.openxmlformats.org/officeDocument/2006/relationships/slideLayout" Target="/ppt/slideLayouts/slideLayout9.xml" Id="R9893f578864c4301" /><Relationship Type="http://schemas.openxmlformats.org/officeDocument/2006/relationships/slideLayout" Target="/ppt/slideLayouts/slideLayout10.xml" Id="R7fd4aa6160e64cee" /><Relationship Type="http://schemas.openxmlformats.org/officeDocument/2006/relationships/slideLayout" Target="/ppt/slideLayouts/slideLayout11.xml" Id="R41697c28688241db" /><Relationship Type="http://schemas.openxmlformats.org/officeDocument/2006/relationships/slideLayout" Target="/ppt/slideLayouts/slideLayout12.xml" Id="Ra25f829bccd34a7b" /><Relationship Type="http://schemas.openxmlformats.org/officeDocument/2006/relationships/slideLayout" Target="/ppt/slideLayouts/slideLayout13.xml" Id="R1c23e5c239cc49b4" /><Relationship Type="http://schemas.openxmlformats.org/officeDocument/2006/relationships/slideLayout" Target="/ppt/slideLayouts/slideLayout14.xml" Id="R5f52c3fcbbcf4325" /><Relationship Type="http://schemas.openxmlformats.org/officeDocument/2006/relationships/slideLayout" Target="/ppt/slideLayouts/slideLayout15.xml" Id="Re62e251af9df4447" /><Relationship Type="http://schemas.openxmlformats.org/officeDocument/2006/relationships/slideLayout" Target="/ppt/slideLayouts/slideLayout16.xml" Id="R7c09e3df4a2c4c0f" /><Relationship Type="http://schemas.openxmlformats.org/officeDocument/2006/relationships/slideLayout" Target="/ppt/slideLayouts/slideLayout17.xml" Id="R62f7260239234163" /><Relationship Type="http://schemas.openxmlformats.org/officeDocument/2006/relationships/slideLayout" Target="/ppt/slideLayouts/slideLayout18.xml" Id="Rd7df4f510ef84868" /></Relationships>
</file>

<file path=ppt/slideMasters/slideMaster1.xml><?xml version="1.0" encoding="utf-8"?>
<p:sldMaster xmlns:p="http://schemas.openxmlformats.org/presentationml/2006/main">
  <p:cSld name="EAGL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EAGLE geometric full-slide background">
            <a:extLst xmlns:a="http://schemas.openxmlformats.org/drawingml/2006/main">
              <a:ext uri="{FF2B5EF4-FFF2-40B4-BE49-F238E27FC236}">
                <a16:creationId xmlns:a16="http://schemas.microsoft.com/office/drawing/2014/main" id="{14938504-3F27-4830-8423-B92EFB6144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b367b346d44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eedc84e1494011"/>
    <p:sldLayoutId xmlns:r="http://schemas.openxmlformats.org/officeDocument/2006/relationships" id="2147483650" r:id="Rc59b69e59ffe4b7f"/>
    <p:sldLayoutId xmlns:r="http://schemas.openxmlformats.org/officeDocument/2006/relationships" id="2147483651" r:id="R3dc7c67732bb46ab"/>
    <p:sldLayoutId xmlns:r="http://schemas.openxmlformats.org/officeDocument/2006/relationships" id="2147483652" r:id="R76d15a39750e4954"/>
    <p:sldLayoutId xmlns:r="http://schemas.openxmlformats.org/officeDocument/2006/relationships" id="2147483653" r:id="Rd02067a969f747b2"/>
    <p:sldLayoutId xmlns:r="http://schemas.openxmlformats.org/officeDocument/2006/relationships" id="2147483654" r:id="Raebc4c1c631c4b6a"/>
    <p:sldLayoutId xmlns:r="http://schemas.openxmlformats.org/officeDocument/2006/relationships" id="2147483655" r:id="Rd9291da2de594fc6"/>
    <p:sldLayoutId xmlns:r="http://schemas.openxmlformats.org/officeDocument/2006/relationships" id="2147483656" r:id="R1a7f1fe1138c4620"/>
    <p:sldLayoutId xmlns:r="http://schemas.openxmlformats.org/officeDocument/2006/relationships" id="2147483657" r:id="R9893f578864c4301"/>
    <p:sldLayoutId xmlns:r="http://schemas.openxmlformats.org/officeDocument/2006/relationships" id="2147483658" r:id="R7fd4aa6160e64cee"/>
    <p:sldLayoutId xmlns:r="http://schemas.openxmlformats.org/officeDocument/2006/relationships" id="2147483659" r:id="R41697c28688241db"/>
    <p:sldLayoutId xmlns:r="http://schemas.openxmlformats.org/officeDocument/2006/relationships" id="2147483660" r:id="Ra25f829bccd34a7b"/>
    <p:sldLayoutId xmlns:r="http://schemas.openxmlformats.org/officeDocument/2006/relationships" id="2147483661" r:id="R1c23e5c239cc49b4"/>
    <p:sldLayoutId xmlns:r="http://schemas.openxmlformats.org/officeDocument/2006/relationships" id="2147483662" r:id="R5f52c3fcbbcf4325"/>
    <p:sldLayoutId xmlns:r="http://schemas.openxmlformats.org/officeDocument/2006/relationships" id="2147483663" r:id="Re62e251af9df4447"/>
    <p:sldLayoutId xmlns:r="http://schemas.openxmlformats.org/officeDocument/2006/relationships" id="2147483664" r:id="R7c09e3df4a2c4c0f"/>
    <p:sldLayoutId xmlns:r="http://schemas.openxmlformats.org/officeDocument/2006/relationships" id="2147483665" r:id="R62f7260239234163"/>
    <p:sldLayoutId xmlns:r="http://schemas.openxmlformats.org/officeDocument/2006/relationships" id="2147483666" r:id="Rd7df4f510ef84868"/>
  </p:sldLayoutIdLst>
  <p:hf sldNum="1"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Masters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312e9e23b2c4ff8" /><Relationship Type="http://schemas.openxmlformats.org/officeDocument/2006/relationships/notesSlide" Target="/ppt/notesSlides/notesSlide1.xml" Id="Rb341e0dae54844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694023243734933" /><Relationship Type="http://schemas.openxmlformats.org/officeDocument/2006/relationships/notesSlide" Target="/ppt/notesSlides/notesSlide2.xml" Id="R799ec7bebc5d4d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71dadd79df5466c" /><Relationship Type="http://schemas.openxmlformats.org/officeDocument/2006/relationships/notesSlide" Target="/ppt/notesSlides/notesSlide3.xml" Id="Ra5378eabd4e347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dad46a464994230" /><Relationship Type="http://schemas.openxmlformats.org/officeDocument/2006/relationships/notesSlide" Target="/ppt/notesSlides/notesSlide4.xml" Id="R13bce72d3e9e42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9addc57d719497a" /><Relationship Type="http://schemas.openxmlformats.org/officeDocument/2006/relationships/notesSlide" Target="/ppt/notesSlides/notesSlide5.xml" Id="Rac88d30588574c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aeaba8cbdae4c5f" /><Relationship Type="http://schemas.openxmlformats.org/officeDocument/2006/relationships/notesSlide" Target="/ppt/notesSlides/notesSlide6.xml" Id="Rf7ca7ab9d67945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19b5fee143b4e5d" /><Relationship Type="http://schemas.openxmlformats.org/officeDocument/2006/relationships/notesSlide" Target="/ppt/notesSlides/notesSlide7.xml" Id="R5d6f548b755542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02c112b8bc84d1f" /><Relationship Type="http://schemas.openxmlformats.org/officeDocument/2006/relationships/notesSlide" Target="/ppt/notesSlides/notesSlide8.xml" Id="R542cf26fee7e42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676ac5b1b6144ad" /><Relationship Type="http://schemas.openxmlformats.org/officeDocument/2006/relationships/notesSlide" Target="/ppt/notesSlides/notesSlide9.xml" Id="R99ae7c796ad54d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22b455d97bb40f3" /><Relationship Type="http://schemas.openxmlformats.org/officeDocument/2006/relationships/notesSlide" Target="/ppt/notesSlides/notesSlide10.xml" Id="R3bac53fc842946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575e2acbc0e4986" /><Relationship Type="http://schemas.openxmlformats.org/officeDocument/2006/relationships/notesSlide" Target="/ppt/notesSlides/notesSlide11.xml" Id="R3e48df579ddf43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2002501d9944709" /><Relationship Type="http://schemas.openxmlformats.org/officeDocument/2006/relationships/notesSlide" Target="/ppt/notesSlides/notesSlide12.xml" Id="R1fed61f8ffa04d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e6d37147aa94078" /><Relationship Type="http://schemas.openxmlformats.org/officeDocument/2006/relationships/notesSlide" Target="/ppt/notesSlides/notesSlide13.xml" Id="Re4269cc5fa3a43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4f8b0e9466c42a9" /><Relationship Type="http://schemas.openxmlformats.org/officeDocument/2006/relationships/notesSlide" Target="/ppt/notesSlides/notesSlide14.xml" Id="Rbf08c5689d4142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24e436f0f094099" /><Relationship Type="http://schemas.openxmlformats.org/officeDocument/2006/relationships/notesSlide" Target="/ppt/notesSlides/notesSlide15.xml" Id="R7a3f6664fc6a46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4e5b9a6b8b741d3" /><Relationship Type="http://schemas.openxmlformats.org/officeDocument/2006/relationships/notesSlide" Target="/ppt/notesSlides/notesSlide16.xml" Id="R61ba902401f14ab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82b6651e7cc49c3" /><Relationship Type="http://schemas.openxmlformats.org/officeDocument/2006/relationships/notesSlide" Target="/ppt/notesSlides/notesSlide17.xml" Id="R0cf3fc6d34c0458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babafca7c024b35" /><Relationship Type="http://schemas.openxmlformats.org/officeDocument/2006/relationships/notesSlide" Target="/ppt/notesSlides/notesSlide18.xml" Id="R1ee73457da904c0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c5bf961e79a497a" /><Relationship Type="http://schemas.openxmlformats.org/officeDocument/2006/relationships/chart" Target="/ppt/slides/charts/chart1.xml" Id="Rd38bc96b23504d10" /><Relationship Type="http://schemas.openxmlformats.org/officeDocument/2006/relationships/notesSlide" Target="/ppt/notesSlides/notesSlide19.xml" Id="Rd22ecf4dc07a45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401048dd2974a84" /><Relationship Type="http://schemas.openxmlformats.org/officeDocument/2006/relationships/notesSlide" Target="/ppt/notesSlides/notesSlide20.xml" Id="R19afe6ebcb214c5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2d1547bc4a442a1" /><Relationship Type="http://schemas.openxmlformats.org/officeDocument/2006/relationships/notesSlide" Target="/ppt/notesSlides/notesSlide21.xml" Id="R47526c340d0b40e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f6b76b4299346c2" /><Relationship Type="http://schemas.openxmlformats.org/officeDocument/2006/relationships/notesSlide" Target="/ppt/notesSlides/notesSlide22.xml" Id="Ra4c6ef61249f43c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5c44c096fc14fc0" /><Relationship Type="http://schemas.openxmlformats.org/officeDocument/2006/relationships/notesSlide" Target="/ppt/notesSlides/notesSlide23.xml" Id="R8f0739f3d027422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b2783e9bd46450c" /><Relationship Type="http://schemas.openxmlformats.org/officeDocument/2006/relationships/notesSlide" Target="/ppt/notesSlides/notesSlide24.xml" Id="R3cd9aa8f63774bc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38c852b135544af" /><Relationship Type="http://schemas.openxmlformats.org/officeDocument/2006/relationships/notesSlide" Target="/ppt/notesSlides/notesSlide25.xml" Id="Rca6fe215f60444e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單次啟動分段 wall time（秒）</c:v>
          </c:tx>
          <c:spPr>
            <a:solidFill xmlns:a="http://schemas.openxmlformats.org/drawingml/2006/main">
              <a:srgbClr val="CF8792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載入開始 → warmup 開始</c:v>
                </c:pt>
                <c:pt idx="1">
                  <c:v>warmup 開始 → server ready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6.902104</c:v>
                </c:pt>
                <c:pt idx="1">
                  <c:v>0.165716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47171C"/>
                  </a:solidFill>
                  <a:latin typeface="Source Han Serif TW"/>
                  <a:ea typeface="Source Han Serif TW"/>
                  <a:cs typeface="Source Han Serif T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B4B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75">
                    <a:latin typeface="Source Han Serif TW"/>
                    <a:ea typeface="Source Han Serif TW"/>
                    <a:cs typeface="Source Han Serif TW"/>
                  </a:rPr>
                  <a:t>秒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latin typeface="Source Han Serif TW"/>
                  <a:ea typeface="Source Han Serif TW"/>
                  <a:cs typeface="Source Han Serif TW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-0">
            <a:extLst>
              <a:ext uri="{FF2B5EF4-FFF2-40B4-BE49-F238E27FC236}">
                <ns2:creationId id="{E6825039-1BE7-4308-9F7A-4EA6932E4C32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deterministic DSL 版本</a:t>
            </a:r>
          </a:p>
        </p:txBody>
      </p:sp>
      <p:sp>
        <p:nvSpPr>
          <p:cNvPr id="2" name="text-1">
            <a:extLst>
              <a:ext uri="{FF2B5EF4-FFF2-40B4-BE49-F238E27FC236}">
                <ns2:creationId id="{DFCF6E5F-E467-4BD4-B18E-98CFB4362AE4}"/>
              </a:ext>
            </a:extLst>
          </p:cNvPr>
          <p:cNvSpPr>
            <a:spLocks noGrp="1"/>
          </p:cNvSpPr>
          <p:nvPr/>
        </p:nvSpPr>
        <p:spPr>
          <a:xfrm>
            <a:off x="2047875" y="3105150"/>
            <a:ext cx="118300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編譯、GPU 與平行搜尋</a:t>
            </a:r>
          </a:p>
        </p:txBody>
      </p:sp>
      <p:sp>
        <p:nvSpPr>
          <p:cNvPr id="3" name="text-2">
            <a:extLst>
              <a:ext uri="{FF2B5EF4-FFF2-40B4-BE49-F238E27FC236}">
                <ns2:creationId id="{5313ABF2-5243-4A9D-8AF9-E2297F696DB0}"/>
              </a:ext>
            </a:extLst>
          </p:cNvPr>
          <p:cNvSpPr>
            <a:spLocks noGrp="1"/>
          </p:cNvSpPr>
          <p:nvPr/>
        </p:nvSpPr>
        <p:spPr>
          <a:xfrm>
            <a:off x="2476500" y="4981575"/>
            <a:ext cx="10972800" cy="167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2026-10-14　程式版本 94ab1869</a:t>
            </a:r>
          </a:p>
          <a:p>
            <a: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Ministral3 8B　seed 8 × 3 runs</a:t>
            </a:r>
          </a:p>
        </p:txBody>
      </p:sp>
      <p:sp>
        <p:nvSpPr>
          <p:cNvPr id="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</a:p>
        </p:txBody>
      </p:sp>
    </p:spTree>
    <p:extLst>
      <p:ext uri="{BB962C8B-B14F-4D97-AF65-F5344CB8AC3E}">
        <ns3:creationId val="543513660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-0">
            <a:extLst>
              <a:ext uri="{FF2B5EF4-FFF2-40B4-BE49-F238E27FC236}">
                <ns2:creationId id="{C8A099C8-75D5-4215-89FA-3C954206B4F3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策略表示與編譯：逐次變更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5511DBFC-A6E6-4D18-9071-2AB1F2919802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428875"/>
                <a:gridCol w="4714875"/>
                <a:gridCol w="56388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版本／日期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變更前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變更後與目的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37d5ec2e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10/14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策略以 DSL 表示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 仍依 LLM 解碼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新增固定 typed-IR compiler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同輸入得到同 Java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9500d3c1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10/14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搜尋主線為 LLM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materialization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deterministic_dsl 整合搜尋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只演化策略基因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dbaeb7c2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10/14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缺少專用驗證設定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8 × 3 runs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 代、population 2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214c5733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10/14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巢狀規則 schema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容易被誤讀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釐清完整 DSL rule 結構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規則內容須完整合法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3" name="text-1">
            <a:extLst>
              <a:ext uri="{FF2B5EF4-FFF2-40B4-BE49-F238E27FC236}">
                <ns2:creationId id="{BD751BEC-484D-4F3E-8824-7A9839EFAB9D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影響主線：移除 Java LLM 解碼；成績與耗時尚未驗證</a:t>
            </a:r>
          </a:p>
        </p:txBody>
      </p:sp>
      <p:sp>
        <p:nvSpPr>
          <p:cNvPr id="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fld>
          </a:p>
        </p:txBody>
      </p:sp>
    </p:spTree>
    <p:extLst>
      <p:ext uri="{BB962C8B-B14F-4D97-AF65-F5344CB8AC3E}">
        <ns3:creationId val="1470057728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74693EBD-93C8-4240-930E-066782E3733B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回應格式、批次與 runtime：逐次變更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98F5B5BF-C970-4B80-A062-D9FB3ED29E1B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428875"/>
                <a:gridCol w="4714875"/>
                <a:gridCol w="56388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版本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原行為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本版行為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2585ce0e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資料夾不能執行多 runs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 replicate 有獨立槽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experiment.yaml 支援續跑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c401d99a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GPU／平行度由 config 覆寫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GPU 強制啟用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 LLM slots、10 match workers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6dee5d4f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4f04c901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策略回應以整份 JSON 判定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JSONL 每行一條規則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保留合法規則、丟棄壞行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b536fd42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94ab1869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提示仍有泛稱策略描述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verbosity 3 缺 offload log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提示對齊 DSL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verbosity 4、fit off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fld>
          </a:p>
        </p:txBody>
      </p:sp>
    </p:spTree>
    <p:extLst>
      <p:ext uri="{BB962C8B-B14F-4D97-AF65-F5344CB8AC3E}">
        <ns3:creationId val="1192981857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4454CF8E-5C08-4D31-B809-240DCD78AE57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本次設定與有效執行模式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3E40E9E5-CD82-44E6-B953-0065F0BFC512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428875"/>
                <a:gridCol w="4714875"/>
                <a:gridCol w="56388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本次設定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實際作用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策略／Java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deterministic_dsl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eagle-dsl-java-v1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 JSON → 固定 Java compiler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 meta prompt 不啟用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搜尋預算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8，runs 3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演化 3 代、population 2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三次相同 seed、獨立 run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gen0 另列，之後 gen1–3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反思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static，mutation_rate 1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Strategy probability 1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只有 Strategy Reflection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Code／Prompt Reflection 不啟用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評估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self_play，3 maps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parent mode reuse_cached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Game Performance 最大化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同分以 semantic novelty 分辨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</a:t>
            </a:fld>
          </a:p>
        </p:txBody>
      </p:sp>
    </p:spTree>
    <p:extLst>
      <p:ext uri="{BB962C8B-B14F-4D97-AF65-F5344CB8AC3E}">
        <ns3:creationId val="1849898492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7" name="">
            <a:extLst>
              <a:ext uri="{FF2B5EF4-FFF2-40B4-BE49-F238E27FC236}">
                <ns2:creationId id="{03B12A20-0112-4A3F-8A8D-B3C95A257F65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5191125" y="676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6" name="">
            <a:extLst>
              <a:ext uri="{FF2B5EF4-FFF2-40B4-BE49-F238E27FC236}">
                <ns2:creationId id="{9E8174F9-8265-4AE4-AED6-483FE3F679EE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3476625" y="5429250"/>
            <a:ext cx="0" cy="85725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5" name="">
            <a:extLst>
              <a:ext uri="{FF2B5EF4-FFF2-40B4-BE49-F238E27FC236}">
                <ns2:creationId id="{ACA35729-6F48-48AF-B6DF-5ED945E39E6A}"/>
              </a:ext>
            </a:extLst>
          </p:cNvPr>
          <p:cNvCxnSpPr>
            <a:stCxn id="7" idx="0"/>
            <a:endCxn id="5" idx="0"/>
          </p:cNvCxnSpPr>
          <p:nvPr/>
        </p:nvCxnSpPr>
        <p:spPr>
          <a:xfrm>
            <a:off x="3476625" y="4152900"/>
            <a:ext cx="8858250" cy="228600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4" name="">
            <a:extLst>
              <a:ext uri="{FF2B5EF4-FFF2-40B4-BE49-F238E27FC236}">
                <ns2:creationId id="{A227E872-74C7-4546-A29D-535DEFFF8435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4857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3" name="">
            <a:extLst>
              <a:ext uri="{FF2B5EF4-FFF2-40B4-BE49-F238E27FC236}">
                <ns2:creationId id="{5667073A-553B-4FA2-9CC7-54BC7131631F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20250" y="4857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9ABB3C07-E16A-4D81-91FF-9D62503F3F42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334875" y="3429000"/>
            <a:ext cx="0" cy="9525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9011EB78-32EB-4834-90C1-5C829621EDBE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20250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ADCBC536-33E5-4C75-AEDE-2608A275EF83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21" name="text-0">
            <a:extLst>
              <a:ext uri="{FF2B5EF4-FFF2-40B4-BE49-F238E27FC236}">
                <ns2:creationId id="{28E7F1C2-58EA-487B-AC00-A7DDD35D5D9E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完整搜尋流程</a:t>
            </a:r>
          </a:p>
        </p:txBody>
      </p:sp>
      <p:sp>
        <p:nvSpPr>
          <p:cNvPr id="2" name="config">
            <a:extLst>
              <a:ext uri="{FF2B5EF4-FFF2-40B4-BE49-F238E27FC236}">
                <ns2:creationId id="{B081E068-AF23-4FC7-8036-AC71C1970042}"/>
              </a:ext>
            </a:extLst>
          </p:cNvPr>
          <p:cNvSpPr>
            <a:spLocks noGrp="1"/>
          </p:cNvSpPr>
          <p:nvPr/>
        </p:nvSpPr>
        <p:spPr>
          <a:xfrm>
            <a:off x="176212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Config、seed、GPU 檢查</a:t>
            </a:r>
          </a:p>
        </p:txBody>
      </p:sp>
      <p:sp>
        <p:nvSpPr>
          <p:cNvPr id="3" name="init">
            <a:extLst>
              <a:ext uri="{FF2B5EF4-FFF2-40B4-BE49-F238E27FC236}">
                <ns2:creationId id="{CAC30CBD-D567-42F1-B414-034C6AED2D00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Gen0：2 個 seed clones</a:t>
            </a:r>
          </a:p>
        </p:txBody>
      </p:sp>
      <p:sp>
        <p:nvSpPr>
          <p:cNvPr id="4" name="bootstrap">
            <a:extLst>
              <a:ext uri="{FF2B5EF4-FFF2-40B4-BE49-F238E27FC236}">
                <ns2:creationId id="{AFFF8927-DA1A-40D8-A5DE-9E30F81CED31}"/>
              </a:ext>
            </a:extLst>
          </p:cNvPr>
          <p:cNvSpPr>
            <a:spLocks noGrp="1"/>
          </p:cNvSpPr>
          <p:nvPr/>
        </p:nvSpPr>
        <p:spPr>
          <a:xfrm>
            <a:off x="1062037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DSL 編譯、初始評估</a:t>
            </a:r>
          </a:p>
        </p:txBody>
      </p:sp>
      <p:sp>
        <p:nvSpPr>
          <p:cNvPr id="5" name="iteration">
            <a:extLst>
              <a:ext uri="{FF2B5EF4-FFF2-40B4-BE49-F238E27FC236}">
                <ns2:creationId id="{755DDAB9-476A-41FB-AADA-C8D424E613A0}"/>
              </a:ext>
            </a:extLst>
          </p:cNvPr>
          <p:cNvSpPr>
            <a:spLocks noGrp="1"/>
          </p:cNvSpPr>
          <p:nvPr/>
        </p:nvSpPr>
        <p:spPr>
          <a:xfrm>
            <a:off x="10620375" y="4381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父代、crossover、反思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 2 offspring</a:t>
            </a:r>
          </a:p>
        </p:txBody>
      </p:sp>
      <p:sp>
        <p:nvSpPr>
          <p:cNvPr id="6" name="eval">
            <a:extLst>
              <a:ext uri="{FF2B5EF4-FFF2-40B4-BE49-F238E27FC236}">
                <ns2:creationId id="{FD116864-A31E-493B-A080-C146AE9E90DE}"/>
              </a:ext>
            </a:extLst>
          </p:cNvPr>
          <p:cNvSpPr>
            <a:spLocks noGrp="1"/>
          </p:cNvSpPr>
          <p:nvPr/>
        </p:nvSpPr>
        <p:spPr>
          <a:xfrm>
            <a:off x="6191250" y="4381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DSL 編譯與對戰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μ＋λ 倖存者選擇</a:t>
            </a:r>
          </a:p>
        </p:txBody>
      </p:sp>
      <p:sp>
        <p:nvSpPr>
          <p:cNvPr id="7" name="stop">
            <a:extLst>
              <a:ext uri="{FF2B5EF4-FFF2-40B4-BE49-F238E27FC236}">
                <ns2:creationId id="{DBCB5F0E-3B73-44A7-BA45-9A657C2AA5D7}"/>
              </a:ext>
            </a:extLst>
          </p:cNvPr>
          <p:cNvSpPr>
            <a:spLocks noGrp="1"/>
          </p:cNvSpPr>
          <p:nvPr/>
        </p:nvSpPr>
        <p:spPr>
          <a:xfrm>
            <a:off x="1762125" y="4286250"/>
            <a:ext cx="3429000" cy="1143000"/>
          </a:xfrm>
          <a:prstGeom prst="diamond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達到停止條件？</a:t>
            </a:r>
          </a:p>
        </p:txBody>
      </p:sp>
      <p:sp>
        <p:nvSpPr>
          <p:cNvPr id="8" name="final">
            <a:extLst>
              <a:ext uri="{FF2B5EF4-FFF2-40B4-BE49-F238E27FC236}">
                <ns2:creationId id="{C7F07C36-27D0-47D0-AF9C-1F41E955D38A}"/>
              </a:ext>
            </a:extLst>
          </p:cNvPr>
          <p:cNvSpPr>
            <a:spLocks noGrp="1"/>
          </p:cNvSpPr>
          <p:nvPr/>
        </p:nvSpPr>
        <p:spPr>
          <a:xfrm>
            <a:off x="1762125" y="628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完成：champion final-test</a:t>
            </a:r>
          </a:p>
        </p:txBody>
      </p:sp>
      <p:sp>
        <p:nvSpPr>
          <p:cNvPr id="9" name="outputs">
            <a:extLst>
              <a:ext uri="{FF2B5EF4-FFF2-40B4-BE49-F238E27FC236}">
                <ns2:creationId id="{DD9F45D7-AB66-4CB0-BE01-5243833C09F0}"/>
              </a:ext>
            </a:extLst>
          </p:cNvPr>
          <p:cNvSpPr>
            <a:spLocks noGrp="1"/>
          </p:cNvSpPr>
          <p:nvPr/>
        </p:nvSpPr>
        <p:spPr>
          <a:xfrm>
            <a:off x="6191250" y="628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summary、checkpoint、timing</a:t>
            </a:r>
          </a:p>
        </p:txBody>
      </p:sp>
      <p:sp>
        <p:nvSpPr>
          <p:cNvPr id="18" name="text-17">
            <a:extLst>
              <a:ext uri="{FF2B5EF4-FFF2-40B4-BE49-F238E27FC236}">
                <ns2:creationId id="{55C2C763-604A-4563-BD82-945918C6DD06}"/>
              </a:ext>
            </a:extLst>
          </p:cNvPr>
          <p:cNvSpPr>
            <a:spLocks noGrp="1"/>
          </p:cNvSpPr>
          <p:nvPr/>
        </p:nvSpPr>
        <p:spPr>
          <a:xfrm>
            <a:off x="5715000" y="3562350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否：繼續 gen1–3</a:t>
            </a:r>
          </a:p>
        </p:txBody>
      </p:sp>
      <p:sp>
        <p:nvSpPr>
          <p:cNvPr id="19" name="text-18">
            <a:extLst>
              <a:ext uri="{FF2B5EF4-FFF2-40B4-BE49-F238E27FC236}">
                <ns2:creationId id="{4AD55D92-8445-4042-B105-2BE699616AE5}"/>
              </a:ext>
            </a:extLst>
          </p:cNvPr>
          <p:cNvSpPr>
            <a:spLocks noGrp="1"/>
          </p:cNvSpPr>
          <p:nvPr/>
        </p:nvSpPr>
        <p:spPr>
          <a:xfrm>
            <a:off x="2238375" y="5657850"/>
            <a:ext cx="2190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是：正常完成</a:t>
            </a:r>
          </a:p>
        </p:txBody>
      </p:sp>
      <p:sp>
        <p:nvSpPr>
          <p:cNvPr id="20" name="text-19">
            <a:extLst>
              <a:ext uri="{FF2B5EF4-FFF2-40B4-BE49-F238E27FC236}">
                <ns2:creationId id="{14A8E130-5848-4660-A1AA-690FEE43EEEF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中斷／失敗：保留最後完整 checkpoint，以 --resume 接續</a:t>
            </a:r>
          </a:p>
        </p:txBody>
      </p:sp>
      <p:sp>
        <p:nvSpPr>
          <p:cNvPr id="22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5</a:t>
            </a:fld>
          </a:p>
        </p:txBody>
      </p:sp>
    </p:spTree>
    <p:extLst>
      <p:ext uri="{BB962C8B-B14F-4D97-AF65-F5344CB8AC3E}">
        <ns3:creationId val="546685459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D232A555-96FF-4979-A616-D1262BE9787A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DSL：策略與實作之間的固定契約</a:t>
            </a:r>
          </a:p>
        </p:txBody>
      </p:sp>
      <p:sp>
        <p:nvSpPr>
          <p:cNvPr id="2" name="text-1">
            <a:extLst>
              <a:ext uri="{FF2B5EF4-FFF2-40B4-BE49-F238E27FC236}">
                <ns2:creationId id="{C5EDCB8B-4730-4574-8CB5-A0DF57DA3772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策略是一個 version + rules 的 JSON object；每條 rule 包含 actor、when、action。空 rules 明確表示 idle。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7A9DE5BC-7DFF-4D92-9428-7B9D76D4AB9E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條件只讀當前可觀測狀態；action、target、selector 使用封閉詞彙。禁止自訂 prose／Java 欄位。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E3BEA586-6259-419A-95A6-FE953FBF8548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是離線編譯的 phenotype；固定 scaffold、compiler version 與 policy hash 一起保存。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6</a:t>
            </a:fld>
          </a:p>
        </p:txBody>
      </p:sp>
    </p:spTree>
    <p:extLst>
      <p:ext uri="{BB962C8B-B14F-4D97-AF65-F5344CB8AC3E}">
        <ns3:creationId val="2043172973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4" name="">
            <a:extLst>
              <a:ext uri="{FF2B5EF4-FFF2-40B4-BE49-F238E27FC236}">
                <ns2:creationId id="{FEFC5D8F-EDFB-4F23-814D-ED70B8803DD3}"/>
              </a:ext>
            </a:extLst>
          </p:cNvPr>
          <p:cNvCxnSpPr>
            <a:stCxn id="7" idx="0"/>
            <a:endCxn id="3" idx="2"/>
          </p:cNvCxnSpPr>
          <p:nvPr/>
        </p:nvCxnSpPr>
        <p:spPr>
          <a:xfrm flipV="1">
            <a:off x="3476625" y="3429000"/>
            <a:ext cx="4429125" cy="1143000"/>
          </a:xfrm>
          <a:prstGeom prst="bentConnector4">
            <a:avLst>
              <a:gd name="adj1" fmla="val 0"/>
              <a:gd name="adj2" fmla="val 20000"/>
            </a:avLst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3" name="">
            <a:extLst>
              <a:ext uri="{FF2B5EF4-FFF2-40B4-BE49-F238E27FC236}">
                <ns2:creationId id="{EF251358-9E41-4343-AF09-5058860F4273}"/>
              </a:ext>
            </a:extLst>
          </p:cNvPr>
          <p:cNvCxnSpPr>
            <a:stCxn id="5" idx="2"/>
            <a:endCxn id="7" idx="2"/>
          </p:cNvCxnSpPr>
          <p:nvPr/>
        </p:nvCxnSpPr>
        <p:spPr>
          <a:xfrm flipH="1" flipV="1">
            <a:off x="3476625" y="5524500"/>
            <a:ext cx="8858250" cy="323850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359B0B94-DC1E-4B94-92D1-C2D5F648766F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3476625" y="3524250"/>
            <a:ext cx="8858250" cy="1047750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89827891-372E-4FCD-B257-0C7D362B119B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20250" y="50482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FE2CA60A-7D24-4BA0-AC11-CDC9869D6A80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334875" y="3524250"/>
            <a:ext cx="0" cy="9525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E64F6884-B8D2-46F3-A6CA-F3FDA0142696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20250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099FBEBA-D0C8-4E3E-A6F3-71B06A83B179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20" name="text-0">
            <a:extLst>
              <a:ext uri="{FF2B5EF4-FFF2-40B4-BE49-F238E27FC236}">
                <ns2:creationId id="{5CA5A35A-D8A1-4BCD-9EE4-D052A1F9F009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的規則順序與 fallback</a:t>
            </a:r>
          </a:p>
        </p:txBody>
      </p:sp>
      <p:sp>
        <p:nvSpPr>
          <p:cNvPr id="2" name="actor">
            <a:extLst>
              <a:ext uri="{FF2B5EF4-FFF2-40B4-BE49-F238E27FC236}">
                <ns2:creationId id="{83FE9761-0021-4287-B665-AD1587BF13B2}"/>
              </a:ext>
            </a:extLst>
          </p:cNvPr>
          <p:cNvSpPr>
            <a:spLocks noGrp="1"/>
          </p:cNvSpPr>
          <p:nvPr/>
        </p:nvSpPr>
        <p:spPr>
          <a:xfrm>
            <a:off x="176212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idle friendly actors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 unit ID 升序</a:t>
            </a:r>
          </a:p>
        </p:txBody>
      </p:sp>
      <p:sp>
        <p:nvSpPr>
          <p:cNvPr id="3" name="rules">
            <a:extLst>
              <a:ext uri="{FF2B5EF4-FFF2-40B4-BE49-F238E27FC236}">
                <ns2:creationId id="{6A8C33B2-A5F4-475F-B24B-B831D5B03B68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規則按 rules 陣列順序</a:t>
            </a:r>
          </a:p>
        </p:txBody>
      </p:sp>
      <p:sp>
        <p:nvSpPr>
          <p:cNvPr id="4" name="when">
            <a:extLst>
              <a:ext uri="{FF2B5EF4-FFF2-40B4-BE49-F238E27FC236}">
                <ns2:creationId id="{7CE6574D-3977-4E42-AB08-30AF4D03B95C}"/>
              </a:ext>
            </a:extLst>
          </p:cNvPr>
          <p:cNvSpPr>
            <a:spLocks noGrp="1"/>
          </p:cNvSpPr>
          <p:nvPr/>
        </p:nvSpPr>
        <p:spPr>
          <a:xfrm>
            <a:off x="10620375" y="2381250"/>
            <a:ext cx="3429000" cy="1143000"/>
          </a:xfrm>
          <a:prstGeom prst="diamond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when 成立？</a:t>
            </a:r>
          </a:p>
        </p:txBody>
      </p:sp>
      <p:sp>
        <p:nvSpPr>
          <p:cNvPr id="5" name="issue">
            <a:extLst>
              <a:ext uri="{FF2B5EF4-FFF2-40B4-BE49-F238E27FC236}">
                <ns2:creationId id="{48F4BC7D-7642-4864-8F18-041A1BEDF434}"/>
              </a:ext>
            </a:extLst>
          </p:cNvPr>
          <p:cNvSpPr>
            <a:spLocks noGrp="1"/>
          </p:cNvSpPr>
          <p:nvPr/>
        </p:nvSpPr>
        <p:spPr>
          <a:xfrm>
            <a:off x="10620375" y="4476750"/>
            <a:ext cx="3429000" cy="1143000"/>
          </a:xfrm>
          <a:prstGeom prst="diamond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action 可合法發出？</a:t>
            </a:r>
          </a:p>
        </p:txBody>
      </p:sp>
      <p:sp>
        <p:nvSpPr>
          <p:cNvPr id="6" name="commit">
            <a:extLst>
              <a:ext uri="{FF2B5EF4-FFF2-40B4-BE49-F238E27FC236}">
                <ns2:creationId id="{4B70AC3E-4F4A-46D4-9B9C-9E93E5636A47}"/>
              </a:ext>
            </a:extLst>
          </p:cNvPr>
          <p:cNvSpPr>
            <a:spLocks noGrp="1"/>
          </p:cNvSpPr>
          <p:nvPr/>
        </p:nvSpPr>
        <p:spPr>
          <a:xfrm>
            <a:off x="6191250" y="45720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發出一個 action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更新本輪 reservations</a:t>
            </a:r>
          </a:p>
        </p:txBody>
      </p:sp>
      <p:sp>
        <p:nvSpPr>
          <p:cNvPr id="7" name="next">
            <a:extLst>
              <a:ext uri="{FF2B5EF4-FFF2-40B4-BE49-F238E27FC236}">
                <ns2:creationId id="{21A5A5BC-402C-4DF4-9A35-467A47146CE8}"/>
              </a:ext>
            </a:extLst>
          </p:cNvPr>
          <p:cNvSpPr>
            <a:spLocks noGrp="1"/>
          </p:cNvSpPr>
          <p:nvPr/>
        </p:nvSpPr>
        <p:spPr>
          <a:xfrm>
            <a:off x="1762125" y="45720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不成立／guard 失敗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繼續下一條 rule</a:t>
            </a:r>
          </a:p>
        </p:txBody>
      </p:sp>
      <p:sp>
        <p:nvSpPr>
          <p:cNvPr id="15" name="text-14">
            <a:extLst>
              <a:ext uri="{FF2B5EF4-FFF2-40B4-BE49-F238E27FC236}">
                <ns2:creationId id="{D899C147-B65E-45A7-9EE2-C4E27D68AE8A}"/>
              </a:ext>
            </a:extLst>
          </p:cNvPr>
          <p:cNvSpPr>
            <a:spLocks noGrp="1"/>
          </p:cNvSpPr>
          <p:nvPr/>
        </p:nvSpPr>
        <p:spPr>
          <a:xfrm>
            <a:off x="12430125" y="4171950"/>
            <a:ext cx="476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16" name="text-15">
            <a:extLst>
              <a:ext uri="{FF2B5EF4-FFF2-40B4-BE49-F238E27FC236}">
                <ns2:creationId id="{7851888F-92D8-4493-969A-2A2433726E00}"/>
              </a:ext>
            </a:extLst>
          </p:cNvPr>
          <p:cNvSpPr>
            <a:spLocks noGrp="1"/>
          </p:cNvSpPr>
          <p:nvPr/>
        </p:nvSpPr>
        <p:spPr>
          <a:xfrm>
            <a:off x="9906000" y="4733925"/>
            <a:ext cx="476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17" name="text-16">
            <a:extLst>
              <a:ext uri="{FF2B5EF4-FFF2-40B4-BE49-F238E27FC236}">
                <ns2:creationId id="{BAADC31C-42F4-418B-AFB0-FDAA77F6186F}"/>
              </a:ext>
            </a:extLst>
          </p:cNvPr>
          <p:cNvSpPr>
            <a:spLocks noGrp="1"/>
          </p:cNvSpPr>
          <p:nvPr/>
        </p:nvSpPr>
        <p:spPr>
          <a:xfrm>
            <a:off x="6524625" y="611505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否／無合法 action</a:t>
            </a:r>
          </a:p>
        </p:txBody>
      </p:sp>
      <p:sp>
        <p:nvSpPr>
          <p:cNvPr id="18" name="text-17">
            <a:extLst>
              <a:ext uri="{FF2B5EF4-FFF2-40B4-BE49-F238E27FC236}">
                <ns2:creationId id="{8934B46C-90D3-4E22-8F9F-5EB6D1261734}"/>
              </a:ext>
            </a:extLst>
          </p:cNvPr>
          <p:cNvSpPr>
            <a:spLocks noGrp="1"/>
          </p:cNvSpPr>
          <p:nvPr/>
        </p:nvSpPr>
        <p:spPr>
          <a:xfrm>
            <a:off x="5524500" y="3619500"/>
            <a:ext cx="2000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when 為否</a:t>
            </a:r>
          </a:p>
        </p:txBody>
      </p:sp>
      <p:sp>
        <p:nvSpPr>
          <p:cNvPr id="19" name="text-18">
            <a:extLst>
              <a:ext uri="{FF2B5EF4-FFF2-40B4-BE49-F238E27FC236}">
                <ns2:creationId id="{AD27EE54-EEA6-4488-9433-4117412A89BF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 actor 每 cycle 最多一個 action；沒有匹配則 idle</a:t>
            </a:r>
          </a:p>
        </p:txBody>
      </p:sp>
      <p:sp>
        <p:nvSpPr>
          <p:cNvPr id="21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7</a:t>
            </a:fld>
          </a:p>
        </p:txBody>
      </p:sp>
    </p:spTree>
    <p:extLst>
      <p:ext uri="{BB962C8B-B14F-4D97-AF65-F5344CB8AC3E}">
        <ns3:creationId val="1968459863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A6538055-133B-43D0-BFCE-F1A4252B465A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Gen0 與每代需要保存的狀態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3A0C00AD-CA28-45BC-BD3D-95CFF26430E0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428875"/>
                <a:gridCol w="5524500"/>
                <a:gridCol w="4829175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階段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候選／狀態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證據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Gen0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單一 WorkerRush policy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複製為 2 個候選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不同 candidate IDs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相同 DSL 與 Java hash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對手快照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bootstrap 後建立 run-local library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Java／語意等價去重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source IDs、slot IDs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與 context_id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Gen1–3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每代建立 2 offspring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保存已完成 survivors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parents、strategy_parent_id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反思與 lineage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Checkpoint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只承認完整提交的 generation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config、compiler/scaffold hashes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manifest、snapshot、timing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fld>
          </a:p>
        </p:txBody>
      </p:sp>
    </p:spTree>
    <p:extLst>
      <p:ext uri="{BB962C8B-B14F-4D97-AF65-F5344CB8AC3E}">
        <ns3:creationId val="788583238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1A4E8A2A-58D8-444D-A089-5E7390308CB9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Self-play opponent pool 的建立與刷新</a:t>
            </a:r>
          </a:p>
        </p:txBody>
      </p:sp>
      <p:sp>
        <p:nvSpPr>
          <p:cNvPr id="2" name="text-1">
            <a:extLst>
              <a:ext uri="{FF2B5EF4-FFF2-40B4-BE49-F238E27FC236}">
                <ns2:creationId id="{E9201ED7-21A5-48DF-B521-F44662E4D5D0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只有完整、可執行且評估成功的 phenotype 可進入 library；依 candidate ID、Java hash 與完整語意簽章去重。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AC92CD7F-2E10-4C0E-B937-09090FBC0FA8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Library 容量 50，按 FIFO 保留；刷新時循環取最多 10 個來源，再填滿 10 個 evaluation slots。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3E81970D-F08F-4583-804D-15DDEBDE24DB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本設定每 5 代刷新；只跑 gen1–3，因此沿用 gen0 快照。若 context 不同，先重評父代再比較。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9</a:t>
            </a:fld>
          </a:p>
        </p:txBody>
      </p:sp>
    </p:spTree>
    <p:extLst>
      <p:ext uri="{BB962C8B-B14F-4D97-AF65-F5344CB8AC3E}">
        <ns3:creationId val="2105466957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26C9FBD7-DA34-4DB2-9D4A-04C3F4E503AC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評估對手、繁殖父代與倖存者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3500F345-E91F-4E36-B5E6-FD90DFCF80FD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4572000"/>
                <a:gridCol w="54483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用途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從哪裡選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選擇規則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Evaluation opponents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self-play snapshot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不是目前 breeding pool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library 循環來源 → 10 slots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同輪所有候選共用 context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Breeding parents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目前 evolving population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Game Performance 最高 tier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第二父代 tie 可看語意距離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Survivors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目前 parents + offspring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μ＋λ 選 2 人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tier 邊界用 seeded novelty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Final-test opponents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10 種共同測試對手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與搜尋 self-play pool 分開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champion 測試後不回饋搜尋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fld>
          </a:p>
        </p:txBody>
      </p:sp>
    </p:spTree>
    <p:extLst>
      <p:ext uri="{BB962C8B-B14F-4D97-AF65-F5344CB8AC3E}">
        <ns3:creationId val="1285791549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E4B7217C-2AB5-4CE9-B20C-A94E31B8773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每代變異：只有 Strategy Reflection</a:t>
            </a:r>
          </a:p>
        </p:txBody>
      </p:sp>
      <p:sp>
        <p:nvSpPr>
          <p:cNvPr id="2" name="text-1">
            <a:extLst>
              <a:ext uri="{FF2B5EF4-FFF2-40B4-BE49-F238E27FC236}">
                <ns2:creationId id="{7A85BC91-9207-4C84-B7DA-D511DBE7535F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先以 root seed 衍生各 slot 的父代、crossover 與 operator stream，再一次建立 2 個 offspring 計畫。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6AD89095-3E86-417F-9936-790AFB2F9A68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rate 0.75：從兩個父代選一份完整 policy；不拼接 rule 子樹，也不繼承 Java／generation prompt。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5F32D55C-A3CE-4FCB-B68E-8E5415074B2D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Mutation rate 1.0、Strategy probability 1：反思可改 policy；Code source gate、Prompt Mutation 都停用。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11</a:t>
            </a:fld>
          </a:p>
        </p:txBody>
      </p:sp>
    </p:spTree>
    <p:extLst>
      <p:ext uri="{BB962C8B-B14F-4D97-AF65-F5344CB8AC3E}">
        <ns3:creationId val="2040331407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3" name="">
            <a:extLst>
              <a:ext uri="{FF2B5EF4-FFF2-40B4-BE49-F238E27FC236}">
                <ns2:creationId id="{7D7D3CC8-F3C4-4C79-B4C1-C9AEBB745DF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9620250" y="5238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12A749BC-DC32-43E2-B9DD-FA8BFE83ADC0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191125" y="5238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386A57A8-8325-49CA-B5ED-544FA906C774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7905750" y="3429000"/>
            <a:ext cx="4429125" cy="13335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FF60BA48-217E-4B81-BA6D-25EECAE4CC96}"/>
              </a:ext>
            </a:extLst>
          </p:cNvPr>
          <p:cNvCxnSpPr>
            <a:stCxn id="2" idx="2"/>
            <a:endCxn id="5" idx="0"/>
          </p:cNvCxnSpPr>
          <p:nvPr/>
        </p:nvCxnSpPr>
        <p:spPr>
          <a:xfrm>
            <a:off x="3476625" y="3429000"/>
            <a:ext cx="0" cy="13335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1A2C067E-C754-4153-BD46-08B4CE78AC14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20250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E8003671-B9C9-4883-86A5-B7FFE76DE3D0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5" name="text-0">
            <a:extLst>
              <a:ext uri="{FF2B5EF4-FFF2-40B4-BE49-F238E27FC236}">
                <ns2:creationId id="{CC8BEA4F-AE49-4CFC-934F-0F40395624D4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 的證據來源</a:t>
            </a:r>
          </a:p>
        </p:txBody>
      </p:sp>
      <p:sp>
        <p:nvSpPr>
          <p:cNvPr id="2" name="parent">
            <a:extLst>
              <a:ext uri="{FF2B5EF4-FFF2-40B4-BE49-F238E27FC236}">
                <ns2:creationId id="{A0AAF6D1-56CF-4FD8-9EBE-5D51BADB78E4}"/>
              </a:ext>
            </a:extLst>
          </p:cNvPr>
          <p:cNvSpPr>
            <a:spLocks noGrp="1"/>
          </p:cNvSpPr>
          <p:nvPr/>
        </p:nvSpPr>
        <p:spPr>
          <a:xfrm>
            <a:off x="176212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記錄的 strategy_parent_id</a:t>
            </a:r>
          </a:p>
        </p:txBody>
      </p:sp>
      <p:sp>
        <p:nvSpPr>
          <p:cNvPr id="3" name="worst">
            <a:extLst>
              <a:ext uri="{FF2B5EF4-FFF2-40B4-BE49-F238E27FC236}">
                <ns2:creationId id="{C87D1862-C1AA-4119-B7F0-8A982FF7D1F3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已完成 matches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恰好選一場 worst</a:t>
            </a:r>
          </a:p>
        </p:txBody>
      </p:sp>
      <p:sp>
        <p:nvSpPr>
          <p:cNvPr id="4" name="commentator">
            <a:extLst>
              <a:ext uri="{FF2B5EF4-FFF2-40B4-BE49-F238E27FC236}">
                <ns2:creationId id="{12D0E2C5-9557-430A-8895-A6D28A47A73B}"/>
              </a:ext>
            </a:extLst>
          </p:cNvPr>
          <p:cNvSpPr>
            <a:spLocks noGrp="1"/>
          </p:cNvSpPr>
          <p:nvPr/>
        </p:nvSpPr>
        <p:spPr>
          <a:xfrm>
            <a:off x="1062037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Match Commentator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單場 trace → diagnosis</a:t>
            </a:r>
          </a:p>
        </p:txBody>
      </p:sp>
      <p:sp>
        <p:nvSpPr>
          <p:cNvPr id="5" name="summary">
            <a:extLst>
              <a:ext uri="{FF2B5EF4-FFF2-40B4-BE49-F238E27FC236}">
                <ns2:creationId id="{218289BA-0FFB-440F-9600-69BE4E41BE00}"/>
              </a:ext>
            </a:extLst>
          </p:cNvPr>
          <p:cNvSpPr>
            <a:spLocks noGrp="1"/>
          </p:cNvSpPr>
          <p:nvPr/>
        </p:nvSpPr>
        <p:spPr>
          <a:xfrm>
            <a:off x="176212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parent 全場摘要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global summary</a:t>
            </a:r>
          </a:p>
        </p:txBody>
      </p:sp>
      <p:sp>
        <p:nvSpPr>
          <p:cNvPr id="6" name="coach">
            <a:extLst>
              <a:ext uri="{FF2B5EF4-FFF2-40B4-BE49-F238E27FC236}">
                <ns2:creationId id="{D8DDB264-05C3-4B1E-A5C8-576575EE0118}"/>
              </a:ext>
            </a:extLst>
          </p:cNvPr>
          <p:cNvSpPr>
            <a:spLocks noGrp="1"/>
          </p:cNvSpPr>
          <p:nvPr/>
        </p:nvSpPr>
        <p:spPr>
          <a:xfrm>
            <a:off x="6191250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單場診斷＋全場摘要</a:t>
            </a:r>
          </a:p>
        </p:txBody>
      </p:sp>
      <p:sp>
        <p:nvSpPr>
          <p:cNvPr id="7" name="dsl">
            <a:extLst>
              <a:ext uri="{FF2B5EF4-FFF2-40B4-BE49-F238E27FC236}">
                <ns2:creationId id="{A854526B-4815-42E4-8B39-10C4F40668F4}"/>
              </a:ext>
            </a:extLst>
          </p:cNvPr>
          <p:cNvSpPr>
            <a:spLocks noGrp="1"/>
          </p:cNvSpPr>
          <p:nvPr/>
        </p:nvSpPr>
        <p:spPr>
          <a:xfrm>
            <a:off x="1062037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JSONL 完整 rules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驗證 → 新 policy</a:t>
            </a:r>
          </a:p>
        </p:txBody>
      </p:sp>
      <p:sp>
        <p:nvSpPr>
          <p:cNvPr id="14" name="text-13">
            <a:extLst>
              <a:ext uri="{FF2B5EF4-FFF2-40B4-BE49-F238E27FC236}">
                <ns2:creationId id="{28789349-04B9-4CA4-B9AB-A4BB112D95E0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單場診斷提供具體失敗證據；全場摘要保留整體表現</a:t>
            </a:r>
          </a:p>
        </p:txBody>
      </p:sp>
      <p:sp>
        <p:nvSpPr>
          <p:cNvPr id="1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12</a:t>
            </a:fld>
          </a:p>
        </p:txBody>
      </p:sp>
    </p:spTree>
    <p:extLst>
      <p:ext uri="{BB962C8B-B14F-4D97-AF65-F5344CB8AC3E}">
        <ns3:creationId val="1930277771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BEDF85D9-F4D5-4835-BBC7-FE2493A3A43F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JSONL：合法規則子集可形成策略</a:t>
            </a:r>
          </a:p>
        </p:txBody>
      </p:sp>
      <p:sp>
        <p:nvSpPr>
          <p:cNvPr id="2" name="text-1">
            <a:extLst>
              <a:ext uri="{FF2B5EF4-FFF2-40B4-BE49-F238E27FC236}">
                <ns2:creationId id="{FD568DD9-C050-4D71-A2D0-CC660CFD7582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每個實體行是一筆 strategy_rule record；Coach 使用 new_strategy_prompt，contract rewrite 使用 revised_strategy_prompt。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AA632DD9-B08E-4146-B8E8-73CBF6C67C0B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每條 rule 獨立驗證 actor／when／action；丟棄 malformed、錯欄位或語意不合法的整條規則，保留合法行順序。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A9448EEA-99BC-41AE-A6E0-41B67A43CC30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至少一條合法 rule 才成功；零條合法規則最多 3 次嘗試。耗盡可保留原 policy；transport exception 仍可能中止 run。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FEE8184B-B9AA-4338-A331-796ACA7A9815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compiler 接收的是完整、正規化 policy，不是未驗證的原始 JSONL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13</a:t>
            </a:fld>
          </a:p>
        </p:txBody>
      </p:sp>
    </p:spTree>
    <p:extLst>
      <p:ext uri="{BB962C8B-B14F-4D97-AF65-F5344CB8AC3E}">
        <ns3:creationId val="1496506278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AF4FB1AD-0946-4A78-BC6D-D197310328AF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5238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DA964155-605D-4B23-83BA-055F88A57C60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20250" y="5238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D9F4E5C8-0E0B-4814-AC1E-F7B55D44A69C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334875" y="3429000"/>
            <a:ext cx="0" cy="13335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0AB79258-EC3B-400C-9767-0AC1C60DE0C8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20250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6B37C0AF-DFF7-44E9-92D8-D13CA61C3322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4" name="text-0">
            <a:extLst>
              <a:ext uri="{FF2B5EF4-FFF2-40B4-BE49-F238E27FC236}">
                <ns2:creationId id="{6EE3E064-69A7-4C36-9C9A-3C2584767125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確定性 Java 物化與失敗邊界</a:t>
            </a:r>
          </a:p>
        </p:txBody>
      </p:sp>
      <p:sp>
        <p:nvSpPr>
          <p:cNvPr id="2" name="policy">
            <a:extLst>
              <a:ext uri="{FF2B5EF4-FFF2-40B4-BE49-F238E27FC236}">
                <ns2:creationId id="{BB1AA447-1F7C-4771-877B-DE66FF88B4D4}"/>
              </a:ext>
            </a:extLst>
          </p:cNvPr>
          <p:cNvSpPr>
            <a:spLocks noGrp="1"/>
          </p:cNvSpPr>
          <p:nvPr/>
        </p:nvSpPr>
        <p:spPr>
          <a:xfrm>
            <a:off x="176212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canonical DSL policy</a:t>
            </a:r>
          </a:p>
        </p:txBody>
      </p:sp>
      <p:sp>
        <p:nvSpPr>
          <p:cNvPr id="3" name="ir">
            <a:extLst>
              <a:ext uri="{FF2B5EF4-FFF2-40B4-BE49-F238E27FC236}">
                <ns2:creationId id="{4E4F8BC8-2724-4F76-8E7A-16B580263DF0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validate／normalize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建立 typed IR</a:t>
            </a:r>
          </a:p>
        </p:txBody>
      </p:sp>
      <p:sp>
        <p:nvSpPr>
          <p:cNvPr id="4" name="emit">
            <a:extLst>
              <a:ext uri="{FF2B5EF4-FFF2-40B4-BE49-F238E27FC236}">
                <ns2:creationId id="{CD2AA14A-3861-453F-9ACC-8F0C0A5EB0DE}"/>
              </a:ext>
            </a:extLst>
          </p:cNvPr>
          <p:cNvSpPr>
            <a:spLocks noGrp="1"/>
          </p:cNvSpPr>
          <p:nvPr/>
        </p:nvSpPr>
        <p:spPr>
          <a:xfrm>
            <a:off x="1062037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 compiler＋scaffold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phenotype</a:t>
            </a:r>
          </a:p>
        </p:txBody>
      </p:sp>
      <p:sp>
        <p:nvSpPr>
          <p:cNvPr id="5" name="validate">
            <a:extLst>
              <a:ext uri="{FF2B5EF4-FFF2-40B4-BE49-F238E27FC236}">
                <ns2:creationId id="{D779111E-D236-4C92-B232-9D3EFD53764C}"/>
              </a:ext>
            </a:extLst>
          </p:cNvPr>
          <p:cNvSpPr>
            <a:spLocks noGrp="1"/>
          </p:cNvSpPr>
          <p:nvPr/>
        </p:nvSpPr>
        <p:spPr>
          <a:xfrm>
            <a:off x="1062037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source validation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單次 javac、Integration</a:t>
            </a:r>
          </a:p>
        </p:txBody>
      </p:sp>
      <p:sp>
        <p:nvSpPr>
          <p:cNvPr id="6" name="game">
            <a:extLst>
              <a:ext uri="{FF2B5EF4-FFF2-40B4-BE49-F238E27FC236}">
                <ns2:creationId id="{2E312842-F04A-45CF-8E32-EF78C71EE3BB}"/>
              </a:ext>
            </a:extLst>
          </p:cNvPr>
          <p:cNvSpPr>
            <a:spLocks noGrp="1"/>
          </p:cNvSpPr>
          <p:nvPr/>
        </p:nvSpPr>
        <p:spPr>
          <a:xfrm>
            <a:off x="6191250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語意 probe、matches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fitness、diagnostics</a:t>
            </a:r>
          </a:p>
        </p:txBody>
      </p:sp>
      <p:sp>
        <p:nvSpPr>
          <p:cNvPr id="7" name="evidence">
            <a:extLst>
              <a:ext uri="{FF2B5EF4-FFF2-40B4-BE49-F238E27FC236}">
                <ns2:creationId id="{82BD72F1-9564-4FAF-8A18-53343CECE575}"/>
              </a:ext>
            </a:extLst>
          </p:cNvPr>
          <p:cNvSpPr>
            <a:spLocks noGrp="1"/>
          </p:cNvSpPr>
          <p:nvPr/>
        </p:nvSpPr>
        <p:spPr>
          <a:xfrm>
            <a:off x="176212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phenotype、hashes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result、lineage、timing</a:t>
            </a:r>
          </a:p>
        </p:txBody>
      </p:sp>
      <p:sp>
        <p:nvSpPr>
          <p:cNvPr id="13" name="text-12">
            <a:extLst>
              <a:ext uri="{FF2B5EF4-FFF2-40B4-BE49-F238E27FC236}">
                <ns2:creationId id="{73DAB732-E015-47EE-8BBC-61FA622D5C8F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編譯失敗：保留原階段證據與失敗候選；沒有 Java LLM fallback</a:t>
            </a:r>
          </a:p>
        </p:txBody>
      </p:sp>
      <p:sp>
        <p:nvSpPr>
          <p:cNvPr id="1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14</a:t>
            </a:fld>
          </a:p>
        </p:txBody>
      </p:sp>
    </p:spTree>
    <p:extLst>
      <p:ext uri="{BB962C8B-B14F-4D97-AF65-F5344CB8AC3E}">
        <ns3:creationId val="1020376365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F4715B0C-5B8A-4476-8BCA-F6FB291AFDDF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評估規模與 fitness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7F217C1D-49B1-4FF3-87AB-1DFD289683B2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5143500"/>
                <a:gridCol w="48768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本設定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用途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Search matrix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slots × 3 maps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× 3 rounds × 2 sides = 180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每個候選完成一次評估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slots 可重複同一來源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地圖與 tick limit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8×8：1500；16×16：3000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24×24：4000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雙方換邊、固定 match seeds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超時／失敗保留診斷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Game Performance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勝／和／敗基分 + bounded shaping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跨 completed matches 聚合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唯一 optimizer objective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Code Quality 只作診斷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Champion final-test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opponents × 3 maps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× 10 games × 2 sides = 600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正常完成後的共同測試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與 search fitness 分開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15</a:t>
            </a:fld>
          </a:p>
        </p:txBody>
      </p:sp>
    </p:spTree>
    <p:extLst>
      <p:ext uri="{BB962C8B-B14F-4D97-AF65-F5344CB8AC3E}">
        <ns3:creationId val="2097613360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89E6B97E-D2C7-487C-A407-2BF2836F32C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平行執行與固定整合順序</a:t>
            </a:r>
          </a:p>
        </p:txBody>
      </p:sp>
      <p:sp>
        <p:nvSpPr>
          <p:cNvPr id="2" name="text-1">
            <a:extLst>
              <a:ext uri="{FF2B5EF4-FFF2-40B4-BE49-F238E27FC236}">
                <ns2:creationId id="{6EBF2F42-CBCA-448B-88AA-38651A18DBCB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Runtime 固定 2 request slots、每 slot context 32768；兩個獨立 offspring 的反思工作可同時呼叫。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3BE707CA-683C-4A1E-8CF1-C4F9FD4821E8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DSL／Java preparation 可平行；完成全部 preparation 後才建立對手 pool。每個候選的 matches 用 10 workers。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DC19405E-8B44-4F34-8B7F-B5C2BDC6E589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parallel_map 按輸入順序回傳；父代／operator 計畫與 survivor 整合保留固定順序，跨 run 仍依序執行。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16</a:t>
            </a:fld>
          </a:p>
        </p:txBody>
      </p:sp>
    </p:spTree>
    <p:extLst>
      <p:ext uri="{BB962C8B-B14F-4D97-AF65-F5344CB8AC3E}">
        <ns3:creationId val="1360733121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5E8D9844-0951-4259-97FB-E4FD4988650D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三次 replicate 與資料夾續跑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7FBD66A1-ED1E-4EE4-9137-CFF417B75538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5048250"/>
                <a:gridCol w="4972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階段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experiment.yaml／run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恢復行為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展開 config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random_seeds [8]、runs 3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有效序列 [8,8,8]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run1、run2、run3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各自獨立目錄與 checkpoint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保存索引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 YAML filename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對應有序 run paths 清單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按 replicate slot 更新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不覆蓋其他 slot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--resume folder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核對每槽 config／effective seed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先處理未完成 indexed runs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已完成跳過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未啟動 replicate 接續建立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中斷時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以最後完整 generation 恢復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gen0 前失敗無 checkpoint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無可用 checkpoint 可建替代run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原始失敗證據保留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17</a:t>
            </a:fld>
          </a:p>
        </p:txBody>
      </p:sp>
    </p:spTree>
    <p:extLst>
      <p:ext uri="{BB962C8B-B14F-4D97-AF65-F5344CB8AC3E}">
        <ns3:creationId val="1002546748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551AC6E8-A2B2-498A-9901-53940558A48F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GPU 啟動：可用裝置與實際 offload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FF1A50C0-AE42-4352-891E-B5C13543DC0E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5048250"/>
                <a:gridCol w="4972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檢查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固定行為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不通過時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裝置 preflight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llama-server --list-devices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確認 CUDA／NVIDIA backend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停止啟動，不退回 CPU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要求全層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--n-gpu-layers 999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--fit off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禁止自動記憶體 fitting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載入失敗即保留錯誤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證據可見性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--log-verbosity 4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core INFO 才輸出 offload 行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server ready 不代表驗證成功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實際 full offload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只讀這次 child 的新 log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要求 offloaded N/N，N &gt; 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缺失／部分／stale 證據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停止 owned process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fld>
          </a:p>
        </p:txBody>
      </p:sp>
    </p:spTree>
    <p:extLst>
      <p:ext uri="{BB962C8B-B14F-4D97-AF65-F5344CB8AC3E}">
        <ns3:creationId val="1018165164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B0EAAAD3-E6EE-4C70-AC8D-54101D5B2B42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啟動量測：模型載入至 server ready</a:t>
            </a:r>
          </a:p>
        </p:txBody>
      </p:sp>
      <p:sp>
        <p:nvSpPr>
          <p:cNvPr id="2" name="text-1">
            <a:extLst>
              <a:ext uri="{FF2B5EF4-FFF2-40B4-BE49-F238E27FC236}">
                <ns2:creationId id="{B37AFB90-057B-494A-94DD-843E4554052F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249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RTX 5080／Ministral3 8B；單次貼文紀錄，n = 1</a:t>
            </a:r>
          </a:p>
        </p:txBody>
      </p:sp>
      <p:graphicFrame>
        <p:nvGraphicFramePr>
          <p:cNvPr id="3" name="Chart">
            <a:extLst>
              <a:ext uri="{FF2B5EF4-FFF2-40B4-BE49-F238E27FC236}">
                <ns2:creationId id="{F231C6B5-66FD-4B97-8DCB-4D668047DA97}"/>
              </a:ext>
            </a:extLst>
          </p:cNvPr>
          <p:cNvGraphicFramePr/>
          <p:nvPr/>
        </p:nvGraphicFramePr>
        <p:xfrm>
          <a:off x="2381250" y="2476500"/>
          <a:ext cx="11144250" cy="4333875"/>
        </p:xfrm>
        <a:graphic>
          <a:graphicData uri="http://schemas.openxmlformats.org/drawingml/2006/chart">
            <ns3:chart ns4:id="Rd38bc96b23504d10"/>
          </a:graphicData>
        </a:graphic>
      </p:graphicFrame>
      <p:sp>
        <p:nvSpPr>
          <p:cNvPr id="4" name="text-2">
            <a:extLst>
              <a:ext uri="{FF2B5EF4-FFF2-40B4-BE49-F238E27FC236}">
                <ns2:creationId id="{EEEDAC15-5B46-41FC-BFB2-A553442B41D8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兩段合計 7.068 秒；GPU 驗證仍失敗，未進入 generation 0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19</a:t>
            </a:fld>
          </a:p>
        </p:txBody>
      </p:sp>
    </p:spTree>
    <p:extLst>
      <p:ext uri="{BB962C8B-B14F-4D97-AF65-F5344CB8AC3E}">
        <ns5:creationId val="964051835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AD7C7D47-66FD-4A25-AB26-1B4FE69BCBDD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Reflection 與 Generation 提示的 DSL 更新</a:t>
            </a:r>
          </a:p>
        </p:txBody>
      </p:sp>
      <p:sp>
        <p:nvSpPr>
          <p:cNvPr id="2" name="text-1">
            <a:extLst>
              <a:ext uri="{FF2B5EF4-FFF2-40B4-BE49-F238E27FC236}">
                <ns2:creationId id="{E3F3CFF2-F81E-426F-8848-CF13F90657B5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Code diagnosis 以 rule index、actor／when／action 與 intrinsic semantics 指出 Java 不一致；合法空 rules 不再視為模糊策略。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DBB545A2-E656-4F7B-A558-4F4D22424687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meta rules 對齊規則順序、合法 action、target ties、hashed choose、reservations 與 fallback。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11BA4925-B7FC-490B-B7AB-C21FF094BF54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 meta prompt、反思後的 canonical 標頭、Java revision 與 compile repair 一起更新；Java／JSON 輸出契約保留。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B0B5B137-B01D-471D-8DC6-90E6C904208B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本設定不使用這些 LLM 提示；它們供 llm materialization 模式使用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fld>
          </a:p>
        </p:txBody>
      </p:sp>
    </p:spTree>
    <p:extLst>
      <p:ext uri="{BB962C8B-B14F-4D97-AF65-F5344CB8AC3E}">
        <ns3:creationId val="1401185452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5D186EDD-23E4-48EB-979C-184061BA98F8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目前的實驗結果與缺口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D39B0A16-16D7-4BD6-B3C2-AC6057379DC6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5143500"/>
                <a:gridCol w="48768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證據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已知狀態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可支持的結論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目標 seed 8 × 3 runs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遠端啟動在 gen0 前失敗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正式 manifests 未取得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不能報勝率／fitness trajectory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或完成三次實驗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本機 deterministic smoke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其他設定、population 1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semantic probe 曾回報錯誤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不是目標 config 的 benchmark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不拿零分作比較基準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10/13 workflow baseline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1fa6662e，LLM／inherited 模式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7，方法說明簡報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可比較方法與執行邊界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沒有共同成績量測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共同 final-test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目標 champion results 未提供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尚無可用版本間 outcome chart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不可用測試 PASS 取代勝率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21</a:t>
            </a:fld>
          </a:p>
        </p:txBody>
      </p:sp>
    </p:spTree>
    <p:extLst>
      <p:ext uri="{BB962C8B-B14F-4D97-AF65-F5344CB8AC3E}">
        <ns3:creationId val="933270202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B3045D44-9087-4A2C-94D5-3AF10DAFF8C4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已完成的程式驗證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41B6C396-3EA2-43BA-AE86-144FFCE88C44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5143500"/>
                <a:gridCol w="48768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範圍／版本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驗證紀錄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不代表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GPU／平行化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c401d99a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先前全套 603 tests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 skip：歷史 AllInBot fixture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不是 remote GPU 實跑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不是勝率或加速量測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DSL 提示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b536fd42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85 項 focused regressions 通過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含 meta prompt round-trip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未量測模型回應品質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GPU startup fix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94ab1869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49 項 runtime／launcher tests 通過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完整通過，partial／zero 拒絕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RTX 5080 尚未重跑確認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資料一致性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config parse 與 seed schedule 核對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diff checks 通過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不等於跨 backend 完全確定性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22</a:t>
            </a:fld>
          </a:p>
        </p:txBody>
      </p:sp>
    </p:spTree>
    <p:extLst>
      <p:ext uri="{BB962C8B-B14F-4D97-AF65-F5344CB8AC3E}">
        <ns3:creationId val="893699746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2BFE1377-2313-43DE-9F08-7162B30B977A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與 10/13 方法基準的比較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B0669E46-2499-4A91-B49C-431123E652CB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5048250"/>
                <a:gridCol w="4972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比較項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10/13：1fa6662e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10/14：94ab1869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有效 genotype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DSL policy、generation prompt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加 inherited Java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只有完整 DSL policy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 物化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 decoder／revision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compile-guided repair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compiler + scaffold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單次 javac，无 LLM repair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搜尋／執行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7、self_play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match workers 9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8、self_play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GPU mandatory、match workers 10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可支持的差異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方法基準，沒有實測對照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移除 Java LLM 工作可由契約確認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成功率／節省時間仍需量測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23</a:t>
            </a:fld>
          </a:p>
        </p:txBody>
      </p:sp>
    </p:spTree>
    <p:extLst>
      <p:ext uri="{BB962C8B-B14F-4D97-AF65-F5344CB8AC3E}">
        <ns3:creationId val="1860097751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DB648988-4983-4445-8FB4-3C714CCF6108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執行與資料夾 resume 指令</a:t>
            </a:r>
          </a:p>
        </p:txBody>
      </p:sp>
      <p:sp>
        <p:nvSpPr>
          <p:cNvPr id="2" name="text-1">
            <a:extLst>
              <a:ext uri="{FF2B5EF4-FFF2-40B4-BE49-F238E27FC236}">
                <ns2:creationId id="{C6B4574B-C1DA-48E5-8E75-4FF35F9ECA7E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開始（先同步 94ab1869 及前置變更）：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./experiment.sh \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  configs/experiments/1014_deterministic_dsl_3x2_seed8_3runs</a:t>
            </a:r>
          </a:p>
        </p:txBody>
      </p:sp>
      <p:sp>
        <p:nvSpPr>
          <p:cNvPr id="3" name="text-2">
            <a:extLst>
              <a:ext uri="{FF2B5EF4-FFF2-40B4-BE49-F238E27FC236}">
                <ns2:creationId id="{2C2CCA04-9ED3-41D7-BE84-79ACAA671E8B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中斷後接續：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./experiment.sh --resume \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  configs/experiments/1014_deterministic_dsl_3x2_seed8_3runs</a:t>
            </a:r>
          </a:p>
        </p:txBody>
      </p:sp>
      <p:sp>
        <p:nvSpPr>
          <p:cNvPr id="4" name="text-3">
            <a:extLst>
              <a:ext uri="{FF2B5EF4-FFF2-40B4-BE49-F238E27FC236}">
                <ns2:creationId id="{DAAF43CF-1CA2-4847-B7D4-8B5FC59ACA8A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檢查 experiment.yaml 的 3 個 run paths；每次保存 gen0、gen1–3 與 final-test。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24</a:t>
            </a:fld>
          </a:p>
        </p:txBody>
      </p:sp>
    </p:spTree>
    <p:extLst>
      <p:ext uri="{BB962C8B-B14F-4D97-AF65-F5344CB8AC3E}">
        <ns3:creationId val="1770057059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06E15298-A6F0-4D78-B035-7D480FB994A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完成三次 run 後要比較的證據</a:t>
            </a:r>
          </a:p>
        </p:txBody>
      </p:sp>
      <p:sp>
        <p:nvSpPr>
          <p:cNvPr id="2" name="text-1">
            <a:extLst>
              <a:ext uri="{FF2B5EF4-FFF2-40B4-BE49-F238E27FC236}">
                <ns2:creationId id="{83BC5219-E3D4-48C1-8187-36DEDA30B116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重複性：逐 run 比較 policy／Java hash、selected-parent lineage、每代 survivors 與 completed-match seeds。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DDB4FE33-B20B-4D17-A226-68E1DC8B905F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效能：統一 final-test roster／maps／seeds，報 W／D／L／E、Game Performance 與各 run 差異。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1949EDFB-8ECE-4D9B-A892-A0A0AA9C16E2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時間：gen0 單列，gen1–3 用已提交 timing 記錄；區分 run wall time、stage sums 與平行工作量。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25</a:t>
            </a:fld>
          </a:p>
        </p:txBody>
      </p:sp>
    </p:spTree>
    <p:extLst>
      <p:ext uri="{BB962C8B-B14F-4D97-AF65-F5344CB8AC3E}">
        <ns3:creationId val="1236350109"/>
      </p:ext>
    </p:extLst>
  </p:cSld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2026-10-14T16:02:27.3820000Z</dcterms:created>
  <dcterms:modified xsi:type="dcterms:W3CDTF">2026-10-14T16:02:27.3830000Z</dcterms:modified>
</coreProperties>
</file>