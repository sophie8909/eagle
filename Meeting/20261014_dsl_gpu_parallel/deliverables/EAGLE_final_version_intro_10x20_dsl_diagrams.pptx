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11df4aa1624f75" /><Relationship Type="http://schemas.openxmlformats.org/officeDocument/2006/relationships/extended-properties" Target="/docProps/app.xml" Id="R801a048e646843ad" /><Relationship Type="http://schemas.openxmlformats.org/officeDocument/2006/relationships/officeDocument" Target="/ppt/presentation.xml" Id="Re3aa09925e8440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efab42f467458d"/>
  </p:sldMasterIdLst>
  <p:notesMasterIdLst>
    <p:notesMasterId xmlns:r="http://schemas.openxmlformats.org/officeDocument/2006/relationships" r:id="Rb296e0a40be1433d"/>
  </p:notesMasterIdLst>
  <p:sldIdLst>
    <p:sldId xmlns:r="http://schemas.openxmlformats.org/officeDocument/2006/relationships" id="256" r:id="Rdf75406cf0684247"/>
    <p:sldId xmlns:r="http://schemas.openxmlformats.org/officeDocument/2006/relationships" id="257" r:id="R8c67f76dd23a43d5"/>
    <p:sldId xmlns:r="http://schemas.openxmlformats.org/officeDocument/2006/relationships" id="258" r:id="R1f71ed660b95411c"/>
    <p:sldId xmlns:r="http://schemas.openxmlformats.org/officeDocument/2006/relationships" id="259" r:id="R2e2edd01f1864ce5"/>
    <p:sldId xmlns:r="http://schemas.openxmlformats.org/officeDocument/2006/relationships" id="260" r:id="R2229d4b30d3443e6"/>
    <p:sldId xmlns:r="http://schemas.openxmlformats.org/officeDocument/2006/relationships" id="261" r:id="R0a3acd10df16401e"/>
    <p:sldId xmlns:r="http://schemas.openxmlformats.org/officeDocument/2006/relationships" id="262" r:id="R7b548fc355ef48da"/>
    <p:sldId xmlns:r="http://schemas.openxmlformats.org/officeDocument/2006/relationships" id="263" r:id="R39d9f9ae82214a9b"/>
    <p:sldId xmlns:r="http://schemas.openxmlformats.org/officeDocument/2006/relationships" id="264" r:id="R7b292a44154240c0"/>
    <p:sldId xmlns:r="http://schemas.openxmlformats.org/officeDocument/2006/relationships" id="265" r:id="Rcc6c9ef601aa4fbd"/>
    <p:sldId xmlns:r="http://schemas.openxmlformats.org/officeDocument/2006/relationships" id="266" r:id="R0de64d0e914b4bb5"/>
    <p:sldId xmlns:r="http://schemas.openxmlformats.org/officeDocument/2006/relationships" id="267" r:id="Ree30d26680ff43df"/>
    <p:sldId xmlns:r="http://schemas.openxmlformats.org/officeDocument/2006/relationships" id="268" r:id="Rd1fce773f27548e7"/>
    <p:sldId xmlns:r="http://schemas.openxmlformats.org/officeDocument/2006/relationships" id="269" r:id="R75f69aeac18a431a"/>
    <p:sldId xmlns:r="http://schemas.openxmlformats.org/officeDocument/2006/relationships" id="270" r:id="Ra6af17f4388f4384"/>
    <p:sldId xmlns:r="http://schemas.openxmlformats.org/officeDocument/2006/relationships" id="271" r:id="R6ef48becbc9e4358"/>
    <p:sldId xmlns:r="http://schemas.openxmlformats.org/officeDocument/2006/relationships" id="272" r:id="Rc24925ee187a427b"/>
    <p:sldId xmlns:r="http://schemas.openxmlformats.org/officeDocument/2006/relationships" id="273" r:id="R7d7015d30ce54a99"/>
    <p:sldId xmlns:r="http://schemas.openxmlformats.org/officeDocument/2006/relationships" id="274" r:id="Rcdef87e69157453b"/>
    <p:sldId xmlns:r="http://schemas.openxmlformats.org/officeDocument/2006/relationships" id="275" r:id="R040211e8901441bd"/>
  </p:sldIdLst>
  <p:sldSz cx="15925800" cy="8963025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8497E131-5584-4FF0-9A17-202609170001}">
  <a:tblStyle styleId="{8497E131-5584-4FF0-9A17-202609170001}" styleName="EAGLE 0917 Rose">
    <a:wholeTbl>
      <a:tcTxStyle b="off">
        <a:fontRef idx="minor">
          <a:srgbClr val="423C3B"/>
        </a:fontRef>
        <a:srgbClr val="423C3B"/>
      </a:tcTxStyle>
      <a:tcStyle>
        <a:tcBdr>
          <a:left>
            <a:ln w="6350">
              <a:solidFill>
                <a:srgbClr val="423C3B"/>
              </a:solidFill>
              <a:prstDash val="solid"/>
            </a:ln>
          </a:left>
          <a:right>
            <a:ln w="6350">
              <a:solidFill>
                <a:srgbClr val="423C3B"/>
              </a:solidFill>
              <a:prstDash val="solid"/>
            </a:ln>
          </a:right>
          <a:top>
            <a:ln w="6350">
              <a:solidFill>
                <a:srgbClr val="423C3B"/>
              </a:solidFill>
              <a:prstDash val="solid"/>
            </a:ln>
          </a:top>
          <a:bottom>
            <a:ln w="6350">
              <a:solidFill>
                <a:srgbClr val="423C3B"/>
              </a:solidFill>
              <a:prstDash val="solid"/>
            </a:ln>
          </a:bottom>
          <a:insideH>
            <a:ln w="6350">
              <a:solidFill>
                <a:srgbClr val="423C3B"/>
              </a:solidFill>
              <a:prstDash val="solid"/>
            </a:ln>
          </a:insideH>
          <a:insideV>
            <a:ln w="6350">
              <a:solidFill>
                <a:srgbClr val="423C3B"/>
              </a:solidFill>
              <a:prstDash val="solid"/>
            </a:ln>
          </a:insideV>
        </a:tcBdr>
        <a:fill>
          <a:solidFill>
            <a:srgbClr val="FCF8F5"/>
          </a:solidFill>
        </a:fill>
      </a:tcStyle>
    </a:wholeTbl>
    <a:firstRow>
      <a:tcTxStyle b="on">
        <a:fontRef idx="minor">
          <a:srgbClr val="423C3B"/>
        </a:fontRef>
        <a:srgbClr val="423C3B"/>
      </a:tcTxStyle>
      <a:tcStyle>
        <a:tcBdr>
          <a:left>
            <a:ln w="6350">
              <a:solidFill>
                <a:srgbClr val="423C3B"/>
              </a:solidFill>
              <a:prstDash val="solid"/>
            </a:ln>
          </a:left>
          <a:right>
            <a:ln w="6350">
              <a:solidFill>
                <a:srgbClr val="423C3B"/>
              </a:solidFill>
              <a:prstDash val="solid"/>
            </a:ln>
          </a:right>
          <a:top>
            <a:ln w="6350">
              <a:solidFill>
                <a:srgbClr val="423C3B"/>
              </a:solidFill>
              <a:prstDash val="solid"/>
            </a:ln>
          </a:top>
          <a:bottom>
            <a:ln w="6350">
              <a:solidFill>
                <a:srgbClr val="423C3B"/>
              </a:solidFill>
              <a:prstDash val="solid"/>
            </a:ln>
          </a:bottom>
          <a:insideH>
            <a:ln w="6350">
              <a:solidFill>
                <a:srgbClr val="423C3B"/>
              </a:solidFill>
              <a:prstDash val="solid"/>
            </a:ln>
          </a:insideH>
          <a:insideV>
            <a:ln w="6350">
              <a:solidFill>
                <a:srgbClr val="423C3B"/>
              </a:solidFill>
              <a:prstDash val="solid"/>
            </a:ln>
          </a:insideV>
        </a:tcBdr>
        <a:fill>
          <a:solidFill>
            <a:srgbClr val="DEB4BA"/>
          </a:solidFill>
        </a:fill>
      </a:tcStyle>
    </a:firstRow>
    <a:lastRow>
      <a:tcTxStyle b="on">
        <a:fontRef idx="minor">
          <a:srgbClr val="423C3B"/>
        </a:fontRef>
        <a:srgbClr val="423C3B"/>
      </a:tcTxStyle>
      <a:tcStyle>
        <a:tcBdr>
          <a:left>
            <a:ln w="6350">
              <a:solidFill>
                <a:srgbClr val="423C3B"/>
              </a:solidFill>
              <a:prstDash val="solid"/>
            </a:ln>
          </a:left>
          <a:right>
            <a:ln w="6350">
              <a:solidFill>
                <a:srgbClr val="423C3B"/>
              </a:solidFill>
              <a:prstDash val="solid"/>
            </a:ln>
          </a:right>
          <a:top>
            <a:ln w="6350">
              <a:solidFill>
                <a:srgbClr val="423C3B"/>
              </a:solidFill>
              <a:prstDash val="solid"/>
            </a:ln>
          </a:top>
          <a:bottom>
            <a:ln w="6350">
              <a:solidFill>
                <a:srgbClr val="423C3B"/>
              </a:solidFill>
              <a:prstDash val="solid"/>
            </a:ln>
          </a:bottom>
          <a:insideH>
            <a:ln w="6350">
              <a:solidFill>
                <a:srgbClr val="423C3B"/>
              </a:solidFill>
              <a:prstDash val="solid"/>
            </a:ln>
          </a:insideH>
          <a:insideV>
            <a:ln w="6350">
              <a:solidFill>
                <a:srgbClr val="423C3B"/>
              </a:solidFill>
              <a:prstDash val="solid"/>
            </a:ln>
          </a:insideV>
        </a:tcBdr>
        <a:fill>
          <a:solidFill>
            <a:srgbClr val="FAEDC6"/>
          </a:solidFill>
        </a:fill>
      </a:tcStyle>
    </a:la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4c7f57579e410b" /><Relationship Type="http://schemas.openxmlformats.org/officeDocument/2006/relationships/slideMaster" Target="/ppt/slideMasters/slideMaster1.xml" Id="R84efab42f467458d" /><Relationship Type="http://schemas.openxmlformats.org/officeDocument/2006/relationships/notesMaster" Target="/ppt/notesMasters/notesMaster1.xml" Id="Rb296e0a40be1433d" /><Relationship Type="http://schemas.openxmlformats.org/officeDocument/2006/relationships/presProps" Target="/ppt/presProps.xml" Id="Rd705d67f217a458b" /><Relationship Type="http://schemas.openxmlformats.org/officeDocument/2006/relationships/viewProps" Target="/ppt/viewProps.xml" Id="Re126f50a357743e1" /><Relationship Type="http://schemas.openxmlformats.org/officeDocument/2006/relationships/tableStyles" Target="/ppt/tableStyles.xml" Id="R51fc0e48a5ee4d25" /><Relationship Type="http://schemas.openxmlformats.org/officeDocument/2006/relationships/slide" Target="/ppt/slides/slide1.xml" Id="Rdf75406cf0684247" /><Relationship Type="http://schemas.openxmlformats.org/officeDocument/2006/relationships/slide" Target="/ppt/slides/slide2.xml" Id="R8c67f76dd23a43d5" /><Relationship Type="http://schemas.openxmlformats.org/officeDocument/2006/relationships/slide" Target="/ppt/slides/slide3.xml" Id="R1f71ed660b95411c" /><Relationship Type="http://schemas.openxmlformats.org/officeDocument/2006/relationships/slide" Target="/ppt/slides/slide4.xml" Id="R2e2edd01f1864ce5" /><Relationship Type="http://schemas.openxmlformats.org/officeDocument/2006/relationships/slide" Target="/ppt/slides/slide5.xml" Id="R2229d4b30d3443e6" /><Relationship Type="http://schemas.openxmlformats.org/officeDocument/2006/relationships/slide" Target="/ppt/slides/slide6.xml" Id="R0a3acd10df16401e" /><Relationship Type="http://schemas.openxmlformats.org/officeDocument/2006/relationships/slide" Target="/ppt/slides/slide7.xml" Id="R7b548fc355ef48da" /><Relationship Type="http://schemas.openxmlformats.org/officeDocument/2006/relationships/slide" Target="/ppt/slides/slide8.xml" Id="R39d9f9ae82214a9b" /><Relationship Type="http://schemas.openxmlformats.org/officeDocument/2006/relationships/slide" Target="/ppt/slides/slide9.xml" Id="R7b292a44154240c0" /><Relationship Type="http://schemas.openxmlformats.org/officeDocument/2006/relationships/slide" Target="/ppt/slides/slide10.xml" Id="Rcc6c9ef601aa4fbd" /><Relationship Type="http://schemas.openxmlformats.org/officeDocument/2006/relationships/slide" Target="/ppt/slides/slide11.xml" Id="R0de64d0e914b4bb5" /><Relationship Type="http://schemas.openxmlformats.org/officeDocument/2006/relationships/slide" Target="/ppt/slides/slide12.xml" Id="Ree30d26680ff43df" /><Relationship Type="http://schemas.openxmlformats.org/officeDocument/2006/relationships/slide" Target="/ppt/slides/slide13.xml" Id="Rd1fce773f27548e7" /><Relationship Type="http://schemas.openxmlformats.org/officeDocument/2006/relationships/slide" Target="/ppt/slides/slide14.xml" Id="R75f69aeac18a431a" /><Relationship Type="http://schemas.openxmlformats.org/officeDocument/2006/relationships/slide" Target="/ppt/slides/slide15.xml" Id="Ra6af17f4388f4384" /><Relationship Type="http://schemas.openxmlformats.org/officeDocument/2006/relationships/slide" Target="/ppt/slides/slide16.xml" Id="R6ef48becbc9e4358" /><Relationship Type="http://schemas.openxmlformats.org/officeDocument/2006/relationships/slide" Target="/ppt/slides/slide17.xml" Id="Rc24925ee187a427b" /><Relationship Type="http://schemas.openxmlformats.org/officeDocument/2006/relationships/slide" Target="/ppt/slides/slide18.xml" Id="R7d7015d30ce54a99" /><Relationship Type="http://schemas.openxmlformats.org/officeDocument/2006/relationships/slide" Target="/ppt/slides/slide19.xml" Id="Rcdef87e69157453b" /><Relationship Type="http://schemas.openxmlformats.org/officeDocument/2006/relationships/slide" Target="/ppt/slides/slide20.xml" Id="R040211e8901441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b6a8d2ddfc49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EAGLE">
  <a:themeElements>
    <a:clrScheme name="Meeting 0830 Rose &amp; Gold">
      <a:dk1>
        <a:srgbClr val="47171C"/>
      </a:dk1>
      <a:lt1>
        <a:srgbClr val="FCF8F5"/>
      </a:lt1>
      <a:dk2>
        <a:srgbClr val="423C3B"/>
      </a:dk2>
      <a:lt2>
        <a:srgbClr val="FFFFFF"/>
      </a:lt2>
      <a:accent1>
        <a:srgbClr val="CF8792"/>
      </a:accent1>
      <a:accent2>
        <a:srgbClr val="47171C"/>
      </a:accent2>
      <a:accent3>
        <a:srgbClr val="CF9BA5"/>
      </a:accent3>
      <a:accent4>
        <a:srgbClr val="C69B45"/>
      </a:accent4>
      <a:accent5>
        <a:srgbClr val="FAEDC6"/>
      </a:accent5>
      <a:accent6>
        <a:srgbClr val="423C3B"/>
      </a:accent6>
      <a:hlink>
        <a:srgbClr val="CF8792"/>
      </a:hlink>
      <a:folHlink>
        <a:srgbClr val="C69B45"/>
      </a:folHlink>
    </a:clrScheme>
    <a:fontScheme name="Office">
      <a:majorFont>
        <a:latin typeface="Source Han Serif TW"/>
        <a:ea typeface="Source Han Serif TW"/>
        <a:cs typeface="Source Han Serif TW"/>
      </a:majorFont>
      <a:minorFont>
        <a:latin typeface="Source Han Serif TW"/>
        <a:ea typeface="Source Han Serif TW"/>
        <a:cs typeface="Source Han Serif TW"/>
      </a:minorFont>
    </a:fontScheme>
    <a:fmtScheme name="Meeting 0830 Rose &amp; Gol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43e388e6664af5" /><Relationship Type="http://schemas.openxmlformats.org/officeDocument/2006/relationships/notesMaster" Target="/ppt/notesMasters/notesMaster1.xml" Id="R0059071dfb0d41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dc6de5cb014acf" /><Relationship Type="http://schemas.openxmlformats.org/officeDocument/2006/relationships/notesMaster" Target="/ppt/notesMasters/notesMaster1.xml" Id="R0f5e235e069446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cc3df66ebd4ebb" /><Relationship Type="http://schemas.openxmlformats.org/officeDocument/2006/relationships/notesMaster" Target="/ppt/notesMasters/notesMaster1.xml" Id="Re908e7b1d51f4ff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0b63f31c164bf1" /><Relationship Type="http://schemas.openxmlformats.org/officeDocument/2006/relationships/notesMaster" Target="/ppt/notesMasters/notesMaster1.xml" Id="Rcbd5d05ee7b149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20d9cc7f774a6e" /><Relationship Type="http://schemas.openxmlformats.org/officeDocument/2006/relationships/notesMaster" Target="/ppt/notesMasters/notesMaster1.xml" Id="R186088fb3a7d4d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a9b57ae01444f1" /><Relationship Type="http://schemas.openxmlformats.org/officeDocument/2006/relationships/notesMaster" Target="/ppt/notesMasters/notesMaster1.xml" Id="R740b662c50df486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ddcdc936ca2407e" /><Relationship Type="http://schemas.openxmlformats.org/officeDocument/2006/relationships/notesMaster" Target="/ppt/notesMasters/notesMaster1.xml" Id="R806a9c422338492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0170aa7e3e84f28" /><Relationship Type="http://schemas.openxmlformats.org/officeDocument/2006/relationships/notesMaster" Target="/ppt/notesMasters/notesMaster1.xml" Id="Rf945ca8e39d64fb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abe205e50341f7" /><Relationship Type="http://schemas.openxmlformats.org/officeDocument/2006/relationships/notesMaster" Target="/ppt/notesMasters/notesMaster1.xml" Id="Rfe8dbefd407f413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2e152c692334486" /><Relationship Type="http://schemas.openxmlformats.org/officeDocument/2006/relationships/notesMaster" Target="/ppt/notesMasters/notesMaster1.xml" Id="Rc4ce30e9bfdc4fe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4b3e9ca95234dcc" /><Relationship Type="http://schemas.openxmlformats.org/officeDocument/2006/relationships/notesMaster" Target="/ppt/notesMasters/notesMaster1.xml" Id="R300fa7296c03445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f58109d0ab04847" /><Relationship Type="http://schemas.openxmlformats.org/officeDocument/2006/relationships/notesMaster" Target="/ppt/notesMasters/notesMaster1.xml" Id="R4c6e2fa79c58471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1fb884fbd8a434c" /><Relationship Type="http://schemas.openxmlformats.org/officeDocument/2006/relationships/notesMaster" Target="/ppt/notesMasters/notesMaster1.xml" Id="R4ac448771c424f6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00dcfa876a345c6" /><Relationship Type="http://schemas.openxmlformats.org/officeDocument/2006/relationships/notesMaster" Target="/ppt/notesMasters/notesMaster1.xml" Id="R272e1edab5814a7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9417d96f5584173" /><Relationship Type="http://schemas.openxmlformats.org/officeDocument/2006/relationships/notesMaster" Target="/ppt/notesMasters/notesMaster1.xml" Id="R5b853ed548c74ec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f51779da10344a4" /><Relationship Type="http://schemas.openxmlformats.org/officeDocument/2006/relationships/notesMaster" Target="/ppt/notesMasters/notesMaster1.xml" Id="Ref39663f95fe41d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b1279c8c3c34682" /><Relationship Type="http://schemas.openxmlformats.org/officeDocument/2006/relationships/notesMaster" Target="/ppt/notesMasters/notesMaster1.xml" Id="Rbd04aa8bda8d48c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e7357321e07463e" /><Relationship Type="http://schemas.openxmlformats.org/officeDocument/2006/relationships/notesMaster" Target="/ppt/notesMasters/notesMaster1.xml" Id="R982b6149e54d457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dbba9b5344c4f60" /><Relationship Type="http://schemas.openxmlformats.org/officeDocument/2006/relationships/notesMaster" Target="/ppt/notesMasters/notesMaster1.xml" Id="R98e2d55474a9458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e7c8410fa034b01" /><Relationship Type="http://schemas.openxmlformats.org/officeDocument/2006/relationships/notesMaster" Target="/ppt/notesMasters/notesMaster1.xml" Id="R02cd54e5cf724e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本簡報介紹程式來源94ab1869的最終運作方式，標準實驗為population10、20個演化世代，gen0初始化另列。其餘設定沿用deterministic_dsl、seed8重複三次、Strategy-only self-play。說明設定、策略表示、初始化、反思、確定性編譯、評估、選擇、平行工作、GPU啟動與續跑。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程式來源：</a:t>
            </a:r>
          </a:p>
          <a:p xmlns:a="http://schemas.openxmlformats.org/drawingml/2006/main">
            <a:r>
              <a:t>configs/experiments/1015_deterministic_dsl_20x10_seed8_3runs/ministral3_8b_deterministic_dsl_20x10_seed8_3runs.yaml</a:t>
            </a:r>
          </a:p>
          <a:p xmlns:a="http://schemas.openxmlformats.org/drawingml/2006/main">
            <a:r>
              <a:t>eagle/runtime/processes.py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ExperimentConfig解析此self_play設定為game_performance_semantic_tiebreak。Gen0把單一WorkerRush policy複製為population_size=10，各候選有不同identity。有效genotype只有strategy_prompt；標準設定20個演化世代另有gen0初始化，三個獨立run的有效seed均為8。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程式來源：</a:t>
            </a:r>
          </a:p>
          <a:p xmlns:a="http://schemas.openxmlformats.org/drawingml/2006/main">
            <a:r>
              <a:t>configs/experiments/1015_deterministic_dsl_20x10_seed8_3runs/ministral3_8b_deterministic_dsl_20x10_seed8_3runs.yaml</a:t>
            </a:r>
          </a:p>
          <a:p xmlns:a="http://schemas.openxmlformats.org/drawingml/2006/main">
            <a:r>
              <a:t>eagle/config.py</a:t>
            </a:r>
          </a:p>
          <a:p xmlns:a="http://schemas.openxmlformats.org/drawingml/2006/main">
            <a:r>
              <a:t>eagle/operators/initialization.py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先完成GPU runtime啟動與config協定核對，gen0建立10個seed clones、編譯與bootstrap self-play評估，保存snapshot。gen1到gen20按序建立每代10個offspring，反思以2個LLM slots並行、結果固定排序；編譯與評估後以mu+lambda選10個survivors。第5、10、15、20代刷新對手快照並重評父代。stagnation門檻25高於20代預算，正常會先到代數上限。正常完成後共同final-test不回饋搜尋；外部exception/interrupt留下最後完整checkpoin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程式來源：</a:t>
            </a:r>
          </a:p>
          <a:p xmlns:a="http://schemas.openxmlformats.org/drawingml/2006/main">
            <a:r>
              <a:t>eagle/evolution/search.py</a:t>
            </a:r>
          </a:p>
          <a:p xmlns:a="http://schemas.openxmlformats.org/drawingml/2006/main">
            <a:r>
              <a:t>eagle/evolution/generation.py</a:t>
            </a:r>
          </a:p>
          <a:p xmlns:a="http://schemas.openxmlformats.org/drawingml/2006/main">
            <a:r>
              <a:t>eagle/final_test.py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策略格式eagle-strategy-dsl-v1，上限16000字元、32rules、conditiondepth6、booleanfanout8。規則包含actor單位類型、when條件、action合法動作。choose是合法動作子集上的確定性hash選擇，沒有persistent RNG。策略本身仍由LLM反思改變，確定性的是policy到Java的物化映射，不等於不使用LLM。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程式來源：</a:t>
            </a:r>
          </a:p>
          <a:p xmlns:a="http://schemas.openxmlformats.org/drawingml/2006/main">
            <a:r>
              <a:t>prompts/strategy_dsl_reference.txt</a:t>
            </a:r>
          </a:p>
          <a:p xmlns:a="http://schemas.openxmlformats.org/drawingml/2006/main">
            <a:r>
              <a:t>eagle/strategy_dsl.py</a:t>
            </a:r>
          </a:p>
          <a:p xmlns:a="http://schemas.openxmlformats.org/drawingml/2006/main">
            <a:r>
              <a:t>eagle/generation/dsl_java_compiler.py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先跳過不是我方或目前忙碌的單位。對每個閒置我方單位，從 rules 陣列第一條開始：actor 類型符合才判斷 when，when 成立才建立 action plan。目標、射程、路徑、資源、格子、遊戲合法性與本輪 reservations 都會影響 action 是否可發出。三層任一失敗就對同一個單位嘗試下一條規則，重新從 actor 檢查開始。只有成功 issue 才停止此單位的規則掃描。若所有規則失敗，輸出 TYPE_NONE（duration 10）。此圖把失敗分支分開畫，避免混淆成功路徑與重試路徑。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程式來源：</a:t>
            </a:r>
          </a:p>
          <a:p xmlns:a="http://schemas.openxmlformats.org/drawingml/2006/main">
            <a:r>
              <a:t>prompts/strategy_dsl_reference.txt</a:t>
            </a:r>
          </a:p>
          <a:p xmlns:a="http://schemas.openxmlformats.org/drawingml/2006/main">
            <a:r>
              <a:t>eagle/generation/dsl_java_compiler.py</a:t>
            </a:r>
          </a:p>
          <a:p xmlns:a="http://schemas.openxmlformats.org/drawingml/2006/main">
            <a:r>
              <a:t>eagle/java_templates/CandidateAgent.java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三條規則的 actor 都是 Worker。Rule 1 的 when 是 actor_resources &gt; 0，因此攜帶 0 時條件失敗，不執行 return。Rule 2 的 when 是 true；attack 會先將目標過濾為當前射程內可合法攻擊的敵方單位，示例中沒有任何合法目標，因此 plan 為 null 並繼續下一條規則。Rule 3 的 when 是 true，Worker 未攜帶資源，旁邊有 Resource，且採集動作通過遊戲與 reservation 檢查，所以發出一個 harvest primitive，終止此單位的掃描。此例的 harvest 目標已相鄰；非相鄰時可能發出朝資源前進的一步。attack 不會自動追敵；engage 才可在射程外嘗試走一步。所有數值為教學示例，非實驗結果。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程式來源：</a:t>
            </a:r>
          </a:p>
          <a:p xmlns:a="http://schemas.openxmlformats.org/drawingml/2006/main">
            <a:r>
              <a:t>prompts/strategy_dsl_reference.txt</a:t>
            </a:r>
          </a:p>
          <a:p xmlns:a="http://schemas.openxmlformats.org/drawingml/2006/main">
            <a:r>
              <a:t>eagle/generation/dsl_java_compiler.py</a:t>
            </a:r>
          </a:p>
          <a:p xmlns:a="http://schemas.openxmlformats.org/drawingml/2006/main">
            <a:r>
              <a:t>eagle/java_templates/CandidateAgent.java</a:t>
            </a:r>
          </a:p>
          <a:p xmlns:a="http://schemas.openxmlformats.org/drawingml/2006/main">
            <a:r>
              <a:t>本頁數值／個體為說明演算法的教學示例，非實驗量測。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閒置我方單位按 unit ID 升序決策，因此 Base ID 10 先於 ID 20。兩者都使用 actor Base、when stockpile &gt;= 1、action train Worker（first_free_adjacent）的規則，後面放一條 when true、action idle。stockpile 條件讀取當前 GameState 的資源；在同一次 PlayerAction 組裝中它仍是 1，並不因預留直接被改成 0。ID 10 成功發出 train 後，commandPlannedAction 把成本 1 與出生格併入 context.reservations。ID 20 的 when 仍成立，但 action 的 resourceUsage 與 reservations 不相容，因此無法再次消耗同一份資源，繼續下一條 idle 規則。資源的實際扣除與單位完成生產由遊戲引擎處理，不能把預留誤稱為即時完成生產。本輪可用資源的說明值為現有資源減已預留資源。位置同樣不可重複預留；後續單位會另選合法格子，找不到才 fallback。示例未量測實驗。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程式來源：</a:t>
            </a:r>
          </a:p>
          <a:p xmlns:a="http://schemas.openxmlformats.org/drawingml/2006/main">
            <a:r>
              <a:t>prompts/strategy_dsl_reference.txt</a:t>
            </a:r>
          </a:p>
          <a:p xmlns:a="http://schemas.openxmlformats.org/drawingml/2006/main">
            <a:r>
              <a:t>eagle/generation/dsl_java_compiler.py</a:t>
            </a:r>
          </a:p>
          <a:p xmlns:a="http://schemas.openxmlformats.org/drawingml/2006/main">
            <a:r>
              <a:t>eagle/java_templates/CandidateAgent.java</a:t>
            </a:r>
          </a:p>
          <a:p xmlns:a="http://schemas.openxmlformats.org/drawingml/2006/main">
            <a:r>
              <a:t>本頁數值／個體為說明演算法的教學示例，非實驗量測。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fallback 並非另找 LLM 改策略，而是執行已編譯的同一份規則陣列時，對當前單位繼續向下試。合法 action 一旦加入本輪 PlayerAction 就停止當前單位的規則掃描，之後處理下一個閒置我方單位。explicit idle 是合法動作，會發出 TYPE_NONE duration 10，並停止掃描；若把 actor 符合、when=true 的 idle 放得太前面，會擋住該類型單位的後續規則。所有規則皆失敗時，compiler 同樣為該單位輸出 TYPE_NONE duration 10。忙碌單位不進入此輪規則掃描。cycle 在此是 AI 決策呼叫，不等於 10 個資源 tick 或實驗的 evolutionary generation。動作跨 tick 執行；單位再次閒置才會再被規則處理。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程式來源：</a:t>
            </a:r>
          </a:p>
          <a:p xmlns:a="http://schemas.openxmlformats.org/drawingml/2006/main">
            <a:r>
              <a:t>prompts/strategy_dsl_reference.txt</a:t>
            </a:r>
          </a:p>
          <a:p xmlns:a="http://schemas.openxmlformats.org/drawingml/2006/main">
            <a:r>
              <a:t>eagle/generation/dsl_java_compiler.py</a:t>
            </a:r>
          </a:p>
          <a:p xmlns:a="http://schemas.openxmlformats.org/drawingml/2006/main">
            <a:r>
              <a:t>eagle/java_templates/CandidateAgent.java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初始化clone不是多樣化，10個policy相同。初始bootstrap評估由compiled候選提供對手；之後library去重可能將10個identicalJava候選縮為一個source。snapshotcontext改變時，gen1必須先更新父代fitness，而不是無條件重用gen0分數。相同context後可reuse_cache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程式來源：</a:t>
            </a:r>
          </a:p>
          <a:p xmlns:a="http://schemas.openxmlformats.org/drawingml/2006/main">
            <a:r>
              <a:t>eagle/operators/initialization.py</a:t>
            </a:r>
          </a:p>
          <a:p xmlns:a="http://schemas.openxmlformats.org/drawingml/2006/main">
            <a:r>
              <a:t>eagle/evolution/search.py</a:t>
            </a:r>
          </a:p>
          <a:p xmlns:a="http://schemas.openxmlformats.org/drawingml/2006/main">
            <a:r>
              <a:t>eagle/evolution/generation.py</a:t>
            </a:r>
          </a:p>
          <a:p xmlns:a="http://schemas.openxmlformats.org/drawingml/2006/main">
            <a:r>
              <a:t>eagle/self_play.py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select_self_play_library_candidates依libraryorder，以epoch=generation//refresh_interval與source_count=min(N,10)決定start=(epoch*source_count)%N，再循環填滿10slots。Gen0的10個相同Java候選在libraryhash去重後通常只剩一個source；gen1可因contextmigration重評父代。第5、10、15、20代加入當代可執行parents、刷新對手快照並重評父代。兩個刷新點之間，context一致時可reuse_cached。Library容量50、FIFO保留；每輪候選共享相同contex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程式來源：</a:t>
            </a:r>
          </a:p>
          <a:p xmlns:a="http://schemas.openxmlformats.org/drawingml/2006/main">
            <a:r>
              <a:t>eagle/self_play.py</a:t>
            </a:r>
          </a:p>
          <a:p xmlns:a="http://schemas.openxmlformats.org/drawingml/2006/main">
            <a:r>
              <a:t>eagle/evaluation/opponents.py</a:t>
            </a:r>
          </a:p>
          <a:p xmlns:a="http://schemas.openxmlformats.org/drawingml/2006/main">
            <a:r>
              <a:t>eagle/evolution/generation.py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GamePerformance的tier不是鏈式鄰近合併，最高分往下1.0以內屬tier。父代A在top tier選擇，B可用A語意簽章當reference。survivor先保留完整較好score tiers，容量截斷的tier才用farthest-first語意新穎度，不讓semantic distance把較差tier提升。missing/incompatible簽章走seeded fallback。finaltest固定roster，不混同搜尋的selfplay_000–009slots。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程式來源：</a:t>
            </a:r>
          </a:p>
          <a:p xmlns:a="http://schemas.openxmlformats.org/drawingml/2006/main">
            <a:r>
              <a:t>eagle/operators/selection.py</a:t>
            </a:r>
          </a:p>
          <a:p xmlns:a="http://schemas.openxmlformats.org/drawingml/2006/main">
            <a:r>
              <a:t>eagle/evolution/offspring.py</a:t>
            </a:r>
          </a:p>
          <a:p xmlns:a="http://schemas.openxmlformats.org/drawingml/2006/main">
            <a:r>
              <a:t>eagle/self_play.py</a:t>
            </a:r>
          </a:p>
          <a:p xmlns:a="http://schemas.openxmlformats.org/drawingml/2006/main">
            <a:r>
              <a:t>eagle/final_test.py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plan_offspring先依rootseed衍生父代、crossover與operator的taskstreams。deterministic模式以整份策略作crossover的選擇單位，strategy_parent_id記錄策略來源。每代有10個offspring，mutation_rate=1且Strategy probability=1。先serial決定計畫，再並行reflection，最後按slot順序整合。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程式來源：</a:t>
            </a:r>
          </a:p>
          <a:p xmlns:a="http://schemas.openxmlformats.org/drawingml/2006/main">
            <a:r>
              <a:t>eagle/evolution/offspring.py</a:t>
            </a:r>
          </a:p>
          <a:p xmlns:a="http://schemas.openxmlformats.org/drawingml/2006/main">
            <a:r>
              <a:t>eagle/operators/crossover.py</a:t>
            </a:r>
          </a:p>
          <a:p xmlns:a="http://schemas.openxmlformats.org/drawingml/2006/main">
            <a:r>
              <a:t>eagle/execution.py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選擇只從記錄的strategy_parent_id對應parent已完成matches中挑最低有限performance的一場；若無有限score，依loss=-100、draw=0、win=100 fallback。stablematch_id打破tie；failedmatches排除。Commentator看到該場canonicaltrace；Coach看到一份diagnosis與parent全部matches的global summary。JSONL結果經驗證後形成策略基因。缺trace不換成另一場。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程式來源：</a:t>
            </a:r>
          </a:p>
          <a:p xmlns:a="http://schemas.openxmlformats.org/drawingml/2006/main">
            <a:r>
              <a:t>eagle/operators/context.py</a:t>
            </a:r>
          </a:p>
          <a:p xmlns:a="http://schemas.openxmlformats.org/drawingml/2006/main">
            <a:r>
              <a:t>eagle/operators/strategy.py</a:t>
            </a:r>
          </a:p>
          <a:p xmlns:a="http://schemas.openxmlformats.org/drawingml/2006/main">
            <a:r>
              <a:t>docs/architecture/mutation.md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Coach輸出rule-per-lineJSONL，每個record使用new_strategy_prompt；策略contractrewrite使用revised_strategy_prompt。Parser獨立驗證每條rule，不修補非法子樹，按原始行序保留合法規則。Coach回應需要至少一條合法strategy_rule；這與完整DSL空rules的idle語意不同。最多三次嘗試，正常解析失敗耗盡可保留parentpolicy；backend/server例外仍可能中止ru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程式來源：</a:t>
            </a:r>
          </a:p>
          <a:p xmlns:a="http://schemas.openxmlformats.org/drawingml/2006/main">
            <a:r>
              <a:t>eagle/strategy_dsl.py</a:t>
            </a:r>
          </a:p>
          <a:p xmlns:a="http://schemas.openxmlformats.org/drawingml/2006/main">
            <a:r>
              <a:t>eagle/operators/strategy.py</a:t>
            </a:r>
          </a:p>
          <a:p xmlns:a="http://schemas.openxmlformats.org/drawingml/2006/main">
            <a:r>
              <a:t>prompts/coach_refine.txt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DSLcompiler先validate/normalize，生成typedIR，再用eagle-dsl-java-v1與固定scaffold發射完整source。下游一般validation、單次javac與integration維持，probe/matches有自身diagnostics。deterministic模式沒有JavaGeneration、CodeReflection、PromptReflection或compile-repairLLM。compiler/validation/javacfailure保持實際failurestage與source/hash，不假裝進入遊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程式來源：</a:t>
            </a:r>
          </a:p>
          <a:p xmlns:a="http://schemas.openxmlformats.org/drawingml/2006/main">
            <a:r>
              <a:t>eagle/generation/dsl_java_compiler.py</a:t>
            </a:r>
          </a:p>
          <a:p xmlns:a="http://schemas.openxmlformats.org/drawingml/2006/main">
            <a:r>
              <a:t>eagle/evaluation/decoding.py</a:t>
            </a:r>
          </a:p>
          <a:p xmlns:a="http://schemas.openxmlformats.org/drawingml/2006/main">
            <a:r>
              <a:t>eagle/evaluation/pipeline.py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game_performance使用每場result100/0/-100加[-10,10]shaping，以詳細telemetry計算資源及軍力等訊號，不等同winrate。semanticprobe為1.0tier tie新穎度，不能突破fitness tiers。finaltest若非mock且未skip在正常runcomplete後進行；中斷/失敗時不跑。180與600是定義的matrix大小，不是已完成場數。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程式來源：</a:t>
            </a:r>
          </a:p>
          <a:p xmlns:a="http://schemas.openxmlformats.org/drawingml/2006/main">
            <a:r>
              <a:t>eagle/evaluation/game_performance.py</a:t>
            </a:r>
          </a:p>
          <a:p xmlns:a="http://schemas.openxmlformats.org/drawingml/2006/main">
            <a:r>
              <a:t>eagle/evaluation/game_metrics.py</a:t>
            </a:r>
          </a:p>
          <a:p xmlns:a="http://schemas.openxmlformats.org/drawingml/2006/main">
            <a:r>
              <a:t>eagle/opponent_cases.py</a:t>
            </a:r>
          </a:p>
          <a:p xmlns:a="http://schemas.openxmlformats.org/drawingml/2006/main">
            <a:r>
              <a:t>eagle/final_test.py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LLM_WORKERS=2、MODEL_THREADS=8、MATCH_WORKERS=10為固定執行政策。每slotcontext32768使serverctx-size=65536。Population10代表每代10個offspring，不代表10個LLMslots；獨立反思最多兩請求並行。Candidate preparation可並行，全部完成後才建立對手pool；候選評估按序，每候選180matches用10workers。parallel_map依輸入順序回傳，taskseed穩定，三個runs依序執行。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程式來源：</a:t>
            </a:r>
          </a:p>
          <a:p xmlns:a="http://schemas.openxmlformats.org/drawingml/2006/main">
            <a:r>
              <a:t>eagle/execution.py</a:t>
            </a:r>
          </a:p>
          <a:p xmlns:a="http://schemas.openxmlformats.org/drawingml/2006/main">
            <a:r>
              <a:t>eagle/runtime/processes.py</a:t>
            </a:r>
          </a:p>
          <a:p xmlns:a="http://schemas.openxmlformats.org/drawingml/2006/main">
            <a:r>
              <a:t>eagle/evaluation/pipeline.py</a:t>
            </a:r>
          </a:p>
          <a:p xmlns:a="http://schemas.openxmlformats.org/drawingml/2006/main">
            <a:r>
              <a:t>eagle/evaluation/matches.py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索引schemaeagle-experiment-index-v1；source config的runs跟random_seeds展開成orderedslots。路徑是實際run_dirs，由on_run_created更新。resume不可將不相容policyformat/compiler/scaffold默默轉換。三次同seed是重複性檢查，不能把它當三個獨立randomseed樣本；GPU/runtime差異仍需用hash與timing檢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程式來源：</a:t>
            </a:r>
          </a:p>
          <a:p xmlns:a="http://schemas.openxmlformats.org/drawingml/2006/main">
            <a:r>
              <a:t>eagle/experiment.py</a:t>
            </a:r>
          </a:p>
          <a:p xmlns:a="http://schemas.openxmlformats.org/drawingml/2006/main">
            <a:r>
              <a:t>eagle/evolution/resume.py</a:t>
            </a:r>
          </a:p>
          <a:p xmlns:a="http://schemas.openxmlformats.org/drawingml/2006/main">
            <a:r>
              <a:t>docs/operations/running_eagle.md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Runtime先以--list-devices確認CUDA/NVIDIAbackend，再以--n-gpu-layers999、--fitoff要求完整model-layeroffload。--log-verbosity4讓core模型資訊可見。啟動成功需要serverhealth與本次ownedchild的新log都通過；offloadedN/N且N&gt;0才接受。缺失、部分或stale證據停止ownedprocess。此要求針對model-layerGPU執行，其他CPU上的runtime或MicroRTS工作仍依一般流程進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程式來源：</a:t>
            </a:r>
          </a:p>
          <a:p xmlns:a="http://schemas.openxmlformats.org/drawingml/2006/main">
            <a:r>
              <a:t>eagle/runtime/processes.py</a:t>
            </a:r>
          </a:p>
          <a:p xmlns:a="http://schemas.openxmlformats.org/drawingml/2006/main">
            <a:r>
              <a:t>eagle/runtime/config.py</a:t>
            </a:r>
          </a:p>
          <a:p xmlns:a="http://schemas.openxmlformats.org/drawingml/2006/main">
            <a:r>
              <a:t>tests/test_runtime_workflow.py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從EAGLErepo root執行experiment.sh。config保持deterministic_dsl、runs3與random_seeds[8]。首次執行建立每個run目錄與有序索引；folderresume依experiment.yaml找到未完成的run，從最後完整checkpoint接續，完成者跳過。gen0前沒有可用checkpoint時可建立替代run。正常完成且未指定skip-final-test時，run接著執行champion共同final-tes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程式來源：</a:t>
            </a:r>
          </a:p>
          <a:p xmlns:a="http://schemas.openxmlformats.org/drawingml/2006/main">
            <a:r>
              <a:t>experiment.sh</a:t>
            </a:r>
          </a:p>
          <a:p xmlns:a="http://schemas.openxmlformats.org/drawingml/2006/main">
            <a:r>
              <a:t>eagle/cli/experiment.py</a:t>
            </a:r>
          </a:p>
          <a:p xmlns:a="http://schemas.openxmlformats.org/drawingml/2006/main">
            <a:r>
              <a:t>eagle/experiment.py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bbacddaf2a43a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4282a7d08940a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b229daadee4cd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42fdd2f1c2466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76b829aeac458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2af335babf460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b9808ca46a43e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76aee5d5b34cf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0297f9fe3f4bb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5f848e0a66453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b8c4ac5515417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39f41895934535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9f71c6b75f4550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83d7ec611443d1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5d5b9e188940f8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a49271e5a44b9c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3d5e3979874530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574391b1394860" /></Relationships>
</file>

<file path=ppt/slideLayouts/slideLayout1.xml><?xml version="1.0" encoding="utf-8"?>
<p:sldLayout xmlns:p="http://schemas.openxmlformats.org/presentationml/2006/main" type="title" preserve="1">
  <p:cSld name="封面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2F34C9E6-C370-4CE6-8C49-57861F01F240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476500" y="2762250"/>
            <a:ext cx="10972800" cy="13335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7A0C5AD2-9560-46CF-A557-9D96775B73B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857500" y="4429125"/>
            <a:ext cx="10210800" cy="9525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2D779401-8411-4F57-B364-00A08D3D0F78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94FF8C53-65A6-4BE2-B1C3-0860FCD540B7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2.xml><?xml version="1.0" encoding="utf-8"?>
<p:sldLayout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E3969E06-0C81-48D2-BB37-515771E13DCE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476500" y="3238500"/>
            <a:ext cx="10972800" cy="12382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2">
            <a:extLst xmlns:a="http://schemas.openxmlformats.org/drawingml/2006/main">
              <a:ext uri="{FF2B5EF4-FFF2-40B4-BE49-F238E27FC236}">
                <a16:creationId xmlns:a16="http://schemas.microsoft.com/office/drawing/2014/main" id="{590865AA-9D35-4748-91A3-B387D561BA4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048000" y="4714875"/>
            <a:ext cx="9829800" cy="8572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按一下以新增章節說明</a:t>
            </a:r>
          </a:p>
        </p:txBody>
      </p:sp>
      <p:sp>
        <p:nvSpPr>
          <p:cNvPr id="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EEA91A40-BDBE-4EF8-AB1C-C163BF4B89CC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1DC12639-B266-46C5-BCF3-45A4D32AE42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3.xml><?xml version="1.0" encoding="utf-8"?>
<p:sldLayout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6EC4DF72-535F-4440-B07D-46BAD5D2A2AE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51353937-B2B6-48C4-A2B5-2F27B15E716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92425B3F-3430-4EDE-B5B3-73C027E72E1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130683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5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E4F8BDA3-F257-4248-9C77-277658BEC422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1ED4EB3D-E8EE-422C-AC16-9B2450B7C42F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4.xml><?xml version="1.0" encoding="utf-8"?>
<p:sldLayout xmlns:p="http://schemas.openxmlformats.org/presentationml/2006/main" type="twoObj" preserve="1">
  <p:cSld name="兩項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3A4791D8-472B-4CB1-9BF5-68D6DDA5E08C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302C0C6D-C490-4DDF-92D9-E216E08E1CE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0892CF96-6BB8-469E-8C05-16E66270671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630555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5" name="EAGLE_3">
            <a:extLst xmlns:a="http://schemas.openxmlformats.org/drawingml/2006/main">
              <a:ext uri="{FF2B5EF4-FFF2-40B4-BE49-F238E27FC236}">
                <a16:creationId xmlns:a16="http://schemas.microsoft.com/office/drawing/2014/main" id="{00538733-DF1C-4D96-92B6-38724A005A9A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8191500" y="2619375"/>
            <a:ext cx="630555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5D5331F0-3B10-4BF6-A2A3-3DEA2BDE8911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58176649-BADB-4675-AA89-5F227F3F3954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5.xml><?xml version="1.0" encoding="utf-8"?>
<p:sldLayout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C4DD0E43-2CD7-44D8-A8DE-10D092170A60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076D8F65-D3F7-4349-B3FE-19769F62948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E2F427F0-C955-46A6-9858-9A50C0C635E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571750"/>
            <a:ext cx="6305550" cy="6191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按一下以新增欄位標題</a:t>
            </a:r>
          </a:p>
        </p:txBody>
      </p:sp>
      <p:sp>
        <p:nvSpPr>
          <p:cNvPr id="5" name="EAGLE_4">
            <a:extLst xmlns:a="http://schemas.openxmlformats.org/drawingml/2006/main">
              <a:ext uri="{FF2B5EF4-FFF2-40B4-BE49-F238E27FC236}">
                <a16:creationId xmlns:a16="http://schemas.microsoft.com/office/drawing/2014/main" id="{3BB99614-5410-42D4-8D56-3C67339DE590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1428750" y="3476625"/>
            <a:ext cx="6305550" cy="40481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6" name="EAGLE_3">
            <a:extLst xmlns:a="http://schemas.openxmlformats.org/drawingml/2006/main">
              <a:ext uri="{FF2B5EF4-FFF2-40B4-BE49-F238E27FC236}">
                <a16:creationId xmlns:a16="http://schemas.microsoft.com/office/drawing/2014/main" id="{A31AD1B3-6BB9-4504-B9C5-087515F7D2D4}"/>
              </a:ext>
            </a:extLst>
          </p:cNvPr>
          <p:cNvSpPr>
            <a:spLocks xmlns:a="http://schemas.openxmlformats.org/drawingml/2006/main" noGrp="1"/>
          </p:cNvSpPr>
          <p:nvPr>
            <p:ph idx="5"/>
          </p:nvPr>
        </p:nvSpPr>
        <p:spPr>
          <a:xfrm xmlns:a="http://schemas.openxmlformats.org/drawingml/2006/main">
            <a:off x="8191500" y="2571750"/>
            <a:ext cx="6305550" cy="6191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按一下以新增欄位標題</a:t>
            </a:r>
          </a:p>
        </p:txBody>
      </p:sp>
      <p:sp>
        <p:nvSpPr>
          <p:cNvPr id="7" name="EAGLE_5">
            <a:extLst xmlns:a="http://schemas.openxmlformats.org/drawingml/2006/main">
              <a:ext uri="{FF2B5EF4-FFF2-40B4-BE49-F238E27FC236}">
                <a16:creationId xmlns:a16="http://schemas.microsoft.com/office/drawing/2014/main" id="{31D81A76-EB56-426E-8AAB-C05D479E14FD}"/>
              </a:ext>
            </a:extLst>
          </p:cNvPr>
          <p:cNvSpPr>
            <a:spLocks xmlns:a="http://schemas.openxmlformats.org/drawingml/2006/main" noGrp="1"/>
          </p:cNvSpPr>
          <p:nvPr>
            <p:ph idx="5"/>
          </p:nvPr>
        </p:nvSpPr>
        <p:spPr>
          <a:xfrm xmlns:a="http://schemas.openxmlformats.org/drawingml/2006/main">
            <a:off x="8191500" y="3476625"/>
            <a:ext cx="6305550" cy="40481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8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90BDD597-05AF-4E7D-B7DE-872D8C1368D1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DAAEABEC-89D6-436E-9471-497DE5F8CC71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6.xml><?xml version="1.0" encoding="utf-8"?>
<p:sldLayout xmlns:p="http://schemas.openxmlformats.org/presentationml/2006/main" preserve="1">
  <p:cSld name="三欄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D22686DD-6022-4F4D-883C-A3A2AE4FE63B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6D6AF434-5A04-42F0-BBFA-BC92C579986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FEB69765-384F-41D2-A24F-900B0409C29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40386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5" name="EAGLE_3">
            <a:extLst xmlns:a="http://schemas.openxmlformats.org/drawingml/2006/main">
              <a:ext uri="{FF2B5EF4-FFF2-40B4-BE49-F238E27FC236}">
                <a16:creationId xmlns:a16="http://schemas.microsoft.com/office/drawing/2014/main" id="{BB259B69-1EC0-4318-8F78-3881E3FD7476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5943600" y="2619375"/>
            <a:ext cx="40386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6" name="EAGLE_4">
            <a:extLst xmlns:a="http://schemas.openxmlformats.org/drawingml/2006/main">
              <a:ext uri="{FF2B5EF4-FFF2-40B4-BE49-F238E27FC236}">
                <a16:creationId xmlns:a16="http://schemas.microsoft.com/office/drawing/2014/main" id="{86B9ECF8-06DD-4853-A29A-64E7D62F27E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10458450" y="2619375"/>
            <a:ext cx="40386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7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A81AA091-155C-4B49-B3CF-270208548CFE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534CC2CF-DFA1-4FF2-9601-EFC4BA57938F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7.xml><?xml version="1.0" encoding="utf-8"?>
<p:sldLayout xmlns:p="http://schemas.openxmlformats.org/presentationml/2006/main" type="picTx" preserve="1">
  <p:cSld name="圖片及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93752F55-AC4A-40BE-B03B-0C040D718409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8B7D0469-A4AB-493F-ACBF-E8CB73C3A60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9089290D-C95F-4404-8DFC-D4901DA1C1B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2000250" y="2476500"/>
            <a:ext cx="11925300" cy="46196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按一下以新增圖片</a:t>
            </a:r>
          </a:p>
        </p:txBody>
      </p:sp>
      <p:sp>
        <p:nvSpPr>
          <p:cNvPr id="5" name="EAGLE_3">
            <a:extLst xmlns:a="http://schemas.openxmlformats.org/drawingml/2006/main">
              <a:ext uri="{FF2B5EF4-FFF2-40B4-BE49-F238E27FC236}">
                <a16:creationId xmlns:a16="http://schemas.microsoft.com/office/drawing/2014/main" id="{D1E03D6F-4B50-441D-9B62-7C7CF72080CE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2000250" y="7334250"/>
            <a:ext cx="11925300" cy="6667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按一下以新增圖片說明</a:t>
            </a:r>
          </a:p>
        </p:txBody>
      </p:sp>
      <p:sp>
        <p:nvSpPr>
          <p:cNvPr id="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FDBA40DA-42D4-45CA-9121-B12303C88200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5C3B0106-61B7-472E-AA5A-C33DCAE7DD66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8.xml><?xml version="1.0" encoding="utf-8"?>
<p:sldLayout xmlns:p="http://schemas.openxmlformats.org/presentationml/2006/main" type="objTx" preserve="1">
  <p:cSld name="內容與圖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4E1AFFBC-8DD7-4858-BE9E-DF7B9E845243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51E591F6-4009-4737-9C0E-3381B92FB0A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6277AB01-EE8D-4317-87D9-BEC820CCC3C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5476875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5" name="EAGLE_3">
            <a:extLst xmlns:a="http://schemas.openxmlformats.org/drawingml/2006/main">
              <a:ext uri="{FF2B5EF4-FFF2-40B4-BE49-F238E27FC236}">
                <a16:creationId xmlns:a16="http://schemas.microsoft.com/office/drawing/2014/main" id="{882ACEB2-431F-4BBF-8F1B-4F07F63851B4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7429500" y="2619375"/>
            <a:ext cx="706755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按一下以新增圖片</a:t>
            </a:r>
          </a:p>
        </p:txBody>
      </p:sp>
      <p:sp>
        <p:nvSpPr>
          <p:cNvPr id="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9607BD56-5922-42EE-8673-E8BDB8AA8B12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C110DA2E-972D-47CE-8ED2-D648217896E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9.xml><?xml version="1.0" encoding="utf-8"?>
<p:sldLayout xmlns:p="http://schemas.openxmlformats.org/presentationml/2006/main" preserve="1">
  <p:cSld name="標題及表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3F380ADE-E8BD-4361-83D4-34B395C514E3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198BEF13-EEB7-4982-8834-382B045AD4B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72D86C95-69D7-4516-97E8-EFF008A8DEC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130683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按一下以新增表格</a:t>
            </a:r>
          </a:p>
        </p:txBody>
      </p:sp>
      <p:sp>
        <p:nvSpPr>
          <p:cNvPr id="5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AA4B2483-08AD-4AAB-8D54-B0244854A19A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04A177D9-44BB-4EE7-B2EE-483B651A8234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10.xml><?xml version="1.0" encoding="utf-8"?>
<p:sldLayout xmlns:p="http://schemas.openxmlformats.org/presentationml/2006/main" preserve="1">
  <p:cSld name="標題及圖表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1A30452A-65F7-44A3-A2FA-1CF1F34140ED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C07D963E-74AF-48B2-8248-0768C947D07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6394422A-37D3-4C97-96C5-AF5AE3C8DC4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130683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按一下以新增圖表</a:t>
            </a:r>
          </a:p>
        </p:txBody>
      </p:sp>
      <p:sp>
        <p:nvSpPr>
          <p:cNvPr id="5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27B59490-7503-487F-B730-A18C57E284F8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86AA3F53-A20A-43C4-B655-9BABD8BDE394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11.xml><?xml version="1.0" encoding="utf-8"?>
<p:sldLayout xmlns:p="http://schemas.openxmlformats.org/presentationml/2006/main" type="titleOnly" preserve="1">
  <p:cSld name="僅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2F1A0662-494B-4627-BCEA-708F46AE5F74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5E4D67E8-1093-453A-AE8D-20B1DE405F8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5CCC836C-38EF-42B8-9F8F-EC9AB2895889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EFA42C01-117D-4BA1-BE6C-78A506A620BB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CBFBA9E9-D342-40B9-A850-43AECAABBC7E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28360F44-9DDB-4760-BE5D-FBB78FF4F621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13.xml><?xml version="1.0" encoding="utf-8"?>
<p:sldLayout xmlns:p="http://schemas.openxmlformats.org/presentationml/2006/main">
  <p:cSld name="完整演算法流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EC45608E-360F-43AE-A70F-CBC25CFD95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90750" y="438150"/>
            <a:ext cx="115443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 algn="ctr">
              <a:buNone/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D1D113AC-898D-41F6-9ECC-A116F98519C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09750" y="1581150"/>
            <a:ext cx="123063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 algn="ctr">
              <a:buNone/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  <p:sp>
        <p:nvSpPr>
          <p:cNvPr id="3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7CF84FE4-7AFF-4FB6-AD21-10811714532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14500" y="2533650"/>
            <a:ext cx="12496800" cy="438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>
              <a:buNone/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[以可編輯節點、連線與分支放入完整流程]</a:t>
            </a:r>
          </a:p>
        </p:txBody>
      </p:sp>
      <p:sp>
        <p:nvSpPr>
          <p:cNvPr id="5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E616C41-55D3-4BFB-9A81-02228A80D0E0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68F2BF6A-101B-4C08-868D-51489139A07B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</p:sldLayout>
</file>

<file path=ppt/slideLayouts/slideLayout14.xml><?xml version="1.0" encoding="utf-8"?>
<p:sldLayout xmlns:p="http://schemas.openxmlformats.org/presentationml/2006/main">
  <p:cSld name="迭代細節與失敗分支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CE772812-B376-4292-B7DC-F69D6AFDD5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90750" y="438150"/>
            <a:ext cx="115443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 algn="ctr">
              <a:buNone/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B3D1E37B-96ED-49CF-9885-14F28CA3B37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09750" y="1581150"/>
            <a:ext cx="123063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 algn="ctr">
              <a:buNone/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  <p:sp>
        <p:nvSpPr>
          <p:cNvPr id="3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854EEC0F-80BA-462F-9F3D-5DCF1BC97E9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14500" y="2533650"/>
            <a:ext cx="12496800" cy="438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>
              <a:buNone/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[以可編輯節點、連線與分支放入完整流程]</a:t>
            </a:r>
          </a:p>
        </p:txBody>
      </p:sp>
      <p:sp>
        <p:nvSpPr>
          <p:cNvPr id="5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E616C41-55D3-4BFB-9A81-02228A80D0E0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AFE0DDD3-2014-44E4-BA86-0356DC208AC8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</p:sldLayout>
</file>

<file path=ppt/slideLayouts/slideLayout15.xml><?xml version="1.0" encoding="utf-8"?>
<p:sldLayout xmlns:p="http://schemas.openxmlformats.org/presentationml/2006/main">
  <p:cSld name="實驗結果圖表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BD11E234-2890-4D9E-9BD1-FB90E55266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90750" y="438150"/>
            <a:ext cx="115443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 algn="ctr">
              <a:buNone/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ACF821D3-F700-48E9-B364-4E34591678C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09750" y="1581150"/>
            <a:ext cx="123063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 algn="ctr">
              <a:buNone/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  <p:sp>
        <p:nvSpPr>
          <p:cNvPr id="3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E5037F9F-C2C8-47F1-8EC8-69E886E326DE}"/>
              </a:ext>
            </a:extLst>
          </p:cNvPr>
          <p:cNvSpPr>
            <a:spLocks xmlns:a="http://schemas.openxmlformats.org/drawingml/2006/main" noGrp="1"/>
          </p:cNvSpPr>
          <p:nvPr>
            <p:ph type="chart" idx="2"/>
          </p:nvPr>
        </p:nvSpPr>
        <p:spPr>
          <a:xfrm xmlns:a="http://schemas.openxmlformats.org/drawingml/2006/main">
            <a:off x="1666875" y="2533650"/>
            <a:ext cx="7572375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[量測資料圖表]</a:t>
            </a:r>
          </a:p>
        </p:txBody>
      </p:sp>
      <p:sp>
        <p:nvSpPr>
          <p:cNvPr id="4" name="placeholder_4">
            <a:extLst xmlns:a="http://schemas.openxmlformats.org/drawingml/2006/main">
              <a:ext uri="{FF2B5EF4-FFF2-40B4-BE49-F238E27FC236}">
                <a16:creationId xmlns:a16="http://schemas.microsoft.com/office/drawing/2014/main" id="{3BCC7E98-58AF-4E44-825F-B1E83EFAB5F6}"/>
              </a:ext>
            </a:extLst>
          </p:cNvPr>
          <p:cNvSpPr>
            <a:spLocks xmlns:a="http://schemas.openxmlformats.org/drawingml/2006/main" noGrp="1"/>
          </p:cNvSpPr>
          <p:nvPr>
            <p:ph type="tbl" idx="3"/>
          </p:nvPr>
        </p:nvSpPr>
        <p:spPr>
          <a:xfrm xmlns:a="http://schemas.openxmlformats.org/drawingml/2006/main">
            <a:off x="9715500" y="2667000"/>
            <a:ext cx="4524375" cy="3524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>
              <a:buNone/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[數值、單位、樣本與來源]</a:t>
            </a:r>
          </a:p>
        </p:txBody>
      </p:sp>
      <p:sp>
        <p:nvSpPr>
          <p:cNvPr id="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E616C41-55D3-4BFB-9A81-02228A80D0E0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BBD12D10-8171-4B26-AD3D-A8DB635BF2A5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</p:sldLayout>
</file>

<file path=ppt/slideLayouts/slideLayout16.xml><?xml version="1.0" encoding="utf-8"?>
<p:sldLayout xmlns:p="http://schemas.openxmlformats.org/presentationml/2006/main">
  <p:cSld name="耗時與成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3C4424CD-B7CB-4152-8DE4-69A9C2CF96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90750" y="438150"/>
            <a:ext cx="115443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 algn="ctr">
              <a:buNone/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4B98FBC3-D73E-4FBC-9BF4-EDF7036886F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09750" y="1581150"/>
            <a:ext cx="123063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 algn="ctr">
              <a:buNone/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  <p:sp>
        <p:nvSpPr>
          <p:cNvPr id="3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70D76A34-2FB7-4768-B9A2-DD77D2C2FBA3}"/>
              </a:ext>
            </a:extLst>
          </p:cNvPr>
          <p:cNvSpPr>
            <a:spLocks xmlns:a="http://schemas.openxmlformats.org/drawingml/2006/main" noGrp="1"/>
          </p:cNvSpPr>
          <p:nvPr>
            <p:ph type="chart" idx="2"/>
          </p:nvPr>
        </p:nvSpPr>
        <p:spPr>
          <a:xfrm xmlns:a="http://schemas.openxmlformats.org/drawingml/2006/main">
            <a:off x="1666875" y="2533650"/>
            <a:ext cx="7572375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[量測資料圖表]</a:t>
            </a:r>
          </a:p>
        </p:txBody>
      </p:sp>
      <p:sp>
        <p:nvSpPr>
          <p:cNvPr id="4" name="placeholder_4">
            <a:extLst xmlns:a="http://schemas.openxmlformats.org/drawingml/2006/main">
              <a:ext uri="{FF2B5EF4-FFF2-40B4-BE49-F238E27FC236}">
                <a16:creationId xmlns:a16="http://schemas.microsoft.com/office/drawing/2014/main" id="{5B2DA84A-9CBE-4B1B-B2C5-436F38CDA074}"/>
              </a:ext>
            </a:extLst>
          </p:cNvPr>
          <p:cNvSpPr>
            <a:spLocks xmlns:a="http://schemas.openxmlformats.org/drawingml/2006/main" noGrp="1"/>
          </p:cNvSpPr>
          <p:nvPr>
            <p:ph type="tbl" idx="3"/>
          </p:nvPr>
        </p:nvSpPr>
        <p:spPr>
          <a:xfrm xmlns:a="http://schemas.openxmlformats.org/drawingml/2006/main">
            <a:off x="9715500" y="2667000"/>
            <a:ext cx="4524375" cy="3524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>
              <a:buNone/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[數值、單位、樣本與來源]</a:t>
            </a:r>
          </a:p>
        </p:txBody>
      </p:sp>
      <p:sp>
        <p:nvSpPr>
          <p:cNvPr id="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E616C41-55D3-4BFB-9A81-02228A80D0E0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1F17160D-33C4-42A5-9A93-DE706AF69DB0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</p:sldLayout>
</file>

<file path=ppt/slideLayouts/slideLayout17.xml><?xml version="1.0" encoding="utf-8"?>
<p:sldLayout xmlns:p="http://schemas.openxmlformats.org/presentationml/2006/main">
  <p:cSld name="比較分析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A5B43807-3063-4E37-B06D-A1600E3A78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90750" y="438150"/>
            <a:ext cx="115443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 algn="ctr">
              <a:buNone/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FDA31CE5-EE2A-4D77-9BB6-6D6982BAEA7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09750" y="1581150"/>
            <a:ext cx="123063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 algn="ctr">
              <a:buNone/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  <p:sp>
        <p:nvSpPr>
          <p:cNvPr id="3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85C98C6D-827D-47F0-B20C-B6B2776C8CED}"/>
              </a:ext>
            </a:extLst>
          </p:cNvPr>
          <p:cNvSpPr>
            <a:spLocks xmlns:a="http://schemas.openxmlformats.org/drawingml/2006/main" noGrp="1"/>
          </p:cNvSpPr>
          <p:nvPr>
            <p:ph type="tbl" idx="2"/>
          </p:nvPr>
        </p:nvSpPr>
        <p:spPr>
          <a:xfrm xmlns:a="http://schemas.openxmlformats.org/drawingml/2006/main">
            <a:off x="1428750" y="2571750"/>
            <a:ext cx="130683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[基準、方法、結果差、耗時差與控制條件]</a:t>
            </a:r>
          </a:p>
        </p:txBody>
      </p:sp>
      <p:sp>
        <p:nvSpPr>
          <p:cNvPr id="4" name="placeholder_4">
            <a:extLst xmlns:a="http://schemas.openxmlformats.org/drawingml/2006/main">
              <a:ext uri="{FF2B5EF4-FFF2-40B4-BE49-F238E27FC236}">
                <a16:creationId xmlns:a16="http://schemas.microsoft.com/office/drawing/2014/main" id="{8840C198-4883-4725-A761-9A9BF303D0D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1809750" y="6191250"/>
            <a:ext cx="123063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>
              <a:buNone/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[一個有證據的解讀與必要限制]</a:t>
            </a:r>
          </a:p>
        </p:txBody>
      </p:sp>
      <p:sp>
        <p:nvSpPr>
          <p:cNvPr id="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E616C41-55D3-4BFB-9A81-02228A80D0E0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57EB90E6-BF7A-4F0E-8F35-02A99B747845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</p:sldLayout>
</file>

<file path=ppt/slideLayouts/slideLayout18.xml><?xml version="1.0" encoding="utf-8"?>
<p:sldLayout xmlns:p="http://schemas.openxmlformats.org/presentationml/2006/main">
  <p:cSld name="區間與逐次變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60A90EAA-49F5-4605-ACAA-3367CC8BDB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90750" y="438150"/>
            <a:ext cx="115443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 algn="ctr">
              <a:buNone/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53CAE9AC-B4FE-4539-A9D5-86FBF41F7AA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09750" y="1581150"/>
            <a:ext cx="123063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 algn="ctr">
              <a:buNone/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  <p:sp>
        <p:nvSpPr>
          <p:cNvPr id="3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36378AEB-2BFE-4B58-A383-FD6B59F1CDFA}"/>
              </a:ext>
            </a:extLst>
          </p:cNvPr>
          <p:cNvSpPr>
            <a:spLocks xmlns:a="http://schemas.openxmlformats.org/drawingml/2006/main" noGrp="1"/>
          </p:cNvSpPr>
          <p:nvPr>
            <p:ph type="tbl" idx="2"/>
          </p:nvPr>
        </p:nvSpPr>
        <p:spPr>
          <a:xfrm xmlns:a="http://schemas.openxmlformats.org/drawingml/2006/main">
            <a:off x="1428750" y="2571750"/>
            <a:ext cx="130683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[日期／版本、before、after／目的、run、觀察影響]</a:t>
            </a:r>
          </a:p>
        </p:txBody>
      </p:sp>
      <p:sp>
        <p:nvSpPr>
          <p:cNvPr id="4" name="placeholder_4">
            <a:extLst xmlns:a="http://schemas.openxmlformats.org/drawingml/2006/main">
              <a:ext uri="{FF2B5EF4-FFF2-40B4-BE49-F238E27FC236}">
                <a16:creationId xmlns:a16="http://schemas.microsoft.com/office/drawing/2014/main" id="{04C6DF52-C32A-4039-B0E6-1CB40D6A713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1809750" y="6191250"/>
            <a:ext cx="123063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>
              <a:buNone/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[區間外基準的日期、版本、run ID 與選用原因]</a:t>
            </a:r>
          </a:p>
        </p:txBody>
      </p:sp>
      <p:sp>
        <p:nvSpPr>
          <p:cNvPr id="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E616C41-55D3-4BFB-9A81-02228A80D0E0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44157F41-695F-4AAE-A7BD-E6182CD00A7E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9e7e008adb7e4680" /><Relationship Type="http://schemas.openxmlformats.org/officeDocument/2006/relationships/theme" Target="/ppt/slideMasters/theme/theme2.xml" Id="Rc27c30ebeb69417d" /><Relationship Type="http://schemas.openxmlformats.org/officeDocument/2006/relationships/slideLayout" Target="/ppt/slideLayouts/slideLayout1.xml" Id="R73dfd018a3754580" /><Relationship Type="http://schemas.openxmlformats.org/officeDocument/2006/relationships/slideLayout" Target="/ppt/slideLayouts/slideLayout2.xml" Id="R847b03cbb0904c11" /><Relationship Type="http://schemas.openxmlformats.org/officeDocument/2006/relationships/slideLayout" Target="/ppt/slideLayouts/slideLayout3.xml" Id="R2a945949cd9d4d39" /><Relationship Type="http://schemas.openxmlformats.org/officeDocument/2006/relationships/slideLayout" Target="/ppt/slideLayouts/slideLayout4.xml" Id="R34b5a6c21a474ef6" /><Relationship Type="http://schemas.openxmlformats.org/officeDocument/2006/relationships/slideLayout" Target="/ppt/slideLayouts/slideLayout5.xml" Id="Ra7d5e7d2bc164afd" /><Relationship Type="http://schemas.openxmlformats.org/officeDocument/2006/relationships/slideLayout" Target="/ppt/slideLayouts/slideLayout6.xml" Id="R90536b87180649b5" /><Relationship Type="http://schemas.openxmlformats.org/officeDocument/2006/relationships/slideLayout" Target="/ppt/slideLayouts/slideLayout7.xml" Id="Rf0345bd3ba1942f0" /><Relationship Type="http://schemas.openxmlformats.org/officeDocument/2006/relationships/slideLayout" Target="/ppt/slideLayouts/slideLayout8.xml" Id="R4667d4b8a4fd4813" /><Relationship Type="http://schemas.openxmlformats.org/officeDocument/2006/relationships/slideLayout" Target="/ppt/slideLayouts/slideLayout9.xml" Id="R384ca0ee248840ed" /><Relationship Type="http://schemas.openxmlformats.org/officeDocument/2006/relationships/slideLayout" Target="/ppt/slideLayouts/slideLayout10.xml" Id="Rf47d1fdbe16d4e0e" /><Relationship Type="http://schemas.openxmlformats.org/officeDocument/2006/relationships/slideLayout" Target="/ppt/slideLayouts/slideLayout11.xml" Id="R992c2d3aebce4f51" /><Relationship Type="http://schemas.openxmlformats.org/officeDocument/2006/relationships/slideLayout" Target="/ppt/slideLayouts/slideLayout12.xml" Id="R0ce83f6735684d99" /><Relationship Type="http://schemas.openxmlformats.org/officeDocument/2006/relationships/slideLayout" Target="/ppt/slideLayouts/slideLayout13.xml" Id="Rb1a57c845d3e465b" /><Relationship Type="http://schemas.openxmlformats.org/officeDocument/2006/relationships/slideLayout" Target="/ppt/slideLayouts/slideLayout14.xml" Id="Rbaa7a9a6c10a4af2" /><Relationship Type="http://schemas.openxmlformats.org/officeDocument/2006/relationships/slideLayout" Target="/ppt/slideLayouts/slideLayout15.xml" Id="R0459823c0cf14c93" /><Relationship Type="http://schemas.openxmlformats.org/officeDocument/2006/relationships/slideLayout" Target="/ppt/slideLayouts/slideLayout16.xml" Id="R6ba443f446f3498e" /><Relationship Type="http://schemas.openxmlformats.org/officeDocument/2006/relationships/slideLayout" Target="/ppt/slideLayouts/slideLayout17.xml" Id="R54ef557523d74e47" /><Relationship Type="http://schemas.openxmlformats.org/officeDocument/2006/relationships/slideLayout" Target="/ppt/slideLayouts/slideLayout18.xml" Id="R64fdfac8a8a1467e" /></Relationships>
</file>

<file path=ppt/slideMasters/slideMaster1.xml><?xml version="1.0" encoding="utf-8"?>
<p:sldMaster xmlns:p="http://schemas.openxmlformats.org/presentationml/2006/main">
  <p:cSld name="EAGLE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EAGLE geometric full-slide background">
            <a:extLst xmlns:a="http://schemas.openxmlformats.org/drawingml/2006/main">
              <a:ext uri="{FF2B5EF4-FFF2-40B4-BE49-F238E27FC236}">
                <a16:creationId xmlns:a16="http://schemas.microsoft.com/office/drawing/2014/main" id="{28832C84-88C2-406B-873A-7231CF7704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7e008adb7e46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925800" cy="8963025"/>
          </a:xfrm>
          <a:prstGeom xmlns:a="http://schemas.openxmlformats.org/drawingml/2006/main" prst="rect">
            <a:avLst/>
          </a:prstGeom>
        </p:spPr>
      </p:pic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E616C41-55D3-4BFB-9A81-02228A80D0E0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dfd018a3754580"/>
    <p:sldLayoutId xmlns:r="http://schemas.openxmlformats.org/officeDocument/2006/relationships" id="2147483650" r:id="R847b03cbb0904c11"/>
    <p:sldLayoutId xmlns:r="http://schemas.openxmlformats.org/officeDocument/2006/relationships" id="2147483651" r:id="R2a945949cd9d4d39"/>
    <p:sldLayoutId xmlns:r="http://schemas.openxmlformats.org/officeDocument/2006/relationships" id="2147483652" r:id="R34b5a6c21a474ef6"/>
    <p:sldLayoutId xmlns:r="http://schemas.openxmlformats.org/officeDocument/2006/relationships" id="2147483653" r:id="Ra7d5e7d2bc164afd"/>
    <p:sldLayoutId xmlns:r="http://schemas.openxmlformats.org/officeDocument/2006/relationships" id="2147483654" r:id="R90536b87180649b5"/>
    <p:sldLayoutId xmlns:r="http://schemas.openxmlformats.org/officeDocument/2006/relationships" id="2147483655" r:id="Rf0345bd3ba1942f0"/>
    <p:sldLayoutId xmlns:r="http://schemas.openxmlformats.org/officeDocument/2006/relationships" id="2147483656" r:id="R4667d4b8a4fd4813"/>
    <p:sldLayoutId xmlns:r="http://schemas.openxmlformats.org/officeDocument/2006/relationships" id="2147483657" r:id="R384ca0ee248840ed"/>
    <p:sldLayoutId xmlns:r="http://schemas.openxmlformats.org/officeDocument/2006/relationships" id="2147483658" r:id="Rf47d1fdbe16d4e0e"/>
    <p:sldLayoutId xmlns:r="http://schemas.openxmlformats.org/officeDocument/2006/relationships" id="2147483659" r:id="R992c2d3aebce4f51"/>
    <p:sldLayoutId xmlns:r="http://schemas.openxmlformats.org/officeDocument/2006/relationships" id="2147483660" r:id="R0ce83f6735684d99"/>
    <p:sldLayoutId xmlns:r="http://schemas.openxmlformats.org/officeDocument/2006/relationships" id="2147483661" r:id="Rb1a57c845d3e465b"/>
    <p:sldLayoutId xmlns:r="http://schemas.openxmlformats.org/officeDocument/2006/relationships" id="2147483662" r:id="Rbaa7a9a6c10a4af2"/>
    <p:sldLayoutId xmlns:r="http://schemas.openxmlformats.org/officeDocument/2006/relationships" id="2147483663" r:id="R0459823c0cf14c93"/>
    <p:sldLayoutId xmlns:r="http://schemas.openxmlformats.org/officeDocument/2006/relationships" id="2147483664" r:id="R6ba443f446f3498e"/>
    <p:sldLayoutId xmlns:r="http://schemas.openxmlformats.org/officeDocument/2006/relationships" id="2147483665" r:id="R54ef557523d74e47"/>
    <p:sldLayoutId xmlns:r="http://schemas.openxmlformats.org/officeDocument/2006/relationships" id="2147483666" r:id="R64fdfac8a8a1467e"/>
  </p:sldLayoutIdLst>
  <p:hf sldNum="1" hdr="0" ftr="0" dt="0"/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Source Han Serif TW"/>
          <a:ea typeface="Source Han Serif TW"/>
          <a:cs typeface="Source Han Serif TW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Source Han Serif TW"/>
          <a:ea typeface="Source Han Serif TW"/>
          <a:cs typeface="Source Han Serif TW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Source Han Serif TW"/>
          <a:ea typeface="Source Han Serif TW"/>
          <a:cs typeface="Source Han Serif TW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Source Han Serif TW"/>
          <a:ea typeface="Source Han Serif TW"/>
          <a:cs typeface="Source Han Serif TW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9pPr>
    </p:otherStyle>
  </p:txStyles>
</p:sldMaster>
</file>

<file path=ppt/slideMasters/theme/theme2.xml><?xml version="1.0" encoding="utf-8"?>
<a:theme xmlns:a="http://schemas.openxmlformats.org/drawingml/2006/main" name="EAGLE">
  <a:themeElements>
    <a:clrScheme name="Meeting 0830 Rose &amp; Gold">
      <a:dk1>
        <a:srgbClr val="47171C"/>
      </a:dk1>
      <a:lt1>
        <a:srgbClr val="FCF8F5"/>
      </a:lt1>
      <a:dk2>
        <a:srgbClr val="423C3B"/>
      </a:dk2>
      <a:lt2>
        <a:srgbClr val="FFFFFF"/>
      </a:lt2>
      <a:accent1>
        <a:srgbClr val="CF8792"/>
      </a:accent1>
      <a:accent2>
        <a:srgbClr val="47171C"/>
      </a:accent2>
      <a:accent3>
        <a:srgbClr val="CF9BA5"/>
      </a:accent3>
      <a:accent4>
        <a:srgbClr val="C69B45"/>
      </a:accent4>
      <a:accent5>
        <a:srgbClr val="FAEDC6"/>
      </a:accent5>
      <a:accent6>
        <a:srgbClr val="423C3B"/>
      </a:accent6>
      <a:hlink>
        <a:srgbClr val="CF8792"/>
      </a:hlink>
      <a:folHlink>
        <a:srgbClr val="C69B45"/>
      </a:folHlink>
    </a:clrScheme>
    <a:fontScheme name="Office">
      <a:majorFont>
        <a:latin typeface="Source Han Serif TW"/>
        <a:ea typeface="Source Han Serif TW"/>
        <a:cs typeface="Source Han Serif TW"/>
      </a:majorFont>
      <a:minorFont>
        <a:latin typeface="Source Han Serif TW"/>
        <a:ea typeface="Source Han Serif TW"/>
        <a:cs typeface="Source Han Serif TW"/>
      </a:minorFont>
    </a:fontScheme>
    <a:fmtScheme name="Meeting 0830 Rose &amp; Gol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b6aabc658fe4956" /><Relationship Type="http://schemas.openxmlformats.org/officeDocument/2006/relationships/notesSlide" Target="/ppt/notesSlides/notesSlide1.xml" Id="R2eef080d94df47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d57d0699b6d44d7" /><Relationship Type="http://schemas.openxmlformats.org/officeDocument/2006/relationships/notesSlide" Target="/ppt/notesSlides/notesSlide2.xml" Id="R63402a2cced541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77eabf7d4584fbb" /><Relationship Type="http://schemas.openxmlformats.org/officeDocument/2006/relationships/notesSlide" Target="/ppt/notesSlides/notesSlide3.xml" Id="Radec3f3eb3e747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c9baacc4a0f4076" /><Relationship Type="http://schemas.openxmlformats.org/officeDocument/2006/relationships/notesSlide" Target="/ppt/notesSlides/notesSlide4.xml" Id="Rf2fdc952bdce4e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a9c838d921446be" /><Relationship Type="http://schemas.openxmlformats.org/officeDocument/2006/relationships/notesSlide" Target="/ppt/notesSlides/notesSlide5.xml" Id="R65695ed1bcde4b6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c6c1dfbd66746f4" /><Relationship Type="http://schemas.openxmlformats.org/officeDocument/2006/relationships/notesSlide" Target="/ppt/notesSlides/notesSlide6.xml" Id="R27b95315106e49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38adcd73bb84214" /><Relationship Type="http://schemas.openxmlformats.org/officeDocument/2006/relationships/notesSlide" Target="/ppt/notesSlides/notesSlide7.xml" Id="Rdf5e4b95c86e43d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a1cad80f27a4f0a" /><Relationship Type="http://schemas.openxmlformats.org/officeDocument/2006/relationships/notesSlide" Target="/ppt/notesSlides/notesSlide8.xml" Id="R7e69038c847e4fa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d1b84f9f5034bb1" /><Relationship Type="http://schemas.openxmlformats.org/officeDocument/2006/relationships/notesSlide" Target="/ppt/notesSlides/notesSlide9.xml" Id="R96b259276a1948a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cf047e6664142b8" /><Relationship Type="http://schemas.openxmlformats.org/officeDocument/2006/relationships/notesSlide" Target="/ppt/notesSlides/notesSlide10.xml" Id="Rd5c459c2b13349d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ff438a059c84e5a" /><Relationship Type="http://schemas.openxmlformats.org/officeDocument/2006/relationships/notesSlide" Target="/ppt/notesSlides/notesSlide11.xml" Id="R5cbb065e89f84e8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e9cf705193b4312" /><Relationship Type="http://schemas.openxmlformats.org/officeDocument/2006/relationships/notesSlide" Target="/ppt/notesSlides/notesSlide12.xml" Id="Rca121c9d3d5a4e6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bf0c8487c4f41bc" /><Relationship Type="http://schemas.openxmlformats.org/officeDocument/2006/relationships/notesSlide" Target="/ppt/notesSlides/notesSlide13.xml" Id="R6ca53917e4f7417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11449ccf43445bb" /><Relationship Type="http://schemas.openxmlformats.org/officeDocument/2006/relationships/notesSlide" Target="/ppt/notesSlides/notesSlide14.xml" Id="R172e1ef122a7460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77ad91bd574412d" /><Relationship Type="http://schemas.openxmlformats.org/officeDocument/2006/relationships/notesSlide" Target="/ppt/notesSlides/notesSlide15.xml" Id="R8e59361d68704e9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3cbdce91ed14510" /><Relationship Type="http://schemas.openxmlformats.org/officeDocument/2006/relationships/notesSlide" Target="/ppt/notesSlides/notesSlide16.xml" Id="R6c28017d72de480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8e1677c441a4515" /><Relationship Type="http://schemas.openxmlformats.org/officeDocument/2006/relationships/notesSlide" Target="/ppt/notesSlides/notesSlide17.xml" Id="R1618b6c797fa45c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d3d9177fe874450" /><Relationship Type="http://schemas.openxmlformats.org/officeDocument/2006/relationships/notesSlide" Target="/ppt/notesSlides/notesSlide18.xml" Id="Re42f4b9c2fbc400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9ef4b46b3864386" /><Relationship Type="http://schemas.openxmlformats.org/officeDocument/2006/relationships/notesSlide" Target="/ppt/notesSlides/notesSlide19.xml" Id="R63ee3b0d747746e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ac262d6560e4d8a" /><Relationship Type="http://schemas.openxmlformats.org/officeDocument/2006/relationships/notesSlide" Target="/ppt/notesSlides/notesSlide20.xml" Id="Reaf117bec1264521" 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4" name="text-0">
            <a:extLst>
              <a:ext uri="{FF2B5EF4-FFF2-40B4-BE49-F238E27FC236}">
                <ns2:creationId id="{CE47CCAD-6863-4082-93CA-5C7E5A48720E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EAGLE 最終版本介紹</a:t>
            </a:r>
          </a:p>
        </p:txBody>
      </p:sp>
      <p:sp>
        <p:nvSpPr>
          <p:cNvPr id="2" name="text-1">
            <a:extLst>
              <a:ext uri="{FF2B5EF4-FFF2-40B4-BE49-F238E27FC236}">
                <ns2:creationId id="{6B938CCB-FF41-4BC5-8C1D-81D1E7187EA1}"/>
              </a:ext>
            </a:extLst>
          </p:cNvPr>
          <p:cNvSpPr>
            <a:spLocks noGrp="1"/>
          </p:cNvSpPr>
          <p:nvPr/>
        </p:nvSpPr>
        <p:spPr>
          <a:xfrm>
            <a:off x="2047875" y="3105150"/>
            <a:ext cx="11830050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以 DSL 演化策略的搜尋流程</a:t>
            </a:r>
          </a:p>
        </p:txBody>
      </p:sp>
      <p:sp>
        <p:nvSpPr>
          <p:cNvPr id="3" name="text-2">
            <a:extLst>
              <a:ext uri="{FF2B5EF4-FFF2-40B4-BE49-F238E27FC236}">
                <ns2:creationId id="{FB48F698-F26F-4083-9406-EE71D5FEA7D7}"/>
              </a:ext>
            </a:extLst>
          </p:cNvPr>
          <p:cNvSpPr>
            <a:spLocks noGrp="1"/>
          </p:cNvSpPr>
          <p:nvPr/>
        </p:nvSpPr>
        <p:spPr>
          <a:xfrm>
            <a:off x="2476500" y="4981575"/>
            <a:ext cx="10972800" cy="167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標準規模：population 10 × 演化 20 代</a:t>
            </a:r>
          </a:p>
          <a:p>
            <a:pPr algn="ctr">
              <a:def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Deterministic DSL　Ministral3 8B</a:t>
            </a:r>
          </a:p>
        </p:txBody>
      </p:sp>
      <p:sp>
        <p:nvSpPr>
          <p:cNvPr id="5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</a:t>
            </a:fld>
          </a:p>
        </p:txBody>
      </p:sp>
    </p:spTree>
    <p:extLst>
      <p:ext uri="{BB962C8B-B14F-4D97-AF65-F5344CB8AC3E}">
        <ns3:creationId val="589797133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E92ACEB7-59D2-4A09-8059-0FF53C936795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執行模式與實驗設定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8B67940C-7761-49F5-9558-5F6024D542CA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2428875"/>
                <a:gridCol w="4714875"/>
                <a:gridCol w="5638800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項目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本次設定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實際作用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策略／Java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deterministic_dsl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eagle-dsl-java-v1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策略 JSON → 固定 Java compiler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Generation meta prompt 不啟用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搜尋預算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population 10、演化 20 代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seed 8，runs 3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gen0 另列，之後 gen1–20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三次相同 seed、獨立 run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反思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static，mutation_rate 1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Strategy probability 1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只有 Strategy Reflection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Code／Prompt Reflection 不啟用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評估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self_play，3 maps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parent mode reuse_cached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Game Performance 最大化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同分以 semantic novelty 分辨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</a:t>
            </a:fld>
          </a:p>
        </p:txBody>
      </p:sp>
    </p:spTree>
    <p:extLst>
      <p:ext uri="{BB962C8B-B14F-4D97-AF65-F5344CB8AC3E}">
        <ns3:creationId val="34426785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cxnSp>
        <p:nvCxnSpPr>
          <p:cNvPr id="17" name="">
            <a:extLst>
              <a:ext uri="{FF2B5EF4-FFF2-40B4-BE49-F238E27FC236}">
                <ns2:creationId id="{740B9BEC-0117-48C4-AA49-840104827BD2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5191125" y="6762750"/>
            <a:ext cx="100012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6" name="">
            <a:extLst>
              <a:ext uri="{FF2B5EF4-FFF2-40B4-BE49-F238E27FC236}">
                <ns2:creationId id="{5A5D8E0C-818B-46CF-9DC7-020E2CBB5942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3476625" y="5429250"/>
            <a:ext cx="0" cy="85725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5" name="">
            <a:extLst>
              <a:ext uri="{FF2B5EF4-FFF2-40B4-BE49-F238E27FC236}">
                <ns2:creationId id="{D3DBC37A-3DAC-44A9-9237-19AD0136DE0C}"/>
              </a:ext>
            </a:extLst>
          </p:cNvPr>
          <p:cNvCxnSpPr>
            <a:stCxn id="7" idx="0"/>
            <a:endCxn id="5" idx="0"/>
          </p:cNvCxnSpPr>
          <p:nvPr/>
        </p:nvCxnSpPr>
        <p:spPr>
          <a:xfrm>
            <a:off x="3476625" y="4152900"/>
            <a:ext cx="8858250" cy="228600"/>
          </a:xfrm>
          <a:prstGeom prst="bentConnector4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4" name="">
            <a:extLst>
              <a:ext uri="{FF2B5EF4-FFF2-40B4-BE49-F238E27FC236}">
                <ns2:creationId id="{5BF3819F-2B30-46AD-AE32-0968E91CF674}"/>
              </a:ext>
            </a:extLst>
          </p:cNvPr>
          <p:cNvCxnSpPr>
            <a:stCxn id="6" idx="1"/>
            <a:endCxn id="7" idx="3"/>
          </p:cNvCxnSpPr>
          <p:nvPr/>
        </p:nvCxnSpPr>
        <p:spPr>
          <a:xfrm flipH="1">
            <a:off x="5191125" y="4857750"/>
            <a:ext cx="100012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3" name="">
            <a:extLst>
              <a:ext uri="{FF2B5EF4-FFF2-40B4-BE49-F238E27FC236}">
                <ns2:creationId id="{A9380F28-55B6-4CB7-9BA7-3619BA183162}"/>
              </a:ext>
            </a:extLst>
          </p:cNvPr>
          <p:cNvCxnSpPr>
            <a:stCxn id="5" idx="1"/>
            <a:endCxn id="6" idx="3"/>
          </p:cNvCxnSpPr>
          <p:nvPr/>
        </p:nvCxnSpPr>
        <p:spPr>
          <a:xfrm flipH="1">
            <a:off x="9620250" y="4857750"/>
            <a:ext cx="100012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2" name="">
            <a:extLst>
              <a:ext uri="{FF2B5EF4-FFF2-40B4-BE49-F238E27FC236}">
                <ns2:creationId id="{51EE440B-9C9A-42EA-B9C8-07658015D355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12334875" y="3429000"/>
            <a:ext cx="0" cy="95250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1" name="">
            <a:extLst>
              <a:ext uri="{FF2B5EF4-FFF2-40B4-BE49-F238E27FC236}">
                <ns2:creationId id="{68158524-08E0-48A7-8182-17BA3CAFB1A4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9620250" y="2952750"/>
            <a:ext cx="100012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0" name="">
            <a:extLst>
              <a:ext uri="{FF2B5EF4-FFF2-40B4-BE49-F238E27FC236}">
                <ns2:creationId id="{2CDCC21A-5ACE-401C-A6D4-6D10385CFDA1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5191125" y="2952750"/>
            <a:ext cx="100012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sp>
        <p:nvSpPr>
          <p:cNvPr id="21" name="text-0">
            <a:extLst>
              <a:ext uri="{FF2B5EF4-FFF2-40B4-BE49-F238E27FC236}">
                <ns2:creationId id="{71AD5005-BE22-44B7-B513-E898D26D6DFB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完整搜尋流程</a:t>
            </a:r>
          </a:p>
        </p:txBody>
      </p:sp>
      <p:sp>
        <p:nvSpPr>
          <p:cNvPr id="2" name="config">
            <a:extLst>
              <a:ext uri="{FF2B5EF4-FFF2-40B4-BE49-F238E27FC236}">
                <ns2:creationId id="{21313076-B69D-41B0-B054-057EC0E2009F}"/>
              </a:ext>
            </a:extLst>
          </p:cNvPr>
          <p:cNvSpPr>
            <a:spLocks noGrp="1"/>
          </p:cNvSpPr>
          <p:nvPr/>
        </p:nvSpPr>
        <p:spPr>
          <a:xfrm>
            <a:off x="1762125" y="2476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Config、seed、GPU 檢查</a:t>
            </a:r>
          </a:p>
        </p:txBody>
      </p:sp>
      <p:sp>
        <p:nvSpPr>
          <p:cNvPr id="3" name="init">
            <a:extLst>
              <a:ext uri="{FF2B5EF4-FFF2-40B4-BE49-F238E27FC236}">
                <ns2:creationId id="{A4E82CEC-D383-409E-8450-2ED54A5A51B1}"/>
              </a:ext>
            </a:extLst>
          </p:cNvPr>
          <p:cNvSpPr>
            <a:spLocks noGrp="1"/>
          </p:cNvSpPr>
          <p:nvPr/>
        </p:nvSpPr>
        <p:spPr>
          <a:xfrm>
            <a:off x="6191250" y="2476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Gen0：10 個 seed clones</a:t>
            </a:r>
          </a:p>
        </p:txBody>
      </p:sp>
      <p:sp>
        <p:nvSpPr>
          <p:cNvPr id="4" name="bootstrap">
            <a:extLst>
              <a:ext uri="{FF2B5EF4-FFF2-40B4-BE49-F238E27FC236}">
                <ns2:creationId id="{F5E62BC9-EB4C-4A6C-B990-2D2E4314D55E}"/>
              </a:ext>
            </a:extLst>
          </p:cNvPr>
          <p:cNvSpPr>
            <a:spLocks noGrp="1"/>
          </p:cNvSpPr>
          <p:nvPr/>
        </p:nvSpPr>
        <p:spPr>
          <a:xfrm>
            <a:off x="10620375" y="2476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DSL 編譯、初始評估</a:t>
            </a:r>
          </a:p>
        </p:txBody>
      </p:sp>
      <p:sp>
        <p:nvSpPr>
          <p:cNvPr id="5" name="iteration">
            <a:extLst>
              <a:ext uri="{FF2B5EF4-FFF2-40B4-BE49-F238E27FC236}">
                <ns2:creationId id="{13841FAB-B00E-4C60-8572-29E7DFCA93DF}"/>
              </a:ext>
            </a:extLst>
          </p:cNvPr>
          <p:cNvSpPr>
            <a:spLocks noGrp="1"/>
          </p:cNvSpPr>
          <p:nvPr/>
        </p:nvSpPr>
        <p:spPr>
          <a:xfrm>
            <a:off x="10620375" y="4381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父代、crossover、反思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每代 10 offspring</a:t>
            </a:r>
          </a:p>
        </p:txBody>
      </p:sp>
      <p:sp>
        <p:nvSpPr>
          <p:cNvPr id="6" name="eval">
            <a:extLst>
              <a:ext uri="{FF2B5EF4-FFF2-40B4-BE49-F238E27FC236}">
                <ns2:creationId id="{37A8E37A-9891-4C1D-93DE-C91404CD3204}"/>
              </a:ext>
            </a:extLst>
          </p:cNvPr>
          <p:cNvSpPr>
            <a:spLocks noGrp="1"/>
          </p:cNvSpPr>
          <p:nvPr/>
        </p:nvSpPr>
        <p:spPr>
          <a:xfrm>
            <a:off x="6191250" y="4381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DSL 編譯與對戰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μ＋λ 倖存者選擇</a:t>
            </a:r>
          </a:p>
        </p:txBody>
      </p:sp>
      <p:sp>
        <p:nvSpPr>
          <p:cNvPr id="7" name="stop">
            <a:extLst>
              <a:ext uri="{FF2B5EF4-FFF2-40B4-BE49-F238E27FC236}">
                <ns2:creationId id="{47ABA22E-96A2-4B77-9CEE-E494C3EA4844}"/>
              </a:ext>
            </a:extLst>
          </p:cNvPr>
          <p:cNvSpPr>
            <a:spLocks noGrp="1"/>
          </p:cNvSpPr>
          <p:nvPr/>
        </p:nvSpPr>
        <p:spPr>
          <a:xfrm>
            <a:off x="1762125" y="4286250"/>
            <a:ext cx="3429000" cy="1143000"/>
          </a:xfrm>
          <a:prstGeom prst="diamond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達到停止條件？</a:t>
            </a:r>
          </a:p>
        </p:txBody>
      </p:sp>
      <p:sp>
        <p:nvSpPr>
          <p:cNvPr id="8" name="final">
            <a:extLst>
              <a:ext uri="{FF2B5EF4-FFF2-40B4-BE49-F238E27FC236}">
                <ns2:creationId id="{811A6568-C9AA-40D7-97D8-9A7090D1BDF0}"/>
              </a:ext>
            </a:extLst>
          </p:cNvPr>
          <p:cNvSpPr>
            <a:spLocks noGrp="1"/>
          </p:cNvSpPr>
          <p:nvPr/>
        </p:nvSpPr>
        <p:spPr>
          <a:xfrm>
            <a:off x="1762125" y="6286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完成：champion final-test</a:t>
            </a:r>
          </a:p>
        </p:txBody>
      </p:sp>
      <p:sp>
        <p:nvSpPr>
          <p:cNvPr id="9" name="outputs">
            <a:extLst>
              <a:ext uri="{FF2B5EF4-FFF2-40B4-BE49-F238E27FC236}">
                <ns2:creationId id="{B17B15A9-EFF9-4895-8785-87D06A9D9732}"/>
              </a:ext>
            </a:extLst>
          </p:cNvPr>
          <p:cNvSpPr>
            <a:spLocks noGrp="1"/>
          </p:cNvSpPr>
          <p:nvPr/>
        </p:nvSpPr>
        <p:spPr>
          <a:xfrm>
            <a:off x="6191250" y="6286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summary、checkpoint、timing</a:t>
            </a:r>
          </a:p>
        </p:txBody>
      </p:sp>
      <p:sp>
        <p:nvSpPr>
          <p:cNvPr id="18" name="text-17">
            <a:extLst>
              <a:ext uri="{FF2B5EF4-FFF2-40B4-BE49-F238E27FC236}">
                <ns2:creationId id="{D481B882-513C-4196-8AB9-78E89C7D18ED}"/>
              </a:ext>
            </a:extLst>
          </p:cNvPr>
          <p:cNvSpPr>
            <a:spLocks noGrp="1"/>
          </p:cNvSpPr>
          <p:nvPr/>
        </p:nvSpPr>
        <p:spPr>
          <a:xfrm>
            <a:off x="5715000" y="3562350"/>
            <a:ext cx="2762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否：繼續 gen1–20</a:t>
            </a:r>
          </a:p>
        </p:txBody>
      </p:sp>
      <p:sp>
        <p:nvSpPr>
          <p:cNvPr id="19" name="text-18">
            <a:extLst>
              <a:ext uri="{FF2B5EF4-FFF2-40B4-BE49-F238E27FC236}">
                <ns2:creationId id="{54E1A0E8-B595-480F-A06B-E5B0C3A178DF}"/>
              </a:ext>
            </a:extLst>
          </p:cNvPr>
          <p:cNvSpPr>
            <a:spLocks noGrp="1"/>
          </p:cNvSpPr>
          <p:nvPr/>
        </p:nvSpPr>
        <p:spPr>
          <a:xfrm>
            <a:off x="2238375" y="5657850"/>
            <a:ext cx="21907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是：正常完成</a:t>
            </a:r>
          </a:p>
        </p:txBody>
      </p:sp>
      <p:sp>
        <p:nvSpPr>
          <p:cNvPr id="20" name="text-19">
            <a:extLst>
              <a:ext uri="{FF2B5EF4-FFF2-40B4-BE49-F238E27FC236}">
                <ns2:creationId id="{8273DDA4-2B00-4BEF-99F4-CE660216DDCA}"/>
              </a:ext>
            </a:extLst>
          </p:cNvPr>
          <p:cNvSpPr>
            <a:spLocks noGrp="1"/>
          </p:cNvSpPr>
          <p:nvPr/>
        </p:nvSpPr>
        <p:spPr>
          <a:xfrm>
            <a:off x="1762125" y="7486650"/>
            <a:ext cx="124015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中斷／失敗：保留最後完整 checkpoint，以 --resume 接續</a:t>
            </a:r>
          </a:p>
        </p:txBody>
      </p:sp>
      <p:sp>
        <p:nvSpPr>
          <p:cNvPr id="22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3</a:t>
            </a:fld>
          </a:p>
        </p:txBody>
      </p:sp>
    </p:spTree>
    <p:extLst>
      <p:ext uri="{BB962C8B-B14F-4D97-AF65-F5344CB8AC3E}">
        <ns3:creationId val="679882771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5" name="text-0">
            <a:extLst>
              <a:ext uri="{FF2B5EF4-FFF2-40B4-BE49-F238E27FC236}">
                <ns2:creationId id="{E3C0E429-C9BA-43F4-B193-065C6635BA37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DSL：策略與實作之間的固定契約</a:t>
            </a:r>
          </a:p>
        </p:txBody>
      </p:sp>
      <p:sp>
        <p:nvSpPr>
          <p:cNvPr id="2" name="text-1">
            <a:extLst>
              <a:ext uri="{FF2B5EF4-FFF2-40B4-BE49-F238E27FC236}">
                <ns2:creationId id="{F644FFBF-BE1D-4BC8-A933-D587B65BC6EE}"/>
              </a:ext>
            </a:extLst>
          </p:cNvPr>
          <p:cNvSpPr>
            <a:spLocks noGrp="1"/>
          </p:cNvSpPr>
          <p:nvPr/>
        </p:nvSpPr>
        <p:spPr>
          <a:xfrm>
            <a:off x="1762125" y="2305050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策略是一個 version + rules 的 JSON object；每條 rule 包含 actor、when、action。空 rules 明確表示 idle。</a:t>
            </a:r>
          </a:p>
        </p:txBody>
      </p:sp>
      <p:sp>
        <p:nvSpPr>
          <p:cNvPr id="3" name="text-2">
            <a:extLst>
              <a:ext uri="{FF2B5EF4-FFF2-40B4-BE49-F238E27FC236}">
                <ns2:creationId id="{347B53EE-6BCC-45AA-9D97-86F6AA7B4685}"/>
              </a:ext>
            </a:extLst>
          </p:cNvPr>
          <p:cNvSpPr>
            <a:spLocks noGrp="1"/>
          </p:cNvSpPr>
          <p:nvPr/>
        </p:nvSpPr>
        <p:spPr>
          <a:xfrm>
            <a:off x="1762125" y="3895725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條件只讀當前可觀測狀態；action、target、selector 使用封閉詞彙。禁止自訂 prose／Java 欄位。</a:t>
            </a:r>
          </a:p>
        </p:txBody>
      </p:sp>
      <p:sp>
        <p:nvSpPr>
          <p:cNvPr id="4" name="text-3">
            <a:extLst>
              <a:ext uri="{FF2B5EF4-FFF2-40B4-BE49-F238E27FC236}">
                <ns2:creationId id="{6BD79C24-EA25-427B-A394-A63EA6E9BF47}"/>
              </a:ext>
            </a:extLst>
          </p:cNvPr>
          <p:cNvSpPr>
            <a:spLocks noGrp="1"/>
          </p:cNvSpPr>
          <p:nvPr/>
        </p:nvSpPr>
        <p:spPr>
          <a:xfrm>
            <a:off x="1762125" y="5486400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Java 是離線編譯的 phenotype；固定 scaffold、compiler version 與 policy hash 一起保存。</a:t>
            </a:r>
          </a:p>
        </p:txBody>
      </p:sp>
      <p:sp>
        <p:nvSpPr>
          <p:cNvPr id="6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4</a:t>
            </a:fld>
          </a:p>
        </p:txBody>
      </p:sp>
    </p:spTree>
    <p:extLst>
      <p:ext uri="{BB962C8B-B14F-4D97-AF65-F5344CB8AC3E}">
        <ns3:creationId val="1116690639"/>
      </p:ext>
    </p:extLst>
  </p:cSld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cxnSp>
        <p:nvCxnSpPr>
          <p:cNvPr id="18" name="">
            <a:extLst>
              <a:ext uri="{FF2B5EF4-FFF2-40B4-BE49-F238E27FC236}">
                <ns2:creationId id="{D35E2038-43CD-4391-BA9F-3972FB83960A}"/>
              </a:ext>
            </a:extLst>
          </p:cNvPr>
          <p:cNvCxnSpPr>
            <a:stCxn id="6" idx="3"/>
            <a:endCxn id="10" idx="1"/>
          </p:cNvCxnSpPr>
          <p:nvPr/>
        </p:nvCxnSpPr>
        <p:spPr>
          <a:xfrm>
            <a:off x="6858000" y="5953125"/>
            <a:ext cx="2238375" cy="257175"/>
          </a:xfrm>
          <a:prstGeom prst="bentConnector4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7" name="">
            <a:extLst>
              <a:ext uri="{FF2B5EF4-FFF2-40B4-BE49-F238E27FC236}">
                <ns2:creationId id="{851FA14E-8580-4B41-A8CF-1725F7C7D73F}"/>
              </a:ext>
            </a:extLst>
          </p:cNvPr>
          <p:cNvCxnSpPr>
            <a:stCxn id="5" idx="3"/>
            <a:endCxn id="9" idx="1"/>
          </p:cNvCxnSpPr>
          <p:nvPr/>
        </p:nvCxnSpPr>
        <p:spPr>
          <a:xfrm>
            <a:off x="6858000" y="4810125"/>
            <a:ext cx="2238375" cy="257175"/>
          </a:xfrm>
          <a:prstGeom prst="bentConnector4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6" name="">
            <a:extLst>
              <a:ext uri="{FF2B5EF4-FFF2-40B4-BE49-F238E27FC236}">
                <ns2:creationId id="{55D57DAE-6292-4CF3-9CBA-C1C0BDAD593F}"/>
              </a:ext>
            </a:extLst>
          </p:cNvPr>
          <p:cNvCxnSpPr>
            <a:stCxn id="4" idx="3"/>
            <a:endCxn id="8" idx="1"/>
          </p:cNvCxnSpPr>
          <p:nvPr/>
        </p:nvCxnSpPr>
        <p:spPr>
          <a:xfrm>
            <a:off x="6858000" y="3667125"/>
            <a:ext cx="2238375" cy="257175"/>
          </a:xfrm>
          <a:prstGeom prst="bentConnector4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5" name="">
            <a:extLst>
              <a:ext uri="{FF2B5EF4-FFF2-40B4-BE49-F238E27FC236}">
                <ns2:creationId id="{6F59B5F4-55DB-42E2-9607-7D57255C67B4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4310063" y="6334125"/>
            <a:ext cx="0" cy="333375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4" name="">
            <a:extLst>
              <a:ext uri="{FF2B5EF4-FFF2-40B4-BE49-F238E27FC236}">
                <ns2:creationId id="{5C4CC612-2DE1-4EBC-BDA6-65A5D79A0BFD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4310063" y="5191125"/>
            <a:ext cx="0" cy="38100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3" name="">
            <a:extLst>
              <a:ext uri="{FF2B5EF4-FFF2-40B4-BE49-F238E27FC236}">
                <ns2:creationId id="{1D0A45BA-29EB-45AE-BDC7-9117632C6946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4310063" y="4048125"/>
            <a:ext cx="0" cy="38100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2" name="">
            <a:extLst>
              <a:ext uri="{FF2B5EF4-FFF2-40B4-BE49-F238E27FC236}">
                <ns2:creationId id="{0C9436FF-FA42-42B5-957E-B7017CC7CAAE}"/>
              </a:ext>
            </a:extLst>
          </p:cNvPr>
          <p:cNvCxnSpPr>
            <a:stCxn id="3" idx="2"/>
            <a:endCxn id="4" idx="0"/>
          </p:cNvCxnSpPr>
          <p:nvPr/>
        </p:nvCxnSpPr>
        <p:spPr>
          <a:xfrm>
            <a:off x="4310063" y="2952750"/>
            <a:ext cx="0" cy="333375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sp>
        <p:nvSpPr>
          <p:cNvPr id="26" name="text-0">
            <a:extLst>
              <a:ext uri="{FF2B5EF4-FFF2-40B4-BE49-F238E27FC236}">
                <ns2:creationId id="{757E068D-8D62-419F-A4C7-A12328E08023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DSL 規則順序：一條 rule 要通過三層檢查</a:t>
            </a:r>
          </a:p>
        </p:txBody>
      </p:sp>
      <p:sp>
        <p:nvSpPr>
          <p:cNvPr id="2" name="text-1">
            <a:extLst>
              <a:ext uri="{FF2B5EF4-FFF2-40B4-BE49-F238E27FC236}">
                <ns2:creationId id="{9E8C6D18-3C0B-4AAB-8242-F073CF582F9F}"/>
              </a:ext>
            </a:extLst>
          </p:cNvPr>
          <p:cNvSpPr>
            <a:spLocks noGrp="1"/>
          </p:cNvSpPr>
          <p:nvPr/>
        </p:nvSpPr>
        <p:spPr>
          <a:xfrm>
            <a:off x="1714500" y="1543050"/>
            <a:ext cx="124968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每個閒置的我方單位，從 rules 第一條開始；採用第一個能合法發出的動作。</a:t>
            </a:r>
          </a:p>
        </p:txBody>
      </p:sp>
      <p:sp>
        <p:nvSpPr>
          <p:cNvPr id="3" name="rule">
            <a:extLst>
              <a:ext uri="{FF2B5EF4-FFF2-40B4-BE49-F238E27FC236}">
                <ns2:creationId id="{142D2C68-EBED-4698-9AD3-ED7122C488D0}"/>
              </a:ext>
            </a:extLst>
          </p:cNvPr>
          <p:cNvSpPr>
            <a:spLocks noGrp="1"/>
          </p:cNvSpPr>
          <p:nvPr/>
        </p:nvSpPr>
        <p:spPr>
          <a:xfrm>
            <a:off x="1762125" y="2286000"/>
            <a:ext cx="5095875" cy="66675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讀取這個單位的當前 rule</a:t>
            </a:r>
          </a:p>
        </p:txBody>
      </p:sp>
      <p:sp>
        <p:nvSpPr>
          <p:cNvPr id="4" name="actor">
            <a:extLst>
              <a:ext uri="{FF2B5EF4-FFF2-40B4-BE49-F238E27FC236}">
                <ns2:creationId id="{6AE99626-8558-420F-BB8A-DEE2E08C8F1D}"/>
              </a:ext>
            </a:extLst>
          </p:cNvPr>
          <p:cNvSpPr>
            <a:spLocks noGrp="1"/>
          </p:cNvSpPr>
          <p:nvPr/>
        </p:nvSpPr>
        <p:spPr>
          <a:xfrm>
            <a:off x="1762125" y="3286125"/>
            <a:ext cx="5095875" cy="7620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① actor 檢查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單位類型符合這條規則？</a:t>
            </a:r>
          </a:p>
        </p:txBody>
      </p:sp>
      <p:sp>
        <p:nvSpPr>
          <p:cNvPr id="5" name="when">
            <a:extLst>
              <a:ext uri="{FF2B5EF4-FFF2-40B4-BE49-F238E27FC236}">
                <ns2:creationId id="{96C124CF-2BF4-474F-9660-FDA28B49118F}"/>
              </a:ext>
            </a:extLst>
          </p:cNvPr>
          <p:cNvSpPr>
            <a:spLocks noGrp="1"/>
          </p:cNvSpPr>
          <p:nvPr/>
        </p:nvSpPr>
        <p:spPr>
          <a:xfrm>
            <a:off x="1762125" y="4429125"/>
            <a:ext cx="5095875" cy="7620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② when 檢查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當前狀態是否滿足條件？</a:t>
            </a:r>
          </a:p>
        </p:txBody>
      </p:sp>
      <p:sp>
        <p:nvSpPr>
          <p:cNvPr id="6" name="legal">
            <a:extLst>
              <a:ext uri="{FF2B5EF4-FFF2-40B4-BE49-F238E27FC236}">
                <ns2:creationId id="{1935A251-EE24-4856-B7D6-524879FDBB1C}"/>
              </a:ext>
            </a:extLst>
          </p:cNvPr>
          <p:cNvSpPr>
            <a:spLocks noGrp="1"/>
          </p:cNvSpPr>
          <p:nvPr/>
        </p:nvSpPr>
        <p:spPr>
          <a:xfrm>
            <a:off x="1762125" y="5572125"/>
            <a:ext cx="5095875" cy="7620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③ action 檢查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是否真的能合法發出動作？</a:t>
            </a:r>
          </a:p>
        </p:txBody>
      </p:sp>
      <p:sp>
        <p:nvSpPr>
          <p:cNvPr id="7" name="success">
            <a:extLst>
              <a:ext uri="{FF2B5EF4-FFF2-40B4-BE49-F238E27FC236}">
                <ns2:creationId id="{36A63519-545F-462C-8535-14F0D803FD31}"/>
              </a:ext>
            </a:extLst>
          </p:cNvPr>
          <p:cNvSpPr>
            <a:spLocks noGrp="1"/>
          </p:cNvSpPr>
          <p:nvPr/>
        </p:nvSpPr>
        <p:spPr>
          <a:xfrm>
            <a:off x="1762125" y="6667500"/>
            <a:ext cx="5095875" cy="66675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成功：加入本輪動作、更新預留</a:t>
            </a:r>
          </a:p>
          <a:p>
            <a: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停止此單位；換下一個單位</a:t>
            </a:r>
          </a:p>
        </p:txBody>
      </p:sp>
      <p:sp>
        <p:nvSpPr>
          <p:cNvPr id="8" name="type-fail">
            <a:extLst>
              <a:ext uri="{FF2B5EF4-FFF2-40B4-BE49-F238E27FC236}">
                <ns2:creationId id="{218B497D-E96E-4971-B591-9968B122939C}"/>
              </a:ext>
            </a:extLst>
          </p:cNvPr>
          <p:cNvSpPr>
            <a:spLocks noGrp="1"/>
          </p:cNvSpPr>
          <p:nvPr/>
        </p:nvSpPr>
        <p:spPr>
          <a:xfrm>
            <a:off x="9096375" y="3286125"/>
            <a:ext cx="4953000" cy="7620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類型不符 → 下一條 rule</a:t>
            </a:r>
          </a:p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例如 Worker 跳過 Base 的規則</a:t>
            </a:r>
          </a:p>
        </p:txBody>
      </p:sp>
      <p:sp>
        <p:nvSpPr>
          <p:cNvPr id="9" name="condition-fail">
            <a:extLst>
              <a:ext uri="{FF2B5EF4-FFF2-40B4-BE49-F238E27FC236}">
                <ns2:creationId id="{DB89A615-060A-4DCE-9443-13EB55D51451}"/>
              </a:ext>
            </a:extLst>
          </p:cNvPr>
          <p:cNvSpPr>
            <a:spLocks noGrp="1"/>
          </p:cNvSpPr>
          <p:nvPr/>
        </p:nvSpPr>
        <p:spPr>
          <a:xfrm>
            <a:off x="9096375" y="4429125"/>
            <a:ext cx="4953000" cy="7620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條件為否 → 下一條 rule</a:t>
            </a:r>
          </a:p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例如攜帶 0 資源，不能 return</a:t>
            </a:r>
          </a:p>
        </p:txBody>
      </p:sp>
      <p:sp>
        <p:nvSpPr>
          <p:cNvPr id="10" name="action-fail">
            <a:extLst>
              <a:ext uri="{FF2B5EF4-FFF2-40B4-BE49-F238E27FC236}">
                <ns2:creationId id="{926E578F-00E2-4A4D-AECF-4DDE501E9805}"/>
              </a:ext>
            </a:extLst>
          </p:cNvPr>
          <p:cNvSpPr>
            <a:spLocks noGrp="1"/>
          </p:cNvSpPr>
          <p:nvPr/>
        </p:nvSpPr>
        <p:spPr>
          <a:xfrm>
            <a:off x="9096375" y="5572125"/>
            <a:ext cx="4953000" cy="7620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動作失敗 → 下一條 rule</a:t>
            </a:r>
          </a:p>
          <a:p>
            <a: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例如無目標、超出射程、資源不足</a:t>
            </a:r>
          </a:p>
        </p:txBody>
      </p:sp>
      <p:sp>
        <p:nvSpPr>
          <p:cNvPr id="11" name="exhausted">
            <a:extLst>
              <a:ext uri="{FF2B5EF4-FFF2-40B4-BE49-F238E27FC236}">
                <ns2:creationId id="{ED2D092B-4AF2-4A3E-A7EF-88A78764055E}"/>
              </a:ext>
            </a:extLst>
          </p:cNvPr>
          <p:cNvSpPr>
            <a:spLocks noGrp="1"/>
          </p:cNvSpPr>
          <p:nvPr/>
        </p:nvSpPr>
        <p:spPr>
          <a:xfrm>
            <a:off x="9096375" y="6667500"/>
            <a:ext cx="4953000" cy="66675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若已無下一條 rule → idle</a:t>
            </a:r>
          </a:p>
        </p:txBody>
      </p:sp>
      <p:sp>
        <p:nvSpPr>
          <p:cNvPr id="19" name="text-18">
            <a:extLst>
              <a:ext uri="{FF2B5EF4-FFF2-40B4-BE49-F238E27FC236}">
                <ns2:creationId id="{CD071771-A958-4FB3-B634-DC8904285364}"/>
              </a:ext>
            </a:extLst>
          </p:cNvPr>
          <p:cNvSpPr>
            <a:spLocks noGrp="1"/>
          </p:cNvSpPr>
          <p:nvPr/>
        </p:nvSpPr>
        <p:spPr>
          <a:xfrm>
            <a:off x="4524375" y="4067175"/>
            <a:ext cx="1428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符合</a:t>
            </a:r>
          </a:p>
        </p:txBody>
      </p:sp>
      <p:sp>
        <p:nvSpPr>
          <p:cNvPr id="20" name="text-19">
            <a:extLst>
              <a:ext uri="{FF2B5EF4-FFF2-40B4-BE49-F238E27FC236}">
                <ns2:creationId id="{2094F3C2-9FD1-4DFF-BF37-FBF8BA22D2E4}"/>
              </a:ext>
            </a:extLst>
          </p:cNvPr>
          <p:cNvSpPr>
            <a:spLocks noGrp="1"/>
          </p:cNvSpPr>
          <p:nvPr/>
        </p:nvSpPr>
        <p:spPr>
          <a:xfrm>
            <a:off x="4524375" y="5210175"/>
            <a:ext cx="1428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成立</a:t>
            </a:r>
          </a:p>
        </p:txBody>
      </p:sp>
      <p:sp>
        <p:nvSpPr>
          <p:cNvPr id="21" name="text-20">
            <a:extLst>
              <a:ext uri="{FF2B5EF4-FFF2-40B4-BE49-F238E27FC236}">
                <ns2:creationId id="{DBF7B2C0-F3EF-489F-A6C9-CFEB37056DF1}"/>
              </a:ext>
            </a:extLst>
          </p:cNvPr>
          <p:cNvSpPr>
            <a:spLocks noGrp="1"/>
          </p:cNvSpPr>
          <p:nvPr/>
        </p:nvSpPr>
        <p:spPr>
          <a:xfrm>
            <a:off x="4524375" y="6343650"/>
            <a:ext cx="1428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可發出</a:t>
            </a:r>
          </a:p>
        </p:txBody>
      </p:sp>
      <p:sp>
        <p:nvSpPr>
          <p:cNvPr id="22" name="text-21">
            <a:extLst>
              <a:ext uri="{FF2B5EF4-FFF2-40B4-BE49-F238E27FC236}">
                <ns2:creationId id="{A1B14C51-91DC-4A95-B5C6-67C304EB2495}"/>
              </a:ext>
            </a:extLst>
          </p:cNvPr>
          <p:cNvSpPr>
            <a:spLocks noGrp="1"/>
          </p:cNvSpPr>
          <p:nvPr/>
        </p:nvSpPr>
        <p:spPr>
          <a:xfrm>
            <a:off x="7620000" y="3390900"/>
            <a:ext cx="952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不符</a:t>
            </a:r>
          </a:p>
        </p:txBody>
      </p:sp>
      <p:sp>
        <p:nvSpPr>
          <p:cNvPr id="23" name="text-22">
            <a:extLst>
              <a:ext uri="{FF2B5EF4-FFF2-40B4-BE49-F238E27FC236}">
                <ns2:creationId id="{5A4A21FF-7AF2-484E-B36C-79C9C5E6359A}"/>
              </a:ext>
            </a:extLst>
          </p:cNvPr>
          <p:cNvSpPr>
            <a:spLocks noGrp="1"/>
          </p:cNvSpPr>
          <p:nvPr/>
        </p:nvSpPr>
        <p:spPr>
          <a:xfrm>
            <a:off x="7620000" y="4533900"/>
            <a:ext cx="952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否</a:t>
            </a:r>
          </a:p>
        </p:txBody>
      </p:sp>
      <p:sp>
        <p:nvSpPr>
          <p:cNvPr id="24" name="text-23">
            <a:extLst>
              <a:ext uri="{FF2B5EF4-FFF2-40B4-BE49-F238E27FC236}">
                <ns2:creationId id="{1CCF15BA-29C5-40FB-98F6-7A6027526B7A}"/>
              </a:ext>
            </a:extLst>
          </p:cNvPr>
          <p:cNvSpPr>
            <a:spLocks noGrp="1"/>
          </p:cNvSpPr>
          <p:nvPr/>
        </p:nvSpPr>
        <p:spPr>
          <a:xfrm>
            <a:off x="7620000" y="5676900"/>
            <a:ext cx="952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不可</a:t>
            </a:r>
          </a:p>
        </p:txBody>
      </p:sp>
      <p:sp>
        <p:nvSpPr>
          <p:cNvPr id="25" name="text-24">
            <a:extLst>
              <a:ext uri="{FF2B5EF4-FFF2-40B4-BE49-F238E27FC236}">
                <ns2:creationId id="{58E6C0BB-E802-4DB5-8887-508F9D4969D0}"/>
              </a:ext>
            </a:extLst>
          </p:cNvPr>
          <p:cNvSpPr>
            <a:spLocks noGrp="1"/>
          </p:cNvSpPr>
          <p:nvPr/>
        </p:nvSpPr>
        <p:spPr>
          <a:xfrm>
            <a:off x="1762125" y="7486650"/>
            <a:ext cx="124015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fallback = 對同一個單位往下試下一條規則；每次都重新檢查 actor → when → action。</a:t>
            </a:r>
          </a:p>
        </p:txBody>
      </p:sp>
      <p:sp>
        <p:nvSpPr>
          <p:cNvPr id="27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5</a:t>
            </a:fld>
          </a:p>
        </p:txBody>
      </p:sp>
    </p:spTree>
    <p:extLst>
      <p:ext uri="{BB962C8B-B14F-4D97-AF65-F5344CB8AC3E}">
        <ns3:creationId val="1689479452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cxnSp>
        <p:nvCxnSpPr>
          <p:cNvPr id="19" name="">
            <a:extLst>
              <a:ext uri="{FF2B5EF4-FFF2-40B4-BE49-F238E27FC236}">
                <ns2:creationId id="{59F86FB1-62AD-4A44-9D3A-E8C1BB261AA4}"/>
              </a:ext>
            </a:extLst>
          </p:cNvPr>
          <p:cNvCxnSpPr>
            <a:stCxn id="6" idx="2"/>
            <a:endCxn id="9" idx="0"/>
          </p:cNvCxnSpPr>
          <p:nvPr/>
        </p:nvCxnSpPr>
        <p:spPr>
          <a:xfrm>
            <a:off x="3429000" y="5429250"/>
            <a:ext cx="0" cy="619125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8" name="">
            <a:extLst>
              <a:ext uri="{FF2B5EF4-FFF2-40B4-BE49-F238E27FC236}">
                <ns2:creationId id="{12E5751F-77C6-4407-A8AC-114011C2E073}"/>
              </a:ext>
            </a:extLst>
          </p:cNvPr>
          <p:cNvCxnSpPr>
            <a:stCxn id="3" idx="2"/>
            <a:endCxn id="6" idx="0"/>
          </p:cNvCxnSpPr>
          <p:nvPr/>
        </p:nvCxnSpPr>
        <p:spPr>
          <a:xfrm>
            <a:off x="3429000" y="3619500"/>
            <a:ext cx="0" cy="619125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7" name="">
            <a:extLst>
              <a:ext uri="{FF2B5EF4-FFF2-40B4-BE49-F238E27FC236}">
                <ns2:creationId id="{69B0B030-0235-4FA8-9C4A-0F47765574CB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10001250" y="6643688"/>
            <a:ext cx="571500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6" name="">
            <a:extLst>
              <a:ext uri="{FF2B5EF4-FFF2-40B4-BE49-F238E27FC236}">
                <ns2:creationId id="{EAFEECC9-32AD-43AC-8AEF-1FFA113C0352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286375" y="6643688"/>
            <a:ext cx="571500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5" name="">
            <a:extLst>
              <a:ext uri="{FF2B5EF4-FFF2-40B4-BE49-F238E27FC236}">
                <ns2:creationId id="{FEBEBDBE-6B58-43E3-8B94-23F4B15FE0BD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10001250" y="4833938"/>
            <a:ext cx="571500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4" name="">
            <a:extLst>
              <a:ext uri="{FF2B5EF4-FFF2-40B4-BE49-F238E27FC236}">
                <ns2:creationId id="{83CF3FF4-EC8A-4271-AD86-08B154F6801B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286375" y="4833938"/>
            <a:ext cx="571500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3" name="">
            <a:extLst>
              <a:ext uri="{FF2B5EF4-FFF2-40B4-BE49-F238E27FC236}">
                <ns2:creationId id="{1CB6D6A6-FCFA-46E6-9E1B-377FAD9B9E54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10001250" y="3024188"/>
            <a:ext cx="571500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2" name="">
            <a:extLst>
              <a:ext uri="{FF2B5EF4-FFF2-40B4-BE49-F238E27FC236}">
                <ns2:creationId id="{51323C7F-1C2B-46C3-AC65-ABFA6781A92B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5286375" y="3024188"/>
            <a:ext cx="571500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sp>
        <p:nvSpPr>
          <p:cNvPr id="21" name="text-0">
            <a:extLst>
              <a:ext uri="{FF2B5EF4-FFF2-40B4-BE49-F238E27FC236}">
                <ns2:creationId id="{07CA6A93-ADA7-41C5-ABA4-1E7AD6F42B1A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具體例子：同一個 Worker 如何 fallback？</a:t>
            </a:r>
          </a:p>
        </p:txBody>
      </p:sp>
      <p:sp>
        <p:nvSpPr>
          <p:cNvPr id="2" name="text-1">
            <a:extLst>
              <a:ext uri="{FF2B5EF4-FFF2-40B4-BE49-F238E27FC236}">
                <ns2:creationId id="{AB87D0D3-3019-4B26-8639-4296A36B2227}"/>
              </a:ext>
            </a:extLst>
          </p:cNvPr>
          <p:cNvSpPr>
            <a:spLocks noGrp="1"/>
          </p:cNvSpPr>
          <p:nvPr/>
        </p:nvSpPr>
        <p:spPr>
          <a:xfrm>
            <a:off x="1714500" y="1543050"/>
            <a:ext cx="124968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機制示例：Worker 攜帶 0 資源；所有敵人都在射程外；旁邊有可採集的 Resource。</a:t>
            </a:r>
          </a:p>
        </p:txBody>
      </p:sp>
      <p:sp>
        <p:nvSpPr>
          <p:cNvPr id="3" name="r1">
            <a:extLst>
              <a:ext uri="{FF2B5EF4-FFF2-40B4-BE49-F238E27FC236}">
                <ns2:creationId id="{9BED2D61-9E4D-4E51-83CC-B764CAE19EA0}"/>
              </a:ext>
            </a:extLst>
          </p:cNvPr>
          <p:cNvSpPr>
            <a:spLocks noGrp="1"/>
          </p:cNvSpPr>
          <p:nvPr/>
        </p:nvSpPr>
        <p:spPr>
          <a:xfrm>
            <a:off x="1571625" y="2428875"/>
            <a:ext cx="3714750" cy="1190625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Rule 1：return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when：攜帶資源 &gt; 0</a:t>
            </a:r>
          </a:p>
        </p:txBody>
      </p:sp>
      <p:sp>
        <p:nvSpPr>
          <p:cNvPr id="4" name="test1">
            <a:extLst>
              <a:ext uri="{FF2B5EF4-FFF2-40B4-BE49-F238E27FC236}">
                <ns2:creationId id="{8B49EAAA-70F0-4583-8B3D-F27CC310711E}"/>
              </a:ext>
            </a:extLst>
          </p:cNvPr>
          <p:cNvSpPr>
            <a:spLocks noGrp="1"/>
          </p:cNvSpPr>
          <p:nvPr/>
        </p:nvSpPr>
        <p:spPr>
          <a:xfrm>
            <a:off x="5857875" y="2428875"/>
            <a:ext cx="4143375" cy="1190625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Worker 攜帶 0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when = false</a:t>
            </a:r>
          </a:p>
        </p:txBody>
      </p:sp>
      <p:sp>
        <p:nvSpPr>
          <p:cNvPr id="5" name="result1">
            <a:extLst>
              <a:ext uri="{FF2B5EF4-FFF2-40B4-BE49-F238E27FC236}">
                <ns2:creationId id="{36AD67C6-982C-4252-A826-2226710A175A}"/>
              </a:ext>
            </a:extLst>
          </p:cNvPr>
          <p:cNvSpPr>
            <a:spLocks noGrp="1"/>
          </p:cNvSpPr>
          <p:nvPr/>
        </p:nvSpPr>
        <p:spPr>
          <a:xfrm>
            <a:off x="10572750" y="2428875"/>
            <a:ext cx="3781425" cy="1190625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不嘗試 return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繼續 Rule 2</a:t>
            </a:r>
          </a:p>
        </p:txBody>
      </p:sp>
      <p:sp>
        <p:nvSpPr>
          <p:cNvPr id="6" name="r2">
            <a:extLst>
              <a:ext uri="{FF2B5EF4-FFF2-40B4-BE49-F238E27FC236}">
                <ns2:creationId id="{A90A6B30-A8EE-4CBA-B93E-03103DC6AEFD}"/>
              </a:ext>
            </a:extLst>
          </p:cNvPr>
          <p:cNvSpPr>
            <a:spLocks noGrp="1"/>
          </p:cNvSpPr>
          <p:nvPr/>
        </p:nvSpPr>
        <p:spPr>
          <a:xfrm>
            <a:off x="1571625" y="4238625"/>
            <a:ext cx="3714750" cy="1190625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Rule 2：attack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when：true</a:t>
            </a:r>
          </a:p>
        </p:txBody>
      </p:sp>
      <p:sp>
        <p:nvSpPr>
          <p:cNvPr id="7" name="test2">
            <a:extLst>
              <a:ext uri="{FF2B5EF4-FFF2-40B4-BE49-F238E27FC236}">
                <ns2:creationId id="{68312906-2DC4-4126-A746-7D648600995A}"/>
              </a:ext>
            </a:extLst>
          </p:cNvPr>
          <p:cNvSpPr>
            <a:spLocks noGrp="1"/>
          </p:cNvSpPr>
          <p:nvPr/>
        </p:nvSpPr>
        <p:spPr>
          <a:xfrm>
            <a:off x="5857875" y="4238625"/>
            <a:ext cx="4143375" cy="1190625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所有敵人都在射程外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沒有合法 attack 目標</a:t>
            </a:r>
          </a:p>
        </p:txBody>
      </p:sp>
      <p:sp>
        <p:nvSpPr>
          <p:cNvPr id="8" name="result2">
            <a:extLst>
              <a:ext uri="{FF2B5EF4-FFF2-40B4-BE49-F238E27FC236}">
                <ns2:creationId id="{FC38465D-BBE8-492F-B43D-6FA99CDD0EF3}"/>
              </a:ext>
            </a:extLst>
          </p:cNvPr>
          <p:cNvSpPr>
            <a:spLocks noGrp="1"/>
          </p:cNvSpPr>
          <p:nvPr/>
        </p:nvSpPr>
        <p:spPr>
          <a:xfrm>
            <a:off x="10572750" y="4238625"/>
            <a:ext cx="3781425" cy="1190625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條件成立，動作仍失敗</a:t>
            </a:r>
          </a:p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繼續 Rule 3</a:t>
            </a:r>
          </a:p>
        </p:txBody>
      </p:sp>
      <p:sp>
        <p:nvSpPr>
          <p:cNvPr id="9" name="r3">
            <a:extLst>
              <a:ext uri="{FF2B5EF4-FFF2-40B4-BE49-F238E27FC236}">
                <ns2:creationId id="{C559C8A2-B599-42E3-86BB-E8CFCED6CC80}"/>
              </a:ext>
            </a:extLst>
          </p:cNvPr>
          <p:cNvSpPr>
            <a:spLocks noGrp="1"/>
          </p:cNvSpPr>
          <p:nvPr/>
        </p:nvSpPr>
        <p:spPr>
          <a:xfrm>
            <a:off x="1571625" y="6048375"/>
            <a:ext cx="3714750" cy="1190625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Rule 3：harvest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when：true</a:t>
            </a:r>
          </a:p>
        </p:txBody>
      </p:sp>
      <p:sp>
        <p:nvSpPr>
          <p:cNvPr id="10" name="test3">
            <a:extLst>
              <a:ext uri="{FF2B5EF4-FFF2-40B4-BE49-F238E27FC236}">
                <ns2:creationId id="{C18CFFA9-AA87-47AD-8F74-B8D9F6C1C213}"/>
              </a:ext>
            </a:extLst>
          </p:cNvPr>
          <p:cNvSpPr>
            <a:spLocks noGrp="1"/>
          </p:cNvSpPr>
          <p:nvPr/>
        </p:nvSpPr>
        <p:spPr>
          <a:xfrm>
            <a:off x="5857875" y="6048375"/>
            <a:ext cx="4143375" cy="1190625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鄰接資源，可合法採集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動作檢查通過</a:t>
            </a:r>
          </a:p>
        </p:txBody>
      </p:sp>
      <p:sp>
        <p:nvSpPr>
          <p:cNvPr id="11" name="result3">
            <a:extLst>
              <a:ext uri="{FF2B5EF4-FFF2-40B4-BE49-F238E27FC236}">
                <ns2:creationId id="{318164AF-BF04-46B6-9DC5-BCA528D2ED79}"/>
              </a:ext>
            </a:extLst>
          </p:cNvPr>
          <p:cNvSpPr>
            <a:spLocks noGrp="1"/>
          </p:cNvSpPr>
          <p:nvPr/>
        </p:nvSpPr>
        <p:spPr>
          <a:xfrm>
            <a:off x="10572750" y="6048375"/>
            <a:ext cx="3781425" cy="1190625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發出 1 個 harvest</a:t>
            </a:r>
          </a:p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停止，不再檢查後續規則</a:t>
            </a:r>
          </a:p>
        </p:txBody>
      </p:sp>
      <p:sp>
        <p:nvSpPr>
          <p:cNvPr id="20" name="text-19">
            <a:extLst>
              <a:ext uri="{FF2B5EF4-FFF2-40B4-BE49-F238E27FC236}">
                <ns2:creationId id="{8E6109AF-B9C1-4543-AB4B-886198977A62}"/>
              </a:ext>
            </a:extLst>
          </p:cNvPr>
          <p:cNvSpPr>
            <a:spLocks noGrp="1"/>
          </p:cNvSpPr>
          <p:nvPr/>
        </p:nvSpPr>
        <p:spPr>
          <a:xfrm>
            <a:off x="1762125" y="7486650"/>
            <a:ext cx="124015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這一輪只發出 harvest；不是 return、attack、harvest 三個動作都一起執行。</a:t>
            </a:r>
          </a:p>
        </p:txBody>
      </p:sp>
      <p:sp>
        <p:nvSpPr>
          <p:cNvPr id="22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6</a:t>
            </a:fld>
          </a:p>
        </p:txBody>
      </p:sp>
    </p:spTree>
    <p:extLst>
      <p:ext uri="{BB962C8B-B14F-4D97-AF65-F5344CB8AC3E}">
        <ns3:creationId val="1768266653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cxnSp>
        <p:nvCxnSpPr>
          <p:cNvPr id="14" name="">
            <a:extLst>
              <a:ext uri="{FF2B5EF4-FFF2-40B4-BE49-F238E27FC236}">
                <ns2:creationId id="{E0BBB0B5-466C-4553-A278-B2C05BEFAB3F}"/>
              </a:ext>
            </a:extLst>
          </p:cNvPr>
          <p:cNvCxnSpPr>
            <a:stCxn id="4" idx="2"/>
            <a:endCxn id="7" idx="0"/>
          </p:cNvCxnSpPr>
          <p:nvPr/>
        </p:nvCxnSpPr>
        <p:spPr>
          <a:xfrm>
            <a:off x="3429000" y="4714875"/>
            <a:ext cx="0" cy="1095375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3" name="">
            <a:extLst>
              <a:ext uri="{FF2B5EF4-FFF2-40B4-BE49-F238E27FC236}">
                <ns2:creationId id="{181A10B4-543A-4007-9D57-A2AEAE4A4983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10001250" y="6405563"/>
            <a:ext cx="571500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2" name="">
            <a:extLst>
              <a:ext uri="{FF2B5EF4-FFF2-40B4-BE49-F238E27FC236}">
                <ns2:creationId id="{9A389BAA-2C99-4876-93CC-BEB4BB2002BD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5286375" y="6405563"/>
            <a:ext cx="571500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1" name="">
            <a:extLst>
              <a:ext uri="{FF2B5EF4-FFF2-40B4-BE49-F238E27FC236}">
                <ns2:creationId id="{BA1AE4B7-FCC9-4404-94FC-97B7C51D2B46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10001250" y="4119563"/>
            <a:ext cx="571500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0" name="">
            <a:extLst>
              <a:ext uri="{FF2B5EF4-FFF2-40B4-BE49-F238E27FC236}">
                <ns2:creationId id="{70677EA4-6866-42EF-B395-AE8D36E547C0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5286375" y="4119563"/>
            <a:ext cx="571500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sp>
        <p:nvSpPr>
          <p:cNvPr id="17" name="text-0">
            <a:extLst>
              <a:ext uri="{FF2B5EF4-FFF2-40B4-BE49-F238E27FC236}">
                <ns2:creationId id="{546C807A-D480-48DD-9B55-090C644E3711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多個單位：先成功的動作會預留資源與格子</a:t>
            </a:r>
          </a:p>
        </p:txBody>
      </p:sp>
      <p:sp>
        <p:nvSpPr>
          <p:cNvPr id="2" name="text-1">
            <a:extLst>
              <a:ext uri="{FF2B5EF4-FFF2-40B4-BE49-F238E27FC236}">
                <ns2:creationId id="{36889BF6-78D9-4821-96B1-4ED04D8DE665}"/>
              </a:ext>
            </a:extLst>
          </p:cNvPr>
          <p:cNvSpPr>
            <a:spLocks noGrp="1"/>
          </p:cNvSpPr>
          <p:nvPr/>
        </p:nvSpPr>
        <p:spPr>
          <a:xfrm>
            <a:off x="1714500" y="1543050"/>
            <a:ext cx="124968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機制示例：兩座閒置 Base、共有 1 資源；Worker 成本 1，兩座 Base 都有空的鄰格。</a:t>
            </a:r>
          </a:p>
        </p:txBody>
      </p:sp>
      <p:sp>
        <p:nvSpPr>
          <p:cNvPr id="3" name="shared">
            <a:extLst>
              <a:ext uri="{FF2B5EF4-FFF2-40B4-BE49-F238E27FC236}">
                <ns2:creationId id="{7A9F8CA0-445F-4AD8-A2E0-CE4D98727A21}"/>
              </a:ext>
            </a:extLst>
          </p:cNvPr>
          <p:cNvSpPr>
            <a:spLocks noGrp="1"/>
          </p:cNvSpPr>
          <p:nvPr/>
        </p:nvSpPr>
        <p:spPr>
          <a:xfrm>
            <a:off x="2381250" y="2238375"/>
            <a:ext cx="11163300" cy="714375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共同規則：stockpile ≥ 1 → train Worker；下一條為 idle</a:t>
            </a:r>
          </a:p>
        </p:txBody>
      </p:sp>
      <p:sp>
        <p:nvSpPr>
          <p:cNvPr id="4" name="base10">
            <a:extLst>
              <a:ext uri="{FF2B5EF4-FFF2-40B4-BE49-F238E27FC236}">
                <ns2:creationId id="{29F6DF02-A414-4C7C-83A5-1F14EB1CF9C9}"/>
              </a:ext>
            </a:extLst>
          </p:cNvPr>
          <p:cNvSpPr>
            <a:spLocks noGrp="1"/>
          </p:cNvSpPr>
          <p:nvPr/>
        </p:nvSpPr>
        <p:spPr>
          <a:xfrm>
            <a:off x="1571625" y="3524250"/>
            <a:ext cx="3714750" cy="1190625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先處理 ID 10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when：1 ≥ 1，成立</a:t>
            </a:r>
          </a:p>
        </p:txBody>
      </p:sp>
      <p:sp>
        <p:nvSpPr>
          <p:cNvPr id="5" name="train10">
            <a:extLst>
              <a:ext uri="{FF2B5EF4-FFF2-40B4-BE49-F238E27FC236}">
                <ns2:creationId id="{99876AAF-D583-414F-99D2-190564186F28}"/>
              </a:ext>
            </a:extLst>
          </p:cNvPr>
          <p:cNvSpPr>
            <a:spLocks noGrp="1"/>
          </p:cNvSpPr>
          <p:nvPr/>
        </p:nvSpPr>
        <p:spPr>
          <a:xfrm>
            <a:off x="5857875" y="3524250"/>
            <a:ext cx="4143375" cy="1190625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train 可合法發出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成本 1、鄰格可用</a:t>
            </a:r>
          </a:p>
        </p:txBody>
      </p:sp>
      <p:sp>
        <p:nvSpPr>
          <p:cNvPr id="6" name="reserve10">
            <a:extLst>
              <a:ext uri="{FF2B5EF4-FFF2-40B4-BE49-F238E27FC236}">
                <ns2:creationId id="{46B55222-8F32-4F0D-8226-7DA0CB4619E5}"/>
              </a:ext>
            </a:extLst>
          </p:cNvPr>
          <p:cNvSpPr>
            <a:spLocks noGrp="1"/>
          </p:cNvSpPr>
          <p:nvPr/>
        </p:nvSpPr>
        <p:spPr>
          <a:xfrm>
            <a:off x="10572750" y="3524250"/>
            <a:ext cx="3781425" cy="1190625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加入 train 動作</a:t>
            </a:r>
          </a:p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預留 1 資源 + 出生格</a:t>
            </a:r>
          </a:p>
        </p:txBody>
      </p:sp>
      <p:sp>
        <p:nvSpPr>
          <p:cNvPr id="7" name="base20">
            <a:extLst>
              <a:ext uri="{FF2B5EF4-FFF2-40B4-BE49-F238E27FC236}">
                <ns2:creationId id="{02E4B921-9E40-4F44-B3E2-C7174EBAD596}"/>
              </a:ext>
            </a:extLst>
          </p:cNvPr>
          <p:cNvSpPr>
            <a:spLocks noGrp="1"/>
          </p:cNvSpPr>
          <p:nvPr/>
        </p:nvSpPr>
        <p:spPr>
          <a:xfrm>
            <a:off x="1571625" y="5810250"/>
            <a:ext cx="3714750" cy="1190625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再處理 ID 20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when：1 ≥ 1，仍成立</a:t>
            </a:r>
          </a:p>
        </p:txBody>
      </p:sp>
      <p:sp>
        <p:nvSpPr>
          <p:cNvPr id="8" name="train20">
            <a:extLst>
              <a:ext uri="{FF2B5EF4-FFF2-40B4-BE49-F238E27FC236}">
                <ns2:creationId id="{5D7581BB-3952-4E97-94E2-3DB411EA134A}"/>
              </a:ext>
            </a:extLst>
          </p:cNvPr>
          <p:cNvSpPr>
            <a:spLocks noGrp="1"/>
          </p:cNvSpPr>
          <p:nvPr/>
        </p:nvSpPr>
        <p:spPr>
          <a:xfrm>
            <a:off x="5857875" y="5810250"/>
            <a:ext cx="4143375" cy="1190625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可用資源 = 1 − 1 = 0</a:t>
            </a:r>
          </a:p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train 無法合法發出</a:t>
            </a:r>
          </a:p>
        </p:txBody>
      </p:sp>
      <p:sp>
        <p:nvSpPr>
          <p:cNvPr id="9" name="fallback20">
            <a:extLst>
              <a:ext uri="{FF2B5EF4-FFF2-40B4-BE49-F238E27FC236}">
                <ns2:creationId id="{DDC620D6-3DA9-48B7-B181-0611AD27ED73}"/>
              </a:ext>
            </a:extLst>
          </p:cNvPr>
          <p:cNvSpPr>
            <a:spLocks noGrp="1"/>
          </p:cNvSpPr>
          <p:nvPr/>
        </p:nvSpPr>
        <p:spPr>
          <a:xfrm>
            <a:off x="10572750" y="5810250"/>
            <a:ext cx="3781425" cy="1190625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跳到下一條 idle</a:t>
            </a:r>
          </a:p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不會再訓練一個 Worker</a:t>
            </a:r>
          </a:p>
        </p:txBody>
      </p:sp>
      <p:sp>
        <p:nvSpPr>
          <p:cNvPr id="15" name="text-14">
            <a:extLst>
              <a:ext uri="{FF2B5EF4-FFF2-40B4-BE49-F238E27FC236}">
                <ns2:creationId id="{85F5174D-9F3E-4C35-8916-9F4859D529C6}"/>
              </a:ext>
            </a:extLst>
          </p:cNvPr>
          <p:cNvSpPr>
            <a:spLocks noGrp="1"/>
          </p:cNvSpPr>
          <p:nvPr/>
        </p:nvSpPr>
        <p:spPr>
          <a:xfrm>
            <a:off x="3714750" y="5143500"/>
            <a:ext cx="101917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依 unit ID 升序；ID 10 已先預留資源與格子</a:t>
            </a:r>
          </a:p>
        </p:txBody>
      </p:sp>
      <p:sp>
        <p:nvSpPr>
          <p:cNvPr id="16" name="text-15">
            <a:extLst>
              <a:ext uri="{FF2B5EF4-FFF2-40B4-BE49-F238E27FC236}">
                <ns2:creationId id="{D912E7FE-9103-46BB-8253-7A5EAF054DF2}"/>
              </a:ext>
            </a:extLst>
          </p:cNvPr>
          <p:cNvSpPr>
            <a:spLocks noGrp="1"/>
          </p:cNvSpPr>
          <p:nvPr/>
        </p:nvSpPr>
        <p:spPr>
          <a:xfrm>
            <a:off x="1762125" y="7486650"/>
            <a:ext cx="124015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stockpile 讀的是當前資源；合法性檢查還要扣除本輪預留。格子也不能被兩個動作重複占用。</a:t>
            </a:r>
          </a:p>
        </p:txBody>
      </p:sp>
      <p:sp>
        <p:nvSpPr>
          <p:cNvPr id="18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7</a:t>
            </a:fld>
          </a:p>
        </p:txBody>
      </p:sp>
    </p:spTree>
    <p:extLst>
      <p:ext uri="{BB962C8B-B14F-4D97-AF65-F5344CB8AC3E}">
        <ns3:creationId val="514487846"/>
      </p:ext>
    </p:extLst>
  </p:cSld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5" name="text-0">
            <a:extLst>
              <a:ext uri="{FF2B5EF4-FFF2-40B4-BE49-F238E27FC236}">
                <ns2:creationId id="{116D17B8-EE58-49D0-BCD9-D3FF1A47AD6E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fallback 與 idle：何時往下試，何時停止？</a:t>
            </a:r>
          </a:p>
        </p:txBody>
      </p:sp>
      <p:sp>
        <p:nvSpPr>
          <p:cNvPr id="2" name="text-1">
            <a:extLst>
              <a:ext uri="{FF2B5EF4-FFF2-40B4-BE49-F238E27FC236}">
                <ns2:creationId id="{B55B436E-FFB0-40D4-9063-B50E4068AEC3}"/>
              </a:ext>
            </a:extLst>
          </p:cNvPr>
          <p:cNvSpPr>
            <a:spLocks noGrp="1"/>
          </p:cNvSpPr>
          <p:nvPr/>
        </p:nvSpPr>
        <p:spPr>
          <a:xfrm>
            <a:off x="1714500" y="1543050"/>
            <a:ext cx="124968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每個單位每個 decision cycle 最多一個原始動作；下次決策時重新從第一條 rule 開始。</a:t>
            </a:r>
          </a:p>
        </p:txBody>
      </p:sp>
      <p:graphicFrame>
        <p:nvGraphicFramePr>
          <p:cNvPr id="3" name="">
            <a:extLst>
              <a:ext uri="{FF2B5EF4-FFF2-40B4-BE49-F238E27FC236}">
                <ns2:creationId id="{452374C3-5835-4BA9-84DC-2D20915F8379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5238750"/>
                <a:gridCol w="7543800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當前規則／狀態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這個單位接下來做什麼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actor／when 不符，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或 action 無法合法發出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嘗試下一條 rule；不輸出這條動作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成功發出非 idle 動作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停止此單位的規則掃描；更新本輪 reservations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命中 idle 規則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（actor、when 都通過）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停止此單位的規則掃描；輸出 TYPE_NONE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所有 rule 都失敗，或 rules 是空陣列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預設輸出 TYPE_NONE；之後處理下一個單位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>
              <a:ext uri="{FF2B5EF4-FFF2-40B4-BE49-F238E27FC236}">
                <ns2:creationId id="{FD26FC61-5AB6-412E-AB70-842880EBDC7F}"/>
              </a:ext>
            </a:extLst>
          </p:cNvPr>
          <p:cNvSpPr>
            <a:spLocks noGrp="1"/>
          </p:cNvSpPr>
          <p:nvPr/>
        </p:nvSpPr>
        <p:spPr>
          <a:xfrm>
            <a:off x="1762125" y="7486650"/>
            <a:ext cx="124015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idle 需 actor、when 通過才會停止；命中後不再往下試，全部失敗也會 idle。</a:t>
            </a:r>
          </a:p>
        </p:txBody>
      </p:sp>
      <p:sp>
        <p:nvSpPr>
          <p:cNvPr id="6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8</a:t>
            </a:fld>
          </a:p>
        </p:txBody>
      </p:sp>
    </p:spTree>
    <p:extLst>
      <p:ext uri="{BB962C8B-B14F-4D97-AF65-F5344CB8AC3E}">
        <ns3:creationId val="950703518"/>
      </p:ext>
    </p:extLst>
  </p:cSld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D7934FA7-08AC-4BDE-9CFD-A5D2B3FC0B83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Gen0 與每代需要保存的狀態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383A4FD0-9F06-4AD4-94AB-90DC4773ACE7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2428875"/>
                <a:gridCol w="5524500"/>
                <a:gridCol w="4829175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階段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候選／狀態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證據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Gen0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單一 WorkerRush policy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複製為 10 個候選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不同 candidate IDs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相同 DSL 與 Java hash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對手快照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bootstrap 後建立 run-local library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Java／語意等價去重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固定 source IDs、slot IDs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與 context_id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Gen1–20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每代建立 10 offspring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保存已完成 survivors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parents、strategy_parent_id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反思與 lineage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Checkpoint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只承認完整提交的 generation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config、compiler/scaffold hashes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manifest、snapshot、timing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9</a:t>
            </a:fld>
          </a:p>
        </p:txBody>
      </p:sp>
    </p:spTree>
    <p:extLst>
      <p:ext uri="{BB962C8B-B14F-4D97-AF65-F5344CB8AC3E}">
        <ns3:creationId val="563957262"/>
      </p:ext>
    </p:extLst>
  </p:cSld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5" name="text-0">
            <a:extLst>
              <a:ext uri="{FF2B5EF4-FFF2-40B4-BE49-F238E27FC236}">
                <ns2:creationId id="{56241D8A-1922-40F0-B70C-C5ED7952D60F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Self-play opponent pool 的建立與刷新</a:t>
            </a:r>
          </a:p>
        </p:txBody>
      </p:sp>
      <p:sp>
        <p:nvSpPr>
          <p:cNvPr id="2" name="text-1">
            <a:extLst>
              <a:ext uri="{FF2B5EF4-FFF2-40B4-BE49-F238E27FC236}">
                <ns2:creationId id="{503B4EF5-8500-452F-BB79-A3EE46D60EA1}"/>
              </a:ext>
            </a:extLst>
          </p:cNvPr>
          <p:cNvSpPr>
            <a:spLocks noGrp="1"/>
          </p:cNvSpPr>
          <p:nvPr/>
        </p:nvSpPr>
        <p:spPr>
          <a:xfrm>
            <a:off x="1762125" y="2305050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只有完整、可執行且評估成功的 phenotype 可進入 library；依 candidate ID、Java hash 與完整語意簽章去重。</a:t>
            </a:r>
          </a:p>
        </p:txBody>
      </p:sp>
      <p:sp>
        <p:nvSpPr>
          <p:cNvPr id="3" name="text-2">
            <a:extLst>
              <a:ext uri="{FF2B5EF4-FFF2-40B4-BE49-F238E27FC236}">
                <ns2:creationId id="{44C0FE13-E863-495D-AC76-0E73D320C55A}"/>
              </a:ext>
            </a:extLst>
          </p:cNvPr>
          <p:cNvSpPr>
            <a:spLocks noGrp="1"/>
          </p:cNvSpPr>
          <p:nvPr/>
        </p:nvSpPr>
        <p:spPr>
          <a:xfrm>
            <a:off x="1762125" y="3895725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Library 容量 50，按 FIFO 保留；刷新時循環取最多 10 個來源，再填滿 10 個 evaluation slots。</a:t>
            </a:r>
          </a:p>
        </p:txBody>
      </p:sp>
      <p:sp>
        <p:nvSpPr>
          <p:cNvPr id="4" name="text-3">
            <a:extLst>
              <a:ext uri="{FF2B5EF4-FFF2-40B4-BE49-F238E27FC236}">
                <ns2:creationId id="{6A74C105-A20A-406F-9B29-0FAB3C10F408}"/>
              </a:ext>
            </a:extLst>
          </p:cNvPr>
          <p:cNvSpPr>
            <a:spLocks noGrp="1"/>
          </p:cNvSpPr>
          <p:nvPr/>
        </p:nvSpPr>
        <p:spPr>
          <a:xfrm>
            <a:off x="1762125" y="5486400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 5 代刷新對手快照：gen5、10、15、20。刷新或 context 改變時，先重評父代，再與 offspring 在相同快照下比較。</a:t>
            </a:r>
          </a:p>
        </p:txBody>
      </p:sp>
      <p:sp>
        <p:nvSpPr>
          <p:cNvPr id="6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10</a:t>
            </a:fld>
          </a:p>
        </p:txBody>
      </p:sp>
    </p:spTree>
    <p:extLst>
      <p:ext uri="{BB962C8B-B14F-4D97-AF65-F5344CB8AC3E}">
        <ns3:creationId val="143803171"/>
      </p:ext>
    </p:extLst>
  </p:cSld>
</p:sld>
</file>

<file path=ppt/slides/slide1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137D7C6E-6ED0-48DC-8C95-2F1CB2F0E6DA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評估對手、繁殖父代與倖存者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E10DBAC8-F4CB-426A-8B1E-6ABAED5E3BB7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2762250"/>
                <a:gridCol w="4572000"/>
                <a:gridCol w="5448300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用途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從哪裡選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選擇規則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Evaluation opponents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固定 self-play snapshot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不是目前 breeding pool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library 循環來源 → 10 slots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同輪所有候選共用 context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Breeding parents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目前 evolving population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Game Performance 最高 tier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第二父代 tie 可看語意距離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Survivors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目前 parents + offspring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μ＋λ 選 10 人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tier 邊界用 seeded novelty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Final-test opponents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固定 10 種共同測試對手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與搜尋 self-play pool 分開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champion 測試後不回饋搜尋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11</a:t>
            </a:fld>
          </a:p>
        </p:txBody>
      </p:sp>
    </p:spTree>
    <p:extLst>
      <p:ext uri="{BB962C8B-B14F-4D97-AF65-F5344CB8AC3E}">
        <ns3:creationId val="954437923"/>
      </p:ext>
    </p:extLst>
  </p:cSld>
</p:sld>
</file>

<file path=ppt/slides/slide1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5" name="text-0">
            <a:extLst>
              <a:ext uri="{FF2B5EF4-FFF2-40B4-BE49-F238E27FC236}">
                <ns2:creationId id="{83E7684E-C684-4541-855E-05130D15D365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每代變異與 Strategy Reflection</a:t>
            </a:r>
          </a:p>
        </p:txBody>
      </p:sp>
      <p:sp>
        <p:nvSpPr>
          <p:cNvPr id="2" name="text-1">
            <a:extLst>
              <a:ext uri="{FF2B5EF4-FFF2-40B4-BE49-F238E27FC236}">
                <ns2:creationId id="{CA76485F-95C1-4F4C-B713-2C03CB1A35A4}"/>
              </a:ext>
            </a:extLst>
          </p:cNvPr>
          <p:cNvSpPr>
            <a:spLocks noGrp="1"/>
          </p:cNvSpPr>
          <p:nvPr/>
        </p:nvSpPr>
        <p:spPr>
          <a:xfrm>
            <a:off x="1762125" y="2305050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先以 root seed 衍生各 slot 的父代、crossover 與 operator stream，再一次建立 10 個 offspring 計畫。</a:t>
            </a:r>
          </a:p>
        </p:txBody>
      </p:sp>
      <p:sp>
        <p:nvSpPr>
          <p:cNvPr id="3" name="text-2">
            <a:extLst>
              <a:ext uri="{FF2B5EF4-FFF2-40B4-BE49-F238E27FC236}">
                <ns2:creationId id="{429249DF-1D57-48C4-9C0C-03CE011634E1}"/>
              </a:ext>
            </a:extLst>
          </p:cNvPr>
          <p:cNvSpPr>
            <a:spLocks noGrp="1"/>
          </p:cNvSpPr>
          <p:nvPr/>
        </p:nvSpPr>
        <p:spPr>
          <a:xfrm>
            <a:off x="1762125" y="3895725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Crossover rate 0.75：從兩個父代選一份完整 policy；不拼接 rule 子樹，也不繼承 Java／generation prompt。</a:t>
            </a:r>
          </a:p>
        </p:txBody>
      </p:sp>
      <p:sp>
        <p:nvSpPr>
          <p:cNvPr id="4" name="text-3">
            <a:extLst>
              <a:ext uri="{FF2B5EF4-FFF2-40B4-BE49-F238E27FC236}">
                <ns2:creationId id="{730FF67C-A26D-4E26-BD7D-8C4FAD8E0BED}"/>
              </a:ext>
            </a:extLst>
          </p:cNvPr>
          <p:cNvSpPr>
            <a:spLocks noGrp="1"/>
          </p:cNvSpPr>
          <p:nvPr/>
        </p:nvSpPr>
        <p:spPr>
          <a:xfrm>
            <a:off x="1762125" y="5486400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Mutation rate 1.0、Strategy probability 1：反思可改 policy；Code source gate、Prompt Mutation 都停用。</a:t>
            </a:r>
          </a:p>
        </p:txBody>
      </p:sp>
      <p:sp>
        <p:nvSpPr>
          <p:cNvPr id="6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12</a:t>
            </a:fld>
          </a:p>
        </p:txBody>
      </p:sp>
    </p:spTree>
    <p:extLst>
      <p:ext uri="{BB962C8B-B14F-4D97-AF65-F5344CB8AC3E}">
        <ns3:creationId val="621340970"/>
      </p:ext>
    </p:extLst>
  </p:cSld>
</p:sld>
</file>

<file path=ppt/slides/slide1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cxnSp>
        <p:nvCxnSpPr>
          <p:cNvPr id="13" name="">
            <a:extLst>
              <a:ext uri="{FF2B5EF4-FFF2-40B4-BE49-F238E27FC236}">
                <ns2:creationId id="{B20003FF-3398-406F-AA0B-8A653B4B00E2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9620250" y="5238750"/>
            <a:ext cx="100012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2" name="">
            <a:extLst>
              <a:ext uri="{FF2B5EF4-FFF2-40B4-BE49-F238E27FC236}">
                <ns2:creationId id="{1516DD59-EDD8-4C6C-AD13-DF8AAFB8F73D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5191125" y="5238750"/>
            <a:ext cx="100012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1" name="">
            <a:extLst>
              <a:ext uri="{FF2B5EF4-FFF2-40B4-BE49-F238E27FC236}">
                <ns2:creationId id="{CEBCBFF8-F10C-41C1-BBA6-806A27FD61E7}"/>
              </a:ext>
            </a:extLst>
          </p:cNvPr>
          <p:cNvCxnSpPr>
            <a:stCxn id="4" idx="2"/>
            <a:endCxn id="6" idx="0"/>
          </p:cNvCxnSpPr>
          <p:nvPr/>
        </p:nvCxnSpPr>
        <p:spPr>
          <a:xfrm flipH="1">
            <a:off x="7905750" y="3429000"/>
            <a:ext cx="4429125" cy="13335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0" name="">
            <a:extLst>
              <a:ext uri="{FF2B5EF4-FFF2-40B4-BE49-F238E27FC236}">
                <ns2:creationId id="{F06277D1-EC9D-4347-8809-89042ED32E95}"/>
              </a:ext>
            </a:extLst>
          </p:cNvPr>
          <p:cNvCxnSpPr>
            <a:stCxn id="2" idx="2"/>
            <a:endCxn id="5" idx="0"/>
          </p:cNvCxnSpPr>
          <p:nvPr/>
        </p:nvCxnSpPr>
        <p:spPr>
          <a:xfrm>
            <a:off x="3476625" y="3429000"/>
            <a:ext cx="0" cy="133350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9" name="">
            <a:extLst>
              <a:ext uri="{FF2B5EF4-FFF2-40B4-BE49-F238E27FC236}">
                <ns2:creationId id="{FFC4C321-5DD2-4642-B5A4-9A5B2516CFBB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9620250" y="2952750"/>
            <a:ext cx="100012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8" name="">
            <a:extLst>
              <a:ext uri="{FF2B5EF4-FFF2-40B4-BE49-F238E27FC236}">
                <ns2:creationId id="{850E05F2-E1FF-4D99-B4BF-CC9DFA3AED66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5191125" y="2952750"/>
            <a:ext cx="100012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sp>
        <p:nvSpPr>
          <p:cNvPr id="15" name="text-0">
            <a:extLst>
              <a:ext uri="{FF2B5EF4-FFF2-40B4-BE49-F238E27FC236}">
                <ns2:creationId id="{D8BBC0EF-3F3E-43DF-9B98-A5F901E19A5D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Strategy Reflection 的證據來源</a:t>
            </a:r>
          </a:p>
        </p:txBody>
      </p:sp>
      <p:sp>
        <p:nvSpPr>
          <p:cNvPr id="2" name="parent">
            <a:extLst>
              <a:ext uri="{FF2B5EF4-FFF2-40B4-BE49-F238E27FC236}">
                <ns2:creationId id="{15C4931F-B9ED-42EC-B5FC-5D02DEE79C5A}"/>
              </a:ext>
            </a:extLst>
          </p:cNvPr>
          <p:cNvSpPr>
            <a:spLocks noGrp="1"/>
          </p:cNvSpPr>
          <p:nvPr/>
        </p:nvSpPr>
        <p:spPr>
          <a:xfrm>
            <a:off x="1762125" y="2476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記錄的 strategy_parent_id</a:t>
            </a:r>
          </a:p>
        </p:txBody>
      </p:sp>
      <p:sp>
        <p:nvSpPr>
          <p:cNvPr id="3" name="worst">
            <a:extLst>
              <a:ext uri="{FF2B5EF4-FFF2-40B4-BE49-F238E27FC236}">
                <ns2:creationId id="{D9004A51-E28E-4A23-94E2-FAEAC8F1AC92}"/>
              </a:ext>
            </a:extLst>
          </p:cNvPr>
          <p:cNvSpPr>
            <a:spLocks noGrp="1"/>
          </p:cNvSpPr>
          <p:nvPr/>
        </p:nvSpPr>
        <p:spPr>
          <a:xfrm>
            <a:off x="6191250" y="2476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已完成 matches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恰好選一場 worst</a:t>
            </a:r>
          </a:p>
        </p:txBody>
      </p:sp>
      <p:sp>
        <p:nvSpPr>
          <p:cNvPr id="4" name="commentator">
            <a:extLst>
              <a:ext uri="{FF2B5EF4-FFF2-40B4-BE49-F238E27FC236}">
                <ns2:creationId id="{7BED329E-B5B8-4D8D-9995-189C14809905}"/>
              </a:ext>
            </a:extLst>
          </p:cNvPr>
          <p:cNvSpPr>
            <a:spLocks noGrp="1"/>
          </p:cNvSpPr>
          <p:nvPr/>
        </p:nvSpPr>
        <p:spPr>
          <a:xfrm>
            <a:off x="10620375" y="2476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Match Commentator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單場 trace → diagnosis</a:t>
            </a:r>
          </a:p>
        </p:txBody>
      </p:sp>
      <p:sp>
        <p:nvSpPr>
          <p:cNvPr id="5" name="summary">
            <a:extLst>
              <a:ext uri="{FF2B5EF4-FFF2-40B4-BE49-F238E27FC236}">
                <ns2:creationId id="{B95745DA-8672-4F72-9FB3-97D98C3C6D04}"/>
              </a:ext>
            </a:extLst>
          </p:cNvPr>
          <p:cNvSpPr>
            <a:spLocks noGrp="1"/>
          </p:cNvSpPr>
          <p:nvPr/>
        </p:nvSpPr>
        <p:spPr>
          <a:xfrm>
            <a:off x="1762125" y="4762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parent 全場摘要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global summary</a:t>
            </a:r>
          </a:p>
        </p:txBody>
      </p:sp>
      <p:sp>
        <p:nvSpPr>
          <p:cNvPr id="6" name="coach">
            <a:extLst>
              <a:ext uri="{FF2B5EF4-FFF2-40B4-BE49-F238E27FC236}">
                <ns2:creationId id="{B2F5A94A-EF04-41DC-9E5E-87D5A823E870}"/>
              </a:ext>
            </a:extLst>
          </p:cNvPr>
          <p:cNvSpPr>
            <a:spLocks noGrp="1"/>
          </p:cNvSpPr>
          <p:nvPr/>
        </p:nvSpPr>
        <p:spPr>
          <a:xfrm>
            <a:off x="6191250" y="4762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Coach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單場診斷＋全場摘要</a:t>
            </a:r>
          </a:p>
        </p:txBody>
      </p:sp>
      <p:sp>
        <p:nvSpPr>
          <p:cNvPr id="7" name="dsl">
            <a:extLst>
              <a:ext uri="{FF2B5EF4-FFF2-40B4-BE49-F238E27FC236}">
                <ns2:creationId id="{94C1D98A-3245-41C3-9882-B5330A96E98A}"/>
              </a:ext>
            </a:extLst>
          </p:cNvPr>
          <p:cNvSpPr>
            <a:spLocks noGrp="1"/>
          </p:cNvSpPr>
          <p:nvPr/>
        </p:nvSpPr>
        <p:spPr>
          <a:xfrm>
            <a:off x="10620375" y="4762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JSONL 完整 rules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驗證 → 新 policy</a:t>
            </a:r>
          </a:p>
        </p:txBody>
      </p:sp>
      <p:sp>
        <p:nvSpPr>
          <p:cNvPr id="14" name="text-13">
            <a:extLst>
              <a:ext uri="{FF2B5EF4-FFF2-40B4-BE49-F238E27FC236}">
                <ns2:creationId id="{F6508E25-B352-4157-A00D-8E9AFB37B505}"/>
              </a:ext>
            </a:extLst>
          </p:cNvPr>
          <p:cNvSpPr>
            <a:spLocks noGrp="1"/>
          </p:cNvSpPr>
          <p:nvPr/>
        </p:nvSpPr>
        <p:spPr>
          <a:xfrm>
            <a:off x="1762125" y="7486650"/>
            <a:ext cx="124015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單場診斷提供具體失敗證據；全場摘要保留整體表現</a:t>
            </a:r>
          </a:p>
        </p:txBody>
      </p:sp>
      <p:sp>
        <p:nvSpPr>
          <p:cNvPr id="16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13</a:t>
            </a:fld>
          </a:p>
        </p:txBody>
      </p:sp>
    </p:spTree>
    <p:extLst>
      <p:ext uri="{BB962C8B-B14F-4D97-AF65-F5344CB8AC3E}">
        <ns3:creationId val="78773554"/>
      </p:ext>
    </p:extLst>
  </p:cSld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6" name="text-0">
            <a:extLst>
              <a:ext uri="{FF2B5EF4-FFF2-40B4-BE49-F238E27FC236}">
                <ns2:creationId id="{B3D49758-4B77-444A-97D2-7EEC2389026F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JSONL：合法規則子集可形成策略</a:t>
            </a:r>
          </a:p>
        </p:txBody>
      </p:sp>
      <p:sp>
        <p:nvSpPr>
          <p:cNvPr id="2" name="text-1">
            <a:extLst>
              <a:ext uri="{FF2B5EF4-FFF2-40B4-BE49-F238E27FC236}">
                <ns2:creationId id="{6764DF4D-6806-4499-AF0F-A125F7FD7A7D}"/>
              </a:ext>
            </a:extLst>
          </p:cNvPr>
          <p:cNvSpPr>
            <a:spLocks noGrp="1"/>
          </p:cNvSpPr>
          <p:nvPr/>
        </p:nvSpPr>
        <p:spPr>
          <a:xfrm>
            <a:off x="1762125" y="2305050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每個實體行是一筆 strategy_rule record；Coach 使用 new_strategy_prompt，contract rewrite 使用 revised_strategy_prompt。</a:t>
            </a:r>
          </a:p>
        </p:txBody>
      </p:sp>
      <p:sp>
        <p:nvSpPr>
          <p:cNvPr id="3" name="text-2">
            <a:extLst>
              <a:ext uri="{FF2B5EF4-FFF2-40B4-BE49-F238E27FC236}">
                <ns2:creationId id="{33876C8A-D5CC-4812-B3E9-1FC743DB305E}"/>
              </a:ext>
            </a:extLst>
          </p:cNvPr>
          <p:cNvSpPr>
            <a:spLocks noGrp="1"/>
          </p:cNvSpPr>
          <p:nvPr/>
        </p:nvSpPr>
        <p:spPr>
          <a:xfrm>
            <a:off x="1762125" y="3895725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每條 rule 獨立驗證 actor／when／action；丟棄 malformed、錯欄位或語意不合法的整條規則，保留合法行順序。</a:t>
            </a:r>
          </a:p>
        </p:txBody>
      </p:sp>
      <p:sp>
        <p:nvSpPr>
          <p:cNvPr id="4" name="text-3">
            <a:extLst>
              <a:ext uri="{FF2B5EF4-FFF2-40B4-BE49-F238E27FC236}">
                <ns2:creationId id="{D8C9F60C-E456-41E6-A366-6266F6201BBE}"/>
              </a:ext>
            </a:extLst>
          </p:cNvPr>
          <p:cNvSpPr>
            <a:spLocks noGrp="1"/>
          </p:cNvSpPr>
          <p:nvPr/>
        </p:nvSpPr>
        <p:spPr>
          <a:xfrm>
            <a:off x="1762125" y="5486400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至少一條合法 rule 才成功；零條合法規則最多 3 次嘗試。耗盡可保留原 policy；transport exception 仍可能中止 run。</a:t>
            </a:r>
          </a:p>
        </p:txBody>
      </p:sp>
      <p:sp>
        <p:nvSpPr>
          <p:cNvPr id="5" name="text-4">
            <a:extLst>
              <a:ext uri="{FF2B5EF4-FFF2-40B4-BE49-F238E27FC236}">
                <ns2:creationId id="{2BB6FCFE-1F05-43D1-9BC9-DF044F9E661A}"/>
              </a:ext>
            </a:extLst>
          </p:cNvPr>
          <p:cNvSpPr>
            <a:spLocks noGrp="1"/>
          </p:cNvSpPr>
          <p:nvPr/>
        </p:nvSpPr>
        <p:spPr>
          <a:xfrm>
            <a:off x="1762125" y="7486650"/>
            <a:ext cx="124015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固定 compiler 接收的是完整、正規化 policy，不是未驗證的原始 JSONL</a:t>
            </a:r>
          </a:p>
        </p:txBody>
      </p:sp>
      <p:sp>
        <p:nvSpPr>
          <p:cNvPr id="7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14</a:t>
            </a:fld>
          </a:p>
        </p:txBody>
      </p:sp>
    </p:spTree>
    <p:extLst>
      <p:ext uri="{BB962C8B-B14F-4D97-AF65-F5344CB8AC3E}">
        <ns3:creationId val="1084367553"/>
      </p:ext>
    </p:extLst>
  </p:cSld>
</p:sld>
</file>

<file path=ppt/slides/slide1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cxnSp>
        <p:nvCxnSpPr>
          <p:cNvPr id="12" name="">
            <a:extLst>
              <a:ext uri="{FF2B5EF4-FFF2-40B4-BE49-F238E27FC236}">
                <ns2:creationId id="{5E383B82-2624-4A74-9888-D8C1F83689A7}"/>
              </a:ext>
            </a:extLst>
          </p:cNvPr>
          <p:cNvCxnSpPr>
            <a:stCxn id="6" idx="1"/>
            <a:endCxn id="7" idx="3"/>
          </p:cNvCxnSpPr>
          <p:nvPr/>
        </p:nvCxnSpPr>
        <p:spPr>
          <a:xfrm flipH="1">
            <a:off x="5191125" y="5238750"/>
            <a:ext cx="100012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1" name="">
            <a:extLst>
              <a:ext uri="{FF2B5EF4-FFF2-40B4-BE49-F238E27FC236}">
                <ns2:creationId id="{AF4BBA77-53E7-468A-AF59-B624504AFC39}"/>
              </a:ext>
            </a:extLst>
          </p:cNvPr>
          <p:cNvCxnSpPr>
            <a:stCxn id="5" idx="1"/>
            <a:endCxn id="6" idx="3"/>
          </p:cNvCxnSpPr>
          <p:nvPr/>
        </p:nvCxnSpPr>
        <p:spPr>
          <a:xfrm flipH="1">
            <a:off x="9620250" y="5238750"/>
            <a:ext cx="100012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0" name="">
            <a:extLst>
              <a:ext uri="{FF2B5EF4-FFF2-40B4-BE49-F238E27FC236}">
                <ns2:creationId id="{7ECAC001-979D-4021-8DD1-6464EE36511A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12334875" y="3429000"/>
            <a:ext cx="0" cy="133350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9" name="">
            <a:extLst>
              <a:ext uri="{FF2B5EF4-FFF2-40B4-BE49-F238E27FC236}">
                <ns2:creationId id="{15ABDD08-089C-41B5-A8D9-5FF31ACE9961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9620250" y="2952750"/>
            <a:ext cx="100012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8" name="">
            <a:extLst>
              <a:ext uri="{FF2B5EF4-FFF2-40B4-BE49-F238E27FC236}">
                <ns2:creationId id="{7FEFCBA6-CC92-4074-9911-5013106F2A69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5191125" y="2952750"/>
            <a:ext cx="100012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sp>
        <p:nvSpPr>
          <p:cNvPr id="14" name="text-0">
            <a:extLst>
              <a:ext uri="{FF2B5EF4-FFF2-40B4-BE49-F238E27FC236}">
                <ns2:creationId id="{779AD68C-8ADF-45CC-B5FE-A014F45D925E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確定性 Java 物化與失敗邊界</a:t>
            </a:r>
          </a:p>
        </p:txBody>
      </p:sp>
      <p:sp>
        <p:nvSpPr>
          <p:cNvPr id="2" name="policy">
            <a:extLst>
              <a:ext uri="{FF2B5EF4-FFF2-40B4-BE49-F238E27FC236}">
                <ns2:creationId id="{967C5BB7-BEAE-4B32-8AC9-2847C6F9B1F6}"/>
              </a:ext>
            </a:extLst>
          </p:cNvPr>
          <p:cNvSpPr>
            <a:spLocks noGrp="1"/>
          </p:cNvSpPr>
          <p:nvPr/>
        </p:nvSpPr>
        <p:spPr>
          <a:xfrm>
            <a:off x="1762125" y="2476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canonical DSL policy</a:t>
            </a:r>
          </a:p>
        </p:txBody>
      </p:sp>
      <p:sp>
        <p:nvSpPr>
          <p:cNvPr id="3" name="ir">
            <a:extLst>
              <a:ext uri="{FF2B5EF4-FFF2-40B4-BE49-F238E27FC236}">
                <ns2:creationId id="{4B730A4A-FB2D-4107-ABD6-12D6119E3CC0}"/>
              </a:ext>
            </a:extLst>
          </p:cNvPr>
          <p:cNvSpPr>
            <a:spLocks noGrp="1"/>
          </p:cNvSpPr>
          <p:nvPr/>
        </p:nvSpPr>
        <p:spPr>
          <a:xfrm>
            <a:off x="6191250" y="2476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validate／normalize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建立 typed IR</a:t>
            </a:r>
          </a:p>
        </p:txBody>
      </p:sp>
      <p:sp>
        <p:nvSpPr>
          <p:cNvPr id="4" name="emit">
            <a:extLst>
              <a:ext uri="{FF2B5EF4-FFF2-40B4-BE49-F238E27FC236}">
                <ns2:creationId id="{E69E4E6E-345D-40C8-9742-D5075A009AA1}"/>
              </a:ext>
            </a:extLst>
          </p:cNvPr>
          <p:cNvSpPr>
            <a:spLocks noGrp="1"/>
          </p:cNvSpPr>
          <p:nvPr/>
        </p:nvSpPr>
        <p:spPr>
          <a:xfrm>
            <a:off x="10620375" y="2476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固定 compiler＋scaffold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Java phenotype</a:t>
            </a:r>
          </a:p>
        </p:txBody>
      </p:sp>
      <p:sp>
        <p:nvSpPr>
          <p:cNvPr id="5" name="validate">
            <a:extLst>
              <a:ext uri="{FF2B5EF4-FFF2-40B4-BE49-F238E27FC236}">
                <ns2:creationId id="{15C056ED-9692-42E3-B96F-24535B4CF72E}"/>
              </a:ext>
            </a:extLst>
          </p:cNvPr>
          <p:cNvSpPr>
            <a:spLocks noGrp="1"/>
          </p:cNvSpPr>
          <p:nvPr/>
        </p:nvSpPr>
        <p:spPr>
          <a:xfrm>
            <a:off x="10620375" y="4762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source validation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單次 javac、Integration</a:t>
            </a:r>
          </a:p>
        </p:txBody>
      </p:sp>
      <p:sp>
        <p:nvSpPr>
          <p:cNvPr id="6" name="game">
            <a:extLst>
              <a:ext uri="{FF2B5EF4-FFF2-40B4-BE49-F238E27FC236}">
                <ns2:creationId id="{3D1A942D-8028-4D82-BE16-6DF82ECD4348}"/>
              </a:ext>
            </a:extLst>
          </p:cNvPr>
          <p:cNvSpPr>
            <a:spLocks noGrp="1"/>
          </p:cNvSpPr>
          <p:nvPr/>
        </p:nvSpPr>
        <p:spPr>
          <a:xfrm>
            <a:off x="6191250" y="4762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語意 probe、matches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fitness、diagnostics</a:t>
            </a:r>
          </a:p>
        </p:txBody>
      </p:sp>
      <p:sp>
        <p:nvSpPr>
          <p:cNvPr id="7" name="evidence">
            <a:extLst>
              <a:ext uri="{FF2B5EF4-FFF2-40B4-BE49-F238E27FC236}">
                <ns2:creationId id="{A2639809-27AD-41C1-BD76-7D000BBC2206}"/>
              </a:ext>
            </a:extLst>
          </p:cNvPr>
          <p:cNvSpPr>
            <a:spLocks noGrp="1"/>
          </p:cNvSpPr>
          <p:nvPr/>
        </p:nvSpPr>
        <p:spPr>
          <a:xfrm>
            <a:off x="1762125" y="4762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phenotype、hashes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result、lineage、timing</a:t>
            </a:r>
          </a:p>
        </p:txBody>
      </p:sp>
      <p:sp>
        <p:nvSpPr>
          <p:cNvPr id="13" name="text-12">
            <a:extLst>
              <a:ext uri="{FF2B5EF4-FFF2-40B4-BE49-F238E27FC236}">
                <ns2:creationId id="{CB5ACC9E-F525-4F40-B9E1-F29A662EB4FA}"/>
              </a:ext>
            </a:extLst>
          </p:cNvPr>
          <p:cNvSpPr>
            <a:spLocks noGrp="1"/>
          </p:cNvSpPr>
          <p:nvPr/>
        </p:nvSpPr>
        <p:spPr>
          <a:xfrm>
            <a:off x="1762125" y="7486650"/>
            <a:ext cx="124015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編譯失敗：保留原階段證據與失敗候選；沒有 Java LLM fallback</a:t>
            </a:r>
          </a:p>
        </p:txBody>
      </p:sp>
      <p:sp>
        <p:nvSpPr>
          <p:cNvPr id="15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15</a:t>
            </a:fld>
          </a:p>
        </p:txBody>
      </p:sp>
    </p:spTree>
    <p:extLst>
      <p:ext uri="{BB962C8B-B14F-4D97-AF65-F5344CB8AC3E}">
        <ns3:creationId val="1449324068"/>
      </p:ext>
    </p:extLst>
  </p:cSld>
</p:sld>
</file>

<file path=ppt/slides/slide1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BAAC8E83-883E-4BD7-BA03-F435EEF2355C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評估規模與 fitness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0F3C81BB-58C2-464A-98C6-FDFEC906AF51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2762250"/>
                <a:gridCol w="5143500"/>
                <a:gridCol w="4876800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項目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本設定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用途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Search matrix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 slots × 3 maps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× 3 rounds × 2 sides = 180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每個候選完成一次評估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slots 可重複同一來源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地圖與 tick limit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8×8：1500；16×16：3000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24×24：4000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雙方換邊、固定 match seeds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超時／失敗保留診斷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Game Performance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勝／和／敗基分 + bounded shaping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跨 completed matches 聚合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唯一 optimizer objective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Code Quality 只作診斷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Champion final-test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 opponents × 3 maps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× 10 games × 2 sides = 600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正常完成後的共同測試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與 search fitness 分開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16</a:t>
            </a:fld>
          </a:p>
        </p:txBody>
      </p:sp>
    </p:spTree>
    <p:extLst>
      <p:ext uri="{BB962C8B-B14F-4D97-AF65-F5344CB8AC3E}">
        <ns3:creationId val="269806635"/>
      </p:ext>
    </p:extLst>
  </p:cSld>
</p:sld>
</file>

<file path=ppt/slides/slide1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5" name="text-0">
            <a:extLst>
              <a:ext uri="{FF2B5EF4-FFF2-40B4-BE49-F238E27FC236}">
                <ns2:creationId id="{A5504221-4C26-4F9F-8AA9-6BB3E3B048C2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平行執行與固定整合順序</a:t>
            </a:r>
          </a:p>
        </p:txBody>
      </p:sp>
      <p:sp>
        <p:nvSpPr>
          <p:cNvPr id="2" name="text-1">
            <a:extLst>
              <a:ext uri="{FF2B5EF4-FFF2-40B4-BE49-F238E27FC236}">
                <ns2:creationId id="{2A2A032E-9FD1-4A57-AC2D-B48F6B0A2382}"/>
              </a:ext>
            </a:extLst>
          </p:cNvPr>
          <p:cNvSpPr>
            <a:spLocks noGrp="1"/>
          </p:cNvSpPr>
          <p:nvPr/>
        </p:nvSpPr>
        <p:spPr>
          <a:xfrm>
            <a:off x="1762125" y="2305050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Runtime 固定 2 request slots、每 slot context 32768；每代 10 個 offspring 的反思工作以最多 2 個同時請求處理。</a:t>
            </a:r>
          </a:p>
        </p:txBody>
      </p:sp>
      <p:sp>
        <p:nvSpPr>
          <p:cNvPr id="3" name="text-2">
            <a:extLst>
              <a:ext uri="{FF2B5EF4-FFF2-40B4-BE49-F238E27FC236}">
                <ns2:creationId id="{AB08E6FA-DA44-411B-9159-F872FDB9AF17}"/>
              </a:ext>
            </a:extLst>
          </p:cNvPr>
          <p:cNvSpPr>
            <a:spLocks noGrp="1"/>
          </p:cNvSpPr>
          <p:nvPr/>
        </p:nvSpPr>
        <p:spPr>
          <a:xfrm>
            <a:off x="1762125" y="3895725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DSL／Java preparation 可平行；完成全部 preparation 後才建立對手 pool。每個候選的 matches 用 10 workers。</a:t>
            </a:r>
          </a:p>
        </p:txBody>
      </p:sp>
      <p:sp>
        <p:nvSpPr>
          <p:cNvPr id="4" name="text-3">
            <a:extLst>
              <a:ext uri="{FF2B5EF4-FFF2-40B4-BE49-F238E27FC236}">
                <ns2:creationId id="{34084E9B-856B-4C12-AF58-D0B4B7EC1583}"/>
              </a:ext>
            </a:extLst>
          </p:cNvPr>
          <p:cNvSpPr>
            <a:spLocks noGrp="1"/>
          </p:cNvSpPr>
          <p:nvPr/>
        </p:nvSpPr>
        <p:spPr>
          <a:xfrm>
            <a:off x="1762125" y="5486400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parallel_map 按輸入順序回傳；父代／operator 計畫與 survivor 整合保留固定順序，跨 run 仍依序執行。</a:t>
            </a:r>
          </a:p>
        </p:txBody>
      </p:sp>
      <p:sp>
        <p:nvSpPr>
          <p:cNvPr id="6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17</a:t>
            </a:fld>
          </a:p>
        </p:txBody>
      </p:sp>
    </p:spTree>
    <p:extLst>
      <p:ext uri="{BB962C8B-B14F-4D97-AF65-F5344CB8AC3E}">
        <ns3:creationId val="822951161"/>
      </p:ext>
    </p:extLst>
  </p:cSld>
</p:sld>
</file>

<file path=ppt/slides/slide1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4563EC9F-1C34-4DE5-9C9C-D1D6001DCFBC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三次 replicate 與資料夾續跑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5E1E3C80-5B1F-4AAE-BD33-A72394669E4A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2762250"/>
                <a:gridCol w="5048250"/>
                <a:gridCol w="4972050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階段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experiment.yaml／run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恢復行為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展開 config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random_seeds [8]、runs 3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有效序列 [8,8,8]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run1、run2、run3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各自獨立目錄與 checkpoint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保存索引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每個 YAML filename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對應有序 run paths 清單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按 replicate slot 更新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不覆蓋其他 slot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--resume folder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核對每槽 config／effective seed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先處理未完成 indexed runs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已完成跳過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未啟動 replicate 接續建立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中斷時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以最後完整 generation 恢復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gen0 前失敗無 checkpoint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無可用 checkpoint 可建替代run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原始失敗證據保留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18</a:t>
            </a:fld>
          </a:p>
        </p:txBody>
      </p:sp>
    </p:spTree>
    <p:extLst>
      <p:ext uri="{BB962C8B-B14F-4D97-AF65-F5344CB8AC3E}">
        <ns3:creationId val="1558936315"/>
      </p:ext>
    </p:extLst>
  </p:cSld>
</p:sld>
</file>

<file path=ppt/slides/slide1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53F1E68A-DAF1-4B1F-B92B-039E2E7E4A88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GPU 啟動與全層 offload 驗證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6D59FE48-BF92-4752-BD1F-93187FC5A9D0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2762250"/>
                <a:gridCol w="5048250"/>
                <a:gridCol w="4972050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檢查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固定行為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不通過時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裝置 preflight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llama-server --list-devices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確認 CUDA／NVIDIA backend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停止啟動，不退回 CPU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要求全層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--n-gpu-layers 999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--fit off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禁止自動記憶體 fitting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載入失敗即保留錯誤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證據可見性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--log-verbosity 4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core INFO 才輸出 offload 行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server ready 不代表驗證成功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實際 full offload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只讀這次 child 的新 log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要求 offloaded N/N，N &gt; 0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缺失／部分／stale 證據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停止 owned process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19</a:t>
            </a:fld>
          </a:p>
        </p:txBody>
      </p:sp>
    </p:spTree>
    <p:extLst>
      <p:ext uri="{BB962C8B-B14F-4D97-AF65-F5344CB8AC3E}">
        <ns3:creationId val="822015673"/>
      </p:ext>
    </p:extLst>
  </p:cSld>
</p:sld>
</file>

<file path=ppt/slides/slide2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5" name="text-0">
            <a:extLst>
              <a:ext uri="{FF2B5EF4-FFF2-40B4-BE49-F238E27FC236}">
                <ns2:creationId id="{F89820F0-BD94-4BDB-AA21-2EA0611B37EB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執行與資料夾 resume 指令</a:t>
            </a:r>
          </a:p>
        </p:txBody>
      </p:sp>
      <p:sp>
        <p:nvSpPr>
          <p:cNvPr id="2" name="text-1">
            <a:extLst>
              <a:ext uri="{FF2B5EF4-FFF2-40B4-BE49-F238E27FC236}">
                <ns2:creationId id="{8E760FAB-CDB6-490A-9AB3-64C3E99F0C61}"/>
              </a:ext>
            </a:extLst>
          </p:cNvPr>
          <p:cNvSpPr>
            <a:spLocks noGrp="1"/>
          </p:cNvSpPr>
          <p:nvPr/>
        </p:nvSpPr>
        <p:spPr>
          <a:xfrm>
            <a:off x="1762125" y="2305050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開始：</a:t>
            </a:r>
          </a:p>
          <a:p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./experiment.sh \</a:t>
            </a:r>
          </a:p>
          <a:p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  configs/experiments/1015_deterministic_dsl_20x10_seed8_3runs</a:t>
            </a:r>
          </a:p>
        </p:txBody>
      </p:sp>
      <p:sp>
        <p:nvSpPr>
          <p:cNvPr id="3" name="text-2">
            <a:extLst>
              <a:ext uri="{FF2B5EF4-FFF2-40B4-BE49-F238E27FC236}">
                <ns2:creationId id="{DEA490D6-D2BF-421A-A89C-2D90C9618ED6}"/>
              </a:ext>
            </a:extLst>
          </p:cNvPr>
          <p:cNvSpPr>
            <a:spLocks noGrp="1"/>
          </p:cNvSpPr>
          <p:nvPr/>
        </p:nvSpPr>
        <p:spPr>
          <a:xfrm>
            <a:off x="1762125" y="3895725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中斷後接續：</a:t>
            </a:r>
          </a:p>
          <a:p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./experiment.sh --resume \</a:t>
            </a:r>
          </a:p>
          <a:p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  configs/experiments/1015_deterministic_dsl_20x10_seed8_3runs</a:t>
            </a:r>
          </a:p>
        </p:txBody>
      </p:sp>
      <p:sp>
        <p:nvSpPr>
          <p:cNvPr id="4" name="text-3">
            <a:extLst>
              <a:ext uri="{FF2B5EF4-FFF2-40B4-BE49-F238E27FC236}">
                <ns2:creationId id="{001648D6-A41A-4BA9-9465-4A00F609E10F}"/>
              </a:ext>
            </a:extLst>
          </p:cNvPr>
          <p:cNvSpPr>
            <a:spLocks noGrp="1"/>
          </p:cNvSpPr>
          <p:nvPr/>
        </p:nvSpPr>
        <p:spPr>
          <a:xfrm>
            <a:off x="1762125" y="5486400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檢查 experiment.yaml 的 3 個 run paths；每次保存 gen0、gen1–20 與 final-test。</a:t>
            </a:r>
          </a:p>
        </p:txBody>
      </p:sp>
      <p:sp>
        <p:nvSpPr>
          <p:cNvPr id="6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20</a:t>
            </a:fld>
          </a:p>
        </p:txBody>
      </p:sp>
    </p:spTree>
    <p:extLst>
      <p:ext uri="{BB962C8B-B14F-4D97-AF65-F5344CB8AC3E}">
        <ns3:creationId val="941549991"/>
      </p:ext>
    </p:extLst>
  </p:cSld>
</p:sld>
</file>

<file path=ppt/theme/theme1.xml><?xml version="1.0" encoding="utf-8"?>
<a:theme xmlns:a="http://schemas.openxmlformats.org/drawingml/2006/main" name="EAGLE">
  <a:themeElements>
    <a:clrScheme name="Meeting 0830 Rose &amp; Gold">
      <a:dk1>
        <a:srgbClr val="47171C"/>
      </a:dk1>
      <a:lt1>
        <a:srgbClr val="FCF8F5"/>
      </a:lt1>
      <a:dk2>
        <a:srgbClr val="423C3B"/>
      </a:dk2>
      <a:lt2>
        <a:srgbClr val="FFFFFF"/>
      </a:lt2>
      <a:accent1>
        <a:srgbClr val="CF8792"/>
      </a:accent1>
      <a:accent2>
        <a:srgbClr val="47171C"/>
      </a:accent2>
      <a:accent3>
        <a:srgbClr val="CF9BA5"/>
      </a:accent3>
      <a:accent4>
        <a:srgbClr val="C69B45"/>
      </a:accent4>
      <a:accent5>
        <a:srgbClr val="FAEDC6"/>
      </a:accent5>
      <a:accent6>
        <a:srgbClr val="423C3B"/>
      </a:accent6>
      <a:hlink>
        <a:srgbClr val="CF8792"/>
      </a:hlink>
      <a:folHlink>
        <a:srgbClr val="C69B45"/>
      </a:folHlink>
    </a:clrScheme>
    <a:fontScheme name="Office">
      <a:majorFont>
        <a:latin typeface="Source Han Serif TW"/>
        <a:ea typeface="Source Han Serif TW"/>
        <a:cs typeface="Source Han Serif TW"/>
      </a:majorFont>
      <a:minorFont>
        <a:latin typeface="Source Han Serif TW"/>
        <a:ea typeface="Source Han Serif TW"/>
        <a:cs typeface="Source Han Serif TW"/>
      </a:minorFont>
    </a:fontScheme>
    <a:fmtScheme name="Meeting 0830 Rose &amp; Gol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2026-10-14T17:45:51.6040000Z</dcterms:created>
  <dcterms:modified xsi:type="dcterms:W3CDTF">2026-10-14T17:45:51.6040000Z</dcterms:modified>
</coreProperties>
</file>