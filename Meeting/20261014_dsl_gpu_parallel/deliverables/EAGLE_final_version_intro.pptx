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7663ac883948a7" /><Relationship Type="http://schemas.openxmlformats.org/officeDocument/2006/relationships/extended-properties" Target="/docProps/app.xml" Id="R07db87793bc4440b" /><Relationship Type="http://schemas.openxmlformats.org/officeDocument/2006/relationships/officeDocument" Target="/ppt/presentation.xml" Id="R87d90860d5c64f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032c0267104a40"/>
  </p:sldMasterIdLst>
  <p:notesMasterIdLst>
    <p:notesMasterId xmlns:r="http://schemas.openxmlformats.org/officeDocument/2006/relationships" r:id="Rbdd3963aabf34e64"/>
  </p:notesMasterIdLst>
  <p:sldIdLst>
    <p:sldId xmlns:r="http://schemas.openxmlformats.org/officeDocument/2006/relationships" id="256" r:id="R0cbe34a999444dac"/>
    <p:sldId xmlns:r="http://schemas.openxmlformats.org/officeDocument/2006/relationships" id="257" r:id="Rd8033254884f4a20"/>
    <p:sldId xmlns:r="http://schemas.openxmlformats.org/officeDocument/2006/relationships" id="258" r:id="Ra42beee33bfa4de4"/>
    <p:sldId xmlns:r="http://schemas.openxmlformats.org/officeDocument/2006/relationships" id="259" r:id="R258751d77acb4261"/>
    <p:sldId xmlns:r="http://schemas.openxmlformats.org/officeDocument/2006/relationships" id="260" r:id="Rdf4078470c4342b6"/>
    <p:sldId xmlns:r="http://schemas.openxmlformats.org/officeDocument/2006/relationships" id="261" r:id="Red4535473e404b54"/>
    <p:sldId xmlns:r="http://schemas.openxmlformats.org/officeDocument/2006/relationships" id="262" r:id="Rc270ba3a2dc64408"/>
    <p:sldId xmlns:r="http://schemas.openxmlformats.org/officeDocument/2006/relationships" id="263" r:id="R0f9d52a9612747b6"/>
    <p:sldId xmlns:r="http://schemas.openxmlformats.org/officeDocument/2006/relationships" id="264" r:id="R72333ba3716c42ac"/>
    <p:sldId xmlns:r="http://schemas.openxmlformats.org/officeDocument/2006/relationships" id="265" r:id="R163f11f5e0f64dfe"/>
    <p:sldId xmlns:r="http://schemas.openxmlformats.org/officeDocument/2006/relationships" id="266" r:id="R71acd184994748c7"/>
    <p:sldId xmlns:r="http://schemas.openxmlformats.org/officeDocument/2006/relationships" id="267" r:id="R55c4211382b14f34"/>
    <p:sldId xmlns:r="http://schemas.openxmlformats.org/officeDocument/2006/relationships" id="268" r:id="Rc05d2478af6e4d6d"/>
    <p:sldId xmlns:r="http://schemas.openxmlformats.org/officeDocument/2006/relationships" id="269" r:id="R6e8f43d96b7b45a4"/>
    <p:sldId xmlns:r="http://schemas.openxmlformats.org/officeDocument/2006/relationships" id="270" r:id="Ra2f988b6656249d3"/>
    <p:sldId xmlns:r="http://schemas.openxmlformats.org/officeDocument/2006/relationships" id="271" r:id="R7d49eb879baf4797"/>
    <p:sldId xmlns:r="http://schemas.openxmlformats.org/officeDocument/2006/relationships" id="272" r:id="R257994e879e54a00"/>
  </p:sldIdLst>
  <p:sldSz cx="15925800" cy="8963025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8497E131-5584-4FF0-9A17-202609170001}">
  <a:tblStyle styleId="{8497E131-5584-4FF0-9A17-202609170001}" styleName="EAGLE 0917 Rose">
    <a:wholeTbl>
      <a:tcTxStyle b="off">
        <a:fontRef idx="minor">
          <a:srgbClr val="423C3B"/>
        </a:fontRef>
        <a:srgbClr val="423C3B"/>
      </a:tcTxStyle>
      <a:tcStyle>
        <a:tcBdr>
          <a:left>
            <a:ln w="6350">
              <a:solidFill>
                <a:srgbClr val="423C3B"/>
              </a:solidFill>
              <a:prstDash val="solid"/>
            </a:ln>
          </a:left>
          <a:right>
            <a:ln w="6350">
              <a:solidFill>
                <a:srgbClr val="423C3B"/>
              </a:solidFill>
              <a:prstDash val="solid"/>
            </a:ln>
          </a:right>
          <a:top>
            <a:ln w="6350">
              <a:solidFill>
                <a:srgbClr val="423C3B"/>
              </a:solidFill>
              <a:prstDash val="solid"/>
            </a:ln>
          </a:top>
          <a:bottom>
            <a:ln w="6350">
              <a:solidFill>
                <a:srgbClr val="423C3B"/>
              </a:solidFill>
              <a:prstDash val="solid"/>
            </a:ln>
          </a:bottom>
          <a:insideH>
            <a:ln w="6350">
              <a:solidFill>
                <a:srgbClr val="423C3B"/>
              </a:solidFill>
              <a:prstDash val="solid"/>
            </a:ln>
          </a:insideH>
          <a:insideV>
            <a:ln w="6350">
              <a:solidFill>
                <a:srgbClr val="423C3B"/>
              </a:solidFill>
              <a:prstDash val="solid"/>
            </a:ln>
          </a:insideV>
        </a:tcBdr>
        <a:fill>
          <a:solidFill>
            <a:srgbClr val="FCF8F5"/>
          </a:solidFill>
        </a:fill>
      </a:tcStyle>
    </a:wholeTbl>
    <a:firstRow>
      <a:tcTxStyle b="on">
        <a:fontRef idx="minor">
          <a:srgbClr val="423C3B"/>
        </a:fontRef>
        <a:srgbClr val="423C3B"/>
      </a:tcTxStyle>
      <a:tcStyle>
        <a:tcBdr>
          <a:left>
            <a:ln w="6350">
              <a:solidFill>
                <a:srgbClr val="423C3B"/>
              </a:solidFill>
              <a:prstDash val="solid"/>
            </a:ln>
          </a:left>
          <a:right>
            <a:ln w="6350">
              <a:solidFill>
                <a:srgbClr val="423C3B"/>
              </a:solidFill>
              <a:prstDash val="solid"/>
            </a:ln>
          </a:right>
          <a:top>
            <a:ln w="6350">
              <a:solidFill>
                <a:srgbClr val="423C3B"/>
              </a:solidFill>
              <a:prstDash val="solid"/>
            </a:ln>
          </a:top>
          <a:bottom>
            <a:ln w="6350">
              <a:solidFill>
                <a:srgbClr val="423C3B"/>
              </a:solidFill>
              <a:prstDash val="solid"/>
            </a:ln>
          </a:bottom>
          <a:insideH>
            <a:ln w="6350">
              <a:solidFill>
                <a:srgbClr val="423C3B"/>
              </a:solidFill>
              <a:prstDash val="solid"/>
            </a:ln>
          </a:insideH>
          <a:insideV>
            <a:ln w="6350">
              <a:solidFill>
                <a:srgbClr val="423C3B"/>
              </a:solidFill>
              <a:prstDash val="solid"/>
            </a:ln>
          </a:insideV>
        </a:tcBdr>
        <a:fill>
          <a:solidFill>
            <a:srgbClr val="DEB4BA"/>
          </a:solidFill>
        </a:fill>
      </a:tcStyle>
    </a:firstRow>
    <a:lastRow>
      <a:tcTxStyle b="on">
        <a:fontRef idx="minor">
          <a:srgbClr val="423C3B"/>
        </a:fontRef>
        <a:srgbClr val="423C3B"/>
      </a:tcTxStyle>
      <a:tcStyle>
        <a:tcBdr>
          <a:left>
            <a:ln w="6350">
              <a:solidFill>
                <a:srgbClr val="423C3B"/>
              </a:solidFill>
              <a:prstDash val="solid"/>
            </a:ln>
          </a:left>
          <a:right>
            <a:ln w="6350">
              <a:solidFill>
                <a:srgbClr val="423C3B"/>
              </a:solidFill>
              <a:prstDash val="solid"/>
            </a:ln>
          </a:right>
          <a:top>
            <a:ln w="6350">
              <a:solidFill>
                <a:srgbClr val="423C3B"/>
              </a:solidFill>
              <a:prstDash val="solid"/>
            </a:ln>
          </a:top>
          <a:bottom>
            <a:ln w="6350">
              <a:solidFill>
                <a:srgbClr val="423C3B"/>
              </a:solidFill>
              <a:prstDash val="solid"/>
            </a:ln>
          </a:bottom>
          <a:insideH>
            <a:ln w="6350">
              <a:solidFill>
                <a:srgbClr val="423C3B"/>
              </a:solidFill>
              <a:prstDash val="solid"/>
            </a:ln>
          </a:insideH>
          <a:insideV>
            <a:ln w="6350">
              <a:solidFill>
                <a:srgbClr val="423C3B"/>
              </a:solidFill>
              <a:prstDash val="solid"/>
            </a:ln>
          </a:insideV>
        </a:tcBdr>
        <a:fill>
          <a:solidFill>
            <a:srgbClr val="FAEDC6"/>
          </a:solidFill>
        </a:fill>
      </a:tcStyle>
    </a:la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16915e84e44f6c" /><Relationship Type="http://schemas.openxmlformats.org/officeDocument/2006/relationships/slideMaster" Target="/ppt/slideMasters/slideMaster1.xml" Id="Ra6032c0267104a40" /><Relationship Type="http://schemas.openxmlformats.org/officeDocument/2006/relationships/notesMaster" Target="/ppt/notesMasters/notesMaster1.xml" Id="Rbdd3963aabf34e64" /><Relationship Type="http://schemas.openxmlformats.org/officeDocument/2006/relationships/presProps" Target="/ppt/presProps.xml" Id="Re78c9f195f354e05" /><Relationship Type="http://schemas.openxmlformats.org/officeDocument/2006/relationships/viewProps" Target="/ppt/viewProps.xml" Id="R346d1e69f87b48ab" /><Relationship Type="http://schemas.openxmlformats.org/officeDocument/2006/relationships/tableStyles" Target="/ppt/tableStyles.xml" Id="R2dba363e1f8e437a" /><Relationship Type="http://schemas.openxmlformats.org/officeDocument/2006/relationships/slide" Target="/ppt/slides/slide1.xml" Id="R0cbe34a999444dac" /><Relationship Type="http://schemas.openxmlformats.org/officeDocument/2006/relationships/slide" Target="/ppt/slides/slide2.xml" Id="Rd8033254884f4a20" /><Relationship Type="http://schemas.openxmlformats.org/officeDocument/2006/relationships/slide" Target="/ppt/slides/slide3.xml" Id="Ra42beee33bfa4de4" /><Relationship Type="http://schemas.openxmlformats.org/officeDocument/2006/relationships/slide" Target="/ppt/slides/slide4.xml" Id="R258751d77acb4261" /><Relationship Type="http://schemas.openxmlformats.org/officeDocument/2006/relationships/slide" Target="/ppt/slides/slide5.xml" Id="Rdf4078470c4342b6" /><Relationship Type="http://schemas.openxmlformats.org/officeDocument/2006/relationships/slide" Target="/ppt/slides/slide6.xml" Id="Red4535473e404b54" /><Relationship Type="http://schemas.openxmlformats.org/officeDocument/2006/relationships/slide" Target="/ppt/slides/slide7.xml" Id="Rc270ba3a2dc64408" /><Relationship Type="http://schemas.openxmlformats.org/officeDocument/2006/relationships/slide" Target="/ppt/slides/slide8.xml" Id="R0f9d52a9612747b6" /><Relationship Type="http://schemas.openxmlformats.org/officeDocument/2006/relationships/slide" Target="/ppt/slides/slide9.xml" Id="R72333ba3716c42ac" /><Relationship Type="http://schemas.openxmlformats.org/officeDocument/2006/relationships/slide" Target="/ppt/slides/slide10.xml" Id="R163f11f5e0f64dfe" /><Relationship Type="http://schemas.openxmlformats.org/officeDocument/2006/relationships/slide" Target="/ppt/slides/slide11.xml" Id="R71acd184994748c7" /><Relationship Type="http://schemas.openxmlformats.org/officeDocument/2006/relationships/slide" Target="/ppt/slides/slide12.xml" Id="R55c4211382b14f34" /><Relationship Type="http://schemas.openxmlformats.org/officeDocument/2006/relationships/slide" Target="/ppt/slides/slide13.xml" Id="Rc05d2478af6e4d6d" /><Relationship Type="http://schemas.openxmlformats.org/officeDocument/2006/relationships/slide" Target="/ppt/slides/slide14.xml" Id="R6e8f43d96b7b45a4" /><Relationship Type="http://schemas.openxmlformats.org/officeDocument/2006/relationships/slide" Target="/ppt/slides/slide15.xml" Id="Ra2f988b6656249d3" /><Relationship Type="http://schemas.openxmlformats.org/officeDocument/2006/relationships/slide" Target="/ppt/slides/slide16.xml" Id="R7d49eb879baf4797" /><Relationship Type="http://schemas.openxmlformats.org/officeDocument/2006/relationships/slide" Target="/ppt/slides/slide17.xml" Id="R257994e879e54a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7d6ce0dce944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EAGLE">
  <a:themeElements>
    <a:clrScheme name="Meeting 0830 Rose &amp; Gold">
      <a:dk1>
        <a:srgbClr val="47171C"/>
      </a:dk1>
      <a:lt1>
        <a:srgbClr val="FCF8F5"/>
      </a:lt1>
      <a:dk2>
        <a:srgbClr val="423C3B"/>
      </a:dk2>
      <a:lt2>
        <a:srgbClr val="FFFFFF"/>
      </a:lt2>
      <a:accent1>
        <a:srgbClr val="CF8792"/>
      </a:accent1>
      <a:accent2>
        <a:srgbClr val="47171C"/>
      </a:accent2>
      <a:accent3>
        <a:srgbClr val="CF9BA5"/>
      </a:accent3>
      <a:accent4>
        <a:srgbClr val="C69B45"/>
      </a:accent4>
      <a:accent5>
        <a:srgbClr val="FAEDC6"/>
      </a:accent5>
      <a:accent6>
        <a:srgbClr val="423C3B"/>
      </a:accent6>
      <a:hlink>
        <a:srgbClr val="CF8792"/>
      </a:hlink>
      <a:folHlink>
        <a:srgbClr val="C69B45"/>
      </a:folHlink>
    </a:clrScheme>
    <a:fontScheme name="Office">
      <a:majorFont>
        <a:latin typeface="Source Han Serif TW"/>
        <a:ea typeface="Source Han Serif TW"/>
        <a:cs typeface="Source Han Serif TW"/>
      </a:majorFont>
      <a:minorFont>
        <a:latin typeface="Source Han Serif TW"/>
        <a:ea typeface="Source Han Serif TW"/>
        <a:cs typeface="Source Han Serif TW"/>
      </a:minorFont>
    </a:fontScheme>
    <a:fmtScheme name="Meeting 0830 Rose &amp; 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e4c7751e46432a" /><Relationship Type="http://schemas.openxmlformats.org/officeDocument/2006/relationships/notesMaster" Target="/ppt/notesMasters/notesMaster1.xml" Id="R11c7765e4ee74a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03e3c452094859" /><Relationship Type="http://schemas.openxmlformats.org/officeDocument/2006/relationships/notesMaster" Target="/ppt/notesMasters/notesMaster1.xml" Id="R754cf1a0580c4d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903f94bc214ac0" /><Relationship Type="http://schemas.openxmlformats.org/officeDocument/2006/relationships/notesMaster" Target="/ppt/notesMasters/notesMaster1.xml" Id="R9fbf1d0660ab4d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b667da660646cc" /><Relationship Type="http://schemas.openxmlformats.org/officeDocument/2006/relationships/notesMaster" Target="/ppt/notesMasters/notesMaster1.xml" Id="R6fba29877d7447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e216fe9d474028" /><Relationship Type="http://schemas.openxmlformats.org/officeDocument/2006/relationships/notesMaster" Target="/ppt/notesMasters/notesMaster1.xml" Id="Ra48bd80419b94e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9f80690ff446b7" /><Relationship Type="http://schemas.openxmlformats.org/officeDocument/2006/relationships/notesMaster" Target="/ppt/notesMasters/notesMaster1.xml" Id="Rb2968dc7d73d47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25bdacac584971" /><Relationship Type="http://schemas.openxmlformats.org/officeDocument/2006/relationships/notesMaster" Target="/ppt/notesMasters/notesMaster1.xml" Id="R07f0fedb05f24ba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709fcff7cd4f0c" /><Relationship Type="http://schemas.openxmlformats.org/officeDocument/2006/relationships/notesMaster" Target="/ppt/notesMasters/notesMaster1.xml" Id="Rb38b89c0429c477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121b4fb4204d89" /><Relationship Type="http://schemas.openxmlformats.org/officeDocument/2006/relationships/notesMaster" Target="/ppt/notesMasters/notesMaster1.xml" Id="Rb01aa160cca4468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7e9a341bc694d99" /><Relationship Type="http://schemas.openxmlformats.org/officeDocument/2006/relationships/notesMaster" Target="/ppt/notesMasters/notesMaster1.xml" Id="R24e73b49ce7549c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d75d7853620435e" /><Relationship Type="http://schemas.openxmlformats.org/officeDocument/2006/relationships/notesMaster" Target="/ppt/notesMasters/notesMaster1.xml" Id="Rab34568b0abd4b3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1e8ad19008c4348" /><Relationship Type="http://schemas.openxmlformats.org/officeDocument/2006/relationships/notesMaster" Target="/ppt/notesMasters/notesMaster1.xml" Id="Rd60890cd952640d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4a2ee9ba6f94add" /><Relationship Type="http://schemas.openxmlformats.org/officeDocument/2006/relationships/notesMaster" Target="/ppt/notesMasters/notesMaster1.xml" Id="R424cdbbab9604a6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00327c1d60044e1" /><Relationship Type="http://schemas.openxmlformats.org/officeDocument/2006/relationships/notesMaster" Target="/ppt/notesMasters/notesMaster1.xml" Id="R25ac3dceefe14fd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aebbd8d6a6c4131" /><Relationship Type="http://schemas.openxmlformats.org/officeDocument/2006/relationships/notesMaster" Target="/ppt/notesMasters/notesMaster1.xml" Id="Rf701b8178c6445f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b2d85f2e1854969" /><Relationship Type="http://schemas.openxmlformats.org/officeDocument/2006/relationships/notesMaster" Target="/ppt/notesMasters/notesMaster1.xml" Id="R83a47e5f840c4f5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9ed037996244d49" /><Relationship Type="http://schemas.openxmlformats.org/officeDocument/2006/relationships/notesMaster" Target="/ppt/notesMasters/notesMaster1.xml" Id="R277aaeaff1204f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本簡報介紹程式來源94ab1869的最終運作方式，以deterministic_dsl、seed8重複三次、每run三個演化世代、population2的設定為主線。說明設定、策略表示、初始化、反思、確定性編譯、評估、選擇、平行工作、GPU啟動與續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configs/experiments/1014_deterministic_dsl_3x2_seed8_3runs/ministral3_8b_deterministic_dsl_3x2_seed8_3runs.yaml</a:t>
            </a:r>
          </a:p>
          <a:p xmlns:a="http://schemas.openxmlformats.org/drawingml/2006/main">
            <a:r>
              <a:t>eagle/runtime/processes.py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ExperimentConfig解析此self_play設定為game_performance_semantic_tiebreak。Gen0把單一WorkerRush policy複製為population_size=2，各候選有不同identity。有效genotype只有strategy_prompt；設定三個演化世代另有gen0初始化，三個獨立run的有效seed均為8。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configs/experiments/1014_deterministic_dsl_3x2_seed8_3runs/ministral3_8b_deterministic_dsl_3x2_seed8_3runs.yaml</a:t>
            </a:r>
          </a:p>
          <a:p xmlns:a="http://schemas.openxmlformats.org/drawingml/2006/main">
            <a:r>
              <a:t>eagle/config.py</a:t>
            </a:r>
          </a:p>
          <a:p xmlns:a="http://schemas.openxmlformats.org/drawingml/2006/main">
            <a:r>
              <a:t>eagle/operators/initialization.py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先完成GPU runtime啟動與config協定核對，gen0建立兩個seed clones、編譯與bootstrap self-play評估，保存snapshot。gen1到gen3按序建立offspring，反思可同時發出但結果固定排序；編譯與評估後以mu+lambda選survivors。正常完成後共同final-test不回饋搜尋。stagnation門檻25高於三代預算，正常會先到代數上限。外部exception/interrupt留下最後完整checkpoin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eagle/evolution/search.py</a:t>
            </a:r>
          </a:p>
          <a:p xmlns:a="http://schemas.openxmlformats.org/drawingml/2006/main">
            <a:r>
              <a:t>eagle/evolution/generation.py</a:t>
            </a:r>
          </a:p>
          <a:p xmlns:a="http://schemas.openxmlformats.org/drawingml/2006/main">
            <a:r>
              <a:t>eagle/final_test.py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策略格式eagle-strategy-dsl-v1，上限16000字元、32rules、conditiondepth6、booleanfanout8。規則包含actor單位類型、when條件、action合法動作。choose是合法動作子集上的確定性hash選擇，沒有persistent RNG。策略本身仍由LLM反思改變，確定性的是policy到Java的物化映射，不等於不使用LLM。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prompts/strategy_dsl_reference.txt</a:t>
            </a:r>
          </a:p>
          <a:p xmlns:a="http://schemas.openxmlformats.org/drawingml/2006/main">
            <a:r>
              <a:t>eagle/strategy_dsl.py</a:t>
            </a:r>
          </a:p>
          <a:p xmlns:a="http://schemas.openxmlformats.org/drawingml/2006/main">
            <a:r>
              <a:t>eagle/generation/dsl_java_compiler.py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每個目前idle的friendly actor依升序ID處理，對其type對應rules依arrayorder判斷。when false、目標不存在、path不可達、stockpile不足、cell占用或guard失敗均繼續下一條。第一個真正可issue的action終止該actor，explicitidle也終止。hash target先合法filter，selector metric ties按ID或cell y,x。一次PlayerAction累積resource/cell reservation供後續actor使用。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prompts/strategy_dsl_reference.txt</a:t>
            </a:r>
          </a:p>
          <a:p xmlns:a="http://schemas.openxmlformats.org/drawingml/2006/main">
            <a:r>
              <a:t>eagle/generation/dsl_java_compiler.py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初始化clone不是多樣化，兩個policy相同。初始bootstrap評估由compiled候選提供對手；之後library去重可能將兩個identicalJava候選縮為一個source。snapshotcontext改變時，gen1必須先更新父代fitness，而不是無條件重用gen0分數。相同context後可reuse_cache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eagle/operators/initialization.py</a:t>
            </a:r>
          </a:p>
          <a:p xmlns:a="http://schemas.openxmlformats.org/drawingml/2006/main">
            <a:r>
              <a:t>eagle/evolution/search.py</a:t>
            </a:r>
          </a:p>
          <a:p xmlns:a="http://schemas.openxmlformats.org/drawingml/2006/main">
            <a:r>
              <a:t>eagle/evolution/generation.py</a:t>
            </a:r>
          </a:p>
          <a:p xmlns:a="http://schemas.openxmlformats.org/drawingml/2006/main">
            <a:r>
              <a:t>eagle/self_play.py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select_self_play_library_candidates在libraryorder上以epoch=generation//refresh_interval與source_count=min(N,10)決定start=(epoch*source_count)%N；expand_self_play_slots將非空來源按順序循環到10slots。初始兩個相同Java的seedclones在libraryhash去重後通常只剩一個來源，十格並不代表十種策略。gen0bootstrapcontext與librarysnapshotcontext可能不同，gen1觸發context_migration_required；gen2/3若context一致則可reuse。library的capacity與refresh_interval不等於全archive最優對手選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eagle/self_play.py</a:t>
            </a:r>
          </a:p>
          <a:p xmlns:a="http://schemas.openxmlformats.org/drawingml/2006/main">
            <a:r>
              <a:t>eagle/evaluation/opponents.py</a:t>
            </a:r>
          </a:p>
          <a:p xmlns:a="http://schemas.openxmlformats.org/drawingml/2006/main">
            <a:r>
              <a:t>eagle/evolution/generation.py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GamePerformance的tier不是鏈式鄰近合併，最高分往下1.0以內屬tier。父代A在top tier選擇，B可用A語意簽章當reference。survivor先保留完整較好score tiers，容量截斷的tier才用farthest-first語意新穎度，不讓semantic distance把較差tier提升。missing/incompatible簽章走seeded fallback。finaltest固定roster，不混同搜尋的selfplay_000–009slots。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eagle/operators/selection.py</a:t>
            </a:r>
          </a:p>
          <a:p xmlns:a="http://schemas.openxmlformats.org/drawingml/2006/main">
            <a:r>
              <a:t>eagle/evolution/offspring.py</a:t>
            </a:r>
          </a:p>
          <a:p xmlns:a="http://schemas.openxmlformats.org/drawingml/2006/main">
            <a:r>
              <a:t>eagle/self_play.py</a:t>
            </a:r>
          </a:p>
          <a:p xmlns:a="http://schemas.openxmlformats.org/drawingml/2006/main">
            <a:r>
              <a:t>eagle/final_test.py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plan_offspring先依rootseed衍生父代、crossover與operator的taskstreams。deterministic模式以整份策略作crossover的選擇單位，strategy_parent_id記錄策略來源。每代有兩個offspring，mutation_rate=1且Strategy probability=1。先serial決定計畫，再並行reflection，最後按slot順序整合。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eagle/evolution/offspring.py</a:t>
            </a:r>
          </a:p>
          <a:p xmlns:a="http://schemas.openxmlformats.org/drawingml/2006/main">
            <a:r>
              <a:t>eagle/operators/crossover.py</a:t>
            </a:r>
          </a:p>
          <a:p xmlns:a="http://schemas.openxmlformats.org/drawingml/2006/main">
            <a:r>
              <a:t>eagle/execution.py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選擇只從記錄的strategy_parent_id對應parent已完成matches中挑最低有限performance的一場；若無有限score，依loss=-100、draw=0、win=100 fallback。stablematch_id打破tie；failedmatches排除。Commentator看到該場canonicaltrace；Coach看到一份diagnosis與parent全部matches的global summary。JSONL結果經驗證後形成策略基因。缺trace不換成另一場。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eagle/operators/context.py</a:t>
            </a:r>
          </a:p>
          <a:p xmlns:a="http://schemas.openxmlformats.org/drawingml/2006/main">
            <a:r>
              <a:t>eagle/operators/strategy.py</a:t>
            </a:r>
          </a:p>
          <a:p xmlns:a="http://schemas.openxmlformats.org/drawingml/2006/main">
            <a:r>
              <a:t>docs/architecture/mutation.md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Coach輸出rule-per-lineJSONL，每個record使用new_strategy_prompt；策略contractrewrite使用revised_strategy_prompt。Parser獨立驗證每條rule，不修補非法子樹，按原始行序保留合法規則。Coach回應需要至少一條合法strategy_rule；這與完整DSL空rules的idle語意不同。最多三次嘗試，正常解析失敗耗盡可保留parentpolicy；backend/server例外仍可能中止ru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eagle/strategy_dsl.py</a:t>
            </a:r>
          </a:p>
          <a:p xmlns:a="http://schemas.openxmlformats.org/drawingml/2006/main">
            <a:r>
              <a:t>eagle/operators/strategy.py</a:t>
            </a:r>
          </a:p>
          <a:p xmlns:a="http://schemas.openxmlformats.org/drawingml/2006/main">
            <a:r>
              <a:t>prompts/coach_refine.txt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DSLcompiler先validate/normalize，生成typedIR，再用eagle-dsl-java-v1與固定scaffold發射完整source。下游一般validation、單次javac與integration維持，probe/matches有自身diagnostics。deterministic模式沒有JavaGeneration、CodeReflection、PromptReflection或compile-repairLLM。compiler/validation/javacfailure保持實際failurestage與source/hash，不假裝進入遊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eagle/generation/dsl_java_compiler.py</a:t>
            </a:r>
          </a:p>
          <a:p xmlns:a="http://schemas.openxmlformats.org/drawingml/2006/main">
            <a:r>
              <a:t>eagle/evaluation/decoding.py</a:t>
            </a:r>
          </a:p>
          <a:p xmlns:a="http://schemas.openxmlformats.org/drawingml/2006/main">
            <a:r>
              <a:t>eagle/evaluation/pipeline.py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game_performance使用每場result100/0/-100加[-10,10]shaping，以詳細telemetry計算資源及軍力等訊號，不等同winrate。semanticprobe為1.0tier tie新穎度，不能突破fitness tiers。finaltest若非mock且未skip在正常runcomplete後進行；中斷/失敗時不跑。180與600是定義的matrix大小，不是已完成場數。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eagle/evaluation/game_performance.py</a:t>
            </a:r>
          </a:p>
          <a:p xmlns:a="http://schemas.openxmlformats.org/drawingml/2006/main">
            <a:r>
              <a:t>eagle/evaluation/game_metrics.py</a:t>
            </a:r>
          </a:p>
          <a:p xmlns:a="http://schemas.openxmlformats.org/drawingml/2006/main">
            <a:r>
              <a:t>eagle/opponent_cases.py</a:t>
            </a:r>
          </a:p>
          <a:p xmlns:a="http://schemas.openxmlformats.org/drawingml/2006/main">
            <a:r>
              <a:t>eagle/final_test.py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LLM_WORKERS=2、MODEL_THREADS=8、MATCH_WORKERS=10為固定執行政策。每slotcontext32768使serverctx-size=65536。同一generation的獨立offspring反思可並行，candidate preparation可並行，但preparation全部完成後才建對手pool。候選評估按序，每候選的180matches用10workers。parallel_map依輸入順序回傳，taskseed由rootseed與穩定identity衍生；三個runs仍依序執行。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eagle/execution.py</a:t>
            </a:r>
          </a:p>
          <a:p xmlns:a="http://schemas.openxmlformats.org/drawingml/2006/main">
            <a:r>
              <a:t>eagle/runtime/processes.py</a:t>
            </a:r>
          </a:p>
          <a:p xmlns:a="http://schemas.openxmlformats.org/drawingml/2006/main">
            <a:r>
              <a:t>eagle/evaluation/pipeline.py</a:t>
            </a:r>
          </a:p>
          <a:p xmlns:a="http://schemas.openxmlformats.org/drawingml/2006/main">
            <a:r>
              <a:t>eagle/evaluation/matches.py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索引schemaeagle-experiment-index-v1；source config的runs跟random_seeds展開成orderedslots。路徑是實際run_dirs，由on_run_created更新。resume不可將不相容policyformat/compiler/scaffold默默轉換。三次同seed是重複性檢查，不能把它當三個獨立randomseed樣本；GPU/runtime差異仍需用hash與timing檢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eagle/experiment.py</a:t>
            </a:r>
          </a:p>
          <a:p xmlns:a="http://schemas.openxmlformats.org/drawingml/2006/main">
            <a:r>
              <a:t>eagle/evolution/resume.py</a:t>
            </a:r>
          </a:p>
          <a:p xmlns:a="http://schemas.openxmlformats.org/drawingml/2006/main">
            <a:r>
              <a:t>docs/operations/running_eagle.md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Runtime先以--list-devices確認CUDA/NVIDIAbackend，再以--n-gpu-layers999、--fitoff要求完整model-layeroffload。--log-verbosity4讓core模型資訊可見。啟動成功需要serverhealth與本次ownedchild的新log都通過；offloadedN/N且N&gt;0才接受。缺失、部分或stale證據停止ownedprocess。此要求針對model-layerGPU執行，其他CPU上的runtime或MicroRTS工作仍依一般流程進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eagle/runtime/processes.py</a:t>
            </a:r>
          </a:p>
          <a:p xmlns:a="http://schemas.openxmlformats.org/drawingml/2006/main">
            <a:r>
              <a:t>eagle/runtime/config.py</a:t>
            </a:r>
          </a:p>
          <a:p xmlns:a="http://schemas.openxmlformats.org/drawingml/2006/main">
            <a:r>
              <a:t>tests/test_runtime_workflow.py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版本截點：2026-10-14。程式版本：94ab1869。</a:t>
            </a:r>
          </a:p>
          <a:p xmlns:a="http://schemas.openxmlformats.org/drawingml/2006/main">
            <a:r>
              <a:t>從EAGLErepo root執行experiment.sh。config保持deterministic_dsl、runs3與random_seeds[8]。首次執行建立每個run目錄與有序索引；folderresume依experiment.yaml找到未完成的run，從最後完整checkpoint接續，完成者跳過。gen0前沒有可用checkpoint時可建立替代run。正常完成且未指定skip-final-test時，run接著執行champion共同final-tes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experiment.sh</a:t>
            </a:r>
          </a:p>
          <a:p xmlns:a="http://schemas.openxmlformats.org/drawingml/2006/main">
            <a:r>
              <a:t>eagle/cli/experiment.py</a:t>
            </a:r>
          </a:p>
          <a:p xmlns:a="http://schemas.openxmlformats.org/drawingml/2006/main">
            <a:r>
              <a:t>eagle/experiment.py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cc92505b1c4a4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1b7f8cdaaf4f5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d7e5ccc7c540d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a8fdc14278428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99554e4ae14bf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288e2b78b0490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7bdf172d5c466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5d0cbbd7014f9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06ee5504c1469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50d5cd290948ae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c5fda7fcc044a6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e6ff71c34d4245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260a3b1a7644e0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abe2eb12d14ae2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94f52352094ba6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8754f855d646c6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e95c24f9104711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c7ac90f04d4739" /></Relationships>
</file>

<file path=ppt/slideLayouts/slideLayout1.xml><?xml version="1.0" encoding="utf-8"?>
<p:sldLayout xmlns:p="http://schemas.openxmlformats.org/presentationml/2006/main" type="title" preserve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2F34C9E6-C370-4CE6-8C49-57861F01F240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476500" y="2762250"/>
            <a:ext cx="10972800" cy="13335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7A0C5AD2-9560-46CF-A557-9D96775B73B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857500" y="4429125"/>
            <a:ext cx="10210800" cy="9525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2D779401-8411-4F57-B364-00A08D3D0F78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94FF8C53-65A6-4BE2-B1C3-0860FCD540B7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2.xml><?xml version="1.0" encoding="utf-8"?>
<p:sldLayout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E3969E06-0C81-48D2-BB37-515771E13DCE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476500" y="3238500"/>
            <a:ext cx="10972800" cy="12382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2">
            <a:extLst xmlns:a="http://schemas.openxmlformats.org/drawingml/2006/main">
              <a:ext uri="{FF2B5EF4-FFF2-40B4-BE49-F238E27FC236}">
                <a16:creationId xmlns:a16="http://schemas.microsoft.com/office/drawing/2014/main" id="{590865AA-9D35-4748-91A3-B387D561BA4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048000" y="4714875"/>
            <a:ext cx="9829800" cy="8572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按一下以新增章節說明</a:t>
            </a:r>
          </a:p>
        </p:txBody>
      </p:sp>
      <p:sp>
        <p:nvSpPr>
          <p:cNvPr id="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EA91A40-BDBE-4EF8-AB1C-C163BF4B89CC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1DC12639-B266-46C5-BCF3-45A4D32AE42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3.xml><?xml version="1.0" encoding="utf-8"?>
<p:sldLayout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6EC4DF72-535F-4440-B07D-46BAD5D2A2AE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51353937-B2B6-48C4-A2B5-2F27B15E716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92425B3F-3430-4EDE-B5B3-73C027E72E1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130683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4F8BDA3-F257-4248-9C77-277658BEC422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1ED4EB3D-E8EE-422C-AC16-9B2450B7C42F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4.xml><?xml version="1.0" encoding="utf-8"?>
<p:sldLayout xmlns:p="http://schemas.openxmlformats.org/presentationml/2006/main" type="twoObj" preserve="1">
  <p:cSld name="兩項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3A4791D8-472B-4CB1-9BF5-68D6DDA5E08C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302C0C6D-C490-4DDF-92D9-E216E08E1CE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0892CF96-6BB8-469E-8C05-16E66270671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630555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 xmlns:a="http://schemas.openxmlformats.org/drawingml/2006/main">
              <a:ext uri="{FF2B5EF4-FFF2-40B4-BE49-F238E27FC236}">
                <a16:creationId xmlns:a16="http://schemas.microsoft.com/office/drawing/2014/main" id="{00538733-DF1C-4D96-92B6-38724A005A9A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8191500" y="2619375"/>
            <a:ext cx="630555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5D5331F0-3B10-4BF6-A2A3-3DEA2BDE8911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58176649-BADB-4675-AA89-5F227F3F3954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5.xml><?xml version="1.0" encoding="utf-8"?>
<p:sldLayout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C4DD0E43-2CD7-44D8-A8DE-10D092170A60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076D8F65-D3F7-4349-B3FE-19769F62948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E2F427F0-C955-46A6-9858-9A50C0C635E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571750"/>
            <a:ext cx="6305550" cy="619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按一下以新增欄位標題</a:t>
            </a:r>
          </a:p>
        </p:txBody>
      </p:sp>
      <p:sp>
        <p:nvSpPr>
          <p:cNvPr id="5" name="EAGLE_4">
            <a:extLst xmlns:a="http://schemas.openxmlformats.org/drawingml/2006/main">
              <a:ext uri="{FF2B5EF4-FFF2-40B4-BE49-F238E27FC236}">
                <a16:creationId xmlns:a16="http://schemas.microsoft.com/office/drawing/2014/main" id="{3BB99614-5410-42D4-8D56-3C67339DE590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1428750" y="3476625"/>
            <a:ext cx="6305550" cy="4048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6" name="EAGLE_3">
            <a:extLst xmlns:a="http://schemas.openxmlformats.org/drawingml/2006/main">
              <a:ext uri="{FF2B5EF4-FFF2-40B4-BE49-F238E27FC236}">
                <a16:creationId xmlns:a16="http://schemas.microsoft.com/office/drawing/2014/main" id="{A31AD1B3-6BB9-4504-B9C5-087515F7D2D4}"/>
              </a:ext>
            </a:extLst>
          </p:cNvPr>
          <p:cNvSpPr>
            <a:spLocks xmlns:a="http://schemas.openxmlformats.org/drawingml/2006/main" noGrp="1"/>
          </p:cNvSpPr>
          <p:nvPr>
            <p:ph idx="5"/>
          </p:nvPr>
        </p:nvSpPr>
        <p:spPr>
          <a:xfrm xmlns:a="http://schemas.openxmlformats.org/drawingml/2006/main">
            <a:off x="8191500" y="2571750"/>
            <a:ext cx="6305550" cy="619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按一下以新增欄位標題</a:t>
            </a:r>
          </a:p>
        </p:txBody>
      </p:sp>
      <p:sp>
        <p:nvSpPr>
          <p:cNvPr id="7" name="EAGLE_5">
            <a:extLst xmlns:a="http://schemas.openxmlformats.org/drawingml/2006/main">
              <a:ext uri="{FF2B5EF4-FFF2-40B4-BE49-F238E27FC236}">
                <a16:creationId xmlns:a16="http://schemas.microsoft.com/office/drawing/2014/main" id="{31D81A76-EB56-426E-8AAB-C05D479E14FD}"/>
              </a:ext>
            </a:extLst>
          </p:cNvPr>
          <p:cNvSpPr>
            <a:spLocks xmlns:a="http://schemas.openxmlformats.org/drawingml/2006/main" noGrp="1"/>
          </p:cNvSpPr>
          <p:nvPr>
            <p:ph idx="5"/>
          </p:nvPr>
        </p:nvSpPr>
        <p:spPr>
          <a:xfrm xmlns:a="http://schemas.openxmlformats.org/drawingml/2006/main">
            <a:off x="8191500" y="3476625"/>
            <a:ext cx="6305550" cy="4048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8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90BDD597-05AF-4E7D-B7DE-872D8C1368D1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DAAEABEC-89D6-436E-9471-497DE5F8CC71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6.xml><?xml version="1.0" encoding="utf-8"?>
<p:sldLayout xmlns:p="http://schemas.openxmlformats.org/presentationml/2006/main" preserve="1">
  <p:cSld name="三欄內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D22686DD-6022-4F4D-883C-A3A2AE4FE63B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6D6AF434-5A04-42F0-BBFA-BC92C579986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FEB69765-384F-41D2-A24F-900B0409C29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40386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 xmlns:a="http://schemas.openxmlformats.org/drawingml/2006/main">
              <a:ext uri="{FF2B5EF4-FFF2-40B4-BE49-F238E27FC236}">
                <a16:creationId xmlns:a16="http://schemas.microsoft.com/office/drawing/2014/main" id="{BB259B69-1EC0-4318-8F78-3881E3FD7476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5943600" y="2619375"/>
            <a:ext cx="40386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6" name="EAGLE_4">
            <a:extLst xmlns:a="http://schemas.openxmlformats.org/drawingml/2006/main">
              <a:ext uri="{FF2B5EF4-FFF2-40B4-BE49-F238E27FC236}">
                <a16:creationId xmlns:a16="http://schemas.microsoft.com/office/drawing/2014/main" id="{86B9ECF8-06DD-4853-A29A-64E7D62F27E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0458450" y="2619375"/>
            <a:ext cx="40386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A81AA091-155C-4B49-B3CF-270208548CFE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534CC2CF-DFA1-4FF2-9601-EFC4BA57938F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7.xml><?xml version="1.0" encoding="utf-8"?>
<p:sldLayout xmlns:p="http://schemas.openxmlformats.org/presentationml/2006/main" type="picTx" preserve="1">
  <p:cSld name="圖片及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93752F55-AC4A-40BE-B03B-0C040D71840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8B7D0469-A4AB-493F-ACBF-E8CB73C3A60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9089290D-C95F-4404-8DFC-D4901DA1C1B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2000250" y="2476500"/>
            <a:ext cx="11925300" cy="46196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</a:t>
            </a:r>
          </a:p>
        </p:txBody>
      </p:sp>
      <p:sp>
        <p:nvSpPr>
          <p:cNvPr id="5" name="EAGLE_3">
            <a:extLst xmlns:a="http://schemas.openxmlformats.org/drawingml/2006/main">
              <a:ext uri="{FF2B5EF4-FFF2-40B4-BE49-F238E27FC236}">
                <a16:creationId xmlns:a16="http://schemas.microsoft.com/office/drawing/2014/main" id="{D1E03D6F-4B50-441D-9B62-7C7CF72080CE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2000250" y="7334250"/>
            <a:ext cx="11925300" cy="6667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按一下以新增圖片說明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FDBA40DA-42D4-45CA-9121-B12303C8820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5C3B0106-61B7-472E-AA5A-C33DCAE7DD66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8.xml><?xml version="1.0" encoding="utf-8"?>
<p:sldLayout xmlns:p="http://schemas.openxmlformats.org/presentationml/2006/main" type="objTx" preserve="1">
  <p:cSld name="內容與圖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4E1AFFBC-8DD7-4858-BE9E-DF7B9E845243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51E591F6-4009-4737-9C0E-3381B92FB0A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6277AB01-EE8D-4317-87D9-BEC820CCC3C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5476875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 xmlns:a="http://schemas.openxmlformats.org/drawingml/2006/main">
              <a:ext uri="{FF2B5EF4-FFF2-40B4-BE49-F238E27FC236}">
                <a16:creationId xmlns:a16="http://schemas.microsoft.com/office/drawing/2014/main" id="{882ACEB2-431F-4BBF-8F1B-4F07F63851B4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7429500" y="2619375"/>
            <a:ext cx="706755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9607BD56-5922-42EE-8673-E8BDB8AA8B12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C110DA2E-972D-47CE-8ED2-D648217896E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9.xml><?xml version="1.0" encoding="utf-8"?>
<p:sldLayout xmlns:p="http://schemas.openxmlformats.org/presentationml/2006/main" preserve="1">
  <p:cSld name="標題及表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3F380ADE-E8BD-4361-83D4-34B395C514E3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198BEF13-EEB7-4982-8834-382B045AD4B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72D86C95-69D7-4516-97E8-EFF008A8DEC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130683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按一下以新增表格</a:t>
            </a:r>
          </a:p>
        </p:txBody>
      </p:sp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AA4B2483-08AD-4AAB-8D54-B0244854A19A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04A177D9-44BB-4EE7-B2EE-483B651A8234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10.xml><?xml version="1.0" encoding="utf-8"?>
<p:sldLayout xmlns:p="http://schemas.openxmlformats.org/presentationml/2006/main" preserve="1">
  <p:cSld name="標題及圖表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1A30452A-65F7-44A3-A2FA-1CF1F34140E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C07D963E-74AF-48B2-8248-0768C947D07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6394422A-37D3-4C97-96C5-AF5AE3C8DC4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130683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按一下以新增圖表</a:t>
            </a:r>
          </a:p>
        </p:txBody>
      </p:sp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27B59490-7503-487F-B730-A18C57E284F8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86AA3F53-A20A-43C4-B655-9BABD8BDE394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11.xml><?xml version="1.0" encoding="utf-8"?>
<p:sldLayout xmlns:p="http://schemas.openxmlformats.org/presentationml/2006/main" type="titleOnly" preserve="1">
  <p:cSld name="僅標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2F1A0662-494B-4627-BCEA-708F46AE5F74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5E4D67E8-1093-453A-AE8D-20B1DE405F8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5CCC836C-38EF-42B8-9F8F-EC9AB2895889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EFA42C01-117D-4BA1-BE6C-78A506A620BB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CBFBA9E9-D342-40B9-A850-43AECAABBC7E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28360F44-9DDB-4760-BE5D-FBB78FF4F621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hf sldNum="1" hdr="0" ftr="0" dt="0"/>
</p:sldLayout>
</file>

<file path=ppt/slideLayouts/slideLayout13.xml><?xml version="1.0" encoding="utf-8"?>
<p:sldLayout xmlns:p="http://schemas.openxmlformats.org/presentationml/2006/main">
  <p:cSld name="完整演算法流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EC45608E-360F-43AE-A70F-CBC25CFD95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90750" y="438150"/>
            <a:ext cx="115443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D1D113AC-898D-41F6-9ECC-A116F98519C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09750" y="1581150"/>
            <a:ext cx="123063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7CF84FE4-7AFF-4FB6-AD21-1081171453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14500" y="2533650"/>
            <a:ext cx="12496800" cy="438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>
              <a:buNone/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[以可編輯節點、連線與分支放入完整流程]</a:t>
            </a:r>
          </a:p>
        </p:txBody>
      </p:sp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E616C41-55D3-4BFB-9A81-02228A80D0E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68F2BF6A-101B-4C08-868D-51489139A07B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</p:sldLayout>
</file>

<file path=ppt/slideLayouts/slideLayout14.xml><?xml version="1.0" encoding="utf-8"?>
<p:sldLayout xmlns:p="http://schemas.openxmlformats.org/presentationml/2006/main">
  <p:cSld name="迭代細節與失敗分支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CE772812-B376-4292-B7DC-F69D6AFDD5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90750" y="438150"/>
            <a:ext cx="115443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B3D1E37B-96ED-49CF-9885-14F28CA3B37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09750" y="1581150"/>
            <a:ext cx="123063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854EEC0F-80BA-462F-9F3D-5DCF1BC97E9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14500" y="2533650"/>
            <a:ext cx="12496800" cy="438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>
              <a:buNone/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[以可編輯節點、連線與分支放入完整流程]</a:t>
            </a:r>
          </a:p>
        </p:txBody>
      </p:sp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E616C41-55D3-4BFB-9A81-02228A80D0E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AFE0DDD3-2014-44E4-BA86-0356DC208AC8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</p:sldLayout>
</file>

<file path=ppt/slideLayouts/slideLayout15.xml><?xml version="1.0" encoding="utf-8"?>
<p:sldLayout xmlns:p="http://schemas.openxmlformats.org/presentationml/2006/main">
  <p:cSld name="實驗結果圖表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BD11E234-2890-4D9E-9BD1-FB90E55266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90750" y="438150"/>
            <a:ext cx="115443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ACF821D3-F700-48E9-B364-4E34591678C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09750" y="1581150"/>
            <a:ext cx="123063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E5037F9F-C2C8-47F1-8EC8-69E886E326DE}"/>
              </a:ext>
            </a:extLst>
          </p:cNvPr>
          <p:cNvSpPr>
            <a:spLocks xmlns:a="http://schemas.openxmlformats.org/drawingml/2006/main" noGrp="1"/>
          </p:cNvSpPr>
          <p:nvPr>
            <p:ph type="chart" idx="2"/>
          </p:nvPr>
        </p:nvSpPr>
        <p:spPr>
          <a:xfrm xmlns:a="http://schemas.openxmlformats.org/drawingml/2006/main">
            <a:off x="1666875" y="2533650"/>
            <a:ext cx="7572375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[量測資料圖表]</a:t>
            </a:r>
          </a:p>
        </p:txBody>
      </p:sp>
      <p:sp>
        <p:nvSpPr>
          <p:cNvPr id="4" name="placeholder_4">
            <a:extLst xmlns:a="http://schemas.openxmlformats.org/drawingml/2006/main">
              <a:ext uri="{FF2B5EF4-FFF2-40B4-BE49-F238E27FC236}">
                <a16:creationId xmlns:a16="http://schemas.microsoft.com/office/drawing/2014/main" id="{3BCC7E98-58AF-4E44-825F-B1E83EFAB5F6}"/>
              </a:ext>
            </a:extLst>
          </p:cNvPr>
          <p:cNvSpPr>
            <a:spLocks xmlns:a="http://schemas.openxmlformats.org/drawingml/2006/main" noGrp="1"/>
          </p:cNvSpPr>
          <p:nvPr>
            <p:ph type="tbl" idx="3"/>
          </p:nvPr>
        </p:nvSpPr>
        <p:spPr>
          <a:xfrm xmlns:a="http://schemas.openxmlformats.org/drawingml/2006/main">
            <a:off x="9715500" y="2667000"/>
            <a:ext cx="4524375" cy="3524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>
              <a:buNone/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[數值、單位、樣本與來源]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E616C41-55D3-4BFB-9A81-02228A80D0E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BBD12D10-8171-4B26-AD3D-A8DB635BF2A5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</p:sldLayout>
</file>

<file path=ppt/slideLayouts/slideLayout16.xml><?xml version="1.0" encoding="utf-8"?>
<p:sldLayout xmlns:p="http://schemas.openxmlformats.org/presentationml/2006/main">
  <p:cSld name="耗時與成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3C4424CD-B7CB-4152-8DE4-69A9C2CF96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90750" y="438150"/>
            <a:ext cx="115443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B98FBC3-D73E-4FBC-9BF4-EDF7036886F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09750" y="1581150"/>
            <a:ext cx="123063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70D76A34-2FB7-4768-B9A2-DD77D2C2FBA3}"/>
              </a:ext>
            </a:extLst>
          </p:cNvPr>
          <p:cNvSpPr>
            <a:spLocks xmlns:a="http://schemas.openxmlformats.org/drawingml/2006/main" noGrp="1"/>
          </p:cNvSpPr>
          <p:nvPr>
            <p:ph type="chart" idx="2"/>
          </p:nvPr>
        </p:nvSpPr>
        <p:spPr>
          <a:xfrm xmlns:a="http://schemas.openxmlformats.org/drawingml/2006/main">
            <a:off x="1666875" y="2533650"/>
            <a:ext cx="7572375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[量測資料圖表]</a:t>
            </a:r>
          </a:p>
        </p:txBody>
      </p:sp>
      <p:sp>
        <p:nvSpPr>
          <p:cNvPr id="4" name="placeholder_4">
            <a:extLst xmlns:a="http://schemas.openxmlformats.org/drawingml/2006/main">
              <a:ext uri="{FF2B5EF4-FFF2-40B4-BE49-F238E27FC236}">
                <a16:creationId xmlns:a16="http://schemas.microsoft.com/office/drawing/2014/main" id="{5B2DA84A-9CBE-4B1B-B2C5-436F38CDA074}"/>
              </a:ext>
            </a:extLst>
          </p:cNvPr>
          <p:cNvSpPr>
            <a:spLocks xmlns:a="http://schemas.openxmlformats.org/drawingml/2006/main" noGrp="1"/>
          </p:cNvSpPr>
          <p:nvPr>
            <p:ph type="tbl" idx="3"/>
          </p:nvPr>
        </p:nvSpPr>
        <p:spPr>
          <a:xfrm xmlns:a="http://schemas.openxmlformats.org/drawingml/2006/main">
            <a:off x="9715500" y="2667000"/>
            <a:ext cx="4524375" cy="3524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>
              <a:buNone/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[數值、單位、樣本與來源]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E616C41-55D3-4BFB-9A81-02228A80D0E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1F17160D-33C4-42A5-9A93-DE706AF69DB0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</p:sldLayout>
</file>

<file path=ppt/slideLayouts/slideLayout17.xml><?xml version="1.0" encoding="utf-8"?>
<p:sldLayout xmlns:p="http://schemas.openxmlformats.org/presentationml/2006/main">
  <p:cSld name="比較分析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A5B43807-3063-4E37-B06D-A1600E3A78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90750" y="438150"/>
            <a:ext cx="115443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FDA31CE5-EE2A-4D77-9BB6-6D6982BAEA7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09750" y="1581150"/>
            <a:ext cx="123063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85C98C6D-827D-47F0-B20C-B6B2776C8CED}"/>
              </a:ext>
            </a:extLst>
          </p:cNvPr>
          <p:cNvSpPr>
            <a:spLocks xmlns:a="http://schemas.openxmlformats.org/drawingml/2006/main" noGrp="1"/>
          </p:cNvSpPr>
          <p:nvPr>
            <p:ph type="tbl" idx="2"/>
          </p:nvPr>
        </p:nvSpPr>
        <p:spPr>
          <a:xfrm xmlns:a="http://schemas.openxmlformats.org/drawingml/2006/main">
            <a:off x="1428750" y="2571750"/>
            <a:ext cx="130683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[基準、方法、結果差、耗時差與控制條件]</a:t>
            </a:r>
          </a:p>
        </p:txBody>
      </p:sp>
      <p:sp>
        <p:nvSpPr>
          <p:cNvPr id="4" name="placeholder_4">
            <a:extLst xmlns:a="http://schemas.openxmlformats.org/drawingml/2006/main">
              <a:ext uri="{FF2B5EF4-FFF2-40B4-BE49-F238E27FC236}">
                <a16:creationId xmlns:a16="http://schemas.microsoft.com/office/drawing/2014/main" id="{8840C198-4883-4725-A761-9A9BF303D0D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809750" y="6191250"/>
            <a:ext cx="123063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>
              <a:buNone/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[一個有證據的解讀與必要限制]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E616C41-55D3-4BFB-9A81-02228A80D0E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57EB90E6-BF7A-4F0E-8F35-02A99B747845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</p:sldLayout>
</file>

<file path=ppt/slideLayouts/slideLayout18.xml><?xml version="1.0" encoding="utf-8"?>
<p:sldLayout xmlns:p="http://schemas.openxmlformats.org/presentationml/2006/main">
  <p:cSld name="區間與逐次變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60A90EAA-49F5-4605-ACAA-3367CC8BDB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90750" y="438150"/>
            <a:ext cx="115443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53CAE9AC-B4FE-4539-A9D5-86FBF41F7AA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09750" y="1581150"/>
            <a:ext cx="123063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 algn="ctr"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 algn="ctr">
              <a:buNone/>
              <a:def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  <p:sp>
        <p:nvSpPr>
          <p:cNvPr id="3" name="placeholder_3">
            <a:extLst xmlns:a="http://schemas.openxmlformats.org/drawingml/2006/main">
              <a:ext uri="{FF2B5EF4-FFF2-40B4-BE49-F238E27FC236}">
                <a16:creationId xmlns:a16="http://schemas.microsoft.com/office/drawing/2014/main" id="{36378AEB-2BFE-4B58-A383-FD6B59F1CDFA}"/>
              </a:ext>
            </a:extLst>
          </p:cNvPr>
          <p:cNvSpPr>
            <a:spLocks xmlns:a="http://schemas.openxmlformats.org/drawingml/2006/main" noGrp="1"/>
          </p:cNvSpPr>
          <p:nvPr>
            <p:ph type="tbl" idx="2"/>
          </p:nvPr>
        </p:nvSpPr>
        <p:spPr>
          <a:xfrm xmlns:a="http://schemas.openxmlformats.org/drawingml/2006/main">
            <a:off x="1428750" y="2571750"/>
            <a:ext cx="130683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[日期／版本、before、after／目的、run、觀察影響]</a:t>
            </a:r>
          </a:p>
        </p:txBody>
      </p:sp>
      <p:sp>
        <p:nvSpPr>
          <p:cNvPr id="4" name="placeholder_4">
            <a:extLst xmlns:a="http://schemas.openxmlformats.org/drawingml/2006/main">
              <a:ext uri="{FF2B5EF4-FFF2-40B4-BE49-F238E27FC236}">
                <a16:creationId xmlns:a16="http://schemas.microsoft.com/office/drawing/2014/main" id="{04C6DF52-C32A-4039-B0E6-1CB40D6A713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809750" y="6191250"/>
            <a:ext cx="123063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 xmlns:a="http://schemas.openxmlformats.org/drawingml/2006/main">
            <a:pPr>
              <a:buNone/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[區間外基準的日期、版本、run ID 與選用原因]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E616C41-55D3-4BFB-9A81-02228A80D0E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44157F41-695F-4AAE-A7BD-E6182CD00A7E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4b0a769bc1d9401b" /><Relationship Type="http://schemas.openxmlformats.org/officeDocument/2006/relationships/theme" Target="/ppt/slideMasters/theme/theme2.xml" Id="Rc17f238668f3480b" /><Relationship Type="http://schemas.openxmlformats.org/officeDocument/2006/relationships/slideLayout" Target="/ppt/slideLayouts/slideLayout1.xml" Id="Ra6830cee19074a7a" /><Relationship Type="http://schemas.openxmlformats.org/officeDocument/2006/relationships/slideLayout" Target="/ppt/slideLayouts/slideLayout2.xml" Id="Raff39d8e4819406f" /><Relationship Type="http://schemas.openxmlformats.org/officeDocument/2006/relationships/slideLayout" Target="/ppt/slideLayouts/slideLayout3.xml" Id="R493fc7a5e7744882" /><Relationship Type="http://schemas.openxmlformats.org/officeDocument/2006/relationships/slideLayout" Target="/ppt/slideLayouts/slideLayout4.xml" Id="R2621732fe64646b5" /><Relationship Type="http://schemas.openxmlformats.org/officeDocument/2006/relationships/slideLayout" Target="/ppt/slideLayouts/slideLayout5.xml" Id="Rba804b32b0434cb8" /><Relationship Type="http://schemas.openxmlformats.org/officeDocument/2006/relationships/slideLayout" Target="/ppt/slideLayouts/slideLayout6.xml" Id="R39eed84911554663" /><Relationship Type="http://schemas.openxmlformats.org/officeDocument/2006/relationships/slideLayout" Target="/ppt/slideLayouts/slideLayout7.xml" Id="R86880865a72a4d3c" /><Relationship Type="http://schemas.openxmlformats.org/officeDocument/2006/relationships/slideLayout" Target="/ppt/slideLayouts/slideLayout8.xml" Id="R347cb91276d14d45" /><Relationship Type="http://schemas.openxmlformats.org/officeDocument/2006/relationships/slideLayout" Target="/ppt/slideLayouts/slideLayout9.xml" Id="R58336b9941c64443" /><Relationship Type="http://schemas.openxmlformats.org/officeDocument/2006/relationships/slideLayout" Target="/ppt/slideLayouts/slideLayout10.xml" Id="Rbce14e62c41442cd" /><Relationship Type="http://schemas.openxmlformats.org/officeDocument/2006/relationships/slideLayout" Target="/ppt/slideLayouts/slideLayout11.xml" Id="Rf786b9a27ca84167" /><Relationship Type="http://schemas.openxmlformats.org/officeDocument/2006/relationships/slideLayout" Target="/ppt/slideLayouts/slideLayout12.xml" Id="Rc5709a96f1624f6c" /><Relationship Type="http://schemas.openxmlformats.org/officeDocument/2006/relationships/slideLayout" Target="/ppt/slideLayouts/slideLayout13.xml" Id="Rfccabe99570946b1" /><Relationship Type="http://schemas.openxmlformats.org/officeDocument/2006/relationships/slideLayout" Target="/ppt/slideLayouts/slideLayout14.xml" Id="R31d4b26e474442db" /><Relationship Type="http://schemas.openxmlformats.org/officeDocument/2006/relationships/slideLayout" Target="/ppt/slideLayouts/slideLayout15.xml" Id="R3d252eff1c38418d" /><Relationship Type="http://schemas.openxmlformats.org/officeDocument/2006/relationships/slideLayout" Target="/ppt/slideLayouts/slideLayout16.xml" Id="R9c10e9311a8c4134" /><Relationship Type="http://schemas.openxmlformats.org/officeDocument/2006/relationships/slideLayout" Target="/ppt/slideLayouts/slideLayout17.xml" Id="R6045f71a151f4b73" /><Relationship Type="http://schemas.openxmlformats.org/officeDocument/2006/relationships/slideLayout" Target="/ppt/slideLayouts/slideLayout18.xml" Id="R05ee3c423a88472c" /></Relationships>
</file>

<file path=ppt/slideMasters/slideMaster1.xml><?xml version="1.0" encoding="utf-8"?>
<p:sldMaster xmlns:p="http://schemas.openxmlformats.org/presentationml/2006/main">
  <p:cSld name="EAGLE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EAGLE geometric full-slide background">
            <a:extLst xmlns:a="http://schemas.openxmlformats.org/drawingml/2006/main">
              <a:ext uri="{FF2B5EF4-FFF2-40B4-BE49-F238E27FC236}">
                <a16:creationId xmlns:a16="http://schemas.microsoft.com/office/drawing/2014/main" id="{9973FF0E-DA87-42D7-89BB-432A64806E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0a769bc1d940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925800" cy="8963025"/>
          </a:xfrm>
          <a:prstGeom xmlns:a="http://schemas.openxmlformats.org/drawingml/2006/main" prst="rect">
            <a:avLst/>
          </a:prstGeom>
        </p:spPr>
      </p:pic>
      <p:sp>
        <p:nvSpPr>
          <p:cNvPr id="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E616C41-55D3-4BFB-9A81-02228A80D0E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7296150" y="8477250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76200" tIns="28575" rIns="76200" bIns="2857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&lt;#&gt;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830cee19074a7a"/>
    <p:sldLayoutId xmlns:r="http://schemas.openxmlformats.org/officeDocument/2006/relationships" id="2147483650" r:id="Raff39d8e4819406f"/>
    <p:sldLayoutId xmlns:r="http://schemas.openxmlformats.org/officeDocument/2006/relationships" id="2147483651" r:id="R493fc7a5e7744882"/>
    <p:sldLayoutId xmlns:r="http://schemas.openxmlformats.org/officeDocument/2006/relationships" id="2147483652" r:id="R2621732fe64646b5"/>
    <p:sldLayoutId xmlns:r="http://schemas.openxmlformats.org/officeDocument/2006/relationships" id="2147483653" r:id="Rba804b32b0434cb8"/>
    <p:sldLayoutId xmlns:r="http://schemas.openxmlformats.org/officeDocument/2006/relationships" id="2147483654" r:id="R39eed84911554663"/>
    <p:sldLayoutId xmlns:r="http://schemas.openxmlformats.org/officeDocument/2006/relationships" id="2147483655" r:id="R86880865a72a4d3c"/>
    <p:sldLayoutId xmlns:r="http://schemas.openxmlformats.org/officeDocument/2006/relationships" id="2147483656" r:id="R347cb91276d14d45"/>
    <p:sldLayoutId xmlns:r="http://schemas.openxmlformats.org/officeDocument/2006/relationships" id="2147483657" r:id="R58336b9941c64443"/>
    <p:sldLayoutId xmlns:r="http://schemas.openxmlformats.org/officeDocument/2006/relationships" id="2147483658" r:id="Rbce14e62c41442cd"/>
    <p:sldLayoutId xmlns:r="http://schemas.openxmlformats.org/officeDocument/2006/relationships" id="2147483659" r:id="Rf786b9a27ca84167"/>
    <p:sldLayoutId xmlns:r="http://schemas.openxmlformats.org/officeDocument/2006/relationships" id="2147483660" r:id="Rc5709a96f1624f6c"/>
    <p:sldLayoutId xmlns:r="http://schemas.openxmlformats.org/officeDocument/2006/relationships" id="2147483661" r:id="Rfccabe99570946b1"/>
    <p:sldLayoutId xmlns:r="http://schemas.openxmlformats.org/officeDocument/2006/relationships" id="2147483662" r:id="R31d4b26e474442db"/>
    <p:sldLayoutId xmlns:r="http://schemas.openxmlformats.org/officeDocument/2006/relationships" id="2147483663" r:id="R3d252eff1c38418d"/>
    <p:sldLayoutId xmlns:r="http://schemas.openxmlformats.org/officeDocument/2006/relationships" id="2147483664" r:id="R9c10e9311a8c4134"/>
    <p:sldLayoutId xmlns:r="http://schemas.openxmlformats.org/officeDocument/2006/relationships" id="2147483665" r:id="R6045f71a151f4b73"/>
    <p:sldLayoutId xmlns:r="http://schemas.openxmlformats.org/officeDocument/2006/relationships" id="2147483666" r:id="R05ee3c423a88472c"/>
  </p:sldLayoutIdLst>
  <p:hf sldNum="1" hdr="0" ft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Source Han Serif TW"/>
          <a:ea typeface="Source Han Serif TW"/>
          <a:cs typeface="Source Han Serif TW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Source Han Serif TW"/>
          <a:ea typeface="Source Han Serif TW"/>
          <a:cs typeface="Source Han Serif TW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9pPr>
    </p:otherStyle>
  </p:txStyles>
</p:sldMaster>
</file>

<file path=ppt/slideMasters/theme/theme2.xml><?xml version="1.0" encoding="utf-8"?>
<a:theme xmlns:a="http://schemas.openxmlformats.org/drawingml/2006/main" name="EAGLE">
  <a:themeElements>
    <a:clrScheme name="Meeting 0830 Rose &amp; Gold">
      <a:dk1>
        <a:srgbClr val="47171C"/>
      </a:dk1>
      <a:lt1>
        <a:srgbClr val="FCF8F5"/>
      </a:lt1>
      <a:dk2>
        <a:srgbClr val="423C3B"/>
      </a:dk2>
      <a:lt2>
        <a:srgbClr val="FFFFFF"/>
      </a:lt2>
      <a:accent1>
        <a:srgbClr val="CF8792"/>
      </a:accent1>
      <a:accent2>
        <a:srgbClr val="47171C"/>
      </a:accent2>
      <a:accent3>
        <a:srgbClr val="CF9BA5"/>
      </a:accent3>
      <a:accent4>
        <a:srgbClr val="C69B45"/>
      </a:accent4>
      <a:accent5>
        <a:srgbClr val="FAEDC6"/>
      </a:accent5>
      <a:accent6>
        <a:srgbClr val="423C3B"/>
      </a:accent6>
      <a:hlink>
        <a:srgbClr val="CF8792"/>
      </a:hlink>
      <a:folHlink>
        <a:srgbClr val="C69B45"/>
      </a:folHlink>
    </a:clrScheme>
    <a:fontScheme name="Office">
      <a:majorFont>
        <a:latin typeface="Source Han Serif TW"/>
        <a:ea typeface="Source Han Serif TW"/>
        <a:cs typeface="Source Han Serif TW"/>
      </a:majorFont>
      <a:minorFont>
        <a:latin typeface="Source Han Serif TW"/>
        <a:ea typeface="Source Han Serif TW"/>
        <a:cs typeface="Source Han Serif TW"/>
      </a:minorFont>
    </a:fontScheme>
    <a:fmtScheme name="Meeting 0830 Rose &amp; 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1cc603cfafd45e7" /><Relationship Type="http://schemas.openxmlformats.org/officeDocument/2006/relationships/notesSlide" Target="/ppt/notesSlides/notesSlide1.xml" Id="Rfff2e522569b42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6aea0f220a54934" /><Relationship Type="http://schemas.openxmlformats.org/officeDocument/2006/relationships/notesSlide" Target="/ppt/notesSlides/notesSlide2.xml" Id="Rb30a0c0f402e44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da1b65bfbd2548fb" /><Relationship Type="http://schemas.openxmlformats.org/officeDocument/2006/relationships/notesSlide" Target="/ppt/notesSlides/notesSlide3.xml" Id="Rbbc01c1a9c094d5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8f74cb6d04f4066" /><Relationship Type="http://schemas.openxmlformats.org/officeDocument/2006/relationships/notesSlide" Target="/ppt/notesSlides/notesSlide4.xml" Id="Rb346df57cce540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0da9a2f0d474eb8" /><Relationship Type="http://schemas.openxmlformats.org/officeDocument/2006/relationships/notesSlide" Target="/ppt/notesSlides/notesSlide5.xml" Id="Ra51906cb8ffb45e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f7307a6e0c34164" /><Relationship Type="http://schemas.openxmlformats.org/officeDocument/2006/relationships/notesSlide" Target="/ppt/notesSlides/notesSlide6.xml" Id="R6e04d2fe16f845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50c8fef10ef44e1" /><Relationship Type="http://schemas.openxmlformats.org/officeDocument/2006/relationships/notesSlide" Target="/ppt/notesSlides/notesSlide7.xml" Id="Re359b354ae3f448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b6f73dcf23c4960" /><Relationship Type="http://schemas.openxmlformats.org/officeDocument/2006/relationships/notesSlide" Target="/ppt/notesSlides/notesSlide8.xml" Id="Rd50dabd93b3846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4fbbdaa63e6431a" /><Relationship Type="http://schemas.openxmlformats.org/officeDocument/2006/relationships/notesSlide" Target="/ppt/notesSlides/notesSlide9.xml" Id="Ra3aaffc25cce40e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2891876e5d645da" /><Relationship Type="http://schemas.openxmlformats.org/officeDocument/2006/relationships/notesSlide" Target="/ppt/notesSlides/notesSlide10.xml" Id="R5478e69fb15e4c2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28f76880d36453b" /><Relationship Type="http://schemas.openxmlformats.org/officeDocument/2006/relationships/notesSlide" Target="/ppt/notesSlides/notesSlide11.xml" Id="R350c3e0ebb39460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c80099289724bed" /><Relationship Type="http://schemas.openxmlformats.org/officeDocument/2006/relationships/notesSlide" Target="/ppt/notesSlides/notesSlide12.xml" Id="R4ed92cca6edc4c5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4f88832a0df436e" /><Relationship Type="http://schemas.openxmlformats.org/officeDocument/2006/relationships/notesSlide" Target="/ppt/notesSlides/notesSlide13.xml" Id="R2a1f1226666c4cd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b87a06014bf4222" /><Relationship Type="http://schemas.openxmlformats.org/officeDocument/2006/relationships/notesSlide" Target="/ppt/notesSlides/notesSlide14.xml" Id="R9b28d5341b2544b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e8cb520496f4a72" /><Relationship Type="http://schemas.openxmlformats.org/officeDocument/2006/relationships/notesSlide" Target="/ppt/notesSlides/notesSlide15.xml" Id="Ra4a050d705aa4eb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daa874fddca4a6f" /><Relationship Type="http://schemas.openxmlformats.org/officeDocument/2006/relationships/notesSlide" Target="/ppt/notesSlides/notesSlide16.xml" Id="R0e10f30c68fd433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d7819775e4e4c72" /><Relationship Type="http://schemas.openxmlformats.org/officeDocument/2006/relationships/notesSlide" Target="/ppt/notesSlides/notesSlide17.xml" Id="R96c34993848a4450" /></Relationships>
</file>

<file path=ppt/slides/slide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4" name="text-0">
            <a:extLst>
              <a:ext uri="{FF2B5EF4-FFF2-40B4-BE49-F238E27FC236}">
                <ns2:creationId id="{059214C8-F378-4EEF-969A-8C28794025F1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EAGLE 最終版本介紹</a:t>
            </a:r>
          </a:p>
        </p:txBody>
      </p:sp>
      <p:sp>
        <p:nvSpPr>
          <p:cNvPr id="2" name="text-1">
            <a:extLst>
              <a:ext uri="{FF2B5EF4-FFF2-40B4-BE49-F238E27FC236}">
                <ns2:creationId id="{7A46604A-76B0-46B0-B8E7-F99BB686B8E3}"/>
              </a:ext>
            </a:extLst>
          </p:cNvPr>
          <p:cNvSpPr>
            <a:spLocks noGrp="1"/>
          </p:cNvSpPr>
          <p:nvPr/>
        </p:nvSpPr>
        <p:spPr>
          <a:xfrm>
            <a:off x="2047875" y="3105150"/>
            <a:ext cx="11830050" cy="1238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5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以 DSL 演化策略的搜尋流程</a:t>
            </a:r>
          </a:p>
        </p:txBody>
      </p:sp>
      <p:sp>
        <p:nvSpPr>
          <p:cNvPr id="3" name="text-2">
            <a:extLst>
              <a:ext uri="{FF2B5EF4-FFF2-40B4-BE49-F238E27FC236}">
                <ns2:creationId id="{ECB27007-644A-4CA6-86F6-396E02D7AD7E}"/>
              </a:ext>
            </a:extLst>
          </p:cNvPr>
          <p:cNvSpPr>
            <a:spLocks noGrp="1"/>
          </p:cNvSpPr>
          <p:nvPr/>
        </p:nvSpPr>
        <p:spPr>
          <a:xfrm>
            <a:off x="2476500" y="4981575"/>
            <a:ext cx="10972800" cy="167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Deterministic DSL　GPU 與平行執行</a:t>
            </a:r>
          </a:p>
          <a:p>
            <a:pPr algn="ctr">
              <a:def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Ministral3 8B　seed 8 × 3 runs</a:t>
            </a:r>
          </a:p>
        </p:txBody>
      </p:sp>
      <p:sp>
        <p:nvSpPr>
          <p:cNvPr id="5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</a:t>
            </a:fld>
          </a:p>
        </p:txBody>
      </p:sp>
    </p:spTree>
    <p:extLst>
      <p:ext uri="{BB962C8B-B14F-4D97-AF65-F5344CB8AC3E}">
        <ns3:creationId val="650609638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9C41912D-7F18-442E-851F-E64EAF28DBD1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執行模式與實驗設定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D2CE8AB9-F1FD-411C-B64E-3AD5D880EA28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2428875"/>
                <a:gridCol w="4714875"/>
                <a:gridCol w="563880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項目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本次設定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實際作用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策略／Java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deterministic_dsl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eagle-dsl-java-v1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策略 JSON → 固定 Java compiler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Generation meta prompt 不啟用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搜尋預算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seed 8，runs 3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演化 3 代、population 2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三次相同 seed、獨立 run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gen0 另列，之後 gen1–3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反思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static，mutation_rate 1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Strategy probability 1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只有 Strategy Reflection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Code／Prompt Reflection 不啟用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評估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self_play，3 maps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parent mode reuse_cached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Game Performance 最大化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同分以 semantic novelty 分辨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</a:t>
            </a:fld>
          </a:p>
        </p:txBody>
      </p:sp>
    </p:spTree>
    <p:extLst>
      <p:ext uri="{BB962C8B-B14F-4D97-AF65-F5344CB8AC3E}">
        <ns3:creationId val="254053104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cxnSp>
        <p:nvCxnSpPr>
          <p:cNvPr id="17" name="">
            <a:extLst>
              <a:ext uri="{FF2B5EF4-FFF2-40B4-BE49-F238E27FC236}">
                <ns2:creationId id="{844BC7F8-59F7-4BF2-8EAD-DD7E46D60885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5191125" y="6762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6" name="">
            <a:extLst>
              <a:ext uri="{FF2B5EF4-FFF2-40B4-BE49-F238E27FC236}">
                <ns2:creationId id="{6525B592-BB66-46DB-973A-A45D7D24BDEE}"/>
              </a:ext>
            </a:extLst>
          </p:cNvPr>
          <p:cNvCxnSpPr>
            <a:stCxn id="7" idx="2"/>
            <a:endCxn id="8" idx="0"/>
          </p:cNvCxnSpPr>
          <p:nvPr/>
        </p:nvCxnSpPr>
        <p:spPr>
          <a:xfrm>
            <a:off x="3476625" y="5429250"/>
            <a:ext cx="0" cy="85725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5" name="">
            <a:extLst>
              <a:ext uri="{FF2B5EF4-FFF2-40B4-BE49-F238E27FC236}">
                <ns2:creationId id="{706AD23B-5F6B-4CDD-BF90-2BBC20A47CF1}"/>
              </a:ext>
            </a:extLst>
          </p:cNvPr>
          <p:cNvCxnSpPr>
            <a:stCxn id="7" idx="0"/>
            <a:endCxn id="5" idx="0"/>
          </p:cNvCxnSpPr>
          <p:nvPr/>
        </p:nvCxnSpPr>
        <p:spPr>
          <a:xfrm>
            <a:off x="3476625" y="4152900"/>
            <a:ext cx="8858250" cy="228600"/>
          </a:xfrm>
          <a:prstGeom prst="bentConnector4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4" name="">
            <a:extLst>
              <a:ext uri="{FF2B5EF4-FFF2-40B4-BE49-F238E27FC236}">
                <ns2:creationId id="{8B52B1FB-107C-446B-9D46-ED2EC5EE7B4C}"/>
              </a:ext>
            </a:extLst>
          </p:cNvPr>
          <p:cNvCxnSpPr>
            <a:stCxn id="6" idx="1"/>
            <a:endCxn id="7" idx="3"/>
          </p:cNvCxnSpPr>
          <p:nvPr/>
        </p:nvCxnSpPr>
        <p:spPr>
          <a:xfrm flipH="1">
            <a:off x="5191125" y="4857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3" name="">
            <a:extLst>
              <a:ext uri="{FF2B5EF4-FFF2-40B4-BE49-F238E27FC236}">
                <ns2:creationId id="{7EFBCB1F-945C-40E7-BD54-232D7FA169B2}"/>
              </a:ext>
            </a:extLst>
          </p:cNvPr>
          <p:cNvCxnSpPr>
            <a:stCxn id="5" idx="1"/>
            <a:endCxn id="6" idx="3"/>
          </p:cNvCxnSpPr>
          <p:nvPr/>
        </p:nvCxnSpPr>
        <p:spPr>
          <a:xfrm flipH="1">
            <a:off x="9620250" y="4857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2" name="">
            <a:extLst>
              <a:ext uri="{FF2B5EF4-FFF2-40B4-BE49-F238E27FC236}">
                <ns2:creationId id="{1A18BBD0-3A00-4F20-AEA4-956F2BC03613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12334875" y="3429000"/>
            <a:ext cx="0" cy="95250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1" name="">
            <a:extLst>
              <a:ext uri="{FF2B5EF4-FFF2-40B4-BE49-F238E27FC236}">
                <ns2:creationId id="{3ACE2CC6-C0C6-49EB-917D-0A3A62AEDAC4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9620250" y="2952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0" name="">
            <a:extLst>
              <a:ext uri="{FF2B5EF4-FFF2-40B4-BE49-F238E27FC236}">
                <ns2:creationId id="{4C29E40A-68D7-4240-A1AA-540FE5AE8420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5191125" y="2952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sp>
        <p:nvSpPr>
          <p:cNvPr id="21" name="text-0">
            <a:extLst>
              <a:ext uri="{FF2B5EF4-FFF2-40B4-BE49-F238E27FC236}">
                <ns2:creationId id="{4C187905-56C9-4D83-943F-4D60D79323CE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完整搜尋流程</a:t>
            </a:r>
          </a:p>
        </p:txBody>
      </p:sp>
      <p:sp>
        <p:nvSpPr>
          <p:cNvPr id="2" name="config">
            <a:extLst>
              <a:ext uri="{FF2B5EF4-FFF2-40B4-BE49-F238E27FC236}">
                <ns2:creationId id="{96A5533C-5AC1-4FFF-979A-38BF2CDA147D}"/>
              </a:ext>
            </a:extLst>
          </p:cNvPr>
          <p:cNvSpPr>
            <a:spLocks noGrp="1"/>
          </p:cNvSpPr>
          <p:nvPr/>
        </p:nvSpPr>
        <p:spPr>
          <a:xfrm>
            <a:off x="1762125" y="247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Config、seed、GPU 檢查</a:t>
            </a:r>
          </a:p>
        </p:txBody>
      </p:sp>
      <p:sp>
        <p:nvSpPr>
          <p:cNvPr id="3" name="init">
            <a:extLst>
              <a:ext uri="{FF2B5EF4-FFF2-40B4-BE49-F238E27FC236}">
                <ns2:creationId id="{E2CB029A-9291-4413-9BCC-60F4FA205689}"/>
              </a:ext>
            </a:extLst>
          </p:cNvPr>
          <p:cNvSpPr>
            <a:spLocks noGrp="1"/>
          </p:cNvSpPr>
          <p:nvPr/>
        </p:nvSpPr>
        <p:spPr>
          <a:xfrm>
            <a:off x="6191250" y="247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Gen0：2 個 seed clones</a:t>
            </a:r>
          </a:p>
        </p:txBody>
      </p:sp>
      <p:sp>
        <p:nvSpPr>
          <p:cNvPr id="4" name="bootstrap">
            <a:extLst>
              <a:ext uri="{FF2B5EF4-FFF2-40B4-BE49-F238E27FC236}">
                <ns2:creationId id="{7762D5EF-A584-4881-ADDD-24D1A7869495}"/>
              </a:ext>
            </a:extLst>
          </p:cNvPr>
          <p:cNvSpPr>
            <a:spLocks noGrp="1"/>
          </p:cNvSpPr>
          <p:nvPr/>
        </p:nvSpPr>
        <p:spPr>
          <a:xfrm>
            <a:off x="10620375" y="247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DSL 編譯、初始評估</a:t>
            </a:r>
          </a:p>
        </p:txBody>
      </p:sp>
      <p:sp>
        <p:nvSpPr>
          <p:cNvPr id="5" name="iteration">
            <a:extLst>
              <a:ext uri="{FF2B5EF4-FFF2-40B4-BE49-F238E27FC236}">
                <ns2:creationId id="{E4D7B770-AE39-4FCC-98FD-A93D851F7BD3}"/>
              </a:ext>
            </a:extLst>
          </p:cNvPr>
          <p:cNvSpPr>
            <a:spLocks noGrp="1"/>
          </p:cNvSpPr>
          <p:nvPr/>
        </p:nvSpPr>
        <p:spPr>
          <a:xfrm>
            <a:off x="10620375" y="4381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父代、crossover、反思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每代 2 offspring</a:t>
            </a:r>
          </a:p>
        </p:txBody>
      </p:sp>
      <p:sp>
        <p:nvSpPr>
          <p:cNvPr id="6" name="eval">
            <a:extLst>
              <a:ext uri="{FF2B5EF4-FFF2-40B4-BE49-F238E27FC236}">
                <ns2:creationId id="{D585717F-B5DA-438D-A291-D03408982CEB}"/>
              </a:ext>
            </a:extLst>
          </p:cNvPr>
          <p:cNvSpPr>
            <a:spLocks noGrp="1"/>
          </p:cNvSpPr>
          <p:nvPr/>
        </p:nvSpPr>
        <p:spPr>
          <a:xfrm>
            <a:off x="6191250" y="4381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DSL 編譯與對戰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μ＋λ 倖存者選擇</a:t>
            </a:r>
          </a:p>
        </p:txBody>
      </p:sp>
      <p:sp>
        <p:nvSpPr>
          <p:cNvPr id="7" name="stop">
            <a:extLst>
              <a:ext uri="{FF2B5EF4-FFF2-40B4-BE49-F238E27FC236}">
                <ns2:creationId id="{5F099F64-FE19-4392-AFCA-10F2466C9FE7}"/>
              </a:ext>
            </a:extLst>
          </p:cNvPr>
          <p:cNvSpPr>
            <a:spLocks noGrp="1"/>
          </p:cNvSpPr>
          <p:nvPr/>
        </p:nvSpPr>
        <p:spPr>
          <a:xfrm>
            <a:off x="1762125" y="4286250"/>
            <a:ext cx="3429000" cy="1143000"/>
          </a:xfrm>
          <a:prstGeom prst="diamond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達到停止條件？</a:t>
            </a:r>
          </a:p>
        </p:txBody>
      </p:sp>
      <p:sp>
        <p:nvSpPr>
          <p:cNvPr id="8" name="final">
            <a:extLst>
              <a:ext uri="{FF2B5EF4-FFF2-40B4-BE49-F238E27FC236}">
                <ns2:creationId id="{459C7B7E-79C1-42CD-A1E5-C4F3C8EBAD1C}"/>
              </a:ext>
            </a:extLst>
          </p:cNvPr>
          <p:cNvSpPr>
            <a:spLocks noGrp="1"/>
          </p:cNvSpPr>
          <p:nvPr/>
        </p:nvSpPr>
        <p:spPr>
          <a:xfrm>
            <a:off x="1762125" y="628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完成：champion final-test</a:t>
            </a:r>
          </a:p>
        </p:txBody>
      </p:sp>
      <p:sp>
        <p:nvSpPr>
          <p:cNvPr id="9" name="outputs">
            <a:extLst>
              <a:ext uri="{FF2B5EF4-FFF2-40B4-BE49-F238E27FC236}">
                <ns2:creationId id="{365ECBEE-B1E2-4F66-8430-AC852EC9D223}"/>
              </a:ext>
            </a:extLst>
          </p:cNvPr>
          <p:cNvSpPr>
            <a:spLocks noGrp="1"/>
          </p:cNvSpPr>
          <p:nvPr/>
        </p:nvSpPr>
        <p:spPr>
          <a:xfrm>
            <a:off x="6191250" y="628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summary、checkpoint、timing</a:t>
            </a:r>
          </a:p>
        </p:txBody>
      </p:sp>
      <p:sp>
        <p:nvSpPr>
          <p:cNvPr id="18" name="text-17">
            <a:extLst>
              <a:ext uri="{FF2B5EF4-FFF2-40B4-BE49-F238E27FC236}">
                <ns2:creationId id="{3B541446-1441-47FA-A8AE-670967B08E81}"/>
              </a:ext>
            </a:extLst>
          </p:cNvPr>
          <p:cNvSpPr>
            <a:spLocks noGrp="1"/>
          </p:cNvSpPr>
          <p:nvPr/>
        </p:nvSpPr>
        <p:spPr>
          <a:xfrm>
            <a:off x="5715000" y="3562350"/>
            <a:ext cx="2762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否：繼續 gen1–3</a:t>
            </a:r>
          </a:p>
        </p:txBody>
      </p:sp>
      <p:sp>
        <p:nvSpPr>
          <p:cNvPr id="19" name="text-18">
            <a:extLst>
              <a:ext uri="{FF2B5EF4-FFF2-40B4-BE49-F238E27FC236}">
                <ns2:creationId id="{3E9B5B65-618E-4A97-901B-7690489F1403}"/>
              </a:ext>
            </a:extLst>
          </p:cNvPr>
          <p:cNvSpPr>
            <a:spLocks noGrp="1"/>
          </p:cNvSpPr>
          <p:nvPr/>
        </p:nvSpPr>
        <p:spPr>
          <a:xfrm>
            <a:off x="2238375" y="5657850"/>
            <a:ext cx="21907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是：正常完成</a:t>
            </a:r>
          </a:p>
        </p:txBody>
      </p:sp>
      <p:sp>
        <p:nvSpPr>
          <p:cNvPr id="20" name="text-19">
            <a:extLst>
              <a:ext uri="{FF2B5EF4-FFF2-40B4-BE49-F238E27FC236}">
                <ns2:creationId id="{306DA377-ACE0-4AB8-965E-9DB43E414611}"/>
              </a:ext>
            </a:extLst>
          </p:cNvPr>
          <p:cNvSpPr>
            <a:spLocks noGrp="1"/>
          </p:cNvSpPr>
          <p:nvPr/>
        </p:nvSpPr>
        <p:spPr>
          <a:xfrm>
            <a:off x="1762125" y="7486650"/>
            <a:ext cx="124015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中斷／失敗：保留最後完整 checkpoint，以 --resume 接續</a:t>
            </a:r>
          </a:p>
        </p:txBody>
      </p:sp>
      <p:sp>
        <p:nvSpPr>
          <p:cNvPr id="22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</a:t>
            </a:fld>
          </a:p>
        </p:txBody>
      </p:sp>
    </p:spTree>
    <p:extLst>
      <p:ext uri="{BB962C8B-B14F-4D97-AF65-F5344CB8AC3E}">
        <ns3:creationId val="1845609614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5" name="text-0">
            <a:extLst>
              <a:ext uri="{FF2B5EF4-FFF2-40B4-BE49-F238E27FC236}">
                <ns2:creationId id="{096FB965-1CE0-4E23-A4F3-786917D6FD27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DSL：策略與實作之間的固定契約</a:t>
            </a:r>
          </a:p>
        </p:txBody>
      </p:sp>
      <p:sp>
        <p:nvSpPr>
          <p:cNvPr id="2" name="text-1">
            <a:extLst>
              <a:ext uri="{FF2B5EF4-FFF2-40B4-BE49-F238E27FC236}">
                <ns2:creationId id="{71FA557A-691F-424B-BD5A-2E4E3E8A8402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策略是一個 version + rules 的 JSON object；每條 rule 包含 actor、when、action。空 rules 明確表示 idle。</a:t>
            </a:r>
          </a:p>
        </p:txBody>
      </p:sp>
      <p:sp>
        <p:nvSpPr>
          <p:cNvPr id="3" name="text-2">
            <a:extLst>
              <a:ext uri="{FF2B5EF4-FFF2-40B4-BE49-F238E27FC236}">
                <ns2:creationId id="{DA5C8046-5430-4D01-B864-5CD8D8A30634}"/>
              </a:ext>
            </a:extLst>
          </p:cNvPr>
          <p:cNvSpPr>
            <a:spLocks noGrp="1"/>
          </p:cNvSpPr>
          <p:nvPr/>
        </p:nvSpPr>
        <p:spPr>
          <a:xfrm>
            <a:off x="1762125" y="3895725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條件只讀當前可觀測狀態；action、target、selector 使用封閉詞彙。禁止自訂 prose／Java 欄位。</a:t>
            </a:r>
          </a:p>
        </p:txBody>
      </p:sp>
      <p:sp>
        <p:nvSpPr>
          <p:cNvPr id="4" name="text-3">
            <a:extLst>
              <a:ext uri="{FF2B5EF4-FFF2-40B4-BE49-F238E27FC236}">
                <ns2:creationId id="{04B05333-4659-4D4B-B1ED-3337E8FB3E04}"/>
              </a:ext>
            </a:extLst>
          </p:cNvPr>
          <p:cNvSpPr>
            <a:spLocks noGrp="1"/>
          </p:cNvSpPr>
          <p:nvPr/>
        </p:nvSpPr>
        <p:spPr>
          <a:xfrm>
            <a:off x="1762125" y="5486400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 是離線編譯的 phenotype；固定 scaffold、compiler version 與 policy hash 一起保存。</a:t>
            </a:r>
          </a:p>
        </p:txBody>
      </p:sp>
      <p:sp>
        <p:nvSpPr>
          <p:cNvPr id="6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4</a:t>
            </a:fld>
          </a:p>
        </p:txBody>
      </p:sp>
    </p:spTree>
    <p:extLst>
      <p:ext uri="{BB962C8B-B14F-4D97-AF65-F5344CB8AC3E}">
        <ns3:creationId val="1033975224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cxnSp>
        <p:nvCxnSpPr>
          <p:cNvPr id="14" name="">
            <a:extLst>
              <a:ext uri="{FF2B5EF4-FFF2-40B4-BE49-F238E27FC236}">
                <ns2:creationId id="{C6873640-DA9E-4C32-9A61-4DF449A06B05}"/>
              </a:ext>
            </a:extLst>
          </p:cNvPr>
          <p:cNvCxnSpPr>
            <a:stCxn id="7" idx="0"/>
            <a:endCxn id="3" idx="2"/>
          </p:cNvCxnSpPr>
          <p:nvPr/>
        </p:nvCxnSpPr>
        <p:spPr>
          <a:xfrm flipV="1">
            <a:off x="3476625" y="3429000"/>
            <a:ext cx="4429125" cy="1143000"/>
          </a:xfrm>
          <a:prstGeom prst="bentConnector4">
            <a:avLst>
              <a:gd name="adj1" fmla="val 0"/>
              <a:gd name="adj2" fmla="val 20000"/>
            </a:avLst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3" name="">
            <a:extLst>
              <a:ext uri="{FF2B5EF4-FFF2-40B4-BE49-F238E27FC236}">
                <ns2:creationId id="{F21EF8DC-9AF1-463F-9287-46BC54BBED6E}"/>
              </a:ext>
            </a:extLst>
          </p:cNvPr>
          <p:cNvCxnSpPr>
            <a:stCxn id="5" idx="2"/>
            <a:endCxn id="7" idx="2"/>
          </p:cNvCxnSpPr>
          <p:nvPr/>
        </p:nvCxnSpPr>
        <p:spPr>
          <a:xfrm flipH="1" flipV="1">
            <a:off x="3476625" y="5524500"/>
            <a:ext cx="8858250" cy="323850"/>
          </a:xfrm>
          <a:prstGeom prst="bentConnector4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2" name="">
            <a:extLst>
              <a:ext uri="{FF2B5EF4-FFF2-40B4-BE49-F238E27FC236}">
                <ns2:creationId id="{2CEB456A-CB4A-458F-800E-3991D49EF995}"/>
              </a:ext>
            </a:extLst>
          </p:cNvPr>
          <p:cNvCxnSpPr>
            <a:stCxn id="4" idx="2"/>
            <a:endCxn id="7" idx="0"/>
          </p:cNvCxnSpPr>
          <p:nvPr/>
        </p:nvCxnSpPr>
        <p:spPr>
          <a:xfrm flipH="1">
            <a:off x="3476625" y="3524250"/>
            <a:ext cx="8858250" cy="1047750"/>
          </a:xfrm>
          <a:prstGeom prst="bentConnector4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1" name="">
            <a:extLst>
              <a:ext uri="{FF2B5EF4-FFF2-40B4-BE49-F238E27FC236}">
                <ns2:creationId id="{BF535C40-77B3-4E4C-9A91-DA095153E4CE}"/>
              </a:ext>
            </a:extLst>
          </p:cNvPr>
          <p:cNvCxnSpPr>
            <a:stCxn id="5" idx="1"/>
            <a:endCxn id="6" idx="3"/>
          </p:cNvCxnSpPr>
          <p:nvPr/>
        </p:nvCxnSpPr>
        <p:spPr>
          <a:xfrm flipH="1">
            <a:off x="9620250" y="50482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0" name="">
            <a:extLst>
              <a:ext uri="{FF2B5EF4-FFF2-40B4-BE49-F238E27FC236}">
                <ns2:creationId id="{D926242E-A49E-41F8-BD62-E1D1C26C6952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12334875" y="3524250"/>
            <a:ext cx="0" cy="95250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9" name="">
            <a:extLst>
              <a:ext uri="{FF2B5EF4-FFF2-40B4-BE49-F238E27FC236}">
                <ns2:creationId id="{6FE7F47B-1AD5-46C6-85AA-D8CC2AB25AFB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9620250" y="2952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8" name="">
            <a:extLst>
              <a:ext uri="{FF2B5EF4-FFF2-40B4-BE49-F238E27FC236}">
                <ns2:creationId id="{FD7FF17D-F79C-49D4-9C77-1142DF4E92E2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5191125" y="2952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sp>
        <p:nvSpPr>
          <p:cNvPr id="20" name="text-0">
            <a:extLst>
              <a:ext uri="{FF2B5EF4-FFF2-40B4-BE49-F238E27FC236}">
                <ns2:creationId id="{F502F89D-D305-4AA4-BA10-75E9FB6083EE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DSL 的規則順序與 fallback</a:t>
            </a:r>
          </a:p>
        </p:txBody>
      </p:sp>
      <p:sp>
        <p:nvSpPr>
          <p:cNvPr id="2" name="actor">
            <a:extLst>
              <a:ext uri="{FF2B5EF4-FFF2-40B4-BE49-F238E27FC236}">
                <ns2:creationId id="{4DFFB253-A788-4470-ACA7-5EFE60874188}"/>
              </a:ext>
            </a:extLst>
          </p:cNvPr>
          <p:cNvSpPr>
            <a:spLocks noGrp="1"/>
          </p:cNvSpPr>
          <p:nvPr/>
        </p:nvSpPr>
        <p:spPr>
          <a:xfrm>
            <a:off x="1762125" y="247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idle friendly actors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 unit ID 升序</a:t>
            </a:r>
          </a:p>
        </p:txBody>
      </p:sp>
      <p:sp>
        <p:nvSpPr>
          <p:cNvPr id="3" name="rules">
            <a:extLst>
              <a:ext uri="{FF2B5EF4-FFF2-40B4-BE49-F238E27FC236}">
                <ns2:creationId id="{133F0DB0-7C98-4DE2-B37B-0A95F2A11A79}"/>
              </a:ext>
            </a:extLst>
          </p:cNvPr>
          <p:cNvSpPr>
            <a:spLocks noGrp="1"/>
          </p:cNvSpPr>
          <p:nvPr/>
        </p:nvSpPr>
        <p:spPr>
          <a:xfrm>
            <a:off x="6191250" y="247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規則按 rules 陣列順序</a:t>
            </a:r>
          </a:p>
        </p:txBody>
      </p:sp>
      <p:sp>
        <p:nvSpPr>
          <p:cNvPr id="4" name="when">
            <a:extLst>
              <a:ext uri="{FF2B5EF4-FFF2-40B4-BE49-F238E27FC236}">
                <ns2:creationId id="{78C64913-AC6C-4585-88CA-86263A78CD45}"/>
              </a:ext>
            </a:extLst>
          </p:cNvPr>
          <p:cNvSpPr>
            <a:spLocks noGrp="1"/>
          </p:cNvSpPr>
          <p:nvPr/>
        </p:nvSpPr>
        <p:spPr>
          <a:xfrm>
            <a:off x="10620375" y="2381250"/>
            <a:ext cx="3429000" cy="1143000"/>
          </a:xfrm>
          <a:prstGeom prst="diamond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when 成立？</a:t>
            </a:r>
          </a:p>
        </p:txBody>
      </p:sp>
      <p:sp>
        <p:nvSpPr>
          <p:cNvPr id="5" name="issue">
            <a:extLst>
              <a:ext uri="{FF2B5EF4-FFF2-40B4-BE49-F238E27FC236}">
                <ns2:creationId id="{866AB07E-6FAC-4C27-89CF-592CC0530F68}"/>
              </a:ext>
            </a:extLst>
          </p:cNvPr>
          <p:cNvSpPr>
            <a:spLocks noGrp="1"/>
          </p:cNvSpPr>
          <p:nvPr/>
        </p:nvSpPr>
        <p:spPr>
          <a:xfrm>
            <a:off x="10620375" y="4476750"/>
            <a:ext cx="3429000" cy="1143000"/>
          </a:xfrm>
          <a:prstGeom prst="diamond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action 可合法發出？</a:t>
            </a:r>
          </a:p>
        </p:txBody>
      </p:sp>
      <p:sp>
        <p:nvSpPr>
          <p:cNvPr id="6" name="commit">
            <a:extLst>
              <a:ext uri="{FF2B5EF4-FFF2-40B4-BE49-F238E27FC236}">
                <ns2:creationId id="{31459D28-BDC9-476C-9F9B-F17D497C77B9}"/>
              </a:ext>
            </a:extLst>
          </p:cNvPr>
          <p:cNvSpPr>
            <a:spLocks noGrp="1"/>
          </p:cNvSpPr>
          <p:nvPr/>
        </p:nvSpPr>
        <p:spPr>
          <a:xfrm>
            <a:off x="6191250" y="45720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發出一個 action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更新本輪 reservations</a:t>
            </a:r>
          </a:p>
        </p:txBody>
      </p:sp>
      <p:sp>
        <p:nvSpPr>
          <p:cNvPr id="7" name="next">
            <a:extLst>
              <a:ext uri="{FF2B5EF4-FFF2-40B4-BE49-F238E27FC236}">
                <ns2:creationId id="{7FBFDB50-D1E7-4D7A-8197-08F8B76A4FB5}"/>
              </a:ext>
            </a:extLst>
          </p:cNvPr>
          <p:cNvSpPr>
            <a:spLocks noGrp="1"/>
          </p:cNvSpPr>
          <p:nvPr/>
        </p:nvSpPr>
        <p:spPr>
          <a:xfrm>
            <a:off x="1762125" y="45720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不成立／guard 失敗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繼續下一條 rule</a:t>
            </a:r>
          </a:p>
        </p:txBody>
      </p:sp>
      <p:sp>
        <p:nvSpPr>
          <p:cNvPr id="15" name="text-14">
            <a:extLst>
              <a:ext uri="{FF2B5EF4-FFF2-40B4-BE49-F238E27FC236}">
                <ns2:creationId id="{C3F0A9BD-30E8-4ABE-A2BF-3D1BB6C65147}"/>
              </a:ext>
            </a:extLst>
          </p:cNvPr>
          <p:cNvSpPr>
            <a:spLocks noGrp="1"/>
          </p:cNvSpPr>
          <p:nvPr/>
        </p:nvSpPr>
        <p:spPr>
          <a:xfrm>
            <a:off x="12430125" y="4171950"/>
            <a:ext cx="476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是</a:t>
            </a:r>
          </a:p>
        </p:txBody>
      </p:sp>
      <p:sp>
        <p:nvSpPr>
          <p:cNvPr id="16" name="text-15">
            <a:extLst>
              <a:ext uri="{FF2B5EF4-FFF2-40B4-BE49-F238E27FC236}">
                <ns2:creationId id="{1D86B15A-425C-4BF8-855A-8E635F15E8B0}"/>
              </a:ext>
            </a:extLst>
          </p:cNvPr>
          <p:cNvSpPr>
            <a:spLocks noGrp="1"/>
          </p:cNvSpPr>
          <p:nvPr/>
        </p:nvSpPr>
        <p:spPr>
          <a:xfrm>
            <a:off x="9906000" y="4733925"/>
            <a:ext cx="476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是</a:t>
            </a:r>
          </a:p>
        </p:txBody>
      </p:sp>
      <p:sp>
        <p:nvSpPr>
          <p:cNvPr id="17" name="text-16">
            <a:extLst>
              <a:ext uri="{FF2B5EF4-FFF2-40B4-BE49-F238E27FC236}">
                <ns2:creationId id="{3C7FEFA4-97D0-4C77-B762-9FC61FD2F32A}"/>
              </a:ext>
            </a:extLst>
          </p:cNvPr>
          <p:cNvSpPr>
            <a:spLocks noGrp="1"/>
          </p:cNvSpPr>
          <p:nvPr/>
        </p:nvSpPr>
        <p:spPr>
          <a:xfrm>
            <a:off x="6524625" y="6115050"/>
            <a:ext cx="29527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否／無合法 action</a:t>
            </a:r>
          </a:p>
        </p:txBody>
      </p:sp>
      <p:sp>
        <p:nvSpPr>
          <p:cNvPr id="18" name="text-17">
            <a:extLst>
              <a:ext uri="{FF2B5EF4-FFF2-40B4-BE49-F238E27FC236}">
                <ns2:creationId id="{3C65D61A-BB26-4777-9753-E8C9BA0BAB5D}"/>
              </a:ext>
            </a:extLst>
          </p:cNvPr>
          <p:cNvSpPr>
            <a:spLocks noGrp="1"/>
          </p:cNvSpPr>
          <p:nvPr/>
        </p:nvSpPr>
        <p:spPr>
          <a:xfrm>
            <a:off x="5524500" y="3619500"/>
            <a:ext cx="2000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when 為否</a:t>
            </a:r>
          </a:p>
        </p:txBody>
      </p:sp>
      <p:sp>
        <p:nvSpPr>
          <p:cNvPr id="19" name="text-18">
            <a:extLst>
              <a:ext uri="{FF2B5EF4-FFF2-40B4-BE49-F238E27FC236}">
                <ns2:creationId id="{1198C4DD-39BA-4278-9D38-1E7D478CE911}"/>
              </a:ext>
            </a:extLst>
          </p:cNvPr>
          <p:cNvSpPr>
            <a:spLocks noGrp="1"/>
          </p:cNvSpPr>
          <p:nvPr/>
        </p:nvSpPr>
        <p:spPr>
          <a:xfrm>
            <a:off x="1762125" y="7486650"/>
            <a:ext cx="124015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每個 actor 每 cycle 最多一個 action；沒有匹配則 idle</a:t>
            </a:r>
          </a:p>
        </p:txBody>
      </p:sp>
      <p:sp>
        <p:nvSpPr>
          <p:cNvPr id="21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5</a:t>
            </a:fld>
          </a:p>
        </p:txBody>
      </p:sp>
    </p:spTree>
    <p:extLst>
      <p:ext uri="{BB962C8B-B14F-4D97-AF65-F5344CB8AC3E}">
        <ns3:creationId val="1468012039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FA921C61-5F00-4C25-A8EC-72CF05EF3F69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Gen0 與每代需要保存的狀態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0F9B3143-F528-478F-8F65-D08C64906B57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2428875"/>
                <a:gridCol w="5524500"/>
                <a:gridCol w="4829175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階段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候選／狀態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證據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Gen0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單一 WorkerRush policy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複製為 2 個候選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不同 candidate IDs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相同 DSL 與 Java hash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對手快照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bootstrap 後建立 run-local library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Java／語意等價去重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固定 source IDs、slot IDs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與 context_id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Gen1–3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每代建立 2 offspring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保存已完成 survivors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parents、strategy_parent_id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反思與 lineage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Checkpoint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只承認完整提交的 generation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config、compiler/scaffold hashes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manifest、snapshot、timing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6</a:t>
            </a:fld>
          </a:p>
        </p:txBody>
      </p:sp>
    </p:spTree>
    <p:extLst>
      <p:ext uri="{BB962C8B-B14F-4D97-AF65-F5344CB8AC3E}">
        <ns3:creationId val="62749907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5" name="text-0">
            <a:extLst>
              <a:ext uri="{FF2B5EF4-FFF2-40B4-BE49-F238E27FC236}">
                <ns2:creationId id="{EA59EEAA-8BB4-4E78-B943-EA14A626D417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2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Self-play opponent pool 的建立與刷新</a:t>
            </a:r>
          </a:p>
        </p:txBody>
      </p:sp>
      <p:sp>
        <p:nvSpPr>
          <p:cNvPr id="2" name="text-1">
            <a:extLst>
              <a:ext uri="{FF2B5EF4-FFF2-40B4-BE49-F238E27FC236}">
                <ns2:creationId id="{BB59684D-1FEA-4F64-AE06-CEF9E89867EB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只有完整、可執行且評估成功的 phenotype 可進入 library；依 candidate ID、Java hash 與完整語意簽章去重。</a:t>
            </a:r>
          </a:p>
        </p:txBody>
      </p:sp>
      <p:sp>
        <p:nvSpPr>
          <p:cNvPr id="3" name="text-2">
            <a:extLst>
              <a:ext uri="{FF2B5EF4-FFF2-40B4-BE49-F238E27FC236}">
                <ns2:creationId id="{59416955-DCB8-42C4-ABAC-6D4FF68F6640}"/>
              </a:ext>
            </a:extLst>
          </p:cNvPr>
          <p:cNvSpPr>
            <a:spLocks noGrp="1"/>
          </p:cNvSpPr>
          <p:nvPr/>
        </p:nvSpPr>
        <p:spPr>
          <a:xfrm>
            <a:off x="1762125" y="3895725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Library 容量 50，按 FIFO 保留；刷新時循環取最多 10 個來源，再填滿 10 個 evaluation slots。</a:t>
            </a:r>
          </a:p>
        </p:txBody>
      </p:sp>
      <p:sp>
        <p:nvSpPr>
          <p:cNvPr id="4" name="text-3">
            <a:extLst>
              <a:ext uri="{FF2B5EF4-FFF2-40B4-BE49-F238E27FC236}">
                <ns2:creationId id="{2C88BF60-CE15-465E-91A2-11B8CDDE3EA7}"/>
              </a:ext>
            </a:extLst>
          </p:cNvPr>
          <p:cNvSpPr>
            <a:spLocks noGrp="1"/>
          </p:cNvSpPr>
          <p:nvPr/>
        </p:nvSpPr>
        <p:spPr>
          <a:xfrm>
            <a:off x="1762125" y="5486400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本設定每 5 代刷新；只跑 gen1–3，因此沿用 gen0 快照。若 context 不同，先重評父代再比較。</a:t>
            </a:r>
          </a:p>
        </p:txBody>
      </p:sp>
      <p:sp>
        <p:nvSpPr>
          <p:cNvPr id="6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7</a:t>
            </a:fld>
          </a:p>
        </p:txBody>
      </p:sp>
    </p:spTree>
    <p:extLst>
      <p:ext uri="{BB962C8B-B14F-4D97-AF65-F5344CB8AC3E}">
        <ns3:creationId val="504527508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8BD42EB6-406D-4FA7-8102-8F2FD9C67164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評估對手、繁殖父代與倖存者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61FCF4A7-A1E5-4830-9D62-4A7362C4994C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2762250"/>
                <a:gridCol w="4572000"/>
                <a:gridCol w="544830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用途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從哪裡選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選擇規則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Evaluation opponents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固定 self-play snapshot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不是目前 breeding pool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library 循環來源 → 10 slots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同輪所有候選共用 context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Breeding parents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目前 evolving population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Game Performance 最高 tier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第二父代 tie 可看語意距離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Survivors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目前 parents + offspring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μ＋λ 選 2 人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tier 邊界用 seeded novelty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Final-test opponents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固定 10 種共同測試對手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與搜尋 self-play pool 分開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champion 測試後不回饋搜尋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8</a:t>
            </a:fld>
          </a:p>
        </p:txBody>
      </p:sp>
    </p:spTree>
    <p:extLst>
      <p:ext uri="{BB962C8B-B14F-4D97-AF65-F5344CB8AC3E}">
        <ns3:creationId val="145633833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5" name="text-0">
            <a:extLst>
              <a:ext uri="{FF2B5EF4-FFF2-40B4-BE49-F238E27FC236}">
                <ns2:creationId id="{E0A2E994-382A-4EF3-B1D6-0CD50CE5657F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每代變異與 Strategy Reflection</a:t>
            </a:r>
          </a:p>
        </p:txBody>
      </p:sp>
      <p:sp>
        <p:nvSpPr>
          <p:cNvPr id="2" name="text-1">
            <a:extLst>
              <a:ext uri="{FF2B5EF4-FFF2-40B4-BE49-F238E27FC236}">
                <ns2:creationId id="{E66E3DA6-CD50-4CCB-B9CF-EF1149ACC070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先以 root seed 衍生各 slot 的父代、crossover 與 operator stream，再一次建立 2 個 offspring 計畫。</a:t>
            </a:r>
          </a:p>
        </p:txBody>
      </p:sp>
      <p:sp>
        <p:nvSpPr>
          <p:cNvPr id="3" name="text-2">
            <a:extLst>
              <a:ext uri="{FF2B5EF4-FFF2-40B4-BE49-F238E27FC236}">
                <ns2:creationId id="{AC3DB95A-B678-4FAD-BFA5-448D8A402036}"/>
              </a:ext>
            </a:extLst>
          </p:cNvPr>
          <p:cNvSpPr>
            <a:spLocks noGrp="1"/>
          </p:cNvSpPr>
          <p:nvPr/>
        </p:nvSpPr>
        <p:spPr>
          <a:xfrm>
            <a:off x="1762125" y="3895725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Crossover rate 0.75：從兩個父代選一份完整 policy；不拼接 rule 子樹，也不繼承 Java／generation prompt。</a:t>
            </a:r>
          </a:p>
        </p:txBody>
      </p:sp>
      <p:sp>
        <p:nvSpPr>
          <p:cNvPr id="4" name="text-3">
            <a:extLst>
              <a:ext uri="{FF2B5EF4-FFF2-40B4-BE49-F238E27FC236}">
                <ns2:creationId id="{00E5BCCD-84C0-4AC2-A402-374F1F26A7E7}"/>
              </a:ext>
            </a:extLst>
          </p:cNvPr>
          <p:cNvSpPr>
            <a:spLocks noGrp="1"/>
          </p:cNvSpPr>
          <p:nvPr/>
        </p:nvSpPr>
        <p:spPr>
          <a:xfrm>
            <a:off x="1762125" y="5486400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Mutation rate 1.0、Strategy probability 1：反思可改 policy；Code source gate、Prompt Mutation 都停用。</a:t>
            </a:r>
          </a:p>
        </p:txBody>
      </p:sp>
      <p:sp>
        <p:nvSpPr>
          <p:cNvPr id="6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9</a:t>
            </a:fld>
          </a:p>
        </p:txBody>
      </p:sp>
    </p:spTree>
    <p:extLst>
      <p:ext uri="{BB962C8B-B14F-4D97-AF65-F5344CB8AC3E}">
        <ns3:creationId val="2046746077"/>
      </p:ext>
    </p:extLst>
  </p:cSld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cxnSp>
        <p:nvCxnSpPr>
          <p:cNvPr id="13" name="">
            <a:extLst>
              <a:ext uri="{FF2B5EF4-FFF2-40B4-BE49-F238E27FC236}">
                <ns2:creationId id="{DA433577-FEC0-4191-8138-139A86245E3D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9620250" y="5238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2" name="">
            <a:extLst>
              <a:ext uri="{FF2B5EF4-FFF2-40B4-BE49-F238E27FC236}">
                <ns2:creationId id="{A34C7439-EA6D-462E-B69F-466ED7DFDB38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5191125" y="5238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1" name="">
            <a:extLst>
              <a:ext uri="{FF2B5EF4-FFF2-40B4-BE49-F238E27FC236}">
                <ns2:creationId id="{F409DDA2-362A-4F9A-AE82-F585B4FB1B44}"/>
              </a:ext>
            </a:extLst>
          </p:cNvPr>
          <p:cNvCxnSpPr>
            <a:stCxn id="4" idx="2"/>
            <a:endCxn id="6" idx="0"/>
          </p:cNvCxnSpPr>
          <p:nvPr/>
        </p:nvCxnSpPr>
        <p:spPr>
          <a:xfrm flipH="1">
            <a:off x="7905750" y="3429000"/>
            <a:ext cx="4429125" cy="1333500"/>
          </a:xfrm>
          <a:prstGeom prst="bentConnector4">
            <a:avLst>
              <a:gd name="adj1" fmla="val 0"/>
              <a:gd name="adj2" fmla="val 50000"/>
            </a:avLst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0" name="">
            <a:extLst>
              <a:ext uri="{FF2B5EF4-FFF2-40B4-BE49-F238E27FC236}">
                <ns2:creationId id="{C9336F85-D47D-4518-8150-8C56F3CE7449}"/>
              </a:ext>
            </a:extLst>
          </p:cNvPr>
          <p:cNvCxnSpPr>
            <a:stCxn id="2" idx="2"/>
            <a:endCxn id="5" idx="0"/>
          </p:cNvCxnSpPr>
          <p:nvPr/>
        </p:nvCxnSpPr>
        <p:spPr>
          <a:xfrm>
            <a:off x="3476625" y="3429000"/>
            <a:ext cx="0" cy="133350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9" name="">
            <a:extLst>
              <a:ext uri="{FF2B5EF4-FFF2-40B4-BE49-F238E27FC236}">
                <ns2:creationId id="{548483B7-678F-4A45-9676-54A9E31851B4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9620250" y="2952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8" name="">
            <a:extLst>
              <a:ext uri="{FF2B5EF4-FFF2-40B4-BE49-F238E27FC236}">
                <ns2:creationId id="{BF9E99CD-5C08-4833-B931-7090210A605A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5191125" y="2952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sp>
        <p:nvSpPr>
          <p:cNvPr id="15" name="text-0">
            <a:extLst>
              <a:ext uri="{FF2B5EF4-FFF2-40B4-BE49-F238E27FC236}">
                <ns2:creationId id="{DE6A1FF4-F271-45BE-8BC7-99D3EBB057FD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Strategy Reflection 的證據來源</a:t>
            </a:r>
          </a:p>
        </p:txBody>
      </p:sp>
      <p:sp>
        <p:nvSpPr>
          <p:cNvPr id="2" name="parent">
            <a:extLst>
              <a:ext uri="{FF2B5EF4-FFF2-40B4-BE49-F238E27FC236}">
                <ns2:creationId id="{CF49AD8C-5B56-44E0-B12B-0EF926EFA618}"/>
              </a:ext>
            </a:extLst>
          </p:cNvPr>
          <p:cNvSpPr>
            <a:spLocks noGrp="1"/>
          </p:cNvSpPr>
          <p:nvPr/>
        </p:nvSpPr>
        <p:spPr>
          <a:xfrm>
            <a:off x="1762125" y="247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記錄的 strategy_parent_id</a:t>
            </a:r>
          </a:p>
        </p:txBody>
      </p:sp>
      <p:sp>
        <p:nvSpPr>
          <p:cNvPr id="3" name="worst">
            <a:extLst>
              <a:ext uri="{FF2B5EF4-FFF2-40B4-BE49-F238E27FC236}">
                <ns2:creationId id="{35ED0F07-66A8-4FEF-8990-93D30EA64B93}"/>
              </a:ext>
            </a:extLst>
          </p:cNvPr>
          <p:cNvSpPr>
            <a:spLocks noGrp="1"/>
          </p:cNvSpPr>
          <p:nvPr/>
        </p:nvSpPr>
        <p:spPr>
          <a:xfrm>
            <a:off x="6191250" y="247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已完成 matches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恰好選一場 worst</a:t>
            </a:r>
          </a:p>
        </p:txBody>
      </p:sp>
      <p:sp>
        <p:nvSpPr>
          <p:cNvPr id="4" name="commentator">
            <a:extLst>
              <a:ext uri="{FF2B5EF4-FFF2-40B4-BE49-F238E27FC236}">
                <ns2:creationId id="{EB2440BD-B149-4088-B7D3-38F52C7049CA}"/>
              </a:ext>
            </a:extLst>
          </p:cNvPr>
          <p:cNvSpPr>
            <a:spLocks noGrp="1"/>
          </p:cNvSpPr>
          <p:nvPr/>
        </p:nvSpPr>
        <p:spPr>
          <a:xfrm>
            <a:off x="10620375" y="247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Match Commentator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單場 trace → diagnosis</a:t>
            </a:r>
          </a:p>
        </p:txBody>
      </p:sp>
      <p:sp>
        <p:nvSpPr>
          <p:cNvPr id="5" name="summary">
            <a:extLst>
              <a:ext uri="{FF2B5EF4-FFF2-40B4-BE49-F238E27FC236}">
                <ns2:creationId id="{6BCD252B-6C4D-474A-AF99-19BF11B2846B}"/>
              </a:ext>
            </a:extLst>
          </p:cNvPr>
          <p:cNvSpPr>
            <a:spLocks noGrp="1"/>
          </p:cNvSpPr>
          <p:nvPr/>
        </p:nvSpPr>
        <p:spPr>
          <a:xfrm>
            <a:off x="1762125" y="4762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parent 全場摘要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global summary</a:t>
            </a:r>
          </a:p>
        </p:txBody>
      </p:sp>
      <p:sp>
        <p:nvSpPr>
          <p:cNvPr id="6" name="coach">
            <a:extLst>
              <a:ext uri="{FF2B5EF4-FFF2-40B4-BE49-F238E27FC236}">
                <ns2:creationId id="{5B14973A-33B3-44FB-9B11-D5D5DC1CC084}"/>
              </a:ext>
            </a:extLst>
          </p:cNvPr>
          <p:cNvSpPr>
            <a:spLocks noGrp="1"/>
          </p:cNvSpPr>
          <p:nvPr/>
        </p:nvSpPr>
        <p:spPr>
          <a:xfrm>
            <a:off x="6191250" y="4762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Coach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單場診斷＋全場摘要</a:t>
            </a:r>
          </a:p>
        </p:txBody>
      </p:sp>
      <p:sp>
        <p:nvSpPr>
          <p:cNvPr id="7" name="dsl">
            <a:extLst>
              <a:ext uri="{FF2B5EF4-FFF2-40B4-BE49-F238E27FC236}">
                <ns2:creationId id="{24DDEEDB-3DE3-44CF-8A0A-FB67E1C8FFA0}"/>
              </a:ext>
            </a:extLst>
          </p:cNvPr>
          <p:cNvSpPr>
            <a:spLocks noGrp="1"/>
          </p:cNvSpPr>
          <p:nvPr/>
        </p:nvSpPr>
        <p:spPr>
          <a:xfrm>
            <a:off x="10620375" y="4762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JSONL 完整 rules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驗證 → 新 policy</a:t>
            </a:r>
          </a:p>
        </p:txBody>
      </p:sp>
      <p:sp>
        <p:nvSpPr>
          <p:cNvPr id="14" name="text-13">
            <a:extLst>
              <a:ext uri="{FF2B5EF4-FFF2-40B4-BE49-F238E27FC236}">
                <ns2:creationId id="{077E0400-F555-48E4-9A7A-A8A0177DD8A3}"/>
              </a:ext>
            </a:extLst>
          </p:cNvPr>
          <p:cNvSpPr>
            <a:spLocks noGrp="1"/>
          </p:cNvSpPr>
          <p:nvPr/>
        </p:nvSpPr>
        <p:spPr>
          <a:xfrm>
            <a:off x="1762125" y="7486650"/>
            <a:ext cx="124015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單場診斷提供具體失敗證據；全場摘要保留整體表現</a:t>
            </a:r>
          </a:p>
        </p:txBody>
      </p:sp>
      <p:sp>
        <p:nvSpPr>
          <p:cNvPr id="16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10</a:t>
            </a:fld>
          </a:p>
        </p:txBody>
      </p:sp>
    </p:spTree>
    <p:extLst>
      <p:ext uri="{BB962C8B-B14F-4D97-AF65-F5344CB8AC3E}">
        <ns3:creationId val="524384475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6" name="text-0">
            <a:extLst>
              <a:ext uri="{FF2B5EF4-FFF2-40B4-BE49-F238E27FC236}">
                <ns2:creationId id="{0ADFDD54-856B-4477-B401-CA4374FE97F3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JSONL：合法規則子集可形成策略</a:t>
            </a:r>
          </a:p>
        </p:txBody>
      </p:sp>
      <p:sp>
        <p:nvSpPr>
          <p:cNvPr id="2" name="text-1">
            <a:extLst>
              <a:ext uri="{FF2B5EF4-FFF2-40B4-BE49-F238E27FC236}">
                <ns2:creationId id="{602AB5D3-5658-4DC0-A244-8E83B3BEFD62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每個實體行是一筆 strategy_rule record；Coach 使用 new_strategy_prompt，contract rewrite 使用 revised_strategy_prompt。</a:t>
            </a:r>
          </a:p>
        </p:txBody>
      </p:sp>
      <p:sp>
        <p:nvSpPr>
          <p:cNvPr id="3" name="text-2">
            <a:extLst>
              <a:ext uri="{FF2B5EF4-FFF2-40B4-BE49-F238E27FC236}">
                <ns2:creationId id="{E5427962-F78E-43E5-916F-0F0D572FF0B0}"/>
              </a:ext>
            </a:extLst>
          </p:cNvPr>
          <p:cNvSpPr>
            <a:spLocks noGrp="1"/>
          </p:cNvSpPr>
          <p:nvPr/>
        </p:nvSpPr>
        <p:spPr>
          <a:xfrm>
            <a:off x="1762125" y="3895725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每條 rule 獨立驗證 actor／when／action；丟棄 malformed、錯欄位或語意不合法的整條規則，保留合法行順序。</a:t>
            </a:r>
          </a:p>
        </p:txBody>
      </p:sp>
      <p:sp>
        <p:nvSpPr>
          <p:cNvPr id="4" name="text-3">
            <a:extLst>
              <a:ext uri="{FF2B5EF4-FFF2-40B4-BE49-F238E27FC236}">
                <ns2:creationId id="{B41FCF17-78B4-4B17-8B0A-ECFE5958D362}"/>
              </a:ext>
            </a:extLst>
          </p:cNvPr>
          <p:cNvSpPr>
            <a:spLocks noGrp="1"/>
          </p:cNvSpPr>
          <p:nvPr/>
        </p:nvSpPr>
        <p:spPr>
          <a:xfrm>
            <a:off x="1762125" y="5486400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至少一條合法 rule 才成功；零條合法規則最多 3 次嘗試。耗盡可保留原 policy；transport exception 仍可能中止 run。</a:t>
            </a:r>
          </a:p>
        </p:txBody>
      </p:sp>
      <p:sp>
        <p:nvSpPr>
          <p:cNvPr id="5" name="text-4">
            <a:extLst>
              <a:ext uri="{FF2B5EF4-FFF2-40B4-BE49-F238E27FC236}">
                <ns2:creationId id="{4FA9D556-4601-4223-A353-71D49F748410}"/>
              </a:ext>
            </a:extLst>
          </p:cNvPr>
          <p:cNvSpPr>
            <a:spLocks noGrp="1"/>
          </p:cNvSpPr>
          <p:nvPr/>
        </p:nvSpPr>
        <p:spPr>
          <a:xfrm>
            <a:off x="1762125" y="7486650"/>
            <a:ext cx="124015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固定 compiler 接收的是完整、正規化 policy，不是未驗證的原始 JSONL</a:t>
            </a:r>
          </a:p>
        </p:txBody>
      </p:sp>
      <p:sp>
        <p:nvSpPr>
          <p:cNvPr id="7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11</a:t>
            </a:fld>
          </a:p>
        </p:txBody>
      </p:sp>
    </p:spTree>
    <p:extLst>
      <p:ext uri="{BB962C8B-B14F-4D97-AF65-F5344CB8AC3E}">
        <ns3:creationId val="1085316683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cxnSp>
        <p:nvCxnSpPr>
          <p:cNvPr id="12" name="">
            <a:extLst>
              <a:ext uri="{FF2B5EF4-FFF2-40B4-BE49-F238E27FC236}">
                <ns2:creationId id="{CC273280-8D4F-4EF1-B6C3-BA54008E0C0A}"/>
              </a:ext>
            </a:extLst>
          </p:cNvPr>
          <p:cNvCxnSpPr>
            <a:stCxn id="6" idx="1"/>
            <a:endCxn id="7" idx="3"/>
          </p:cNvCxnSpPr>
          <p:nvPr/>
        </p:nvCxnSpPr>
        <p:spPr>
          <a:xfrm flipH="1">
            <a:off x="5191125" y="5238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1" name="">
            <a:extLst>
              <a:ext uri="{FF2B5EF4-FFF2-40B4-BE49-F238E27FC236}">
                <ns2:creationId id="{7D67540C-F5D2-4469-89CE-68BE716BE878}"/>
              </a:ext>
            </a:extLst>
          </p:cNvPr>
          <p:cNvCxnSpPr>
            <a:stCxn id="5" idx="1"/>
            <a:endCxn id="6" idx="3"/>
          </p:cNvCxnSpPr>
          <p:nvPr/>
        </p:nvCxnSpPr>
        <p:spPr>
          <a:xfrm flipH="1">
            <a:off x="9620250" y="5238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10" name="">
            <a:extLst>
              <a:ext uri="{FF2B5EF4-FFF2-40B4-BE49-F238E27FC236}">
                <ns2:creationId id="{73FD43A2-4A23-4F01-B611-4911D283E5C7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12334875" y="3429000"/>
            <a:ext cx="0" cy="133350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9" name="">
            <a:extLst>
              <a:ext uri="{FF2B5EF4-FFF2-40B4-BE49-F238E27FC236}">
                <ns2:creationId id="{E0C7EFEE-803E-47B1-BF32-9E239D8EDB3B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9620250" y="2952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cxnSp>
        <p:nvCxnSpPr>
          <p:cNvPr id="8" name="">
            <a:extLst>
              <a:ext uri="{FF2B5EF4-FFF2-40B4-BE49-F238E27FC236}">
                <ns2:creationId id="{F8F165B9-722E-4A20-A84C-E5298C52A18E}"/>
              </a:ext>
            </a:extLst>
          </p:cNvPr>
          <p:cNvCxnSpPr>
            <a:stCxn id="2" idx="3"/>
            <a:endCxn id="3" idx="1"/>
          </p:cNvCxnSpPr>
          <p:nvPr/>
        </p:nvCxnSpPr>
        <p:spPr>
          <a:xfrm>
            <a:off x="5191125" y="2952750"/>
            <a:ext cx="1000125" cy="0"/>
          </a:xfrm>
          <a:prstGeom prst="straightConnector1">
            <a:avLst/>
          </a:prstGeom>
          <a:ln w="19050">
            <a:solidFill>
              <a:srgbClr val="CF8792"/>
            </a:solidFill>
            <a:tailEnd type="arrow" w="med" len="med"/>
          </a:ln>
        </p:spPr>
      </p:cxnSp>
      <p:sp>
        <p:nvSpPr>
          <p:cNvPr id="14" name="text-0">
            <a:extLst>
              <a:ext uri="{FF2B5EF4-FFF2-40B4-BE49-F238E27FC236}">
                <ns2:creationId id="{DDAD3B72-5F92-4238-B362-C2AD7DE42505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確定性 Java 物化與失敗邊界</a:t>
            </a:r>
          </a:p>
        </p:txBody>
      </p:sp>
      <p:sp>
        <p:nvSpPr>
          <p:cNvPr id="2" name="policy">
            <a:extLst>
              <a:ext uri="{FF2B5EF4-FFF2-40B4-BE49-F238E27FC236}">
                <ns2:creationId id="{B4617F39-3F5E-4415-815A-74CBF1D9621D}"/>
              </a:ext>
            </a:extLst>
          </p:cNvPr>
          <p:cNvSpPr>
            <a:spLocks noGrp="1"/>
          </p:cNvSpPr>
          <p:nvPr/>
        </p:nvSpPr>
        <p:spPr>
          <a:xfrm>
            <a:off x="1762125" y="247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canonical DSL policy</a:t>
            </a:r>
          </a:p>
        </p:txBody>
      </p:sp>
      <p:sp>
        <p:nvSpPr>
          <p:cNvPr id="3" name="ir">
            <a:extLst>
              <a:ext uri="{FF2B5EF4-FFF2-40B4-BE49-F238E27FC236}">
                <ns2:creationId id="{EA4384F7-723A-45C6-A7DA-B0AD8FBDE476}"/>
              </a:ext>
            </a:extLst>
          </p:cNvPr>
          <p:cNvSpPr>
            <a:spLocks noGrp="1"/>
          </p:cNvSpPr>
          <p:nvPr/>
        </p:nvSpPr>
        <p:spPr>
          <a:xfrm>
            <a:off x="6191250" y="247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validate／normalize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建立 typed IR</a:t>
            </a:r>
          </a:p>
        </p:txBody>
      </p:sp>
      <p:sp>
        <p:nvSpPr>
          <p:cNvPr id="4" name="emit">
            <a:extLst>
              <a:ext uri="{FF2B5EF4-FFF2-40B4-BE49-F238E27FC236}">
                <ns2:creationId id="{0CE7CC5A-3726-4763-9A04-AC9E69C9AE7C}"/>
              </a:ext>
            </a:extLst>
          </p:cNvPr>
          <p:cNvSpPr>
            <a:spLocks noGrp="1"/>
          </p:cNvSpPr>
          <p:nvPr/>
        </p:nvSpPr>
        <p:spPr>
          <a:xfrm>
            <a:off x="10620375" y="2476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固定 compiler＋scaffold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 phenotype</a:t>
            </a:r>
          </a:p>
        </p:txBody>
      </p:sp>
      <p:sp>
        <p:nvSpPr>
          <p:cNvPr id="5" name="validate">
            <a:extLst>
              <a:ext uri="{FF2B5EF4-FFF2-40B4-BE49-F238E27FC236}">
                <ns2:creationId id="{EBFC4759-D673-49A3-9EF7-EC197EFD82FF}"/>
              </a:ext>
            </a:extLst>
          </p:cNvPr>
          <p:cNvSpPr>
            <a:spLocks noGrp="1"/>
          </p:cNvSpPr>
          <p:nvPr/>
        </p:nvSpPr>
        <p:spPr>
          <a:xfrm>
            <a:off x="10620375" y="4762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source validation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單次 javac、Integration</a:t>
            </a:r>
          </a:p>
        </p:txBody>
      </p:sp>
      <p:sp>
        <p:nvSpPr>
          <p:cNvPr id="6" name="game">
            <a:extLst>
              <a:ext uri="{FF2B5EF4-FFF2-40B4-BE49-F238E27FC236}">
                <ns2:creationId id="{8AF44E1E-A1EA-4E39-A24B-288FA4ECCA64}"/>
              </a:ext>
            </a:extLst>
          </p:cNvPr>
          <p:cNvSpPr>
            <a:spLocks noGrp="1"/>
          </p:cNvSpPr>
          <p:nvPr/>
        </p:nvSpPr>
        <p:spPr>
          <a:xfrm>
            <a:off x="6191250" y="4762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語意 probe、matches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fitness、diagnostics</a:t>
            </a:r>
          </a:p>
        </p:txBody>
      </p:sp>
      <p:sp>
        <p:nvSpPr>
          <p:cNvPr id="7" name="evidence">
            <a:extLst>
              <a:ext uri="{FF2B5EF4-FFF2-40B4-BE49-F238E27FC236}">
                <ns2:creationId id="{B7661876-A4E1-4C25-90F0-A502F32AF161}"/>
              </a:ext>
            </a:extLst>
          </p:cNvPr>
          <p:cNvSpPr>
            <a:spLocks noGrp="1"/>
          </p:cNvSpPr>
          <p:nvPr/>
        </p:nvSpPr>
        <p:spPr>
          <a:xfrm>
            <a:off x="1762125" y="4762500"/>
            <a:ext cx="3429000" cy="952500"/>
          </a:xfrm>
          <a:prstGeom prst="rect">
            <a:avLst/>
          </a:prstGeom>
          <a:solidFill>
            <a:srgbClr val="FCF8F5"/>
          </a:solidFill>
          <a:ln w="14288">
            <a:solidFill>
              <a:srgbClr val="47171C"/>
            </a:solidFill>
          </a:ln>
        </p:spPr>
        <p:txBody>
          <a:bodyPr lIns="76200" tIns="76200" rIns="76200" bIns="76200" anchor="ctr">
            <a:noAutofit/>
          </a:bodyPr>
          <a:lstStyle>
            <a:def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phenotype、hashes</a:t>
            </a:r>
          </a:p>
          <a:p>
            <a:pPr algn="ctr">
              <a:def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result、lineage、timing</a:t>
            </a:r>
          </a:p>
        </p:txBody>
      </p:sp>
      <p:sp>
        <p:nvSpPr>
          <p:cNvPr id="13" name="text-12">
            <a:extLst>
              <a:ext uri="{FF2B5EF4-FFF2-40B4-BE49-F238E27FC236}">
                <ns2:creationId id="{6967A110-7332-4FA5-9B08-2CAEA319C1F1}"/>
              </a:ext>
            </a:extLst>
          </p:cNvPr>
          <p:cNvSpPr>
            <a:spLocks noGrp="1"/>
          </p:cNvSpPr>
          <p:nvPr/>
        </p:nvSpPr>
        <p:spPr>
          <a:xfrm>
            <a:off x="1762125" y="7486650"/>
            <a:ext cx="124015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編譯失敗：保留原階段證據與失敗候選；沒有 Java LLM fallback</a:t>
            </a:r>
          </a:p>
        </p:txBody>
      </p:sp>
      <p:sp>
        <p:nvSpPr>
          <p:cNvPr id="15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12</a:t>
            </a:fld>
          </a:p>
        </p:txBody>
      </p:sp>
    </p:spTree>
    <p:extLst>
      <p:ext uri="{BB962C8B-B14F-4D97-AF65-F5344CB8AC3E}">
        <ns3:creationId val="1576649475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CCC2BBF7-37A8-49EF-9F33-CFB95E027D9E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評估規模與 fitness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55D8E55A-2C45-4A96-ACCC-6F31B7F96BE6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2762250"/>
                <a:gridCol w="5143500"/>
                <a:gridCol w="487680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項目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本設定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用途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Search matrix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 slots × 3 maps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× 3 rounds × 2 sides = 180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每個候選完成一次評估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slots 可重複同一來源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地圖與 tick limit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8×8：1500；16×16：3000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24×24：4000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雙方換邊、固定 match seeds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超時／失敗保留診斷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Game Performance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勝／和／敗基分 + bounded shaping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跨 completed matches 聚合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唯一 optimizer objective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Code Quality 只作診斷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Champion final-test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 opponents × 3 maps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× 10 games × 2 sides = 600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正常完成後的共同測試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與 search fitness 分開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13</a:t>
            </a:fld>
          </a:p>
        </p:txBody>
      </p:sp>
    </p:spTree>
    <p:extLst>
      <p:ext uri="{BB962C8B-B14F-4D97-AF65-F5344CB8AC3E}">
        <ns3:creationId val="519493383"/>
      </p:ext>
    </p:extLst>
  </p:cSld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5" name="text-0">
            <a:extLst>
              <a:ext uri="{FF2B5EF4-FFF2-40B4-BE49-F238E27FC236}">
                <ns2:creationId id="{37A5FD64-BC0F-48F5-8220-7B97DB630BE3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平行執行與固定整合順序</a:t>
            </a:r>
          </a:p>
        </p:txBody>
      </p:sp>
      <p:sp>
        <p:nvSpPr>
          <p:cNvPr id="2" name="text-1">
            <a:extLst>
              <a:ext uri="{FF2B5EF4-FFF2-40B4-BE49-F238E27FC236}">
                <ns2:creationId id="{052EF843-0EEC-449C-9D09-787120DE1248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Runtime 固定 2 request slots、每 slot context 32768；兩個獨立 offspring 的反思工作可同時呼叫。</a:t>
            </a:r>
          </a:p>
        </p:txBody>
      </p:sp>
      <p:sp>
        <p:nvSpPr>
          <p:cNvPr id="3" name="text-2">
            <a:extLst>
              <a:ext uri="{FF2B5EF4-FFF2-40B4-BE49-F238E27FC236}">
                <ns2:creationId id="{9D2856B5-9EF8-47BA-86DE-F4F5F8925352}"/>
              </a:ext>
            </a:extLst>
          </p:cNvPr>
          <p:cNvSpPr>
            <a:spLocks noGrp="1"/>
          </p:cNvSpPr>
          <p:nvPr/>
        </p:nvSpPr>
        <p:spPr>
          <a:xfrm>
            <a:off x="1762125" y="3895725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DSL／Java preparation 可平行；完成全部 preparation 後才建立對手 pool。每個候選的 matches 用 10 workers。</a:t>
            </a:r>
          </a:p>
        </p:txBody>
      </p:sp>
      <p:sp>
        <p:nvSpPr>
          <p:cNvPr id="4" name="text-3">
            <a:extLst>
              <a:ext uri="{FF2B5EF4-FFF2-40B4-BE49-F238E27FC236}">
                <ns2:creationId id="{C313864C-1308-42AB-B4A4-AC73D8DD18E9}"/>
              </a:ext>
            </a:extLst>
          </p:cNvPr>
          <p:cNvSpPr>
            <a:spLocks noGrp="1"/>
          </p:cNvSpPr>
          <p:nvPr/>
        </p:nvSpPr>
        <p:spPr>
          <a:xfrm>
            <a:off x="1762125" y="5486400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parallel_map 按輸入順序回傳；父代／operator 計畫與 survivor 整合保留固定順序，跨 run 仍依序執行。</a:t>
            </a:r>
          </a:p>
        </p:txBody>
      </p:sp>
      <p:sp>
        <p:nvSpPr>
          <p:cNvPr id="6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14</a:t>
            </a:fld>
          </a:p>
        </p:txBody>
      </p:sp>
    </p:spTree>
    <p:extLst>
      <p:ext uri="{BB962C8B-B14F-4D97-AF65-F5344CB8AC3E}">
        <ns3:creationId val="1542480177"/>
      </p:ext>
    </p:extLst>
  </p:cSld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4C43E8BC-0239-4398-8B52-754D5B5AA383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三次 replicate 與資料夾續跑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9994C1E9-B3C3-44D9-A0DE-59D6BD725585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2762250"/>
                <a:gridCol w="5048250"/>
                <a:gridCol w="497205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階段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experiment.yaml／run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恢復行為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展開 config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random_seeds [8]、runs 3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有效序列 [8,8,8]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run1、run2、run3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各自獨立目錄與 checkpoint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保存索引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每個 YAML filename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對應有序 run paths 清單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按 replicate slot 更新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不覆蓋其他 slot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--resume folder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核對每槽 config／effective seed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先處理未完成 indexed runs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已完成跳過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未啟動 replicate 接續建立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中斷時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以最後完整 generation 恢復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gen0 前失敗無 checkpoint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無可用 checkpoint 可建替代run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原始失敗證據保留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15</a:t>
            </a:fld>
          </a:p>
        </p:txBody>
      </p:sp>
    </p:spTree>
    <p:extLst>
      <p:ext uri="{BB962C8B-B14F-4D97-AF65-F5344CB8AC3E}">
        <ns3:creationId val="1182236678"/>
      </p:ext>
    </p:extLst>
  </p:cSld>
</p:sld>
</file>

<file path=ppt/slides/slide1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3" name="text-0">
            <a:extLst>
              <a:ext uri="{FF2B5EF4-FFF2-40B4-BE49-F238E27FC236}">
                <ns2:creationId id="{F0EE8568-D749-4184-B06C-A3B564678906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GPU 啟動與全層 offload 驗證</a:t>
            </a:r>
          </a:p>
        </p:txBody>
      </p:sp>
      <p:graphicFrame>
        <p:nvGraphicFramePr>
          <p:cNvPr id="2" name="">
            <a:extLst>
              <a:ext uri="{FF2B5EF4-FFF2-40B4-BE49-F238E27FC236}">
                <ns2:creationId id="{ACE28DFC-AFA7-49F4-80A0-67E5F59805CA}"/>
              </a:ext>
            </a:extLst>
          </p:cNvPr>
          <p:cNvGraphicFramePr/>
          <p:nvPr/>
        </p:nvGraphicFramePr>
        <p:xfrm>
          <a:off x="1571625" y="2152650"/>
          <a:ext cx="12782550" cy="5048250"/>
        </p:xfrm>
        <a:graphic>
          <a:graphicData uri="http://schemas.openxmlformats.org/drawingml/2006/table">
            <a:tbl>
              <a:tblPr/>
              <a:tblGrid>
                <a:gridCol w="2762250"/>
                <a:gridCol w="5048250"/>
                <a:gridCol w="4972050"/>
              </a:tblGrid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檢查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固定行為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不通過時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T w="6191">
                      <a:solidFill>
                        <a:srgbClr val="423C3B"/>
                      </a:solidFill>
                    </a:lnT>
                    <a:lnB w="6191">
                      <a:solidFill>
                        <a:srgbClr val="423C3B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裝置 preflight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llama-server --list-devices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確認 CUDA／NVIDIA backend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停止啟動，不退回 CPU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要求全層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--n-gpu-layers 999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--fit off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禁止自動記憶體 fitting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載入失敗即保留錯誤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證據可見性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--log-verbosity 4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core INFO 才輸出 offload 行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server ready 不代表驗證成功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1009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實際 full offload</a:t>
                      </a:r>
                    </a:p>
                  </a:txBody>
                  <a:tcPr marL="133350" marR="133350" marT="114300" marB="95250">
                    <a:lnL w="6191">
                      <a:solidFill>
                        <a:srgbClr val="423C3B"/>
                      </a:solidFill>
                    </a:lnL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只讀這次 child 的新 log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要求 offloaded N/N，N &gt; 0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缺失／部分／stale 證據</a:t>
                      </a:r>
                    </a:p>
                    <a:p>
                      <a:r>
                        <a:rPr sz="21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停止 owned process</a:t>
                      </a:r>
                    </a:p>
                  </a:txBody>
                  <a:tcPr marL="133350" marR="133350" marT="114300" marB="95250">
                    <a:lnR w="6191">
                      <a:solidFill>
                        <a:srgbClr val="423C3B"/>
                      </a:solidFill>
                    </a:lnR>
                    <a:lnB w="6191">
                      <a:solidFill>
                        <a:srgbClr val="423C3B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16</a:t>
            </a:fld>
          </a:p>
        </p:txBody>
      </p:sp>
    </p:spTree>
    <p:extLst>
      <p:ext uri="{BB962C8B-B14F-4D97-AF65-F5344CB8AC3E}">
        <ns3:creationId val="510875408"/>
      </p:ext>
    </p:extLst>
  </p:cSld>
</p:sld>
</file>

<file path=ppt/slides/slide17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5" name="text-0">
            <a:extLst>
              <a:ext uri="{FF2B5EF4-FFF2-40B4-BE49-F238E27FC236}">
                <ns2:creationId id="{E62CF172-7E9B-4597-9CE5-9F60E23D361A}"/>
              </a:ext>
            </a:extLst>
          </p:cNvPr>
          <p:cNvSpPr>
            <a:spLocks noGrp="1"/>
          </p:cNvSpPr>
          <p:nvPr/>
        </p:nvSpPr>
        <p:spPr>
          <a:xfrm>
            <a:off x="2238375" y="419100"/>
            <a:ext cx="11449050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ctr">
              <a:def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執行與資料夾 resume 指令</a:t>
            </a:r>
          </a:p>
        </p:txBody>
      </p:sp>
      <p:sp>
        <p:nvSpPr>
          <p:cNvPr id="2" name="text-1">
            <a:extLst>
              <a:ext uri="{FF2B5EF4-FFF2-40B4-BE49-F238E27FC236}">
                <ns2:creationId id="{48AC5C41-8C06-4795-948D-9352A7AF4058}"/>
              </a:ext>
            </a:extLst>
          </p:cNvPr>
          <p:cNvSpPr>
            <a:spLocks noGrp="1"/>
          </p:cNvSpPr>
          <p:nvPr/>
        </p:nvSpPr>
        <p:spPr>
          <a:xfrm>
            <a:off x="1762125" y="2305050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開始：</a:t>
            </a:r>
          </a:p>
          <a:p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./experiment.sh \</a:t>
            </a:r>
          </a:p>
          <a:p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  configs/experiments/1014_deterministic_dsl_3x2_seed8_3runs</a:t>
            </a:r>
          </a:p>
        </p:txBody>
      </p:sp>
      <p:sp>
        <p:nvSpPr>
          <p:cNvPr id="3" name="text-2">
            <a:extLst>
              <a:ext uri="{FF2B5EF4-FFF2-40B4-BE49-F238E27FC236}">
                <ns2:creationId id="{DC79016A-D99E-47A5-BFFD-843F746A1628}"/>
              </a:ext>
            </a:extLst>
          </p:cNvPr>
          <p:cNvSpPr>
            <a:spLocks noGrp="1"/>
          </p:cNvSpPr>
          <p:nvPr/>
        </p:nvSpPr>
        <p:spPr>
          <a:xfrm>
            <a:off x="1762125" y="3895725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中斷後接續：</a:t>
            </a:r>
          </a:p>
          <a:p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./experiment.sh --resume \</a:t>
            </a:r>
          </a:p>
          <a:p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  configs/experiments/1014_deterministic_dsl_3x2_seed8_3runs</a:t>
            </a:r>
          </a:p>
        </p:txBody>
      </p:sp>
      <p:sp>
        <p:nvSpPr>
          <p:cNvPr id="4" name="text-3">
            <a:extLst>
              <a:ext uri="{FF2B5EF4-FFF2-40B4-BE49-F238E27FC236}">
                <ns2:creationId id="{8F73E337-756C-4EE0-B46F-F346BE8DC7CF}"/>
              </a:ext>
            </a:extLst>
          </p:cNvPr>
          <p:cNvSpPr>
            <a:spLocks noGrp="1"/>
          </p:cNvSpPr>
          <p:nvPr/>
        </p:nvSpPr>
        <p:spPr>
          <a:xfrm>
            <a:off x="1762125" y="5486400"/>
            <a:ext cx="12401550" cy="129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</a:lstStyle>
          <a:p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檢查 experiment.yaml 的 3 個 run paths；每次保存 gen0、gen1–3 與 final-test。</a:t>
            </a:r>
          </a:p>
        </p:txBody>
      </p:sp>
      <p:sp>
        <p:nvSpPr>
          <p:cNvPr id="6" name="Slide Number">
            <a:extLst>
              <a:ext uri="{FF2B5EF4-FFF2-40B4-BE49-F238E27FC236}">
                <ns2:creationId id="{7E616C41-55D3-4BFB-9A81-02228A80D0E0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7296150" y="8477250"/>
            <a:ext cx="1333500" cy="304800"/>
          </a:xfrm>
          <a:prstGeom prst="rect">
            <a:avLst/>
          </a:prstGeom>
          <a:noFill/>
          <a:ln w="0">
            <a:noFill/>
          </a:ln>
        </p:spPr>
        <p:txBody>
          <a:bodyPr lIns="76200" tIns="28575" rIns="76200" bIns="28575" anchor="ctr">
            <a:noAutofit/>
          </a:bodyPr>
          <a:lstStyle/>
          <a:p>
            <a:pPr marL="0" indent="0" algn="ctr">
              <a:buNone/>
              <a:def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fld id="{F71BC431-0EC4-43B1-8E1D-CB4D6212917A}" type="slidenum">
              <a:rPr sz="1650" b="0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17</a:t>
            </a:fld>
          </a:p>
        </p:txBody>
      </p:sp>
    </p:spTree>
    <p:extLst>
      <p:ext uri="{BB962C8B-B14F-4D97-AF65-F5344CB8AC3E}">
        <ns3:creationId val="1052407009"/>
      </p:ext>
    </p:extLst>
  </p:cSld>
</p:sld>
</file>

<file path=ppt/theme/theme1.xml><?xml version="1.0" encoding="utf-8"?>
<a:theme xmlns:a="http://schemas.openxmlformats.org/drawingml/2006/main" name="EAGLE">
  <a:themeElements>
    <a:clrScheme name="Meeting 0830 Rose &amp; Gold">
      <a:dk1>
        <a:srgbClr val="47171C"/>
      </a:dk1>
      <a:lt1>
        <a:srgbClr val="FCF8F5"/>
      </a:lt1>
      <a:dk2>
        <a:srgbClr val="423C3B"/>
      </a:dk2>
      <a:lt2>
        <a:srgbClr val="FFFFFF"/>
      </a:lt2>
      <a:accent1>
        <a:srgbClr val="CF8792"/>
      </a:accent1>
      <a:accent2>
        <a:srgbClr val="47171C"/>
      </a:accent2>
      <a:accent3>
        <a:srgbClr val="CF9BA5"/>
      </a:accent3>
      <a:accent4>
        <a:srgbClr val="C69B45"/>
      </a:accent4>
      <a:accent5>
        <a:srgbClr val="FAEDC6"/>
      </a:accent5>
      <a:accent6>
        <a:srgbClr val="423C3B"/>
      </a:accent6>
      <a:hlink>
        <a:srgbClr val="CF8792"/>
      </a:hlink>
      <a:folHlink>
        <a:srgbClr val="C69B45"/>
      </a:folHlink>
    </a:clrScheme>
    <a:fontScheme name="Office">
      <a:majorFont>
        <a:latin typeface="Source Han Serif TW"/>
        <a:ea typeface="Source Han Serif TW"/>
        <a:cs typeface="Source Han Serif TW"/>
      </a:majorFont>
      <a:minorFont>
        <a:latin typeface="Source Han Serif TW"/>
        <a:ea typeface="Source Han Serif TW"/>
        <a:cs typeface="Source Han Serif TW"/>
      </a:minorFont>
    </a:fontScheme>
    <a:fmtScheme name="Meeting 0830 Rose &amp; 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2026-10-14T16:28:33.2790000Z</dcterms:created>
  <dcterms:modified xsi:type="dcterms:W3CDTF">2026-10-14T16:28:33.2790000Z</dcterms:modified>
</coreProperties>
</file>