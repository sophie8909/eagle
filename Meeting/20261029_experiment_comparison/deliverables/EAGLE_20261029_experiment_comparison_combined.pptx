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rts/chart1.xml" ContentType="application/vnd.openxmlformats-officedocument.drawingml.chart+xml"/>
  <Override PartName="/ppt/notesSlides/notesSlide40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41.xml" ContentType="application/vnd.openxmlformats-officedocument.presentationml.notesSlide+xml"/>
  <Override PartName="/ppt/charts/chart8.xml" ContentType="application/vnd.openxmlformats-officedocument.drawingml.chart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rts/chart9.xml" ContentType="application/vnd.openxmlformats-officedocument.drawingml.chart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charts/chart10.xml" ContentType="application/vnd.openxmlformats-officedocument.drawingml.chart+xml"/>
  <Override PartName="/ppt/notesSlides/notesSlide51.xml" ContentType="application/vnd.openxmlformats-officedocument.presentationml.notesSlide+xml"/>
  <Override PartName="/ppt/charts/chart11.xml" ContentType="application/vnd.openxmlformats-officedocument.drawingml.chart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charts/chart14.xml" ContentType="application/vnd.openxmlformats-officedocument.drawingml.chart+xml"/>
  <Override PartName="/ppt/notesSlides/notesSlide58.xml" ContentType="application/vnd.openxmlformats-officedocument.presentationml.notesSlide+xml"/>
  <Override PartName="/ppt/charts/chart1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sldIdLst>
    <p:sldId id="256" r:id="rId2"/>
    <p:sldId id="257" r:id="rId3"/>
    <p:sldId id="260" r:id="rId4"/>
    <p:sldId id="301" r:id="rId5"/>
    <p:sldId id="304" r:id="rId6"/>
    <p:sldId id="303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7" r:id="rId46"/>
    <p:sldId id="261" r:id="rId47"/>
    <p:sldId id="262" r:id="rId48"/>
    <p:sldId id="308" r:id="rId49"/>
    <p:sldId id="309" r:id="rId50"/>
    <p:sldId id="258" r:id="rId51"/>
    <p:sldId id="259" r:id="rId52"/>
    <p:sldId id="310" r:id="rId53"/>
    <p:sldId id="311" r:id="rId54"/>
    <p:sldId id="312" r:id="rId55"/>
    <p:sldId id="313" r:id="rId56"/>
    <p:sldId id="314" r:id="rId57"/>
    <p:sldId id="315" r:id="rId58"/>
    <p:sldId id="316" r:id="rId59"/>
  </p:sldIdLst>
  <p:sldSz cx="15925800" cy="8963025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521415D9-36F7-43E2-AB2F-B90AF26B5E84}">
      <p14:sectionLst xmlns:p14="http://schemas.microsoft.com/office/powerpoint/2010/main">
        <p14:section name="預設章節" id="{AD34AF70-240C-4863-80BA-26333159F900}">
          <p14:sldIdLst>
            <p14:sldId id="256"/>
            <p14:sldId id="257"/>
            <p14:sldId id="260"/>
            <p14:sldId id="301"/>
            <p14:sldId id="304"/>
            <p14:sldId id="303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1028" id="{42403C6F-D148-4A44-B456-E2602F79972A}">
          <p14:sldIdLst>
            <p14:sldId id="307"/>
            <p14:sldId id="261"/>
            <p14:sldId id="262"/>
            <p14:sldId id="308"/>
            <p14:sldId id="309"/>
            <p14:sldId id="258"/>
            <p14:sldId id="259"/>
            <p14:sldId id="310"/>
            <p14:sldId id="311"/>
            <p14:sldId id="312"/>
            <p14:sldId id="313"/>
            <p14:sldId id="314"/>
            <p14:sldId id="315"/>
            <p14:sldId id="31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497E131-5584-4FF0-9A17-202609170001}">
  <a:tblStyle styleId="{8497E131-5584-4FF0-9A17-202609170001}" styleName="EAGLE 0917 Rose">
    <a:wholeTbl>
      <a:tcTxStyle b="off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FCF8F5"/>
          </a:solidFill>
        </a:fill>
      </a:tcStyle>
    </a:wholeTbl>
    <a:firstRow>
      <a:tcTxStyle b="on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DEB4BA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上次</c:v>
          </c:tx>
          <c:spPr>
            <a:solidFill>
              <a:srgbClr val="CF8792"/>
            </a:solidFill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>
                    <a:solidFill>
                      <a:srgbClr val="47171C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5.5920040000000002</c:v>
                </c:pt>
                <c:pt idx="1">
                  <c:v>25.732783000000001</c:v>
                </c:pt>
                <c:pt idx="2">
                  <c:v>-32.036904</c:v>
                </c:pt>
                <c:pt idx="3">
                  <c:v>10.988061999999999</c:v>
                </c:pt>
                <c:pt idx="4">
                  <c:v>6.7605069999999996</c:v>
                </c:pt>
                <c:pt idx="5">
                  <c:v>18.267322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0E-4E42-9C5B-399B6406C530}"/>
            </c:ext>
          </c:extLst>
        </c:ser>
        <c:ser>
          <c:idx val="1"/>
          <c:order val="1"/>
          <c:tx>
            <c:v>本次已完成</c:v>
          </c:tx>
          <c:spPr>
            <a:solidFill>
              <a:srgbClr val="47171C"/>
            </a:solidFill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>
                    <a:solidFill>
                      <a:srgbClr val="47171C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Data'!$C$2:$C$7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-3.3417479999999999</c:v>
                </c:pt>
                <c:pt idx="1">
                  <c:v>22.999510000000001</c:v>
                </c:pt>
                <c:pt idx="2">
                  <c:v>-32.033214000000001</c:v>
                </c:pt>
                <c:pt idx="3">
                  <c:v>13.117691000000001</c:v>
                </c:pt>
                <c:pt idx="4">
                  <c:v>8.5607469999999992</c:v>
                </c:pt>
                <c:pt idx="5">
                  <c:v>22.949003000000001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0E-4E42-9C5B-399B6406C53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5"/>
          <c:min val="-45"/>
        </c:scaling>
        <c:delete val="0"/>
        <c:axPos val="l"/>
        <c:majorGridlines>
          <c:spPr>
            <a:ln w="5715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20"/>
      </c:valAx>
      <c:spPr>
        <a:solidFill>
          <a:srgbClr val="FCF8F5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上次</c:v>
          </c:tx>
          <c:spPr>
            <a:ln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-57.327551</c:v>
                </c:pt>
                <c:pt idx="1">
                  <c:v>-1.3601799999999999</c:v>
                </c:pt>
                <c:pt idx="2">
                  <c:v>6.1837340000000003</c:v>
                </c:pt>
                <c:pt idx="3">
                  <c:v>5.1238979999999996</c:v>
                </c:pt>
                <c:pt idx="4">
                  <c:v>5.5920040000000002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7B2-41BC-8518-318DA86F8D99}"/>
            </c:ext>
          </c:extLst>
        </c:ser>
        <c:ser>
          <c:idx val="1"/>
          <c:order val="1"/>
          <c:tx>
            <c:v>本次</c:v>
          </c:tx>
          <c:spPr>
            <a:ln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-57.338081000000003</c:v>
                </c:pt>
                <c:pt idx="1">
                  <c:v>-1.1078809999999999</c:v>
                </c:pt>
                <c:pt idx="2">
                  <c:v>5.6429869999999998</c:v>
                </c:pt>
                <c:pt idx="3">
                  <c:v>5.7164869999999999</c:v>
                </c:pt>
                <c:pt idx="4">
                  <c:v>-3.3417479999999999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7B2-41BC-8518-318DA86F8D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w="4763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4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上次</c:v>
          </c:tx>
          <c:spPr>
            <a:ln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-71.713680999999994</c:v>
                </c:pt>
                <c:pt idx="1">
                  <c:v>-58.546765000000001</c:v>
                </c:pt>
                <c:pt idx="2">
                  <c:v>-18.482364</c:v>
                </c:pt>
                <c:pt idx="3">
                  <c:v>22.950039</c:v>
                </c:pt>
                <c:pt idx="4">
                  <c:v>25.732783000000001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BCF-4331-9AB4-A580810D3B9F}"/>
            </c:ext>
          </c:extLst>
        </c:ser>
        <c:ser>
          <c:idx val="1"/>
          <c:order val="1"/>
          <c:tx>
            <c:v>本次</c:v>
          </c:tx>
          <c:spPr>
            <a:ln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-71.712625000000003</c:v>
                </c:pt>
                <c:pt idx="1">
                  <c:v>-58.571534999999997</c:v>
                </c:pt>
                <c:pt idx="2">
                  <c:v>-19.243351000000001</c:v>
                </c:pt>
                <c:pt idx="3">
                  <c:v>22.495612000000001</c:v>
                </c:pt>
                <c:pt idx="4">
                  <c:v>22.999510000000001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BCF-4331-9AB4-A580810D3B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w="4763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4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上次</c:v>
          </c:tx>
          <c:spPr>
            <a:ln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-70.591722000000004</c:v>
                </c:pt>
                <c:pt idx="1">
                  <c:v>-49.131152</c:v>
                </c:pt>
                <c:pt idx="2">
                  <c:v>-41.481330999999997</c:v>
                </c:pt>
                <c:pt idx="3">
                  <c:v>-14.999245999999999</c:v>
                </c:pt>
                <c:pt idx="4">
                  <c:v>-32.036904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7B-4D56-9F4C-41F72D6C0388}"/>
            </c:ext>
          </c:extLst>
        </c:ser>
        <c:ser>
          <c:idx val="1"/>
          <c:order val="1"/>
          <c:tx>
            <c:v>本次</c:v>
          </c:tx>
          <c:spPr>
            <a:ln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-70.590024999999997</c:v>
                </c:pt>
                <c:pt idx="1">
                  <c:v>-49.136225000000003</c:v>
                </c:pt>
                <c:pt idx="2">
                  <c:v>-41.492792000000001</c:v>
                </c:pt>
                <c:pt idx="3">
                  <c:v>-15.00325</c:v>
                </c:pt>
                <c:pt idx="4">
                  <c:v>-32.033214000000001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7B-4D56-9F4C-41F72D6C03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w="4763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4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上次</c:v>
          </c:tx>
          <c:spPr>
            <a:ln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-69.303635999999997</c:v>
                </c:pt>
                <c:pt idx="1">
                  <c:v>4.5859209999999999</c:v>
                </c:pt>
                <c:pt idx="2">
                  <c:v>24.209648000000001</c:v>
                </c:pt>
                <c:pt idx="3">
                  <c:v>22.449908000000001</c:v>
                </c:pt>
                <c:pt idx="4">
                  <c:v>10.988061999999999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460-48FE-BCFA-48BAD51E510A}"/>
            </c:ext>
          </c:extLst>
        </c:ser>
        <c:ser>
          <c:idx val="1"/>
          <c:order val="1"/>
          <c:tx>
            <c:v>本次</c:v>
          </c:tx>
          <c:spPr>
            <a:ln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-69.299691999999993</c:v>
                </c:pt>
                <c:pt idx="1">
                  <c:v>7.34023</c:v>
                </c:pt>
                <c:pt idx="2">
                  <c:v>20.632829999999998</c:v>
                </c:pt>
                <c:pt idx="3">
                  <c:v>24.229255999999999</c:v>
                </c:pt>
                <c:pt idx="4">
                  <c:v>13.117691000000001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460-48FE-BCFA-48BAD51E51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w="4763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4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上次</c:v>
          </c:tx>
          <c:spPr>
            <a:ln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-70.456542999999996</c:v>
                </c:pt>
                <c:pt idx="1">
                  <c:v>9.5429999999999994E-3</c:v>
                </c:pt>
                <c:pt idx="2">
                  <c:v>9.6784199999999991</c:v>
                </c:pt>
                <c:pt idx="3">
                  <c:v>23.497714999999999</c:v>
                </c:pt>
                <c:pt idx="4">
                  <c:v>6.7605069999999996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CEB-4BDA-B688-430C79F1C909}"/>
            </c:ext>
          </c:extLst>
        </c:ser>
        <c:ser>
          <c:idx val="1"/>
          <c:order val="1"/>
          <c:tx>
            <c:v>本次</c:v>
          </c:tx>
          <c:spPr>
            <a:ln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-70.450811999999999</c:v>
                </c:pt>
                <c:pt idx="1">
                  <c:v>6.855E-3</c:v>
                </c:pt>
                <c:pt idx="2">
                  <c:v>12.554926999999999</c:v>
                </c:pt>
                <c:pt idx="3">
                  <c:v>24.649235000000001</c:v>
                </c:pt>
                <c:pt idx="4">
                  <c:v>8.5607469999999992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CEB-4BDA-B688-430C79F1C9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w="4763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4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上次</c:v>
          </c:tx>
          <c:spPr>
            <a:ln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-70.967267000000007</c:v>
                </c:pt>
                <c:pt idx="1">
                  <c:v>-11.476352</c:v>
                </c:pt>
                <c:pt idx="2">
                  <c:v>-2.7987700000000002</c:v>
                </c:pt>
                <c:pt idx="3">
                  <c:v>-5.8546240000000003</c:v>
                </c:pt>
                <c:pt idx="4">
                  <c:v>18.267322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DB-42AA-AF02-F8F54793138A}"/>
            </c:ext>
          </c:extLst>
        </c:ser>
        <c:ser>
          <c:idx val="1"/>
          <c:order val="1"/>
          <c:tx>
            <c:v>本次</c:v>
          </c:tx>
          <c:spPr>
            <a:ln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-70.964789999999994</c:v>
                </c:pt>
                <c:pt idx="1">
                  <c:v>-11.474717999999999</c:v>
                </c:pt>
                <c:pt idx="2">
                  <c:v>-3.014888</c:v>
                </c:pt>
                <c:pt idx="3">
                  <c:v>1.579132</c:v>
                </c:pt>
                <c:pt idx="4">
                  <c:v>22.949003000000001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ADB-42AA-AF02-F8F5479313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w="4763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4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勝 W</c:v>
          </c:tx>
          <c:spPr>
            <a:solidFill>
              <a:srgbClr val="CF8792"/>
            </a:solidFill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>
                    <a:solidFill>
                      <a:srgbClr val="FCF8F5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上次｜6 runs，3600 場</c:v>
                </c:pt>
                <c:pt idx="1">
                  <c:v>本次｜6 runs，3600 場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32.333300000000001</c:v>
                </c:pt>
                <c:pt idx="1">
                  <c:v>31.166699999999999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10-46CD-8EDD-457A82A53E0F}"/>
            </c:ext>
          </c:extLst>
        </c:ser>
        <c:ser>
          <c:idx val="1"/>
          <c:order val="1"/>
          <c:tx>
            <c:v>和 D</c:v>
          </c:tx>
          <c:spPr>
            <a:solidFill>
              <a:srgbClr val="FAEDC6"/>
            </a:solidFill>
          </c:spPr>
          <c:invertIfNegative val="0"/>
          <c:dLbls>
            <c:delete val="1"/>
          </c:dLbls>
          <c:cat>
            <c:strRef>
              <c:f>'Chart Data'!$C$2:$C$3</c:f>
              <c:strCache>
                <c:ptCount val="2"/>
                <c:pt idx="0">
                  <c:v>上次｜6 runs，3600 場</c:v>
                </c:pt>
                <c:pt idx="1">
                  <c:v>本次｜6 runs，3600 場</c:v>
                </c:pt>
              </c:strCache>
            </c:strRef>
          </c:cat>
          <c:val>
            <c:numRef>
              <c:f>'Chart Data'!$D$2:$D$3</c:f>
              <c:numCache>
                <c:formatCode>0"%"</c:formatCode>
                <c:ptCount val="2"/>
                <c:pt idx="0">
                  <c:v>4.2222</c:v>
                </c:pt>
                <c:pt idx="1">
                  <c:v>4.1111000000000004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10-46CD-8EDD-457A82A53E0F}"/>
            </c:ext>
          </c:extLst>
        </c:ser>
        <c:ser>
          <c:idx val="2"/>
          <c:order val="2"/>
          <c:tx>
            <c:v>敗 L</c:v>
          </c:tx>
          <c:spPr>
            <a:solidFill>
              <a:srgbClr val="47171C"/>
            </a:solidFill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>
                    <a:solidFill>
                      <a:srgbClr val="FCF8F5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Data'!$E$2:$E$3</c:f>
              <c:strCache>
                <c:ptCount val="2"/>
                <c:pt idx="0">
                  <c:v>上次｜6 runs，3600 場</c:v>
                </c:pt>
                <c:pt idx="1">
                  <c:v>本次｜6 runs，3600 場</c:v>
                </c:pt>
              </c:strCache>
            </c:strRef>
          </c:cat>
          <c:val>
            <c:numRef>
              <c:f>'Chart Data'!$F$2:$F$3</c:f>
              <c:numCache>
                <c:formatCode>0"%"</c:formatCode>
                <c:ptCount val="2"/>
                <c:pt idx="0">
                  <c:v>63.444400000000002</c:v>
                </c:pt>
                <c:pt idx="1">
                  <c:v>64.722200000000001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B10-46CD-8EDD-457A82A53E0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5715">
              <a:solidFill>
                <a:srgbClr val="DEB4BA"/>
              </a:solidFill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25"/>
      </c:valAx>
      <c:spPr>
        <a:solidFill>
          <a:srgbClr val="FCF8F5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上次</c:v>
          </c:tx>
          <c:spPr>
            <a:solidFill>
              <a:srgbClr val="CF8792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175">
                    <a:solidFill>
                      <a:srgbClr val="47171C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73-4C2C-9B23-5DD8E251EA03}"/>
            </c:ext>
          </c:extLst>
        </c:ser>
        <c:ser>
          <c:idx val="1"/>
          <c:order val="1"/>
          <c:tx>
            <c:v>本次已完成</c:v>
          </c:tx>
          <c:spPr>
            <a:solidFill>
              <a:srgbClr val="47171C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175">
                    <a:solidFill>
                      <a:srgbClr val="47171C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Data'!$C$2:$C$7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3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573-4C2C-9B23-5DD8E251EA0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w="5715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2"/>
      </c:valAx>
      <c:spPr>
        <a:solidFill>
          <a:srgbClr val="FCF8F5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最近個體交配</c:v>
          </c:tx>
          <c:spPr>
            <a:solidFill>
              <a:srgbClr val="CF8792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solidFill>
                      <a:srgbClr val="423C3B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2.0680000000000001</c:v>
                </c:pt>
                <c:pt idx="1">
                  <c:v>23.513999999999999</c:v>
                </c:pt>
                <c:pt idx="2">
                  <c:v>-14.28</c:v>
                </c:pt>
                <c:pt idx="3">
                  <c:v>17.45</c:v>
                </c:pt>
                <c:pt idx="4">
                  <c:v>13.635</c:v>
                </c:pt>
                <c:pt idx="5">
                  <c:v>21.738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6E-40C9-9EF9-57129EA11A8C}"/>
            </c:ext>
          </c:extLst>
        </c:ser>
        <c:ser>
          <c:idx val="1"/>
          <c:order val="1"/>
          <c:tx>
            <c:v>整體 Reflection</c:v>
          </c:tx>
          <c:spPr>
            <a:solidFill>
              <a:srgbClr val="47171C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solidFill>
                      <a:srgbClr val="423C3B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Data'!$C$2:$C$7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8.5399999999999991</c:v>
                </c:pt>
                <c:pt idx="1">
                  <c:v>26.632000000000001</c:v>
                </c:pt>
                <c:pt idx="2">
                  <c:v>5.3879999999999999</c:v>
                </c:pt>
                <c:pt idx="3">
                  <c:v>14.541</c:v>
                </c:pt>
                <c:pt idx="4">
                  <c:v>2.42</c:v>
                </c:pt>
                <c:pt idx="5">
                  <c:v>29.914999999999999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6E-40C9-9EF9-57129EA11A8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20"/>
        </c:scaling>
        <c:delete val="0"/>
        <c:axPos val="l"/>
        <c:majorGridlines>
          <c:spPr>
            <a:ln w="9525">
              <a:solidFill>
                <a:srgbClr val="E8D8D9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latin typeface="Source Han Serif TW"/>
                    <a:ea typeface="Source Han Serif TW"/>
                    <a:cs typeface="Source Han Serif TW"/>
                  </a:rPr>
                  <a:t>Final-generation best training fitness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10"/>
      </c:valAx>
    </c:plotArea>
    <c:legend>
      <c:legendPos val="b"/>
      <c:overlay val="0"/>
      <c:txPr>
        <a:bodyPr anchorCtr="1"/>
        <a:lstStyle/>
        <a:p>
          <a:pPr>
            <a:defRPr sz="1875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  <a:endParaRPr lang="zh-TW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Final-test win rate</c:v>
          </c:tx>
          <c:spPr>
            <a:solidFill>
              <a:srgbClr val="47171C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solidFill>
                      <a:srgbClr val="423C3B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最近交配</c:v>
                </c:pt>
                <c:pt idx="1">
                  <c:v>整體 Reflection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34.75</c:v>
                </c:pt>
                <c:pt idx="1">
                  <c:v>34.92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F8-45E6-98A1-002724C412A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w="9525">
              <a:solidFill>
                <a:srgbClr val="E8D8D9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latin typeface="Source Han Serif TW"/>
                    <a:ea typeface="Source Han Serif TW"/>
                    <a:cs typeface="Source Han Serif TW"/>
                  </a:rPr>
                  <a:t>Win rate (%)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10"/>
      </c:valAx>
    </c:plotArea>
    <c:plotVisOnly val="1"/>
    <c:dispBlanksAs val="zero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勝率</c:v>
          </c:tx>
          <c:spPr>
            <a:solidFill>
              <a:srgbClr val="47171C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solidFill>
                      <a:srgbClr val="423C3B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整體 S8</c:v>
                </c:pt>
                <c:pt idx="1">
                  <c:v>整體 S9</c:v>
                </c:pt>
                <c:pt idx="2">
                  <c:v>Options S8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50.83</c:v>
                </c:pt>
                <c:pt idx="1">
                  <c:v>35.83</c:v>
                </c:pt>
                <c:pt idx="2">
                  <c:v>49.83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3F-4367-9ED7-46E6AB6D11C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w="9525">
              <a:solidFill>
                <a:srgbClr val="E8D8D9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latin typeface="Source Han Serif TW"/>
                    <a:ea typeface="Source Han Serif TW"/>
                    <a:cs typeface="Source Han Serif TW"/>
                  </a:rPr>
                  <a:t>Final-test win rate (%)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20"/>
      </c:valAx>
    </c:plotArea>
    <c:plotVisOnly val="1"/>
    <c:dispBlanksAs val="zero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時間</c:v>
          </c:tx>
          <c:spPr>
            <a:solidFill>
              <a:srgbClr val="CF8792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solidFill>
                      <a:srgbClr val="423C3B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整體 S8</c:v>
                </c:pt>
                <c:pt idx="1">
                  <c:v>整體 S9</c:v>
                </c:pt>
                <c:pt idx="2">
                  <c:v>Options S8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8.81</c:v>
                </c:pt>
                <c:pt idx="1">
                  <c:v>9.09</c:v>
                </c:pt>
                <c:pt idx="2">
                  <c:v>8.48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15-4158-8D00-F506ADC6784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w="9525">
              <a:solidFill>
                <a:srgbClr val="E8D8D9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latin typeface="Source Han Serif TW"/>
                    <a:ea typeface="Source Han Serif TW"/>
                    <a:cs typeface="Source Han Serif TW"/>
                  </a:rPr>
                  <a:t>Reported time (hours)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2"/>
      </c:valAx>
    </c:plotArea>
    <c:plotVisOnly val="1"/>
    <c:dispBlanksAs val="zero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最遠 A</c:v>
          </c:tx>
          <c:spPr>
            <a:solidFill>
              <a:srgbClr val="CF8792"/>
            </a:solidFill>
          </c:spPr>
          <c:invertIfNegative val="0"/>
          <c:cat>
            <c:numRef>
              <c:f>'Chart Data'!$A$2:$A$7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5.5920040000000002</c:v>
                </c:pt>
                <c:pt idx="1">
                  <c:v>25.732783000000001</c:v>
                </c:pt>
                <c:pt idx="2">
                  <c:v>-32.036904</c:v>
                </c:pt>
                <c:pt idx="3">
                  <c:v>10.988061999999999</c:v>
                </c:pt>
                <c:pt idx="4">
                  <c:v>6.7605069999999996</c:v>
                </c:pt>
                <c:pt idx="5">
                  <c:v>18.267322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29-43A1-96C2-2A960AB0A72D}"/>
            </c:ext>
          </c:extLst>
        </c:ser>
        <c:ser>
          <c:idx val="1"/>
          <c:order val="1"/>
          <c:tx>
            <c:v>最遠 B</c:v>
          </c:tx>
          <c:spPr>
            <a:solidFill>
              <a:srgbClr val="CF9BA5"/>
            </a:solidFill>
          </c:spPr>
          <c:invertIfNegative val="0"/>
          <c:cat>
            <c:numRef>
              <c:f>'Chart Data'!$C$2:$C$7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-3.3417479999999999</c:v>
                </c:pt>
                <c:pt idx="1">
                  <c:v>22.999510000000001</c:v>
                </c:pt>
                <c:pt idx="2">
                  <c:v>-32.033214000000001</c:v>
                </c:pt>
                <c:pt idx="3">
                  <c:v>13.117691000000001</c:v>
                </c:pt>
                <c:pt idx="4">
                  <c:v>8.5607469999999992</c:v>
                </c:pt>
                <c:pt idx="5">
                  <c:v>22.949003000000001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29-43A1-96C2-2A960AB0A72D}"/>
            </c:ext>
          </c:extLst>
        </c:ser>
        <c:ser>
          <c:idx val="2"/>
          <c:order val="2"/>
          <c:tx>
            <c:v>最近</c:v>
          </c:tx>
          <c:spPr>
            <a:solidFill>
              <a:srgbClr val="47171C"/>
            </a:solidFill>
          </c:spPr>
          <c:invertIfNegative val="0"/>
          <c:cat>
            <c:numRef>
              <c:f>'Chart Data'!$E$2:$E$7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</c:numCache>
            </c:numRef>
          </c:cat>
          <c:val>
            <c:numRef>
              <c:f>'Chart Data'!$F$2:$F$7</c:f>
              <c:numCache>
                <c:formatCode>General</c:formatCode>
                <c:ptCount val="6"/>
                <c:pt idx="0">
                  <c:v>2.0680529999999999</c:v>
                </c:pt>
                <c:pt idx="1">
                  <c:v>23.514199999999999</c:v>
                </c:pt>
                <c:pt idx="2">
                  <c:v>-14.280196</c:v>
                </c:pt>
                <c:pt idx="3">
                  <c:v>17.449922999999998</c:v>
                </c:pt>
                <c:pt idx="4">
                  <c:v>13.635489</c:v>
                </c:pt>
                <c:pt idx="5">
                  <c:v>21.738132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829-43A1-96C2-2A960AB0A7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40"/>
        </c:scaling>
        <c:delete val="0"/>
        <c:axPos val="l"/>
        <c:majorGridlines>
          <c:spPr>
            <a:ln w="9525">
              <a:solidFill>
                <a:srgbClr val="E8D8D9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latin typeface="Source Han Serif TW"/>
                    <a:ea typeface="Source Han Serif TW"/>
                    <a:cs typeface="Source Han Serif TW"/>
                  </a:rPr>
                  <a:t>G20 best training fitness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20"/>
      </c:valAx>
    </c:plotArea>
    <c:legend>
      <c:legendPos val="b"/>
      <c:overlay val="0"/>
      <c:txPr>
        <a:bodyPr anchorCtr="1"/>
        <a:lstStyle/>
        <a:p>
          <a:pPr>
            <a:defRPr sz="1875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  <a:endParaRPr lang="zh-TW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Final-test win rate</c:v>
          </c:tx>
          <c:spPr>
            <a:solidFill>
              <a:srgbClr val="47171C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solidFill>
                      <a:srgbClr val="423C3B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最遠 A</c:v>
                </c:pt>
                <c:pt idx="1">
                  <c:v>最遠 B</c:v>
                </c:pt>
                <c:pt idx="2">
                  <c:v>最近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32.333333000000003</c:v>
                </c:pt>
                <c:pt idx="1">
                  <c:v>31.166667</c:v>
                </c:pt>
                <c:pt idx="2">
                  <c:v>34.75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49-45D8-9BFB-3DA5A94C4C9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w="9525">
              <a:solidFill>
                <a:srgbClr val="E8D8D9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latin typeface="Source Han Serif TW"/>
                    <a:ea typeface="Source Han Serif TW"/>
                    <a:cs typeface="Source Han Serif TW"/>
                  </a:rPr>
                  <a:t>Win rate (%)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10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本流程固定採 evaluation.mode=self_play 與 self_play_pool_policy=tournament-v1。長期 opponent pool 保存內建對手與經入池規則保留的歷代策略；每個評估快照只用十個對手欄位。候選對戰時執行完整 Java，沒有即時 LLM 決策。Java materialization 與反思方式仍依所選模式啟用，但搜尋評估與選擇規則統一使用 opponent pool。正式 Final Test 是獨立的固定基準測試。</a:t>
            </a:r>
          </a:p>
          <a:p>
            <a:endParaRPr/>
          </a:p>
          <a:p>
            <a:r>
              <a:t>來源：eagle/config.py:360-388、747-760；eagle/opponent_pool.py:136-219；eagle/final_test.py。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本流程先由 ChatGPT 人工準備固定 Java framework。G0 用十個內建對手完成初始候選評估，已評估族群開始按規則加入長期 opponent pool。後續每代在刷新到期時凍結四個保護對手加六個抽樣對手，保留父代 Java 並重新評估其分數，才選繁殖父代。子代評估使用同一快照；合併父代與子代選下一代後，所有已評估子代按入池規則挑戰或加入 pool，最後保存世代。尚未停止則繼續；停止後獨立執行固定內建對手的 Final Test。</a:t>
            </a:r>
          </a:p>
          <a:p>
            <a:endParaRPr/>
          </a:p>
          <a:p>
            <a:r>
              <a:t>來源：eagle/evolution/search.py:208-270；eagle/evolution/generation.py:94-285；eagle/opponent_pool.py:136-219。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slot 是固定 Java 模板中的可替換位置。bundle 先定義每個 slot 的型別、合法值與表達式選單；候選只保存值或 choice_id。範例中 worker_target 從 2 到 8 的整數選 6，attack_weight 從 0、0.25、0.5、0.75、1 選 0.75，target_policy 選 lowest_hp。attack_weight、target_policy 與其選單為型別教學示例，不代表目前 bundle 的實際欄位。number 同樣是有限離散選單，0.6 在此例不合法。expression_choice 保存最低血量選項的 ID，由 bundle 中預先定義的 Java 表達式取代模板 marker，不生成新表達式。完整 genome 必須包含該 bundle 的全部 slot，不能只交這三項。</a:t>
            </a:r>
          </a:p>
          <a:p>
            <a:endParaRPr/>
          </a:p>
          <a:p>
            <a:r>
              <a:t>程式來源：eagle/generation/framework_slots.py:304-340、445-470。worker_target 實例來源：configs/framework_bundles/fixed_worker_combat/bundle.json。</a:t>
            </a:r>
          </a:p>
          <a:p>
            <a:endParaRPr/>
          </a:p>
          <a:p>
            <a:r>
              <a:t>版本截點：2026-10-21。程式版本：fcc8b770。</a:t>
            </a:r>
          </a:p>
          <a:p>
            <a:r>
              <a:t>初始設計提示要求至少 24 個非恆定槽位，含至少 6 個 expression_choice 且各有至少 4 個選項，覆蓋經濟、生產、目標、戰鬥、條件與優先順序。這是設計目標，不能保證行為多樣性。候選人只保存槽值或 choice_id，不能生成新的 Java 表達式。相同 bundle、genome 與 materializer 應產生相同 Java bytes。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docs/architecture/framework_slots.md:24-75</a:t>
            </a:r>
          </a:p>
          <a:p>
            <a:r>
              <a:t>eagle/generation/framework_slots.py:189-340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local 模式先依凍結 bundle 的合法槽位範圍，為 G0 每位候選採樣完整 control_genome。後續交配對每個槽位獨立選取父代 A 或 B 的值。若指派突變，選一個有替代值的槽位，改成不同的合法值；沒有可變槽位時維持原值。完整基因通過驗證後填入固定 Java 模板，再進行驗證、編譯、Integration、語意探針及 MicroRTS 評估。local 演化不呼叫候選階段 LLM。來源：docs/architecture/framework_slots.md:15-22；eagle/generation/framework_slots.py:267-340；eagle/operators/framework_slots.py:65-200。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1918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本頁對應新 config：configs/experiments/1022_framework_coach50_traditional50_20x10_seed8_13_1run/qwen3_5_9b_framework_coach50_traditional50_20x10_seed8_13_1run.yaml。framework.evolution_mode=llm_coach，coach_offspring_probability=0.5。G0 沿用 Coach 模式，為每位候選選完整合法基因並評估。後續每位子代先從當代已評估族群選父代 A，再用獨立 seeded RNG 決定生成路徑。Coach 路徑只複製父代 A 的完整基因，取父代 A 恰好一場最差已完成對戰交給 Match Commentator，Coach 收到賽評與父代全場摘要後回傳完整合法基因。此路徑不選父代 B、不交配、不做 local 突變，且不受 mutation_rate 控制。傳統路徑再選父代 B，保留原有 crossover_rate=0.75 的逐槽交配或複製，並依 mutation_rate=1.0 進行最多一槽的 local 突變。兩路共用固定 Java 渲染、驗證、編譯、Integration、語意探針與對手池對戰、父子代倖存選擇及後續 pool 更新與快照刷新重評。搜尋結束後執行獨立固定基準 Final Test。50/50 是依種子可重現的機率，不保證每代固定五名對五名。Coach 回覆不合法時保留原基因並標記 reflection 失敗，不會改走傳統路徑。既有簡報結果仍為 local，尚未執行此新 config。來源：eagle/evolution/offspring.py 的 _iter_framework_slot_offspring；docs/architecture/framework_slots.md；實作提交 4f37f5f6。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5457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Opponent Pool 譯為對手池，保存可供評估候選的對手，不是繁殖族群或繁殖父代集合。初始池包含全部十個內建對手；AllInBot、Mayari、COAC、TMA 為固定保護成員，不能被入池賽替換。G0 評估完的初代及之後各代評估完的子代，經 candidate ID、source 與語意 phenotype 去重後才有資格入池；因此策略來源跨越歷代，並非只保留當代十位。池未滿時加入；本次容量 50 含四個保護成員。滿池時，新策略挑戰一個依種子選出的非保護成員，三地圖、三回合、雙邊共十八場；新策略勝場嚴格多於敗場才替換，平手留原成員。G0 對全部十個內建對手；後續 G1、G6、G11…保留四個固定保護成員，再從池內非保護成員抽六名並凍結成十人對戰名單，每名候選進行 180 場評估。名單在刷新前固定；池更新不會立即改變已凍結名單。對手名單刷新後，繁殖前先重評父代。來源：docs/eagle_architecture_spec.md:460-496；eagle/opponent_pool.py:23-211；eagle/evolution/search.py:158-189；configs/experiments/1021_rich_framework_stability_20x10_seed8_13_1run/qwen3_5_9b_rich_framework_stability_20x10_seed8_13_1run.yam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44395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此頁說明演化族群的繁殖父代選擇。父代提供基因，對手池提供對戰對手，兩者來源與用途不同。</a:t>
            </a:r>
          </a:p>
          <a:p>
            <a:endParaRPr lang="zh-TW" altLang="en-US"/>
          </a:p>
          <a:p>
            <a:r>
              <a:rPr lang="zh-TW" altLang="en-US"/>
              <a:t>繁殖父代來自目前 </a:t>
            </a:r>
            <a:r>
              <a:rPr lang="en-US"/>
              <a:t>population，</a:t>
            </a:r>
            <a:r>
              <a:rPr lang="zh-TW" altLang="en-US"/>
              <a:t>與用來提供評估對手的歷史 對手池 分開。使用單一 </a:t>
            </a:r>
            <a:r>
              <a:rPr lang="en-US"/>
              <a:t>Game Performance fitness；</a:t>
            </a:r>
            <a:r>
              <a:rPr lang="zh-TW" altLang="en-US"/>
              <a:t>從目前最高分往下 </a:t>
            </a:r>
            <a:r>
              <a:rPr lang="en-US"/>
              <a:t>tolerance </a:t>
            </a:r>
            <a:r>
              <a:rPr lang="zh-TW" altLang="en-US"/>
              <a:t>以內形成頂層，預設 </a:t>
            </a:r>
            <a:r>
              <a:rPr lang="en-US"/>
              <a:t>tolerance=1.0 </a:t>
            </a:r>
            <a:r>
              <a:rPr lang="zh-TW" altLang="en-US"/>
              <a:t>且包含邊界，不採相鄰分數串連。第一父代以 </a:t>
            </a:r>
            <a:r>
              <a:rPr lang="en-US"/>
              <a:t>seeded RNG </a:t>
            </a:r>
            <a:r>
              <a:rPr lang="zh-TW" altLang="en-US"/>
              <a:t>從有完整語意簽章者抽樣；若沒有完整簽章則從頂層候選抽樣。第二父代以第一父代為參照，優先選相容動作簽章距離最大者，距離相同時 </a:t>
            </a:r>
            <a:r>
              <a:rPr lang="en-US"/>
              <a:t>seeded </a:t>
            </a:r>
            <a:r>
              <a:rPr lang="zh-TW" altLang="en-US"/>
              <a:t>抽樣；沒有可比資料時保留 </a:t>
            </a:r>
            <a:r>
              <a:rPr lang="en-US"/>
              <a:t>fallback。</a:t>
            </a:r>
            <a:r>
              <a:rPr lang="zh-TW" altLang="en-US"/>
              <a:t>兩次選擇沒有強制父代 </a:t>
            </a:r>
            <a:r>
              <a:rPr lang="en-US"/>
              <a:t>ID </a:t>
            </a:r>
            <a:r>
              <a:rPr lang="zh-TW" altLang="en-US"/>
              <a:t>相異。</a:t>
            </a:r>
          </a:p>
          <a:p>
            <a:endParaRPr lang="zh-TW" altLang="en-US"/>
          </a:p>
          <a:p>
            <a:r>
              <a:rPr lang="zh-TW" altLang="en-US"/>
              <a:t>來源：</a:t>
            </a:r>
            <a:r>
              <a:rPr lang="en-US"/>
              <a:t>eagle/operators/selection.py:42-68、200-215、245-282；eagle/evolution/offspring.py:91-119。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教學示例，非實驗結果。A、B、C、D 的 fitness 分別為 100、99.4、99.0、98.8，tolerance=1.0，因此頂層只有 A、B、C。C 剛好在含邊界的門檻；D 不會因距離 C 很近而串連進來。假設第一父代 seeded 選到 B，且相容的九個 probes 中 A 與 B 有八個動作不同，C 與 B 有兩個不同，則第二父代選 A。D 已在頂層外，不能因行為新穎而越級。</a:t>
            </a:r>
          </a:p>
          <a:p>
            <a:endParaRPr/>
          </a:p>
          <a:p>
            <a:r>
              <a:t>來源：eagle/operators/selection.py:42-68、200-215、245-282、311-320。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直接父代列表與每個成分實際來源是不同資訊，均需保存。兩位父代可以提供不同成分，即使文字或值相同也不能省略來源。Framework 的 Coach 證據父代是 parent A，不會因某槽位從 donor B 繼承就改用 B 的比賽。crossover_rate 控制是否交配，未交配時沿用單一來源。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docs/eagle_architecture_spec.md:216-223</a:t>
            </a:r>
          </a:p>
          <a:p>
            <a:r>
              <a:t>eagle/operators/crossover.py:1-170</a:t>
            </a:r>
          </a:p>
          <a:p>
            <a:r>
              <a:t>eagle/operators/framework_slots.py:1-155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所有實際貢獻來源都必須健康才可進入正常交配與突變。Code v6 只檢查 strategy_fidelity 與 code_correctness；不因勝率、外觀或可簡化而要求修正。ambiguous_strategy 配合正確 Java 不需 revision。有缺陷就產生一位保留原基因的 corrective child，跳過交配與一般突變；診斷失敗也不能當健康通過。Code gate 沒有 AOS 操作機率。DSL 與 framework 模式不執行此 gate。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docs/eagle_architecture_spec.md:49-78</a:t>
            </a:r>
          </a:p>
          <a:p>
            <a:r>
              <a:t>eagle/operators/code.py:29-180</a:t>
            </a:r>
          </a:p>
          <a:p>
            <a:r>
              <a:t>eagle/evolution/offspring.py:125-280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最差場次只從記錄的策略來源父代中取，不能任意從 child、donor 或整個 run 換一場。Match Commentator 看一場詳細 trace；Coach 同時取得全場 global summary 與此一 diagnosis，以免只看局部比賽。LLM/DSL 模式改 policy，framework llm_coach 則改完整 genome。策略反思失敗保留既有資料並走失敗分支，沒有自動換賽事補救。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docs/eagle_architecture_spec.md:248-275</a:t>
            </a:r>
          </a:p>
          <a:p>
            <a:r>
              <a:t>eagle/operators/strategy.py:202-447</a:t>
            </a:r>
          </a:p>
          <a:p>
            <a:r>
              <a:t>eagle/operators/strategy.py:576-865</a:t>
            </a:r>
          </a:p>
          <a:p>
            <a:r>
              <a:t>eagle/operators/strategy.py:1222-1308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每場 performance 包含 shaping，因此同為敗場也能分辨較差表現。JSONL 是 field-targeted 完整規則紀錄，不能把零碎 condition/action 修成另一個沒有被模型完整提出的規則。舊的整份 JSON 回應仍採 all-or-nothing 驗證。framework Coach 使用另一份完整 genome schema，不能套用 DSL 的合法子集合邏輯。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docs/eagle_architecture_spec.md:248-275</a:t>
            </a:r>
          </a:p>
          <a:p>
            <a:r>
              <a:t>eagle/operators/strategy.py:1222-1308</a:t>
            </a:r>
          </a:p>
          <a:p>
            <a:r>
              <a:t>eagle/operators/strategy.py:1638-1710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Prompt Reflection 改良的是可重用的 policy-to-Java 翻譯規則。Reviewer 不接收勝敗、fitness、對手分數、比賽 trace 或其他 gameplay evidence。預設模式比較來源父代的 policy 與 Java；inherited 模式比較 child 選中的 policy 與 inherited Java。新 prompt 不直接修改策略基因，最後仍由 Generator 生成 Java。只在 llm materialization 啟用。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docs/eagle_architecture_spec.md:277-309</a:t>
            </a:r>
          </a:p>
          <a:p>
            <a:r>
              <a:t>eagle/operators/prompt.py:268-525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LLM 回應必須先滿足完整檔案的 package、class、建構子、lifecycle 與單一 strategy-marker 區域等外框，再以固定 scaffold 加上抽出的策略區域建立 normalized Java。固定區域中的模型改動保留為證據，但不進表型。結構非法的回應不能靠 normalization 變成合法。確定性兩條路徑沒有 LLM fallback。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docs/eagle_architecture_spec.md:313-405</a:t>
            </a:r>
          </a:p>
          <a:p>
            <a:r>
              <a:t>docs/eagle_architecture_spec.md:700-820</a:t>
            </a:r>
          </a:p>
          <a:p>
            <a:r>
              <a:t>eagle/evaluation/decoding.py:1-130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attempt 1 通常是普通生成，corrective child 則直接使用 Code Reflection 已回傳的完整 Java。完整 source 的驗證或編譯失敗可在 generation_max_attempts 內用專門 compile-repair prompt 修復。每次 request、raw response、抽取 source、normalized source 與 hash 都保存。第一個 validation＋compilation 成功即停止；Integration 或 runtime 失敗不回到 decoder。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docs/eagle_architecture_spec.md:350-405</a:t>
            </a:r>
          </a:p>
          <a:p>
            <a:r>
              <a:t>eagle/evaluation/decoding.py:1-160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Java contract 同時限制 network、process execution、未授權 I/O 與 runtime modification；它不是一般用途 Java sandbox。編譯保留結構化去重診斷與 warning。Integration 前置檢查失敗會阻擋後面的檢查與對戰。獨立實例檢查確保 getAction 與 PlayerAction 在有單位的真實地圖可運作，成功仍不能證明所有對戰情境都正確。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docs/eagle_architecture_spec.md:378-424</a:t>
            </a:r>
          </a:p>
          <a:p>
            <a:r>
              <a:t>eagle/generation/java_agent_generator.py:256-329</a:t>
            </a:r>
          </a:p>
          <a:p>
            <a:r>
              <a:t>eagle/evaluation/microrts_runner.py:1-140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搜尋評估使用凍結的 opponent-pool 十欄快照：四個保護對手與六個抽樣對手。只有通過 materialization、validation、compilation 與 Integration 的候選能進入對戰。每欄三張地圖、三回合、雙方位置，共十八場，十欄共一百八十場。每場使用衍生 seed、地圖 tick cap 與 timeout。矩陣必須完整才有有效 fitness。同一快照內父代與子代使用同一名單；長期 pool 更新不立即更換這個名單。</a:t>
            </a:r>
          </a:p>
          <a:p>
            <a:endParaRPr/>
          </a:p>
          <a:p>
            <a:r>
              <a:t>來源：eagle/evaluation/match_matrix.py；eagle/evaluation/matches.py；eagle/self_play.py:24-79。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Opponent-pool 搜尋使用單一 Game Performance fitness。單場結果的敗、和、勝基分為 -100、0、100，再加最多正負十的物資、資源與存活 shaping。每個對手十八場先取平均，十個對手欄位再等權平均；因每欄場數相同，也等於完整一百八十場的平均。四個保護對手沒有較高評分權重。語意距離只在分數同層內輔助選擇，不另加 fitness。必要階段失敗或矩陣未完成使用 -1000 sentinel；失敗候選保留診斷但不能擠掉足夠的完整評估候選。AllInBot 被 adapter containment 的上游故障以中性零分和局記錄，另列 opponent fault。</a:t>
            </a:r>
          </a:p>
          <a:p>
            <a:endParaRPr/>
          </a:p>
          <a:p>
            <a:r>
              <a:t>來源：eagle/evaluation/game_performance.py:207-219；eagle/config.py:372-388；eagle/operators/selection.py:93-129；eagle/evaluation/matches.py。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初始 pool 含十個內建來源。PassiveAI、RandomAI、RandomBiasedAI、LightRush、HeavyRush、WorkerRush 是六個可替換成員；AllInBot、Mayari、COAC、TMA 是四個永久保護成員。G0 評估使用全部十個內建對手。後續可替換區累積經規則入池的歷代策略，每個刷新快照保留四個保護對手，再從非保護成員抽六名。這是 pool 的初始化名單，並不表示整個演化期間固定對戰這十位。搜尋評分十欄等權。</a:t>
            </a:r>
          </a:p>
          <a:p>
            <a:endParaRPr/>
          </a:p>
          <a:p>
            <a:r>
              <a:t>來源：eagle/opponents.py:1-145；eagle/opponent_pool.py:22-35、136-219；eagle/self_play.py:24-79。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長期 opponent pool 與每次凍結的十個評估欄位分開保存。Pool 初始是所有十個內建對手，之後納入合法且新穎的歷代候選策略。它不是只存當代十個策略，也不是只收歷代冠軍。總容量 50 是設定預設，不代表每次評估要跑五十個對手。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docs/eagle_architecture_spec.md:461-481</a:t>
            </a:r>
          </a:p>
          <a:p>
            <a:r>
              <a:t>eagle/opponent_pool.py:22-35</a:t>
            </a:r>
          </a:p>
          <a:p>
            <a:r>
              <a:t>eagle/opponent_pool.py:162-219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第 0 代 update_pool 接收 evaluated_population，後續每代接收 evaluated_offspring，並非只傳下一代倖存者。候選須通過可執行與完整評估條件，去除 ID、source 或 semantic phenotype 的重複項。滿池時每個 novel entrant 對一個 seeded 守擂者跑完 18 場；勝和敗分別計 1、0.5、0，只有 wins &gt; losses 才 promotion，平手保留守擂者。失敗或未完成保留證據但不能晉級。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eagle/evolution/search.py:208-219</a:t>
            </a:r>
          </a:p>
          <a:p>
            <a:r>
              <a:t>eagle/evolution/generation.py:254-262</a:t>
            </a:r>
          </a:p>
          <a:p>
            <a:r>
              <a:t>eagle/opponent_pool.py:162-219</a:t>
            </a:r>
          </a:p>
          <a:p>
            <a:r>
              <a:t>eagle/opponent_pool.py:400-430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這裡的十個是評估對手欄位，不是當代子代人口數。刷新預設 interval 5，第 1 代即刷新，之後第 6、11、16 代。Pool 在世代結束可以更新，但已凍結 context 不立即跟著改變。新入池策略要等後續快照刷新才可能被抽到。四保護 case IDs 固定，六個動態 diagnostic slots 為 self_play_000 到 self_play_005，來源寫在 context rows。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docs/eagle_architecture_spec.md:482-511</a:t>
            </a:r>
          </a:p>
          <a:p>
            <a:r>
              <a:t>eagle/opponent_pool.py:136-159</a:t>
            </a:r>
          </a:p>
          <a:p>
            <a:r>
              <a:t>eagle/self_play.py:24-79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self_play 要求 parent_evaluation_mode=reuse_cached。快照不變時沿用父代 Java 與已完成分數。快照刷新是協定內的必要重評：建立新 ID 父代複本，保留原 Java 表型，使用新十欄名單跑完評估，不覆寫舊 context 的分數與證據。刷新評估先完成，才做繁殖選擇；子代也在該快照中評估，讓父代與子代的 fitness 可在倖存選擇時比較。</a:t>
            </a:r>
          </a:p>
          <a:p>
            <a:endParaRPr/>
          </a:p>
          <a:p>
            <a:r>
              <a:t>來源：eagle/config.py:747-760；eagle/evolution/generation.py:94-170；eagle/evolution/parent_refresh.py。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本流程只有兩種父代評估情境。對手快照不變時，reuse_cached 保留 Java 與原分數；到期刷新時，快照協定自動建立父代評估複本，用新名單重新對戰，但不重新生成 Java。self_play 設定驗證要求 reuse_cached，不能使用 regenerate_same_genotype 診斷模式。父代先完成新情境評分才能繁殖，子代隨後使用同一快照完成評估。</a:t>
            </a:r>
          </a:p>
          <a:p>
            <a:endParaRPr/>
          </a:p>
          <a:p>
            <a:r>
              <a:t>來源：eagle/config.py:747-760；eagle/evolution/generation.py:94-170；eagle/evolution/parent_refresh.py。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Opponent-pool 流程強制啟用語意探針。固定三張地圖的三個階段共九個 probe，記錄實際 Java 動作簽章，距離為動作 hash 不同的 probe 比例；dataset、probe 次序與簽章需相容。繁殖時第二父代在頂層內偏好與第一父代距離較遠者。倖存者只有名額切分同一分數層時才使用 seeded max-min 子集，不能越過分數層。精確相同行為亦用於 opponent pool 的表型去重。語意不構成另一個 fitness 目標。</a:t>
            </a:r>
          </a:p>
          <a:p>
            <a:endParaRPr/>
          </a:p>
          <a:p>
            <a:r>
              <a:t>來源：eagle/config.py:747-750；eagle/operators/selection.py:174-282、311-320；eagle/opponent_pool.py:499-540。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將當代父代與已評估子代合併並按 ID 去重，只讓完整評估候選參與下一代。目標為固定人口 N。依當前剩餘候選的最高分作錨點，往下預設 1.0 分以內形成一層，不採相鄰串連；例如 100、99.2 同層，98.4 屬下一層。整層放得下就整層保留；名額切在一層內才用 seeded farthest-first max-min，最大化對已選者與本層已挑者的最小語意距離。低分層不能靠新穎性越級。若所有子代失敗但仍有 N 位完整評估父代，父代可全數留下；完整者不足 N 時 run 明確失敗。</a:t>
            </a:r>
          </a:p>
          <a:p>
            <a:endParaRPr/>
          </a:p>
          <a:p>
            <a:r>
              <a:t>來源：eagle/operators/selection.py:70-145、174-282；eagle/evolution/generation.py:214-229。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self_play 設定明確要求 reflection_operator_mode=static，不使用 AOS Opponents rank、EMA 或 head-to-head reward 更新機率。交配後依固定 mutation_rate 決定是否突變；未觸發時保留交配後基因。Framework local 至多更換一個槽位為另一合法值；Framework Coach 回傳完整 control_genome。LLM／DSL 依各自可用的反思操作與靜態配比選擇，功能是否啟用仍由 materialization 模式決定。對戰提供 Game Performance 與反思證據，不動態調整操作機率。十八場 pool 入池挑戰是另一個機制，不能和 AOS head-to-head 混用。</a:t>
            </a:r>
          </a:p>
          <a:p>
            <a:endParaRPr/>
          </a:p>
          <a:p>
            <a:r>
              <a:t>來源：eagle/config.py:747-760；eagle/evolution/offspring.py:281-300、430-480；eagle/operators/adaptive.py:215-230。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失敗分類包括初始化、反思、生成、驗證、編譯、Integration 與 runtime 等。候選失敗與 run 失敗需分開：只要完成的父代與子代足夠，下一代仍可成立。程序中斷會取消排隊工作、drain active worker，保留未完成證據後從最後完成世代恢復。Pipeline 安全邊界不能以看起來可執行的 fallback 代替。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docs/eagle_architecture_spec.md:350-424</a:t>
            </a:r>
          </a:p>
          <a:p>
            <a:r>
              <a:t>docs/evaluation/game_performance.md:33-40</a:t>
            </a:r>
          </a:p>
          <a:p>
            <a:r>
              <a:t>eagle/operators/selection.py:99-123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Generation snapshot 先原子寫成功，再更新 manifest.latest_generation。只有 manifest 指定的完成快照作為 resume 起點，不能因資料夾有較新檔就推論已提交世代。每次 LLM request 的 endpoint/model、prompt、raw response、attempt、hash 與 timing 都屬證據；秘密憑證不可寫入。compact artifact 模式省去 XML replay，但保留需要的 trace 與對戰摘要。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eagle/run_artifacts.py:160-197</a:t>
            </a:r>
          </a:p>
          <a:p>
            <a:r>
              <a:t>eagle/run_artifacts.py:363-375</a:t>
            </a:r>
          </a:p>
          <a:p>
            <a:r>
              <a:t>docs/artifacts/artifact_schema.md:37-92</a:t>
            </a:r>
          </a:p>
          <a:p>
            <a:r>
              <a:t>docs/eagle_architecture_spec.md:567-629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Resume 不是繼續使用任意半成品，也不重新 bootstrap。先檢查目前版本與凍結身分能否相容；protocol、bundle hash、framework evolution mode 或 runtime/map 身分不合時拒絕。未提交候選與 LLM 證據先移入 interrupted_work，保留後再以穩定 ID 重播。這維持可追查性，但外部 LLM 回應與 wall-clock timeout 仍可能讓重播結果不同。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eagle/evolution/resume.py:1-150</a:t>
            </a:r>
          </a:p>
          <a:p>
            <a:r>
              <a:t>eagle/run_artifacts.py:686-703</a:t>
            </a:r>
          </a:p>
          <a:p>
            <a:r>
              <a:t>docs/eagle_architecture_spec.md:162-215</a:t>
            </a:r>
          </a:p>
          <a:p>
            <a:r>
              <a:t>docs/architecture/framework_slots.md:140-149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明確 random_seeds 時 runs 是每個 seed 的重複次數。省略 random_seeds 則沿用 random_seed、random_seed+1 的歷史排程。Index 保存有序的 absolute run paths，每個 slot 都檢查 seed 與 config 身分。Framework fresh replicate 預設各自生成 bundle，若研究需控制架構差異，必須指定相同外部 bundle。Folder rerun 會處理未開始、未完成與缺 final test 的不同情況。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eagle/config.py:863-879</a:t>
            </a:r>
          </a:p>
          <a:p>
            <a:r>
              <a:t>eagle/experiment.py:355-540</a:t>
            </a:r>
          </a:p>
          <a:p>
            <a:r>
              <a:t>docs/artifacts/artifact_schema.md:491-529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執行總是對可控制的隨機性設 seed，沒有另一個 deterministic_mode 開關。模型 provider 可能忽略 seed 或更新權重；GPU batching、浮點數、第三方對手二進位與 wall-clock 搜尋都可能改變結果。Deterministic materialization 的 byte-identical Java 契約不等於整場實驗逐位元相同。重現承諾需限定同程式、資料、設定與確定的 task outputs。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docs/eagle_architecture_spec.md:162-215</a:t>
            </a:r>
          </a:p>
          <a:p>
            <a:r>
              <a:t>eagle/evaluation/determinism.py:1-170</a:t>
            </a:r>
          </a:p>
          <a:p>
            <a:r>
              <a:t>eagle/execution.py:14-68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搜尋階段使用會刷新的 opponent-pool 快照，停止後的正式 Final Test 另外使用固定十個內建對手，是獨立 benchmark，不改變搜尋協定。停止條件為演化世代上限或 active selection-state signature 的 stagnation。預設從末代選可執行代表，獨立重新編譯並跑七項 Integration，再執行十對手、三地圖、十回合、雙方位置，共六百場。mock 或 skip-final-test 可略過。十八場入池挑戰只決定長期池成員替換，一百八十場搜尋評估決定 fitness，六百場 Final Test 作正式測試，三者各自保存證據。</a:t>
            </a:r>
          </a:p>
          <a:p>
            <a:endParaRPr/>
          </a:p>
          <a:p>
            <a:r>
              <a:t>來源：eagle/final_test.py；eagle/experiment.py:409-423；eagle/opponent_pool.py:217-430。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python -m eagle.fixed_evaluation 只讀取 completed run 的明確指定世代，不缺代替代、不用 run-wide best 取代 snapshot 代表。每位代表重編與 Integration，不呼叫 LLM。protocol 記錄對手、地圖 hash、tick cap、scoring 與 runtime source identity。缺場或錯誤矩陣的 aggregate score 與 win rate 為 null 並 nonzero exit。mean_match_score 是不加權 benchmark 平均，不能直接當搜尋 fitness。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docs/evaluation/evaluation_pipeline.md:160-166</a:t>
            </a:r>
          </a:p>
          <a:p>
            <a:r>
              <a:t>eagle/fixed_evaluation.py:1-170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時間來源以已提交 generation timing 與 run records 為準，不能將 partial terminal output 當單代耗時。當對手情境改變，search fitness 的跨代上升並不能單獨證明一般化能力。比較現行多主機串流與先前排程時，需要相同模型、硬體、seed、候選規模與失敗條件下的獨立速度實驗。實作文件尚無這組 live benchmark，不能報出加速比。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docs/evaluation/game_performance.md:42-57</a:t>
            </a:r>
          </a:p>
          <a:p>
            <a:r>
              <a:t>docs/artifacts/timing_schema.md:1-65</a:t>
            </a:r>
          </a:p>
          <a:p>
            <a:r>
              <a:t>docs/implementation/current_status.md:21-34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GUI 提供 config parsing 支持的固定選項，儲存前驗證並原子寫入，觀察比賽不改變 fitness。Monitor 從 manifest 和最新已提交 generation 讀取，不控制實驗。離線分析的 generation 指倖存快照世代，birth_generation 才是候選出生時間。使用者可以從這些工具回查分數、行為與 LLM evidence，無需改動 canonical search artifacts。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docs/implementation/current_status.md:42-66</a:t>
            </a:r>
          </a:p>
          <a:p>
            <a:r>
              <a:t>docs/architecture/evolutionary_flow.md:169-200</a:t>
            </a:r>
          </a:p>
          <a:p>
            <a:r>
              <a:t>eagle/analysis/report.py:1-130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這頁是目前 checked-in config 的具體範例，不是所有模式的預設。頂層 model 為 Qwen 3.5-9B，含本地 managed primary 與一個外部 additional endpoint；機器路徑與位址需配合實際環境。bootstrap_backend 為 mistral、framework.model 為 mistral-small-latest。此配置示範完整流程的實際連接，並不宣稱本次已啟動或完成這組實驗。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configs/framework_coach.yaml:1-98</a:t>
            </a:r>
          </a:p>
          <a:p>
            <a:r>
              <a:t>eagle/config.py:580-658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模式：framework_slots / local；population 10；G1–20；self_play / tournament-v1；搜尋 180 場／candidate；Final Test 600 場／run。</a:t>
            </a:r>
          </a:p>
          <a:p>
            <a:r>
              <a:t>批次與 run：{"columns":["cohort","seed","run_id","generations_completed","generations_target","final_test_completed","final_test_target","status"],"rows":[{"cohort":"上次","seed":8,"run_id":"20261019_152601_037528","generations_completed":20,"generations_target":20,"final_test_completed":600,"final_test_target":600,"status":"complete"},{"cohort":"上次","seed":9,"run_id":"20261019_182037_312877","generations_completed":20,"generations_target":20,"final_test_completed":600,"final_test_target":600,"status":"complete"},{"cohort":"上次","seed":10,"run_id":"20261019_103405_871333","generations_completed":20,"generations_target":20,"final_test_completed":600,"final_test_target":600,"status":"complete"},{"cohort":"上次","seed":11,"run_id":"20261020_135403_027378","generations_completed":20,"generations_target":20,"final_test_completed":600,"final_test_target":600,"status":"complete"},{"cohort":"上次","seed":12,"run_id":"20261020_170514_392422","generations_completed":20,"generations_target":20,"final_test_completed":600,"final_test_target":600,"status":"complete"},{"cohort":"上次","seed":13,"run_id":"20261020_195907_969170","generations_completed":20,"generations_target":20,"final_test_completed":600,"final_test_target":600,"status":"complete"},{"cohort":"本次","seed":8,"run_id":"20261021_002848_496277","generations_completed":20,"generations_target":20,"final_test_completed":600,"final_test_target":600,"status":"complete"},{"cohort":"本次","seed":9,"run_id":"20261021_034914_985024","generations_completed":20,"generations_target":20,"final_test_completed":600,"final_test_target":600,"status":"complete"},{"cohort":"本次","seed":10,"run_id":"20261021_074505_348782","generations_completed":20,"generations_target":20,"final_test_completed":600,"final_test_target":600,"status":"complete"},{"cohort":"本次","seed":11,"run_id":"20261021_131355_062329","generations_completed":20,"generations_target":20,"final_test_completed":600,"final_test_target":600,"status":"complete"},{"cohort":"本次","seed":12,"run_id":"20261021_165442_013504","generations_completed":20,"generations_target":20,"final_test_completed":600,"final_test_target":600,"status":"complete"},{"cohort":"本次","seed":13,"run_id":"20261021_202021_187555","generations_completed":20,"generations_target":20,"final_test_completed":600,"final_test_target":600,"status":"complete"}],"reported_completed_runs":12,"reported_pending_runs":0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指標：G20 population best、population mean、population sd、semantic unique。</a:t>
            </a:r>
          </a:p>
          <a:p>
            <a:r>
              <a:t>{"previous":{"runs":6,"rows":[{"seed":8,"best":5.592004,"population_mean":4.306859,"population_sd":0.675312,"semantic_unique":1,"population_size":10},{"seed":9,"best":25.732783,"population_mean":24.711095,"population_sd":0.690845,"semantic_unique":2,"population_size":10},{"seed":10,"best":-32.036904,"population_mean":-38.78931,"population_sd":3.609358,"semantic_unique":2,"population_size":10},{"seed":11,"best":10.988062,"population_mean":9.419064,"population_sd":0.695889,"semantic_unique":1,"population_size":10},{"seed":12,"best":6.760507,"population_mean":5.639454,"population_sd":0.698418,"semantic_unique":1,"population_size":10},{"seed":13,"best":18.267322,"population_mean":15.719177,"population_sd":1.029331,"semantic_unique":4,"population_size":10}],"mean_best":5.883962333333334,"semantic_unique_counts":[1,2,2,1,1,4]},"current_completed":{"runs":6,"rows":[{"seed":8,"best":-3.341748,"population_mean":-5.261612,"population_sd":0.801493,"semantic_unique":3,"population_size":10},{"seed":9,"best":22.99951,"population_mean":21.125998,"population_sd":1.072581,"semantic_unique":1,"population_size":10},{"seed":10,"best":-32.033214,"population_mean":-38.787987,"population_sd":3.612801,"semantic_unique":2,"population_size":10},{"seed":11,"best":13.117691,"population_mean":12.466486,"population_sd":0.306807,"semantic_unique":1,"population_size":10},{"seed":12,"best":8.560747,"population_mean":7.885555,"population_sd":0.410018,"semantic_unique":1,"population_size":10},{"seed":13,"best":22.949003,"population_mean":21.969302,"population_sd":0.39363,"semantic_unique":5,"population_size":10}],"mean_best":5.375331500000001,"semantic_unique_counts":[3,1,2,1,1,5]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各世代 population best；世代為 G0、G5、G10、G15、G20。</a:t>
            </a:r>
          </a:p>
          <a:p>
            <a:r>
              <a:t>{"columns":["seed","cohort","g0","g5","g10","g15","g20"],"rows":[{"seed":8,"cohort":"上次","g0":-57.327551,"g5":-1.36018,"g10":6.183734,"g15":5.123898,"g20":5.592004},{"seed":9,"cohort":"上次","g0":-71.713681,"g5":-58.546765,"g10":-18.482364,"g15":22.950039,"g20":25.732783},{"seed":10,"cohort":"上次","g0":-70.591722,"g5":-49.131152,"g10":-41.481331,"g15":-14.999246,"g20":-32.036904},{"seed":11,"cohort":"上次","g0":-69.303636,"g5":4.585921,"g10":24.209648,"g15":22.449908,"g20":10.988062},{"seed":12,"cohort":"上次","g0":-70.456543,"g5":0.009543,"g10":9.67842,"g15":23.497715,"g20":6.760507},{"seed":13,"cohort":"上次","g0":-70.967267,"g5":-11.476352,"g10":-2.79877,"g15":-5.854624,"g20":18.267322},{"seed":8,"cohort":"本次","g0":-57.338081,"g5":-1.107881,"g10":5.642987,"g15":5.716487,"g20":-3.341748},{"seed":9,"cohort":"本次","g0":-71.712625,"g5":-58.571535,"g10":-19.243351,"g15":22.495612,"g20":22.99951},{"seed":10,"cohort":"本次","g0":-70.590025,"g5":-49.136225,"g10":-41.492792,"g15":-15.00325,"g20":-32.033214},{"seed":11,"cohort":"本次","g0":-69.299692,"g5":7.34023,"g10":20.63283,"g15":24.229256,"g20":13.117691},{"seed":12,"cohort":"本次","g0":-70.450812,"g5":0.006855,"g10":12.554927,"g15":24.649235,"g20":8.560747},{"seed":13,"cohort":"本次","g0":-70.96479,"g5":-11.474718,"g10":-3.014888,"g15":1.579132,"g20":22.949003}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Final Test：10 opponents × 3 maps × 10 games/side = 600 matches/run。W=勝、D=和、L=負、E=錯誤；勝率=勝／總場數。</a:t>
            </a:r>
          </a:p>
          <a:p>
            <a:r>
              <a:t>{"protocol_matches_per_run":600,"columns":["cohort","runs","wins","losses","draws","errors","matches","aggregate_win_rate_percent"],"cohorts":[{"cohort":"上次","runs":6,"wins":1164,"draws":152,"losses":2284,"errors":0,"matches":3600,"aggregate_win_rate_percent":32.33},{"cohort":"本次","runs":6,"wins":1122,"draws":148,"losses":2330,"errors":0,"matches":3600,"aggregate_win_rate_percent":31.17}],"source_note":"runs/&lt;run_id&gt;/final_test/final_test_summary.json: table, total_matches"}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兩批各 seed 8–13；每個對手為 6 runs × 60 matches = 360 matches。</a:t>
            </a:r>
          </a:p>
          <a:p>
            <a:r>
              <a:t>{"previous":[{"opponent":"passive","wins":300,"draws":60,"losses":0,"errors":0,"matches":360},{"opponent":"random","wins":328,"draws":30,"losses":2,"errors":0,"matches":360},{"opponent":"randombias","wins":300,"draws":22,"losses":38,"errors":0,"matches":360},{"opponent":"lightrush","wins":50,"draws":10,"losses":300,"errors":0,"matches":360},{"opponent":"heavyrush","wins":130,"draws":0,"losses":230,"errors":0,"matches":360},{"opponent":"workerrush","wins":40,"draws":10,"losses":310,"errors":0,"matches":360},{"opponent":"allinbot","wins":6,"draws":5,"losses":349,"errors":0,"matches":360},{"opponent":"mayari","wins":0,"draws":15,"losses":345,"errors":0,"matches":360},{"opponent":"coac","wins":10,"draws":0,"losses":350,"errors":0,"matches":360},{"opponent":"tma","wins":0,"draws":0,"losses":360,"errors":0,"matches":360}],"current":[{"opponent":"passive","wins":300,"draws":60,"losses":0,"errors":0,"matches":360},{"opponent":"random","wins":329,"draws":31,"losses":0,"errors":0,"matches":360},{"opponent":"randombias","wins":292,"draws":32,"losses":36,"errors":0,"matches":360},{"opponent":"lightrush","wins":60,"draws":0,"losses":300,"errors":0,"matches":360},{"opponent":"heavyrush","wins":100,"draws":0,"losses":260,"errors":0,"matches":360},{"opponent":"workerrush","wins":30,"draws":10,"losses":320,"errors":0,"matches":360},{"opponent":"allinbot","wins":1,"draws":4,"losses":355,"errors":0,"matches":360},{"opponent":"mayari","wins":0,"draws":11,"losses":349,"errors":0,"matches":360},{"opponent":"coac","wins":10,"draws":0,"losses":350,"errors":0,"matches":360},{"opponent":"tma","wins":0,"draws":0,"losses":360,"errors":0,"matches":360}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指標：G20 semantic unique；population 10；三張地圖 × 三個階段。</a:t>
            </a:r>
          </a:p>
          <a:p>
            <a:r>
              <a:t>{"previous":[1,2,2,1,1,4],"current":[3,1,2,1,1,5]}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時間：搜尋 wall time 為 G0 開始至 G20 完成；G0 為該代 duration；G1–20 為世代 duration 加總；Final Test 為 600 場對戰的時間跨度，排除 compilation 與 Integration。單位 seconds，表格四捨五入至整秒。</a:t>
            </a:r>
          </a:p>
          <a:p>
            <a:r>
              <a:t>{"available":true,"rows":[{"cohort":"上次","seed":8,"run_id":"20261019_152601_037528","status":"complete","generations_completed":20,"search_wall_seconds":10374.866,"initialization_seconds":522.792,"evolution_seconds":9848.488,"final_test_seconds":99.512,"wins":239,"draws":13,"losses":348,"errors":0,"matches":600},{"cohort":"上次","seed":9,"run_id":"20261019_182037_312877","status":"complete","generations_completed":20,"search_wall_seconds":12257.945,"initialization_seconds":497.646,"evolution_seconds":11755.547,"final_test_seconds":119.06,"wins":251,"draws":1,"losses":348,"errors":0,"matches":600},{"cohort":"上次","seed":10,"run_id":"20261019_103405_871333","status":"complete","generations_completed":20,"search_wall_seconds":17362.051,"initialization_seconds":515.172,"evolution_seconds":16843.476,"final_test_seconds":150.677,"wins":79,"draws":97,"losses":424,"errors":0,"matches":600},{"cohort":"上次","seed":11,"run_id":"20261020_135403_027378","status":"complete","generations_completed":20,"search_wall_seconds":11343.296,"initialization_seconds":570.849,"evolution_seconds":10771.148,"final_test_seconds":125.726,"wins":225,"draws":17,"losses":358,"errors":0,"matches":600},{"cohort":"上次","seed":12,"run_id":"20261020_170514_392422","status":"complete","generations_completed":20,"search_wall_seconds":10308.799,"initialization_seconds":498.24,"evolution_seconds":9809.485,"final_test_seconds":122.554,"wins":198,"draws":19,"losses":383,"errors":0,"matches":600},{"cohort":"上次","seed":13,"run_id":"20261020_195907_969170","status":"complete","generations_completed":20,"search_wall_seconds":12509.009,"initialization_seconds":487.231,"evolution_seconds":12020.596,"final_test_seconds":92.874,"wins":172,"draws":5,"losses":423,"errors":0,"matches":600},{"cohort":"本次","seed":8,"run_id":"20261021_002848_496277","status":"complete","generations_completed":20,"search_wall_seconds":11907.924,"initialization_seconds":554.364,"evolution_seconds":11351.931,"final_test_seconds":116.34,"wins":209,"draws":3,"losses":388,"errors":0,"matches":600},{"cohort":"本次","seed":9,"run_id":"20261021_034914_985024","status":"complete","generations_completed":20,"search_wall_seconds":14015.655,"initialization_seconds":561.888,"evolution_seconds":13451.897,"final_test_seconds":132.173,"wins":210,"draws":4,"losses":386,"errors":0,"matches":600},{"cohort":"本次","seed":10,"run_id":"20261021_074505_348782","status":"complete","generations_completed":20,"search_wall_seconds":19553.744,"initialization_seconds":561.167,"evolution_seconds":18989.792,"final_test_seconds":173.538,"wins":79,"draws":97,"losses":424,"errors":0,"matches":600},{"cohort":"本次","seed":11,"run_id":"20261021_131355_062329","status":"complete","generations_completed":20,"search_wall_seconds":13098.014,"initialization_seconds":558.229,"evolution_seconds":12536.799,"final_test_seconds":146.619,"wins":228,"draws":15,"losses":357,"errors":0,"matches":600},{"cohort":"本次","seed":12,"run_id":"20261021_165442_013504","status":"complete","generations_completed":20,"search_wall_seconds":12183.715,"initialization_seconds":566.996,"evolution_seconds":11614.279,"final_test_seconds":152.023,"wins":179,"draws":26,"losses":395,"errors":0,"matches":600},{"cohort":"本次","seed":13,"run_id":"20261021_202021_187555","status":"complete","generations_completed":20,"search_wall_seconds":14174.662,"initialization_seconds":549.497,"evolution_seconds":13622.763,"final_test_seconds":102.667,"wins":217,"draws":3,"losses":380,"errors":0,"matches":600}],"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sequences"},"source":{"thread_id":"01a1532f-8c1e-7d52-9e39-db06a38b5812","host":"remote-control:env_e_6a8460e4e7d0832ebe87dbd74cff01a5","artifact_root":"/home/mhlab/EAGLE","snapshot_label":"2026-10-22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來源：source_report.md，§2.2。2026/10/22–10/28 整理；結果為 10/24 歷史索引快照。沿用 EAGLE_20261022_opponent_pool_data_only.pptx 版型。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412294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來源：source_report.md，§2.4。2026/10/22–10/28 整理；結果為 10/24 歷史索引快照。沿用 EAGLE_20261022_opponent_pool_data_only.pptx 版型。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440448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來源：source_report.md，§2.5、5.3。2026/10/22–10/28 整理；結果為 10/24 歷史索引快照。沿用 EAGLE_20261022_opponent_pool_data_only.pptx 版型。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5390182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來源：source_report.md，完成度與反思邊界。2026/10/29 使用者提供的 run 彙整快照，未重新取得原始 run 檔案。</a:t>
            </a:r>
          </a:p>
          <a:p>
            <a:r>
              <a:t>完整來源與遠端 Config 定位：Meeting/20261029_experiment_comparison/source_report.md。20 代差值與平均保留來源精度。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8865475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來源：source_report.md，20 代配對結果。2026/10/29 使用者提供的 run 彙整快照，未重新取得原始 run 檔案。</a:t>
            </a:r>
          </a:p>
          <a:p>
            <a:r>
              <a:t>完整來源與遠端 Config 定位：Meeting/20261029_experiment_comparison/source_report.md。20 代差值與平均保留來源精度。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377631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來源：source_report.md，20 代 Fitness 圖。2026/10/29 使用者提供的 run 彙整快照，未重新取得原始 run 檔案。</a:t>
            </a:r>
          </a:p>
          <a:p>
            <a:r>
              <a:t>完整來源與遠端 Config 定位：Meeting/20261029_experiment_comparison/source_report.md。20 代差值與平均保留來源精度。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027218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來源：source_report.md，20 代 Final Test。2026/10/29 使用者提供的 run 彙整快照，未重新取得原始 run 檔案。</a:t>
            </a:r>
          </a:p>
          <a:p>
            <a:r>
              <a:t>完整來源與遠端 Config 定位：Meeting/20261029_experiment_comparison/source_report.md。20 代差值與平均保留來源精度。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779536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來源：source_report.md，50 代完整資料。2026/10/29 使用者提供的 run 彙整快照，未重新取得原始 run 檔案。</a:t>
            </a:r>
          </a:p>
          <a:p>
            <a:r>
              <a:t>完整來源與遠端 Config 定位：Meeting/20261029_experiment_comparison/source_report.md。20 代差值與平均保留來源精度。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3784334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來源：source_report.md，50 代勝率與耗時。2026/10/29 使用者提供的 run 彙整快照，未重新取得原始 run 檔案。</a:t>
            </a:r>
          </a:p>
          <a:p>
            <a:r>
              <a:t>完整來源與遠端 Config 定位：Meeting/20261029_experiment_comparison/source_report.md。20 代差值與平均保留來源精度。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1446075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來源：source_report.md，未完成資料與判讀。2026/10/29 使用者提供的 run 彙整快照，未重新取得原始 run 檔案。</a:t>
            </a:r>
          </a:p>
          <a:p>
            <a:r>
              <a:t>完整來源與遠端 Config 定位：Meeting/20261029_experiment_comparison/source_report.md。20 代差值與平均保留來源精度。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925456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來源：Meeting/20261021_current_workflow/stability_report_data.json（2026-10-22 歷史遠端快照，包含兩批完整六 Seeds）；reports/1021_framework_stability_comparison.md；Meeting/20261029_experiment_comparison/source_report.md（最近 Run 的 2026-10-29 彙整）。最遠標籤依 28ea6606 之前 eagle/operators/selection.py 的 maximum-distance 規則及 Run 日期判定，非當次重新讀取遠端 Run。最近完整精度來自遠端聊天「整理三版實驗數據」01a18364-c2a6-7f82-9103-a981d2cf4439 的逐 Seed 輸出。兩批最遠分開比較，未將 12 Runs 視為獨立 Seeds。計分率定義為 (W+0.5D)/N。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849642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來源：Meeting/20261021_current_workflow/stability_report_data.json（2026-10-22 歷史遠端快照，包含兩批完整六 Seeds）；reports/1021_framework_stability_comparison.md；Meeting/20261029_experiment_comparison/source_report.md（最近 Run 的 2026-10-29 彙整）。最遠標籤依 28ea6606 之前 eagle/operators/selection.py 的 maximum-distance 規則及 Run 日期判定，非當次重新讀取遠端 Run。最近完整精度來自遠端聊天「整理三版實驗數據」01a18364-c2a6-7f82-9103-a981d2cf4439 的逐 Seed 輸出。兩批最遠分開比較，未將 12 Runs 視為獨立 Seeds。計分率定義為 (W+0.5D)/N。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5506909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來源：Meeting/20261021_current_workflow/stability_report_data.json（2026-10-22 歷史遠端快照，包含兩批完整六 Seeds）；reports/1021_framework_stability_comparison.md；Meeting/20261029_experiment_comparison/source_report.md（最近 Run 的 2026-10-29 彙整）。最遠標籤依 28ea6606 之前 eagle/operators/selection.py 的 maximum-distance 規則及 Run 日期判定，非當次重新讀取遠端 Run。最近完整精度來自遠端聊天「整理三版實驗數據」01a18364-c2a6-7f82-9103-a981d2cf4439 的逐 Seed 輸出。兩批最遠分開比較，未將 12 Runs 視為獨立 Seeds。計分率定義為 (W+0.5D)/N。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460352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來源：Meeting/20261021_current_workflow/stability_report_data.json（2026-10-22 歷史遠端快照，包含兩批完整六 Seeds）；reports/1021_framework_stability_comparison.md；Meeting/20261029_experiment_comparison/source_report.md（最近 Run 的 2026-10-29 彙整）。最遠標籤依 28ea6606 之前 eagle/operators/selection.py 的 maximum-distance 規則及 Run 日期判定，非當次重新讀取遠端 Run。最近完整精度來自遠端聊天「整理三版實驗數據」01a18364-c2a6-7f82-9103-a981d2cf4439 的逐 Seed 輸出。兩批最遠分開比較，未將 12 Runs 視為獨立 Seeds。計分率定義為 (W+0.5D)/N。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6734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2F34C9E6-C370-4CE6-8C49-57861F01F24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476500" y="2762250"/>
            <a:ext cx="10972800" cy="1333500"/>
          </a:xfrm>
        </p:spPr>
        <p:txBody>
          <a:bodyPr anchor="ctr">
            <a:noAutofit/>
          </a:bodyPr>
          <a:lstStyle/>
          <a:p>
            <a:pPr algn="ctr">
              <a:buNone/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7A0C5AD2-9560-46CF-A557-9D96775B7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0" y="4429125"/>
            <a:ext cx="10210800" cy="952500"/>
          </a:xfrm>
        </p:spPr>
        <p:txBody>
          <a:bodyPr anchor="ctr">
            <a:noAutofit/>
          </a:bodyPr>
          <a:lstStyle/>
          <a:p>
            <a:pPr algn="ctr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E3969E06-0C81-48D2-BB37-515771E13DC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476500" y="3238500"/>
            <a:ext cx="10972800" cy="1238250"/>
          </a:xfrm>
        </p:spPr>
        <p:txBody>
          <a:bodyPr anchor="ctr">
            <a:noAutofit/>
          </a:bodyPr>
          <a:lstStyle/>
          <a:p>
            <a:pPr algn="ctr">
              <a:buNone/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2">
            <a:extLst>
              <a:ext uri="{FF2B5EF4-FFF2-40B4-BE49-F238E27FC236}">
                <a16:creationId xmlns:a16="http://schemas.microsoft.com/office/drawing/2014/main" id="{590865AA-9D35-4748-91A3-B387D561B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4714875"/>
            <a:ext cx="9829800" cy="857250"/>
          </a:xfrm>
        </p:spPr>
        <p:txBody>
          <a:bodyPr anchor="t">
            <a:noAutofit/>
          </a:bodyPr>
          <a:lstStyle/>
          <a:p>
            <a:pPr algn="l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按一下以新增章節說明</a:t>
            </a: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6EC4DF72-535F-4440-B07D-46BAD5D2A2A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51353937-B2B6-48C4-A2B5-2F27B15E7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92425B3F-3430-4EDE-B5B3-73C027E72E1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13068300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3A4791D8-472B-4CB1-9BF5-68D6DDA5E08C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302C0C6D-C490-4DDF-92D9-E216E08E1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0892CF96-6BB8-469E-8C05-16E66270671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6305550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00538733-DF1C-4D96-92B6-38724A005A9A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8191500" y="2619375"/>
            <a:ext cx="6305550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C4DD0E43-2CD7-44D8-A8DE-10D092170A6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076D8F65-D3F7-4349-B3FE-19769F629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E2F427F0-C955-46A6-9858-9A50C0C635E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571750"/>
            <a:ext cx="6305550" cy="619125"/>
          </a:xfrm>
        </p:spPr>
        <p:txBody>
          <a:bodyPr anchor="t">
            <a:noAutofit/>
          </a:bodyPr>
          <a:lstStyle/>
          <a:p>
            <a:pPr algn="l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5" name="EAGLE_4">
            <a:extLst>
              <a:ext uri="{FF2B5EF4-FFF2-40B4-BE49-F238E27FC236}">
                <a16:creationId xmlns:a16="http://schemas.microsoft.com/office/drawing/2014/main" id="{3BB99614-5410-42D4-8D56-3C67339DE590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1428750" y="3476625"/>
            <a:ext cx="6305550" cy="404812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3">
            <a:extLst>
              <a:ext uri="{FF2B5EF4-FFF2-40B4-BE49-F238E27FC236}">
                <a16:creationId xmlns:a16="http://schemas.microsoft.com/office/drawing/2014/main" id="{A31AD1B3-6BB9-4504-B9C5-087515F7D2D4}"/>
              </a:ext>
            </a:extLst>
          </p:cNvPr>
          <p:cNvSpPr>
            <a:spLocks noGrp="1"/>
          </p:cNvSpPr>
          <p:nvPr>
            <p:ph idx="5"/>
          </p:nvPr>
        </p:nvSpPr>
        <p:spPr>
          <a:xfrm>
            <a:off x="8191500" y="2571750"/>
            <a:ext cx="6305550" cy="619125"/>
          </a:xfrm>
        </p:spPr>
        <p:txBody>
          <a:bodyPr anchor="t">
            <a:noAutofit/>
          </a:bodyPr>
          <a:lstStyle/>
          <a:p>
            <a:pPr algn="l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7" name="EAGLE_5">
            <a:extLst>
              <a:ext uri="{FF2B5EF4-FFF2-40B4-BE49-F238E27FC236}">
                <a16:creationId xmlns:a16="http://schemas.microsoft.com/office/drawing/2014/main" id="{31D81A76-EB56-426E-8AAB-C05D479E14FD}"/>
              </a:ext>
            </a:extLst>
          </p:cNvPr>
          <p:cNvSpPr>
            <a:spLocks noGrp="1"/>
          </p:cNvSpPr>
          <p:nvPr>
            <p:ph idx="5"/>
          </p:nvPr>
        </p:nvSpPr>
        <p:spPr>
          <a:xfrm>
            <a:off x="8191500" y="3476625"/>
            <a:ext cx="6305550" cy="404812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三欄內容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D22686DD-6022-4F4D-883C-A3A2AE4FE63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6D6AF434-5A04-42F0-BBFA-BC92C5799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FEB69765-384F-41D2-A24F-900B0409C29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4038600" cy="4905375"/>
          </a:xfrm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BB259B69-1EC0-4318-8F78-3881E3FD7476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5943600" y="2619375"/>
            <a:ext cx="4038600" cy="4905375"/>
          </a:xfrm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4">
            <a:extLst>
              <a:ext uri="{FF2B5EF4-FFF2-40B4-BE49-F238E27FC236}">
                <a16:creationId xmlns:a16="http://schemas.microsoft.com/office/drawing/2014/main" id="{86B9ECF8-06DD-4853-A29A-64E7D62F27ED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10458450" y="2619375"/>
            <a:ext cx="4038600" cy="4905375"/>
          </a:xfrm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圖片及標題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93752F55-AC4A-40BE-B03B-0C040D71840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8B7D0469-A4AB-493F-ACBF-E8CB73C3A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9089290D-C95F-4404-8DFC-D4901DA1C1B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2000250" y="2476500"/>
            <a:ext cx="11925300" cy="461962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D1E03D6F-4B50-441D-9B62-7C7CF72080CE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2000250" y="7334250"/>
            <a:ext cx="11925300" cy="666750"/>
          </a:xfrm>
        </p:spPr>
        <p:txBody>
          <a:bodyPr anchor="t">
            <a:noAutofit/>
          </a:bodyPr>
          <a:lstStyle/>
          <a:p>
            <a:pPr algn="l">
              <a:buNone/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按一下以新增圖片說明</a:t>
            </a: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內容與圖片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4E1AFFBC-8DD7-4858-BE9E-DF7B9E84524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51E591F6-4009-4737-9C0E-3381B92FB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6277AB01-EE8D-4317-87D9-BEC820CCC3C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5476875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882ACEB2-431F-4BBF-8F1B-4F07F63851B4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7429500" y="2619375"/>
            <a:ext cx="7067550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表格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3F380ADE-E8BD-4361-83D4-34B395C514E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198BEF13-EEB7-4982-8834-382B045AD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72D86C95-69D7-4516-97E8-EFF008A8DEC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13068300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按一下以新增表格</a:t>
            </a: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圖表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1A30452A-65F7-44A3-A2FA-1CF1F34140E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C07D963E-74AF-48B2-8248-0768C947D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6394422A-37D3-4C97-96C5-AF5AE3C8DC4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13068300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按一下以新增圖表</a:t>
            </a: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僅標題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2F1A0662-494B-4627-BCEA-708F46AE5F7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5E4D67E8-1093-453A-AE8D-20B1DE405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圖解流程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D343BEC8-4FF7-4C42-BAEF-F0844276C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0"/>
            <a:ext cx="14706600" cy="781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>
              <a:ext uri="{FF2B5EF4-FFF2-40B4-BE49-F238E27FC236}">
                <a16:creationId xmlns:a16="http://schemas.microsoft.com/office/drawing/2014/main" id="{35EDE28A-4D88-4410-BC81-78BFC4EC6E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162050"/>
            <a:ext cx="14458950" cy="4762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選項與對應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54063884-4286-4891-AA5D-7C3B4BB71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0"/>
            <a:ext cx="14706600" cy="781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>
              <a:ext uri="{FF2B5EF4-FFF2-40B4-BE49-F238E27FC236}">
                <a16:creationId xmlns:a16="http://schemas.microsoft.com/office/drawing/2014/main" id="{F8EBEDCD-38A6-4A18-B993-A6629EBE8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162050"/>
            <a:ext cx="14458950" cy="4762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矩陣與規則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57CDC979-F021-4DD3-93B8-579161622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0"/>
            <a:ext cx="14706600" cy="781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>
              <a:ext uri="{FF2B5EF4-FFF2-40B4-BE49-F238E27FC236}">
                <a16:creationId xmlns:a16="http://schemas.microsoft.com/office/drawing/2014/main" id="{5941E485-AEDA-4F60-96AE-4786D06AA1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162050"/>
            <a:ext cx="14458950" cy="4762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結果圖表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910FE843-5F5D-44F6-8534-992DD6B04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0"/>
            <a:ext cx="14706600" cy="781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>
              <a:ext uri="{FF2B5EF4-FFF2-40B4-BE49-F238E27FC236}">
                <a16:creationId xmlns:a16="http://schemas.microsoft.com/office/drawing/2014/main" id="{E7F0DFC5-FDFC-411F-8AFF-0CCFD1D0DC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162050"/>
            <a:ext cx="14458950" cy="4762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較與表格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11908C93-299A-4840-A83C-8DFB8C769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0"/>
            <a:ext cx="14706600" cy="781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>
              <a:ext uri="{FF2B5EF4-FFF2-40B4-BE49-F238E27FC236}">
                <a16:creationId xmlns:a16="http://schemas.microsoft.com/office/drawing/2014/main" id="{732E4084-ECCD-42BC-B2EB-24E9E56DEF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162050"/>
            <a:ext cx="14458950" cy="4762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時間與證據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9A00B9BD-58B5-4528-8865-4DD50EE31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0"/>
            <a:ext cx="14706600" cy="781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>
              <a:ext uri="{FF2B5EF4-FFF2-40B4-BE49-F238E27FC236}">
                <a16:creationId xmlns:a16="http://schemas.microsoft.com/office/drawing/2014/main" id="{4DA766BB-A1C0-4031-B5CA-AB449914F2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162050"/>
            <a:ext cx="14458950" cy="4762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EAGLE">
    <p:bg>
      <p:bgPr>
        <a:blipFill>
          <a:blip r:embed="rId20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>
            <a:extLst>
              <a:ext uri="{FF2B5EF4-FFF2-40B4-BE49-F238E27FC236}">
                <a16:creationId xmlns:a16="http://schemas.microsoft.com/office/drawing/2014/main" id="{0E152619-68C8-48AB-83BB-EAB1D777767E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D5F19631-3B5A-4A4E-82B6-C007DD1258D7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None/>
        <a:defRPr sz="2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marL="685800" indent="-228600" algn="l">
        <a:lnSpc>
          <a:spcPct val="90000"/>
        </a:lnSpc>
        <a:spcBef>
          <a:spcPts val="500"/>
        </a:spcBef>
        <a:buNone/>
        <a:defRPr sz="24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marL="1143000" indent="-228600" algn="l">
        <a:lnSpc>
          <a:spcPct val="90000"/>
        </a:lnSpc>
        <a:spcBef>
          <a:spcPts val="500"/>
        </a:spcBef>
        <a:buNone/>
        <a:defRPr sz="20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marL="16002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marL="20574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marL="25146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marL="29718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marL="34290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marL="38862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marL="457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marL="914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marL="1371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marL="18288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marL="22860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marL="2743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marL="3200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marL="3657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1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Relationship Id="rId9" Type="http://schemas.openxmlformats.org/officeDocument/2006/relationships/chart" Target="../charts/char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3E36B5EA-7053-4260-A16E-9CF7F5C589B2}"/>
              </a:ext>
            </a:extLst>
          </p:cNvPr>
          <p:cNvCxnSpPr>
            <a:stCxn id="7" idx="1"/>
            <a:endCxn id="5" idx="1"/>
          </p:cNvCxnSpPr>
          <p:nvPr/>
        </p:nvCxnSpPr>
        <p:spPr>
          <a:xfrm flipV="1">
            <a:off x="7667625" y="2705100"/>
            <a:ext cx="0" cy="339090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47B59FE1-13D1-4011-8002-520163E0B1F2}"/>
              </a:ext>
            </a:extLst>
          </p:cNvPr>
          <p:cNvCxnSpPr>
            <a:stCxn id="6" idx="2"/>
            <a:endCxn id="7" idx="3"/>
          </p:cNvCxnSpPr>
          <p:nvPr/>
        </p:nvCxnSpPr>
        <p:spPr>
          <a:xfrm flipH="1">
            <a:off x="10810875" y="4895850"/>
            <a:ext cx="2238375" cy="1200150"/>
          </a:xfrm>
          <a:prstGeom prst="bentConnector5">
            <a:avLst>
              <a:gd name="adj1" fmla="val 0"/>
              <a:gd name="adj2" fmla="val 19048"/>
              <a:gd name="adj3" fmla="val 89787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接點: 肘形 7">
            <a:extLst>
              <a:ext uri="{FF2B5EF4-FFF2-40B4-BE49-F238E27FC236}">
                <a16:creationId xmlns:a16="http://schemas.microsoft.com/office/drawing/2014/main" id="{830FAF73-7307-403E-8F6D-E3B28971283F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0810875" y="2705100"/>
            <a:ext cx="666750" cy="169545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FD85D4CD-6594-4D5F-8BEF-5170D40C0697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EAGLE Opponent Pool 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40B768-1FD9-47D5-84C7-B58652D8B63E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以歷代策略維護對手池，再用凍結的 4＋6 名單評估候選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B806C9-EB6D-4698-9298-7CDEFECAD5C3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49530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離線演化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E87D5B-1891-4F8A-8C51-6FA3ED88BA4B}"/>
              </a:ext>
            </a:extLst>
          </p:cNvPr>
          <p:cNvSpPr>
            <a:spLocks noGrp="1"/>
          </p:cNvSpPr>
          <p:nvPr/>
        </p:nvSpPr>
        <p:spPr>
          <a:xfrm>
            <a:off x="723900" y="3295650"/>
            <a:ext cx="5619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MicroRTS Java agent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28E2ECB-B08A-42B5-A9C8-69E2BBF4A9CA}"/>
              </a:ext>
            </a:extLst>
          </p:cNvPr>
          <p:cNvSpPr>
            <a:spLocks noGrp="1"/>
          </p:cNvSpPr>
          <p:nvPr/>
        </p:nvSpPr>
        <p:spPr>
          <a:xfrm>
            <a:off x="7667625" y="220980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策略／控制基因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C6D7F78-E7F8-4077-80CA-9B015E4ADE13}"/>
              </a:ext>
            </a:extLst>
          </p:cNvPr>
          <p:cNvSpPr>
            <a:spLocks noGrp="1"/>
          </p:cNvSpPr>
          <p:nvPr/>
        </p:nvSpPr>
        <p:spPr>
          <a:xfrm>
            <a:off x="11477625" y="390525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28386D1-3E17-42B9-BAB1-F8557F2A5AEC}"/>
              </a:ext>
            </a:extLst>
          </p:cNvPr>
          <p:cNvSpPr>
            <a:spLocks noGrp="1"/>
          </p:cNvSpPr>
          <p:nvPr/>
        </p:nvSpPr>
        <p:spPr>
          <a:xfrm>
            <a:off x="7667625" y="560070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對戰證據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4115CF2-6145-49A1-8E0C-2CFDDED58308}"/>
              </a:ext>
            </a:extLst>
          </p:cNvPr>
          <p:cNvSpPr>
            <a:spLocks noGrp="1"/>
          </p:cNvSpPr>
          <p:nvPr/>
        </p:nvSpPr>
        <p:spPr>
          <a:xfrm>
            <a:off x="11477625" y="2552700"/>
            <a:ext cx="31432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生成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85A1FB-8093-4D03-8C62-FD35E9510EBD}"/>
              </a:ext>
            </a:extLst>
          </p:cNvPr>
          <p:cNvSpPr>
            <a:spLocks noGrp="1"/>
          </p:cNvSpPr>
          <p:nvPr/>
        </p:nvSpPr>
        <p:spPr>
          <a:xfrm>
            <a:off x="11763375" y="5467350"/>
            <a:ext cx="28575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評估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27D65CF-CC61-4C22-9C5A-39FC9A69BD70}"/>
              </a:ext>
            </a:extLst>
          </p:cNvPr>
          <p:cNvSpPr>
            <a:spLocks noGrp="1"/>
          </p:cNvSpPr>
          <p:nvPr/>
        </p:nvSpPr>
        <p:spPr>
          <a:xfrm>
            <a:off x="5869811" y="4019550"/>
            <a:ext cx="25717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反思與選擇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62DAEF6F-DA0C-402B-9D27-0A4879EF4CBB}"/>
              </a:ext>
            </a:extLst>
          </p:cNvPr>
          <p:cNvSpPr>
            <a:spLocks noGrp="1"/>
          </p:cNvSpPr>
          <p:nvPr/>
        </p:nvSpPr>
        <p:spPr>
          <a:xfrm>
            <a:off x="723900" y="4905375"/>
            <a:ext cx="4000500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對戰時直接執行 Java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4A01728-72E7-4E99-B7A9-4B02836A1988}"/>
              </a:ext>
            </a:extLst>
          </p:cNvPr>
          <p:cNvSpPr>
            <a:spLocks noGrp="1"/>
          </p:cNvSpPr>
          <p:nvPr/>
        </p:nvSpPr>
        <p:spPr>
          <a:xfrm>
            <a:off x="723900" y="5524500"/>
            <a:ext cx="54292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演化與 LLM 工作在對戰之前完成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8958F5A-A8FF-467F-935F-D3E25AEEEC64}"/>
              </a:ext>
            </a:extLst>
          </p:cNvPr>
          <p:cNvSpPr>
            <a:spLocks noGrp="1"/>
          </p:cNvSpPr>
          <p:nvPr/>
        </p:nvSpPr>
        <p:spPr>
          <a:xfrm>
            <a:off x="723900" y="6991350"/>
            <a:ext cx="47625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2026-10-21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820BACA-2B44-4349-99C8-E7D6A012510B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搜尋採 opponent pool；正式 Final Test 使用獨立的固定基準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0E152619-68C8-48AB-83BB-EAB1D777767E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D5F19631-3B5A-4A4E-82B6-C007DD1258D7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477942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F74C1727-0AFC-41B5-BF2B-6657D9D3C03A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4048125" y="7072313"/>
            <a:ext cx="9525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AF6746C6-49DC-46C7-92A8-FD3866D0E4D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429625" y="7072313"/>
            <a:ext cx="14763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544F57C4-FB87-4FD0-A88D-18DECDEED28D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2001500" y="5334000"/>
            <a:ext cx="0" cy="114300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1C1A05EB-D5DE-4EA2-8524-114E33C938EA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810625" y="4667250"/>
            <a:ext cx="1190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54C3DA10-56F1-4C1B-AACE-D201533BE95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4048125" y="4667250"/>
            <a:ext cx="9525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EAC01063-A94E-44FE-AF80-6BAB0DBC2997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2500313" y="3095625"/>
            <a:ext cx="928688" cy="10953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E6B28470-31DB-4435-A877-FEECA7BC8FFA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搜尋流程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65A3FB-C2FC-4903-8259-88F46C1CC4E9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目前搜尋協定：self_play ＋ tournament-v1 opponent pool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C6A8775-B611-4348-8F99-8867008778C8}"/>
              </a:ext>
            </a:extLst>
          </p:cNvPr>
          <p:cNvSpPr>
            <a:spLocks noGrp="1"/>
          </p:cNvSpPr>
          <p:nvPr/>
        </p:nvSpPr>
        <p:spPr>
          <a:xfrm>
            <a:off x="619125" y="1952625"/>
            <a:ext cx="14668500" cy="1381125"/>
          </a:xfrm>
          <a:prstGeom prst="roundRect">
            <a:avLst>
              <a:gd name="adj" fmla="val 11034"/>
            </a:avLst>
          </a:prstGeom>
          <a:solidFill>
            <a:srgbClr val="FAEDC6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0F2BCA68-F8A1-4888-B300-CAAB1FA3F2FC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5143500" cy="952500"/>
          </a:xfrm>
          <a:prstGeom prst="roundRect">
            <a:avLst>
              <a:gd name="adj" fmla="val 16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GPT 產生 Java framework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DCAF4C-66C9-4D41-95C8-BEB92A44D232}"/>
              </a:ext>
            </a:extLst>
          </p:cNvPr>
          <p:cNvSpPr>
            <a:spLocks noGrp="1"/>
          </p:cNvSpPr>
          <p:nvPr/>
        </p:nvSpPr>
        <p:spPr>
          <a:xfrm>
            <a:off x="6477000" y="2247900"/>
            <a:ext cx="74295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暫時人工由 ChatGPT</a:t>
            </a:r>
          </a:p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生成固定 framework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63E51E2-1577-47DA-8A5D-3778A3168486}"/>
              </a:ext>
            </a:extLst>
          </p:cNvPr>
          <p:cNvSpPr>
            <a:spLocks noGrp="1"/>
          </p:cNvSpPr>
          <p:nvPr/>
        </p:nvSpPr>
        <p:spPr>
          <a:xfrm>
            <a:off x="952500" y="4191000"/>
            <a:ext cx="3095625" cy="952500"/>
          </a:xfrm>
          <a:prstGeom prst="roundRect">
            <a:avLst>
              <a:gd name="adj" fmla="val 160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初始化 G0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十個內建對手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9C159341-272E-43CC-AD94-16C70EA0E9CB}"/>
              </a:ext>
            </a:extLst>
          </p:cNvPr>
          <p:cNvSpPr>
            <a:spLocks noGrp="1"/>
          </p:cNvSpPr>
          <p:nvPr/>
        </p:nvSpPr>
        <p:spPr>
          <a:xfrm>
            <a:off x="5000625" y="4191000"/>
            <a:ext cx="3810000" cy="952500"/>
          </a:xfrm>
          <a:prstGeom prst="roundRect">
            <a:avLst>
              <a:gd name="adj" fmla="val 16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候選初評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策略開始累積入池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89F8F0C-E75B-4A91-84CC-2693428B85FF}"/>
              </a:ext>
            </a:extLst>
          </p:cNvPr>
          <p:cNvSpPr>
            <a:spLocks noGrp="1"/>
          </p:cNvSpPr>
          <p:nvPr/>
        </p:nvSpPr>
        <p:spPr>
          <a:xfrm>
            <a:off x="10001250" y="4000500"/>
            <a:ext cx="4000500" cy="1333500"/>
          </a:xfrm>
          <a:prstGeom prst="roundRect">
            <a:avLst>
              <a:gd name="adj" fmla="val 11429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到期刷新對戰名單</a:t>
            </a:r>
          </a:p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en-US" altLang="zh-TW"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</a:t>
            </a:r>
            <a:r>
              <a:rPr lang="zh-TW" altLang="en-US"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固定保護＋</a:t>
            </a:r>
            <a:r>
              <a:rPr lang="en-US" altLang="zh-TW"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6 </a:t>
            </a:r>
            <a:r>
              <a:rPr lang="zh-TW" altLang="en-US"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池內抽選</a:t>
            </a:r>
          </a:p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父代重評、選擇與變異</a:t>
            </a:r>
            <a:endParaRPr sz="2100" b="1" dirty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DE577EEE-55EE-454D-B2BA-01B19A1E7EC7}"/>
              </a:ext>
            </a:extLst>
          </p:cNvPr>
          <p:cNvSpPr>
            <a:spLocks noGrp="1"/>
          </p:cNvSpPr>
          <p:nvPr/>
        </p:nvSpPr>
        <p:spPr>
          <a:xfrm>
            <a:off x="9906000" y="6477000"/>
            <a:ext cx="4191000" cy="1190625"/>
          </a:xfrm>
          <a:prstGeom prst="roundRect">
            <a:avLst>
              <a:gd name="adj" fmla="val 128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子代評估與倖存選擇</a:t>
            </a:r>
          </a:p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更新 opponent pool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8676B17-51CE-4AB4-B229-651FD22E1E51}"/>
              </a:ext>
            </a:extLst>
          </p:cNvPr>
          <p:cNvSpPr>
            <a:spLocks noGrp="1"/>
          </p:cNvSpPr>
          <p:nvPr/>
        </p:nvSpPr>
        <p:spPr>
          <a:xfrm>
            <a:off x="5000625" y="6572250"/>
            <a:ext cx="3429000" cy="1000125"/>
          </a:xfrm>
          <a:prstGeom prst="roundRect">
            <a:avLst>
              <a:gd name="adj" fmla="val 1523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停止條件？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880328FB-E974-45B8-99C7-56AB94389AA8}"/>
              </a:ext>
            </a:extLst>
          </p:cNvPr>
          <p:cNvSpPr>
            <a:spLocks noGrp="1"/>
          </p:cNvSpPr>
          <p:nvPr/>
        </p:nvSpPr>
        <p:spPr>
          <a:xfrm>
            <a:off x="952500" y="6572250"/>
            <a:ext cx="3095625" cy="1000125"/>
          </a:xfrm>
          <a:prstGeom prst="roundRect">
            <a:avLst>
              <a:gd name="adj" fmla="val 15238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E3970588-76E4-476B-9B97-FFC1641DE234}"/>
              </a:ext>
            </a:extLst>
          </p:cNvPr>
          <p:cNvCxnSpPr/>
          <p:nvPr/>
        </p:nvCxnSpPr>
        <p:spPr>
          <a:xfrm flipV="1">
            <a:off x="6715125" y="5715000"/>
            <a:ext cx="0" cy="85725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A623D54C-C71F-48F8-A08D-12AA7EE2E36E}"/>
              </a:ext>
            </a:extLst>
          </p:cNvPr>
          <p:cNvCxnSpPr/>
          <p:nvPr/>
        </p:nvCxnSpPr>
        <p:spPr>
          <a:xfrm>
            <a:off x="6715125" y="5715000"/>
            <a:ext cx="7715250" cy="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C86C4ECF-69EF-4005-BBED-1E6D03973788}"/>
              </a:ext>
            </a:extLst>
          </p:cNvPr>
          <p:cNvCxnSpPr/>
          <p:nvPr/>
        </p:nvCxnSpPr>
        <p:spPr>
          <a:xfrm flipV="1">
            <a:off x="14430375" y="4667250"/>
            <a:ext cx="0" cy="104775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4552E064-A9E8-4C33-A281-6FBFDA3842B2}"/>
              </a:ext>
            </a:extLst>
          </p:cNvPr>
          <p:cNvCxnSpPr/>
          <p:nvPr/>
        </p:nvCxnSpPr>
        <p:spPr>
          <a:xfrm flipH="1">
            <a:off x="14001750" y="4667250"/>
            <a:ext cx="428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7542D7CF-13D3-4F65-A1EC-D7938A7FA9F9}"/>
              </a:ext>
            </a:extLst>
          </p:cNvPr>
          <p:cNvSpPr>
            <a:spLocks noGrp="1"/>
          </p:cNvSpPr>
          <p:nvPr/>
        </p:nvSpPr>
        <p:spPr>
          <a:xfrm>
            <a:off x="6953250" y="5381625"/>
            <a:ext cx="2286000" cy="419100"/>
          </a:xfrm>
          <a:prstGeom prst="roundRect">
            <a:avLst>
              <a:gd name="adj" fmla="val 36364"/>
            </a:avLst>
          </a:prstGeom>
          <a:solidFill>
            <a:srgbClr val="FCF8F5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否：下一代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6B17936-3848-4DC8-90AE-C422EBE278D2}"/>
              </a:ext>
            </a:extLst>
          </p:cNvPr>
          <p:cNvSpPr>
            <a:spLocks noGrp="1"/>
          </p:cNvSpPr>
          <p:nvPr/>
        </p:nvSpPr>
        <p:spPr>
          <a:xfrm>
            <a:off x="4286250" y="6391275"/>
            <a:ext cx="666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是</a:t>
            </a:r>
          </a:p>
        </p:txBody>
      </p:sp>
      <p:sp>
        <p:nvSpPr>
          <p:cNvPr id="24" name="Slide Number">
            <a:extLst>
              <a:ext uri="{FF2B5EF4-FFF2-40B4-BE49-F238E27FC236}">
                <a16:creationId xmlns:a16="http://schemas.microsoft.com/office/drawing/2014/main" id="{D6E93E10-C4D3-484E-9A87-EBCCF7298648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21DF944-7A9D-4D27-A48D-EB462CF5E4C1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66355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43B10690-5523-45AE-8836-D771C669EB09}"/>
              </a:ext>
            </a:extLst>
          </p:cNvPr>
          <p:cNvCxnSpPr>
            <a:stCxn id="36" idx="3"/>
            <a:endCxn id="37" idx="1"/>
          </p:cNvCxnSpPr>
          <p:nvPr/>
        </p:nvCxnSpPr>
        <p:spPr>
          <a:xfrm>
            <a:off x="6429375" y="7715250"/>
            <a:ext cx="14287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4E06C15B-F031-404F-A615-90E517050F17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的有限選項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AAC6AA5-03CE-432B-9532-CFE5A1F9308C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slot 是固定 Java 裡的可替換位置；演化只改選值，Java 骨架保持固定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E7D5DE1-A134-4A05-A3AB-B7E70EF053A3}"/>
              </a:ext>
            </a:extLst>
          </p:cNvPr>
          <p:cNvSpPr>
            <a:spLocks noGrp="1"/>
          </p:cNvSpPr>
          <p:nvPr/>
        </p:nvSpPr>
        <p:spPr>
          <a:xfrm>
            <a:off x="714375" y="1857375"/>
            <a:ext cx="3143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槽位的意義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1BF7D9-BD92-43AC-8DF4-105A3AA85DF1}"/>
              </a:ext>
            </a:extLst>
          </p:cNvPr>
          <p:cNvSpPr>
            <a:spLocks noGrp="1"/>
          </p:cNvSpPr>
          <p:nvPr/>
        </p:nvSpPr>
        <p:spPr>
          <a:xfrm>
            <a:off x="4143375" y="1857375"/>
            <a:ext cx="6191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bundle 定義的合法選項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93F88F-2768-40CB-AB9A-E2B11DDDB2B8}"/>
              </a:ext>
            </a:extLst>
          </p:cNvPr>
          <p:cNvSpPr>
            <a:spLocks noGrp="1"/>
          </p:cNvSpPr>
          <p:nvPr/>
        </p:nvSpPr>
        <p:spPr>
          <a:xfrm>
            <a:off x="10668000" y="1857375"/>
            <a:ext cx="4476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候選保存的值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E95273-D4E4-46A8-8CEA-E00C94E60048}"/>
              </a:ext>
            </a:extLst>
          </p:cNvPr>
          <p:cNvSpPr>
            <a:spLocks noGrp="1"/>
          </p:cNvSpPr>
          <p:nvPr/>
        </p:nvSpPr>
        <p:spPr>
          <a:xfrm>
            <a:off x="714375" y="2714625"/>
            <a:ext cx="3143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integer｜工人數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416196A-EB44-4DA9-ACDF-C7363CCDDAEA}"/>
              </a:ext>
            </a:extLst>
          </p:cNvPr>
          <p:cNvSpPr>
            <a:spLocks noGrp="1"/>
          </p:cNvSpPr>
          <p:nvPr/>
        </p:nvSpPr>
        <p:spPr>
          <a:xfrm>
            <a:off x="714375" y="3181350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worker_target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D25D768-BB5C-4CFF-B1CC-8075EB103C66}"/>
              </a:ext>
            </a:extLst>
          </p:cNvPr>
          <p:cNvSpPr>
            <a:spLocks noGrp="1"/>
          </p:cNvSpPr>
          <p:nvPr/>
        </p:nvSpPr>
        <p:spPr>
          <a:xfrm>
            <a:off x="4143375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4BD67D7-7955-4948-9CD6-AF03A4D2936F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0B257BE-1196-4E85-9F86-0155F7E9F250}"/>
              </a:ext>
            </a:extLst>
          </p:cNvPr>
          <p:cNvSpPr>
            <a:spLocks noGrp="1"/>
          </p:cNvSpPr>
          <p:nvPr/>
        </p:nvSpPr>
        <p:spPr>
          <a:xfrm>
            <a:off x="5724525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0CF5508-07E8-477E-9DEF-EAF4BA104CDB}"/>
              </a:ext>
            </a:extLst>
          </p:cNvPr>
          <p:cNvSpPr>
            <a:spLocks noGrp="1"/>
          </p:cNvSpPr>
          <p:nvPr/>
        </p:nvSpPr>
        <p:spPr>
          <a:xfrm>
            <a:off x="6515100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404A9C6C-B8C9-4012-8EBF-116907F6E77F}"/>
              </a:ext>
            </a:extLst>
          </p:cNvPr>
          <p:cNvSpPr>
            <a:spLocks noGrp="1"/>
          </p:cNvSpPr>
          <p:nvPr/>
        </p:nvSpPr>
        <p:spPr>
          <a:xfrm>
            <a:off x="7305675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6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CC6903DF-C5BC-4546-9829-1A6E8378A782}"/>
              </a:ext>
            </a:extLst>
          </p:cNvPr>
          <p:cNvSpPr>
            <a:spLocks noGrp="1"/>
          </p:cNvSpPr>
          <p:nvPr/>
        </p:nvSpPr>
        <p:spPr>
          <a:xfrm>
            <a:off x="8096250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7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C166D244-5B2E-4CAC-B768-A41239AFACA6}"/>
              </a:ext>
            </a:extLst>
          </p:cNvPr>
          <p:cNvSpPr>
            <a:spLocks noGrp="1"/>
          </p:cNvSpPr>
          <p:nvPr/>
        </p:nvSpPr>
        <p:spPr>
          <a:xfrm>
            <a:off x="8886825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5235B6E-4565-441E-A7E7-C899FC07AE8D}"/>
              </a:ext>
            </a:extLst>
          </p:cNvPr>
          <p:cNvSpPr>
            <a:spLocks noGrp="1"/>
          </p:cNvSpPr>
          <p:nvPr/>
        </p:nvSpPr>
        <p:spPr>
          <a:xfrm>
            <a:off x="4143375" y="3486150"/>
            <a:ext cx="6191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min = 2，max = 8，step = 1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92608087-0510-45D6-82F9-FB53C588965B}"/>
              </a:ext>
            </a:extLst>
          </p:cNvPr>
          <p:cNvCxnSpPr/>
          <p:nvPr/>
        </p:nvCxnSpPr>
        <p:spPr>
          <a:xfrm>
            <a:off x="9953625" y="3171825"/>
            <a:ext cx="5238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994439AB-E7C0-4C0C-91D9-E3B5468D03E5}"/>
              </a:ext>
            </a:extLst>
          </p:cNvPr>
          <p:cNvSpPr>
            <a:spLocks noGrp="1"/>
          </p:cNvSpPr>
          <p:nvPr/>
        </p:nvSpPr>
        <p:spPr>
          <a:xfrm>
            <a:off x="10668000" y="2762250"/>
            <a:ext cx="447675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worker_target: 6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152AB9B-83A4-4768-82C6-26143034AA8C}"/>
              </a:ext>
            </a:extLst>
          </p:cNvPr>
          <p:cNvSpPr>
            <a:spLocks noGrp="1"/>
          </p:cNvSpPr>
          <p:nvPr/>
        </p:nvSpPr>
        <p:spPr>
          <a:xfrm>
            <a:off x="714375" y="4333875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number｜數值權重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A31F7B1-9A44-4E01-9FDF-D2FD54946C39}"/>
              </a:ext>
            </a:extLst>
          </p:cNvPr>
          <p:cNvSpPr>
            <a:spLocks noGrp="1"/>
          </p:cNvSpPr>
          <p:nvPr/>
        </p:nvSpPr>
        <p:spPr>
          <a:xfrm>
            <a:off x="714375" y="4800600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attack_weight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F889DC0B-E080-4D85-B3DF-442FBD365914}"/>
              </a:ext>
            </a:extLst>
          </p:cNvPr>
          <p:cNvSpPr>
            <a:spLocks noGrp="1"/>
          </p:cNvSpPr>
          <p:nvPr/>
        </p:nvSpPr>
        <p:spPr>
          <a:xfrm>
            <a:off x="4143375" y="4381500"/>
            <a:ext cx="9525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BA35C740-3415-4536-9626-6A5EF4D0A3EF}"/>
              </a:ext>
            </a:extLst>
          </p:cNvPr>
          <p:cNvSpPr>
            <a:spLocks noGrp="1"/>
          </p:cNvSpPr>
          <p:nvPr/>
        </p:nvSpPr>
        <p:spPr>
          <a:xfrm>
            <a:off x="5238750" y="4381500"/>
            <a:ext cx="9525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0.25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B98C8C25-FB1F-4BC8-A595-750C81831560}"/>
              </a:ext>
            </a:extLst>
          </p:cNvPr>
          <p:cNvSpPr>
            <a:spLocks noGrp="1"/>
          </p:cNvSpPr>
          <p:nvPr/>
        </p:nvSpPr>
        <p:spPr>
          <a:xfrm>
            <a:off x="6334125" y="4381500"/>
            <a:ext cx="9525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0.5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C2975582-48D0-4A7A-83AD-2115707C992A}"/>
              </a:ext>
            </a:extLst>
          </p:cNvPr>
          <p:cNvSpPr>
            <a:spLocks noGrp="1"/>
          </p:cNvSpPr>
          <p:nvPr/>
        </p:nvSpPr>
        <p:spPr>
          <a:xfrm>
            <a:off x="7429500" y="4381500"/>
            <a:ext cx="952500" cy="628650"/>
          </a:xfrm>
          <a:prstGeom prst="roundRect">
            <a:avLst>
              <a:gd name="adj" fmla="val 24242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0.75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21615F74-5FED-4A9F-BD8C-5F7AD47B857F}"/>
              </a:ext>
            </a:extLst>
          </p:cNvPr>
          <p:cNvSpPr>
            <a:spLocks noGrp="1"/>
          </p:cNvSpPr>
          <p:nvPr/>
        </p:nvSpPr>
        <p:spPr>
          <a:xfrm>
            <a:off x="8524875" y="4381500"/>
            <a:ext cx="9525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7F312F1-1AFB-4749-ADC9-2446346CE4B2}"/>
              </a:ext>
            </a:extLst>
          </p:cNvPr>
          <p:cNvSpPr>
            <a:spLocks noGrp="1"/>
          </p:cNvSpPr>
          <p:nvPr/>
        </p:nvSpPr>
        <p:spPr>
          <a:xfrm>
            <a:off x="4143375" y="5105400"/>
            <a:ext cx="6381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min = 0，max = 1，step = 0.25</a:t>
            </a: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D523D06A-A199-454C-9416-7D7F26AB52AF}"/>
              </a:ext>
            </a:extLst>
          </p:cNvPr>
          <p:cNvCxnSpPr/>
          <p:nvPr/>
        </p:nvCxnSpPr>
        <p:spPr>
          <a:xfrm>
            <a:off x="9953625" y="4791075"/>
            <a:ext cx="5238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74436FE5-3363-4D49-9009-7C2D116D07F9}"/>
              </a:ext>
            </a:extLst>
          </p:cNvPr>
          <p:cNvSpPr>
            <a:spLocks noGrp="1"/>
          </p:cNvSpPr>
          <p:nvPr/>
        </p:nvSpPr>
        <p:spPr>
          <a:xfrm>
            <a:off x="10668000" y="4381500"/>
            <a:ext cx="447675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attack_weight: 0.75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8EF0375-DA86-4E78-853D-BA7125440916}"/>
              </a:ext>
            </a:extLst>
          </p:cNvPr>
          <p:cNvSpPr>
            <a:spLocks noGrp="1"/>
          </p:cNvSpPr>
          <p:nvPr/>
        </p:nvSpPr>
        <p:spPr>
          <a:xfrm>
            <a:off x="714375" y="5953125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expression_choice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CC0E588-C1FC-4C7E-B65C-FAD3B1AC4DF6}"/>
              </a:ext>
            </a:extLst>
          </p:cNvPr>
          <p:cNvSpPr>
            <a:spLocks noGrp="1"/>
          </p:cNvSpPr>
          <p:nvPr/>
        </p:nvSpPr>
        <p:spPr>
          <a:xfrm>
            <a:off x="714375" y="6419850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攻擊目標 target_policy</a:t>
            </a: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049DA2C4-A5D8-43C4-8693-D89B045EF078}"/>
              </a:ext>
            </a:extLst>
          </p:cNvPr>
          <p:cNvSpPr>
            <a:spLocks noGrp="1"/>
          </p:cNvSpPr>
          <p:nvPr/>
        </p:nvSpPr>
        <p:spPr>
          <a:xfrm>
            <a:off x="4143375" y="6000750"/>
            <a:ext cx="1714500" cy="666750"/>
          </a:xfrm>
          <a:prstGeom prst="roundRect">
            <a:avLst>
              <a:gd name="adj" fmla="val 22857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最近敵人</a:t>
            </a: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6B8543C3-01F3-4E7C-AF87-ED7DA87D379A}"/>
              </a:ext>
            </a:extLst>
          </p:cNvPr>
          <p:cNvSpPr>
            <a:spLocks noGrp="1"/>
          </p:cNvSpPr>
          <p:nvPr/>
        </p:nvSpPr>
        <p:spPr>
          <a:xfrm>
            <a:off x="6000750" y="6000750"/>
            <a:ext cx="1714500" cy="666750"/>
          </a:xfrm>
          <a:prstGeom prst="roundRect">
            <a:avLst>
              <a:gd name="adj" fmla="val 22857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最低血量</a:t>
            </a: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F6CA1603-27A5-4251-8325-FCB4778C71EC}"/>
              </a:ext>
            </a:extLst>
          </p:cNvPr>
          <p:cNvSpPr>
            <a:spLocks noGrp="1"/>
          </p:cNvSpPr>
          <p:nvPr/>
        </p:nvSpPr>
        <p:spPr>
          <a:xfrm>
            <a:off x="7858125" y="6000750"/>
            <a:ext cx="1714500" cy="666750"/>
          </a:xfrm>
          <a:prstGeom prst="roundRect">
            <a:avLst>
              <a:gd name="adj" fmla="val 22857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敵方基地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F56E3CC-176E-4ADA-A3B8-B049923729B8}"/>
              </a:ext>
            </a:extLst>
          </p:cNvPr>
          <p:cNvSpPr>
            <a:spLocks noGrp="1"/>
          </p:cNvSpPr>
          <p:nvPr/>
        </p:nvSpPr>
        <p:spPr>
          <a:xfrm>
            <a:off x="4143375" y="6762750"/>
            <a:ext cx="6572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每個 choice_id 已對應一段固定 Java 表達式</a:t>
            </a:r>
          </a:p>
        </p:txBody>
      </p: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E6C60838-A760-49EF-8001-FCD6E67E68C6}"/>
              </a:ext>
            </a:extLst>
          </p:cNvPr>
          <p:cNvCxnSpPr/>
          <p:nvPr/>
        </p:nvCxnSpPr>
        <p:spPr>
          <a:xfrm>
            <a:off x="9953625" y="6410325"/>
            <a:ext cx="5238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3FEDBECA-DCB5-4D26-87C0-28268608F48E}"/>
              </a:ext>
            </a:extLst>
          </p:cNvPr>
          <p:cNvSpPr>
            <a:spLocks noGrp="1"/>
          </p:cNvSpPr>
          <p:nvPr/>
        </p:nvSpPr>
        <p:spPr>
          <a:xfrm>
            <a:off x="10668000" y="6000750"/>
            <a:ext cx="447675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target_policy: "lowest_hp"</a:t>
            </a: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1F3429F6-B655-446C-BD3D-74B66630C9E8}"/>
              </a:ext>
            </a:extLst>
          </p:cNvPr>
          <p:cNvSpPr>
            <a:spLocks noGrp="1"/>
          </p:cNvSpPr>
          <p:nvPr/>
        </p:nvSpPr>
        <p:spPr>
          <a:xfrm>
            <a:off x="714375" y="7419975"/>
            <a:ext cx="5715000" cy="590550"/>
          </a:xfrm>
          <a:prstGeom prst="roundRect">
            <a:avLst>
              <a:gd name="adj" fmla="val 25806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填滿全部 slot，組成完整 genome</a:t>
            </a:r>
          </a:p>
        </p:txBody>
      </p:sp>
      <p:sp>
        <p:nvSpPr>
          <p:cNvPr id="37" name="矩形: 圓角 36">
            <a:extLst>
              <a:ext uri="{FF2B5EF4-FFF2-40B4-BE49-F238E27FC236}">
                <a16:creationId xmlns:a16="http://schemas.microsoft.com/office/drawing/2014/main" id="{786EBD80-3671-439A-841C-9F3E91A45261}"/>
              </a:ext>
            </a:extLst>
          </p:cNvPr>
          <p:cNvSpPr>
            <a:spLocks noGrp="1"/>
          </p:cNvSpPr>
          <p:nvPr/>
        </p:nvSpPr>
        <p:spPr>
          <a:xfrm>
            <a:off x="7858125" y="7419975"/>
            <a:ext cx="7286625" cy="590550"/>
          </a:xfrm>
          <a:prstGeom prst="roundRect">
            <a:avLst>
              <a:gd name="adj" fmla="val 25806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驗證選值，再填入固定模板產生 Java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3A1149D-6241-4311-94FD-D3A9B5CA4077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簡化示例，實際選單由 bundle 決定。number 也只能選離散格點，不能任意填小數</a:t>
            </a:r>
          </a:p>
        </p:txBody>
      </p:sp>
      <p:sp>
        <p:nvSpPr>
          <p:cNvPr id="40" name="Slide Number">
            <a:extLst>
              <a:ext uri="{FF2B5EF4-FFF2-40B4-BE49-F238E27FC236}">
                <a16:creationId xmlns:a16="http://schemas.microsoft.com/office/drawing/2014/main" id="{4BE50C44-B37C-4E59-AA59-F284000979C8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EB47FB2F-19B8-4CFD-B2AA-B057EA05B25B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48660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矩形 102">
            <a:extLst>
              <a:ext uri="{FF2B5EF4-FFF2-40B4-BE49-F238E27FC236}">
                <a16:creationId xmlns:a16="http://schemas.microsoft.com/office/drawing/2014/main" id="{A50284CF-B460-45F8-A2F6-D5260C774CAA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 dirty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</a:t>
            </a:r>
            <a:r>
              <a:rPr lang="zh-TW" altLang="en-US" sz="3975" b="1" dirty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交配</a:t>
            </a:r>
            <a:r>
              <a:rPr sz="3975" b="1" dirty="0" err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演化流程</a:t>
            </a:r>
            <a:endParaRPr sz="3975" b="1" dirty="0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79FB7E00-57F1-49C1-8017-36CE8C976D7A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演化的是完整 JSON 槽位基因，Java 框架與合法選單保持固定</a:t>
            </a: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6AB31D17-EAEB-49A7-94EF-26F19785CB30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初始化 G0</a:t>
            </a:r>
          </a:p>
        </p:txBody>
      </p:sp>
      <p:sp>
        <p:nvSpPr>
          <p:cNvPr id="106" name="矩形: 圓角 105">
            <a:extLst>
              <a:ext uri="{FF2B5EF4-FFF2-40B4-BE49-F238E27FC236}">
                <a16:creationId xmlns:a16="http://schemas.microsoft.com/office/drawing/2014/main" id="{F54F6625-6890-484B-9D26-112A9449C84F}"/>
              </a:ext>
            </a:extLst>
          </p:cNvPr>
          <p:cNvSpPr>
            <a:spLocks noGrp="1"/>
          </p:cNvSpPr>
          <p:nvPr/>
        </p:nvSpPr>
        <p:spPr>
          <a:xfrm>
            <a:off x="762000" y="3333750"/>
            <a:ext cx="4286250" cy="1428750"/>
          </a:xfrm>
          <a:prstGeom prst="roundRect">
            <a:avLst>
              <a:gd name="adj" fmla="val 10667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每個槽位從合法範圍抽值</a:t>
            </a:r>
          </a:p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為每位候選組成完整基因</a:t>
            </a:r>
          </a:p>
        </p:txBody>
      </p:sp>
      <p:cxnSp>
        <p:nvCxnSpPr>
          <p:cNvPr id="107" name="直線單箭頭接點 106">
            <a:extLst>
              <a:ext uri="{FF2B5EF4-FFF2-40B4-BE49-F238E27FC236}">
                <a16:creationId xmlns:a16="http://schemas.microsoft.com/office/drawing/2014/main" id="{4752482A-9968-479F-BCEE-3B4FAEA99AC0}"/>
              </a:ext>
            </a:extLst>
          </p:cNvPr>
          <p:cNvCxnSpPr/>
          <p:nvPr/>
        </p:nvCxnSpPr>
        <p:spPr>
          <a:xfrm>
            <a:off x="5143500" y="4048125"/>
            <a:ext cx="571500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08" name="矩形 107">
            <a:extLst>
              <a:ext uri="{FF2B5EF4-FFF2-40B4-BE49-F238E27FC236}">
                <a16:creationId xmlns:a16="http://schemas.microsoft.com/office/drawing/2014/main" id="{846E234D-F02F-41EE-BCE5-5A14CD406260}"/>
              </a:ext>
            </a:extLst>
          </p:cNvPr>
          <p:cNvSpPr>
            <a:spLocks noGrp="1"/>
          </p:cNvSpPr>
          <p:nvPr/>
        </p:nvSpPr>
        <p:spPr>
          <a:xfrm>
            <a:off x="5810250" y="2381250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逐槽交配</a:t>
            </a:r>
          </a:p>
        </p:txBody>
      </p:sp>
      <p:sp>
        <p:nvSpPr>
          <p:cNvPr id="109" name="矩形: 圓角 108">
            <a:extLst>
              <a:ext uri="{FF2B5EF4-FFF2-40B4-BE49-F238E27FC236}">
                <a16:creationId xmlns:a16="http://schemas.microsoft.com/office/drawing/2014/main" id="{BFE57690-2A42-4C9C-9D8E-F2BFEB860309}"/>
              </a:ext>
            </a:extLst>
          </p:cNvPr>
          <p:cNvSpPr>
            <a:spLocks noGrp="1"/>
          </p:cNvSpPr>
          <p:nvPr/>
        </p:nvSpPr>
        <p:spPr>
          <a:xfrm>
            <a:off x="5810250" y="3333750"/>
            <a:ext cx="4286250" cy="1428750"/>
          </a:xfrm>
          <a:prstGeom prst="roundRect">
            <a:avLst>
              <a:gd name="adj" fmla="val 10667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每個槽位各自從兩位父代擇一</a:t>
            </a:r>
          </a:p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組成子代的完整基因</a:t>
            </a:r>
          </a:p>
        </p:txBody>
      </p:sp>
      <p:cxnSp>
        <p:nvCxnSpPr>
          <p:cNvPr id="110" name="直線單箭頭接點 109">
            <a:extLst>
              <a:ext uri="{FF2B5EF4-FFF2-40B4-BE49-F238E27FC236}">
                <a16:creationId xmlns:a16="http://schemas.microsoft.com/office/drawing/2014/main" id="{624BE1CD-5AAB-4E8D-9BCE-34CE7FFD3833}"/>
              </a:ext>
            </a:extLst>
          </p:cNvPr>
          <p:cNvCxnSpPr/>
          <p:nvPr/>
        </p:nvCxnSpPr>
        <p:spPr>
          <a:xfrm>
            <a:off x="10191750" y="4048125"/>
            <a:ext cx="571500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11" name="矩形 110">
            <a:extLst>
              <a:ext uri="{FF2B5EF4-FFF2-40B4-BE49-F238E27FC236}">
                <a16:creationId xmlns:a16="http://schemas.microsoft.com/office/drawing/2014/main" id="{2D8E295B-BF6C-4537-9A74-5103B21E9B78}"/>
              </a:ext>
            </a:extLst>
          </p:cNvPr>
          <p:cNvSpPr>
            <a:spLocks noGrp="1"/>
          </p:cNvSpPr>
          <p:nvPr/>
        </p:nvSpPr>
        <p:spPr>
          <a:xfrm>
            <a:off x="10858500" y="2381250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單槽突變</a:t>
            </a:r>
          </a:p>
        </p:txBody>
      </p:sp>
      <p:sp>
        <p:nvSpPr>
          <p:cNvPr id="112" name="矩形: 圓角 111">
            <a:extLst>
              <a:ext uri="{FF2B5EF4-FFF2-40B4-BE49-F238E27FC236}">
                <a16:creationId xmlns:a16="http://schemas.microsoft.com/office/drawing/2014/main" id="{A39A911A-8B81-4B63-8BD4-8F93BCCEDD11}"/>
              </a:ext>
            </a:extLst>
          </p:cNvPr>
          <p:cNvSpPr>
            <a:spLocks noGrp="1"/>
          </p:cNvSpPr>
          <p:nvPr/>
        </p:nvSpPr>
        <p:spPr>
          <a:xfrm>
            <a:off x="10858500" y="3333750"/>
            <a:ext cx="4286250" cy="1428750"/>
          </a:xfrm>
          <a:prstGeom prst="roundRect">
            <a:avLst>
              <a:gd name="adj" fmla="val 10667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若觸發突變，最多改一個槽位</a:t>
            </a:r>
          </a:p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換成另一個合法值</a:t>
            </a:r>
          </a:p>
        </p:txBody>
      </p:sp>
      <p:sp>
        <p:nvSpPr>
          <p:cNvPr id="113" name="矩形: 圓角 112">
            <a:extLst>
              <a:ext uri="{FF2B5EF4-FFF2-40B4-BE49-F238E27FC236}">
                <a16:creationId xmlns:a16="http://schemas.microsoft.com/office/drawing/2014/main" id="{CEF09C7A-AD81-4FE7-BBD0-C3E2C8D8F704}"/>
              </a:ext>
            </a:extLst>
          </p:cNvPr>
          <p:cNvSpPr>
            <a:spLocks noGrp="1"/>
          </p:cNvSpPr>
          <p:nvPr/>
        </p:nvSpPr>
        <p:spPr>
          <a:xfrm>
            <a:off x="1524000" y="6286500"/>
            <a:ext cx="3524250" cy="857250"/>
          </a:xfrm>
          <a:prstGeom prst="roundRect">
            <a:avLst>
              <a:gd name="adj" fmla="val 17778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完整 JSON 基因</a:t>
            </a:r>
          </a:p>
        </p:txBody>
      </p:sp>
      <p:cxnSp>
        <p:nvCxnSpPr>
          <p:cNvPr id="114" name="直線單箭頭接點 113">
            <a:extLst>
              <a:ext uri="{FF2B5EF4-FFF2-40B4-BE49-F238E27FC236}">
                <a16:creationId xmlns:a16="http://schemas.microsoft.com/office/drawing/2014/main" id="{D479A175-24C9-4997-A1B8-E54CA41DDA3E}"/>
              </a:ext>
            </a:extLst>
          </p:cNvPr>
          <p:cNvCxnSpPr/>
          <p:nvPr/>
        </p:nvCxnSpPr>
        <p:spPr>
          <a:xfrm>
            <a:off x="5238750" y="6715125"/>
            <a:ext cx="904875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15" name="矩形: 圓角 114">
            <a:extLst>
              <a:ext uri="{FF2B5EF4-FFF2-40B4-BE49-F238E27FC236}">
                <a16:creationId xmlns:a16="http://schemas.microsoft.com/office/drawing/2014/main" id="{A9071D74-BF6D-49B6-AEE6-233286D9DBED}"/>
              </a:ext>
            </a:extLst>
          </p:cNvPr>
          <p:cNvSpPr>
            <a:spLocks noGrp="1"/>
          </p:cNvSpPr>
          <p:nvPr/>
        </p:nvSpPr>
        <p:spPr>
          <a:xfrm>
            <a:off x="6334125" y="6286500"/>
            <a:ext cx="4095750" cy="857250"/>
          </a:xfrm>
          <a:prstGeom prst="roundRect">
            <a:avLst>
              <a:gd name="adj" fmla="val 17778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填入凍結 Java 模板</a:t>
            </a:r>
          </a:p>
        </p:txBody>
      </p:sp>
      <p:cxnSp>
        <p:nvCxnSpPr>
          <p:cNvPr id="116" name="直線單箭頭接點 115">
            <a:extLst>
              <a:ext uri="{FF2B5EF4-FFF2-40B4-BE49-F238E27FC236}">
                <a16:creationId xmlns:a16="http://schemas.microsoft.com/office/drawing/2014/main" id="{F40A9362-CBDE-4367-8975-236B7F0389BD}"/>
              </a:ext>
            </a:extLst>
          </p:cNvPr>
          <p:cNvCxnSpPr/>
          <p:nvPr/>
        </p:nvCxnSpPr>
        <p:spPr>
          <a:xfrm>
            <a:off x="10620375" y="6715125"/>
            <a:ext cx="904875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17" name="矩形: 圓角 116">
            <a:extLst>
              <a:ext uri="{FF2B5EF4-FFF2-40B4-BE49-F238E27FC236}">
                <a16:creationId xmlns:a16="http://schemas.microsoft.com/office/drawing/2014/main" id="{D5000919-C1F6-4061-9D8C-2AE42E54EB6A}"/>
              </a:ext>
            </a:extLst>
          </p:cNvPr>
          <p:cNvSpPr>
            <a:spLocks noGrp="1"/>
          </p:cNvSpPr>
          <p:nvPr/>
        </p:nvSpPr>
        <p:spPr>
          <a:xfrm>
            <a:off x="11715750" y="6286500"/>
            <a:ext cx="3429000" cy="857250"/>
          </a:xfrm>
          <a:prstGeom prst="roundRect">
            <a:avLst>
              <a:gd name="adj" fmla="val 1777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驗證、編譯與對戰</a:t>
            </a: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28318909-ADF5-4E0E-943D-FF03401AFB8E}"/>
              </a:ext>
            </a:extLst>
          </p:cNvPr>
          <p:cNvSpPr>
            <a:spLocks noGrp="1"/>
          </p:cNvSpPr>
          <p:nvPr/>
        </p:nvSpPr>
        <p:spPr>
          <a:xfrm>
            <a:off x="762000" y="5286375"/>
            <a:ext cx="14382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 初始化一次。後續世代由選出的父代交配、突變，再評估子代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415BDC02-326B-4A55-B8CE-EFFEA65D5927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local 演化期間不呼叫 LLM。genome 代表一位候選的完整槽位設定</a:t>
            </a:r>
          </a:p>
        </p:txBody>
      </p:sp>
      <p:sp>
        <p:nvSpPr>
          <p:cNvPr id="120" name="Slide Number">
            <a:extLst>
              <a:ext uri="{FF2B5EF4-FFF2-40B4-BE49-F238E27FC236}">
                <a16:creationId xmlns:a16="http://schemas.microsoft.com/office/drawing/2014/main" id="{C529F1DE-60D3-4166-9BCF-0F420D00630C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F23A1FF-4E71-4CE4-BB54-3D44B85A17C1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58</a:t>
            </a:r>
          </a:p>
        </p:txBody>
      </p:sp>
    </p:spTree>
    <p:extLst>
      <p:ext uri="{BB962C8B-B14F-4D97-AF65-F5344CB8AC3E}">
        <p14:creationId xmlns:p14="http://schemas.microsoft.com/office/powerpoint/2010/main" val="1579420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3C19AA17-BD0E-435E-8823-B3286B920C3F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10287000" y="5357813"/>
            <a:ext cx="1619250" cy="1262063"/>
          </a:xfrm>
          <a:prstGeom prst="bentConnector3">
            <a:avLst>
              <a:gd name="adj1" fmla="val 50000"/>
            </a:avLst>
          </a:prstGeom>
          <a:ln w="28575">
            <a:solidFill>
              <a:srgbClr val="CF8792"/>
            </a:solidFill>
            <a:tailEnd type="triangle" w="med" len="med"/>
          </a:ln>
        </p:spPr>
      </p:cxnSp>
      <p:cxnSp>
        <p:nvCxnSpPr>
          <p:cNvPr id="17" name="接點: 肘形 16">
            <a:extLst>
              <a:ext uri="{FF2B5EF4-FFF2-40B4-BE49-F238E27FC236}">
                <a16:creationId xmlns:a16="http://schemas.microsoft.com/office/drawing/2014/main" id="{725A73E0-06E4-4DB2-9E17-E8FE2B6E2AD1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>
            <a:off x="10287000" y="4238625"/>
            <a:ext cx="1619250" cy="1119188"/>
          </a:xfrm>
          <a:prstGeom prst="bentConnector3">
            <a:avLst>
              <a:gd name="adj1" fmla="val 50000"/>
            </a:avLst>
          </a:prstGeom>
          <a:ln w="28575">
            <a:solidFill>
              <a:srgbClr val="CF8792"/>
            </a:solidFill>
            <a:tailEnd type="triangle" w="med" len="med"/>
          </a:ln>
        </p:spPr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13D28DF2-F482-413F-9F7C-0CBCCDB62941}"/>
              </a:ext>
            </a:extLst>
          </p:cNvPr>
          <p:cNvCxnSpPr>
            <a:stCxn id="9" idx="3"/>
            <a:endCxn id="13" idx="1"/>
          </p:cNvCxnSpPr>
          <p:nvPr/>
        </p:nvCxnSpPr>
        <p:spPr>
          <a:xfrm>
            <a:off x="3476625" y="5357813"/>
            <a:ext cx="1095375" cy="1262063"/>
          </a:xfrm>
          <a:prstGeom prst="bentConnector3">
            <a:avLst>
              <a:gd name="adj1" fmla="val 50000"/>
            </a:avLst>
          </a:prstGeom>
          <a:ln w="28575">
            <a:solidFill>
              <a:srgbClr val="CF8792"/>
            </a:solidFill>
            <a:tailEnd type="triangle" w="med" len="med"/>
          </a:ln>
        </p:spPr>
      </p:cxn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ADC18C0F-C562-4063-B9A3-559BCBBE4EC8}"/>
              </a:ext>
            </a:extLst>
          </p:cNvPr>
          <p:cNvCxnSpPr>
            <a:stCxn id="9" idx="3"/>
            <a:endCxn id="11" idx="1"/>
          </p:cNvCxnSpPr>
          <p:nvPr/>
        </p:nvCxnSpPr>
        <p:spPr>
          <a:xfrm flipV="1">
            <a:off x="3476625" y="4238625"/>
            <a:ext cx="1095375" cy="1119188"/>
          </a:xfrm>
          <a:prstGeom prst="bentConnector3">
            <a:avLst>
              <a:gd name="adj1" fmla="val 50000"/>
            </a:avLst>
          </a:prstGeom>
          <a:ln w="28575">
            <a:solidFill>
              <a:srgbClr val="CF8792"/>
            </a:solidFill>
            <a:tailEnd type="triangle" w="med" len="med"/>
          </a:ln>
        </p:spPr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D9FD6888-C0FE-4208-A8F1-0970864C8C20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10001250" y="2452688"/>
            <a:ext cx="1190625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41F7C073-EB4A-48BE-9153-2DE14F5BEA5C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714875" y="2452688"/>
            <a:ext cx="1190625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644B436C-DB2C-4540-805A-29EE7FA89552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50/50 子代生成流程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55C656-D931-46CC-9F81-A81D7E1D7514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新設定：先分流，再由 Coach 或傳統交配各自產生子代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C348ED1-290F-4BA7-9E9A-D89070E7DD13}"/>
              </a:ext>
            </a:extLst>
          </p:cNvPr>
          <p:cNvSpPr>
            <a:spLocks noGrp="1"/>
          </p:cNvSpPr>
          <p:nvPr/>
        </p:nvSpPr>
        <p:spPr>
          <a:xfrm>
            <a:off x="619125" y="2047875"/>
            <a:ext cx="4095750" cy="809625"/>
          </a:xfrm>
          <a:prstGeom prst="roundRect">
            <a:avLst>
              <a:gd name="adj" fmla="val 18824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準備並凍結 framework</a:t>
            </a:r>
          </a:p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 Java 與合法槽位選單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F262D53-7CFC-498D-BDE6-577AC99EF7DC}"/>
              </a:ext>
            </a:extLst>
          </p:cNvPr>
          <p:cNvSpPr>
            <a:spLocks noGrp="1"/>
          </p:cNvSpPr>
          <p:nvPr/>
        </p:nvSpPr>
        <p:spPr>
          <a:xfrm>
            <a:off x="5905500" y="2047875"/>
            <a:ext cx="4095750" cy="809625"/>
          </a:xfrm>
          <a:prstGeom prst="roundRect">
            <a:avLst>
              <a:gd name="adj" fmla="val 1882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G0：Coach 為每位候選</a:t>
            </a:r>
          </a:p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選出完整 JSON 基因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2A196F3-8FEE-449A-96B6-2442D933AAA7}"/>
              </a:ext>
            </a:extLst>
          </p:cNvPr>
          <p:cNvSpPr>
            <a:spLocks noGrp="1"/>
          </p:cNvSpPr>
          <p:nvPr/>
        </p:nvSpPr>
        <p:spPr>
          <a:xfrm>
            <a:off x="11191875" y="2047875"/>
            <a:ext cx="4095750" cy="809625"/>
          </a:xfrm>
          <a:prstGeom prst="roundRect">
            <a:avLst>
              <a:gd name="adj" fmla="val 18824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填入 Java、編譯與對戰</a:t>
            </a:r>
          </a:p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建立已評估的初代族群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90E65B9-41D4-4851-90DB-F8F1DACE2198}"/>
              </a:ext>
            </a:extLst>
          </p:cNvPr>
          <p:cNvSpPr>
            <a:spLocks noGrp="1"/>
          </p:cNvSpPr>
          <p:nvPr/>
        </p:nvSpPr>
        <p:spPr>
          <a:xfrm>
            <a:off x="619125" y="3286125"/>
            <a:ext cx="3143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後續每代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920A576-4116-4822-811A-07E4D1A1667D}"/>
              </a:ext>
            </a:extLst>
          </p:cNvPr>
          <p:cNvSpPr>
            <a:spLocks noGrp="1"/>
          </p:cNvSpPr>
          <p:nvPr/>
        </p:nvSpPr>
        <p:spPr>
          <a:xfrm>
            <a:off x="619125" y="4762500"/>
            <a:ext cx="2857500" cy="1190625"/>
          </a:xfrm>
          <a:prstGeom prst="roundRect">
            <a:avLst>
              <a:gd name="adj" fmla="val 128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選父代 A</a:t>
            </a:r>
          </a:p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當代已評估族群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75D1F5B-D037-45F6-9F69-0AF1025C5CC9}"/>
              </a:ext>
            </a:extLst>
          </p:cNvPr>
          <p:cNvSpPr>
            <a:spLocks noGrp="1"/>
          </p:cNvSpPr>
          <p:nvPr/>
        </p:nvSpPr>
        <p:spPr>
          <a:xfrm>
            <a:off x="4572000" y="3000375"/>
            <a:ext cx="5715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50% Coach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9EC4EB71-EAAD-4FD4-A720-3E06725CB10B}"/>
              </a:ext>
            </a:extLst>
          </p:cNvPr>
          <p:cNvSpPr>
            <a:spLocks noGrp="1"/>
          </p:cNvSpPr>
          <p:nvPr/>
        </p:nvSpPr>
        <p:spPr>
          <a:xfrm>
            <a:off x="4572000" y="3571875"/>
            <a:ext cx="5715000" cy="1333500"/>
          </a:xfrm>
          <a:prstGeom prst="roundRect">
            <a:avLst>
              <a:gd name="adj" fmla="val 11429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最差單場交給 Commentator 賽評</a:t>
            </a:r>
          </a:p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Coach 讀賽評與父代全場摘要</a:t>
            </a:r>
          </a:p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直接產生完整 JSON 子代基因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C5DF5C-62AF-4551-94A4-319D62C983C7}"/>
              </a:ext>
            </a:extLst>
          </p:cNvPr>
          <p:cNvSpPr>
            <a:spLocks noGrp="1"/>
          </p:cNvSpPr>
          <p:nvPr/>
        </p:nvSpPr>
        <p:spPr>
          <a:xfrm>
            <a:off x="4572000" y="5286375"/>
            <a:ext cx="5715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50% 傳統演化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88127465-093C-41E7-8C8E-6699F6A60763}"/>
              </a:ext>
            </a:extLst>
          </p:cNvPr>
          <p:cNvSpPr>
            <a:spLocks noGrp="1"/>
          </p:cNvSpPr>
          <p:nvPr/>
        </p:nvSpPr>
        <p:spPr>
          <a:xfrm>
            <a:off x="4572000" y="5953125"/>
            <a:ext cx="5715000" cy="1333500"/>
          </a:xfrm>
          <a:prstGeom prst="roundRect">
            <a:avLst>
              <a:gd name="adj" fmla="val 11429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再選父代 B</a:t>
            </a:r>
          </a:p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逐槽交配（rate 0.75）</a:t>
            </a:r>
          </a:p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local 單槽突變（rate 1.0）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FABBEB37-2419-4C24-B944-A0092EE35C76}"/>
              </a:ext>
            </a:extLst>
          </p:cNvPr>
          <p:cNvSpPr>
            <a:spLocks noGrp="1"/>
          </p:cNvSpPr>
          <p:nvPr/>
        </p:nvSpPr>
        <p:spPr>
          <a:xfrm>
            <a:off x="11906250" y="4762500"/>
            <a:ext cx="3381375" cy="1190625"/>
          </a:xfrm>
          <a:prstGeom prst="roundRect">
            <a:avLst>
              <a:gd name="adj" fmla="val 128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驗證完整 JSON 基因</a:t>
            </a:r>
          </a:p>
          <a:p>
            <a: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填入固定 Java</a:t>
            </a:r>
          </a:p>
          <a:p>
            <a: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編譯、語意探針與對戰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4A07744-1B7A-4734-B7F3-D3AFD61C5F24}"/>
              </a:ext>
            </a:extLst>
          </p:cNvPr>
          <p:cNvSpPr>
            <a:spLocks noGrp="1"/>
          </p:cNvSpPr>
          <p:nvPr/>
        </p:nvSpPr>
        <p:spPr>
          <a:xfrm>
            <a:off x="619125" y="7496175"/>
            <a:ext cx="1466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父代＋子代選下一代，維護對手池並重複演化。搜尋結束後進行 Final Test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7D68609-584B-42C4-B89A-5900028C022E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既有結果仍為 local，本頁為新設定。50/50 是抽樣機率；Coach 失敗不會轉走傳統路徑</a:t>
            </a:r>
          </a:p>
        </p:txBody>
      </p:sp>
      <p:sp>
        <p:nvSpPr>
          <p:cNvPr id="21" name="Slide Number">
            <a:extLst>
              <a:ext uri="{FF2B5EF4-FFF2-40B4-BE49-F238E27FC236}">
                <a16:creationId xmlns:a16="http://schemas.microsoft.com/office/drawing/2014/main" id="{BD3C2FB0-0A0D-4E9E-A475-43D695DA054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2B8B126C-5EBD-4B8F-83CF-F005C1C64664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5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58</a:t>
            </a:r>
          </a:p>
        </p:txBody>
      </p:sp>
    </p:spTree>
    <p:extLst>
      <p:ext uri="{BB962C8B-B14F-4D97-AF65-F5344CB8AC3E}">
        <p14:creationId xmlns:p14="http://schemas.microsoft.com/office/powerpoint/2010/main" val="708639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46489760-78CD-4367-8196-273BE7B6E6C1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對手池（Opponent Pool）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39939F1-C6E5-4981-BF97-D737376FC2E9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保存可供對戰的內建與歷代策略，再從池中挑出本次評估的 10 名對手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86F061-C448-4AAE-A625-C156BCBBD2BB}"/>
              </a:ext>
            </a:extLst>
          </p:cNvPr>
          <p:cNvSpPr>
            <a:spLocks noGrp="1"/>
          </p:cNvSpPr>
          <p:nvPr/>
        </p:nvSpPr>
        <p:spPr>
          <a:xfrm>
            <a:off x="714375" y="2143125"/>
            <a:ext cx="3333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策略來源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32A386E5-0F96-4EF2-971C-6D1A5208C99E}"/>
              </a:ext>
            </a:extLst>
          </p:cNvPr>
          <p:cNvSpPr>
            <a:spLocks noGrp="1"/>
          </p:cNvSpPr>
          <p:nvPr/>
        </p:nvSpPr>
        <p:spPr>
          <a:xfrm>
            <a:off x="619125" y="2952750"/>
            <a:ext cx="3524250" cy="762000"/>
          </a:xfrm>
          <a:prstGeom prst="roundRect">
            <a:avLst>
              <a:gd name="adj" fmla="val 20000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起始：10 個內建對手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3E9A8D69-9E1B-4417-9085-EC17946C0A5D}"/>
              </a:ext>
            </a:extLst>
          </p:cNvPr>
          <p:cNvSpPr>
            <a:spLocks noGrp="1"/>
          </p:cNvSpPr>
          <p:nvPr/>
        </p:nvSpPr>
        <p:spPr>
          <a:xfrm>
            <a:off x="619125" y="4191000"/>
            <a:ext cx="3524250" cy="1238250"/>
          </a:xfrm>
          <a:prstGeom prst="roundRect">
            <a:avLst>
              <a:gd name="adj" fmla="val 1230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G0 已評估的初代候選</a:t>
            </a:r>
          </a:p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之後各代已評估的子代</a:t>
            </a: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496D928D-FA1B-4329-90E3-60D112F8CF18}"/>
              </a:ext>
            </a:extLst>
          </p:cNvPr>
          <p:cNvCxnSpPr/>
          <p:nvPr/>
        </p:nvCxnSpPr>
        <p:spPr>
          <a:xfrm>
            <a:off x="4286250" y="4095750"/>
            <a:ext cx="666750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F02280EF-757D-43CE-837D-DEA6B204A33E}"/>
              </a:ext>
            </a:extLst>
          </p:cNvPr>
          <p:cNvSpPr>
            <a:spLocks noGrp="1"/>
          </p:cNvSpPr>
          <p:nvPr/>
        </p:nvSpPr>
        <p:spPr>
          <a:xfrm>
            <a:off x="5286375" y="2143125"/>
            <a:ext cx="4476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對手池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4718819-9EEE-4218-B72D-F1954EAA7CCA}"/>
              </a:ext>
            </a:extLst>
          </p:cNvPr>
          <p:cNvSpPr>
            <a:spLocks noGrp="1"/>
          </p:cNvSpPr>
          <p:nvPr/>
        </p:nvSpPr>
        <p:spPr>
          <a:xfrm>
            <a:off x="5238750" y="2905125"/>
            <a:ext cx="4572000" cy="2714625"/>
          </a:xfrm>
          <a:prstGeom prst="roundRect">
            <a:avLst>
              <a:gd name="adj" fmla="val 5614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累積通過入池的歷代策略</a:t>
            </a:r>
          </a:p>
          <a:p>
            <a: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也保留池內的內建對手</a:t>
            </a:r>
          </a:p>
          <a:p>
            <a:endParaRPr sz="2250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endParaRPr>
          </a:p>
          <a:p>
            <a: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本次容量 50 名</a:t>
            </a:r>
          </a:p>
          <a:p>
            <a: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包含 4 個固定保護對手</a:t>
            </a: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AF233985-53E1-4095-BF29-9F4033642871}"/>
              </a:ext>
            </a:extLst>
          </p:cNvPr>
          <p:cNvCxnSpPr/>
          <p:nvPr/>
        </p:nvCxnSpPr>
        <p:spPr>
          <a:xfrm>
            <a:off x="9953625" y="4095750"/>
            <a:ext cx="666750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62F588D2-B4BD-4FA0-B0EA-EF89DDDD7441}"/>
              </a:ext>
            </a:extLst>
          </p:cNvPr>
          <p:cNvSpPr>
            <a:spLocks noGrp="1"/>
          </p:cNvSpPr>
          <p:nvPr/>
        </p:nvSpPr>
        <p:spPr>
          <a:xfrm>
            <a:off x="10906125" y="2143125"/>
            <a:ext cx="442912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本次對戰名單：10 名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11886BD8-D4E3-42B5-AFBD-F8AE9E406618}"/>
              </a:ext>
            </a:extLst>
          </p:cNvPr>
          <p:cNvSpPr>
            <a:spLocks noGrp="1"/>
          </p:cNvSpPr>
          <p:nvPr/>
        </p:nvSpPr>
        <p:spPr>
          <a:xfrm>
            <a:off x="10858500" y="2905125"/>
            <a:ext cx="4476750" cy="1047750"/>
          </a:xfrm>
          <a:prstGeom prst="roundRect">
            <a:avLst>
              <a:gd name="adj" fmla="val 14545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 個固定保護對手</a:t>
            </a:r>
          </a:p>
          <a:p>
            <a: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AllInBot、Mayari、COAC、TMA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C45EF0-9DB4-4FDD-B0C8-64D5099F300E}"/>
              </a:ext>
            </a:extLst>
          </p:cNvPr>
          <p:cNvSpPr>
            <a:spLocks noGrp="1"/>
          </p:cNvSpPr>
          <p:nvPr/>
        </p:nvSpPr>
        <p:spPr>
          <a:xfrm>
            <a:off x="12382500" y="4019550"/>
            <a:ext cx="1428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＋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4CC2DA62-39EF-4E8E-A968-FC0EDD9912A9}"/>
              </a:ext>
            </a:extLst>
          </p:cNvPr>
          <p:cNvSpPr>
            <a:spLocks noGrp="1"/>
          </p:cNvSpPr>
          <p:nvPr/>
        </p:nvSpPr>
        <p:spPr>
          <a:xfrm>
            <a:off x="10858500" y="4572000"/>
            <a:ext cx="4476750" cy="1047750"/>
          </a:xfrm>
          <a:prstGeom prst="roundRect">
            <a:avLst>
              <a:gd name="adj" fmla="val 1454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6 名從池內非保護成員抽選</a:t>
            </a:r>
          </a:p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可能是內建或歷代策略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1E1517-465A-4457-B663-FB76CE4FE978}"/>
              </a:ext>
            </a:extLst>
          </p:cNvPr>
          <p:cNvSpPr>
            <a:spLocks noGrp="1"/>
          </p:cNvSpPr>
          <p:nvPr/>
        </p:nvSpPr>
        <p:spPr>
          <a:xfrm>
            <a:off x="619125" y="5953125"/>
            <a:ext cx="1466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G0 使用全部 10 個內建對手。後續在 G1、G6、G11…刷新並凍結名單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852DFA5-1BF9-4910-8FA9-8DAAED51E1AC}"/>
              </a:ext>
            </a:extLst>
          </p:cNvPr>
          <p:cNvSpPr>
            <a:spLocks noGrp="1"/>
          </p:cNvSpPr>
          <p:nvPr/>
        </p:nvSpPr>
        <p:spPr>
          <a:xfrm>
            <a:off x="619125" y="666750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入池與替換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C5776B34-FAC3-48CE-9772-0E745EF8545F}"/>
              </a:ext>
            </a:extLst>
          </p:cNvPr>
          <p:cNvSpPr>
            <a:spLocks noGrp="1"/>
          </p:cNvSpPr>
          <p:nvPr/>
        </p:nvSpPr>
        <p:spPr>
          <a:xfrm>
            <a:off x="3714750" y="6619875"/>
            <a:ext cx="4476750" cy="1000125"/>
          </a:xfrm>
          <a:prstGeom prst="roundRect">
            <a:avLst>
              <a:gd name="adj" fmla="val 15238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完成評估並去重</a:t>
            </a:r>
          </a:p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池未滿時加入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21A22F90-0930-47AD-B885-3003F8CA5106}"/>
              </a:ext>
            </a:extLst>
          </p:cNvPr>
          <p:cNvSpPr>
            <a:spLocks noGrp="1"/>
          </p:cNvSpPr>
          <p:nvPr/>
        </p:nvSpPr>
        <p:spPr>
          <a:xfrm>
            <a:off x="8572500" y="6619875"/>
            <a:ext cx="6762750" cy="1000125"/>
          </a:xfrm>
          <a:prstGeom prst="roundRect">
            <a:avLst>
              <a:gd name="adj" fmla="val 1523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池已滿：挑戰一名非保護對手，共 18 場</a:t>
            </a:r>
          </a:p>
          <a:p>
            <a: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勝場多於敗場才替換，平手保留原成員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0CE9D14-AA08-41A5-9024-B8889A132295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 是當次名單大小。繁殖父代另從當代族群選出；新入池策略需等下次刷新才可能成為對手</a:t>
            </a:r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906E4AFB-C6B1-4EC2-9A81-126C32B4DA7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0239D834-0D7D-4D10-9A4C-43672E5D5535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6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58</a:t>
            </a:r>
          </a:p>
        </p:txBody>
      </p:sp>
    </p:spTree>
    <p:extLst>
      <p:ext uri="{BB962C8B-B14F-4D97-AF65-F5344CB8AC3E}">
        <p14:creationId xmlns:p14="http://schemas.microsoft.com/office/powerpoint/2010/main" val="537448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接點: 肘形 6">
            <a:extLst>
              <a:ext uri="{FF2B5EF4-FFF2-40B4-BE49-F238E27FC236}">
                <a16:creationId xmlns:a16="http://schemas.microsoft.com/office/drawing/2014/main" id="{DBCC9991-3918-4438-95D5-46D9FBA7BA69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10334625" y="2905125"/>
            <a:ext cx="1381125" cy="404813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76027EF9-054E-4274-A255-B71085130AD0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714875" y="3309938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3C7A855D-6F5C-42AE-BE4D-683A3903E4EA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當代族群的繁殖父代選擇</a:t>
            </a:r>
            <a:endParaRPr sz="3975" b="1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777BD9-9E8C-497B-B2C5-9DEE80BB16E1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先以對戰分數保留頂層，再從當代族群中選出提供基因的父代</a:t>
            </a:r>
            <a:endParaRPr sz="20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5F77DA7-A661-4EB0-B574-C3CB0EC552DA}"/>
              </a:ext>
            </a:extLst>
          </p:cNvPr>
          <p:cNvSpPr>
            <a:spLocks noGrp="1"/>
          </p:cNvSpPr>
          <p:nvPr/>
        </p:nvSpPr>
        <p:spPr>
          <a:xfrm>
            <a:off x="762000" y="2667000"/>
            <a:ext cx="3952875" cy="1285875"/>
          </a:xfrm>
          <a:prstGeom prst="roundRect">
            <a:avLst>
              <a:gd name="adj" fmla="val 1185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當代候選族群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同一對手快照，已有 fitness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4180CD56-6209-4E4E-B937-851198BB94A0}"/>
              </a:ext>
            </a:extLst>
          </p:cNvPr>
          <p:cNvSpPr>
            <a:spLocks noGrp="1"/>
          </p:cNvSpPr>
          <p:nvPr/>
        </p:nvSpPr>
        <p:spPr>
          <a:xfrm>
            <a:off x="5953125" y="2667000"/>
            <a:ext cx="4381500" cy="1285875"/>
          </a:xfrm>
          <a:prstGeom prst="roundRect">
            <a:avLst>
              <a:gd name="adj" fmla="val 1185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只留分數頂層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 ≥ 最高分 − 1.0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FB5F7DC-80FF-4A2F-BF69-284AB10608F1}"/>
              </a:ext>
            </a:extLst>
          </p:cNvPr>
          <p:cNvSpPr>
            <a:spLocks noGrp="1"/>
          </p:cNvSpPr>
          <p:nvPr/>
        </p:nvSpPr>
        <p:spPr>
          <a:xfrm>
            <a:off x="11715750" y="2381250"/>
            <a:ext cx="3286125" cy="1047750"/>
          </a:xfrm>
          <a:prstGeom prst="roundRect">
            <a:avLst>
              <a:gd name="adj" fmla="val 1454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 A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依種子值抽選</a:t>
            </a:r>
            <a:endParaRPr sz="2325" b="1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2ED1ECC-664E-43CF-AD87-AC2E14A1C0B3}"/>
              </a:ext>
            </a:extLst>
          </p:cNvPr>
          <p:cNvSpPr>
            <a:spLocks noGrp="1"/>
          </p:cNvSpPr>
          <p:nvPr/>
        </p:nvSpPr>
        <p:spPr>
          <a:xfrm>
            <a:off x="11715750" y="5619750"/>
            <a:ext cx="3286125" cy="1190625"/>
          </a:xfrm>
          <a:prstGeom prst="roundRect">
            <a:avLst>
              <a:gd name="adj" fmla="val 12800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 B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優先挑離 A 較遠者</a:t>
            </a: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0C4C1293-0E59-41AD-A0FB-1E0CE09255F2}"/>
              </a:ext>
            </a:extLst>
          </p:cNvPr>
          <p:cNvCxnSpPr/>
          <p:nvPr/>
        </p:nvCxnSpPr>
        <p:spPr>
          <a:xfrm>
            <a:off x="10334625" y="3714750"/>
            <a:ext cx="619125" cy="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AF84E388-BAB7-4C0A-92B4-547A37583D8E}"/>
              </a:ext>
            </a:extLst>
          </p:cNvPr>
          <p:cNvCxnSpPr/>
          <p:nvPr/>
        </p:nvCxnSpPr>
        <p:spPr>
          <a:xfrm>
            <a:off x="10953750" y="3714750"/>
            <a:ext cx="0" cy="249555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A7F36BD6-2D5E-41FD-8DBA-B8EAB20DF0A3}"/>
              </a:ext>
            </a:extLst>
          </p:cNvPr>
          <p:cNvCxnSpPr/>
          <p:nvPr/>
        </p:nvCxnSpPr>
        <p:spPr>
          <a:xfrm>
            <a:off x="10953750" y="6210300"/>
            <a:ext cx="762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008C374D-AFA9-4B9D-B78B-89BA49B52BB1}"/>
              </a:ext>
            </a:extLst>
          </p:cNvPr>
          <p:cNvSpPr>
            <a:spLocks noGrp="1"/>
          </p:cNvSpPr>
          <p:nvPr/>
        </p:nvSpPr>
        <p:spPr>
          <a:xfrm>
            <a:off x="11525250" y="4191000"/>
            <a:ext cx="3619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在同一頂層再選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F193DC9B-7264-48E7-9918-2253B566740D}"/>
              </a:ext>
            </a:extLst>
          </p:cNvPr>
          <p:cNvSpPr>
            <a:spLocks noGrp="1"/>
          </p:cNvSpPr>
          <p:nvPr/>
        </p:nvSpPr>
        <p:spPr>
          <a:xfrm>
            <a:off x="762000" y="5524500"/>
            <a:ext cx="9048750" cy="419100"/>
          </a:xfrm>
          <a:prstGeom prst="roundRect">
            <a:avLst>
              <a:gd name="adj" fmla="val 3636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語意距離來自固定狀態中的 Java 動作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EEDD810-E739-4175-90E1-E8C7EC2E8926}"/>
              </a:ext>
            </a:extLst>
          </p:cNvPr>
          <p:cNvSpPr>
            <a:spLocks noGrp="1"/>
          </p:cNvSpPr>
          <p:nvPr/>
        </p:nvSpPr>
        <p:spPr>
          <a:xfrm>
            <a:off x="762000" y="6286500"/>
            <a:ext cx="9048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低分者不能只靠行為新穎跨越分數頂層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DBC6146-0602-4E11-89DA-9AF9E9C0D166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父代來自當代族群，對戰對手來自對手池。缺少相容行為簽章時，依種子值抽選</a:t>
            </a:r>
            <a:endParaRPr sz="1800" b="0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A289962B-DCE4-4950-94A1-FC934C4C8BD1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C1FFCA84-7688-4E8A-9F46-E8F1DB7F0FDA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7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114368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C48FAE12-C054-4C39-855D-85F69B7946EF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>
            <a:off x="11477625" y="5667375"/>
            <a:ext cx="0" cy="1000125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5772BBCF-7E24-4E94-81D1-ACC509E610C1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>
            <a:off x="11477625" y="3390900"/>
            <a:ext cx="0" cy="10858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3151CED8-713F-4E0F-87F2-4C94D7287E2E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 dirty="0" err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父代選擇示例</a:t>
            </a:r>
            <a:endParaRPr sz="3975" b="1" dirty="0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08F3D2C-A253-4CCB-98ED-A83AD3D0583F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教學示例：最高分 100，頂層門檻為 99.0；只在這層中比較行為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087618A5-A45A-481A-BB34-4451B6514304}"/>
              </a:ext>
            </a:extLst>
          </p:cNvPr>
          <p:cNvSpPr>
            <a:spLocks noGrp="1"/>
          </p:cNvSpPr>
          <p:nvPr/>
        </p:nvSpPr>
        <p:spPr>
          <a:xfrm>
            <a:off x="762000" y="23336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1C785826-1ED0-49E3-9296-5900213B8A06}"/>
              </a:ext>
            </a:extLst>
          </p:cNvPr>
          <p:cNvSpPr>
            <a:spLocks noGrp="1"/>
          </p:cNvSpPr>
          <p:nvPr/>
        </p:nvSpPr>
        <p:spPr>
          <a:xfrm>
            <a:off x="2619375" y="23336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862E6248-03DA-453D-95F2-CBF59288C1C0}"/>
              </a:ext>
            </a:extLst>
          </p:cNvPr>
          <p:cNvSpPr>
            <a:spLocks noGrp="1"/>
          </p:cNvSpPr>
          <p:nvPr/>
        </p:nvSpPr>
        <p:spPr>
          <a:xfrm>
            <a:off x="4476750" y="23336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距候選 B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B261675-48BB-4E9D-B2E0-E05E657FDE75}"/>
              </a:ext>
            </a:extLst>
          </p:cNvPr>
          <p:cNvSpPr>
            <a:spLocks noGrp="1"/>
          </p:cNvSpPr>
          <p:nvPr/>
        </p:nvSpPr>
        <p:spPr>
          <a:xfrm>
            <a:off x="762000" y="33242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E65C6F82-2F63-43CC-853E-E2BD0E91EAE7}"/>
              </a:ext>
            </a:extLst>
          </p:cNvPr>
          <p:cNvSpPr>
            <a:spLocks noGrp="1"/>
          </p:cNvSpPr>
          <p:nvPr/>
        </p:nvSpPr>
        <p:spPr>
          <a:xfrm>
            <a:off x="2619375" y="33242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100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4564BED-A534-472F-9653-58399C9E6AF0}"/>
              </a:ext>
            </a:extLst>
          </p:cNvPr>
          <p:cNvSpPr>
            <a:spLocks noGrp="1"/>
          </p:cNvSpPr>
          <p:nvPr/>
        </p:nvSpPr>
        <p:spPr>
          <a:xfrm>
            <a:off x="4476750" y="33242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8／9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829C2A56-92C9-4F90-86FD-71EFEB4FCE31}"/>
              </a:ext>
            </a:extLst>
          </p:cNvPr>
          <p:cNvSpPr>
            <a:spLocks noGrp="1"/>
          </p:cNvSpPr>
          <p:nvPr/>
        </p:nvSpPr>
        <p:spPr>
          <a:xfrm>
            <a:off x="762000" y="43148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49FF6A0-CAD7-444F-86CB-6474BD83B617}"/>
              </a:ext>
            </a:extLst>
          </p:cNvPr>
          <p:cNvSpPr>
            <a:spLocks noGrp="1"/>
          </p:cNvSpPr>
          <p:nvPr/>
        </p:nvSpPr>
        <p:spPr>
          <a:xfrm>
            <a:off x="2619375" y="43148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99.4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86C11DE8-5137-48EA-A59D-6D707E5746C9}"/>
              </a:ext>
            </a:extLst>
          </p:cNvPr>
          <p:cNvSpPr>
            <a:spLocks noGrp="1"/>
          </p:cNvSpPr>
          <p:nvPr/>
        </p:nvSpPr>
        <p:spPr>
          <a:xfrm>
            <a:off x="4476750" y="43148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BB59E672-0698-4B5E-8EF3-D1FFD0256776}"/>
              </a:ext>
            </a:extLst>
          </p:cNvPr>
          <p:cNvSpPr>
            <a:spLocks noGrp="1"/>
          </p:cNvSpPr>
          <p:nvPr/>
        </p:nvSpPr>
        <p:spPr>
          <a:xfrm>
            <a:off x="762000" y="53054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7B01C679-4E33-4465-89C0-9B8DA98EC74E}"/>
              </a:ext>
            </a:extLst>
          </p:cNvPr>
          <p:cNvSpPr>
            <a:spLocks noGrp="1"/>
          </p:cNvSpPr>
          <p:nvPr/>
        </p:nvSpPr>
        <p:spPr>
          <a:xfrm>
            <a:off x="2619375" y="53054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99.0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2F979927-4E81-404F-9A90-A0C72B202A80}"/>
              </a:ext>
            </a:extLst>
          </p:cNvPr>
          <p:cNvSpPr>
            <a:spLocks noGrp="1"/>
          </p:cNvSpPr>
          <p:nvPr/>
        </p:nvSpPr>
        <p:spPr>
          <a:xfrm>
            <a:off x="4476750" y="53054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2／9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F822D2AD-88E1-40FB-98E2-957AA23D6C46}"/>
              </a:ext>
            </a:extLst>
          </p:cNvPr>
          <p:cNvSpPr>
            <a:spLocks noGrp="1"/>
          </p:cNvSpPr>
          <p:nvPr/>
        </p:nvSpPr>
        <p:spPr>
          <a:xfrm>
            <a:off x="762000" y="62960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D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22545572-1501-4202-9A6B-93EE9A6743CD}"/>
              </a:ext>
            </a:extLst>
          </p:cNvPr>
          <p:cNvSpPr>
            <a:spLocks noGrp="1"/>
          </p:cNvSpPr>
          <p:nvPr/>
        </p:nvSpPr>
        <p:spPr>
          <a:xfrm>
            <a:off x="2619375" y="62960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98.8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21CCAAC2-4C69-4943-AD23-37695B701F7C}"/>
              </a:ext>
            </a:extLst>
          </p:cNvPr>
          <p:cNvSpPr>
            <a:spLocks noGrp="1"/>
          </p:cNvSpPr>
          <p:nvPr/>
        </p:nvSpPr>
        <p:spPr>
          <a:xfrm>
            <a:off x="4476750" y="62960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不比較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A4277389-9B83-4CD1-BD58-262FA439EA5D}"/>
              </a:ext>
            </a:extLst>
          </p:cNvPr>
          <p:cNvSpPr>
            <a:spLocks noGrp="1"/>
          </p:cNvSpPr>
          <p:nvPr/>
        </p:nvSpPr>
        <p:spPr>
          <a:xfrm>
            <a:off x="8334375" y="2476500"/>
            <a:ext cx="6286500" cy="914400"/>
          </a:xfrm>
          <a:prstGeom prst="roundRect">
            <a:avLst>
              <a:gd name="adj" fmla="val 16667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第一父代：seeded 抽中候選 B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44577EB9-3E8C-4D1F-B9C7-03DC2C03F11A}"/>
              </a:ext>
            </a:extLst>
          </p:cNvPr>
          <p:cNvSpPr>
            <a:spLocks noGrp="1"/>
          </p:cNvSpPr>
          <p:nvPr/>
        </p:nvSpPr>
        <p:spPr>
          <a:xfrm>
            <a:off x="9144000" y="4476750"/>
            <a:ext cx="4667250" cy="1190625"/>
          </a:xfrm>
          <a:prstGeom prst="roundRect">
            <a:avLst>
              <a:gd name="adj" fmla="val 128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在 A、B、C 中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比較與 B 的語意距離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4CA55BC9-8270-4D3D-BBD5-9FAEF164B3F4}"/>
              </a:ext>
            </a:extLst>
          </p:cNvPr>
          <p:cNvSpPr>
            <a:spLocks noGrp="1"/>
          </p:cNvSpPr>
          <p:nvPr/>
        </p:nvSpPr>
        <p:spPr>
          <a:xfrm>
            <a:off x="9144000" y="6667500"/>
            <a:ext cx="4667250" cy="1047750"/>
          </a:xfrm>
          <a:prstGeom prst="roundRect">
            <a:avLst>
              <a:gd name="adj" fmla="val 14545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第二父代選候選 A</a:t>
            </a:r>
          </a:p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8／9 是最大距離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8A599A2-1BAD-4F60-A0D1-553139954C30}"/>
              </a:ext>
            </a:extLst>
          </p:cNvPr>
          <p:cNvSpPr>
            <a:spLocks noGrp="1"/>
          </p:cNvSpPr>
          <p:nvPr/>
        </p:nvSpPr>
        <p:spPr>
          <a:xfrm>
            <a:off x="762000" y="7391400"/>
            <a:ext cx="7143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D 低於 99.0，不能靠新穎性入選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079EE69-6635-4A10-97CB-D6FD8F9E600F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本頁為示例，非實驗結果。分數差 1.0 包含邊界；距離來自相容的九個動作探針</a:t>
            </a:r>
          </a:p>
        </p:txBody>
      </p:sp>
      <p:sp>
        <p:nvSpPr>
          <p:cNvPr id="25" name="Slide Number">
            <a:extLst>
              <a:ext uri="{FF2B5EF4-FFF2-40B4-BE49-F238E27FC236}">
                <a16:creationId xmlns:a16="http://schemas.microsoft.com/office/drawing/2014/main" id="{FA9FC058-6212-458A-B17B-990B1F6BCBFE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4AB0D5B-67A7-4501-A4DF-003AD2D4EDAA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8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519663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37A7E528-859E-4F21-BFD4-09FAF38521B3}"/>
              </a:ext>
            </a:extLst>
          </p:cNvPr>
          <p:cNvCxnSpPr>
            <a:stCxn id="7" idx="3"/>
            <a:endCxn id="13" idx="1"/>
          </p:cNvCxnSpPr>
          <p:nvPr/>
        </p:nvCxnSpPr>
        <p:spPr>
          <a:xfrm>
            <a:off x="4610100" y="6029325"/>
            <a:ext cx="14668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4A703BB6-891C-4857-B338-8C0CA2F860F0}"/>
              </a:ext>
            </a:extLst>
          </p:cNvPr>
          <p:cNvCxnSpPr>
            <a:stCxn id="9" idx="1"/>
            <a:endCxn id="12" idx="3"/>
          </p:cNvCxnSpPr>
          <p:nvPr/>
        </p:nvCxnSpPr>
        <p:spPr>
          <a:xfrm flipH="1">
            <a:off x="9791700" y="4743450"/>
            <a:ext cx="14478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7E93933D-83D8-4FC1-93BE-88BBDE8072B7}"/>
              </a:ext>
            </a:extLst>
          </p:cNvPr>
          <p:cNvCxnSpPr>
            <a:stCxn id="5" idx="3"/>
            <a:endCxn id="11" idx="1"/>
          </p:cNvCxnSpPr>
          <p:nvPr/>
        </p:nvCxnSpPr>
        <p:spPr>
          <a:xfrm>
            <a:off x="4610100" y="3457575"/>
            <a:ext cx="14668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20A5426D-5DB6-4BAA-B0A1-A99AB8CF084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交配與來源譜系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7005739-B9F0-496C-9ADE-2A59F6B846CF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直接父代與各成分的真正來源，分開保存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AE6D15-736D-4860-9D38-C08DA6EA603A}"/>
              </a:ext>
            </a:extLst>
          </p:cNvPr>
          <p:cNvSpPr>
            <a:spLocks noGrp="1"/>
          </p:cNvSpPr>
          <p:nvPr/>
        </p:nvSpPr>
        <p:spPr>
          <a:xfrm>
            <a:off x="800100" y="21431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 A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3B3D1A4-1027-47B1-B94D-340BDC51F0A1}"/>
              </a:ext>
            </a:extLst>
          </p:cNvPr>
          <p:cNvSpPr>
            <a:spLocks noGrp="1"/>
          </p:cNvSpPr>
          <p:nvPr/>
        </p:nvSpPr>
        <p:spPr>
          <a:xfrm>
            <a:off x="11239500" y="21431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 B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51DED2CA-0619-439A-AAF2-7AD9D6A1205F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381000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30E0F30-5461-4E28-94F9-6251F44C3315}"/>
              </a:ext>
            </a:extLst>
          </p:cNvPr>
          <p:cNvSpPr>
            <a:spLocks noGrp="1"/>
          </p:cNvSpPr>
          <p:nvPr/>
        </p:nvSpPr>
        <p:spPr>
          <a:xfrm>
            <a:off x="800100" y="4333875"/>
            <a:ext cx="381000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E6639225-B530-4C8F-86DB-B3B25D63219C}"/>
              </a:ext>
            </a:extLst>
          </p:cNvPr>
          <p:cNvSpPr>
            <a:spLocks noGrp="1"/>
          </p:cNvSpPr>
          <p:nvPr/>
        </p:nvSpPr>
        <p:spPr>
          <a:xfrm>
            <a:off x="800100" y="5619750"/>
            <a:ext cx="381000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D7B33931-43AE-4872-89FE-4F8382B00D36}"/>
              </a:ext>
            </a:extLst>
          </p:cNvPr>
          <p:cNvSpPr>
            <a:spLocks noGrp="1"/>
          </p:cNvSpPr>
          <p:nvPr/>
        </p:nvSpPr>
        <p:spPr>
          <a:xfrm>
            <a:off x="11239500" y="3048000"/>
            <a:ext cx="3810000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67A45F51-3BB7-4E99-B8B0-9FB444BDB3EA}"/>
              </a:ext>
            </a:extLst>
          </p:cNvPr>
          <p:cNvSpPr>
            <a:spLocks noGrp="1"/>
          </p:cNvSpPr>
          <p:nvPr/>
        </p:nvSpPr>
        <p:spPr>
          <a:xfrm>
            <a:off x="11239500" y="4333875"/>
            <a:ext cx="3810000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858BF93-348E-4548-B792-9EAEEBD6C885}"/>
              </a:ext>
            </a:extLst>
          </p:cNvPr>
          <p:cNvSpPr>
            <a:spLocks noGrp="1"/>
          </p:cNvSpPr>
          <p:nvPr/>
        </p:nvSpPr>
        <p:spPr>
          <a:xfrm>
            <a:off x="11239500" y="5619750"/>
            <a:ext cx="3810000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E4CF4AA8-38AF-4183-9105-DB05529CF01A}"/>
              </a:ext>
            </a:extLst>
          </p:cNvPr>
          <p:cNvSpPr>
            <a:spLocks noGrp="1"/>
          </p:cNvSpPr>
          <p:nvPr/>
        </p:nvSpPr>
        <p:spPr>
          <a:xfrm>
            <a:off x="6076950" y="3048000"/>
            <a:ext cx="371475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4FBF27DE-16A1-49A0-AB4A-B5571BA0AAE3}"/>
              </a:ext>
            </a:extLst>
          </p:cNvPr>
          <p:cNvSpPr>
            <a:spLocks noGrp="1"/>
          </p:cNvSpPr>
          <p:nvPr/>
        </p:nvSpPr>
        <p:spPr>
          <a:xfrm>
            <a:off x="6076950" y="4333875"/>
            <a:ext cx="3714750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288FE77D-DBDA-420E-AF0F-F8A4223A9819}"/>
              </a:ext>
            </a:extLst>
          </p:cNvPr>
          <p:cNvSpPr>
            <a:spLocks noGrp="1"/>
          </p:cNvSpPr>
          <p:nvPr/>
        </p:nvSpPr>
        <p:spPr>
          <a:xfrm>
            <a:off x="6076950" y="5619750"/>
            <a:ext cx="371475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E5A2285F-18B4-4FCF-802C-177DF07881F5}"/>
              </a:ext>
            </a:extLst>
          </p:cNvPr>
          <p:cNvSpPr>
            <a:spLocks noGrp="1"/>
          </p:cNvSpPr>
          <p:nvPr/>
        </p:nvSpPr>
        <p:spPr>
          <a:xfrm>
            <a:off x="5772150" y="2143125"/>
            <a:ext cx="4286250" cy="419100"/>
          </a:xfrm>
          <a:prstGeom prst="roundRect">
            <a:avLst>
              <a:gd name="adj" fmla="val 3636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子代：成分獨立選來源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A2AC485-CE28-47C6-AE67-8B2B103784C8}"/>
              </a:ext>
            </a:extLst>
          </p:cNvPr>
          <p:cNvSpPr>
            <a:spLocks noGrp="1"/>
          </p:cNvSpPr>
          <p:nvPr/>
        </p:nvSpPr>
        <p:spPr>
          <a:xfrm>
            <a:off x="4905375" y="6972300"/>
            <a:ext cx="6762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Java 這一列只在 inherited 模式啟用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9C3B90-CD84-40E2-9A20-CDC30B307AE1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DSL 模式複製完整 policy；framework 模式改為每個 slot 獨立交配並保存 donor</a:t>
            </a:r>
          </a:p>
        </p:txBody>
      </p:sp>
      <p:sp>
        <p:nvSpPr>
          <p:cNvPr id="20" name="Slide Number">
            <a:extLst>
              <a:ext uri="{FF2B5EF4-FFF2-40B4-BE49-F238E27FC236}">
                <a16:creationId xmlns:a16="http://schemas.microsoft.com/office/drawing/2014/main" id="{65CE4142-4AD1-413C-852E-C1604D62CA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A3689F8D-A4C5-418C-B3CC-D8556E97F07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9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513379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885EFF77-2B84-4A3A-9495-0B5739DD7204}"/>
              </a:ext>
            </a:extLst>
          </p:cNvPr>
          <p:cNvCxnSpPr>
            <a:stCxn id="4" idx="2"/>
            <a:endCxn id="14" idx="0"/>
          </p:cNvCxnSpPr>
          <p:nvPr/>
        </p:nvCxnSpPr>
        <p:spPr>
          <a:xfrm>
            <a:off x="7143750" y="4619625"/>
            <a:ext cx="476250" cy="24384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接點: 肘形 12">
            <a:extLst>
              <a:ext uri="{FF2B5EF4-FFF2-40B4-BE49-F238E27FC236}">
                <a16:creationId xmlns:a16="http://schemas.microsoft.com/office/drawing/2014/main" id="{EFC8FA70-53DA-4B3A-BCD3-6A6DB4E1841F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11430000" y="5143500"/>
            <a:ext cx="1262063" cy="190500"/>
          </a:xfrm>
          <a:prstGeom prst="bentConnector4">
            <a:avLst>
              <a:gd name="adj1" fmla="val 0"/>
              <a:gd name="adj2" fmla="val 6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A4CE7D0F-EA84-4A27-953C-625A596B33FE}"/>
              </a:ext>
            </a:extLst>
          </p:cNvPr>
          <p:cNvCxnSpPr>
            <a:stCxn id="4" idx="3"/>
            <a:endCxn id="10" idx="1"/>
          </p:cNvCxnSpPr>
          <p:nvPr/>
        </p:nvCxnSpPr>
        <p:spPr>
          <a:xfrm>
            <a:off x="8858250" y="3952875"/>
            <a:ext cx="1714500" cy="85725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554E2DB1-D38F-4466-8739-975677E9E463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1430000" y="2762250"/>
            <a:ext cx="1262063" cy="190500"/>
          </a:xfrm>
          <a:prstGeom prst="bentConnector4">
            <a:avLst>
              <a:gd name="adj1" fmla="val 0"/>
              <a:gd name="adj2" fmla="val 6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接點: 肘形 7">
            <a:extLst>
              <a:ext uri="{FF2B5EF4-FFF2-40B4-BE49-F238E27FC236}">
                <a16:creationId xmlns:a16="http://schemas.microsoft.com/office/drawing/2014/main" id="{C31749A7-45A8-4640-809D-32145E19C542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8858250" y="2428875"/>
            <a:ext cx="1714500" cy="15240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7E733DE8-3420-4350-8608-59AB5D121403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3905250" y="3952875"/>
            <a:ext cx="1524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97196400-FF4C-49CB-85A2-77B068E20BD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 模式的交配前 Code gate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0AA942-F9DF-49CA-843E-E1FECE936B73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僅 LLM 模式執行；每位實際來源先對照自己的策略與 Java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FF3DD07-A716-497B-A49F-3C7D31230E69}"/>
              </a:ext>
            </a:extLst>
          </p:cNvPr>
          <p:cNvSpPr>
            <a:spLocks noGrp="1"/>
          </p:cNvSpPr>
          <p:nvPr/>
        </p:nvSpPr>
        <p:spPr>
          <a:xfrm>
            <a:off x="762000" y="3286125"/>
            <a:ext cx="3143250" cy="1333500"/>
          </a:xfrm>
          <a:prstGeom prst="roundRect">
            <a:avLst>
              <a:gd name="adj" fmla="val 11429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來源 policy</a:t>
            </a:r>
          </a:p>
          <a:p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＋原始 Java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76A587DB-5483-40B1-BD20-C109975811AB}"/>
              </a:ext>
            </a:extLst>
          </p:cNvPr>
          <p:cNvSpPr>
            <a:spLocks noGrp="1"/>
          </p:cNvSpPr>
          <p:nvPr/>
        </p:nvSpPr>
        <p:spPr>
          <a:xfrm>
            <a:off x="5429250" y="3286125"/>
            <a:ext cx="3429000" cy="1333500"/>
          </a:xfrm>
          <a:prstGeom prst="roundRect">
            <a:avLst>
              <a:gd name="adj" fmla="val 11429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Code 診斷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8E1A189-63EF-40D7-9A47-321E20ACDE99}"/>
              </a:ext>
            </a:extLst>
          </p:cNvPr>
          <p:cNvSpPr>
            <a:spLocks noGrp="1"/>
          </p:cNvSpPr>
          <p:nvPr/>
        </p:nvSpPr>
        <p:spPr>
          <a:xfrm>
            <a:off x="10572750" y="2095500"/>
            <a:ext cx="1714500" cy="666750"/>
          </a:xfrm>
          <a:prstGeom prst="roundRect">
            <a:avLst>
              <a:gd name="adj" fmla="val 22857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健康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9B9113D-D905-4887-A07B-3F1D178BEC82}"/>
              </a:ext>
            </a:extLst>
          </p:cNvPr>
          <p:cNvSpPr>
            <a:spLocks noGrp="1"/>
          </p:cNvSpPr>
          <p:nvPr/>
        </p:nvSpPr>
        <p:spPr>
          <a:xfrm>
            <a:off x="10572750" y="2952750"/>
            <a:ext cx="4238625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正常交配與突變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DDCF1D20-ACE8-493E-B842-12FA0C8FC02C}"/>
              </a:ext>
            </a:extLst>
          </p:cNvPr>
          <p:cNvSpPr>
            <a:spLocks noGrp="1"/>
          </p:cNvSpPr>
          <p:nvPr/>
        </p:nvSpPr>
        <p:spPr>
          <a:xfrm>
            <a:off x="10572750" y="4476750"/>
            <a:ext cx="1714500" cy="666750"/>
          </a:xfrm>
          <a:prstGeom prst="roundRect">
            <a:avLst>
              <a:gd name="adj" fmla="val 22857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有缺陷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C8A0D435-8F01-487B-A74A-64E8A37B636C}"/>
              </a:ext>
            </a:extLst>
          </p:cNvPr>
          <p:cNvSpPr>
            <a:spLocks noGrp="1"/>
          </p:cNvSpPr>
          <p:nvPr/>
        </p:nvSpPr>
        <p:spPr>
          <a:xfrm>
            <a:off x="10572750" y="5334000"/>
            <a:ext cx="4238625" cy="1047750"/>
          </a:xfrm>
          <a:prstGeom prst="roundRect">
            <a:avLst>
              <a:gd name="adj" fmla="val 1454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單一父代修正 Java</a:t>
            </a:r>
          </a:p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保留原 prompt 基因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9DC5F2C7-3777-403F-9FEB-A92A39E7A7BC}"/>
              </a:ext>
            </a:extLst>
          </p:cNvPr>
          <p:cNvSpPr>
            <a:spLocks noGrp="1"/>
          </p:cNvSpPr>
          <p:nvPr/>
        </p:nvSpPr>
        <p:spPr>
          <a:xfrm>
            <a:off x="3810000" y="7058025"/>
            <a:ext cx="7620000" cy="609600"/>
          </a:xfrm>
          <a:prstGeom prst="roundRect">
            <a:avLst>
              <a:gd name="adj" fmla="val 25000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診斷失敗：保留證據，標記失敗子代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A8589AB-059E-4E05-96FF-A8D3E2F00E56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Code gate 只診斷策略忠實度與程式正確性，不使用勝率作修正依據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C64232EE-B88D-476A-A83B-37A254E01638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2D8B93FB-9260-4AC4-976D-6E22A5A617DB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019719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C20BA7E4-B1F0-409B-BB10-3EA804993E4C}"/>
              </a:ext>
            </a:extLst>
          </p:cNvPr>
          <p:cNvCxnSpPr>
            <a:stCxn id="27" idx="2"/>
            <a:endCxn id="30" idx="0"/>
          </p:cNvCxnSpPr>
          <p:nvPr/>
        </p:nvCxnSpPr>
        <p:spPr>
          <a:xfrm>
            <a:off x="12787313" y="5172075"/>
            <a:ext cx="0" cy="1533525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9" name="接點: 肘形 28">
            <a:extLst>
              <a:ext uri="{FF2B5EF4-FFF2-40B4-BE49-F238E27FC236}">
                <a16:creationId xmlns:a16="http://schemas.microsoft.com/office/drawing/2014/main" id="{FE5219D5-B10B-4921-8386-3BFB9AD1CACA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>
            <a:off x="9429750" y="3190875"/>
            <a:ext cx="1428750" cy="14097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8" name="接點: 肘形 27">
            <a:extLst>
              <a:ext uri="{FF2B5EF4-FFF2-40B4-BE49-F238E27FC236}">
                <a16:creationId xmlns:a16="http://schemas.microsoft.com/office/drawing/2014/main" id="{7AC4B8F0-FC74-4B41-8B55-EACB76A375E9}"/>
              </a:ext>
            </a:extLst>
          </p:cNvPr>
          <p:cNvCxnSpPr>
            <a:stCxn id="24" idx="3"/>
            <a:endCxn id="27" idx="1"/>
          </p:cNvCxnSpPr>
          <p:nvPr/>
        </p:nvCxnSpPr>
        <p:spPr>
          <a:xfrm flipV="1">
            <a:off x="9429750" y="4600575"/>
            <a:ext cx="1428750" cy="135255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5" name="接點: 肘形 24">
            <a:extLst>
              <a:ext uri="{FF2B5EF4-FFF2-40B4-BE49-F238E27FC236}">
                <a16:creationId xmlns:a16="http://schemas.microsoft.com/office/drawing/2014/main" id="{4001AEA4-CB45-4E59-A42C-D1B1ECDE2D27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>
            <a:off x="4191000" y="5867400"/>
            <a:ext cx="1333500" cy="85725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3EF12E2D-9018-45F5-A445-6E7094B107A7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Strategy Reflection 的證據路徑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AC08AA2-B9B8-4CB3-AC34-14EA7E4060A2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Coach 同時看全局摘要，但詳細賽評只取策略來源父代的一場最差對戰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2F4FBE-8E65-42FA-B41D-E75D1D775B91}"/>
              </a:ext>
            </a:extLst>
          </p:cNvPr>
          <p:cNvSpPr>
            <a:spLocks noGrp="1"/>
          </p:cNvSpPr>
          <p:nvPr/>
        </p:nvSpPr>
        <p:spPr>
          <a:xfrm>
            <a:off x="714375" y="2047875"/>
            <a:ext cx="4572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父代已完成對戰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DE70CC67-B27C-4778-85A8-29D4E504FE3C}"/>
              </a:ext>
            </a:extLst>
          </p:cNvPr>
          <p:cNvSpPr>
            <a:spLocks noGrp="1"/>
          </p:cNvSpPr>
          <p:nvPr/>
        </p:nvSpPr>
        <p:spPr>
          <a:xfrm>
            <a:off x="809625" y="28575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8C824D4B-EF5C-4454-91C2-A34E08DAC13F}"/>
              </a:ext>
            </a:extLst>
          </p:cNvPr>
          <p:cNvSpPr>
            <a:spLocks noGrp="1"/>
          </p:cNvSpPr>
          <p:nvPr/>
        </p:nvSpPr>
        <p:spPr>
          <a:xfrm>
            <a:off x="1400175" y="28575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A5DB97FF-B35B-4C6A-BD00-97977195165E}"/>
              </a:ext>
            </a:extLst>
          </p:cNvPr>
          <p:cNvSpPr>
            <a:spLocks noGrp="1"/>
          </p:cNvSpPr>
          <p:nvPr/>
        </p:nvSpPr>
        <p:spPr>
          <a:xfrm>
            <a:off x="1990725" y="28575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7DC6351B-486D-401C-8624-8BC96E55E0E5}"/>
              </a:ext>
            </a:extLst>
          </p:cNvPr>
          <p:cNvSpPr>
            <a:spLocks noGrp="1"/>
          </p:cNvSpPr>
          <p:nvPr/>
        </p:nvSpPr>
        <p:spPr>
          <a:xfrm>
            <a:off x="2581275" y="28575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89B65FE-079E-4EF1-BAA0-958E6C11714F}"/>
              </a:ext>
            </a:extLst>
          </p:cNvPr>
          <p:cNvSpPr>
            <a:spLocks noGrp="1"/>
          </p:cNvSpPr>
          <p:nvPr/>
        </p:nvSpPr>
        <p:spPr>
          <a:xfrm>
            <a:off x="3171825" y="28575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D3A7EF0-C9E7-41FC-95EC-FE54365D930E}"/>
              </a:ext>
            </a:extLst>
          </p:cNvPr>
          <p:cNvSpPr>
            <a:spLocks noGrp="1"/>
          </p:cNvSpPr>
          <p:nvPr/>
        </p:nvSpPr>
        <p:spPr>
          <a:xfrm>
            <a:off x="3762375" y="28575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3F2CBEC-EA2D-4852-B779-4D503BDB2CBB}"/>
              </a:ext>
            </a:extLst>
          </p:cNvPr>
          <p:cNvSpPr>
            <a:spLocks noGrp="1"/>
          </p:cNvSpPr>
          <p:nvPr/>
        </p:nvSpPr>
        <p:spPr>
          <a:xfrm>
            <a:off x="80962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01034E37-35A9-456C-9384-A291058E9B8B}"/>
              </a:ext>
            </a:extLst>
          </p:cNvPr>
          <p:cNvSpPr>
            <a:spLocks noGrp="1"/>
          </p:cNvSpPr>
          <p:nvPr/>
        </p:nvSpPr>
        <p:spPr>
          <a:xfrm>
            <a:off x="140017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857CEA14-4FFA-4BE2-9E7C-3A818AB390A1}"/>
              </a:ext>
            </a:extLst>
          </p:cNvPr>
          <p:cNvSpPr>
            <a:spLocks noGrp="1"/>
          </p:cNvSpPr>
          <p:nvPr/>
        </p:nvSpPr>
        <p:spPr>
          <a:xfrm>
            <a:off x="199072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24948BC-0F05-4D50-990F-F468287A0566}"/>
              </a:ext>
            </a:extLst>
          </p:cNvPr>
          <p:cNvSpPr>
            <a:spLocks noGrp="1"/>
          </p:cNvSpPr>
          <p:nvPr/>
        </p:nvSpPr>
        <p:spPr>
          <a:xfrm>
            <a:off x="258127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69205B8D-04A4-4894-A64E-1D691BA4EDFF}"/>
              </a:ext>
            </a:extLst>
          </p:cNvPr>
          <p:cNvSpPr>
            <a:spLocks noGrp="1"/>
          </p:cNvSpPr>
          <p:nvPr/>
        </p:nvSpPr>
        <p:spPr>
          <a:xfrm>
            <a:off x="317182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77B90EC5-2F22-43BC-A21C-4B659849DCF0}"/>
              </a:ext>
            </a:extLst>
          </p:cNvPr>
          <p:cNvSpPr>
            <a:spLocks noGrp="1"/>
          </p:cNvSpPr>
          <p:nvPr/>
        </p:nvSpPr>
        <p:spPr>
          <a:xfrm>
            <a:off x="376237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C3E181A6-1800-455D-9095-7ADE016E62FD}"/>
              </a:ext>
            </a:extLst>
          </p:cNvPr>
          <p:cNvSpPr>
            <a:spLocks noGrp="1"/>
          </p:cNvSpPr>
          <p:nvPr/>
        </p:nvSpPr>
        <p:spPr>
          <a:xfrm>
            <a:off x="809625" y="40386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83F86C84-6EF0-487E-A3B6-F43EF8B3D95F}"/>
              </a:ext>
            </a:extLst>
          </p:cNvPr>
          <p:cNvSpPr>
            <a:spLocks noGrp="1"/>
          </p:cNvSpPr>
          <p:nvPr/>
        </p:nvSpPr>
        <p:spPr>
          <a:xfrm>
            <a:off x="1400175" y="40386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CBBB8FCF-340C-4E58-B8AE-A50F43BC759B}"/>
              </a:ext>
            </a:extLst>
          </p:cNvPr>
          <p:cNvSpPr>
            <a:spLocks noGrp="1"/>
          </p:cNvSpPr>
          <p:nvPr/>
        </p:nvSpPr>
        <p:spPr>
          <a:xfrm>
            <a:off x="1990725" y="40386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3B0A5F0C-93D2-4FD9-805E-C73252B41860}"/>
              </a:ext>
            </a:extLst>
          </p:cNvPr>
          <p:cNvSpPr>
            <a:spLocks noGrp="1"/>
          </p:cNvSpPr>
          <p:nvPr/>
        </p:nvSpPr>
        <p:spPr>
          <a:xfrm>
            <a:off x="2581275" y="40386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F9999C55-B858-4A99-804E-FAA630CF26DA}"/>
              </a:ext>
            </a:extLst>
          </p:cNvPr>
          <p:cNvSpPr>
            <a:spLocks noGrp="1"/>
          </p:cNvSpPr>
          <p:nvPr/>
        </p:nvSpPr>
        <p:spPr>
          <a:xfrm>
            <a:off x="3171825" y="40386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813922F1-8065-4676-B64F-AF3135028ECE}"/>
              </a:ext>
            </a:extLst>
          </p:cNvPr>
          <p:cNvSpPr>
            <a:spLocks noGrp="1"/>
          </p:cNvSpPr>
          <p:nvPr/>
        </p:nvSpPr>
        <p:spPr>
          <a:xfrm>
            <a:off x="3762375" y="40386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48B7394E-22D3-4137-B0FA-58B252D2D2DE}"/>
              </a:ext>
            </a:extLst>
          </p:cNvPr>
          <p:cNvSpPr>
            <a:spLocks noGrp="1"/>
          </p:cNvSpPr>
          <p:nvPr/>
        </p:nvSpPr>
        <p:spPr>
          <a:xfrm>
            <a:off x="199072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差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1D97F590-127F-433C-9838-4EE831E6615B}"/>
              </a:ext>
            </a:extLst>
          </p:cNvPr>
          <p:cNvSpPr>
            <a:spLocks noGrp="1"/>
          </p:cNvSpPr>
          <p:nvPr/>
        </p:nvSpPr>
        <p:spPr>
          <a:xfrm>
            <a:off x="857250" y="5476875"/>
            <a:ext cx="3333750" cy="781050"/>
          </a:xfrm>
          <a:prstGeom prst="roundRect">
            <a:avLst>
              <a:gd name="adj" fmla="val 1951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 場詳細 trace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8B56B69B-41A7-46C7-A7CE-0DADE0D65436}"/>
              </a:ext>
            </a:extLst>
          </p:cNvPr>
          <p:cNvSpPr>
            <a:spLocks noGrp="1"/>
          </p:cNvSpPr>
          <p:nvPr/>
        </p:nvSpPr>
        <p:spPr>
          <a:xfrm>
            <a:off x="5524500" y="5429250"/>
            <a:ext cx="3905250" cy="1047750"/>
          </a:xfrm>
          <a:prstGeom prst="roundRect">
            <a:avLst>
              <a:gd name="adj" fmla="val 1454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Match Commentator</a:t>
            </a:r>
          </a:p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診斷轉折與失誤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69F3A3E1-97B1-4CEB-A8B8-AF48CAFD0D95}"/>
              </a:ext>
            </a:extLst>
          </p:cNvPr>
          <p:cNvSpPr>
            <a:spLocks noGrp="1"/>
          </p:cNvSpPr>
          <p:nvPr/>
        </p:nvSpPr>
        <p:spPr>
          <a:xfrm>
            <a:off x="5524500" y="2733675"/>
            <a:ext cx="3905250" cy="914400"/>
          </a:xfrm>
          <a:prstGeom prst="roundRect">
            <a:avLst>
              <a:gd name="adj" fmla="val 16667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全場 global summary</a:t>
            </a: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614498DD-E2B6-49F8-A7F8-8991684092FC}"/>
              </a:ext>
            </a:extLst>
          </p:cNvPr>
          <p:cNvSpPr>
            <a:spLocks noGrp="1"/>
          </p:cNvSpPr>
          <p:nvPr/>
        </p:nvSpPr>
        <p:spPr>
          <a:xfrm>
            <a:off x="10858500" y="4029075"/>
            <a:ext cx="3857625" cy="1143000"/>
          </a:xfrm>
          <a:prstGeom prst="roundRect">
            <a:avLst>
              <a:gd name="adj" fmla="val 13333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Coach</a:t>
            </a: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1684CB3A-C673-44EA-8A9F-3F82C1072CB4}"/>
              </a:ext>
            </a:extLst>
          </p:cNvPr>
          <p:cNvSpPr>
            <a:spLocks noGrp="1"/>
          </p:cNvSpPr>
          <p:nvPr/>
        </p:nvSpPr>
        <p:spPr>
          <a:xfrm>
            <a:off x="10620375" y="6705600"/>
            <a:ext cx="4333875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DSL 或完整 genome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C992028-09E0-41C1-843F-B5FDC9ACA013}"/>
              </a:ext>
            </a:extLst>
          </p:cNvPr>
          <p:cNvSpPr>
            <a:spLocks noGrp="1"/>
          </p:cNvSpPr>
          <p:nvPr/>
        </p:nvSpPr>
        <p:spPr>
          <a:xfrm>
            <a:off x="790575" y="4667250"/>
            <a:ext cx="4000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圖中場次方塊為示意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07A54A6-B282-436A-A117-3AB7EAFB43F4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找不到該場 trace 或賽評失敗，不另挑替代賽事；原基因與證據保留</a:t>
            </a:r>
          </a:p>
        </p:txBody>
      </p:sp>
      <p:sp>
        <p:nvSpPr>
          <p:cNvPr id="34" name="Slide Number">
            <a:extLst>
              <a:ext uri="{FF2B5EF4-FFF2-40B4-BE49-F238E27FC236}">
                <a16:creationId xmlns:a16="http://schemas.microsoft.com/office/drawing/2014/main" id="{E1974AD5-C155-4415-9BBD-5F126C53FB51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65961325-30D6-40A6-90BC-42900D3269DC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307316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183A2486-FAD0-4FDC-881A-B3F62EAAA101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3762375" y="4095750"/>
            <a:ext cx="0" cy="619125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8E1C8B24-3279-41A4-BB19-1502ADFA6D6A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最差場次與策略回應的驗證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6172EB7-C109-4FEE-B593-271373C65721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先選對證據，再驗證 Coach 提出的完整規則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647CAD-488C-4C0D-ABA5-A3564F4CEF68}"/>
              </a:ext>
            </a:extLst>
          </p:cNvPr>
          <p:cNvSpPr>
            <a:spLocks noGrp="1"/>
          </p:cNvSpPr>
          <p:nvPr/>
        </p:nvSpPr>
        <p:spPr>
          <a:xfrm>
            <a:off x="781050" y="2190750"/>
            <a:ext cx="6191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最差已完成場次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30EAA1-5768-4237-81AD-62EC38F2ABF5}"/>
              </a:ext>
            </a:extLst>
          </p:cNvPr>
          <p:cNvSpPr>
            <a:spLocks noGrp="1"/>
          </p:cNvSpPr>
          <p:nvPr/>
        </p:nvSpPr>
        <p:spPr>
          <a:xfrm>
            <a:off x="8715375" y="2190750"/>
            <a:ext cx="6191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JSONL 逐行規則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2F09356C-A027-43D2-938D-401D828EABD8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5810250" cy="952500"/>
          </a:xfrm>
          <a:prstGeom prst="roundRect">
            <a:avLst>
              <a:gd name="adj" fmla="val 16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performance 為有限值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選最低值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F3C05D4F-1BBB-41B8-9C00-43AB4075FD0D}"/>
              </a:ext>
            </a:extLst>
          </p:cNvPr>
          <p:cNvSpPr>
            <a:spLocks noGrp="1"/>
          </p:cNvSpPr>
          <p:nvPr/>
        </p:nvSpPr>
        <p:spPr>
          <a:xfrm>
            <a:off x="857250" y="4714875"/>
            <a:ext cx="5810250" cy="857250"/>
          </a:xfrm>
          <a:prstGeom prst="roundRect">
            <a:avLst>
              <a:gd name="adj" fmla="val 1777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缺值時：敗 −100、和 0、勝 100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92652E-FF38-48B0-9DCE-C094F3CDE787}"/>
              </a:ext>
            </a:extLst>
          </p:cNvPr>
          <p:cNvSpPr>
            <a:spLocks noGrp="1"/>
          </p:cNvSpPr>
          <p:nvPr/>
        </p:nvSpPr>
        <p:spPr>
          <a:xfrm>
            <a:off x="952500" y="6134100"/>
            <a:ext cx="6000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同分按 match_id；失敗比賽排除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A9355272-FEBE-499A-932B-735F7BFF0E9A}"/>
              </a:ext>
            </a:extLst>
          </p:cNvPr>
          <p:cNvSpPr>
            <a:spLocks noGrp="1"/>
          </p:cNvSpPr>
          <p:nvPr/>
        </p:nvSpPr>
        <p:spPr>
          <a:xfrm>
            <a:off x="8810625" y="3143250"/>
            <a:ext cx="5905500" cy="952500"/>
          </a:xfrm>
          <a:prstGeom prst="roundRect">
            <a:avLst>
              <a:gd name="adj" fmla="val 16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合法規則 1　保留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4D0EB4D-55B0-44BD-9F08-136B910A869A}"/>
              </a:ext>
            </a:extLst>
          </p:cNvPr>
          <p:cNvSpPr>
            <a:spLocks noGrp="1"/>
          </p:cNvSpPr>
          <p:nvPr/>
        </p:nvSpPr>
        <p:spPr>
          <a:xfrm>
            <a:off x="8810625" y="4476750"/>
            <a:ext cx="5905500" cy="952500"/>
          </a:xfrm>
          <a:prstGeom prst="roundRect">
            <a:avLst>
              <a:gd name="adj" fmla="val 16000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非法整行規則　捨棄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8DBBE7E2-E33F-4710-84AD-FF008A6CF2E2}"/>
              </a:ext>
            </a:extLst>
          </p:cNvPr>
          <p:cNvSpPr>
            <a:spLocks noGrp="1"/>
          </p:cNvSpPr>
          <p:nvPr/>
        </p:nvSpPr>
        <p:spPr>
          <a:xfrm>
            <a:off x="8810625" y="5810250"/>
            <a:ext cx="5905500" cy="952500"/>
          </a:xfrm>
          <a:prstGeom prst="roundRect">
            <a:avLst>
              <a:gd name="adj" fmla="val 16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合法規則 3　保留</a:t>
            </a: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02DF9342-BBCF-4F92-AA85-1CA1B5222D85}"/>
              </a:ext>
            </a:extLst>
          </p:cNvPr>
          <p:cNvCxnSpPr/>
          <p:nvPr/>
        </p:nvCxnSpPr>
        <p:spPr>
          <a:xfrm>
            <a:off x="7905750" y="2381250"/>
            <a:ext cx="0" cy="4857750"/>
          </a:xfrm>
          <a:prstGeom prst="straightConnector1">
            <a:avLst/>
          </a:prstGeom>
          <a:ln w="9525">
            <a:solidFill>
              <a:srgbClr val="DEB4BA"/>
            </a:solidFill>
          </a:ln>
        </p:spPr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9AB28DD8-9F2F-41B3-B233-071A5F7A7B39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合法規則保留原順序；至少一條才成功。Framework 回應仍要求完整 genome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F26CA8EE-62CA-491F-8B44-40BDFD9DB276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E1AA0EC-FDD1-4336-89F1-4F14C1DE573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211347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B526387D-4A96-463A-B2E5-E63EF5F414E0}"/>
              </a:ext>
            </a:extLst>
          </p:cNvPr>
          <p:cNvCxnSpPr>
            <a:stCxn id="10" idx="1"/>
            <a:endCxn id="12" idx="3"/>
          </p:cNvCxnSpPr>
          <p:nvPr/>
        </p:nvCxnSpPr>
        <p:spPr>
          <a:xfrm flipH="1">
            <a:off x="4095750" y="6048375"/>
            <a:ext cx="1143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A45A309D-0A9A-4353-A843-F9543E742A49}"/>
              </a:ext>
            </a:extLst>
          </p:cNvPr>
          <p:cNvCxnSpPr>
            <a:stCxn id="8" idx="1"/>
            <a:endCxn id="10" idx="3"/>
          </p:cNvCxnSpPr>
          <p:nvPr/>
        </p:nvCxnSpPr>
        <p:spPr>
          <a:xfrm flipH="1">
            <a:off x="9334500" y="6048375"/>
            <a:ext cx="10953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3170EABA-A9B4-4350-8395-DC6483A86C1E}"/>
              </a:ext>
            </a:extLst>
          </p:cNvPr>
          <p:cNvCxnSpPr>
            <a:stCxn id="6" idx="2"/>
            <a:endCxn id="8" idx="0"/>
          </p:cNvCxnSpPr>
          <p:nvPr/>
        </p:nvCxnSpPr>
        <p:spPr>
          <a:xfrm flipH="1">
            <a:off x="12620625" y="4095750"/>
            <a:ext cx="333375" cy="15240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ABD937B0-1F56-4C0D-9083-2EB698FD9DE4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9572625" y="3619500"/>
            <a:ext cx="1524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6B6D6D37-5165-4B18-A5AE-5B973381DCA1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5143500" y="3619500"/>
            <a:ext cx="1190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50CC51A1-7056-4B9A-8412-CEF9D38B69A3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Prompt Reflection 的資料邊界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594E31-043A-4AED-B0AE-1D118B8B8AB2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改進「如何把策略翻成 Java」的可重用規則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58B28D36-F86A-4E12-A2DD-CA54C292F564}"/>
              </a:ext>
            </a:extLst>
          </p:cNvPr>
          <p:cNvSpPr>
            <a:spLocks noGrp="1"/>
          </p:cNvSpPr>
          <p:nvPr/>
        </p:nvSpPr>
        <p:spPr>
          <a:xfrm>
            <a:off x="762000" y="2619375"/>
            <a:ext cx="4381500" cy="2000250"/>
          </a:xfrm>
          <a:prstGeom prst="roundRect">
            <a:avLst>
              <a:gd name="adj" fmla="val 7619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Policy</a:t>
            </a:r>
          </a:p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可編輯 Java 區域</a:t>
            </a:r>
          </a:p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相符的 validation／compiler 診斷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B12A2CB-9133-4D65-B90A-0C32DB3C2F2C}"/>
              </a:ext>
            </a:extLst>
          </p:cNvPr>
          <p:cNvSpPr>
            <a:spLocks noGrp="1"/>
          </p:cNvSpPr>
          <p:nvPr/>
        </p:nvSpPr>
        <p:spPr>
          <a:xfrm>
            <a:off x="6334125" y="3143250"/>
            <a:ext cx="3238500" cy="952500"/>
          </a:xfrm>
          <a:prstGeom prst="roundRect">
            <a:avLst>
              <a:gd name="adj" fmla="val 16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Reviewer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DEC3366-ADD3-4B48-A715-B02A7A9C3312}"/>
              </a:ext>
            </a:extLst>
          </p:cNvPr>
          <p:cNvSpPr>
            <a:spLocks noGrp="1"/>
          </p:cNvSpPr>
          <p:nvPr/>
        </p:nvSpPr>
        <p:spPr>
          <a:xfrm>
            <a:off x="11096625" y="3143250"/>
            <a:ext cx="3714750" cy="952500"/>
          </a:xfrm>
          <a:prstGeom prst="roundRect">
            <a:avLst>
              <a:gd name="adj" fmla="val 16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Rewriter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525D3D2-24A6-4CB7-BD21-1D4E496F4654}"/>
              </a:ext>
            </a:extLst>
          </p:cNvPr>
          <p:cNvSpPr>
            <a:spLocks noGrp="1"/>
          </p:cNvSpPr>
          <p:nvPr/>
        </p:nvSpPr>
        <p:spPr>
          <a:xfrm>
            <a:off x="10429875" y="5619750"/>
            <a:ext cx="4381500" cy="857250"/>
          </a:xfrm>
          <a:prstGeom prst="roundRect">
            <a:avLst>
              <a:gd name="adj" fmla="val 1777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Reusable-rule delta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2D5B060-DA89-40F0-881F-F40CBF9963DF}"/>
              </a:ext>
            </a:extLst>
          </p:cNvPr>
          <p:cNvSpPr>
            <a:spLocks noGrp="1"/>
          </p:cNvSpPr>
          <p:nvPr/>
        </p:nvSpPr>
        <p:spPr>
          <a:xfrm>
            <a:off x="5238750" y="5619750"/>
            <a:ext cx="4095750" cy="857250"/>
          </a:xfrm>
          <a:prstGeom prst="roundRect">
            <a:avLst>
              <a:gd name="adj" fmla="val 17778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generation_prompt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0015BC5D-0A5D-43BA-AC2B-D91E9AC60F39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3333750" cy="857250"/>
          </a:xfrm>
          <a:prstGeom prst="roundRect">
            <a:avLst>
              <a:gd name="adj" fmla="val 1777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 Generator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0BF7C280-9ED5-49DF-9931-09FF231552C9}"/>
              </a:ext>
            </a:extLst>
          </p:cNvPr>
          <p:cNvSpPr>
            <a:spLocks noGrp="1"/>
          </p:cNvSpPr>
          <p:nvPr/>
        </p:nvSpPr>
        <p:spPr>
          <a:xfrm>
            <a:off x="5238750" y="7105650"/>
            <a:ext cx="4095750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策略基因保留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86B1B9E-2251-4AC1-BE6F-C733BB3E4A31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Reviewer 不接收勝敗、fitness、對手分數或比賽 trace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53C446D4-3551-44C6-9F8F-FAC28FDDF70F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F3CBFB0-C22E-4AAE-928C-F1E060BB1949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10772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接點: 肘形 20">
            <a:extLst>
              <a:ext uri="{FF2B5EF4-FFF2-40B4-BE49-F238E27FC236}">
                <a16:creationId xmlns:a16="http://schemas.microsoft.com/office/drawing/2014/main" id="{1EFA80EA-D33F-4F16-A3DB-DA7E8A91EE19}"/>
              </a:ext>
            </a:extLst>
          </p:cNvPr>
          <p:cNvCxnSpPr>
            <a:stCxn id="15" idx="2"/>
            <a:endCxn id="18" idx="0"/>
          </p:cNvCxnSpPr>
          <p:nvPr/>
        </p:nvCxnSpPr>
        <p:spPr>
          <a:xfrm flipH="1">
            <a:off x="8072438" y="6048375"/>
            <a:ext cx="4867275" cy="1238250"/>
          </a:xfrm>
          <a:prstGeom prst="bentConnector4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821040EC-9D13-4C0C-B00F-7416C6CB8AA0}"/>
              </a:ext>
            </a:extLst>
          </p:cNvPr>
          <p:cNvCxnSpPr>
            <a:stCxn id="10" idx="2"/>
            <a:endCxn id="18" idx="0"/>
          </p:cNvCxnSpPr>
          <p:nvPr/>
        </p:nvCxnSpPr>
        <p:spPr>
          <a:xfrm>
            <a:off x="7958138" y="6048375"/>
            <a:ext cx="2414588" cy="1238250"/>
          </a:xfrm>
          <a:prstGeom prst="bentConnector4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FDDF6318-038C-42FC-BCF7-1B95A9B4C447}"/>
              </a:ext>
            </a:extLst>
          </p:cNvPr>
          <p:cNvCxnSpPr>
            <a:stCxn id="5" idx="2"/>
            <a:endCxn id="18" idx="0"/>
          </p:cNvCxnSpPr>
          <p:nvPr/>
        </p:nvCxnSpPr>
        <p:spPr>
          <a:xfrm>
            <a:off x="2976563" y="6048375"/>
            <a:ext cx="5095875" cy="1238250"/>
          </a:xfrm>
          <a:prstGeom prst="bentConnector4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45DD697B-2D40-475E-810E-361E30EE8E8E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 flipH="1">
            <a:off x="12939713" y="4524375"/>
            <a:ext cx="4763" cy="7143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接點: 肘形 10">
            <a:extLst>
              <a:ext uri="{FF2B5EF4-FFF2-40B4-BE49-F238E27FC236}">
                <a16:creationId xmlns:a16="http://schemas.microsoft.com/office/drawing/2014/main" id="{610EF0DD-7299-4E88-B05A-AABF0E96CEBF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flipH="1">
            <a:off x="7958138" y="4524375"/>
            <a:ext cx="4763" cy="7143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接點: 肘形 5">
            <a:extLst>
              <a:ext uri="{FF2B5EF4-FFF2-40B4-BE49-F238E27FC236}">
                <a16:creationId xmlns:a16="http://schemas.microsoft.com/office/drawing/2014/main" id="{3A77E2E4-FD40-44A1-AE72-9250FBA722C7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2976563" y="4524375"/>
            <a:ext cx="4763" cy="7143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82DBC727-B5BB-43C6-A862-F4FE0CF0E31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三條 Java 產生路徑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F4E832-0FA3-460E-8505-9921AB7912A6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不同基因表示，匯入同一條 Java 驗證與對戰路徑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05F7B8-B8FA-4344-AF09-2B422BE586E5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45910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F3D5CF29-F24E-4DB6-AFD8-3DF850F3737D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4591050" cy="1285875"/>
          </a:xfrm>
          <a:prstGeom prst="roundRect">
            <a:avLst>
              <a:gd name="adj" fmla="val 1185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策略＋generation prompt</a:t>
            </a:r>
          </a:p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選配 inherited Java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6E1FA677-2CA1-458B-8758-CD104F32644A}"/>
              </a:ext>
            </a:extLst>
          </p:cNvPr>
          <p:cNvSpPr>
            <a:spLocks noGrp="1"/>
          </p:cNvSpPr>
          <p:nvPr/>
        </p:nvSpPr>
        <p:spPr>
          <a:xfrm>
            <a:off x="1238250" y="5238750"/>
            <a:ext cx="3476625" cy="809625"/>
          </a:xfrm>
          <a:prstGeom prst="roundRect">
            <a:avLst>
              <a:gd name="adj" fmla="val 18824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5CE3461-BC6E-4E60-9ED5-516BA74F94FF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45910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有界生成／編譯修復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9E71231-B449-4BDF-9F4C-AD0595EF3E54}"/>
              </a:ext>
            </a:extLst>
          </p:cNvPr>
          <p:cNvSpPr>
            <a:spLocks noGrp="1"/>
          </p:cNvSpPr>
          <p:nvPr/>
        </p:nvSpPr>
        <p:spPr>
          <a:xfrm>
            <a:off x="5667375" y="2143125"/>
            <a:ext cx="45910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Deterministic DSL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B9D21D8-FC57-4F68-A5B0-59B17D41D9E5}"/>
              </a:ext>
            </a:extLst>
          </p:cNvPr>
          <p:cNvSpPr>
            <a:spLocks noGrp="1"/>
          </p:cNvSpPr>
          <p:nvPr/>
        </p:nvSpPr>
        <p:spPr>
          <a:xfrm>
            <a:off x="5667375" y="3238500"/>
            <a:ext cx="4591050" cy="1285875"/>
          </a:xfrm>
          <a:prstGeom prst="roundRect">
            <a:avLst>
              <a:gd name="adj" fmla="val 1185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Canonical policy</a:t>
            </a:r>
          </a:p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本地 typed IR 編譯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449E9941-7B85-4F26-886B-ED066B1BF6A8}"/>
              </a:ext>
            </a:extLst>
          </p:cNvPr>
          <p:cNvSpPr>
            <a:spLocks noGrp="1"/>
          </p:cNvSpPr>
          <p:nvPr/>
        </p:nvSpPr>
        <p:spPr>
          <a:xfrm>
            <a:off x="6219825" y="5238750"/>
            <a:ext cx="3476625" cy="809625"/>
          </a:xfrm>
          <a:prstGeom prst="roundRect">
            <a:avLst>
              <a:gd name="adj" fmla="val 1882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CCF0F29-73B8-4BBB-8BA1-1BD95DC4FE12}"/>
              </a:ext>
            </a:extLst>
          </p:cNvPr>
          <p:cNvSpPr>
            <a:spLocks noGrp="1"/>
          </p:cNvSpPr>
          <p:nvPr/>
        </p:nvSpPr>
        <p:spPr>
          <a:xfrm>
            <a:off x="5667375" y="6400800"/>
            <a:ext cx="45910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失敗不呼叫 LLM 修復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0D13F4-38FE-4805-B98D-3DFF307A2630}"/>
              </a:ext>
            </a:extLst>
          </p:cNvPr>
          <p:cNvSpPr>
            <a:spLocks noGrp="1"/>
          </p:cNvSpPr>
          <p:nvPr/>
        </p:nvSpPr>
        <p:spPr>
          <a:xfrm>
            <a:off x="10648950" y="2143125"/>
            <a:ext cx="45910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slots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169C6E67-F313-4854-864E-452777F17479}"/>
              </a:ext>
            </a:extLst>
          </p:cNvPr>
          <p:cNvSpPr>
            <a:spLocks noGrp="1"/>
          </p:cNvSpPr>
          <p:nvPr/>
        </p:nvSpPr>
        <p:spPr>
          <a:xfrm>
            <a:off x="10648950" y="3238500"/>
            <a:ext cx="4591050" cy="1285875"/>
          </a:xfrm>
          <a:prstGeom prst="roundRect">
            <a:avLst>
              <a:gd name="adj" fmla="val 1185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凍結 template</a:t>
            </a:r>
          </a:p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＋完整 control_genome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E6B2ADEA-FADF-41B5-9C47-E51CF1D061ED}"/>
              </a:ext>
            </a:extLst>
          </p:cNvPr>
          <p:cNvSpPr>
            <a:spLocks noGrp="1"/>
          </p:cNvSpPr>
          <p:nvPr/>
        </p:nvSpPr>
        <p:spPr>
          <a:xfrm>
            <a:off x="11201400" y="5238750"/>
            <a:ext cx="3476625" cy="809625"/>
          </a:xfrm>
          <a:prstGeom prst="roundRect">
            <a:avLst>
              <a:gd name="adj" fmla="val 1882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36FE415-693F-452B-B894-ECD1640C9916}"/>
              </a:ext>
            </a:extLst>
          </p:cNvPr>
          <p:cNvSpPr>
            <a:spLocks noGrp="1"/>
          </p:cNvSpPr>
          <p:nvPr/>
        </p:nvSpPr>
        <p:spPr>
          <a:xfrm>
            <a:off x="10648950" y="6400800"/>
            <a:ext cx="45910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失敗不呼叫 LLM 修復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9113A677-F694-4A1D-886E-BC35CEF01736}"/>
              </a:ext>
            </a:extLst>
          </p:cNvPr>
          <p:cNvSpPr>
            <a:spLocks noGrp="1"/>
          </p:cNvSpPr>
          <p:nvPr/>
        </p:nvSpPr>
        <p:spPr>
          <a:xfrm>
            <a:off x="3524250" y="7286625"/>
            <a:ext cx="9096375" cy="609600"/>
          </a:xfrm>
          <a:prstGeom prst="roundRect">
            <a:avLst>
              <a:gd name="adj" fmla="val 2500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Validation → javac → Integration → MicroRTS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A2888D7-D237-4096-97CA-59A5D5A6785E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必須啟用語意 probe，用於行為去重與分數層內的選擇</a:t>
            </a:r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851A8F88-1638-459B-A680-0A9703C68B6F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1EBCB92F-6773-424D-8B1C-9757D5D910CA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107006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E7EE5C4E-4522-429A-A84F-8ECFDA9E4447}"/>
              </a:ext>
            </a:extLst>
          </p:cNvPr>
          <p:cNvCxnSpPr>
            <a:stCxn id="10" idx="1"/>
            <a:endCxn id="16" idx="3"/>
          </p:cNvCxnSpPr>
          <p:nvPr/>
        </p:nvCxnSpPr>
        <p:spPr>
          <a:xfrm flipH="1">
            <a:off x="4048125" y="6405563"/>
            <a:ext cx="17621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0D58AD95-AA25-4E31-BB8C-E99E0E6B7713}"/>
              </a:ext>
            </a:extLst>
          </p:cNvPr>
          <p:cNvCxnSpPr>
            <a:stCxn id="10" idx="0"/>
            <a:endCxn id="4" idx="2"/>
          </p:cNvCxnSpPr>
          <p:nvPr/>
        </p:nvCxnSpPr>
        <p:spPr>
          <a:xfrm flipV="1">
            <a:off x="6553200" y="4000500"/>
            <a:ext cx="1209675" cy="1905000"/>
          </a:xfrm>
          <a:prstGeom prst="bentConnector4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8E001034-CC2A-4544-87BB-5463B544FF2F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13192125" y="4000500"/>
            <a:ext cx="23813" cy="19050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4C5A2373-DA4D-4E07-B713-F110D4F17062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9715500" y="3357563"/>
            <a:ext cx="14763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52485911-FCBA-46DD-8C18-8EEE63EF2ED7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048125" y="3357563"/>
            <a:ext cx="17621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04D4D293-3F50-4EA4-BA46-EC564293D7F1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 生成與有界修復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BFA71BC-A0D7-4524-96FE-2709FFC32661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第一份驗證與編譯成功的 source／classes，成為唯一 canonical 表型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9D40A386-7419-444B-BC71-128F0199F1C5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3286125" cy="1285875"/>
          </a:xfrm>
          <a:prstGeom prst="roundRect">
            <a:avLst>
              <a:gd name="adj" fmla="val 1185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權威基因</a:t>
            </a:r>
          </a:p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＋固定 scaffold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9F8045F-DD96-4322-9F4B-AE28801A4B8A}"/>
              </a:ext>
            </a:extLst>
          </p:cNvPr>
          <p:cNvSpPr>
            <a:spLocks noGrp="1"/>
          </p:cNvSpPr>
          <p:nvPr/>
        </p:nvSpPr>
        <p:spPr>
          <a:xfrm>
            <a:off x="5810250" y="2714625"/>
            <a:ext cx="3905250" cy="1285875"/>
          </a:xfrm>
          <a:prstGeom prst="roundRect">
            <a:avLst>
              <a:gd name="adj" fmla="val 1185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 回應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6FE13F0-C2D5-4767-8D69-AB15BB2AF34F}"/>
              </a:ext>
            </a:extLst>
          </p:cNvPr>
          <p:cNvSpPr>
            <a:spLocks noGrp="1"/>
          </p:cNvSpPr>
          <p:nvPr/>
        </p:nvSpPr>
        <p:spPr>
          <a:xfrm>
            <a:off x="11191875" y="2714625"/>
            <a:ext cx="4000500" cy="1285875"/>
          </a:xfrm>
          <a:prstGeom prst="roundRect">
            <a:avLst>
              <a:gd name="adj" fmla="val 1185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外框／normalize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Validation＋javac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EB5C9E1-C333-4BFC-86D6-2053CBDB72ED}"/>
              </a:ext>
            </a:extLst>
          </p:cNvPr>
          <p:cNvSpPr>
            <a:spLocks noGrp="1"/>
          </p:cNvSpPr>
          <p:nvPr/>
        </p:nvSpPr>
        <p:spPr>
          <a:xfrm>
            <a:off x="11334750" y="5905500"/>
            <a:ext cx="3762375" cy="1000125"/>
          </a:xfrm>
          <a:prstGeom prst="roundRect">
            <a:avLst>
              <a:gd name="adj" fmla="val 1523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成功 → 提升表型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C7DD495-EC46-49CC-8AFB-345DCAEC7ED8}"/>
              </a:ext>
            </a:extLst>
          </p:cNvPr>
          <p:cNvSpPr>
            <a:spLocks noGrp="1"/>
          </p:cNvSpPr>
          <p:nvPr/>
        </p:nvSpPr>
        <p:spPr>
          <a:xfrm>
            <a:off x="5810250" y="5905500"/>
            <a:ext cx="3905250" cy="1000125"/>
          </a:xfrm>
          <a:prstGeom prst="roundRect">
            <a:avLst>
              <a:gd name="adj" fmla="val 1523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前次完整 source</a:t>
            </a:r>
          </a:p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＋當次結構化診斷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DFB64FBA-ABEA-4D37-9075-9C89AE83A8EF}"/>
              </a:ext>
            </a:extLst>
          </p:cNvPr>
          <p:cNvCxnSpPr/>
          <p:nvPr/>
        </p:nvCxnSpPr>
        <p:spPr>
          <a:xfrm flipH="1">
            <a:off x="10477500" y="3676650"/>
            <a:ext cx="714375" cy="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A774A3D8-BBB3-436A-9DE3-D45CF3ECB05A}"/>
              </a:ext>
            </a:extLst>
          </p:cNvPr>
          <p:cNvCxnSpPr/>
          <p:nvPr/>
        </p:nvCxnSpPr>
        <p:spPr>
          <a:xfrm>
            <a:off x="10477500" y="3676650"/>
            <a:ext cx="0" cy="2752725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10AC6F57-D179-4B17-95B5-0B968B598FA6}"/>
              </a:ext>
            </a:extLst>
          </p:cNvPr>
          <p:cNvCxnSpPr/>
          <p:nvPr/>
        </p:nvCxnSpPr>
        <p:spPr>
          <a:xfrm flipH="1">
            <a:off x="9715500" y="6429375"/>
            <a:ext cx="762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A44A646F-6103-4852-9638-2BE18F2FC827}"/>
              </a:ext>
            </a:extLst>
          </p:cNvPr>
          <p:cNvSpPr>
            <a:spLocks noGrp="1"/>
          </p:cNvSpPr>
          <p:nvPr/>
        </p:nvSpPr>
        <p:spPr>
          <a:xfrm>
            <a:off x="6667500" y="4810125"/>
            <a:ext cx="3143250" cy="419100"/>
          </a:xfrm>
          <a:prstGeom prst="roundRect">
            <a:avLst>
              <a:gd name="adj" fmla="val 36364"/>
            </a:avLst>
          </a:prstGeom>
          <a:solidFill>
            <a:srgbClr val="FCF8F5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失敗，尚有 attempt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0D2BBF20-3B99-4B7D-9888-6DEBE4E2F668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3286125" cy="1000125"/>
          </a:xfrm>
          <a:prstGeom prst="roundRect">
            <a:avLst>
              <a:gd name="adj" fmla="val 15238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耗盡上限</a:t>
            </a:r>
          </a:p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保留失敗證據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26123DA-C8FD-4CBA-BD08-498DE4AA71F5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Integration／runtime 失敗不回到 decoder；確定性兩種模式沒有此修復迴圈</a:t>
            </a:r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200CD7C8-F4BE-422D-8A68-43BE479BFE42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5DE34E6B-4719-4EEB-9CDF-6047224E3DD9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15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811861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CF8DDAB2-E5A8-4398-A379-73254428D66E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9810750" y="273367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CA93A8FC-DCC5-4EF8-ADB8-4B81F0B946E5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5048250" y="273367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58096492-A6BF-488D-BF51-15B7E17A00FE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Validation、編譯與七項 Integration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A278D0-CD1F-4AF0-B950-305C932DE309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先檢查 source，再編譯；可載入不代表能合法執行對戰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1878779F-86D8-46AA-A4EA-28B8EA3CEFEC}"/>
              </a:ext>
            </a:extLst>
          </p:cNvPr>
          <p:cNvSpPr>
            <a:spLocks noGrp="1"/>
          </p:cNvSpPr>
          <p:nvPr/>
        </p:nvSpPr>
        <p:spPr>
          <a:xfrm>
            <a:off x="762000" y="2333625"/>
            <a:ext cx="4286250" cy="800100"/>
          </a:xfrm>
          <a:prstGeom prst="roundRect">
            <a:avLst>
              <a:gd name="adj" fmla="val 1904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EE397C-D86B-4B67-9100-7A3773FA4463}"/>
              </a:ext>
            </a:extLst>
          </p:cNvPr>
          <p:cNvSpPr>
            <a:spLocks noGrp="1"/>
          </p:cNvSpPr>
          <p:nvPr/>
        </p:nvSpPr>
        <p:spPr>
          <a:xfrm>
            <a:off x="857250" y="3476625"/>
            <a:ext cx="4095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package／class／固定 scaffold</a:t>
            </a:r>
          </a:p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單一策略 marker／合法 API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7520BDD-8B74-4EDA-AE34-0D08BDACAE5C}"/>
              </a:ext>
            </a:extLst>
          </p:cNvPr>
          <p:cNvSpPr>
            <a:spLocks noGrp="1"/>
          </p:cNvSpPr>
          <p:nvPr/>
        </p:nvSpPr>
        <p:spPr>
          <a:xfrm>
            <a:off x="6096000" y="2333625"/>
            <a:ext cx="3714750" cy="800100"/>
          </a:xfrm>
          <a:prstGeom prst="roundRect">
            <a:avLst>
              <a:gd name="adj" fmla="val 19048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javac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2DD9217-C373-4851-BB30-BE112FBC24C9}"/>
              </a:ext>
            </a:extLst>
          </p:cNvPr>
          <p:cNvSpPr>
            <a:spLocks noGrp="1"/>
          </p:cNvSpPr>
          <p:nvPr/>
        </p:nvSpPr>
        <p:spPr>
          <a:xfrm>
            <a:off x="6191250" y="3476625"/>
            <a:ext cx="39052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每個 attempt 最多一次</a:t>
            </a:r>
          </a:p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提升成功 class tree，不重編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81AFC4D2-05DD-497E-90BD-A5B0B8AAF100}"/>
              </a:ext>
            </a:extLst>
          </p:cNvPr>
          <p:cNvSpPr>
            <a:spLocks noGrp="1"/>
          </p:cNvSpPr>
          <p:nvPr/>
        </p:nvSpPr>
        <p:spPr>
          <a:xfrm>
            <a:off x="10858500" y="2333625"/>
            <a:ext cx="4286250" cy="800100"/>
          </a:xfrm>
          <a:prstGeom prst="roundRect">
            <a:avLst>
              <a:gd name="adj" fmla="val 1904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4310864F-90B4-4A7E-97EA-F63DAB6F29C5}"/>
              </a:ext>
            </a:extLst>
          </p:cNvPr>
          <p:cNvSpPr>
            <a:spLocks noGrp="1"/>
          </p:cNvSpPr>
          <p:nvPr/>
        </p:nvSpPr>
        <p:spPr>
          <a:xfrm>
            <a:off x="838200" y="5667375"/>
            <a:ext cx="533400" cy="533400"/>
          </a:xfrm>
          <a:prstGeom prst="ellipse">
            <a:avLst/>
          </a:prstGeom>
          <a:solidFill>
            <a:srgbClr val="F4E7E7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8B17A4-2F8E-4DA9-8644-1223B4EBFE60}"/>
              </a:ext>
            </a:extLst>
          </p:cNvPr>
          <p:cNvSpPr>
            <a:spLocks noGrp="1"/>
          </p:cNvSpPr>
          <p:nvPr/>
        </p:nvSpPr>
        <p:spPr>
          <a:xfrm>
            <a:off x="47625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載入</a:t>
            </a: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F03A44BD-7A4F-471B-8359-48E0EAEB2505}"/>
              </a:ext>
            </a:extLst>
          </p:cNvPr>
          <p:cNvCxnSpPr/>
          <p:nvPr/>
        </p:nvCxnSpPr>
        <p:spPr>
          <a:xfrm>
            <a:off x="1457325" y="5934075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橢圓 12">
            <a:extLst>
              <a:ext uri="{FF2B5EF4-FFF2-40B4-BE49-F238E27FC236}">
                <a16:creationId xmlns:a16="http://schemas.microsoft.com/office/drawing/2014/main" id="{39B9C606-2521-45FB-9E82-72B4540F1295}"/>
              </a:ext>
            </a:extLst>
          </p:cNvPr>
          <p:cNvSpPr>
            <a:spLocks noGrp="1"/>
          </p:cNvSpPr>
          <p:nvPr/>
        </p:nvSpPr>
        <p:spPr>
          <a:xfrm>
            <a:off x="2914650" y="5667375"/>
            <a:ext cx="533400" cy="533400"/>
          </a:xfrm>
          <a:prstGeom prst="ellipse">
            <a:avLst/>
          </a:prstGeom>
          <a:solidFill>
            <a:srgbClr val="F4E7E7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F3BC0BA-2B69-4586-A2BA-043094D580E7}"/>
              </a:ext>
            </a:extLst>
          </p:cNvPr>
          <p:cNvSpPr>
            <a:spLocks noGrp="1"/>
          </p:cNvSpPr>
          <p:nvPr/>
        </p:nvSpPr>
        <p:spPr>
          <a:xfrm>
            <a:off x="255270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AI 繼承</a:t>
            </a: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BF82C0E0-7E97-4A7A-BA4C-B06798C1101B}"/>
              </a:ext>
            </a:extLst>
          </p:cNvPr>
          <p:cNvCxnSpPr/>
          <p:nvPr/>
        </p:nvCxnSpPr>
        <p:spPr>
          <a:xfrm>
            <a:off x="3533775" y="5934075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6" name="橢圓 15">
            <a:extLst>
              <a:ext uri="{FF2B5EF4-FFF2-40B4-BE49-F238E27FC236}">
                <a16:creationId xmlns:a16="http://schemas.microsoft.com/office/drawing/2014/main" id="{6BD81B22-7C0F-499C-B65F-6F439C7BA383}"/>
              </a:ext>
            </a:extLst>
          </p:cNvPr>
          <p:cNvSpPr>
            <a:spLocks noGrp="1"/>
          </p:cNvSpPr>
          <p:nvPr/>
        </p:nvSpPr>
        <p:spPr>
          <a:xfrm>
            <a:off x="4991100" y="5667375"/>
            <a:ext cx="533400" cy="533400"/>
          </a:xfrm>
          <a:prstGeom prst="ellipse">
            <a:avLst/>
          </a:prstGeom>
          <a:solidFill>
            <a:srgbClr val="F4E7E7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55FE2D0-8556-478F-8633-E9ABD65E2FB2}"/>
              </a:ext>
            </a:extLst>
          </p:cNvPr>
          <p:cNvSpPr>
            <a:spLocks noGrp="1"/>
          </p:cNvSpPr>
          <p:nvPr/>
        </p:nvSpPr>
        <p:spPr>
          <a:xfrm>
            <a:off x="462915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建構子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3BE7C6A-0DA6-4C90-9D52-54B8EF7827E7}"/>
              </a:ext>
            </a:extLst>
          </p:cNvPr>
          <p:cNvCxnSpPr/>
          <p:nvPr/>
        </p:nvCxnSpPr>
        <p:spPr>
          <a:xfrm>
            <a:off x="5610225" y="5934075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橢圓 18">
            <a:extLst>
              <a:ext uri="{FF2B5EF4-FFF2-40B4-BE49-F238E27FC236}">
                <a16:creationId xmlns:a16="http://schemas.microsoft.com/office/drawing/2014/main" id="{098A3DA5-95FA-43F5-AC78-B11C034268D3}"/>
              </a:ext>
            </a:extLst>
          </p:cNvPr>
          <p:cNvSpPr>
            <a:spLocks noGrp="1"/>
          </p:cNvSpPr>
          <p:nvPr/>
        </p:nvSpPr>
        <p:spPr>
          <a:xfrm>
            <a:off x="7067550" y="5667375"/>
            <a:ext cx="533400" cy="533400"/>
          </a:xfrm>
          <a:prstGeom prst="ellipse">
            <a:avLst/>
          </a:prstGeom>
          <a:solidFill>
            <a:srgbClr val="F4E7E7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3B9F29E-EA6D-4991-81C7-E8226A6BED24}"/>
              </a:ext>
            </a:extLst>
          </p:cNvPr>
          <p:cNvSpPr>
            <a:spLocks noGrp="1"/>
          </p:cNvSpPr>
          <p:nvPr/>
        </p:nvSpPr>
        <p:spPr>
          <a:xfrm>
            <a:off x="670560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reset</a:t>
            </a:r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CC93E0F8-590A-43C6-A42C-2F42CD8F26BE}"/>
              </a:ext>
            </a:extLst>
          </p:cNvPr>
          <p:cNvCxnSpPr/>
          <p:nvPr/>
        </p:nvCxnSpPr>
        <p:spPr>
          <a:xfrm>
            <a:off x="7686675" y="5934075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A70FD4CE-FD6C-44D1-AF9D-55048EF7801A}"/>
              </a:ext>
            </a:extLst>
          </p:cNvPr>
          <p:cNvSpPr>
            <a:spLocks noGrp="1"/>
          </p:cNvSpPr>
          <p:nvPr/>
        </p:nvSpPr>
        <p:spPr>
          <a:xfrm>
            <a:off x="9144000" y="5667375"/>
            <a:ext cx="533400" cy="533400"/>
          </a:xfrm>
          <a:prstGeom prst="ellipse">
            <a:avLst/>
          </a:prstGeom>
          <a:solidFill>
            <a:srgbClr val="F4E7E7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308BD1E-9455-43B7-B061-FB9EF0777E4C}"/>
              </a:ext>
            </a:extLst>
          </p:cNvPr>
          <p:cNvSpPr>
            <a:spLocks noGrp="1"/>
          </p:cNvSpPr>
          <p:nvPr/>
        </p:nvSpPr>
        <p:spPr>
          <a:xfrm>
            <a:off x="878205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clone</a:t>
            </a:r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960DDB61-7A6E-4EBD-88EE-248649437675}"/>
              </a:ext>
            </a:extLst>
          </p:cNvPr>
          <p:cNvCxnSpPr/>
          <p:nvPr/>
        </p:nvCxnSpPr>
        <p:spPr>
          <a:xfrm>
            <a:off x="9763125" y="5934075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橢圓 24">
            <a:extLst>
              <a:ext uri="{FF2B5EF4-FFF2-40B4-BE49-F238E27FC236}">
                <a16:creationId xmlns:a16="http://schemas.microsoft.com/office/drawing/2014/main" id="{FA8D7EED-74DA-46B8-85CA-4BEC8AB7C0AA}"/>
              </a:ext>
            </a:extLst>
          </p:cNvPr>
          <p:cNvSpPr>
            <a:spLocks noGrp="1"/>
          </p:cNvSpPr>
          <p:nvPr/>
        </p:nvSpPr>
        <p:spPr>
          <a:xfrm>
            <a:off x="11220450" y="5667375"/>
            <a:ext cx="533400" cy="533400"/>
          </a:xfrm>
          <a:prstGeom prst="ellipse">
            <a:avLst/>
          </a:prstGeom>
          <a:solidFill>
            <a:srgbClr val="FAEDC6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6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BB43785-A065-4220-9CC1-AFAEC77D6F03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getAction</a:t>
            </a:r>
          </a:p>
        </p:txBody>
      </p: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4974C598-2C7E-4109-AF0C-06A3668208BD}"/>
              </a:ext>
            </a:extLst>
          </p:cNvPr>
          <p:cNvCxnSpPr/>
          <p:nvPr/>
        </p:nvCxnSpPr>
        <p:spPr>
          <a:xfrm>
            <a:off x="11839575" y="5934075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8" name="橢圓 27">
            <a:extLst>
              <a:ext uri="{FF2B5EF4-FFF2-40B4-BE49-F238E27FC236}">
                <a16:creationId xmlns:a16="http://schemas.microsoft.com/office/drawing/2014/main" id="{98822A93-3827-464D-B644-2792AE34A7DF}"/>
              </a:ext>
            </a:extLst>
          </p:cNvPr>
          <p:cNvSpPr>
            <a:spLocks noGrp="1"/>
          </p:cNvSpPr>
          <p:nvPr/>
        </p:nvSpPr>
        <p:spPr>
          <a:xfrm>
            <a:off x="13296900" y="5667375"/>
            <a:ext cx="533400" cy="533400"/>
          </a:xfrm>
          <a:prstGeom prst="ellipse">
            <a:avLst/>
          </a:prstGeom>
          <a:solidFill>
            <a:srgbClr val="FAEDC6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7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E96D3F2-4B05-4E5D-BD9D-B62183F9941B}"/>
              </a:ext>
            </a:extLst>
          </p:cNvPr>
          <p:cNvSpPr>
            <a:spLocks noGrp="1"/>
          </p:cNvSpPr>
          <p:nvPr/>
        </p:nvSpPr>
        <p:spPr>
          <a:xfrm>
            <a:off x="1293495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PlayerAction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01FE0EB-2F00-47B9-B971-70D48CC357CB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真實 8×8 地圖、雙方位置與獨立狀態檢查動作和一個 cycle；前置失敗阻擋後續</a:t>
            </a:r>
          </a:p>
        </p:txBody>
      </p:sp>
      <p:sp>
        <p:nvSpPr>
          <p:cNvPr id="31" name="Slide Number">
            <a:extLst>
              <a:ext uri="{FF2B5EF4-FFF2-40B4-BE49-F238E27FC236}">
                <a16:creationId xmlns:a16="http://schemas.microsoft.com/office/drawing/2014/main" id="{821810FA-ADFE-4022-AA86-D42E7C12B70E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D747FEEA-C873-47E8-8FAF-379C59E0BC06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16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425271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B146F307-9324-4211-8A10-557FAE7C4D5C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搜尋評估的 180 場矩陣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171963E-FB98-49DD-BA6D-5D8C3B0CD859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同一份 Java 與 classes，覆蓋所有對手、地圖、回合與位置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341A12-DB50-4BB3-93F9-EB9ABF2A9497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29527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1D15EEEE-54EA-400F-A047-0FD8E83A295E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2952750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對手欄位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D1DC38-D0D0-4972-A234-26C269D127D0}"/>
              </a:ext>
            </a:extLst>
          </p:cNvPr>
          <p:cNvSpPr>
            <a:spLocks noGrp="1"/>
          </p:cNvSpPr>
          <p:nvPr/>
        </p:nvSpPr>
        <p:spPr>
          <a:xfrm>
            <a:off x="3905250" y="2571750"/>
            <a:ext cx="666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3C612C-6A11-46BC-887D-EB04EC1C520A}"/>
              </a:ext>
            </a:extLst>
          </p:cNvPr>
          <p:cNvSpPr>
            <a:spLocks noGrp="1"/>
          </p:cNvSpPr>
          <p:nvPr/>
        </p:nvSpPr>
        <p:spPr>
          <a:xfrm>
            <a:off x="4619625" y="2190750"/>
            <a:ext cx="29527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39699864-CA98-41E7-AD74-86C07F869F6F}"/>
              </a:ext>
            </a:extLst>
          </p:cNvPr>
          <p:cNvSpPr>
            <a:spLocks noGrp="1"/>
          </p:cNvSpPr>
          <p:nvPr/>
        </p:nvSpPr>
        <p:spPr>
          <a:xfrm>
            <a:off x="4619625" y="4095750"/>
            <a:ext cx="2952750" cy="419100"/>
          </a:xfrm>
          <a:prstGeom prst="roundRect">
            <a:avLst>
              <a:gd name="adj" fmla="val 3636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地圖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2B1D4F7-E79B-498E-9304-29A1197ADBD3}"/>
              </a:ext>
            </a:extLst>
          </p:cNvPr>
          <p:cNvSpPr>
            <a:spLocks noGrp="1"/>
          </p:cNvSpPr>
          <p:nvPr/>
        </p:nvSpPr>
        <p:spPr>
          <a:xfrm>
            <a:off x="7762875" y="2571750"/>
            <a:ext cx="666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6751E56-CF15-4756-962B-C717A0D3980A}"/>
              </a:ext>
            </a:extLst>
          </p:cNvPr>
          <p:cNvSpPr>
            <a:spLocks noGrp="1"/>
          </p:cNvSpPr>
          <p:nvPr/>
        </p:nvSpPr>
        <p:spPr>
          <a:xfrm>
            <a:off x="8477250" y="2190750"/>
            <a:ext cx="29527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FAB672C0-DD16-4ADA-8F9A-EDCC34EE214A}"/>
              </a:ext>
            </a:extLst>
          </p:cNvPr>
          <p:cNvSpPr>
            <a:spLocks noGrp="1"/>
          </p:cNvSpPr>
          <p:nvPr/>
        </p:nvSpPr>
        <p:spPr>
          <a:xfrm>
            <a:off x="8477250" y="4095750"/>
            <a:ext cx="2952750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回合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5E51EAB-EE31-4ADD-A939-2B0AA4B2A2F0}"/>
              </a:ext>
            </a:extLst>
          </p:cNvPr>
          <p:cNvSpPr>
            <a:spLocks noGrp="1"/>
          </p:cNvSpPr>
          <p:nvPr/>
        </p:nvSpPr>
        <p:spPr>
          <a:xfrm>
            <a:off x="11620500" y="2571750"/>
            <a:ext cx="666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3CF7D2-BA1B-4440-8312-F66CFEF6CEF9}"/>
              </a:ext>
            </a:extLst>
          </p:cNvPr>
          <p:cNvSpPr>
            <a:spLocks noGrp="1"/>
          </p:cNvSpPr>
          <p:nvPr/>
        </p:nvSpPr>
        <p:spPr>
          <a:xfrm>
            <a:off x="12334875" y="2190750"/>
            <a:ext cx="29527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0DFDA6F-5BEF-4EB6-AC8E-3547A941AE6E}"/>
              </a:ext>
            </a:extLst>
          </p:cNvPr>
          <p:cNvSpPr>
            <a:spLocks noGrp="1"/>
          </p:cNvSpPr>
          <p:nvPr/>
        </p:nvSpPr>
        <p:spPr>
          <a:xfrm>
            <a:off x="12334875" y="4095750"/>
            <a:ext cx="2952750" cy="419100"/>
          </a:xfrm>
          <a:prstGeom prst="roundRect">
            <a:avLst>
              <a:gd name="adj" fmla="val 3636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雙方位置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0EC2CDC2-4F88-4AE0-9CC8-8BC4838E6EE2}"/>
              </a:ext>
            </a:extLst>
          </p:cNvPr>
          <p:cNvSpPr>
            <a:spLocks noGrp="1"/>
          </p:cNvSpPr>
          <p:nvPr/>
        </p:nvSpPr>
        <p:spPr>
          <a:xfrm>
            <a:off x="4286250" y="5619750"/>
            <a:ext cx="7429500" cy="1333500"/>
          </a:xfrm>
          <a:prstGeom prst="roundRect">
            <a:avLst>
              <a:gd name="adj" fmla="val 11429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180 場／候選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F52DD84D-91F5-484C-BF89-D1E6A4902B09}"/>
              </a:ext>
            </a:extLst>
          </p:cNvPr>
          <p:cNvSpPr>
            <a:spLocks noGrp="1"/>
          </p:cNvSpPr>
          <p:nvPr/>
        </p:nvSpPr>
        <p:spPr>
          <a:xfrm>
            <a:off x="809625" y="6000750"/>
            <a:ext cx="2905125" cy="419100"/>
          </a:xfrm>
          <a:prstGeom prst="roundRect">
            <a:avLst>
              <a:gd name="adj" fmla="val 3636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每個對手 18 場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234553B3-47AE-4D1D-A013-CD44B4969DF3}"/>
              </a:ext>
            </a:extLst>
          </p:cNvPr>
          <p:cNvSpPr>
            <a:spLocks noGrp="1"/>
          </p:cNvSpPr>
          <p:nvPr/>
        </p:nvSpPr>
        <p:spPr>
          <a:xfrm>
            <a:off x="12192000" y="5848350"/>
            <a:ext cx="2905125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每張地圖可設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tick_limit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89DA2AA-E93E-428B-A749-D7FCDF47566B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對手快照固定為 4 個保護成員＋6 個抽樣成員；同一快照內的候選共用名單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9E428B81-F257-47CF-A48C-84E9FE082B46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B5603C3A-9975-4BBB-A270-D36F977D6A2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17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074936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6FEA7ABB-D3F2-4C54-AFF7-A1EAA90C14F6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6096000" y="6858000"/>
            <a:ext cx="2000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26B06E47-B787-4A0D-885D-4E995CCF91A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Game Performance 與分數彙總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C71C980-29E6-46FB-B37D-15A5CEAF03AD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單場結果分數，加上最多 ±10 的物資、資源與存活 shaping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A0DD78-D41D-4830-BD0F-1EF4295FA84A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敗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048092-67E3-494D-AB7A-CDF1C34F0283}"/>
              </a:ext>
            </a:extLst>
          </p:cNvPr>
          <p:cNvSpPr>
            <a:spLocks noGrp="1"/>
          </p:cNvSpPr>
          <p:nvPr/>
        </p:nvSpPr>
        <p:spPr>
          <a:xfrm>
            <a:off x="857250" y="2952750"/>
            <a:ext cx="42862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−100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B3EEE24D-4B5B-4FDA-8943-41A6DD3EDF27}"/>
              </a:ext>
            </a:extLst>
          </p:cNvPr>
          <p:cNvSpPr>
            <a:spLocks noGrp="1"/>
          </p:cNvSpPr>
          <p:nvPr/>
        </p:nvSpPr>
        <p:spPr>
          <a:xfrm>
            <a:off x="857250" y="4667250"/>
            <a:ext cx="4286250" cy="609600"/>
          </a:xfrm>
          <a:prstGeom prst="roundRect">
            <a:avLst>
              <a:gd name="adj" fmla="val 25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CC4662-2D46-4864-BA40-3DF1090A97F9}"/>
              </a:ext>
            </a:extLst>
          </p:cNvPr>
          <p:cNvSpPr>
            <a:spLocks noGrp="1"/>
          </p:cNvSpPr>
          <p:nvPr/>
        </p:nvSpPr>
        <p:spPr>
          <a:xfrm>
            <a:off x="6000750" y="2143125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BD75829-6246-4854-B908-DF4C8EB008E9}"/>
              </a:ext>
            </a:extLst>
          </p:cNvPr>
          <p:cNvSpPr>
            <a:spLocks noGrp="1"/>
          </p:cNvSpPr>
          <p:nvPr/>
        </p:nvSpPr>
        <p:spPr>
          <a:xfrm>
            <a:off x="6000750" y="2952750"/>
            <a:ext cx="42862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04D5FBA-2E1E-452B-A0EF-BF8CFCECDED8}"/>
              </a:ext>
            </a:extLst>
          </p:cNvPr>
          <p:cNvSpPr>
            <a:spLocks noGrp="1"/>
          </p:cNvSpPr>
          <p:nvPr/>
        </p:nvSpPr>
        <p:spPr>
          <a:xfrm>
            <a:off x="6000750" y="4667250"/>
            <a:ext cx="4286250" cy="609600"/>
          </a:xfrm>
          <a:prstGeom prst="roundRect">
            <a:avLst>
              <a:gd name="adj" fmla="val 250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333315-2075-4B8C-B74F-E16A471E6F41}"/>
              </a:ext>
            </a:extLst>
          </p:cNvPr>
          <p:cNvSpPr>
            <a:spLocks noGrp="1"/>
          </p:cNvSpPr>
          <p:nvPr/>
        </p:nvSpPr>
        <p:spPr>
          <a:xfrm>
            <a:off x="11144250" y="2143125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勝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23268D0-FEDF-4267-89ED-32CEF4BF8A71}"/>
              </a:ext>
            </a:extLst>
          </p:cNvPr>
          <p:cNvSpPr>
            <a:spLocks noGrp="1"/>
          </p:cNvSpPr>
          <p:nvPr/>
        </p:nvSpPr>
        <p:spPr>
          <a:xfrm>
            <a:off x="11144250" y="2952750"/>
            <a:ext cx="42862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＋100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E18428ED-08A8-4462-ABC1-5F5B295450FE}"/>
              </a:ext>
            </a:extLst>
          </p:cNvPr>
          <p:cNvSpPr>
            <a:spLocks noGrp="1"/>
          </p:cNvSpPr>
          <p:nvPr/>
        </p:nvSpPr>
        <p:spPr>
          <a:xfrm>
            <a:off x="11144250" y="4667250"/>
            <a:ext cx="4286250" cy="609600"/>
          </a:xfrm>
          <a:prstGeom prst="roundRect">
            <a:avLst>
              <a:gd name="adj" fmla="val 25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A12FE827-BD09-4D82-93C9-B80A0742D914}"/>
              </a:ext>
            </a:extLst>
          </p:cNvPr>
          <p:cNvSpPr>
            <a:spLocks noGrp="1"/>
          </p:cNvSpPr>
          <p:nvPr/>
        </p:nvSpPr>
        <p:spPr>
          <a:xfrm>
            <a:off x="857250" y="6238875"/>
            <a:ext cx="5238750" cy="1238250"/>
          </a:xfrm>
          <a:prstGeom prst="roundRect">
            <a:avLst>
              <a:gd name="adj" fmla="val 1230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每個對手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 場分數取平均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5284B747-2385-46CE-89C0-D588C6C5E6A8}"/>
              </a:ext>
            </a:extLst>
          </p:cNvPr>
          <p:cNvSpPr>
            <a:spLocks noGrp="1"/>
          </p:cNvSpPr>
          <p:nvPr/>
        </p:nvSpPr>
        <p:spPr>
          <a:xfrm>
            <a:off x="8096250" y="6238875"/>
            <a:ext cx="6953250" cy="1238250"/>
          </a:xfrm>
          <a:prstGeom prst="roundRect">
            <a:avLst>
              <a:gd name="adj" fmla="val 1230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 個對手等權平均</a:t>
            </a:r>
          </a:p>
          <a:p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＝候選的唯一 fitness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C0C39C5-378C-4204-9BFD-57D939E06A6C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完整 180 場才有有效 fitness；語意差異只在分數同層內輔助選擇，不另加分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722F5A4F-7BA8-4BB0-9467-0C71BC12CE75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BDA00CFF-6EB1-43D4-9A2D-BCCB4B8B4B5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18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553873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ABB4A9C0-33C8-4AC1-A8A9-7C978DDE778D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的十個起始對手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4221A26-1CF1-4F4E-98D5-70817D63658C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G0 使用全部十個內建對手；之後從持續累積的池中抽取 4＋6 名單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E0A654-F181-4A96-AE32-BAB8BD85EC64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可替換｜基礎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F10F9947-3E80-4A8F-9FF7-AE8FFC771111}"/>
              </a:ext>
            </a:extLst>
          </p:cNvPr>
          <p:cNvSpPr>
            <a:spLocks noGrp="1"/>
          </p:cNvSpPr>
          <p:nvPr/>
        </p:nvSpPr>
        <p:spPr>
          <a:xfrm>
            <a:off x="4333875" y="2333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PassiveAI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C228B1FD-8412-48F4-B66C-AE0456993603}"/>
              </a:ext>
            </a:extLst>
          </p:cNvPr>
          <p:cNvSpPr>
            <a:spLocks noGrp="1"/>
          </p:cNvSpPr>
          <p:nvPr/>
        </p:nvSpPr>
        <p:spPr>
          <a:xfrm>
            <a:off x="7058025" y="2333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RandomAI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D0D49456-04B2-4690-90D4-FADE312611A1}"/>
              </a:ext>
            </a:extLst>
          </p:cNvPr>
          <p:cNvSpPr>
            <a:spLocks noGrp="1"/>
          </p:cNvSpPr>
          <p:nvPr/>
        </p:nvSpPr>
        <p:spPr>
          <a:xfrm>
            <a:off x="9782175" y="2333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RandomBiasedAI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E2B6B1-8C28-41C9-AB5A-153692D75563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可替換｜Rush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03081EF-D834-47EE-B963-A2B59170AC2A}"/>
              </a:ext>
            </a:extLst>
          </p:cNvPr>
          <p:cNvSpPr>
            <a:spLocks noGrp="1"/>
          </p:cNvSpPr>
          <p:nvPr/>
        </p:nvSpPr>
        <p:spPr>
          <a:xfrm>
            <a:off x="4333875" y="40481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LightRush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C7B93D95-6972-4CFC-B94D-93CBA0074651}"/>
              </a:ext>
            </a:extLst>
          </p:cNvPr>
          <p:cNvSpPr>
            <a:spLocks noGrp="1"/>
          </p:cNvSpPr>
          <p:nvPr/>
        </p:nvSpPr>
        <p:spPr>
          <a:xfrm>
            <a:off x="7058025" y="40481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HeavyRush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A700BDA-4F75-4AAF-9A73-E04569B68D8D}"/>
              </a:ext>
            </a:extLst>
          </p:cNvPr>
          <p:cNvSpPr>
            <a:spLocks noGrp="1"/>
          </p:cNvSpPr>
          <p:nvPr/>
        </p:nvSpPr>
        <p:spPr>
          <a:xfrm>
            <a:off x="9782175" y="40481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WorkerRush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754DC7B-1DB8-44A2-B4B9-7B93EFD82E57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永久保護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0605B0A3-E4EB-4586-87D4-C17D795B275F}"/>
              </a:ext>
            </a:extLst>
          </p:cNvPr>
          <p:cNvSpPr>
            <a:spLocks noGrp="1"/>
          </p:cNvSpPr>
          <p:nvPr/>
        </p:nvSpPr>
        <p:spPr>
          <a:xfrm>
            <a:off x="4333875" y="5762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AllInBot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9EFC06D6-488E-44A5-86C6-9C656565D320}"/>
              </a:ext>
            </a:extLst>
          </p:cNvPr>
          <p:cNvSpPr>
            <a:spLocks noGrp="1"/>
          </p:cNvSpPr>
          <p:nvPr/>
        </p:nvSpPr>
        <p:spPr>
          <a:xfrm>
            <a:off x="7058025" y="5762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Mayari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550CDFED-DB5A-4378-831C-C863B856210A}"/>
              </a:ext>
            </a:extLst>
          </p:cNvPr>
          <p:cNvSpPr>
            <a:spLocks noGrp="1"/>
          </p:cNvSpPr>
          <p:nvPr/>
        </p:nvSpPr>
        <p:spPr>
          <a:xfrm>
            <a:off x="9782175" y="5762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0B7B3D7E-058B-4495-BB40-6D14C394329F}"/>
              </a:ext>
            </a:extLst>
          </p:cNvPr>
          <p:cNvSpPr>
            <a:spLocks noGrp="1"/>
          </p:cNvSpPr>
          <p:nvPr/>
        </p:nvSpPr>
        <p:spPr>
          <a:xfrm>
            <a:off x="12506325" y="5762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TMA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B9825B07-53B8-43C1-B015-C45136F3D3E4}"/>
              </a:ext>
            </a:extLst>
          </p:cNvPr>
          <p:cNvSpPr>
            <a:spLocks noGrp="1"/>
          </p:cNvSpPr>
          <p:nvPr/>
        </p:nvSpPr>
        <p:spPr>
          <a:xfrm>
            <a:off x="1571625" y="7477125"/>
            <a:ext cx="12763500" cy="590550"/>
          </a:xfrm>
          <a:prstGeom prst="roundRect">
            <a:avLst>
              <a:gd name="adj" fmla="val 25806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前 6 個可被歷代候選替換；後 4 個永久保留。評分時十欄等權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695B6549-822B-4C8E-B056-BE2F522FBBEE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D88AAD1A-D297-4D19-82C7-D2B38B53186D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19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846518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340BBF87-3F8D-4DD7-AAFB-4E69207243E6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的起始與容量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93B9B4E2-CE40-408D-A6C7-4DED01A257F8}"/>
              </a:ext>
            </a:extLst>
          </p:cNvPr>
          <p:cNvSpPr>
            <a:spLocks noGrp="1"/>
          </p:cNvSpPr>
          <p:nvPr/>
        </p:nvSpPr>
        <p:spPr>
          <a:xfrm>
            <a:off x="1047750" y="2047875"/>
            <a:ext cx="13830300" cy="5429250"/>
          </a:xfrm>
          <a:prstGeom prst="roundRect">
            <a:avLst>
              <a:gd name="adj" fmla="val 2807"/>
            </a:avLst>
          </a:prstGeom>
          <a:solidFill>
            <a:srgbClr val="FCF8F5"/>
          </a:solidFill>
          <a:ln w="19050">
            <a:solidFill>
              <a:srgbClr val="DEB4BA"/>
            </a:solidFill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10D15C-1529-498B-B404-50F42563B386}"/>
              </a:ext>
            </a:extLst>
          </p:cNvPr>
          <p:cNvSpPr>
            <a:spLocks noGrp="1"/>
          </p:cNvSpPr>
          <p:nvPr/>
        </p:nvSpPr>
        <p:spPr>
          <a:xfrm>
            <a:off x="1619250" y="2619375"/>
            <a:ext cx="228600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D247DC4-AA01-4DE9-970F-EDC2CD221F31}"/>
              </a:ext>
            </a:extLst>
          </p:cNvPr>
          <p:cNvSpPr>
            <a:spLocks noGrp="1"/>
          </p:cNvSpPr>
          <p:nvPr/>
        </p:nvSpPr>
        <p:spPr>
          <a:xfrm>
            <a:off x="1619250" y="4067175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總容量上限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CD5862DF-A806-4873-AE9B-3855EF499382}"/>
              </a:ext>
            </a:extLst>
          </p:cNvPr>
          <p:cNvSpPr>
            <a:spLocks noGrp="1"/>
          </p:cNvSpPr>
          <p:nvPr/>
        </p:nvSpPr>
        <p:spPr>
          <a:xfrm>
            <a:off x="2000250" y="4819650"/>
            <a:ext cx="1524000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預設 50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32B9A95-45F1-44BF-94B3-DCB90CAC75BE}"/>
              </a:ext>
            </a:extLst>
          </p:cNvPr>
          <p:cNvSpPr>
            <a:spLocks noGrp="1"/>
          </p:cNvSpPr>
          <p:nvPr/>
        </p:nvSpPr>
        <p:spPr>
          <a:xfrm>
            <a:off x="2000250" y="5362575"/>
            <a:ext cx="1524000" cy="419100"/>
          </a:xfrm>
          <a:prstGeom prst="roundRect">
            <a:avLst>
              <a:gd name="adj" fmla="val 36364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最低 10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A0EFE2E-6388-4001-85C9-71C2B86ED6F6}"/>
              </a:ext>
            </a:extLst>
          </p:cNvPr>
          <p:cNvSpPr>
            <a:spLocks noGrp="1"/>
          </p:cNvSpPr>
          <p:nvPr/>
        </p:nvSpPr>
        <p:spPr>
          <a:xfrm>
            <a:off x="4857750" y="2266950"/>
            <a:ext cx="8382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 個固定保護：永久保留，不淘汰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61FE4FB-4CD1-46F1-BAD3-3F9B37970CB0}"/>
              </a:ext>
            </a:extLst>
          </p:cNvPr>
          <p:cNvSpPr>
            <a:spLocks noGrp="1"/>
          </p:cNvSpPr>
          <p:nvPr/>
        </p:nvSpPr>
        <p:spPr>
          <a:xfrm>
            <a:off x="4857750" y="3000375"/>
            <a:ext cx="1809750" cy="781050"/>
          </a:xfrm>
          <a:prstGeom prst="roundRect">
            <a:avLst>
              <a:gd name="adj" fmla="val 1951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AllInBot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4BFBC0E-3427-4A9C-9946-49CF360D1EF8}"/>
              </a:ext>
            </a:extLst>
          </p:cNvPr>
          <p:cNvSpPr>
            <a:spLocks noGrp="1"/>
          </p:cNvSpPr>
          <p:nvPr/>
        </p:nvSpPr>
        <p:spPr>
          <a:xfrm>
            <a:off x="6934200" y="3000375"/>
            <a:ext cx="1809750" cy="781050"/>
          </a:xfrm>
          <a:prstGeom prst="roundRect">
            <a:avLst>
              <a:gd name="adj" fmla="val 1951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Mayari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9508494-9A20-4061-8D1E-BAB2882575A3}"/>
              </a:ext>
            </a:extLst>
          </p:cNvPr>
          <p:cNvSpPr>
            <a:spLocks noGrp="1"/>
          </p:cNvSpPr>
          <p:nvPr/>
        </p:nvSpPr>
        <p:spPr>
          <a:xfrm>
            <a:off x="9010650" y="3000375"/>
            <a:ext cx="1809750" cy="781050"/>
          </a:xfrm>
          <a:prstGeom prst="roundRect">
            <a:avLst>
              <a:gd name="adj" fmla="val 1951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07DA0EB2-E75D-4978-A41A-F2BE74567756}"/>
              </a:ext>
            </a:extLst>
          </p:cNvPr>
          <p:cNvSpPr>
            <a:spLocks noGrp="1"/>
          </p:cNvSpPr>
          <p:nvPr/>
        </p:nvSpPr>
        <p:spPr>
          <a:xfrm>
            <a:off x="11087100" y="3000375"/>
            <a:ext cx="1809750" cy="781050"/>
          </a:xfrm>
          <a:prstGeom prst="roundRect">
            <a:avLst>
              <a:gd name="adj" fmla="val 1951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TMA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F52F2F0-7DB1-4E2B-80B2-A18E0B476A3C}"/>
              </a:ext>
            </a:extLst>
          </p:cNvPr>
          <p:cNvSpPr>
            <a:spLocks noGrp="1"/>
          </p:cNvSpPr>
          <p:nvPr/>
        </p:nvSpPr>
        <p:spPr>
          <a:xfrm>
            <a:off x="4857750" y="4019550"/>
            <a:ext cx="8286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起始另有 6 個可替換基準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02D073EF-665E-406C-8994-2D763D171913}"/>
              </a:ext>
            </a:extLst>
          </p:cNvPr>
          <p:cNvSpPr>
            <a:spLocks noGrp="1"/>
          </p:cNvSpPr>
          <p:nvPr/>
        </p:nvSpPr>
        <p:spPr>
          <a:xfrm>
            <a:off x="4857750" y="4543425"/>
            <a:ext cx="2543175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PassiveAI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D70ECF2C-9067-4727-9F12-92AFBEE69495}"/>
              </a:ext>
            </a:extLst>
          </p:cNvPr>
          <p:cNvSpPr>
            <a:spLocks noGrp="1"/>
          </p:cNvSpPr>
          <p:nvPr/>
        </p:nvSpPr>
        <p:spPr>
          <a:xfrm>
            <a:off x="7620000" y="4543425"/>
            <a:ext cx="2543175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RandomAI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B23BC1AD-9F7E-456E-AA96-6151F2C2E7C6}"/>
              </a:ext>
            </a:extLst>
          </p:cNvPr>
          <p:cNvSpPr>
            <a:spLocks noGrp="1"/>
          </p:cNvSpPr>
          <p:nvPr/>
        </p:nvSpPr>
        <p:spPr>
          <a:xfrm>
            <a:off x="10382250" y="4543425"/>
            <a:ext cx="2543175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RandomBiasedAI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208C365D-DE62-48DE-A31B-69B2FF239692}"/>
              </a:ext>
            </a:extLst>
          </p:cNvPr>
          <p:cNvSpPr>
            <a:spLocks noGrp="1"/>
          </p:cNvSpPr>
          <p:nvPr/>
        </p:nvSpPr>
        <p:spPr>
          <a:xfrm>
            <a:off x="4857750" y="5324475"/>
            <a:ext cx="2543175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LightRush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7C06B1C9-8813-4F31-8F68-B342944A0163}"/>
              </a:ext>
            </a:extLst>
          </p:cNvPr>
          <p:cNvSpPr>
            <a:spLocks noGrp="1"/>
          </p:cNvSpPr>
          <p:nvPr/>
        </p:nvSpPr>
        <p:spPr>
          <a:xfrm>
            <a:off x="7620000" y="5324475"/>
            <a:ext cx="2543175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HeavyRush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F4298FE2-2F62-437E-9080-5D50E54C26C0}"/>
              </a:ext>
            </a:extLst>
          </p:cNvPr>
          <p:cNvSpPr>
            <a:spLocks noGrp="1"/>
          </p:cNvSpPr>
          <p:nvPr/>
        </p:nvSpPr>
        <p:spPr>
          <a:xfrm>
            <a:off x="10382250" y="5324475"/>
            <a:ext cx="2543175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WorkerRush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746031C-4699-4EF9-B64C-40DCF5453E17}"/>
              </a:ext>
            </a:extLst>
          </p:cNvPr>
          <p:cNvSpPr>
            <a:spLocks noGrp="1"/>
          </p:cNvSpPr>
          <p:nvPr/>
        </p:nvSpPr>
        <p:spPr>
          <a:xfrm>
            <a:off x="4857750" y="6400800"/>
            <a:ext cx="2381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歷代策略累積</a:t>
            </a: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20E6AA48-9D98-4B32-8D9D-876238544E0D}"/>
              </a:ext>
            </a:extLst>
          </p:cNvPr>
          <p:cNvSpPr>
            <a:spLocks noGrp="1"/>
          </p:cNvSpPr>
          <p:nvPr/>
        </p:nvSpPr>
        <p:spPr>
          <a:xfrm>
            <a:off x="7524750" y="6438900"/>
            <a:ext cx="323850" cy="3238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B8540F97-1FC8-4AEF-B247-F85E8BA4000C}"/>
              </a:ext>
            </a:extLst>
          </p:cNvPr>
          <p:cNvSpPr>
            <a:spLocks noGrp="1"/>
          </p:cNvSpPr>
          <p:nvPr/>
        </p:nvSpPr>
        <p:spPr>
          <a:xfrm>
            <a:off x="8429625" y="6438900"/>
            <a:ext cx="323850" cy="3238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182578D7-6D1A-493D-B57B-3CD4AA90EA32}"/>
              </a:ext>
            </a:extLst>
          </p:cNvPr>
          <p:cNvSpPr>
            <a:spLocks noGrp="1"/>
          </p:cNvSpPr>
          <p:nvPr/>
        </p:nvSpPr>
        <p:spPr>
          <a:xfrm>
            <a:off x="9334500" y="6438900"/>
            <a:ext cx="323850" cy="3238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D77E2A52-0355-44BB-A3C5-522516490C83}"/>
              </a:ext>
            </a:extLst>
          </p:cNvPr>
          <p:cNvSpPr>
            <a:spLocks noGrp="1"/>
          </p:cNvSpPr>
          <p:nvPr/>
        </p:nvSpPr>
        <p:spPr>
          <a:xfrm>
            <a:off x="10239375" y="6438900"/>
            <a:ext cx="323850" cy="3238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AF81BC02-99A4-437A-B3A9-91C4DE943800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323850" cy="323850"/>
          </a:xfrm>
          <a:prstGeom prst="ellipse">
            <a:avLst/>
          </a:prstGeom>
          <a:solidFill>
            <a:srgbClr val="DEB4BA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514E5B2B-562A-438B-9241-34A3AFB20863}"/>
              </a:ext>
            </a:extLst>
          </p:cNvPr>
          <p:cNvSpPr>
            <a:spLocks noGrp="1"/>
          </p:cNvSpPr>
          <p:nvPr/>
        </p:nvSpPr>
        <p:spPr>
          <a:xfrm>
            <a:off x="12049125" y="6438900"/>
            <a:ext cx="323850" cy="323850"/>
          </a:xfrm>
          <a:prstGeom prst="ellipse">
            <a:avLst/>
          </a:prstGeom>
          <a:solidFill>
            <a:srgbClr val="DEB4BA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846A727-CA0C-42F3-8A8A-30BFE17245C4}"/>
              </a:ext>
            </a:extLst>
          </p:cNvPr>
          <p:cNvSpPr>
            <a:spLocks noGrp="1"/>
          </p:cNvSpPr>
          <p:nvPr/>
        </p:nvSpPr>
        <p:spPr>
          <a:xfrm>
            <a:off x="2476500" y="7667625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評估名單 = 4 個保護對手 ＋ 從池中抽取 6 名動態對手</a:t>
            </a:r>
          </a:p>
        </p:txBody>
      </p:sp>
      <p:sp>
        <p:nvSpPr>
          <p:cNvPr id="27" name="Slide Number">
            <a:extLst>
              <a:ext uri="{FF2B5EF4-FFF2-40B4-BE49-F238E27FC236}">
                <a16:creationId xmlns:a16="http://schemas.microsoft.com/office/drawing/2014/main" id="{6B83563E-A014-42D3-AA80-56E2ECCC05F2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66F334AE-8D88-4CE1-8A25-8C9CF58634A4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20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3352262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BAF183D8-F419-4FCC-9A71-F8B82BDDEF9B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>
            <a:off x="3714750" y="5524500"/>
            <a:ext cx="809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61C0447A-C01C-41D8-8397-A35C6D21F117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8001000" y="5524500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33EED04F-87AD-4D81-8182-0B3D450AB7D0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6381750" y="4248150"/>
            <a:ext cx="4714875" cy="7048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678F3F8C-AF42-4732-866B-469A1B3DC548}"/>
              </a:ext>
            </a:extLst>
          </p:cNvPr>
          <p:cNvCxnSpPr>
            <a:stCxn id="3" idx="3"/>
            <a:endCxn id="4" idx="1"/>
          </p:cNvCxnSpPr>
          <p:nvPr/>
        </p:nvCxnSpPr>
        <p:spPr>
          <a:xfrm flipV="1">
            <a:off x="8048625" y="3048000"/>
            <a:ext cx="2238375" cy="36195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CAB8016E-9095-4547-863A-8A1974B69B8C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3714750" y="34099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F8C943C4-5B49-4904-BBD4-6C214209D34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新策略的來源與入池挑戰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92870330-301F-424F-8966-EAB64C9F0A11}"/>
              </a:ext>
            </a:extLst>
          </p:cNvPr>
          <p:cNvSpPr>
            <a:spLocks noGrp="1"/>
          </p:cNvSpPr>
          <p:nvPr/>
        </p:nvSpPr>
        <p:spPr>
          <a:xfrm>
            <a:off x="857250" y="2571750"/>
            <a:ext cx="2857500" cy="1676400"/>
          </a:xfrm>
          <a:prstGeom prst="roundRect">
            <a:avLst>
              <a:gd name="adj" fmla="val 909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來源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 初始族群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每代已評估子代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FE42C16-C5AD-41AA-95A2-C6C556E02F64}"/>
              </a:ext>
            </a:extLst>
          </p:cNvPr>
          <p:cNvSpPr>
            <a:spLocks noGrp="1"/>
          </p:cNvSpPr>
          <p:nvPr/>
        </p:nvSpPr>
        <p:spPr>
          <a:xfrm>
            <a:off x="4714875" y="2571750"/>
            <a:ext cx="3333750" cy="1676400"/>
          </a:xfrm>
          <a:prstGeom prst="roundRect">
            <a:avLst>
              <a:gd name="adj" fmla="val 909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入池資格</a:t>
            </a:r>
          </a:p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可執行、完整評估</a:t>
            </a:r>
          </a:p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ID／來源／表型去重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D1DB24D-5E74-4E59-BCD1-FEE9B9A861A7}"/>
              </a:ext>
            </a:extLst>
          </p:cNvPr>
          <p:cNvSpPr>
            <a:spLocks noGrp="1"/>
          </p:cNvSpPr>
          <p:nvPr/>
        </p:nvSpPr>
        <p:spPr>
          <a:xfrm>
            <a:off x="10287000" y="2476500"/>
            <a:ext cx="2857500" cy="1143000"/>
          </a:xfrm>
          <a:prstGeom prst="roundRect">
            <a:avLst>
              <a:gd name="adj" fmla="val 1333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未滿容量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直接加入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11CC966A-D40F-4939-9811-AD4C5E88A0B7}"/>
              </a:ext>
            </a:extLst>
          </p:cNvPr>
          <p:cNvSpPr>
            <a:spLocks noGrp="1"/>
          </p:cNvSpPr>
          <p:nvPr/>
        </p:nvSpPr>
        <p:spPr>
          <a:xfrm>
            <a:off x="9239250" y="4953000"/>
            <a:ext cx="3714750" cy="1143000"/>
          </a:xfrm>
          <a:prstGeom prst="roundRect">
            <a:avLst>
              <a:gd name="adj" fmla="val 1333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已滿容量</a:t>
            </a:r>
          </a:p>
          <a:p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seeded 抽 1 位非保護守擂者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4AAA528E-EFB8-47D6-A513-4FB78A51A65F}"/>
              </a:ext>
            </a:extLst>
          </p:cNvPr>
          <p:cNvSpPr>
            <a:spLocks noGrp="1"/>
          </p:cNvSpPr>
          <p:nvPr/>
        </p:nvSpPr>
        <p:spPr>
          <a:xfrm>
            <a:off x="4524375" y="4953000"/>
            <a:ext cx="3476625" cy="1143000"/>
          </a:xfrm>
          <a:prstGeom prst="roundRect">
            <a:avLst>
              <a:gd name="adj" fmla="val 13333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 場挑戰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 地圖 × 3 回合 × 2 邊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A0957729-F74D-49BD-949E-A4112E557088}"/>
              </a:ext>
            </a:extLst>
          </p:cNvPr>
          <p:cNvSpPr>
            <a:spLocks noGrp="1"/>
          </p:cNvSpPr>
          <p:nvPr/>
        </p:nvSpPr>
        <p:spPr>
          <a:xfrm>
            <a:off x="857250" y="4953000"/>
            <a:ext cx="2857500" cy="1143000"/>
          </a:xfrm>
          <a:prstGeom prst="roundRect">
            <a:avLst>
              <a:gd name="adj" fmla="val 1333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完整且無錯誤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勝場 &gt; 敗場才替換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1735F23-87FF-42C0-8436-5069D421392D}"/>
              </a:ext>
            </a:extLst>
          </p:cNvPr>
          <p:cNvSpPr>
            <a:spLocks noGrp="1"/>
          </p:cNvSpPr>
          <p:nvPr/>
        </p:nvSpPr>
        <p:spPr>
          <a:xfrm>
            <a:off x="5095875" y="6496050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平手、失敗或未完成：保留原守擂者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0A675E8-41A8-4AE7-AF84-96F0AD29B0E2}"/>
              </a:ext>
            </a:extLst>
          </p:cNvPr>
          <p:cNvSpPr>
            <a:spLocks noGrp="1"/>
          </p:cNvSpPr>
          <p:nvPr/>
        </p:nvSpPr>
        <p:spPr>
          <a:xfrm>
            <a:off x="3810000" y="7096125"/>
            <a:ext cx="8286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候選入池不要求先成為下一代倖存者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8B982DDE-2525-44FD-B3F5-1C55DD7F8036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BBD47620-6D7D-4B3B-8023-E4F3A89B7FD9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302635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1C541327-77DD-4580-A6C4-F72EA69903D7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10906125" y="5372100"/>
            <a:ext cx="1571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7A4E1D52-E12A-45A4-8756-857206624DC2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7191375" y="5372100"/>
            <a:ext cx="1619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AFE0A459-91DF-48B6-AF51-BB300F176CBF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3238500" y="5372100"/>
            <a:ext cx="18573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E8D6AD2D-D91E-4966-AD9E-E90A17FC6E44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凍結的十個評估對手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8655C8-2CEA-4AEB-9FF5-F185DF4E2171}"/>
              </a:ext>
            </a:extLst>
          </p:cNvPr>
          <p:cNvSpPr>
            <a:spLocks noGrp="1"/>
          </p:cNvSpPr>
          <p:nvPr/>
        </p:nvSpPr>
        <p:spPr>
          <a:xfrm>
            <a:off x="1524000" y="22098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 4 個保護欄位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487DA3D8-5B83-42C5-8E07-CEB5D2A07FDA}"/>
              </a:ext>
            </a:extLst>
          </p:cNvPr>
          <p:cNvSpPr>
            <a:spLocks noGrp="1"/>
          </p:cNvSpPr>
          <p:nvPr/>
        </p:nvSpPr>
        <p:spPr>
          <a:xfrm>
            <a:off x="1524000" y="2838450"/>
            <a:ext cx="3952875" cy="1181100"/>
          </a:xfrm>
          <a:prstGeom prst="roundRect">
            <a:avLst>
              <a:gd name="adj" fmla="val 1290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個內建保護對手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跨快照維持相同 case ID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21BB1F-B6C3-4843-9850-DCE84322AF36}"/>
              </a:ext>
            </a:extLst>
          </p:cNvPr>
          <p:cNvSpPr>
            <a:spLocks noGrp="1"/>
          </p:cNvSpPr>
          <p:nvPr/>
        </p:nvSpPr>
        <p:spPr>
          <a:xfrm>
            <a:off x="10191750" y="22098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每個快照再抽 6 名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A7F3CD9-102B-410F-A13A-EC5B5034387F}"/>
              </a:ext>
            </a:extLst>
          </p:cNvPr>
          <p:cNvSpPr>
            <a:spLocks noGrp="1"/>
          </p:cNvSpPr>
          <p:nvPr/>
        </p:nvSpPr>
        <p:spPr>
          <a:xfrm>
            <a:off x="8953500" y="3124200"/>
            <a:ext cx="647700" cy="647700"/>
          </a:xfrm>
          <a:prstGeom prst="roundRect">
            <a:avLst>
              <a:gd name="adj" fmla="val 23529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1BFBB79A-7537-4E2F-81A5-BB9B4F8682EF}"/>
              </a:ext>
            </a:extLst>
          </p:cNvPr>
          <p:cNvSpPr>
            <a:spLocks noGrp="1"/>
          </p:cNvSpPr>
          <p:nvPr/>
        </p:nvSpPr>
        <p:spPr>
          <a:xfrm>
            <a:off x="9848850" y="3124200"/>
            <a:ext cx="647700" cy="647700"/>
          </a:xfrm>
          <a:prstGeom prst="roundRect">
            <a:avLst>
              <a:gd name="adj" fmla="val 23529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CADB44E-CB33-4A24-920C-7335E96018FC}"/>
              </a:ext>
            </a:extLst>
          </p:cNvPr>
          <p:cNvSpPr>
            <a:spLocks noGrp="1"/>
          </p:cNvSpPr>
          <p:nvPr/>
        </p:nvSpPr>
        <p:spPr>
          <a:xfrm>
            <a:off x="10744200" y="3124200"/>
            <a:ext cx="647700" cy="647700"/>
          </a:xfrm>
          <a:prstGeom prst="roundRect">
            <a:avLst>
              <a:gd name="adj" fmla="val 23529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CCAC997-65AF-4EEF-8AA2-5D520F1D195D}"/>
              </a:ext>
            </a:extLst>
          </p:cNvPr>
          <p:cNvSpPr>
            <a:spLocks noGrp="1"/>
          </p:cNvSpPr>
          <p:nvPr/>
        </p:nvSpPr>
        <p:spPr>
          <a:xfrm>
            <a:off x="11639550" y="3124200"/>
            <a:ext cx="647700" cy="647700"/>
          </a:xfrm>
          <a:prstGeom prst="roundRect">
            <a:avLst>
              <a:gd name="adj" fmla="val 23529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76ECE251-C301-4390-B278-83FEFA508664}"/>
              </a:ext>
            </a:extLst>
          </p:cNvPr>
          <p:cNvSpPr>
            <a:spLocks noGrp="1"/>
          </p:cNvSpPr>
          <p:nvPr/>
        </p:nvSpPr>
        <p:spPr>
          <a:xfrm>
            <a:off x="12534900" y="3124200"/>
            <a:ext cx="647700" cy="647700"/>
          </a:xfrm>
          <a:prstGeom prst="roundRect">
            <a:avLst>
              <a:gd name="adj" fmla="val 23529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30B9AC6A-4636-439C-9702-64F86FDDB1BF}"/>
              </a:ext>
            </a:extLst>
          </p:cNvPr>
          <p:cNvSpPr>
            <a:spLocks noGrp="1"/>
          </p:cNvSpPr>
          <p:nvPr/>
        </p:nvSpPr>
        <p:spPr>
          <a:xfrm>
            <a:off x="13430250" y="3124200"/>
            <a:ext cx="647700" cy="647700"/>
          </a:xfrm>
          <a:prstGeom prst="roundRect">
            <a:avLst>
              <a:gd name="adj" fmla="val 23529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729EB2-EF9F-4271-B8EA-58D11AFEC9C1}"/>
              </a:ext>
            </a:extLst>
          </p:cNvPr>
          <p:cNvSpPr>
            <a:spLocks noGrp="1"/>
          </p:cNvSpPr>
          <p:nvPr/>
        </p:nvSpPr>
        <p:spPr>
          <a:xfrm>
            <a:off x="8953500" y="4000500"/>
            <a:ext cx="5429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從歷代累積的可替換成員抽樣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9C19148E-03C8-4146-807F-1270AC910083}"/>
              </a:ext>
            </a:extLst>
          </p:cNvPr>
          <p:cNvSpPr>
            <a:spLocks noGrp="1"/>
          </p:cNvSpPr>
          <p:nvPr/>
        </p:nvSpPr>
        <p:spPr>
          <a:xfrm>
            <a:off x="1714500" y="4953000"/>
            <a:ext cx="1524000" cy="838200"/>
          </a:xfrm>
          <a:prstGeom prst="roundRect">
            <a:avLst>
              <a:gd name="adj" fmla="val 1818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5F967483-2255-413A-B9CB-9CB293716F5C}"/>
              </a:ext>
            </a:extLst>
          </p:cNvPr>
          <p:cNvSpPr>
            <a:spLocks noGrp="1"/>
          </p:cNvSpPr>
          <p:nvPr/>
        </p:nvSpPr>
        <p:spPr>
          <a:xfrm>
            <a:off x="5095875" y="4953000"/>
            <a:ext cx="2095500" cy="838200"/>
          </a:xfrm>
          <a:prstGeom prst="roundRect">
            <a:avLst>
              <a:gd name="adj" fmla="val 1818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G1–5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90512B7F-887C-497D-B51F-FE88DCF69FD7}"/>
              </a:ext>
            </a:extLst>
          </p:cNvPr>
          <p:cNvSpPr>
            <a:spLocks noGrp="1"/>
          </p:cNvSpPr>
          <p:nvPr/>
        </p:nvSpPr>
        <p:spPr>
          <a:xfrm>
            <a:off x="8810625" y="4953000"/>
            <a:ext cx="2095500" cy="838200"/>
          </a:xfrm>
          <a:prstGeom prst="roundRect">
            <a:avLst>
              <a:gd name="adj" fmla="val 1818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G6–10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9A78B93B-3AB4-47AB-BC01-440B3B8DB381}"/>
              </a:ext>
            </a:extLst>
          </p:cNvPr>
          <p:cNvSpPr>
            <a:spLocks noGrp="1"/>
          </p:cNvSpPr>
          <p:nvPr/>
        </p:nvSpPr>
        <p:spPr>
          <a:xfrm>
            <a:off x="12477750" y="4953000"/>
            <a:ext cx="2095500" cy="838200"/>
          </a:xfrm>
          <a:prstGeom prst="roundRect">
            <a:avLst>
              <a:gd name="adj" fmla="val 1818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G11–15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5D4B4D4-E022-4B89-AD31-8DC40C68391F}"/>
              </a:ext>
            </a:extLst>
          </p:cNvPr>
          <p:cNvSpPr>
            <a:spLocks noGrp="1"/>
          </p:cNvSpPr>
          <p:nvPr/>
        </p:nvSpPr>
        <p:spPr>
          <a:xfrm>
            <a:off x="1524000" y="600075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全部 10 個內建對手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728AFA4-BA8E-4D90-B42D-60A2686D0AC1}"/>
              </a:ext>
            </a:extLst>
          </p:cNvPr>
          <p:cNvSpPr>
            <a:spLocks noGrp="1"/>
          </p:cNvSpPr>
          <p:nvPr/>
        </p:nvSpPr>
        <p:spPr>
          <a:xfrm>
            <a:off x="5095875" y="6000750"/>
            <a:ext cx="2286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首個抽樣快照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D8AF218-7561-4725-865B-8FDB03CF0A2A}"/>
              </a:ext>
            </a:extLst>
          </p:cNvPr>
          <p:cNvSpPr>
            <a:spLocks noGrp="1"/>
          </p:cNvSpPr>
          <p:nvPr/>
        </p:nvSpPr>
        <p:spPr>
          <a:xfrm>
            <a:off x="8810625" y="6000750"/>
            <a:ext cx="2286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刷新預設每 5 代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822B393-2C2D-4E29-AF44-D861CD2309F5}"/>
              </a:ext>
            </a:extLst>
          </p:cNvPr>
          <p:cNvSpPr>
            <a:spLocks noGrp="1"/>
          </p:cNvSpPr>
          <p:nvPr/>
        </p:nvSpPr>
        <p:spPr>
          <a:xfrm>
            <a:off x="12477750" y="6000750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G16… 持續刷新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4BA7BDB7-1D2F-41A0-BCBE-BE43AF9BED55}"/>
              </a:ext>
            </a:extLst>
          </p:cNvPr>
          <p:cNvSpPr>
            <a:spLocks noGrp="1"/>
          </p:cNvSpPr>
          <p:nvPr/>
        </p:nvSpPr>
        <p:spPr>
          <a:xfrm>
            <a:off x="2857500" y="6934200"/>
            <a:ext cx="10287000" cy="552450"/>
          </a:xfrm>
          <a:prstGeom prst="roundRect">
            <a:avLst>
              <a:gd name="adj" fmla="val 27586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每個快照固定評估 10 個欄位：4 個保護成員 ＋ 6 個動態成員</a:t>
            </a:r>
          </a:p>
        </p:txBody>
      </p:sp>
      <p:sp>
        <p:nvSpPr>
          <p:cNvPr id="24" name="Slide Number">
            <a:extLst>
              <a:ext uri="{FF2B5EF4-FFF2-40B4-BE49-F238E27FC236}">
                <a16:creationId xmlns:a16="http://schemas.microsoft.com/office/drawing/2014/main" id="{BE374E5F-12AD-4E13-AA58-12A8D7E173FC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2F1E2DF-6AFE-4ADE-8DF8-187CE71D236E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387915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7A7D2A9E-5BD7-45ED-BD5B-28AD31EE28B0}"/>
              </a:ext>
            </a:extLst>
          </p:cNvPr>
          <p:cNvCxnSpPr>
            <a:stCxn id="13" idx="1"/>
            <a:endCxn id="14" idx="3"/>
          </p:cNvCxnSpPr>
          <p:nvPr/>
        </p:nvCxnSpPr>
        <p:spPr>
          <a:xfrm flipH="1">
            <a:off x="7429500" y="6238875"/>
            <a:ext cx="13335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5AFC7280-5AC2-4511-8961-4A5802D6F6EF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10429875" y="4610100"/>
            <a:ext cx="1571625" cy="12001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47866932-FEB6-4415-B2DA-8A1C285C646A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8858250" y="3924300"/>
            <a:ext cx="14287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3ECE534D-3827-4D43-8154-A005F73C47C3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3857625" y="3924300"/>
            <a:ext cx="17621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4CA4203F-B835-4077-968B-8C32E110C1B1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對手快照刷新與父代重評</a:t>
            </a: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344A9B9-48A3-4B2F-B8A2-13B9E69596CB}"/>
              </a:ext>
            </a:extLst>
          </p:cNvPr>
          <p:cNvSpPr>
            <a:spLocks noGrp="1"/>
          </p:cNvSpPr>
          <p:nvPr/>
        </p:nvSpPr>
        <p:spPr>
          <a:xfrm>
            <a:off x="1000125" y="2476500"/>
            <a:ext cx="476250" cy="4762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D7943B-5FBB-4261-8C96-8119310C0553}"/>
              </a:ext>
            </a:extLst>
          </p:cNvPr>
          <p:cNvSpPr>
            <a:spLocks noGrp="1"/>
          </p:cNvSpPr>
          <p:nvPr/>
        </p:nvSpPr>
        <p:spPr>
          <a:xfrm>
            <a:off x="1609725" y="2457450"/>
            <a:ext cx="32861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凍結對手名單</a:t>
            </a: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5EE96E69-0D95-427D-98B1-B4DF1E8D4EF4}"/>
              </a:ext>
            </a:extLst>
          </p:cNvPr>
          <p:cNvSpPr>
            <a:spLocks noGrp="1"/>
          </p:cNvSpPr>
          <p:nvPr/>
        </p:nvSpPr>
        <p:spPr>
          <a:xfrm>
            <a:off x="5619750" y="2476500"/>
            <a:ext cx="476250" cy="4762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5A9F2F-F8CB-476A-846F-3E1EFBCF221C}"/>
              </a:ext>
            </a:extLst>
          </p:cNvPr>
          <p:cNvSpPr>
            <a:spLocks noGrp="1"/>
          </p:cNvSpPr>
          <p:nvPr/>
        </p:nvSpPr>
        <p:spPr>
          <a:xfrm>
            <a:off x="6229350" y="2457450"/>
            <a:ext cx="32861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建立父代複本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E6647CBF-8ABC-4168-940A-FB7E683FE336}"/>
              </a:ext>
            </a:extLst>
          </p:cNvPr>
          <p:cNvSpPr>
            <a:spLocks noGrp="1"/>
          </p:cNvSpPr>
          <p:nvPr/>
        </p:nvSpPr>
        <p:spPr>
          <a:xfrm>
            <a:off x="10287000" y="2476500"/>
            <a:ext cx="476250" cy="4762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1A2DAF-1C01-4C4A-A877-CA7150E3E08F}"/>
              </a:ext>
            </a:extLst>
          </p:cNvPr>
          <p:cNvSpPr>
            <a:spLocks noGrp="1"/>
          </p:cNvSpPr>
          <p:nvPr/>
        </p:nvSpPr>
        <p:spPr>
          <a:xfrm>
            <a:off x="10896600" y="2457450"/>
            <a:ext cx="32861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新情境重評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0C9F0DC-BC40-443A-AFC7-4DC389C671CF}"/>
              </a:ext>
            </a:extLst>
          </p:cNvPr>
          <p:cNvSpPr>
            <a:spLocks noGrp="1"/>
          </p:cNvSpPr>
          <p:nvPr/>
        </p:nvSpPr>
        <p:spPr>
          <a:xfrm>
            <a:off x="1000125" y="3238500"/>
            <a:ext cx="2857500" cy="1371600"/>
          </a:xfrm>
          <a:prstGeom prst="roundRect">
            <a:avLst>
              <a:gd name="adj" fmla="val 1111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4＋6 對手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 context hash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562DF31-2BB2-444F-90B4-9E648ABFC434}"/>
              </a:ext>
            </a:extLst>
          </p:cNvPr>
          <p:cNvSpPr>
            <a:spLocks noGrp="1"/>
          </p:cNvSpPr>
          <p:nvPr/>
        </p:nvSpPr>
        <p:spPr>
          <a:xfrm>
            <a:off x="5619750" y="3238500"/>
            <a:ext cx="3238500" cy="1371600"/>
          </a:xfrm>
          <a:prstGeom prst="roundRect">
            <a:avLst>
              <a:gd name="adj" fmla="val 1111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每位父代保留 phenotype</a:t>
            </a:r>
          </a:p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配置新 candidate ID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49D3FE3-AFB0-4F5C-BC6D-2037D27BFE46}"/>
              </a:ext>
            </a:extLst>
          </p:cNvPr>
          <p:cNvSpPr>
            <a:spLocks noGrp="1"/>
          </p:cNvSpPr>
          <p:nvPr/>
        </p:nvSpPr>
        <p:spPr>
          <a:xfrm>
            <a:off x="10287000" y="3238500"/>
            <a:ext cx="3429000" cy="1371600"/>
          </a:xfrm>
          <a:prstGeom prst="roundRect">
            <a:avLst>
              <a:gd name="adj" fmla="val 11111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新情境重新評估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不覆寫舊分數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D4186DF-D61A-412B-B4CB-A366F3999F2A}"/>
              </a:ext>
            </a:extLst>
          </p:cNvPr>
          <p:cNvSpPr>
            <a:spLocks noGrp="1"/>
          </p:cNvSpPr>
          <p:nvPr/>
        </p:nvSpPr>
        <p:spPr>
          <a:xfrm>
            <a:off x="8763000" y="5810250"/>
            <a:ext cx="3333750" cy="857250"/>
          </a:xfrm>
          <a:prstGeom prst="roundRect">
            <a:avLst>
              <a:gd name="adj" fmla="val 1777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context 完成評分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0E23D8F8-FA29-4E0A-B50B-A70C8222CB87}"/>
              </a:ext>
            </a:extLst>
          </p:cNvPr>
          <p:cNvSpPr>
            <a:spLocks noGrp="1"/>
          </p:cNvSpPr>
          <p:nvPr/>
        </p:nvSpPr>
        <p:spPr>
          <a:xfrm>
            <a:off x="3714750" y="5810250"/>
            <a:ext cx="3714750" cy="857250"/>
          </a:xfrm>
          <a:prstGeom prst="roundRect">
            <a:avLst>
              <a:gd name="adj" fmla="val 1777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再進入同一情境的繁殖選擇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F0D842-433F-4D1B-A3D7-330BEDF7C163}"/>
              </a:ext>
            </a:extLst>
          </p:cNvPr>
          <p:cNvSpPr>
            <a:spLocks noGrp="1"/>
          </p:cNvSpPr>
          <p:nvPr/>
        </p:nvSpPr>
        <p:spPr>
          <a:xfrm>
            <a:off x="3524250" y="7048500"/>
            <a:ext cx="904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不同對手情境的分數不混在同一選擇池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027B9D9E-FA60-4572-81B6-9547E7EA73EA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414EC92F-7374-4FDB-8D00-803FAC6080ED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7688866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81DB5EFA-C355-4C18-AE0D-C80FD9BA2CF3}"/>
              </a:ext>
            </a:extLst>
          </p:cNvPr>
          <p:cNvCxnSpPr>
            <a:stCxn id="5" idx="2"/>
            <a:endCxn id="8" idx="0"/>
          </p:cNvCxnSpPr>
          <p:nvPr/>
        </p:nvCxnSpPr>
        <p:spPr>
          <a:xfrm flipH="1">
            <a:off x="7953375" y="5429250"/>
            <a:ext cx="3952875" cy="15240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F95C5DF6-90C4-4979-803D-DEFD0EE5CF65}"/>
              </a:ext>
            </a:extLst>
          </p:cNvPr>
          <p:cNvCxnSpPr>
            <a:stCxn id="4" idx="2"/>
            <a:endCxn id="8" idx="0"/>
          </p:cNvCxnSpPr>
          <p:nvPr/>
        </p:nvCxnSpPr>
        <p:spPr>
          <a:xfrm>
            <a:off x="4000500" y="5429250"/>
            <a:ext cx="3952875" cy="15240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D3028D4E-BE71-4DAF-8FA8-B4F97717D8CD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11906250" y="3209925"/>
            <a:ext cx="0" cy="933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1AC5640D-F5CA-4B90-9A95-54DF92A47FE6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4000500" y="3209925"/>
            <a:ext cx="0" cy="933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948553F8-711A-489A-9903-67FB2481F88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父代重用與對手快照重評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59C7147C-689C-4929-AB2B-A058CB0AEBC8}"/>
              </a:ext>
            </a:extLst>
          </p:cNvPr>
          <p:cNvSpPr>
            <a:spLocks noGrp="1"/>
          </p:cNvSpPr>
          <p:nvPr/>
        </p:nvSpPr>
        <p:spPr>
          <a:xfrm>
            <a:off x="952500" y="2333625"/>
            <a:ext cx="6096000" cy="876300"/>
          </a:xfrm>
          <a:prstGeom prst="roundRect">
            <a:avLst>
              <a:gd name="adj" fmla="val 17391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對手快照未改變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FF92F023-E3B3-487A-B776-1FC377FD5C8A}"/>
              </a:ext>
            </a:extLst>
          </p:cNvPr>
          <p:cNvSpPr>
            <a:spLocks noGrp="1"/>
          </p:cNvSpPr>
          <p:nvPr/>
        </p:nvSpPr>
        <p:spPr>
          <a:xfrm>
            <a:off x="8858250" y="2333625"/>
            <a:ext cx="6096000" cy="876300"/>
          </a:xfrm>
          <a:prstGeom prst="roundRect">
            <a:avLst>
              <a:gd name="adj" fmla="val 17391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對手快照到期刷新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55F5C6D4-CDFB-404E-92F0-0D42C54B2363}"/>
              </a:ext>
            </a:extLst>
          </p:cNvPr>
          <p:cNvSpPr>
            <a:spLocks noGrp="1"/>
          </p:cNvSpPr>
          <p:nvPr/>
        </p:nvSpPr>
        <p:spPr>
          <a:xfrm>
            <a:off x="952500" y="4143375"/>
            <a:ext cx="6096000" cy="1285875"/>
          </a:xfrm>
          <a:prstGeom prst="roundRect">
            <a:avLst>
              <a:gd name="adj" fmla="val 1185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沿用父代 Java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沿用同情境的已完成分數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699D1508-17B4-4CBF-A8B8-0BA308EDE1F7}"/>
              </a:ext>
            </a:extLst>
          </p:cNvPr>
          <p:cNvSpPr>
            <a:spLocks noGrp="1"/>
          </p:cNvSpPr>
          <p:nvPr/>
        </p:nvSpPr>
        <p:spPr>
          <a:xfrm>
            <a:off x="8858250" y="4143375"/>
            <a:ext cx="6096000" cy="1285875"/>
          </a:xfrm>
          <a:prstGeom prst="roundRect">
            <a:avLst>
              <a:gd name="adj" fmla="val 1185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沿用父代 Java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ID 複本，對新名單跑 180 場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03D6753C-0838-445E-978A-55FC4D0EAE64}"/>
              </a:ext>
            </a:extLst>
          </p:cNvPr>
          <p:cNvSpPr>
            <a:spLocks noGrp="1"/>
          </p:cNvSpPr>
          <p:nvPr/>
        </p:nvSpPr>
        <p:spPr>
          <a:xfrm>
            <a:off x="2571750" y="6953250"/>
            <a:ext cx="10763250" cy="762000"/>
          </a:xfrm>
          <a:prstGeom prst="roundRect">
            <a:avLst>
              <a:gd name="adj" fmla="val 20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先完成父代情境校準，再繁殖；子代也用同一快照評估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C6F283D-C921-4BF9-83C7-0DD3B3568DE5}"/>
              </a:ext>
            </a:extLst>
          </p:cNvPr>
          <p:cNvSpPr>
            <a:spLocks noGrp="1"/>
          </p:cNvSpPr>
          <p:nvPr/>
        </p:nvSpPr>
        <p:spPr>
          <a:xfrm>
            <a:off x="1714500" y="8001000"/>
            <a:ext cx="12477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本流程要求 parent_evaluation_mode = reuse_cached；快照刷新自動執行表型不變的父代重評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DE361C6C-A855-455D-832D-14D7346FF3FF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BB7C915-34E1-4FBE-9F3E-939255388955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8848101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99F732AB-A1E4-4777-89E7-E39BB9C93478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 flipH="1">
            <a:off x="10906125" y="4076700"/>
            <a:ext cx="2095500" cy="12573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72177107-48F1-4338-BFD7-518ECA9EBB20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10191750" y="3486150"/>
            <a:ext cx="1143000" cy="28575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8200ED4D-4EF0-4A1B-AE1F-57AF0B336EA9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語意探針與同分處理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FCB5CE-7FB6-4924-AC74-1B363A36A3C3}"/>
              </a:ext>
            </a:extLst>
          </p:cNvPr>
          <p:cNvSpPr>
            <a:spLocks noGrp="1"/>
          </p:cNvSpPr>
          <p:nvPr/>
        </p:nvSpPr>
        <p:spPr>
          <a:xfrm>
            <a:off x="1190625" y="2286000"/>
            <a:ext cx="39052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固定狀態探針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6C9D1A-8059-4030-9B8A-D32021BF4E9A}"/>
              </a:ext>
            </a:extLst>
          </p:cNvPr>
          <p:cNvSpPr>
            <a:spLocks noGrp="1"/>
          </p:cNvSpPr>
          <p:nvPr/>
        </p:nvSpPr>
        <p:spPr>
          <a:xfrm>
            <a:off x="1095375" y="3200400"/>
            <a:ext cx="1524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小地圖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A4FA4174-2E79-4BBD-A80D-BE7F10D35922}"/>
              </a:ext>
            </a:extLst>
          </p:cNvPr>
          <p:cNvSpPr>
            <a:spLocks noGrp="1"/>
          </p:cNvSpPr>
          <p:nvPr/>
        </p:nvSpPr>
        <p:spPr>
          <a:xfrm>
            <a:off x="2857500" y="310515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BACC83A-27C3-46F1-BE12-0C78E2E0954E}"/>
              </a:ext>
            </a:extLst>
          </p:cNvPr>
          <p:cNvSpPr>
            <a:spLocks noGrp="1"/>
          </p:cNvSpPr>
          <p:nvPr/>
        </p:nvSpPr>
        <p:spPr>
          <a:xfrm>
            <a:off x="3981450" y="310515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4892830-321E-4653-84C9-4D2E0E12FD81}"/>
              </a:ext>
            </a:extLst>
          </p:cNvPr>
          <p:cNvSpPr>
            <a:spLocks noGrp="1"/>
          </p:cNvSpPr>
          <p:nvPr/>
        </p:nvSpPr>
        <p:spPr>
          <a:xfrm>
            <a:off x="5105400" y="310515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2F5823-DE7B-4E4A-9A77-9F673BF2ACE2}"/>
              </a:ext>
            </a:extLst>
          </p:cNvPr>
          <p:cNvSpPr>
            <a:spLocks noGrp="1"/>
          </p:cNvSpPr>
          <p:nvPr/>
        </p:nvSpPr>
        <p:spPr>
          <a:xfrm>
            <a:off x="1095375" y="4362450"/>
            <a:ext cx="1524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中地圖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CCEAD02-03EB-4CEE-9B1C-90F08C03852E}"/>
              </a:ext>
            </a:extLst>
          </p:cNvPr>
          <p:cNvSpPr>
            <a:spLocks noGrp="1"/>
          </p:cNvSpPr>
          <p:nvPr/>
        </p:nvSpPr>
        <p:spPr>
          <a:xfrm>
            <a:off x="2857500" y="426720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30E7AAB-2C9E-401E-9BDB-4AD8D7217A3A}"/>
              </a:ext>
            </a:extLst>
          </p:cNvPr>
          <p:cNvSpPr>
            <a:spLocks noGrp="1"/>
          </p:cNvSpPr>
          <p:nvPr/>
        </p:nvSpPr>
        <p:spPr>
          <a:xfrm>
            <a:off x="3981450" y="426720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76540438-F792-4600-8484-1D34B415B176}"/>
              </a:ext>
            </a:extLst>
          </p:cNvPr>
          <p:cNvSpPr>
            <a:spLocks noGrp="1"/>
          </p:cNvSpPr>
          <p:nvPr/>
        </p:nvSpPr>
        <p:spPr>
          <a:xfrm>
            <a:off x="5105400" y="426720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526F65-6DAF-4A07-8B88-67A5C61F1063}"/>
              </a:ext>
            </a:extLst>
          </p:cNvPr>
          <p:cNvSpPr>
            <a:spLocks noGrp="1"/>
          </p:cNvSpPr>
          <p:nvPr/>
        </p:nvSpPr>
        <p:spPr>
          <a:xfrm>
            <a:off x="1095375" y="5524500"/>
            <a:ext cx="1524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大地圖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DCA59FED-0550-40AB-B5F5-A04FC34929DA}"/>
              </a:ext>
            </a:extLst>
          </p:cNvPr>
          <p:cNvSpPr>
            <a:spLocks noGrp="1"/>
          </p:cNvSpPr>
          <p:nvPr/>
        </p:nvSpPr>
        <p:spPr>
          <a:xfrm>
            <a:off x="2857500" y="542925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D3985EB8-CF5F-4736-BB76-E4DB2EB5F17F}"/>
              </a:ext>
            </a:extLst>
          </p:cNvPr>
          <p:cNvSpPr>
            <a:spLocks noGrp="1"/>
          </p:cNvSpPr>
          <p:nvPr/>
        </p:nvSpPr>
        <p:spPr>
          <a:xfrm>
            <a:off x="3981450" y="542925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5577F7AE-3C4E-4A85-9057-9650F45706D8}"/>
              </a:ext>
            </a:extLst>
          </p:cNvPr>
          <p:cNvSpPr>
            <a:spLocks noGrp="1"/>
          </p:cNvSpPr>
          <p:nvPr/>
        </p:nvSpPr>
        <p:spPr>
          <a:xfrm>
            <a:off x="5105400" y="542925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379B8A3-F80F-4733-B2C0-4889EB3665D1}"/>
              </a:ext>
            </a:extLst>
          </p:cNvPr>
          <p:cNvSpPr>
            <a:spLocks noGrp="1"/>
          </p:cNvSpPr>
          <p:nvPr/>
        </p:nvSpPr>
        <p:spPr>
          <a:xfrm>
            <a:off x="1476375" y="6953250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 地圖 × 3 階段 = 9 個動作簽章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1E5F3ADF-ACC1-4134-A91B-0D2949F231B1}"/>
              </a:ext>
            </a:extLst>
          </p:cNvPr>
          <p:cNvSpPr>
            <a:spLocks noGrp="1"/>
          </p:cNvSpPr>
          <p:nvPr/>
        </p:nvSpPr>
        <p:spPr>
          <a:xfrm>
            <a:off x="7810500" y="3048000"/>
            <a:ext cx="2381250" cy="876300"/>
          </a:xfrm>
          <a:prstGeom prst="roundRect">
            <a:avLst>
              <a:gd name="adj" fmla="val 17391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同分層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CF8977CB-FFB9-43F9-9C78-0C37960CE236}"/>
              </a:ext>
            </a:extLst>
          </p:cNvPr>
          <p:cNvSpPr>
            <a:spLocks noGrp="1"/>
          </p:cNvSpPr>
          <p:nvPr/>
        </p:nvSpPr>
        <p:spPr>
          <a:xfrm>
            <a:off x="11334750" y="2952750"/>
            <a:ext cx="3333750" cy="1123950"/>
          </a:xfrm>
          <a:prstGeom prst="roundRect">
            <a:avLst>
              <a:gd name="adj" fmla="val 13559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比較九個 probe 的動作差異</a:t>
            </a:r>
          </a:p>
          <a:p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距離 = 不同 probe 數 ÷ 9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3EA0EEF8-6658-4814-9255-ED66A6426A9F}"/>
              </a:ext>
            </a:extLst>
          </p:cNvPr>
          <p:cNvSpPr>
            <a:spLocks noGrp="1"/>
          </p:cNvSpPr>
          <p:nvPr/>
        </p:nvSpPr>
        <p:spPr>
          <a:xfrm>
            <a:off x="8524875" y="533400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父代：頂層挑行為較遠者</a:t>
            </a:r>
          </a:p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倖存者：切分同層時採 max-min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06848A7-5FFE-46EB-ABC3-D1B0AFD32AD1}"/>
              </a:ext>
            </a:extLst>
          </p:cNvPr>
          <p:cNvSpPr>
            <a:spLocks noGrp="1"/>
          </p:cNvSpPr>
          <p:nvPr/>
        </p:nvSpPr>
        <p:spPr>
          <a:xfrm>
            <a:off x="8239125" y="6819900"/>
            <a:ext cx="4953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語意探針只解決同分，不另加搜尋目標</a:t>
            </a:r>
          </a:p>
        </p:txBody>
      </p:sp>
      <p:sp>
        <p:nvSpPr>
          <p:cNvPr id="22" name="Slide Number">
            <a:extLst>
              <a:ext uri="{FF2B5EF4-FFF2-40B4-BE49-F238E27FC236}">
                <a16:creationId xmlns:a16="http://schemas.microsoft.com/office/drawing/2014/main" id="{0B7A7DA2-EFDE-4EA2-B288-741F624A21F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AC14261-B182-4558-9878-DD2357B147A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25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9507495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C6406811-6E15-4DC9-B6DF-8BFA7672AB34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8858250" y="3071813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185EBEB7-7362-436E-A9EA-E4FF0DB2FA11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4572000" y="3071813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A5912664-0AF6-4E75-A087-63424438C593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的倖存者選擇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03F88D90-6BA5-4461-9D8C-72BF374FF517}"/>
              </a:ext>
            </a:extLst>
          </p:cNvPr>
          <p:cNvSpPr>
            <a:spLocks noGrp="1"/>
          </p:cNvSpPr>
          <p:nvPr/>
        </p:nvSpPr>
        <p:spPr>
          <a:xfrm>
            <a:off x="762000" y="2476500"/>
            <a:ext cx="3810000" cy="1190625"/>
          </a:xfrm>
          <a:prstGeom prst="roundRect">
            <a:avLst>
              <a:gd name="adj" fmla="val 128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N 父代＋N 子代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合併、依 ID 去重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6680D920-6E09-46C8-AB00-C12E1739BD4B}"/>
              </a:ext>
            </a:extLst>
          </p:cNvPr>
          <p:cNvSpPr>
            <a:spLocks noGrp="1"/>
          </p:cNvSpPr>
          <p:nvPr/>
        </p:nvSpPr>
        <p:spPr>
          <a:xfrm>
            <a:off x="5810250" y="2476500"/>
            <a:ext cx="3048000" cy="1190625"/>
          </a:xfrm>
          <a:prstGeom prst="roundRect">
            <a:avLst>
              <a:gd name="adj" fmla="val 128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只留下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完整評估者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1EE4AEE-1AA7-4D3B-931D-25EECEF6A99D}"/>
              </a:ext>
            </a:extLst>
          </p:cNvPr>
          <p:cNvSpPr>
            <a:spLocks noGrp="1"/>
          </p:cNvSpPr>
          <p:nvPr/>
        </p:nvSpPr>
        <p:spPr>
          <a:xfrm>
            <a:off x="10096500" y="2476500"/>
            <a:ext cx="4762500" cy="1190625"/>
          </a:xfrm>
          <a:prstGeom prst="roundRect">
            <a:avLst>
              <a:gd name="adj" fmla="val 128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 fitness 由高至低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以每層最高分 − 1.0 分層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0CFCC3-EB83-41D5-B133-B144C85D4E00}"/>
              </a:ext>
            </a:extLst>
          </p:cNvPr>
          <p:cNvSpPr>
            <a:spLocks noGrp="1"/>
          </p:cNvSpPr>
          <p:nvPr/>
        </p:nvSpPr>
        <p:spPr>
          <a:xfrm>
            <a:off x="857250" y="4953000"/>
            <a:ext cx="4572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整層放得下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4708DC6-E8AF-4EE1-829E-2B1F9C10D656}"/>
              </a:ext>
            </a:extLst>
          </p:cNvPr>
          <p:cNvSpPr>
            <a:spLocks noGrp="1"/>
          </p:cNvSpPr>
          <p:nvPr/>
        </p:nvSpPr>
        <p:spPr>
          <a:xfrm>
            <a:off x="857250" y="5762625"/>
            <a:ext cx="4572000" cy="1190625"/>
          </a:xfrm>
          <a:prstGeom prst="roundRect">
            <a:avLst>
              <a:gd name="adj" fmla="val 128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整層保留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再處理下一個分數層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EDD0BC-044B-4635-B466-85F10485030F}"/>
              </a:ext>
            </a:extLst>
          </p:cNvPr>
          <p:cNvSpPr>
            <a:spLocks noGrp="1"/>
          </p:cNvSpPr>
          <p:nvPr/>
        </p:nvSpPr>
        <p:spPr>
          <a:xfrm>
            <a:off x="7239000" y="4953000"/>
            <a:ext cx="7429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剩餘名額切在同一層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EEF39971-531D-4AF5-A66D-A98C1041A887}"/>
              </a:ext>
            </a:extLst>
          </p:cNvPr>
          <p:cNvSpPr>
            <a:spLocks noGrp="1"/>
          </p:cNvSpPr>
          <p:nvPr/>
        </p:nvSpPr>
        <p:spPr>
          <a:xfrm>
            <a:off x="7239000" y="5762625"/>
            <a:ext cx="7429500" cy="1190625"/>
          </a:xfrm>
          <a:prstGeom prst="roundRect">
            <a:avLst>
              <a:gd name="adj" fmla="val 128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只在該層用 seeded max-min 選子集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優先保留與已選者行為較遠的候選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58E10E46-DDE6-4832-BDC3-51CCBE939936}"/>
              </a:ext>
            </a:extLst>
          </p:cNvPr>
          <p:cNvCxnSpPr/>
          <p:nvPr/>
        </p:nvCxnSpPr>
        <p:spPr>
          <a:xfrm>
            <a:off x="12477750" y="3667125"/>
            <a:ext cx="0" cy="619125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6D9AA97D-3707-406D-91C5-82261D6D4A00}"/>
              </a:ext>
            </a:extLst>
          </p:cNvPr>
          <p:cNvCxnSpPr/>
          <p:nvPr/>
        </p:nvCxnSpPr>
        <p:spPr>
          <a:xfrm>
            <a:off x="3143250" y="4286250"/>
            <a:ext cx="9334500" cy="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F6E53243-81E6-4718-B70B-C9B895CEEFBD}"/>
              </a:ext>
            </a:extLst>
          </p:cNvPr>
          <p:cNvCxnSpPr/>
          <p:nvPr/>
        </p:nvCxnSpPr>
        <p:spPr>
          <a:xfrm>
            <a:off x="3143250" y="4286250"/>
            <a:ext cx="0" cy="523875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7F81659C-C372-4DBB-9D80-64A8766F245B}"/>
              </a:ext>
            </a:extLst>
          </p:cNvPr>
          <p:cNvCxnSpPr/>
          <p:nvPr/>
        </p:nvCxnSpPr>
        <p:spPr>
          <a:xfrm>
            <a:off x="10953750" y="4286250"/>
            <a:ext cx="0" cy="523875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732CF74D-7322-458C-87A1-DB06B61AC27D}"/>
              </a:ext>
            </a:extLst>
          </p:cNvPr>
          <p:cNvSpPr>
            <a:spLocks noGrp="1"/>
          </p:cNvSpPr>
          <p:nvPr/>
        </p:nvSpPr>
        <p:spPr>
          <a:xfrm>
            <a:off x="1524000" y="7858125"/>
            <a:ext cx="13049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選滿固定 N 位；低分層不能靠新穎性越級。完成者不足 N，run 明確失敗。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66249DDE-B6AB-4A39-A74B-6833E22350E5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C8C7BF47-17B0-45A1-B6B1-1B6FA94F1C1B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26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620273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7D33D46B-CF3C-4E96-85B6-82BA7F1C8C50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12906375" y="4048125"/>
            <a:ext cx="0" cy="2143125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接點: 肘形 6">
            <a:extLst>
              <a:ext uri="{FF2B5EF4-FFF2-40B4-BE49-F238E27FC236}">
                <a16:creationId xmlns:a16="http://schemas.microsoft.com/office/drawing/2014/main" id="{3D768729-0683-473B-80E6-B79AF859CC7A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9334500" y="3405188"/>
            <a:ext cx="1428750" cy="214313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8D27CDA8-4465-41C8-90B8-C949EF1FE0CA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000500" y="3619500"/>
            <a:ext cx="13335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20BC2FEA-F6D3-461E-864C-7398D358A1DE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的靜態突變操作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2141A2-DB66-4950-9E2F-C60E76E1CF3E}"/>
              </a:ext>
            </a:extLst>
          </p:cNvPr>
          <p:cNvSpPr>
            <a:spLocks noGrp="1"/>
          </p:cNvSpPr>
          <p:nvPr/>
        </p:nvSpPr>
        <p:spPr>
          <a:xfrm>
            <a:off x="1238250" y="1857375"/>
            <a:ext cx="13239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self_play 要求 reflection_operator_mode = static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A1059B67-9115-4CCD-AD66-1C175CB102A0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3238500" cy="952500"/>
          </a:xfrm>
          <a:prstGeom prst="roundRect">
            <a:avLst>
              <a:gd name="adj" fmla="val 16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交配後的子代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38D14FDE-0686-47E8-9624-5419CC8CE52F}"/>
              </a:ext>
            </a:extLst>
          </p:cNvPr>
          <p:cNvSpPr>
            <a:spLocks noGrp="1"/>
          </p:cNvSpPr>
          <p:nvPr/>
        </p:nvSpPr>
        <p:spPr>
          <a:xfrm>
            <a:off x="5334000" y="3143250"/>
            <a:ext cx="4000500" cy="952500"/>
          </a:xfrm>
          <a:prstGeom prst="roundRect">
            <a:avLst>
              <a:gd name="adj" fmla="val 160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 mutation_rate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決定是否突變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A17FE13-A476-4C85-8137-48CC1613DF42}"/>
              </a:ext>
            </a:extLst>
          </p:cNvPr>
          <p:cNvSpPr>
            <a:spLocks noGrp="1"/>
          </p:cNvSpPr>
          <p:nvPr/>
        </p:nvSpPr>
        <p:spPr>
          <a:xfrm>
            <a:off x="10763250" y="2762250"/>
            <a:ext cx="4286250" cy="1285875"/>
          </a:xfrm>
          <a:prstGeom prst="roundRect">
            <a:avLst>
              <a:gd name="adj" fmla="val 1185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依已設定的靜態規則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執行可用突變操作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DACB7B9-8868-4590-8945-BE5A43538AC7}"/>
              </a:ext>
            </a:extLst>
          </p:cNvPr>
          <p:cNvSpPr>
            <a:spLocks noGrp="1"/>
          </p:cNvSpPr>
          <p:nvPr/>
        </p:nvSpPr>
        <p:spPr>
          <a:xfrm>
            <a:off x="10763250" y="6191250"/>
            <a:ext cx="4286250" cy="952500"/>
          </a:xfrm>
          <a:prstGeom prst="roundRect">
            <a:avLst>
              <a:gd name="adj" fmla="val 1600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進入 Java 與評估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E9113B1F-F621-482B-B4E3-B4ECDD1E639C}"/>
              </a:ext>
            </a:extLst>
          </p:cNvPr>
          <p:cNvCxnSpPr/>
          <p:nvPr/>
        </p:nvCxnSpPr>
        <p:spPr>
          <a:xfrm>
            <a:off x="7334250" y="4095750"/>
            <a:ext cx="0" cy="257175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D31595D5-642C-4719-82C1-96495AD05A04}"/>
              </a:ext>
            </a:extLst>
          </p:cNvPr>
          <p:cNvCxnSpPr/>
          <p:nvPr/>
        </p:nvCxnSpPr>
        <p:spPr>
          <a:xfrm>
            <a:off x="7334250" y="6667500"/>
            <a:ext cx="3429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0105D63A-F279-4F61-A357-AADB2933C060}"/>
              </a:ext>
            </a:extLst>
          </p:cNvPr>
          <p:cNvSpPr>
            <a:spLocks noGrp="1"/>
          </p:cNvSpPr>
          <p:nvPr/>
        </p:nvSpPr>
        <p:spPr>
          <a:xfrm>
            <a:off x="7620000" y="528637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否：保留交配後基因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F1B7E73-A76A-44DD-89B4-C1B98B2B831A}"/>
              </a:ext>
            </a:extLst>
          </p:cNvPr>
          <p:cNvSpPr>
            <a:spLocks noGrp="1"/>
          </p:cNvSpPr>
          <p:nvPr/>
        </p:nvSpPr>
        <p:spPr>
          <a:xfrm>
            <a:off x="9715500" y="2857500"/>
            <a:ext cx="762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CBFC14-92C0-4D57-ADE2-E9BF76C7F62B}"/>
              </a:ext>
            </a:extLst>
          </p:cNvPr>
          <p:cNvSpPr>
            <a:spLocks noGrp="1"/>
          </p:cNvSpPr>
          <p:nvPr/>
        </p:nvSpPr>
        <p:spPr>
          <a:xfrm>
            <a:off x="762000" y="5000625"/>
            <a:ext cx="60007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 local：至多改一槽</a:t>
            </a:r>
          </a:p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 Coach：回傳完整 genome</a:t>
            </a:r>
          </a:p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LLM／DSL：依可用操作與固定配比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A057DD7-DC82-4A6B-9957-222E4F9F79AC}"/>
              </a:ext>
            </a:extLst>
          </p:cNvPr>
          <p:cNvSpPr>
            <a:spLocks noGrp="1"/>
          </p:cNvSpPr>
          <p:nvPr/>
        </p:nvSpPr>
        <p:spPr>
          <a:xfrm>
            <a:off x="1619250" y="7858125"/>
            <a:ext cx="12668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對戰結果提供 fitness 與反思證據；本流程不以 reward 動態更新操作機率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8D68C638-C428-4035-B93F-A8AF793D131D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703ABF2-19A9-4156-8071-04A57406249E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27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3846599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FA9DDAF9-A928-4FE5-8637-92447957FF00}"/>
              </a:ext>
            </a:extLst>
          </p:cNvPr>
          <p:cNvCxnSpPr>
            <a:stCxn id="6" idx="2"/>
            <a:endCxn id="18" idx="0"/>
          </p:cNvCxnSpPr>
          <p:nvPr/>
        </p:nvCxnSpPr>
        <p:spPr>
          <a:xfrm flipH="1">
            <a:off x="10929938" y="3162300"/>
            <a:ext cx="23813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612C4B9D-2ED5-422C-BA31-F8BCBFE9FAF9}"/>
              </a:ext>
            </a:extLst>
          </p:cNvPr>
          <p:cNvCxnSpPr>
            <a:stCxn id="5" idx="2"/>
            <a:endCxn id="17" idx="0"/>
          </p:cNvCxnSpPr>
          <p:nvPr/>
        </p:nvCxnSpPr>
        <p:spPr>
          <a:xfrm flipH="1">
            <a:off x="8501063" y="3162300"/>
            <a:ext cx="119063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B583DEFB-9E52-434C-9528-F6A62E7CF9A4}"/>
              </a:ext>
            </a:extLst>
          </p:cNvPr>
          <p:cNvCxnSpPr>
            <a:stCxn id="13" idx="0"/>
            <a:endCxn id="2" idx="2"/>
          </p:cNvCxnSpPr>
          <p:nvPr/>
        </p:nvCxnSpPr>
        <p:spPr>
          <a:xfrm flipH="1" flipV="1">
            <a:off x="1619250" y="3162300"/>
            <a:ext cx="3405188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2E52721A-DB06-4E7C-8D48-AEBB570C67F6}"/>
              </a:ext>
            </a:extLst>
          </p:cNvPr>
          <p:cNvCxnSpPr>
            <a:stCxn id="4" idx="2"/>
            <a:endCxn id="13" idx="0"/>
          </p:cNvCxnSpPr>
          <p:nvPr/>
        </p:nvCxnSpPr>
        <p:spPr>
          <a:xfrm flipH="1">
            <a:off x="5024438" y="3162300"/>
            <a:ext cx="1262063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543E1912-DBA8-44BA-A071-C4BAE29D7B87}"/>
              </a:ext>
            </a:extLst>
          </p:cNvPr>
          <p:cNvCxnSpPr>
            <a:stCxn id="3" idx="2"/>
            <a:endCxn id="13" idx="0"/>
          </p:cNvCxnSpPr>
          <p:nvPr/>
        </p:nvCxnSpPr>
        <p:spPr>
          <a:xfrm>
            <a:off x="3952875" y="3162300"/>
            <a:ext cx="1071563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8566601A-AF2D-4847-91B3-3158AEED42B6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11906250" y="2771775"/>
            <a:ext cx="428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FFBC03A7-8E9D-43AB-ABAB-4957C5836A68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9572625" y="2771775"/>
            <a:ext cx="428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2CD5E4E5-3FC9-4C49-ACBA-604CC80B2614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7239000" y="2771775"/>
            <a:ext cx="428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B2160C41-6DF4-4A79-809E-97ADB32361E3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905375" y="2771775"/>
            <a:ext cx="428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664E098E-8128-48F7-AE8B-F984209C8FBF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2571750" y="2771775"/>
            <a:ext cx="428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85CA156E-BE33-4DEC-86EC-382E2F15F795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失敗、重試與停止的邊界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C9E5DEBC-AC9D-47D0-B0C6-90C3A37EFFBC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1905000" cy="781050"/>
          </a:xfrm>
          <a:prstGeom prst="roundRect">
            <a:avLst>
              <a:gd name="adj" fmla="val 19512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LLM 產生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AC6911C8-6376-4E40-A94C-8A58EADB8D8E}"/>
              </a:ext>
            </a:extLst>
          </p:cNvPr>
          <p:cNvSpPr>
            <a:spLocks noGrp="1"/>
          </p:cNvSpPr>
          <p:nvPr/>
        </p:nvSpPr>
        <p:spPr>
          <a:xfrm>
            <a:off x="3000375" y="2381250"/>
            <a:ext cx="1905000" cy="781050"/>
          </a:xfrm>
          <a:prstGeom prst="roundRect">
            <a:avLst>
              <a:gd name="adj" fmla="val 1951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2F203322-9800-436C-94FC-D31356B77F3B}"/>
              </a:ext>
            </a:extLst>
          </p:cNvPr>
          <p:cNvSpPr>
            <a:spLocks noGrp="1"/>
          </p:cNvSpPr>
          <p:nvPr/>
        </p:nvSpPr>
        <p:spPr>
          <a:xfrm>
            <a:off x="5334000" y="2381250"/>
            <a:ext cx="1905000" cy="781050"/>
          </a:xfrm>
          <a:prstGeom prst="roundRect">
            <a:avLst>
              <a:gd name="adj" fmla="val 1951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javac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05488BB8-257C-4F48-A485-7F16F94AACA5}"/>
              </a:ext>
            </a:extLst>
          </p:cNvPr>
          <p:cNvSpPr>
            <a:spLocks noGrp="1"/>
          </p:cNvSpPr>
          <p:nvPr/>
        </p:nvSpPr>
        <p:spPr>
          <a:xfrm>
            <a:off x="7667625" y="2381250"/>
            <a:ext cx="1905000" cy="781050"/>
          </a:xfrm>
          <a:prstGeom prst="roundRect">
            <a:avLst>
              <a:gd name="adj" fmla="val 1951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A0A68253-2245-41E6-9EBC-929C0F5E8D85}"/>
              </a:ext>
            </a:extLst>
          </p:cNvPr>
          <p:cNvSpPr>
            <a:spLocks noGrp="1"/>
          </p:cNvSpPr>
          <p:nvPr/>
        </p:nvSpPr>
        <p:spPr>
          <a:xfrm>
            <a:off x="10001250" y="2381250"/>
            <a:ext cx="1905000" cy="781050"/>
          </a:xfrm>
          <a:prstGeom prst="roundRect">
            <a:avLst>
              <a:gd name="adj" fmla="val 1951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180 場評估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9451701-4611-4ED0-9383-1217CEC15D8D}"/>
              </a:ext>
            </a:extLst>
          </p:cNvPr>
          <p:cNvSpPr>
            <a:spLocks noGrp="1"/>
          </p:cNvSpPr>
          <p:nvPr/>
        </p:nvSpPr>
        <p:spPr>
          <a:xfrm>
            <a:off x="12334875" y="2381250"/>
            <a:ext cx="2286000" cy="781050"/>
          </a:xfrm>
          <a:prstGeom prst="roundRect">
            <a:avLst>
              <a:gd name="adj" fmla="val 1951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候選篩選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4420B64-E30B-4F8A-A581-D67C2D55A998}"/>
              </a:ext>
            </a:extLst>
          </p:cNvPr>
          <p:cNvSpPr>
            <a:spLocks noGrp="1"/>
          </p:cNvSpPr>
          <p:nvPr/>
        </p:nvSpPr>
        <p:spPr>
          <a:xfrm>
            <a:off x="2762250" y="4095750"/>
            <a:ext cx="4524375" cy="990600"/>
          </a:xfrm>
          <a:prstGeom prst="roundRect">
            <a:avLst>
              <a:gd name="adj" fmla="val 1538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有界修復重試</a:t>
            </a:r>
          </a:p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 模式限 generation_max_attempts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04B3D249-C2BC-4291-9AE3-4B150E72A460}"/>
              </a:ext>
            </a:extLst>
          </p:cNvPr>
          <p:cNvSpPr>
            <a:spLocks noGrp="1"/>
          </p:cNvSpPr>
          <p:nvPr/>
        </p:nvSpPr>
        <p:spPr>
          <a:xfrm>
            <a:off x="7477125" y="4095750"/>
            <a:ext cx="2047875" cy="914400"/>
          </a:xfrm>
          <a:prstGeom prst="roundRect">
            <a:avLst>
              <a:gd name="adj" fmla="val 16667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失敗，候選終止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F1240FE5-6AEC-4FFD-965B-EDC07FCD7397}"/>
              </a:ext>
            </a:extLst>
          </p:cNvPr>
          <p:cNvSpPr>
            <a:spLocks noGrp="1"/>
          </p:cNvSpPr>
          <p:nvPr/>
        </p:nvSpPr>
        <p:spPr>
          <a:xfrm>
            <a:off x="9906000" y="4095750"/>
            <a:ext cx="2047875" cy="742950"/>
          </a:xfrm>
          <a:prstGeom prst="roundRect">
            <a:avLst>
              <a:gd name="adj" fmla="val 20513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矩陣未完成</a:t>
            </a:r>
          </a:p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候選終止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028F20F-35C0-4B39-808C-D88266D113FB}"/>
              </a:ext>
            </a:extLst>
          </p:cNvPr>
          <p:cNvSpPr>
            <a:spLocks noGrp="1"/>
          </p:cNvSpPr>
          <p:nvPr/>
        </p:nvSpPr>
        <p:spPr>
          <a:xfrm>
            <a:off x="7762875" y="5133975"/>
            <a:ext cx="4476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DSL／framework 編譯失敗亦直接終止候選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17480AD-7BB9-4899-80F9-38A091213304}"/>
              </a:ext>
            </a:extLst>
          </p:cNvPr>
          <p:cNvSpPr>
            <a:spLocks noGrp="1"/>
          </p:cNvSpPr>
          <p:nvPr/>
        </p:nvSpPr>
        <p:spPr>
          <a:xfrm>
            <a:off x="8001000" y="5686425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失敗候選 sentinel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D5189AB-08F1-4D15-84C5-B14EF26773D3}"/>
              </a:ext>
            </a:extLst>
          </p:cNvPr>
          <p:cNvSpPr>
            <a:spLocks noGrp="1"/>
          </p:cNvSpPr>
          <p:nvPr/>
        </p:nvSpPr>
        <p:spPr>
          <a:xfrm>
            <a:off x="10382250" y="5476875"/>
            <a:ext cx="2333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−1000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6EDDBF22-4EFD-491E-993F-C1D557918AAB}"/>
              </a:ext>
            </a:extLst>
          </p:cNvPr>
          <p:cNvSpPr>
            <a:spLocks noGrp="1"/>
          </p:cNvSpPr>
          <p:nvPr/>
        </p:nvSpPr>
        <p:spPr>
          <a:xfrm>
            <a:off x="2143125" y="6572250"/>
            <a:ext cx="4857750" cy="876300"/>
          </a:xfrm>
          <a:prstGeom prst="roundRect">
            <a:avLst>
              <a:gd name="adj" fmla="val 1739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完成者 ≥ N</a:t>
            </a:r>
          </a:p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父代足夠時仍可延續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443FF40E-D164-4EEB-BCD9-023837F769DD}"/>
              </a:ext>
            </a:extLst>
          </p:cNvPr>
          <p:cNvSpPr>
            <a:spLocks noGrp="1"/>
          </p:cNvSpPr>
          <p:nvPr/>
        </p:nvSpPr>
        <p:spPr>
          <a:xfrm>
            <a:off x="8810625" y="6572250"/>
            <a:ext cx="4857750" cy="876300"/>
          </a:xfrm>
          <a:prstGeom prst="roundRect">
            <a:avLst>
              <a:gd name="adj" fmla="val 17391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完成者 &lt; N</a:t>
            </a:r>
          </a:p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明確失敗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E6952E9-5611-4F5F-8D6C-AC12D6897DA6}"/>
              </a:ext>
            </a:extLst>
          </p:cNvPr>
          <p:cNvSpPr>
            <a:spLocks noGrp="1"/>
          </p:cNvSpPr>
          <p:nvPr/>
        </p:nvSpPr>
        <p:spPr>
          <a:xfrm>
            <a:off x="3143250" y="7572375"/>
            <a:ext cx="9620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中斷：取消排隊工作、等待執行中工作，再從最後提交世代恢復</a:t>
            </a:r>
          </a:p>
        </p:txBody>
      </p:sp>
      <p:sp>
        <p:nvSpPr>
          <p:cNvPr id="27" name="Slide Number">
            <a:extLst>
              <a:ext uri="{FF2B5EF4-FFF2-40B4-BE49-F238E27FC236}">
                <a16:creationId xmlns:a16="http://schemas.microsoft.com/office/drawing/2014/main" id="{09576A76-4739-4217-970F-EE6D2D5EB2EF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750010D7-A5F9-44AC-B802-21D625AE5830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28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4521196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55A21ED4-6439-4E5F-BFAD-30503774ADF8}"/>
              </a:ext>
            </a:extLst>
          </p:cNvPr>
          <p:cNvCxnSpPr>
            <a:stCxn id="2" idx="2"/>
            <a:endCxn id="11" idx="0"/>
          </p:cNvCxnSpPr>
          <p:nvPr/>
        </p:nvCxnSpPr>
        <p:spPr>
          <a:xfrm flipH="1">
            <a:off x="4524375" y="2762250"/>
            <a:ext cx="3476625" cy="2952750"/>
          </a:xfrm>
          <a:prstGeom prst="bentConnector4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B6A76DB8-8D0A-40AA-82D9-6B7745B3D128}"/>
              </a:ext>
            </a:extLst>
          </p:cNvPr>
          <p:cNvCxnSpPr>
            <a:stCxn id="2" idx="2"/>
            <a:endCxn id="6" idx="0"/>
          </p:cNvCxnSpPr>
          <p:nvPr/>
        </p:nvCxnSpPr>
        <p:spPr>
          <a:xfrm>
            <a:off x="8001000" y="2762250"/>
            <a:ext cx="5810250" cy="8096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58E541B2-E068-4D39-B644-FA59451E9C10}"/>
              </a:ext>
            </a:extLst>
          </p:cNvPr>
          <p:cNvCxnSpPr>
            <a:stCxn id="2" idx="2"/>
            <a:endCxn id="5" idx="0"/>
          </p:cNvCxnSpPr>
          <p:nvPr/>
        </p:nvCxnSpPr>
        <p:spPr>
          <a:xfrm>
            <a:off x="8001000" y="2762250"/>
            <a:ext cx="2381250" cy="8096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接點: 肘形 7">
            <a:extLst>
              <a:ext uri="{FF2B5EF4-FFF2-40B4-BE49-F238E27FC236}">
                <a16:creationId xmlns:a16="http://schemas.microsoft.com/office/drawing/2014/main" id="{EC7F8105-15CB-4501-9F56-F1C4B07BD748}"/>
              </a:ext>
            </a:extLst>
          </p:cNvPr>
          <p:cNvCxnSpPr>
            <a:stCxn id="2" idx="2"/>
            <a:endCxn id="4" idx="0"/>
          </p:cNvCxnSpPr>
          <p:nvPr/>
        </p:nvCxnSpPr>
        <p:spPr>
          <a:xfrm flipH="1">
            <a:off x="6667500" y="2762250"/>
            <a:ext cx="1333500" cy="8096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接點: 肘形 6">
            <a:extLst>
              <a:ext uri="{FF2B5EF4-FFF2-40B4-BE49-F238E27FC236}">
                <a16:creationId xmlns:a16="http://schemas.microsoft.com/office/drawing/2014/main" id="{CBA8602B-6182-4CA5-BD5A-DF35BE13692E}"/>
              </a:ext>
            </a:extLst>
          </p:cNvPr>
          <p:cNvCxnSpPr>
            <a:stCxn id="2" idx="2"/>
            <a:endCxn id="3" idx="0"/>
          </p:cNvCxnSpPr>
          <p:nvPr/>
        </p:nvCxnSpPr>
        <p:spPr>
          <a:xfrm flipH="1">
            <a:off x="2952750" y="2762250"/>
            <a:ext cx="5048250" cy="8096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E4938E53-1C02-47D7-9C75-32719B4A1065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 run 的保存與稽核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90E0059B-F9E8-496F-8606-13A0CD030255}"/>
              </a:ext>
            </a:extLst>
          </p:cNvPr>
          <p:cNvSpPr>
            <a:spLocks noGrp="1"/>
          </p:cNvSpPr>
          <p:nvPr/>
        </p:nvSpPr>
        <p:spPr>
          <a:xfrm>
            <a:off x="5619750" y="2095500"/>
            <a:ext cx="4762500" cy="666750"/>
          </a:xfrm>
          <a:prstGeom prst="roundRect">
            <a:avLst>
              <a:gd name="adj" fmla="val 22857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runs/&lt;run_id&gt;/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19501285-F1B3-465A-9470-F0A54A522C70}"/>
              </a:ext>
            </a:extLst>
          </p:cNvPr>
          <p:cNvSpPr>
            <a:spLocks noGrp="1"/>
          </p:cNvSpPr>
          <p:nvPr/>
        </p:nvSpPr>
        <p:spPr>
          <a:xfrm>
            <a:off x="1238250" y="3571875"/>
            <a:ext cx="3429000" cy="1352550"/>
          </a:xfrm>
          <a:prstGeom prst="roundRect">
            <a:avLst>
              <a:gd name="adj" fmla="val 1126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config.yaml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manifest.json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summary.json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536EB1A5-34B3-4464-8421-7CC3BAF64F01}"/>
              </a:ext>
            </a:extLst>
          </p:cNvPr>
          <p:cNvSpPr>
            <a:spLocks noGrp="1"/>
          </p:cNvSpPr>
          <p:nvPr/>
        </p:nvSpPr>
        <p:spPr>
          <a:xfrm>
            <a:off x="4953000" y="3571875"/>
            <a:ext cx="3429000" cy="1352550"/>
          </a:xfrm>
          <a:prstGeom prst="roundRect">
            <a:avLst>
              <a:gd name="adj" fmla="val 11268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generations/</a:t>
            </a:r>
          </a:p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候選快照與 latest_generation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7211762C-7BBE-4629-A630-88CF2DC0511B}"/>
              </a:ext>
            </a:extLst>
          </p:cNvPr>
          <p:cNvSpPr>
            <a:spLocks noGrp="1"/>
          </p:cNvSpPr>
          <p:nvPr/>
        </p:nvSpPr>
        <p:spPr>
          <a:xfrm>
            <a:off x="8667750" y="3571875"/>
            <a:ext cx="3429000" cy="1352550"/>
          </a:xfrm>
          <a:prstGeom prst="roundRect">
            <a:avLst>
              <a:gd name="adj" fmla="val 1126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candidates/</a:t>
            </a:r>
          </a:p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基因、譜系、逐階段證據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438ABCBB-D21B-4558-9216-F79B1F5EEA7D}"/>
              </a:ext>
            </a:extLst>
          </p:cNvPr>
          <p:cNvSpPr>
            <a:spLocks noGrp="1"/>
          </p:cNvSpPr>
          <p:nvPr/>
        </p:nvSpPr>
        <p:spPr>
          <a:xfrm>
            <a:off x="12382500" y="3571875"/>
            <a:ext cx="2857500" cy="1352550"/>
          </a:xfrm>
          <a:prstGeom prst="roundRect">
            <a:avLst>
              <a:gd name="adj" fmla="val 1126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archives/</a:t>
            </a:r>
          </a:p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操作、錯誤與 opponent pool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595D25D3-29D4-4B23-84B4-7EE955189103}"/>
              </a:ext>
            </a:extLst>
          </p:cNvPr>
          <p:cNvSpPr>
            <a:spLocks noGrp="1"/>
          </p:cNvSpPr>
          <p:nvPr/>
        </p:nvSpPr>
        <p:spPr>
          <a:xfrm>
            <a:off x="2143125" y="5715000"/>
            <a:ext cx="4762500" cy="876300"/>
          </a:xfrm>
          <a:prstGeom prst="roundRect">
            <a:avLst>
              <a:gd name="adj" fmla="val 17391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framework/bundle.json</a:t>
            </a:r>
          </a:p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 slots 凍結來源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63ACDE4D-8136-41A4-A73F-213EE0F9619F}"/>
              </a:ext>
            </a:extLst>
          </p:cNvPr>
          <p:cNvSpPr>
            <a:spLocks noGrp="1"/>
          </p:cNvSpPr>
          <p:nvPr/>
        </p:nvSpPr>
        <p:spPr>
          <a:xfrm>
            <a:off x="7524750" y="5715000"/>
            <a:ext cx="4000500" cy="876300"/>
          </a:xfrm>
          <a:prstGeom prst="roundRect">
            <a:avLst>
              <a:gd name="adj" fmla="val 1739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timing.jsonl：append-only 階段與 LLM request 時間線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20A51242-2209-4D61-8258-72247E02E5DD}"/>
              </a:ext>
            </a:extLst>
          </p:cNvPr>
          <p:cNvSpPr>
            <a:spLocks noGrp="1"/>
          </p:cNvSpPr>
          <p:nvPr/>
        </p:nvSpPr>
        <p:spPr>
          <a:xfrm>
            <a:off x="12096750" y="5715000"/>
            <a:ext cx="2857500" cy="876300"/>
          </a:xfrm>
          <a:prstGeom prst="roundRect">
            <a:avLst>
              <a:gd name="adj" fmla="val 1739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final_test/</a:t>
            </a:r>
          </a:p>
          <a:p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獨立正式測試證據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D914DDE-E0B1-499E-AA13-55E637B3518D}"/>
              </a:ext>
            </a:extLst>
          </p:cNvPr>
          <p:cNvSpPr>
            <a:spLocks noGrp="1"/>
          </p:cNvSpPr>
          <p:nvPr/>
        </p:nvSpPr>
        <p:spPr>
          <a:xfrm>
            <a:off x="4000500" y="7096125"/>
            <a:ext cx="7810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generation snapshot 原子寫入成功後，manifest 才前進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B4BD89A1-AEF7-4FE2-851F-73468F566AE5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2B548972-FC65-47D5-B387-688AD63636B4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29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2656395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97EAD26F-C5F6-4382-84E0-245556277C0C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6667500" y="5915025"/>
            <a:ext cx="1524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2A301B86-7DFE-4D75-B1F2-857FF4EE9F6C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9810750" y="3733800"/>
            <a:ext cx="0" cy="160020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4DD81EC1-B4AB-4440-9FDA-EA89D25FD38C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7715250" y="3152775"/>
            <a:ext cx="476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7757F71F-9F48-457F-91D6-9645ACFD30CB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4000500" y="3152775"/>
            <a:ext cx="476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48C9541B-BF86-464D-89D0-15CA0B53F5D5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中斷後的恢復流程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C3B78630-AC99-4B7F-A797-58F74C843E46}"/>
              </a:ext>
            </a:extLst>
          </p:cNvPr>
          <p:cNvSpPr>
            <a:spLocks noGrp="1"/>
          </p:cNvSpPr>
          <p:nvPr/>
        </p:nvSpPr>
        <p:spPr>
          <a:xfrm>
            <a:off x="762000" y="2571750"/>
            <a:ext cx="3238500" cy="1162050"/>
          </a:xfrm>
          <a:prstGeom prst="roundRect">
            <a:avLst>
              <a:gd name="adj" fmla="val 13115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1  最後提交快照</a:t>
            </a:r>
          </a:p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manifest</a:t>
            </a:r>
          </a:p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latest_generation = Gk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6BC1926-F985-4198-AB25-62EEC664C803}"/>
              </a:ext>
            </a:extLst>
          </p:cNvPr>
          <p:cNvSpPr>
            <a:spLocks noGrp="1"/>
          </p:cNvSpPr>
          <p:nvPr/>
        </p:nvSpPr>
        <p:spPr>
          <a:xfrm>
            <a:off x="4476750" y="2571750"/>
            <a:ext cx="3238500" cy="1162050"/>
          </a:xfrm>
          <a:prstGeom prst="roundRect">
            <a:avLst>
              <a:gd name="adj" fmla="val 1311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  身分相容檢查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protocol · config · hash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9B06CEAA-6497-449A-8535-8D8F6B125315}"/>
              </a:ext>
            </a:extLst>
          </p:cNvPr>
          <p:cNvSpPr>
            <a:spLocks noGrp="1"/>
          </p:cNvSpPr>
          <p:nvPr/>
        </p:nvSpPr>
        <p:spPr>
          <a:xfrm>
            <a:off x="8191500" y="2571750"/>
            <a:ext cx="3238500" cy="1162050"/>
          </a:xfrm>
          <a:prstGeom prst="roundRect">
            <a:avLst>
              <a:gd name="adj" fmla="val 1311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  封存未提交工作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interrupted_work/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9D61E877-2C02-4D22-961D-3648755239A1}"/>
              </a:ext>
            </a:extLst>
          </p:cNvPr>
          <p:cNvSpPr>
            <a:spLocks noGrp="1"/>
          </p:cNvSpPr>
          <p:nvPr/>
        </p:nvSpPr>
        <p:spPr>
          <a:xfrm>
            <a:off x="8191500" y="5334000"/>
            <a:ext cx="3238500" cy="1162050"/>
          </a:xfrm>
          <a:prstGeom prst="roundRect">
            <a:avLst>
              <a:gd name="adj" fmla="val 1311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 還原 population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操作器、pool 與 context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2F12E02-E28D-481B-87CA-CF81710D1B11}"/>
              </a:ext>
            </a:extLst>
          </p:cNvPr>
          <p:cNvSpPr>
            <a:spLocks noGrp="1"/>
          </p:cNvSpPr>
          <p:nvPr/>
        </p:nvSpPr>
        <p:spPr>
          <a:xfrm>
            <a:off x="3429000" y="5334000"/>
            <a:ext cx="3238500" cy="1162050"/>
          </a:xfrm>
          <a:prstGeom prst="roundRect">
            <a:avLst>
              <a:gd name="adj" fmla="val 1311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  重播並繼續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從 Gk + 1 開始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3BF037-DFEC-40BF-820B-4D581F523504}"/>
              </a:ext>
            </a:extLst>
          </p:cNvPr>
          <p:cNvSpPr>
            <a:spLocks noGrp="1"/>
          </p:cNvSpPr>
          <p:nvPr/>
        </p:nvSpPr>
        <p:spPr>
          <a:xfrm>
            <a:off x="2667000" y="7048500"/>
            <a:ext cx="10668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身分不符即拒絕；不沿用半成品，也不重新 bootstrap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7A0D8F27-379B-40AF-A664-53BD13C49498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A5F3731F-9F25-4800-B585-48C75276686C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30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6417932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290FB98E-031A-4CE4-8BB0-0F4A40E4FB3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多組設定、replicate 與資料夾續跑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B88774-0401-48D7-BD55-C023AA7346B4}"/>
              </a:ext>
            </a:extLst>
          </p:cNvPr>
          <p:cNvSpPr>
            <a:spLocks noGrp="1"/>
          </p:cNvSpPr>
          <p:nvPr/>
        </p:nvSpPr>
        <p:spPr>
          <a:xfrm>
            <a:off x="1428750" y="2171700"/>
            <a:ext cx="676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設定資料夾依 YAML 檔名順序逐組執行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8243C1D-612D-449C-8A29-0999656B5DF4}"/>
              </a:ext>
            </a:extLst>
          </p:cNvPr>
          <p:cNvSpPr>
            <a:spLocks noGrp="1"/>
          </p:cNvSpPr>
          <p:nvPr/>
        </p:nvSpPr>
        <p:spPr>
          <a:xfrm>
            <a:off x="1428750" y="3000375"/>
            <a:ext cx="1714500" cy="609600"/>
          </a:xfrm>
          <a:prstGeom prst="roundRect">
            <a:avLst>
              <a:gd name="adj" fmla="val 2500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A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283BE465-59C2-4F17-9A77-B57913DF2346}"/>
              </a:ext>
            </a:extLst>
          </p:cNvPr>
          <p:cNvSpPr>
            <a:spLocks noGrp="1"/>
          </p:cNvSpPr>
          <p:nvPr/>
        </p:nvSpPr>
        <p:spPr>
          <a:xfrm>
            <a:off x="1428750" y="3905250"/>
            <a:ext cx="1619250" cy="590550"/>
          </a:xfrm>
          <a:prstGeom prst="roundRect">
            <a:avLst>
              <a:gd name="adj" fmla="val 25806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ED6D10E-B7B2-465B-BF48-22F005FFEE75}"/>
              </a:ext>
            </a:extLst>
          </p:cNvPr>
          <p:cNvSpPr>
            <a:spLocks noGrp="1"/>
          </p:cNvSpPr>
          <p:nvPr/>
        </p:nvSpPr>
        <p:spPr>
          <a:xfrm>
            <a:off x="3381375" y="3905250"/>
            <a:ext cx="1619250" cy="590550"/>
          </a:xfrm>
          <a:prstGeom prst="roundRect">
            <a:avLst>
              <a:gd name="adj" fmla="val 25806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51C8F1CB-7792-4EA5-A727-5A346DDFA4B4}"/>
              </a:ext>
            </a:extLst>
          </p:cNvPr>
          <p:cNvSpPr>
            <a:spLocks noGrp="1"/>
          </p:cNvSpPr>
          <p:nvPr/>
        </p:nvSpPr>
        <p:spPr>
          <a:xfrm>
            <a:off x="6191250" y="3000375"/>
            <a:ext cx="1714500" cy="609600"/>
          </a:xfrm>
          <a:prstGeom prst="roundRect">
            <a:avLst>
              <a:gd name="adj" fmla="val 2500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B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6DA20BB-DD5F-4F34-811B-A8610AC578DE}"/>
              </a:ext>
            </a:extLst>
          </p:cNvPr>
          <p:cNvSpPr>
            <a:spLocks noGrp="1"/>
          </p:cNvSpPr>
          <p:nvPr/>
        </p:nvSpPr>
        <p:spPr>
          <a:xfrm>
            <a:off x="6191250" y="3905250"/>
            <a:ext cx="1619250" cy="590550"/>
          </a:xfrm>
          <a:prstGeom prst="roundRect">
            <a:avLst>
              <a:gd name="adj" fmla="val 25806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7200508-3639-49A5-8A65-A6EEB7594393}"/>
              </a:ext>
            </a:extLst>
          </p:cNvPr>
          <p:cNvSpPr>
            <a:spLocks noGrp="1"/>
          </p:cNvSpPr>
          <p:nvPr/>
        </p:nvSpPr>
        <p:spPr>
          <a:xfrm>
            <a:off x="8143875" y="3905250"/>
            <a:ext cx="1619250" cy="590550"/>
          </a:xfrm>
          <a:prstGeom prst="roundRect">
            <a:avLst>
              <a:gd name="adj" fmla="val 25806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29E949B3-5B8C-459E-9EF5-D88C197F2C0C}"/>
              </a:ext>
            </a:extLst>
          </p:cNvPr>
          <p:cNvSpPr>
            <a:spLocks noGrp="1"/>
          </p:cNvSpPr>
          <p:nvPr/>
        </p:nvSpPr>
        <p:spPr>
          <a:xfrm>
            <a:off x="10953750" y="3000375"/>
            <a:ext cx="1714500" cy="609600"/>
          </a:xfrm>
          <a:prstGeom prst="roundRect">
            <a:avLst>
              <a:gd name="adj" fmla="val 2500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C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D3F705E2-4F36-4F8E-8F88-AC0450DFF688}"/>
              </a:ext>
            </a:extLst>
          </p:cNvPr>
          <p:cNvSpPr>
            <a:spLocks noGrp="1"/>
          </p:cNvSpPr>
          <p:nvPr/>
        </p:nvSpPr>
        <p:spPr>
          <a:xfrm>
            <a:off x="10953750" y="3905250"/>
            <a:ext cx="1619250" cy="590550"/>
          </a:xfrm>
          <a:prstGeom prst="roundRect">
            <a:avLst>
              <a:gd name="adj" fmla="val 25806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21E0AD6B-A53F-4152-9CFC-49E2C5C80123}"/>
              </a:ext>
            </a:extLst>
          </p:cNvPr>
          <p:cNvSpPr>
            <a:spLocks noGrp="1"/>
          </p:cNvSpPr>
          <p:nvPr/>
        </p:nvSpPr>
        <p:spPr>
          <a:xfrm>
            <a:off x="12906375" y="3905250"/>
            <a:ext cx="1619250" cy="590550"/>
          </a:xfrm>
          <a:prstGeom prst="roundRect">
            <a:avLst>
              <a:gd name="adj" fmla="val 25806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B14CC99-E659-40F2-B994-AFFB2AD58355}"/>
              </a:ext>
            </a:extLst>
          </p:cNvPr>
          <p:cNvSpPr>
            <a:spLocks noGrp="1"/>
          </p:cNvSpPr>
          <p:nvPr/>
        </p:nvSpPr>
        <p:spPr>
          <a:xfrm>
            <a:off x="1476375" y="537210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random_seeds × runs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7651906-323A-4FE9-A2B5-6956DA9E509A}"/>
              </a:ext>
            </a:extLst>
          </p:cNvPr>
          <p:cNvSpPr>
            <a:spLocks noGrp="1"/>
          </p:cNvSpPr>
          <p:nvPr/>
        </p:nvSpPr>
        <p:spPr>
          <a:xfrm>
            <a:off x="4524375" y="5286375"/>
            <a:ext cx="1333500" cy="628650"/>
          </a:xfrm>
          <a:prstGeom prst="roundRect">
            <a:avLst>
              <a:gd name="adj" fmla="val 2424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7</a:t>
            </a: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ED2F9C14-93C7-4EFC-A1E1-8BD1C9A3A235}"/>
              </a:ext>
            </a:extLst>
          </p:cNvPr>
          <p:cNvCxnSpPr/>
          <p:nvPr/>
        </p:nvCxnSpPr>
        <p:spPr>
          <a:xfrm>
            <a:off x="5886450" y="5600700"/>
            <a:ext cx="1333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3895A451-0F6A-41EC-91FC-8AC39E008E7C}"/>
              </a:ext>
            </a:extLst>
          </p:cNvPr>
          <p:cNvSpPr>
            <a:spLocks noGrp="1"/>
          </p:cNvSpPr>
          <p:nvPr/>
        </p:nvSpPr>
        <p:spPr>
          <a:xfrm>
            <a:off x="6067425" y="5286375"/>
            <a:ext cx="1333500" cy="628650"/>
          </a:xfrm>
          <a:prstGeom prst="roundRect">
            <a:avLst>
              <a:gd name="adj" fmla="val 2424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7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5E5C54B3-0428-4732-AC1D-2F673E9D85E9}"/>
              </a:ext>
            </a:extLst>
          </p:cNvPr>
          <p:cNvCxnSpPr/>
          <p:nvPr/>
        </p:nvCxnSpPr>
        <p:spPr>
          <a:xfrm>
            <a:off x="7429500" y="5600700"/>
            <a:ext cx="1333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806AA1AE-6DB7-4B17-B2EE-975B472DFA9D}"/>
              </a:ext>
            </a:extLst>
          </p:cNvPr>
          <p:cNvSpPr>
            <a:spLocks noGrp="1"/>
          </p:cNvSpPr>
          <p:nvPr/>
        </p:nvSpPr>
        <p:spPr>
          <a:xfrm>
            <a:off x="7610475" y="5286375"/>
            <a:ext cx="1333500" cy="628650"/>
          </a:xfrm>
          <a:prstGeom prst="roundRect">
            <a:avLst>
              <a:gd name="adj" fmla="val 2424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8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7DAEB946-CB95-4EB2-893D-DDF8F9C47C91}"/>
              </a:ext>
            </a:extLst>
          </p:cNvPr>
          <p:cNvCxnSpPr/>
          <p:nvPr/>
        </p:nvCxnSpPr>
        <p:spPr>
          <a:xfrm>
            <a:off x="8972550" y="5600700"/>
            <a:ext cx="1333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1D3BDAE7-E2DB-4DA4-A0B7-8BF0732F7981}"/>
              </a:ext>
            </a:extLst>
          </p:cNvPr>
          <p:cNvSpPr>
            <a:spLocks noGrp="1"/>
          </p:cNvSpPr>
          <p:nvPr/>
        </p:nvSpPr>
        <p:spPr>
          <a:xfrm>
            <a:off x="9153525" y="5286375"/>
            <a:ext cx="1333500" cy="628650"/>
          </a:xfrm>
          <a:prstGeom prst="roundRect">
            <a:avLst>
              <a:gd name="adj" fmla="val 2424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8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990FB7A5-8B5B-41A6-B96D-E0DE7BD2C90D}"/>
              </a:ext>
            </a:extLst>
          </p:cNvPr>
          <p:cNvCxnSpPr/>
          <p:nvPr/>
        </p:nvCxnSpPr>
        <p:spPr>
          <a:xfrm>
            <a:off x="10515600" y="5600700"/>
            <a:ext cx="1333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9ECAC229-7F7B-44AE-A97B-E01262DC67C9}"/>
              </a:ext>
            </a:extLst>
          </p:cNvPr>
          <p:cNvSpPr>
            <a:spLocks noGrp="1"/>
          </p:cNvSpPr>
          <p:nvPr/>
        </p:nvSpPr>
        <p:spPr>
          <a:xfrm>
            <a:off x="10696575" y="5286375"/>
            <a:ext cx="1333500" cy="628650"/>
          </a:xfrm>
          <a:prstGeom prst="roundRect">
            <a:avLst>
              <a:gd name="adj" fmla="val 2424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9</a:t>
            </a: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A5D6C6F6-25EE-48DE-AC3B-70C3EBD70F35}"/>
              </a:ext>
            </a:extLst>
          </p:cNvPr>
          <p:cNvCxnSpPr/>
          <p:nvPr/>
        </p:nvCxnSpPr>
        <p:spPr>
          <a:xfrm>
            <a:off x="12058650" y="5600700"/>
            <a:ext cx="1333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8B9419B8-ECF7-4583-ADAF-1A8E22354609}"/>
              </a:ext>
            </a:extLst>
          </p:cNvPr>
          <p:cNvSpPr>
            <a:spLocks noGrp="1"/>
          </p:cNvSpPr>
          <p:nvPr/>
        </p:nvSpPr>
        <p:spPr>
          <a:xfrm>
            <a:off x="12239625" y="5286375"/>
            <a:ext cx="1333500" cy="628650"/>
          </a:xfrm>
          <a:prstGeom prst="roundRect">
            <a:avLst>
              <a:gd name="adj" fmla="val 2424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9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375A0CC-4682-4FAE-8A41-7FD19D316EC0}"/>
              </a:ext>
            </a:extLst>
          </p:cNvPr>
          <p:cNvSpPr>
            <a:spLocks noGrp="1"/>
          </p:cNvSpPr>
          <p:nvPr/>
        </p:nvSpPr>
        <p:spPr>
          <a:xfrm>
            <a:off x="2381250" y="6667500"/>
            <a:ext cx="110490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experiment.yaml 以有序 slot 記錄 run 路徑；未完成優先恢復，完整項目可跳過。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0163A5-9BFF-4190-9A84-60FD72DD3949}"/>
              </a:ext>
            </a:extLst>
          </p:cNvPr>
          <p:cNvSpPr>
            <a:spLocks noGrp="1"/>
          </p:cNvSpPr>
          <p:nvPr/>
        </p:nvSpPr>
        <p:spPr>
          <a:xfrm>
            <a:off x="2381250" y="7286625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正式 run 需 Final Test 摘要才算 slot 完成；缺 G0 證據則建立替代 run。</a:t>
            </a:r>
          </a:p>
        </p:txBody>
      </p:sp>
      <p:sp>
        <p:nvSpPr>
          <p:cNvPr id="26" name="Slide Number">
            <a:extLst>
              <a:ext uri="{FF2B5EF4-FFF2-40B4-BE49-F238E27FC236}">
                <a16:creationId xmlns:a16="http://schemas.microsoft.com/office/drawing/2014/main" id="{9456AADC-656A-4BF2-8BB7-35E2647B63C2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6D8EEA06-1F25-4605-967A-998F0965FBF9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5480036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0CBA2BAC-688D-4EDA-A961-C999F6FF45EE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可重現性與相同版本續跑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6150141F-A442-4809-BDAA-EBEADBE963DC}"/>
              </a:ext>
            </a:extLst>
          </p:cNvPr>
          <p:cNvSpPr>
            <a:spLocks noGrp="1"/>
          </p:cNvSpPr>
          <p:nvPr/>
        </p:nvSpPr>
        <p:spPr>
          <a:xfrm>
            <a:off x="5810250" y="2095500"/>
            <a:ext cx="4191000" cy="876300"/>
          </a:xfrm>
          <a:prstGeom prst="roundRect">
            <a:avLst>
              <a:gd name="adj" fmla="val 17391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root seed</a:t>
            </a:r>
          </a:p>
          <a:p>
            <a: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task identity + input index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F2480DBF-091D-44B3-BE8F-1FD2DC034EBD}"/>
              </a:ext>
            </a:extLst>
          </p:cNvPr>
          <p:cNvSpPr>
            <a:spLocks noGrp="1"/>
          </p:cNvSpPr>
          <p:nvPr/>
        </p:nvSpPr>
        <p:spPr>
          <a:xfrm>
            <a:off x="952500" y="4095750"/>
            <a:ext cx="2286000" cy="838200"/>
          </a:xfrm>
          <a:prstGeom prst="roundRect">
            <a:avLst>
              <a:gd name="adj" fmla="val 1818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初始化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0ED402C6-D0B7-42EB-B3E5-33FDC4D179B1}"/>
              </a:ext>
            </a:extLst>
          </p:cNvPr>
          <p:cNvSpPr>
            <a:spLocks noGrp="1"/>
          </p:cNvSpPr>
          <p:nvPr/>
        </p:nvSpPr>
        <p:spPr>
          <a:xfrm>
            <a:off x="3857625" y="4095750"/>
            <a:ext cx="2286000" cy="838200"/>
          </a:xfrm>
          <a:prstGeom prst="roundRect">
            <a:avLst>
              <a:gd name="adj" fmla="val 1818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選擇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9EDBE99-6E7A-4F19-9787-BC199CD2091B}"/>
              </a:ext>
            </a:extLst>
          </p:cNvPr>
          <p:cNvSpPr>
            <a:spLocks noGrp="1"/>
          </p:cNvSpPr>
          <p:nvPr/>
        </p:nvSpPr>
        <p:spPr>
          <a:xfrm>
            <a:off x="6762750" y="4095750"/>
            <a:ext cx="2286000" cy="838200"/>
          </a:xfrm>
          <a:prstGeom prst="roundRect">
            <a:avLst>
              <a:gd name="adj" fmla="val 1818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0DFF35F-8871-4B69-952D-A574EDC1DE99}"/>
              </a:ext>
            </a:extLst>
          </p:cNvPr>
          <p:cNvSpPr>
            <a:spLocks noGrp="1"/>
          </p:cNvSpPr>
          <p:nvPr/>
        </p:nvSpPr>
        <p:spPr>
          <a:xfrm>
            <a:off x="9667875" y="4095750"/>
            <a:ext cx="2286000" cy="838200"/>
          </a:xfrm>
          <a:prstGeom prst="roundRect">
            <a:avLst>
              <a:gd name="adj" fmla="val 1818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 request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5D75547E-4712-44BC-87B8-7B5D8A74CA1A}"/>
              </a:ext>
            </a:extLst>
          </p:cNvPr>
          <p:cNvSpPr>
            <a:spLocks noGrp="1"/>
          </p:cNvSpPr>
          <p:nvPr/>
        </p:nvSpPr>
        <p:spPr>
          <a:xfrm>
            <a:off x="12573000" y="4095750"/>
            <a:ext cx="2286000" cy="838200"/>
          </a:xfrm>
          <a:prstGeom prst="roundRect">
            <a:avLst>
              <a:gd name="adj" fmla="val 1818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MicroRTS match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857F6699-306B-4C53-A49E-98F3847F1F7C}"/>
              </a:ext>
            </a:extLst>
          </p:cNvPr>
          <p:cNvCxnSpPr/>
          <p:nvPr/>
        </p:nvCxnSpPr>
        <p:spPr>
          <a:xfrm>
            <a:off x="7905750" y="2971800"/>
            <a:ext cx="0" cy="504825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DD0AADD8-9728-4986-9B30-155CACB0EA7E}"/>
              </a:ext>
            </a:extLst>
          </p:cNvPr>
          <p:cNvCxnSpPr/>
          <p:nvPr/>
        </p:nvCxnSpPr>
        <p:spPr>
          <a:xfrm>
            <a:off x="2095500" y="3476625"/>
            <a:ext cx="11620500" cy="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BCF8BDE5-E229-4B6F-B709-E67FA4008A15}"/>
              </a:ext>
            </a:extLst>
          </p:cNvPr>
          <p:cNvCxnSpPr/>
          <p:nvPr/>
        </p:nvCxnSpPr>
        <p:spPr>
          <a:xfrm>
            <a:off x="2095500" y="3476625"/>
            <a:ext cx="0" cy="552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09A6B640-5328-42AC-B99D-9F6078B2F73A}"/>
              </a:ext>
            </a:extLst>
          </p:cNvPr>
          <p:cNvCxnSpPr/>
          <p:nvPr/>
        </p:nvCxnSpPr>
        <p:spPr>
          <a:xfrm>
            <a:off x="5000625" y="3476625"/>
            <a:ext cx="0" cy="552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DDC542B0-7829-4307-A48D-942EEE6D6965}"/>
              </a:ext>
            </a:extLst>
          </p:cNvPr>
          <p:cNvCxnSpPr/>
          <p:nvPr/>
        </p:nvCxnSpPr>
        <p:spPr>
          <a:xfrm>
            <a:off x="7905750" y="3476625"/>
            <a:ext cx="0" cy="552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C8DD5480-AAD5-4AE8-A4A9-D43B8A8135F8}"/>
              </a:ext>
            </a:extLst>
          </p:cNvPr>
          <p:cNvCxnSpPr/>
          <p:nvPr/>
        </p:nvCxnSpPr>
        <p:spPr>
          <a:xfrm>
            <a:off x="10810875" y="3476625"/>
            <a:ext cx="0" cy="552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3AF76A62-A181-4650-BA40-1B8D2E547E9E}"/>
              </a:ext>
            </a:extLst>
          </p:cNvPr>
          <p:cNvCxnSpPr/>
          <p:nvPr/>
        </p:nvCxnSpPr>
        <p:spPr>
          <a:xfrm>
            <a:off x="13716000" y="3476625"/>
            <a:ext cx="0" cy="552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036AE72F-CA25-42A6-9AA9-A3B4B5A3F849}"/>
              </a:ext>
            </a:extLst>
          </p:cNvPr>
          <p:cNvSpPr>
            <a:spLocks noGrp="1"/>
          </p:cNvSpPr>
          <p:nvPr/>
        </p:nvSpPr>
        <p:spPr>
          <a:xfrm>
            <a:off x="2857500" y="5286375"/>
            <a:ext cx="5334000" cy="1143000"/>
          </a:xfrm>
          <a:prstGeom prst="roundRect">
            <a:avLst>
              <a:gd name="adj" fmla="val 1333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保存與核對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config · source · map · runtime · bundle hashes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82E2DBA3-A82D-4593-81F5-AE267B01C7EE}"/>
              </a:ext>
            </a:extLst>
          </p:cNvPr>
          <p:cNvSpPr>
            <a:spLocks noGrp="1"/>
          </p:cNvSpPr>
          <p:nvPr/>
        </p:nvSpPr>
        <p:spPr>
          <a:xfrm>
            <a:off x="8858250" y="5286375"/>
            <a:ext cx="4572000" cy="1143000"/>
          </a:xfrm>
          <a:prstGeom prst="roundRect">
            <a:avLst>
              <a:gd name="adj" fmla="val 13333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仍可能改變</a:t>
            </a:r>
          </a:p>
          <a:p>
            <a: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外部模型、GPU 執行、私有 RNG、時間上限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6B09134-DCB1-4A84-A66B-0D6BE1C6BECD}"/>
              </a:ext>
            </a:extLst>
          </p:cNvPr>
          <p:cNvSpPr>
            <a:spLocks noGrp="1"/>
          </p:cNvSpPr>
          <p:nvPr/>
        </p:nvSpPr>
        <p:spPr>
          <a:xfrm>
            <a:off x="3143250" y="7010400"/>
            <a:ext cx="96202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相同 seed 建立可控隨機流，不保證外部服務逐位元相同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76C9EB9C-6747-4B18-8C20-DE851DFBF639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4323B6CE-7F02-4A00-8A91-9F8449A9F38E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937817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0E465D4C-CC35-4CD9-9E66-47459B8F79D9}"/>
              </a:ext>
            </a:extLst>
          </p:cNvPr>
          <p:cNvCxnSpPr>
            <a:stCxn id="6" idx="2"/>
            <a:endCxn id="9" idx="0"/>
          </p:cNvCxnSpPr>
          <p:nvPr/>
        </p:nvCxnSpPr>
        <p:spPr>
          <a:xfrm>
            <a:off x="13049250" y="3448050"/>
            <a:ext cx="95250" cy="2190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47DFD654-2E74-454A-B7E7-D4C56B440C58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0382250" y="2914650"/>
            <a:ext cx="9525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接點: 肘形 6">
            <a:extLst>
              <a:ext uri="{FF2B5EF4-FFF2-40B4-BE49-F238E27FC236}">
                <a16:creationId xmlns:a16="http://schemas.microsoft.com/office/drawing/2014/main" id="{CAED2EEE-EB6E-4BB1-BFBB-E46DF42B0A5D}"/>
              </a:ext>
            </a:extLst>
          </p:cNvPr>
          <p:cNvCxnSpPr>
            <a:stCxn id="3" idx="3"/>
            <a:endCxn id="5" idx="1"/>
          </p:cNvCxnSpPr>
          <p:nvPr/>
        </p:nvCxnSpPr>
        <p:spPr>
          <a:xfrm flipV="1">
            <a:off x="6858000" y="2914650"/>
            <a:ext cx="666750" cy="161925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C10A3934-5BA1-4E23-BEA3-2AC882154F5F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3381375" y="3076575"/>
            <a:ext cx="6191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E7E102A3-31AB-414C-AFBD-4E3A66F01F2F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停止條件與正式 Final Test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037F4505-BEE5-4E1A-B509-B79C60AC3173}"/>
              </a:ext>
            </a:extLst>
          </p:cNvPr>
          <p:cNvSpPr>
            <a:spLocks noGrp="1"/>
          </p:cNvSpPr>
          <p:nvPr/>
        </p:nvSpPr>
        <p:spPr>
          <a:xfrm>
            <a:off x="904875" y="2667000"/>
            <a:ext cx="2476500" cy="819150"/>
          </a:xfrm>
          <a:prstGeom prst="roundRect">
            <a:avLst>
              <a:gd name="adj" fmla="val 18605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停止條件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15198AB-1E5E-4A80-ABEC-FEC08A09BB1A}"/>
              </a:ext>
            </a:extLst>
          </p:cNvPr>
          <p:cNvSpPr>
            <a:spLocks noGrp="1"/>
          </p:cNvSpPr>
          <p:nvPr/>
        </p:nvSpPr>
        <p:spPr>
          <a:xfrm>
            <a:off x="4000500" y="2476500"/>
            <a:ext cx="2857500" cy="1200150"/>
          </a:xfrm>
          <a:prstGeom prst="roundRect">
            <a:avLst>
              <a:gd name="adj" fmla="val 1269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世代上限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或 stagnation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33D65637-02A6-47D7-8290-7D98C8413706}"/>
              </a:ext>
            </a:extLst>
          </p:cNvPr>
          <p:cNvSpPr>
            <a:spLocks noGrp="1"/>
          </p:cNvSpPr>
          <p:nvPr/>
        </p:nvSpPr>
        <p:spPr>
          <a:xfrm>
            <a:off x="7524750" y="2381250"/>
            <a:ext cx="2857500" cy="1066800"/>
          </a:xfrm>
          <a:prstGeom prst="roundRect">
            <a:avLst>
              <a:gd name="adj" fmla="val 14286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選可執行代表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通常取末代候選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330BB80-0F9D-46B2-B20C-3C7A0F314904}"/>
              </a:ext>
            </a:extLst>
          </p:cNvPr>
          <p:cNvSpPr>
            <a:spLocks noGrp="1"/>
          </p:cNvSpPr>
          <p:nvPr/>
        </p:nvSpPr>
        <p:spPr>
          <a:xfrm>
            <a:off x="11334750" y="2381250"/>
            <a:ext cx="3429000" cy="1066800"/>
          </a:xfrm>
          <a:prstGeom prst="roundRect">
            <a:avLst>
              <a:gd name="adj" fmla="val 14286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獨立 recompile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＋七項 Integration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E85109B-8DDF-460B-AB58-3A1C121C76AE}"/>
              </a:ext>
            </a:extLst>
          </p:cNvPr>
          <p:cNvSpPr>
            <a:spLocks noGrp="1"/>
          </p:cNvSpPr>
          <p:nvPr/>
        </p:nvSpPr>
        <p:spPr>
          <a:xfrm>
            <a:off x="11525250" y="3667125"/>
            <a:ext cx="3238500" cy="723900"/>
          </a:xfrm>
          <a:prstGeom prst="roundRect">
            <a:avLst>
              <a:gd name="adj" fmla="val 21053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固定十個內建對手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16DD62-507E-4FFB-9767-269B00730AC1}"/>
              </a:ext>
            </a:extLst>
          </p:cNvPr>
          <p:cNvSpPr>
            <a:spLocks noGrp="1"/>
          </p:cNvSpPr>
          <p:nvPr/>
        </p:nvSpPr>
        <p:spPr>
          <a:xfrm>
            <a:off x="1714500" y="4333875"/>
            <a:ext cx="7620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三種對戰矩陣各有用途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03F2F65-4AD3-4D1A-82EB-FCECC6205A70}"/>
              </a:ext>
            </a:extLst>
          </p:cNvPr>
          <p:cNvSpPr>
            <a:spLocks noGrp="1"/>
          </p:cNvSpPr>
          <p:nvPr/>
        </p:nvSpPr>
        <p:spPr>
          <a:xfrm>
            <a:off x="1619250" y="5381625"/>
            <a:ext cx="2667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180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5609FEA-CD13-4930-8465-904F2ACE56C1}"/>
              </a:ext>
            </a:extLst>
          </p:cNvPr>
          <p:cNvSpPr>
            <a:spLocks noGrp="1"/>
          </p:cNvSpPr>
          <p:nvPr/>
        </p:nvSpPr>
        <p:spPr>
          <a:xfrm>
            <a:off x="1619250" y="6334125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搜尋評估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0D4400-49AF-48F1-BB1C-96D5ABC3B086}"/>
              </a:ext>
            </a:extLst>
          </p:cNvPr>
          <p:cNvSpPr>
            <a:spLocks noGrp="1"/>
          </p:cNvSpPr>
          <p:nvPr/>
        </p:nvSpPr>
        <p:spPr>
          <a:xfrm>
            <a:off x="1238250" y="6858000"/>
            <a:ext cx="342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 對手 × 3 地圖 × 3 回合 × 2 邊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6EB6428-E442-4CDD-ACE2-C8442AD791FA}"/>
              </a:ext>
            </a:extLst>
          </p:cNvPr>
          <p:cNvSpPr>
            <a:spLocks noGrp="1"/>
          </p:cNvSpPr>
          <p:nvPr/>
        </p:nvSpPr>
        <p:spPr>
          <a:xfrm>
            <a:off x="6334125" y="5381625"/>
            <a:ext cx="2667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18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71D0832-9586-4DCF-BAA0-65330E8D36F8}"/>
              </a:ext>
            </a:extLst>
          </p:cNvPr>
          <p:cNvSpPr>
            <a:spLocks noGrp="1"/>
          </p:cNvSpPr>
          <p:nvPr/>
        </p:nvSpPr>
        <p:spPr>
          <a:xfrm>
            <a:off x="6334125" y="6334125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Pool 挑戰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93BF357-7A28-4ACA-A1E9-5D0F46226F0C}"/>
              </a:ext>
            </a:extLst>
          </p:cNvPr>
          <p:cNvSpPr>
            <a:spLocks noGrp="1"/>
          </p:cNvSpPr>
          <p:nvPr/>
        </p:nvSpPr>
        <p:spPr>
          <a:xfrm>
            <a:off x="5953125" y="6858000"/>
            <a:ext cx="342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 地圖 × 3 回合 × 2 邊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79BB824-8E52-4D88-99CA-BD1A9EAA4F66}"/>
              </a:ext>
            </a:extLst>
          </p:cNvPr>
          <p:cNvSpPr>
            <a:spLocks noGrp="1"/>
          </p:cNvSpPr>
          <p:nvPr/>
        </p:nvSpPr>
        <p:spPr>
          <a:xfrm>
            <a:off x="11049000" y="5381625"/>
            <a:ext cx="2667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600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9A02BC8-DCB4-4AE8-8419-20F7B1B3D0D8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3727891-1EA8-4FB4-AB52-9862CD0B164C}"/>
              </a:ext>
            </a:extLst>
          </p:cNvPr>
          <p:cNvSpPr>
            <a:spLocks noGrp="1"/>
          </p:cNvSpPr>
          <p:nvPr/>
        </p:nvSpPr>
        <p:spPr>
          <a:xfrm>
            <a:off x="10668000" y="6858000"/>
            <a:ext cx="342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 對手 × 3 地圖 × 10 回合 × 2 邊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251DB5E-184E-4E84-8F8E-EA36653250C7}"/>
              </a:ext>
            </a:extLst>
          </p:cNvPr>
          <p:cNvSpPr>
            <a:spLocks noGrp="1"/>
          </p:cNvSpPr>
          <p:nvPr/>
        </p:nvSpPr>
        <p:spPr>
          <a:xfrm>
            <a:off x="7429500" y="3848100"/>
            <a:ext cx="3810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mock 與 --skip-final-test 可略過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0DA2587-53E0-4D12-A94F-EEA80EFBB4EA}"/>
              </a:ext>
            </a:extLst>
          </p:cNvPr>
          <p:cNvSpPr>
            <a:spLocks noGrp="1"/>
          </p:cNvSpPr>
          <p:nvPr/>
        </p:nvSpPr>
        <p:spPr>
          <a:xfrm>
            <a:off x="1714500" y="7743825"/>
            <a:ext cx="12668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搜尋名單會刷新；正式測試名單固定，兩者分開保存結果</a:t>
            </a:r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D7104A72-ECEE-49AF-B6AB-67DED029789A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75C77AC-8138-4959-BE25-7C926F116B11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3961155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接點: 肘形 23">
            <a:extLst>
              <a:ext uri="{FF2B5EF4-FFF2-40B4-BE49-F238E27FC236}">
                <a16:creationId xmlns:a16="http://schemas.microsoft.com/office/drawing/2014/main" id="{50DA8CEC-3A11-4D5E-A9DC-D0F20EF4E254}"/>
              </a:ext>
            </a:extLst>
          </p:cNvPr>
          <p:cNvCxnSpPr>
            <a:stCxn id="17" idx="3"/>
            <a:endCxn id="23" idx="1"/>
          </p:cNvCxnSpPr>
          <p:nvPr/>
        </p:nvCxnSpPr>
        <p:spPr>
          <a:xfrm>
            <a:off x="12573000" y="4219575"/>
            <a:ext cx="476250" cy="9525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2" name="接點: 肘形 21">
            <a:extLst>
              <a:ext uri="{FF2B5EF4-FFF2-40B4-BE49-F238E27FC236}">
                <a16:creationId xmlns:a16="http://schemas.microsoft.com/office/drawing/2014/main" id="{4394874D-9247-4328-8F2D-D860209157AF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 flipV="1">
            <a:off x="8334375" y="4219575"/>
            <a:ext cx="1285875" cy="17526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1" name="接點: 肘形 20">
            <a:extLst>
              <a:ext uri="{FF2B5EF4-FFF2-40B4-BE49-F238E27FC236}">
                <a16:creationId xmlns:a16="http://schemas.microsoft.com/office/drawing/2014/main" id="{2E2B1912-BBC2-4CE6-B92D-617F971A70BE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 flipV="1">
            <a:off x="8334375" y="4219575"/>
            <a:ext cx="1285875" cy="10287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0D0EEFA2-B0B4-4903-900C-A8342CE09D5C}"/>
              </a:ext>
            </a:extLst>
          </p:cNvPr>
          <p:cNvCxnSpPr>
            <a:stCxn id="14" idx="3"/>
            <a:endCxn id="17" idx="1"/>
          </p:cNvCxnSpPr>
          <p:nvPr/>
        </p:nvCxnSpPr>
        <p:spPr>
          <a:xfrm flipV="1">
            <a:off x="8334375" y="4219575"/>
            <a:ext cx="1285875" cy="3048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DC4D6828-50BF-4882-B053-1762BC70C65F}"/>
              </a:ext>
            </a:extLst>
          </p:cNvPr>
          <p:cNvCxnSpPr>
            <a:stCxn id="13" idx="3"/>
            <a:endCxn id="17" idx="1"/>
          </p:cNvCxnSpPr>
          <p:nvPr/>
        </p:nvCxnSpPr>
        <p:spPr>
          <a:xfrm>
            <a:off x="8334375" y="3800475"/>
            <a:ext cx="1285875" cy="4191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29AF9BC1-7F56-4F94-B54F-715364351B48}"/>
              </a:ext>
            </a:extLst>
          </p:cNvPr>
          <p:cNvCxnSpPr>
            <a:stCxn id="12" idx="3"/>
            <a:endCxn id="17" idx="1"/>
          </p:cNvCxnSpPr>
          <p:nvPr/>
        </p:nvCxnSpPr>
        <p:spPr>
          <a:xfrm>
            <a:off x="8334375" y="3076575"/>
            <a:ext cx="1285875" cy="11430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F5581BF9-CF62-49D5-B25E-7BB3AE2A6FB0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跨世代的公平比較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7D1EB4-B6F6-41AF-97E4-1E5A01AC2BFA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5905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搜尋：對手快照隨世代改變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FA00A3B9-8883-47F5-8ECC-231C8040C318}"/>
              </a:ext>
            </a:extLst>
          </p:cNvPr>
          <p:cNvSpPr>
            <a:spLocks noGrp="1"/>
          </p:cNvSpPr>
          <p:nvPr/>
        </p:nvSpPr>
        <p:spPr>
          <a:xfrm>
            <a:off x="1047750" y="2876550"/>
            <a:ext cx="1428750" cy="514350"/>
          </a:xfrm>
          <a:prstGeom prst="roundRect">
            <a:avLst>
              <a:gd name="adj" fmla="val 2963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7EF1A8BA-0151-4AD7-8084-3DCA508BF1E8}"/>
              </a:ext>
            </a:extLst>
          </p:cNvPr>
          <p:cNvSpPr>
            <a:spLocks noGrp="1"/>
          </p:cNvSpPr>
          <p:nvPr/>
        </p:nvSpPr>
        <p:spPr>
          <a:xfrm>
            <a:off x="1047750" y="3514725"/>
            <a:ext cx="1428750" cy="895350"/>
          </a:xfrm>
          <a:prstGeom prst="roundRect">
            <a:avLst>
              <a:gd name="adj" fmla="val 1702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內建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D7AAAFD-B96E-4E23-A6F7-8EABBE4C1385}"/>
              </a:ext>
            </a:extLst>
          </p:cNvPr>
          <p:cNvSpPr>
            <a:spLocks noGrp="1"/>
          </p:cNvSpPr>
          <p:nvPr/>
        </p:nvSpPr>
        <p:spPr>
          <a:xfrm>
            <a:off x="2857500" y="2876550"/>
            <a:ext cx="1428750" cy="514350"/>
          </a:xfrm>
          <a:prstGeom prst="roundRect">
            <a:avLst>
              <a:gd name="adj" fmla="val 2963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G6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2526CCF-D0B4-4A88-B368-91C42A28EC68}"/>
              </a:ext>
            </a:extLst>
          </p:cNvPr>
          <p:cNvSpPr>
            <a:spLocks noGrp="1"/>
          </p:cNvSpPr>
          <p:nvPr/>
        </p:nvSpPr>
        <p:spPr>
          <a:xfrm>
            <a:off x="2857500" y="3514725"/>
            <a:ext cx="1428750" cy="895350"/>
          </a:xfrm>
          <a:prstGeom prst="roundRect">
            <a:avLst>
              <a:gd name="adj" fmla="val 1702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抽樣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F3BEB0FB-E7FE-42F1-8E3C-F73FC9B6BDF7}"/>
              </a:ext>
            </a:extLst>
          </p:cNvPr>
          <p:cNvSpPr>
            <a:spLocks noGrp="1"/>
          </p:cNvSpPr>
          <p:nvPr/>
        </p:nvSpPr>
        <p:spPr>
          <a:xfrm>
            <a:off x="4667250" y="2876550"/>
            <a:ext cx="1428750" cy="514350"/>
          </a:xfrm>
          <a:prstGeom prst="roundRect">
            <a:avLst>
              <a:gd name="adj" fmla="val 2963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G11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77F3805-2D97-4F2A-A7C4-679335E23CD1}"/>
              </a:ext>
            </a:extLst>
          </p:cNvPr>
          <p:cNvSpPr>
            <a:spLocks noGrp="1"/>
          </p:cNvSpPr>
          <p:nvPr/>
        </p:nvSpPr>
        <p:spPr>
          <a:xfrm>
            <a:off x="4667250" y="3514725"/>
            <a:ext cx="1428750" cy="895350"/>
          </a:xfrm>
          <a:prstGeom prst="roundRect">
            <a:avLst>
              <a:gd name="adj" fmla="val 1702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抽樣</a:t>
            </a: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21DAA4E0-A3D8-4F04-B12F-2EA649177B93}"/>
              </a:ext>
            </a:extLst>
          </p:cNvPr>
          <p:cNvCxnSpPr/>
          <p:nvPr/>
        </p:nvCxnSpPr>
        <p:spPr>
          <a:xfrm>
            <a:off x="1952625" y="4714875"/>
            <a:ext cx="36195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4824B749-0C57-4A50-88E7-98E559F38E76}"/>
              </a:ext>
            </a:extLst>
          </p:cNvPr>
          <p:cNvSpPr>
            <a:spLocks noGrp="1"/>
          </p:cNvSpPr>
          <p:nvPr/>
        </p:nvSpPr>
        <p:spPr>
          <a:xfrm>
            <a:off x="1285875" y="5143500"/>
            <a:ext cx="4476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 隨情境變動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每個候選 180 場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FDD7D6D-0138-4C4F-A8B4-465C6C26F2A3}"/>
              </a:ext>
            </a:extLst>
          </p:cNvPr>
          <p:cNvSpPr>
            <a:spLocks noGrp="1"/>
          </p:cNvSpPr>
          <p:nvPr/>
        </p:nvSpPr>
        <p:spPr>
          <a:xfrm>
            <a:off x="7096125" y="2095500"/>
            <a:ext cx="7905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公平比較：一份凍結 protocol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25B6EDF5-AC58-4806-B79A-7F65212002C6}"/>
              </a:ext>
            </a:extLst>
          </p:cNvPr>
          <p:cNvSpPr>
            <a:spLocks noGrp="1"/>
          </p:cNvSpPr>
          <p:nvPr/>
        </p:nvSpPr>
        <p:spPr>
          <a:xfrm>
            <a:off x="7239000" y="2809875"/>
            <a:ext cx="1095375" cy="533400"/>
          </a:xfrm>
          <a:prstGeom prst="roundRect">
            <a:avLst>
              <a:gd name="adj" fmla="val 2857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CE22377A-CB36-4F2E-87D9-9D7DA1099774}"/>
              </a:ext>
            </a:extLst>
          </p:cNvPr>
          <p:cNvSpPr>
            <a:spLocks noGrp="1"/>
          </p:cNvSpPr>
          <p:nvPr/>
        </p:nvSpPr>
        <p:spPr>
          <a:xfrm>
            <a:off x="7239000" y="3533775"/>
            <a:ext cx="1095375" cy="533400"/>
          </a:xfrm>
          <a:prstGeom prst="roundRect">
            <a:avLst>
              <a:gd name="adj" fmla="val 2857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G5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0020A991-7C09-4904-BBE6-B6A84A46EBEF}"/>
              </a:ext>
            </a:extLst>
          </p:cNvPr>
          <p:cNvSpPr>
            <a:spLocks noGrp="1"/>
          </p:cNvSpPr>
          <p:nvPr/>
        </p:nvSpPr>
        <p:spPr>
          <a:xfrm>
            <a:off x="7239000" y="4257675"/>
            <a:ext cx="1095375" cy="533400"/>
          </a:xfrm>
          <a:prstGeom prst="roundRect">
            <a:avLst>
              <a:gd name="adj" fmla="val 2857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G10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9F25B6DD-13A8-4EED-9094-CFA114DEBED1}"/>
              </a:ext>
            </a:extLst>
          </p:cNvPr>
          <p:cNvSpPr>
            <a:spLocks noGrp="1"/>
          </p:cNvSpPr>
          <p:nvPr/>
        </p:nvSpPr>
        <p:spPr>
          <a:xfrm>
            <a:off x="7239000" y="4981575"/>
            <a:ext cx="1095375" cy="533400"/>
          </a:xfrm>
          <a:prstGeom prst="roundRect">
            <a:avLst>
              <a:gd name="adj" fmla="val 2857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G15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820A8E77-D728-400C-8E04-17EC952F03C3}"/>
              </a:ext>
            </a:extLst>
          </p:cNvPr>
          <p:cNvSpPr>
            <a:spLocks noGrp="1"/>
          </p:cNvSpPr>
          <p:nvPr/>
        </p:nvSpPr>
        <p:spPr>
          <a:xfrm>
            <a:off x="7239000" y="5705475"/>
            <a:ext cx="1095375" cy="533400"/>
          </a:xfrm>
          <a:prstGeom prst="roundRect">
            <a:avLst>
              <a:gd name="adj" fmla="val 2857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G20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B7D8DBD0-1476-4DCE-856A-DE4F9ABE578C}"/>
              </a:ext>
            </a:extLst>
          </p:cNvPr>
          <p:cNvSpPr>
            <a:spLocks noGrp="1"/>
          </p:cNvSpPr>
          <p:nvPr/>
        </p:nvSpPr>
        <p:spPr>
          <a:xfrm>
            <a:off x="9620250" y="3638550"/>
            <a:ext cx="2952750" cy="1162050"/>
          </a:xfrm>
          <a:prstGeom prst="roundRect">
            <a:avLst>
              <a:gd name="adj" fmla="val 1311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同一固定 protocol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固定對手、地圖、規則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6592D0D0-FFE1-4473-8375-2704CB8D56FD}"/>
              </a:ext>
            </a:extLst>
          </p:cNvPr>
          <p:cNvSpPr>
            <a:spLocks noGrp="1"/>
          </p:cNvSpPr>
          <p:nvPr/>
        </p:nvSpPr>
        <p:spPr>
          <a:xfrm>
            <a:off x="13049250" y="3752850"/>
            <a:ext cx="2095500" cy="952500"/>
          </a:xfrm>
          <a:prstGeom prst="roundRect">
            <a:avLst>
              <a:gd name="adj" fmla="val 1600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每個代表 600 場</a:t>
            </a:r>
          </a:p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paired seeds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7F1FFB7-5454-4340-8EAB-31679707B1E7}"/>
              </a:ext>
            </a:extLst>
          </p:cNvPr>
          <p:cNvSpPr>
            <a:spLocks noGrp="1"/>
          </p:cNvSpPr>
          <p:nvPr/>
        </p:nvSpPr>
        <p:spPr>
          <a:xfrm>
            <a:off x="3571875" y="6858000"/>
            <a:ext cx="9144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不同快照的搜尋分數，不能當成同條件能力比較。</a:t>
            </a:r>
          </a:p>
        </p:txBody>
      </p:sp>
      <p:sp>
        <p:nvSpPr>
          <p:cNvPr id="26" name="Slide Number">
            <a:extLst>
              <a:ext uri="{FF2B5EF4-FFF2-40B4-BE49-F238E27FC236}">
                <a16:creationId xmlns:a16="http://schemas.microsoft.com/office/drawing/2014/main" id="{B59649D7-F1B6-43C2-900A-15439288DE49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551D2668-9AF7-486E-8B24-54D9875B9E7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4337947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5FA4A98D-85B2-41CF-97A4-9325E8B614AD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結果、時間與比較的解讀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AABB8038-908A-439B-A07B-A0321F953110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2714625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排程示意，非量測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98C03ABA-DE37-4B8F-B19E-BD1B49162201}"/>
              </a:ext>
            </a:extLst>
          </p:cNvPr>
          <p:cNvSpPr>
            <a:spLocks noGrp="1"/>
          </p:cNvSpPr>
          <p:nvPr/>
        </p:nvSpPr>
        <p:spPr>
          <a:xfrm>
            <a:off x="1047750" y="3000375"/>
            <a:ext cx="2095500" cy="1028700"/>
          </a:xfrm>
          <a:prstGeom prst="roundRect">
            <a:avLst>
              <a:gd name="adj" fmla="val 14815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G0 初始化</a:t>
            </a:r>
          </a:p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獨立工作量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574A72-5772-48E1-9A97-A57F0735F34F}"/>
              </a:ext>
            </a:extLst>
          </p:cNvPr>
          <p:cNvSpPr>
            <a:spLocks noGrp="1"/>
          </p:cNvSpPr>
          <p:nvPr/>
        </p:nvSpPr>
        <p:spPr>
          <a:xfrm>
            <a:off x="3857625" y="2238375"/>
            <a:ext cx="9620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後續演化世代的重疊工作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B61534-8157-4F14-BECF-A4208ABFF4D9}"/>
              </a:ext>
            </a:extLst>
          </p:cNvPr>
          <p:cNvSpPr>
            <a:spLocks noGrp="1"/>
          </p:cNvSpPr>
          <p:nvPr/>
        </p:nvSpPr>
        <p:spPr>
          <a:xfrm>
            <a:off x="3476625" y="3095625"/>
            <a:ext cx="17621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準備子代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3D8F04-D6CE-43B2-B0BA-086E79F5B153}"/>
              </a:ext>
            </a:extLst>
          </p:cNvPr>
          <p:cNvSpPr>
            <a:spLocks noGrp="1"/>
          </p:cNvSpPr>
          <p:nvPr/>
        </p:nvSpPr>
        <p:spPr>
          <a:xfrm>
            <a:off x="3476625" y="5000625"/>
            <a:ext cx="17621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十工人對戰矩陣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EEC696E-3B72-4DB3-92AE-299612E3058B}"/>
              </a:ext>
            </a:extLst>
          </p:cNvPr>
          <p:cNvSpPr>
            <a:spLocks noGrp="1"/>
          </p:cNvSpPr>
          <p:nvPr/>
        </p:nvSpPr>
        <p:spPr>
          <a:xfrm>
            <a:off x="5429250" y="3000375"/>
            <a:ext cx="2476500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A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1DD5159-E0D9-43E0-A177-E445F0FA9F8F}"/>
              </a:ext>
            </a:extLst>
          </p:cNvPr>
          <p:cNvSpPr>
            <a:spLocks noGrp="1"/>
          </p:cNvSpPr>
          <p:nvPr/>
        </p:nvSpPr>
        <p:spPr>
          <a:xfrm>
            <a:off x="8620125" y="3000375"/>
            <a:ext cx="2476500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B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9A5AB766-BE6C-4DA0-87E0-A27807118149}"/>
              </a:ext>
            </a:extLst>
          </p:cNvPr>
          <p:cNvSpPr>
            <a:spLocks noGrp="1"/>
          </p:cNvSpPr>
          <p:nvPr/>
        </p:nvSpPr>
        <p:spPr>
          <a:xfrm>
            <a:off x="11811000" y="3000375"/>
            <a:ext cx="2476500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C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A87ACE6-5A39-49BB-93A2-64EE96D2BD03}"/>
              </a:ext>
            </a:extLst>
          </p:cNvPr>
          <p:cNvSpPr>
            <a:spLocks noGrp="1"/>
          </p:cNvSpPr>
          <p:nvPr/>
        </p:nvSpPr>
        <p:spPr>
          <a:xfrm>
            <a:off x="6762750" y="4905375"/>
            <a:ext cx="2952750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 A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88AC523-9B75-4737-9597-A4C36662A7FB}"/>
              </a:ext>
            </a:extLst>
          </p:cNvPr>
          <p:cNvSpPr>
            <a:spLocks noGrp="1"/>
          </p:cNvSpPr>
          <p:nvPr/>
        </p:nvSpPr>
        <p:spPr>
          <a:xfrm>
            <a:off x="9953625" y="4905375"/>
            <a:ext cx="2952750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 B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211C28-4F2B-4214-9E76-45A10D592AA1}"/>
              </a:ext>
            </a:extLst>
          </p:cNvPr>
          <p:cNvSpPr>
            <a:spLocks noGrp="1"/>
          </p:cNvSpPr>
          <p:nvPr/>
        </p:nvSpPr>
        <p:spPr>
          <a:xfrm>
            <a:off x="6810375" y="4048125"/>
            <a:ext cx="342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 對戰期間，B 的準備已開始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985F7EB-BCDA-4FC8-845E-0B954D776AAF}"/>
              </a:ext>
            </a:extLst>
          </p:cNvPr>
          <p:cNvSpPr>
            <a:spLocks noGrp="1"/>
          </p:cNvSpPr>
          <p:nvPr/>
        </p:nvSpPr>
        <p:spPr>
          <a:xfrm>
            <a:off x="10001250" y="5953125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 對戰期間，C 的準備已開始</a:t>
            </a: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A955086E-479F-4AED-B065-7E0A36A33F92}"/>
              </a:ext>
            </a:extLst>
          </p:cNvPr>
          <p:cNvCxnSpPr/>
          <p:nvPr/>
        </p:nvCxnSpPr>
        <p:spPr>
          <a:xfrm>
            <a:off x="5429250" y="6762750"/>
            <a:ext cx="8858250" cy="0"/>
          </a:xfrm>
          <a:prstGeom prst="straightConnector1">
            <a:avLst/>
          </a:prstGeom>
          <a:ln w="28575">
            <a:solidFill>
              <a:srgbClr val="47171C"/>
            </a:solidFill>
            <a:tailEnd type="triangle" w="med" len="med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81F2F969-7457-4858-8ADC-F79449D046EF}"/>
              </a:ext>
            </a:extLst>
          </p:cNvPr>
          <p:cNvSpPr>
            <a:spLocks noGrp="1"/>
          </p:cNvSpPr>
          <p:nvPr/>
        </p:nvSpPr>
        <p:spPr>
          <a:xfrm>
            <a:off x="5429250" y="6953250"/>
            <a:ext cx="885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wall time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B3275C9-F6F3-4C04-A0AD-A0724CC0CB92}"/>
              </a:ext>
            </a:extLst>
          </p:cNvPr>
          <p:cNvSpPr>
            <a:spLocks noGrp="1"/>
          </p:cNvSpPr>
          <p:nvPr/>
        </p:nvSpPr>
        <p:spPr>
          <a:xfrm>
            <a:off x="3476625" y="7343775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G0 初始化另行記錄；世代／階段時間以實際 timing artifacts 為準。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273DC2F1-EBC7-418F-AC0A-DA528FB27EED}"/>
              </a:ext>
            </a:extLst>
          </p:cNvPr>
          <p:cNvSpPr>
            <a:spLocks noGrp="1"/>
          </p:cNvSpPr>
          <p:nvPr/>
        </p:nvSpPr>
        <p:spPr>
          <a:xfrm>
            <a:off x="4572000" y="7791450"/>
            <a:ext cx="6858000" cy="419100"/>
          </a:xfrm>
          <a:prstGeom prst="roundRect">
            <a:avLst>
              <a:gd name="adj" fmla="val 36364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目前未有 live 多主機 speedup benchmark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59DEB509-E761-4056-958B-67FC84B9DD2D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64349F9-7B4A-45E9-9C55-AE7C5C7AFF8B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35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933702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91C0A840-B71B-4D9F-8491-544F31D9EB32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572625" y="3405188"/>
            <a:ext cx="16668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7E03790F-DE3C-4224-A131-919D6D1FC432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4667250" y="3405188"/>
            <a:ext cx="16668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299370D8-2FAB-448D-9857-E80126223862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GUI、監看與離線分析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529AE1D8-3C75-4936-A572-AB8E79534A47}"/>
              </a:ext>
            </a:extLst>
          </p:cNvPr>
          <p:cNvSpPr>
            <a:spLocks noGrp="1"/>
          </p:cNvSpPr>
          <p:nvPr/>
        </p:nvSpPr>
        <p:spPr>
          <a:xfrm>
            <a:off x="1428750" y="2857500"/>
            <a:ext cx="3238500" cy="1095375"/>
          </a:xfrm>
          <a:prstGeom prst="roundRect">
            <a:avLst>
              <a:gd name="adj" fmla="val 13913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GUI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8700356-0479-4863-8374-4A4AFA50C8B6}"/>
              </a:ext>
            </a:extLst>
          </p:cNvPr>
          <p:cNvSpPr>
            <a:spLocks noGrp="1"/>
          </p:cNvSpPr>
          <p:nvPr/>
        </p:nvSpPr>
        <p:spPr>
          <a:xfrm>
            <a:off x="6334125" y="2857500"/>
            <a:ext cx="3238500" cy="1095375"/>
          </a:xfrm>
          <a:prstGeom prst="roundRect">
            <a:avLst>
              <a:gd name="adj" fmla="val 13913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Monitor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5DAFC953-118F-47DD-BA63-F273AFF65CF0}"/>
              </a:ext>
            </a:extLst>
          </p:cNvPr>
          <p:cNvSpPr>
            <a:spLocks noGrp="1"/>
          </p:cNvSpPr>
          <p:nvPr/>
        </p:nvSpPr>
        <p:spPr>
          <a:xfrm>
            <a:off x="11239500" y="2857500"/>
            <a:ext cx="3238500" cy="1095375"/>
          </a:xfrm>
          <a:prstGeom prst="roundRect">
            <a:avLst>
              <a:gd name="adj" fmla="val 1391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Analyze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1302011-4140-4CC1-B53B-849CF038C351}"/>
              </a:ext>
            </a:extLst>
          </p:cNvPr>
          <p:cNvSpPr>
            <a:spLocks noGrp="1"/>
          </p:cNvSpPr>
          <p:nvPr/>
        </p:nvSpPr>
        <p:spPr>
          <a:xfrm>
            <a:off x="1095375" y="4619625"/>
            <a:ext cx="3905250" cy="1219200"/>
          </a:xfrm>
          <a:prstGeom prst="roundRect">
            <a:avLst>
              <a:gd name="adj" fmla="val 125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選設定、啟停／續跑</a:t>
            </a:r>
          </a:p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瀏覽族群與視覺觀戰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AC900ED-2BB1-47F1-8939-00C76C7EECF4}"/>
              </a:ext>
            </a:extLst>
          </p:cNvPr>
          <p:cNvSpPr>
            <a:spLocks noGrp="1"/>
          </p:cNvSpPr>
          <p:nvPr/>
        </p:nvSpPr>
        <p:spPr>
          <a:xfrm>
            <a:off x="6000750" y="4619625"/>
            <a:ext cx="3905250" cy="1219200"/>
          </a:xfrm>
          <a:prstGeom prst="roundRect">
            <a:avLst>
              <a:gd name="adj" fmla="val 125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讀 manifest 與已提交快照</a:t>
            </a:r>
          </a:p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狀態監看唯讀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D80CB92-ABC0-42A9-BFCB-D61E4E9B7261}"/>
              </a:ext>
            </a:extLst>
          </p:cNvPr>
          <p:cNvSpPr>
            <a:spLocks noGrp="1"/>
          </p:cNvSpPr>
          <p:nvPr/>
        </p:nvSpPr>
        <p:spPr>
          <a:xfrm>
            <a:off x="10906125" y="4619625"/>
            <a:ext cx="3905250" cy="1219200"/>
          </a:xfrm>
          <a:prstGeom prst="roundRect">
            <a:avLst>
              <a:gd name="adj" fmla="val 125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讀保存的快照與證據</a:t>
            </a:r>
          </a:p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離線產生報表與圖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E572B3C-0CE5-4EBD-8FA4-1DF00458CBEA}"/>
              </a:ext>
            </a:extLst>
          </p:cNvPr>
          <p:cNvSpPr>
            <a:spLocks noGrp="1"/>
          </p:cNvSpPr>
          <p:nvPr/>
        </p:nvSpPr>
        <p:spPr>
          <a:xfrm>
            <a:off x="3714750" y="6667500"/>
            <a:ext cx="8572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使用工具檢視證據，不改寫演化 fitness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BDE5844C-9F00-43D9-B262-4F8EFA3F86D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C96ABABF-5F57-47C7-BCCC-CF3E6864617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36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6282829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B3D9996B-45FB-4C53-8780-AFC4F4E20259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目前 Framework Coach 設定範例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CCBB5E07-71B1-42AC-B5F3-7ACA805E8056}"/>
              </a:ext>
            </a:extLst>
          </p:cNvPr>
          <p:cNvSpPr>
            <a:spLocks noGrp="1"/>
          </p:cNvSpPr>
          <p:nvPr/>
        </p:nvSpPr>
        <p:spPr>
          <a:xfrm>
            <a:off x="1143000" y="2286000"/>
            <a:ext cx="4095750" cy="685800"/>
          </a:xfrm>
          <a:prstGeom prst="roundRect">
            <a:avLst>
              <a:gd name="adj" fmla="val 22222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Framework slots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A40BB3-6C18-4A68-ACA6-A35E1EBAE30F}"/>
              </a:ext>
            </a:extLst>
          </p:cNvPr>
          <p:cNvSpPr>
            <a:spLocks noGrp="1"/>
          </p:cNvSpPr>
          <p:nvPr/>
        </p:nvSpPr>
        <p:spPr>
          <a:xfrm>
            <a:off x="1143000" y="3143250"/>
            <a:ext cx="4095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Coach 使用完整控制 genome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4EEF9F4D-1B31-49E7-BE7D-234941E69E8C}"/>
              </a:ext>
            </a:extLst>
          </p:cNvPr>
          <p:cNvSpPr>
            <a:spLocks noGrp="1"/>
          </p:cNvSpPr>
          <p:nvPr/>
        </p:nvSpPr>
        <p:spPr>
          <a:xfrm>
            <a:off x="6286500" y="2286000"/>
            <a:ext cx="3810000" cy="685800"/>
          </a:xfrm>
          <a:prstGeom prst="roundRect">
            <a:avLst>
              <a:gd name="adj" fmla="val 2222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Mistral bootstrap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CF93CC-0D2F-4663-B959-E4E6BAABA03D}"/>
              </a:ext>
            </a:extLst>
          </p:cNvPr>
          <p:cNvSpPr>
            <a:spLocks noGrp="1"/>
          </p:cNvSpPr>
          <p:nvPr/>
        </p:nvSpPr>
        <p:spPr>
          <a:xfrm>
            <a:off x="6286500" y="3143250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mistral-small-latest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AA7BED50-AC0C-43EA-8AE7-1B877075B9D6}"/>
              </a:ext>
            </a:extLst>
          </p:cNvPr>
          <p:cNvSpPr>
            <a:spLocks noGrp="1"/>
          </p:cNvSpPr>
          <p:nvPr/>
        </p:nvSpPr>
        <p:spPr>
          <a:xfrm>
            <a:off x="11144250" y="2286000"/>
            <a:ext cx="3714750" cy="685800"/>
          </a:xfrm>
          <a:prstGeom prst="roundRect">
            <a:avLst>
              <a:gd name="adj" fmla="val 22222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Qwen 3.5 9B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95F832-9C74-44E1-9EDE-10A79BCDF7D7}"/>
              </a:ext>
            </a:extLst>
          </p:cNvPr>
          <p:cNvSpPr>
            <a:spLocks noGrp="1"/>
          </p:cNvSpPr>
          <p:nvPr/>
        </p:nvSpPr>
        <p:spPr>
          <a:xfrm>
            <a:off x="11144250" y="3143250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主模型＋外部 additional endpoint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B6C039-9AFE-47E2-A199-D0A63499E1B1}"/>
              </a:ext>
            </a:extLst>
          </p:cNvPr>
          <p:cNvSpPr>
            <a:spLocks noGrp="1"/>
          </p:cNvSpPr>
          <p:nvPr/>
        </p:nvSpPr>
        <p:spPr>
          <a:xfrm>
            <a:off x="1238250" y="4429125"/>
            <a:ext cx="2857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A49DD81-7A99-478B-8DD4-3166B3FECF0B}"/>
              </a:ext>
            </a:extLst>
          </p:cNvPr>
          <p:cNvSpPr>
            <a:spLocks noGrp="1"/>
          </p:cNvSpPr>
          <p:nvPr/>
        </p:nvSpPr>
        <p:spPr>
          <a:xfrm>
            <a:off x="1238250" y="53340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演化世代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EAF71C5-7D6A-488E-9314-B72040559993}"/>
              </a:ext>
            </a:extLst>
          </p:cNvPr>
          <p:cNvSpPr>
            <a:spLocks noGrp="1"/>
          </p:cNvSpPr>
          <p:nvPr/>
        </p:nvSpPr>
        <p:spPr>
          <a:xfrm>
            <a:off x="4857750" y="4429125"/>
            <a:ext cx="2857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97343CE-DF56-443E-8959-839CF836E990}"/>
              </a:ext>
            </a:extLst>
          </p:cNvPr>
          <p:cNvSpPr>
            <a:spLocks noGrp="1"/>
          </p:cNvSpPr>
          <p:nvPr/>
        </p:nvSpPr>
        <p:spPr>
          <a:xfrm>
            <a:off x="4857750" y="53340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population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2DF7084-2A46-4943-B181-B88006CF1781}"/>
              </a:ext>
            </a:extLst>
          </p:cNvPr>
          <p:cNvSpPr>
            <a:spLocks noGrp="1"/>
          </p:cNvSpPr>
          <p:nvPr/>
        </p:nvSpPr>
        <p:spPr>
          <a:xfrm>
            <a:off x="8477250" y="4429125"/>
            <a:ext cx="2857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8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516EF1C-0562-44E9-AB0D-93B5C198BCD1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83E89D9-113F-4494-A4DD-51EC640623FC}"/>
              </a:ext>
            </a:extLst>
          </p:cNvPr>
          <p:cNvSpPr>
            <a:spLocks noGrp="1"/>
          </p:cNvSpPr>
          <p:nvPr/>
        </p:nvSpPr>
        <p:spPr>
          <a:xfrm>
            <a:off x="12096750" y="4429125"/>
            <a:ext cx="2857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ADD9EE5-10BD-4A3A-8F25-F85A2E78988E}"/>
              </a:ext>
            </a:extLst>
          </p:cNvPr>
          <p:cNvSpPr>
            <a:spLocks noGrp="1"/>
          </p:cNvSpPr>
          <p:nvPr/>
        </p:nvSpPr>
        <p:spPr>
          <a:xfrm>
            <a:off x="12096750" y="53340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pool capacity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F78CD558-CC09-492B-9EE2-489D6252506F}"/>
              </a:ext>
            </a:extLst>
          </p:cNvPr>
          <p:cNvSpPr>
            <a:spLocks noGrp="1"/>
          </p:cNvSpPr>
          <p:nvPr/>
        </p:nvSpPr>
        <p:spPr>
          <a:xfrm>
            <a:off x="2762250" y="6191250"/>
            <a:ext cx="10382250" cy="685800"/>
          </a:xfrm>
          <a:prstGeom prst="roundRect">
            <a:avLst>
              <a:gd name="adj" fmla="val 2222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每次評估：4 個保護對手 ＋ 6 個抽樣對手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71ECB657-1AC1-402C-88C2-555EA6BF71C7}"/>
              </a:ext>
            </a:extLst>
          </p:cNvPr>
          <p:cNvSpPr>
            <a:spLocks noGrp="1"/>
          </p:cNvSpPr>
          <p:nvPr/>
        </p:nvSpPr>
        <p:spPr>
          <a:xfrm>
            <a:off x="2667000" y="7219950"/>
            <a:ext cx="1809750" cy="419100"/>
          </a:xfrm>
          <a:prstGeom prst="roundRect">
            <a:avLst>
              <a:gd name="adj" fmla="val 36364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refresh 5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06305777-9E92-428E-BBD9-AB07E3F51B93}"/>
              </a:ext>
            </a:extLst>
          </p:cNvPr>
          <p:cNvSpPr>
            <a:spLocks noGrp="1"/>
          </p:cNvSpPr>
          <p:nvPr/>
        </p:nvSpPr>
        <p:spPr>
          <a:xfrm>
            <a:off x="5238750" y="7219950"/>
            <a:ext cx="2286000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crossover 0.75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7D416F3E-FEF6-45C5-A765-42204E5BDA4F}"/>
              </a:ext>
            </a:extLst>
          </p:cNvPr>
          <p:cNvSpPr>
            <a:spLocks noGrp="1"/>
          </p:cNvSpPr>
          <p:nvPr/>
        </p:nvSpPr>
        <p:spPr>
          <a:xfrm>
            <a:off x="8286750" y="7219950"/>
            <a:ext cx="2190750" cy="419100"/>
          </a:xfrm>
          <a:prstGeom prst="roundRect">
            <a:avLst>
              <a:gd name="adj" fmla="val 3636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mutation 1.0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9964DAA2-0439-41F0-8497-1ED3AA960045}"/>
              </a:ext>
            </a:extLst>
          </p:cNvPr>
          <p:cNvSpPr>
            <a:spLocks noGrp="1"/>
          </p:cNvSpPr>
          <p:nvPr/>
        </p:nvSpPr>
        <p:spPr>
          <a:xfrm>
            <a:off x="11049000" y="7219950"/>
            <a:ext cx="3619500" cy="419100"/>
          </a:xfrm>
          <a:prstGeom prst="roundRect">
            <a:avLst>
              <a:gd name="adj" fmla="val 36364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tick caps 1500／3000／4000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DF4CA9B-77A1-45A0-8FEE-305373A9F2E4}"/>
              </a:ext>
            </a:extLst>
          </p:cNvPr>
          <p:cNvSpPr>
            <a:spLocks noGrp="1"/>
          </p:cNvSpPr>
          <p:nvPr/>
        </p:nvSpPr>
        <p:spPr>
          <a:xfrm>
            <a:off x="4476750" y="7781925"/>
            <a:ext cx="723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這是 checked-in 範例設定，不代表全域預設或已執行實驗。</a:t>
            </a:r>
          </a:p>
        </p:txBody>
      </p:sp>
      <p:sp>
        <p:nvSpPr>
          <p:cNvPr id="22" name="Slide Number">
            <a:extLst>
              <a:ext uri="{FF2B5EF4-FFF2-40B4-BE49-F238E27FC236}">
                <a16:creationId xmlns:a16="http://schemas.microsoft.com/office/drawing/2014/main" id="{47004293-04B5-4D0B-89EA-904EBE66295A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D1D5520-960A-4860-BFCC-BDC6DE84250A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37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1373313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3DF4DBC8-A147-4A16-B5E4-4F85C96A5FDC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10096500" y="2762250"/>
            <a:ext cx="1143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8ADF5B4E-2BE6-4273-BD9B-806A2E170FCB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857750" y="2762250"/>
            <a:ext cx="1143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2EC30320-9DEF-4390-A8A3-319F1432E4B6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實驗批次與完成場數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E45AB3-70F7-486B-8E9C-6ECC4C89C105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Framework local＋Opponent Pool｜兩批各 6 個 seed，12 個 run 均完成 G20 與 Final Test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6F71C4D-4633-47DB-8AE3-3C58CC37A26F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4095750" cy="1047750"/>
          </a:xfrm>
          <a:prstGeom prst="roundRect">
            <a:avLst>
              <a:gd name="adj" fmla="val 1454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同一凍結 bundle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b2daa0d4…0939b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8D7A74C8-5DC2-453B-A6BA-1AFEC53413FF}"/>
              </a:ext>
            </a:extLst>
          </p:cNvPr>
          <p:cNvSpPr>
            <a:spLocks noGrp="1"/>
          </p:cNvSpPr>
          <p:nvPr/>
        </p:nvSpPr>
        <p:spPr>
          <a:xfrm>
            <a:off x="6000750" y="2238375"/>
            <a:ext cx="4095750" cy="1047750"/>
          </a:xfrm>
          <a:prstGeom prst="roundRect">
            <a:avLst>
              <a:gd name="adj" fmla="val 1454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local 有限槽位演化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搜尋期間無 LLM 呼叫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3ADB5B3-C6DE-4B77-A2D5-243CF1C6AE01}"/>
              </a:ext>
            </a:extLst>
          </p:cNvPr>
          <p:cNvSpPr>
            <a:spLocks noGrp="1"/>
          </p:cNvSpPr>
          <p:nvPr/>
        </p:nvSpPr>
        <p:spPr>
          <a:xfrm>
            <a:off x="11239500" y="2238375"/>
            <a:ext cx="3905250" cy="1047750"/>
          </a:xfrm>
          <a:prstGeom prst="roundRect">
            <a:avLst>
              <a:gd name="adj" fmla="val 1454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人口 10 × 演化 20 代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180 場搜尋／600 場測試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60B6036-8ADA-40FF-816D-B82B8A140DF3}"/>
              </a:ext>
            </a:extLst>
          </p:cNvPr>
          <p:cNvSpPr>
            <a:spLocks noGrp="1"/>
          </p:cNvSpPr>
          <p:nvPr/>
        </p:nvSpPr>
        <p:spPr>
          <a:xfrm>
            <a:off x="714375" y="3943350"/>
            <a:ext cx="47625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B7D7AA5-934C-4653-BA0C-2A6DBFFDD2FE}"/>
              </a:ext>
            </a:extLst>
          </p:cNvPr>
          <p:cNvSpPr>
            <a:spLocks noGrp="1"/>
          </p:cNvSpPr>
          <p:nvPr/>
        </p:nvSpPr>
        <p:spPr>
          <a:xfrm>
            <a:off x="714375" y="5048250"/>
            <a:ext cx="4762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已完成 run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80439C7-517A-47E6-BE00-A3D0C9B14463}"/>
              </a:ext>
            </a:extLst>
          </p:cNvPr>
          <p:cNvSpPr>
            <a:spLocks noGrp="1"/>
          </p:cNvSpPr>
          <p:nvPr/>
        </p:nvSpPr>
        <p:spPr>
          <a:xfrm>
            <a:off x="5667375" y="3943350"/>
            <a:ext cx="47625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1800／1800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81ABF7-0098-4CCD-B84B-F112E21EA21D}"/>
              </a:ext>
            </a:extLst>
          </p:cNvPr>
          <p:cNvSpPr>
            <a:spLocks noGrp="1"/>
          </p:cNvSpPr>
          <p:nvPr/>
        </p:nvSpPr>
        <p:spPr>
          <a:xfrm>
            <a:off x="5667375" y="5048250"/>
            <a:ext cx="4762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 run 的 G20 對戰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0162E8A-FA15-4E41-95F4-15E1B0CA46A7}"/>
              </a:ext>
            </a:extLst>
          </p:cNvPr>
          <p:cNvSpPr>
            <a:spLocks noGrp="1"/>
          </p:cNvSpPr>
          <p:nvPr/>
        </p:nvSpPr>
        <p:spPr>
          <a:xfrm>
            <a:off x="10620375" y="3943350"/>
            <a:ext cx="47625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ECF193-63B3-4A7C-BFEC-462B422C9F35}"/>
              </a:ext>
            </a:extLst>
          </p:cNvPr>
          <p:cNvSpPr>
            <a:spLocks noGrp="1"/>
          </p:cNvSpPr>
          <p:nvPr/>
        </p:nvSpPr>
        <p:spPr>
          <a:xfrm>
            <a:off x="10620375" y="5048250"/>
            <a:ext cx="4762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 Test 的 errors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470652B7-4CCD-45B4-A192-D781AB4666C5}"/>
              </a:ext>
            </a:extLst>
          </p:cNvPr>
          <p:cNvGraphicFramePr/>
          <p:nvPr/>
        </p:nvGraphicFramePr>
        <p:xfrm>
          <a:off x="762000" y="6076950"/>
          <a:ext cx="14382750" cy="1657350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批次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 範圍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 代完成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Final Test 完成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8–13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6／6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 × 600 場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8–13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6／6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 × 600 場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ABA2F1B2-2827-4D6F-A518-2D38770A05D8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數據截點：2026-10-22；兩批各 3600 場 Final Test，合計 7200 場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383081B5-E60D-4EEB-B488-20F9FB51354A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BF07096C-40B6-4E6A-8F7B-A33DE026BF64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38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4035351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598C0CE-FF54-4B93-8441-ABAE634E66E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G20 搜尋分數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9D3636-18CC-4B2D-B7BC-B57F79A3EB56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G20 population best Game Performance；兩批均包含 seed 8–13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41279574-4196-4D8A-9EF1-080ACA592D33}"/>
              </a:ext>
            </a:extLst>
          </p:cNvPr>
          <p:cNvGraphicFramePr/>
          <p:nvPr/>
        </p:nvGraphicFramePr>
        <p:xfrm>
          <a:off x="714375" y="2143125"/>
          <a:ext cx="10763250" cy="500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A599974C-9B6D-4379-B580-1AE8F36D4D05}"/>
              </a:ext>
            </a:extLst>
          </p:cNvPr>
          <p:cNvSpPr>
            <a:spLocks noGrp="1"/>
          </p:cNvSpPr>
          <p:nvPr/>
        </p:nvSpPr>
        <p:spPr>
          <a:xfrm>
            <a:off x="11906250" y="2333625"/>
            <a:ext cx="3238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跨 seed 的 best 平均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97CBC37-A4F6-4BAC-8181-FAF01257E9BA}"/>
              </a:ext>
            </a:extLst>
          </p:cNvPr>
          <p:cNvSpPr>
            <a:spLocks noGrp="1"/>
          </p:cNvSpPr>
          <p:nvPr/>
        </p:nvSpPr>
        <p:spPr>
          <a:xfrm>
            <a:off x="11906250" y="3000375"/>
            <a:ext cx="3238500" cy="26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上次 6 seed</a:t>
            </a:r>
          </a:p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5.884</a:t>
            </a:r>
          </a:p>
          <a:p>
            <a:endParaRPr sz="232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本次 6 seed</a:t>
            </a:r>
          </a:p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5.375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D36720-4FA3-493B-9474-C626069FD0B1}"/>
              </a:ext>
            </a:extLst>
          </p:cNvPr>
          <p:cNvSpPr>
            <a:spLocks noGrp="1"/>
          </p:cNvSpPr>
          <p:nvPr/>
        </p:nvSpPr>
        <p:spPr>
          <a:xfrm>
            <a:off x="762000" y="7324725"/>
            <a:ext cx="14382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 − 上次（seed 8→13）：-8.934、-2.733、+0.004、+2.130、+1.800、+4.682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A9A33E-02C0-4894-81EF-88A8591A77AA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指標：G20 population best；跨 seed 平均的樣本數：每批 6 runs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B45608F-CDE1-4429-9D28-B3E12998FBA5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4662EAE5-6DA9-4088-AF95-6EFAB1F01017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39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429069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D4180BDC-36E1-409E-8027-E5E56ACFF4E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G0–G20 搜尋分數紀錄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FB04C78-CC59-4873-86AD-F364C4605C7C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population best｜相同縱軸 −80～40；各點代表該代當下的對手快照</a:t>
            </a:r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8B8533E4-B581-4387-BDB3-C355E9AEF348}"/>
              </a:ext>
            </a:extLst>
          </p:cNvPr>
          <p:cNvCxnSpPr/>
          <p:nvPr/>
        </p:nvCxnSpPr>
        <p:spPr>
          <a:xfrm>
            <a:off x="10668000" y="1828800"/>
            <a:ext cx="476250" cy="0"/>
          </a:xfrm>
          <a:prstGeom prst="straightConnector1">
            <a:avLst/>
          </a:prstGeom>
          <a:ln w="38100">
            <a:solidFill>
              <a:srgbClr val="CF8792"/>
            </a:solidFill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F6A9BB88-79B6-49C7-BD3E-D05F91C845B8}"/>
              </a:ext>
            </a:extLst>
          </p:cNvPr>
          <p:cNvSpPr>
            <a:spLocks noGrp="1"/>
          </p:cNvSpPr>
          <p:nvPr/>
        </p:nvSpPr>
        <p:spPr>
          <a:xfrm>
            <a:off x="11287125" y="1638300"/>
            <a:ext cx="114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上次</a:t>
            </a:r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E7D85CA2-0575-487B-AC06-EC35A60A8D1D}"/>
              </a:ext>
            </a:extLst>
          </p:cNvPr>
          <p:cNvCxnSpPr/>
          <p:nvPr/>
        </p:nvCxnSpPr>
        <p:spPr>
          <a:xfrm>
            <a:off x="12668250" y="1828800"/>
            <a:ext cx="476250" cy="0"/>
          </a:xfrm>
          <a:prstGeom prst="straightConnector1">
            <a:avLst/>
          </a:prstGeom>
          <a:ln w="38100">
            <a:solidFill>
              <a:srgbClr val="47171C"/>
            </a:solidFill>
          </a:ln>
        </p:spPr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9E41DC85-BA56-4240-99DD-B443AAF42FB0}"/>
              </a:ext>
            </a:extLst>
          </p:cNvPr>
          <p:cNvSpPr>
            <a:spLocks noGrp="1"/>
          </p:cNvSpPr>
          <p:nvPr/>
        </p:nvSpPr>
        <p:spPr>
          <a:xfrm>
            <a:off x="13287375" y="1638300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8CF83E-6C25-4222-896F-77F6BEE46B32}"/>
              </a:ext>
            </a:extLst>
          </p:cNvPr>
          <p:cNvSpPr>
            <a:spLocks noGrp="1"/>
          </p:cNvSpPr>
          <p:nvPr/>
        </p:nvSpPr>
        <p:spPr>
          <a:xfrm>
            <a:off x="809625" y="205740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8</a:t>
            </a:r>
          </a:p>
        </p:txBody>
      </p:sp>
      <p:graphicFrame>
        <p:nvGraphicFramePr>
          <p:cNvPr id="8" name="Chart">
            <a:extLst>
              <a:ext uri="{FF2B5EF4-FFF2-40B4-BE49-F238E27FC236}">
                <a16:creationId xmlns:a16="http://schemas.microsoft.com/office/drawing/2014/main" id="{02C0BEF5-7E4B-41C5-BAAC-001CDEE31298}"/>
              </a:ext>
            </a:extLst>
          </p:cNvPr>
          <p:cNvGraphicFramePr/>
          <p:nvPr/>
        </p:nvGraphicFramePr>
        <p:xfrm>
          <a:off x="619125" y="2495550"/>
          <a:ext cx="4810125" cy="2257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23A3F66C-6AFF-47BD-99F8-1B56F9BB78A7}"/>
              </a:ext>
            </a:extLst>
          </p:cNvPr>
          <p:cNvSpPr>
            <a:spLocks noGrp="1"/>
          </p:cNvSpPr>
          <p:nvPr/>
        </p:nvSpPr>
        <p:spPr>
          <a:xfrm>
            <a:off x="5905500" y="205740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9</a:t>
            </a:r>
          </a:p>
        </p:txBody>
      </p:sp>
      <p:graphicFrame>
        <p:nvGraphicFramePr>
          <p:cNvPr id="10" name="Chart">
            <a:extLst>
              <a:ext uri="{FF2B5EF4-FFF2-40B4-BE49-F238E27FC236}">
                <a16:creationId xmlns:a16="http://schemas.microsoft.com/office/drawing/2014/main" id="{3AD3E0C8-8912-49EB-8412-7B06CE222E9D}"/>
              </a:ext>
            </a:extLst>
          </p:cNvPr>
          <p:cNvGraphicFramePr/>
          <p:nvPr/>
        </p:nvGraphicFramePr>
        <p:xfrm>
          <a:off x="5715000" y="2495550"/>
          <a:ext cx="4810125" cy="2257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B7F10DB3-99AF-43F9-BA93-C28CA267F1F4}"/>
              </a:ext>
            </a:extLst>
          </p:cNvPr>
          <p:cNvSpPr>
            <a:spLocks noGrp="1"/>
          </p:cNvSpPr>
          <p:nvPr/>
        </p:nvSpPr>
        <p:spPr>
          <a:xfrm>
            <a:off x="11001375" y="205740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10</a:t>
            </a:r>
          </a:p>
        </p:txBody>
      </p:sp>
      <p:graphicFrame>
        <p:nvGraphicFramePr>
          <p:cNvPr id="12" name="Chart">
            <a:extLst>
              <a:ext uri="{FF2B5EF4-FFF2-40B4-BE49-F238E27FC236}">
                <a16:creationId xmlns:a16="http://schemas.microsoft.com/office/drawing/2014/main" id="{E1D62A82-683F-40C4-BEA0-6A6D0CD4B692}"/>
              </a:ext>
            </a:extLst>
          </p:cNvPr>
          <p:cNvGraphicFramePr/>
          <p:nvPr/>
        </p:nvGraphicFramePr>
        <p:xfrm>
          <a:off x="10810875" y="2495550"/>
          <a:ext cx="4810125" cy="2257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CEC0AE00-7DA3-4AFA-B73E-DE239FC70A74}"/>
              </a:ext>
            </a:extLst>
          </p:cNvPr>
          <p:cNvSpPr>
            <a:spLocks noGrp="1"/>
          </p:cNvSpPr>
          <p:nvPr/>
        </p:nvSpPr>
        <p:spPr>
          <a:xfrm>
            <a:off x="809625" y="481965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11</a:t>
            </a:r>
          </a:p>
        </p:txBody>
      </p:sp>
      <p:graphicFrame>
        <p:nvGraphicFramePr>
          <p:cNvPr id="14" name="Chart">
            <a:extLst>
              <a:ext uri="{FF2B5EF4-FFF2-40B4-BE49-F238E27FC236}">
                <a16:creationId xmlns:a16="http://schemas.microsoft.com/office/drawing/2014/main" id="{9A2A3187-536F-4AFD-8FDE-789994AD9CC1}"/>
              </a:ext>
            </a:extLst>
          </p:cNvPr>
          <p:cNvGraphicFramePr/>
          <p:nvPr/>
        </p:nvGraphicFramePr>
        <p:xfrm>
          <a:off x="619125" y="5257800"/>
          <a:ext cx="4810125" cy="2257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77CD1D63-2F2C-4CAB-A549-13F9E6C88EC7}"/>
              </a:ext>
            </a:extLst>
          </p:cNvPr>
          <p:cNvSpPr>
            <a:spLocks noGrp="1"/>
          </p:cNvSpPr>
          <p:nvPr/>
        </p:nvSpPr>
        <p:spPr>
          <a:xfrm>
            <a:off x="5905500" y="481965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12</a:t>
            </a:r>
          </a:p>
        </p:txBody>
      </p:sp>
      <p:graphicFrame>
        <p:nvGraphicFramePr>
          <p:cNvPr id="16" name="Chart">
            <a:extLst>
              <a:ext uri="{FF2B5EF4-FFF2-40B4-BE49-F238E27FC236}">
                <a16:creationId xmlns:a16="http://schemas.microsoft.com/office/drawing/2014/main" id="{31C98144-8B0A-425E-8B47-52174F4E74D4}"/>
              </a:ext>
            </a:extLst>
          </p:cNvPr>
          <p:cNvGraphicFramePr/>
          <p:nvPr/>
        </p:nvGraphicFramePr>
        <p:xfrm>
          <a:off x="5715000" y="5257800"/>
          <a:ext cx="4810125" cy="2257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65A1D58A-9904-4929-AD0E-BEE95B41BACA}"/>
              </a:ext>
            </a:extLst>
          </p:cNvPr>
          <p:cNvSpPr>
            <a:spLocks noGrp="1"/>
          </p:cNvSpPr>
          <p:nvPr/>
        </p:nvSpPr>
        <p:spPr>
          <a:xfrm>
            <a:off x="11001375" y="481965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13</a:t>
            </a:r>
          </a:p>
        </p:txBody>
      </p:sp>
      <p:graphicFrame>
        <p:nvGraphicFramePr>
          <p:cNvPr id="18" name="Chart">
            <a:extLst>
              <a:ext uri="{FF2B5EF4-FFF2-40B4-BE49-F238E27FC236}">
                <a16:creationId xmlns:a16="http://schemas.microsoft.com/office/drawing/2014/main" id="{9D1FE776-DBFC-4F55-BF40-6CA0AE89056B}"/>
              </a:ext>
            </a:extLst>
          </p:cNvPr>
          <p:cNvGraphicFramePr/>
          <p:nvPr/>
        </p:nvGraphicFramePr>
        <p:xfrm>
          <a:off x="10810875" y="5257800"/>
          <a:ext cx="4810125" cy="2257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7EE14ACB-B906-44D6-A0CC-72D916595F69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兩批各 6 個 seed；各圖為 G0、G5、G10、G15、G20 的 population best</a:t>
            </a:r>
          </a:p>
        </p:txBody>
      </p:sp>
      <p:sp>
        <p:nvSpPr>
          <p:cNvPr id="20" name="Slide Number">
            <a:extLst>
              <a:ext uri="{FF2B5EF4-FFF2-40B4-BE49-F238E27FC236}">
                <a16:creationId xmlns:a16="http://schemas.microsoft.com/office/drawing/2014/main" id="{56B84F70-0E0D-4C4A-83DB-0494FBA6935F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1EB4CB4C-077C-49B8-A4B4-DD8F899E2283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40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1054845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BE5F2C8-E4CA-4731-A915-425A12752A63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正式測試：勝、和、負與錯誤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55E519-B651-45CE-B8B0-EC401A4B1F76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每 run 600 場；兩批各 6 runs。圖示 W／D／L 百分比，表列實際場數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7C17606D-6713-442E-A13C-35C7F962640B}"/>
              </a:ext>
            </a:extLst>
          </p:cNvPr>
          <p:cNvGraphicFramePr/>
          <p:nvPr/>
        </p:nvGraphicFramePr>
        <p:xfrm>
          <a:off x="762000" y="2143125"/>
          <a:ext cx="14382750" cy="396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62D2C90-118D-4B35-9BC4-BA67F3EC65F0}"/>
              </a:ext>
            </a:extLst>
          </p:cNvPr>
          <p:cNvGraphicFramePr/>
          <p:nvPr/>
        </p:nvGraphicFramePr>
        <p:xfrm>
          <a:off x="762000" y="6429375"/>
          <a:ext cx="14382750" cy="1428750"/>
        </p:xfrm>
        <a:graphic>
          <a:graphicData uri="http://schemas.openxmlformats.org/drawingml/2006/table">
            <a:tbl>
              <a:tblPr/>
              <a:tblGrid>
                <a:gridCol w="390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批次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 W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和 D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敗 L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錯誤 E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勝率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上次（6 runs）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1164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152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2284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32.33%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本次（6 runs）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1122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148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2330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31.17%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36BDF727-65A1-45ED-A334-B4BA7E8262EF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Final Test：10 對手 × 3 地圖 × 每邊 10 場＝600 場／run；勝率＝勝 W／總場數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DA7EA9B-B645-4124-91D2-6383EC4384D9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6BF5BF8D-E048-4918-ACB4-44CD9EBB1AC5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7958123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32D0CFB-2014-44DC-AEFA-518932B89806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對手別正式測試場數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06875E-0F93-4C09-8FA3-915630B229EB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兩批均為 seed 8–13；每個對手 6 runs × 60 場＝360 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9FF880-BA89-4A1D-9A51-C4BFBCE56C3F}"/>
              </a:ext>
            </a:extLst>
          </p:cNvPr>
          <p:cNvSpPr>
            <a:spLocks noGrp="1"/>
          </p:cNvSpPr>
          <p:nvPr/>
        </p:nvSpPr>
        <p:spPr>
          <a:xfrm>
            <a:off x="762000" y="1876425"/>
            <a:ext cx="7048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上次｜6 runs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6CD87F6-FF05-4D4C-B141-9320ABCFEC4E}"/>
              </a:ext>
            </a:extLst>
          </p:cNvPr>
          <p:cNvGraphicFramePr/>
          <p:nvPr/>
        </p:nvGraphicFramePr>
        <p:xfrm>
          <a:off x="762000" y="2476500"/>
          <a:ext cx="7048500" cy="523875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對手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 W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和 D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敗 L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錯誤 E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passive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randombias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lightrush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heavyrush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230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workerrush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allinbot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mayari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coac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tma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360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1EA626DF-F99F-4820-BA5F-80962F631616}"/>
              </a:ext>
            </a:extLst>
          </p:cNvPr>
          <p:cNvSpPr>
            <a:spLocks noGrp="1"/>
          </p:cNvSpPr>
          <p:nvPr/>
        </p:nvSpPr>
        <p:spPr>
          <a:xfrm>
            <a:off x="8096250" y="1876425"/>
            <a:ext cx="7048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本次｜6 runs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A67A98A-8E1C-4E9E-8BD7-963CFD035AAE}"/>
              </a:ext>
            </a:extLst>
          </p:cNvPr>
          <p:cNvGraphicFramePr/>
          <p:nvPr/>
        </p:nvGraphicFramePr>
        <p:xfrm>
          <a:off x="8096250" y="2476500"/>
          <a:ext cx="7048500" cy="523875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對手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 W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和 D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敗 L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錯誤 E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passive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randombias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292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lightrush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heavyrush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260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workerrush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allinbot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mayari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coac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tma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360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590C6F3E-B110-4E9C-9699-19B691E966C1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每批：10 個對手 × 360 場＝3600 場；W＝勝、D＝和、L＝負、E＝錯誤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00EBEA0B-46AB-4AB3-A62E-29B4F9CEA1FD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0E0EDB4F-1CA8-49FC-8262-8102929C26C3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6769755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B00CB0C-994E-4AD3-9D33-BD917832C255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G20 行為簽章數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B9321EA-881F-4689-925A-CB90E357F497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G20 semantic unique／人口 10；三張地圖 × 三個階段的動作簽章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7E26D414-9A6D-48BD-851E-070E925791B7}"/>
              </a:ext>
            </a:extLst>
          </p:cNvPr>
          <p:cNvGraphicFramePr/>
          <p:nvPr/>
        </p:nvGraphicFramePr>
        <p:xfrm>
          <a:off x="714375" y="2286000"/>
          <a:ext cx="10763250" cy="5143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76A3E43-FCE3-4D2E-94E9-83D990996421}"/>
              </a:ext>
            </a:extLst>
          </p:cNvPr>
          <p:cNvGraphicFramePr/>
          <p:nvPr/>
        </p:nvGraphicFramePr>
        <p:xfrm>
          <a:off x="11811000" y="2667000"/>
          <a:ext cx="3333750" cy="400050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12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2256877-2170-4830-B9FF-263FFBFA465C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指標：G20 semantic unique；兩批各 seed 8–13；每個 run 的 population＝10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51414DE9-B659-41D1-9960-F4AF8BB773EC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B8F6497-9699-4B1F-A621-E67E80BD6F3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4870555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70D1645-0C6D-4D0C-BC27-9D4EC01A0199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各 seed 的耗時與勝負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5E3A07-3D2A-40E7-82A3-E348F3C1A51E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兩批各 seed 8–13｜時間單位 hh:mm:ss；勝／和／負為各 run 的 600 場 Final Test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4658BE7-3E43-4B4A-9F66-9770D0B0F62F}"/>
              </a:ext>
            </a:extLst>
          </p:cNvPr>
          <p:cNvGraphicFramePr/>
          <p:nvPr/>
        </p:nvGraphicFramePr>
        <p:xfrm>
          <a:off x="762000" y="2238375"/>
          <a:ext cx="14382750" cy="54483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批次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搜尋 wall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G1–20 合計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測試對戰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 W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和 D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敗 L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錯誤 E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02:52:55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00:08:43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02:44:08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00:01:40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239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03:24:18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00:08:18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03:15:56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00:01:59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251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04:49:22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00:08:35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04:40:43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00:02:31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79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424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03:09:03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00:09:31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02:59:31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00:02:06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225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02:51:49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00:08:18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02:43:29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00:02:03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198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383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03:28:29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00:08:07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03:20:21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00:01:33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172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423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03:18:28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00:09:14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03:09:12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00:01:56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388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03:53:36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00:09:22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03:44:12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00:02:12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386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05:25:54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00:09:21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05:16:30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00:02:54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79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424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03:38:18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00:09:18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03:28:57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00:02:27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228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03:23:04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00:09:27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03:13:34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00:02:32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179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395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03:56:15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00:09:09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03:47:03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00:01:43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217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380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9D2D9E73-DB8E-4A50-A3C1-56530A615B21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 wall：G0→G20；G1–20：世代耗時加總；測試對戰：600 場時間跨度，排除編譯與 Integration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352ED16F-CE03-44CF-9C5C-D9DE152651D7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5BAC0FA6-7C69-45C2-9C69-62B5D3AB4712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0115555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196CCC97-BCE3-432C-9DE2-71032704FCEB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10034587" y="4357687"/>
            <a:ext cx="1114425" cy="0"/>
          </a:xfrm>
          <a:prstGeom prst="straightConnector1">
            <a:avLst/>
          </a:prstGeom>
          <a:ln w="23813">
            <a:solidFill>
              <a:srgbClr val="CF8792"/>
            </a:solidFill>
            <a:tailEnd type="triangle" w="med" len="med"/>
          </a:ln>
        </p:spPr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A2104443-9E15-4C50-97A0-16D03E6AAD3D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776787" y="4357687"/>
            <a:ext cx="1114425" cy="0"/>
          </a:xfrm>
          <a:prstGeom prst="straightConnector1">
            <a:avLst/>
          </a:prstGeom>
          <a:ln w="23813">
            <a:solidFill>
              <a:srgbClr val="CF8792"/>
            </a:solidFill>
            <a:tailEnd type="triangle" w="med" len="med"/>
          </a:ln>
        </p:spPr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1255A6B3-CD1C-446B-8FB6-32CF344C6630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Nearest-Behavior Mating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6353E6-AF1D-4355-A647-67A909267CDA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438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rPr>
              <a:t>交配利用相似行為；Survivor 邊界選擇維持行為多樣性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95C34DC2-C5C9-4F76-AAED-F9549D161989}"/>
              </a:ext>
            </a:extLst>
          </p:cNvPr>
          <p:cNvSpPr>
            <a:spLocks noGrp="1"/>
          </p:cNvSpPr>
          <p:nvPr/>
        </p:nvSpPr>
        <p:spPr>
          <a:xfrm>
            <a:off x="633412" y="3857624"/>
            <a:ext cx="4143375" cy="1000125"/>
          </a:xfrm>
          <a:prstGeom prst="roundRect">
            <a:avLst>
              <a:gd name="adj" fmla="val 7619"/>
            </a:avLst>
          </a:prstGeom>
          <a:solidFill>
            <a:srgbClr val="F4E7EB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Scalar Game Performance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最高 Fitness Tier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42C5B57E-0358-453C-B57B-101C2F2DF19C}"/>
              </a:ext>
            </a:extLst>
          </p:cNvPr>
          <p:cNvSpPr>
            <a:spLocks noGrp="1"/>
          </p:cNvSpPr>
          <p:nvPr/>
        </p:nvSpPr>
        <p:spPr>
          <a:xfrm>
            <a:off x="5891212" y="3857624"/>
            <a:ext cx="4143375" cy="1000125"/>
          </a:xfrm>
          <a:prstGeom prst="roundRect">
            <a:avLst>
              <a:gd name="adj" fmla="val 7619"/>
            </a:avLst>
          </a:prstGeom>
          <a:solidFill>
            <a:srgbClr val="F4E7EB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同級有其他個體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排除 Parent A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8650E9A8-7F67-4309-9F57-2D8CF63B894A}"/>
              </a:ext>
            </a:extLst>
          </p:cNvPr>
          <p:cNvSpPr>
            <a:spLocks noGrp="1"/>
          </p:cNvSpPr>
          <p:nvPr/>
        </p:nvSpPr>
        <p:spPr>
          <a:xfrm>
            <a:off x="11149012" y="3857624"/>
            <a:ext cx="4143375" cy="1000125"/>
          </a:xfrm>
          <a:prstGeom prst="roundRect">
            <a:avLst>
              <a:gd name="adj" fmla="val 7619"/>
            </a:avLst>
          </a:prstGeom>
          <a:solidFill>
            <a:srgbClr val="FAEDC6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相容 Behavior Signatures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選最小語意距離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32A2B9C-42C2-4DC2-9D8A-01BFF7F2AD13}"/>
              </a:ext>
            </a:extLst>
          </p:cNvPr>
          <p:cNvSpPr>
            <a:spLocks noGrp="1"/>
          </p:cNvSpPr>
          <p:nvPr/>
        </p:nvSpPr>
        <p:spPr>
          <a:xfrm>
            <a:off x="628650" y="8029575"/>
            <a:ext cx="145732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Fixed-roster lexicase 不受影響。Nearest 的收斂與最終成效，仍需共同對手集合的受控比較。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BD3C2FB0-0A0D-4E9E-A475-43D695DA054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14712517-A916-4078-ABC9-E29BDC56E4FE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45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58</a:t>
            </a:r>
          </a:p>
        </p:txBody>
      </p:sp>
    </p:spTree>
    <p:extLst>
      <p:ext uri="{BB962C8B-B14F-4D97-AF65-F5344CB8AC3E}">
        <p14:creationId xmlns:p14="http://schemas.microsoft.com/office/powerpoint/2010/main" val="6340221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01C499F5-43A9-4F74-A404-03DEE8790D03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0029825" y="4810125"/>
            <a:ext cx="1114425" cy="0"/>
          </a:xfrm>
          <a:prstGeom prst="straightConnector1">
            <a:avLst/>
          </a:prstGeom>
          <a:ln w="23813">
            <a:solidFill>
              <a:srgbClr val="CF8792"/>
            </a:solidFill>
            <a:tailEnd type="triangle" w="med" len="med"/>
          </a:ln>
        </p:spPr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4E4B316C-FED3-438F-8D8F-C61B3CBAE363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772025" y="4810125"/>
            <a:ext cx="1114425" cy="0"/>
          </a:xfrm>
          <a:prstGeom prst="straightConnector1">
            <a:avLst/>
          </a:prstGeom>
          <a:ln w="23813">
            <a:solidFill>
              <a:srgbClr val="CF8792"/>
            </a:solidFill>
            <a:tailEnd type="triangle" w="med" len="med"/>
          </a:ln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C180AC3C-99A3-49FC-93EF-78DC5A92C7F1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Whole-Framework Reflection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02C07FE-B903-432E-8AFC-585FACEDBE77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438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rPr>
              <a:t>每五代於對手刷新邊界，以前一代 Survivor 提出新 Framework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9FD83CF-949B-4CC5-BE46-C0C5DE1872C0}"/>
              </a:ext>
            </a:extLst>
          </p:cNvPr>
          <p:cNvGraphicFramePr/>
          <p:nvPr/>
        </p:nvGraphicFramePr>
        <p:xfrm>
          <a:off x="628650" y="2000250"/>
          <a:ext cx="14668500" cy="1285876"/>
        </p:xfrm>
        <a:graphic>
          <a:graphicData uri="http://schemas.openxmlformats.org/drawingml/2006/table">
            <a:tbl>
              <a:tblPr/>
              <a:tblGrid>
                <a:gridCol w="244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7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7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7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G0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G1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G6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G11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G16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G20 結束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初始化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初始對手快照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使用 G5 Survivors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使用 G10 Survivors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使用 G15 Survivors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不額外反思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矩形: 圓角 3">
            <a:extLst>
              <a:ext uri="{FF2B5EF4-FFF2-40B4-BE49-F238E27FC236}">
                <a16:creationId xmlns:a16="http://schemas.microsoft.com/office/drawing/2014/main" id="{36087651-B7F5-4FC1-B481-D437EE042878}"/>
              </a:ext>
            </a:extLst>
          </p:cNvPr>
          <p:cNvSpPr>
            <a:spLocks noGrp="1"/>
          </p:cNvSpPr>
          <p:nvPr/>
        </p:nvSpPr>
        <p:spPr>
          <a:xfrm>
            <a:off x="628650" y="4095750"/>
            <a:ext cx="4143375" cy="1428750"/>
          </a:xfrm>
          <a:prstGeom prst="roundRect">
            <a:avLst>
              <a:gd name="adj" fmla="val 5333"/>
            </a:avLst>
          </a:prstGeom>
          <a:solidFill>
            <a:srgbClr val="F4E7EB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全部 Survivor 證據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Description、Genome、Fitness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當前 Framework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A5779FB-126C-40C6-9297-815A4F92FBD4}"/>
              </a:ext>
            </a:extLst>
          </p:cNvPr>
          <p:cNvSpPr>
            <a:spLocks noGrp="1"/>
          </p:cNvSpPr>
          <p:nvPr/>
        </p:nvSpPr>
        <p:spPr>
          <a:xfrm>
            <a:off x="5886450" y="4095750"/>
            <a:ext cx="4143375" cy="1428750"/>
          </a:xfrm>
          <a:prstGeom prst="roundRect">
            <a:avLst>
              <a:gd name="adj" fmla="val 5333"/>
            </a:avLst>
          </a:prstGeom>
          <a:solidFill>
            <a:srgbClr val="FAEDC6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本地 Qwen3.5-9B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重新設計 Java 與 Typed Slots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683991D9-AEB1-47B0-90CB-F29854EF80AF}"/>
              </a:ext>
            </a:extLst>
          </p:cNvPr>
          <p:cNvSpPr>
            <a:spLocks noGrp="1"/>
          </p:cNvSpPr>
          <p:nvPr/>
        </p:nvSpPr>
        <p:spPr>
          <a:xfrm>
            <a:off x="11144250" y="4095750"/>
            <a:ext cx="4143375" cy="1428750"/>
          </a:xfrm>
          <a:prstGeom prst="roundRect">
            <a:avLst>
              <a:gd name="adj" fmla="val 5333"/>
            </a:avLst>
          </a:prstGeom>
          <a:solidFill>
            <a:srgbClr val="F4E7EB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Schema／Java／Compilation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Default、Choices、Endpoints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Transition Genome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A46D21-A0D4-4551-BB53-104D2301A781}"/>
              </a:ext>
            </a:extLst>
          </p:cNvPr>
          <p:cNvSpPr>
            <a:spLocks noGrp="1"/>
          </p:cNvSpPr>
          <p:nvPr/>
        </p:nvSpPr>
        <p:spPr>
          <a:xfrm>
            <a:off x="628650" y="6096000"/>
            <a:ext cx="14382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提案失敗：最多 3 次診斷導向修復；仍失敗則保留舊 Framework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8345344-CBAF-4C6A-838E-7C34A2071DC4}"/>
              </a:ext>
            </a:extLst>
          </p:cNvPr>
          <p:cNvSpPr>
            <a:spLocks noGrp="1"/>
          </p:cNvSpPr>
          <p:nvPr/>
        </p:nvSpPr>
        <p:spPr>
          <a:xfrm>
            <a:off x="628650" y="6905625"/>
            <a:ext cx="14382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允許修改 Slot 數量、類型、Domain 及策略規則，仍需遵守 CandidateAgent 介面與安全限制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3AAD47-580F-46A9-9530-487B6F6E9DC6}"/>
              </a:ext>
            </a:extLst>
          </p:cNvPr>
          <p:cNvSpPr>
            <a:spLocks noGrp="1"/>
          </p:cNvSpPr>
          <p:nvPr/>
        </p:nvSpPr>
        <p:spPr>
          <a:xfrm>
            <a:off x="628650" y="8029575"/>
            <a:ext cx="145732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這些檢查涵蓋指定樣本與端點，不代表已窮舉所有 Slot 組合。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BD3C2FB0-0A0D-4E9E-A475-43D695DA054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FC08697A-E13C-4532-8C38-F5D4848A1CAC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46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58</a:t>
            </a:r>
          </a:p>
        </p:txBody>
      </p:sp>
    </p:spTree>
    <p:extLst>
      <p:ext uri="{BB962C8B-B14F-4D97-AF65-F5344CB8AC3E}">
        <p14:creationId xmlns:p14="http://schemas.microsoft.com/office/powerpoint/2010/main" val="19642456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51CDF719-B28B-46C3-91E3-8831B71627D4}"/>
              </a:ext>
            </a:extLst>
          </p:cNvPr>
          <p:cNvCxnSpPr>
            <a:stCxn id="9" idx="1"/>
            <a:endCxn id="8" idx="3"/>
          </p:cNvCxnSpPr>
          <p:nvPr/>
        </p:nvCxnSpPr>
        <p:spPr>
          <a:xfrm flipH="1">
            <a:off x="4772025" y="5000625"/>
            <a:ext cx="1114425" cy="0"/>
          </a:xfrm>
          <a:prstGeom prst="straightConnector1">
            <a:avLst/>
          </a:prstGeom>
          <a:ln w="23813">
            <a:solidFill>
              <a:srgbClr val="CF8792"/>
            </a:solidFill>
            <a:tailEnd type="triangle" w="med" len="med"/>
          </a:ln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C51C1B5C-8062-4019-A6AE-3DC090EA09D2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10029825" y="5000625"/>
            <a:ext cx="1114425" cy="0"/>
          </a:xfrm>
          <a:prstGeom prst="straightConnector1">
            <a:avLst/>
          </a:prstGeom>
          <a:ln w="23813">
            <a:solidFill>
              <a:srgbClr val="CF8792"/>
            </a:solidFill>
            <a:tailEnd type="triangle" w="med" len="med"/>
          </a:ln>
        </p:spPr>
      </p:cxnSp>
      <p:cxnSp>
        <p:nvCxnSpPr>
          <p:cNvPr id="11" name="接點: 肘形 10">
            <a:extLst>
              <a:ext uri="{FF2B5EF4-FFF2-40B4-BE49-F238E27FC236}">
                <a16:creationId xmlns:a16="http://schemas.microsoft.com/office/drawing/2014/main" id="{45BFEB53-81C8-4A26-B76F-78C78ED66645}"/>
              </a:ext>
            </a:extLst>
          </p:cNvPr>
          <p:cNvCxnSpPr>
            <a:stCxn id="5" idx="2"/>
            <a:endCxn id="9" idx="0"/>
          </p:cNvCxnSpPr>
          <p:nvPr/>
        </p:nvCxnSpPr>
        <p:spPr>
          <a:xfrm flipH="1">
            <a:off x="7958138" y="3143250"/>
            <a:ext cx="5257800" cy="1285875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CF8792"/>
            </a:solidFill>
            <a:tailEnd type="triangle" w="med" len="med"/>
          </a:ln>
        </p:spPr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BEAB12C9-7FB3-4BA8-8D5E-140782CB4502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10029825" y="2643188"/>
            <a:ext cx="1114425" cy="0"/>
          </a:xfrm>
          <a:prstGeom prst="straightConnector1">
            <a:avLst/>
          </a:prstGeom>
          <a:ln w="23813">
            <a:solidFill>
              <a:srgbClr val="CF8792"/>
            </a:solidFill>
            <a:tailEnd type="triangle" w="med" len="med"/>
          </a:ln>
        </p:spPr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F65DC1C2-E1B1-4BC7-B70D-770C1E29CBFF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772025" y="2643188"/>
            <a:ext cx="1114425" cy="0"/>
          </a:xfrm>
          <a:prstGeom prst="straightConnector1">
            <a:avLst/>
          </a:prstGeom>
          <a:ln w="23813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EEB08F9B-E1A6-497D-B80F-B55A34DFA9DF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Strategy Revision 與 Genome Migration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A9C750-B5DD-47DE-8847-C53F4E975F0D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438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rPr>
              <a:t>策略描述跨版本保存意圖，完整 Genome 決定實際執行行為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62C7AB37-36B1-4DCD-87FF-AEF91FC38618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4143375" cy="1000125"/>
          </a:xfrm>
          <a:prstGeom prst="roundRect">
            <a:avLst>
              <a:gd name="adj" fmla="val 7619"/>
            </a:avLst>
          </a:prstGeom>
          <a:solidFill>
            <a:srgbClr val="F4E7EB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舊 Framework＋Survivors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策略描述、Genome、Fitness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B5341375-D0AA-4AB3-8C40-9E27FCBED120}"/>
              </a:ext>
            </a:extLst>
          </p:cNvPr>
          <p:cNvSpPr>
            <a:spLocks noGrp="1"/>
          </p:cNvSpPr>
          <p:nvPr/>
        </p:nvSpPr>
        <p:spPr>
          <a:xfrm>
            <a:off x="5886450" y="2143125"/>
            <a:ext cx="4143375" cy="1000125"/>
          </a:xfrm>
          <a:prstGeom prst="roundRect">
            <a:avLst>
              <a:gd name="adj" fmla="val 7619"/>
            </a:avLst>
          </a:prstGeom>
          <a:solidFill>
            <a:srgbClr val="FAEDC6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Strategy Revision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每個來源 ID 都需對應描述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17A5C74E-F2D3-4EEB-8200-0EDB92F20CBD}"/>
              </a:ext>
            </a:extLst>
          </p:cNvPr>
          <p:cNvSpPr>
            <a:spLocks noGrp="1"/>
          </p:cNvSpPr>
          <p:nvPr/>
        </p:nvSpPr>
        <p:spPr>
          <a:xfrm>
            <a:off x="11144250" y="2143125"/>
            <a:ext cx="4143375" cy="1000125"/>
          </a:xfrm>
          <a:prstGeom prst="roundRect">
            <a:avLst>
              <a:gd name="adj" fmla="val 7619"/>
            </a:avLst>
          </a:prstGeom>
          <a:solidFill>
            <a:srgbClr val="F4E7EB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獨立 Coach Migration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新舊 Framework＋修訂描述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FD1F7BA-3AD9-4A2A-A6DE-5A69300F7FD4}"/>
              </a:ext>
            </a:extLst>
          </p:cNvPr>
          <p:cNvSpPr>
            <a:spLocks noGrp="1"/>
          </p:cNvSpPr>
          <p:nvPr/>
        </p:nvSpPr>
        <p:spPr>
          <a:xfrm>
            <a:off x="628650" y="4429125"/>
            <a:ext cx="4143375" cy="1143000"/>
          </a:xfrm>
          <a:prstGeom prst="roundRect">
            <a:avLst>
              <a:gd name="adj" fmla="val 6667"/>
            </a:avLst>
          </a:prstGeom>
          <a:solidFill>
            <a:srgbClr val="F4E7EB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更新失敗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回復舊版並繼續演化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4534245-A335-4C8F-BABF-8CF0A45C527D}"/>
              </a:ext>
            </a:extLst>
          </p:cNvPr>
          <p:cNvSpPr>
            <a:spLocks noGrp="1"/>
          </p:cNvSpPr>
          <p:nvPr/>
        </p:nvSpPr>
        <p:spPr>
          <a:xfrm>
            <a:off x="5886450" y="4429125"/>
            <a:ext cx="4143375" cy="1143000"/>
          </a:xfrm>
          <a:prstGeom prst="roundRect">
            <a:avLst>
              <a:gd name="adj" fmla="val 6667"/>
            </a:avLst>
          </a:prstGeom>
          <a:solidFill>
            <a:srgbClr val="FAEDC6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完整新 Genome 驗證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Parent Replica 重新評估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4F4B68DB-3953-4573-9750-DEFF8467E887}"/>
              </a:ext>
            </a:extLst>
          </p:cNvPr>
          <p:cNvSpPr>
            <a:spLocks noGrp="1"/>
          </p:cNvSpPr>
          <p:nvPr/>
        </p:nvSpPr>
        <p:spPr>
          <a:xfrm>
            <a:off x="11144250" y="4429125"/>
            <a:ext cx="4143375" cy="1143000"/>
          </a:xfrm>
          <a:prstGeom prst="roundRect">
            <a:avLst>
              <a:gd name="adj" fmla="val 6667"/>
            </a:avLst>
          </a:prstGeom>
          <a:solidFill>
            <a:srgbClr val="F4E7EB"/>
          </a:solidFill>
          <a:ln w="0">
            <a:noFill/>
          </a:ln>
        </p:spPr>
        <p:txBody>
          <a:bodyPr wrap="square" lIns="114300" tIns="114300" rIns="114300" bIns="114300" anchor="ctr"/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 Generation Snapshot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才正式啟用新 Framework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4F1CE8-1842-4F08-B68D-2C636ED3D85A}"/>
              </a:ext>
            </a:extLst>
          </p:cNvPr>
          <p:cNvSpPr>
            <a:spLocks noGrp="1"/>
          </p:cNvSpPr>
          <p:nvPr/>
        </p:nvSpPr>
        <p:spPr>
          <a:xfrm>
            <a:off x="628650" y="6191250"/>
            <a:ext cx="14382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Local 子代繼承 A 的 description；crossover／mutation 不改寫描述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5DABE63-8011-4DD1-BEE9-591D65C288C7}"/>
              </a:ext>
            </a:extLst>
          </p:cNvPr>
          <p:cNvSpPr>
            <a:spLocks noGrp="1"/>
          </p:cNvSpPr>
          <p:nvPr/>
        </p:nvSpPr>
        <p:spPr>
          <a:xfrm>
            <a:off x="628650" y="7000875"/>
            <a:ext cx="14382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Migration 不以預設值填補不相容 Slots。Resume 使用 checkpoint 指定版本，忽略未完成的反思。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DDBA199-9118-4F0E-8606-0BE502203A4B}"/>
              </a:ext>
            </a:extLst>
          </p:cNvPr>
          <p:cNvSpPr>
            <a:spLocks noGrp="1"/>
          </p:cNvSpPr>
          <p:nvPr/>
        </p:nvSpPr>
        <p:spPr>
          <a:xfrm>
            <a:off x="628650" y="8029575"/>
            <a:ext cx="145732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版本：framework/versions/&lt;sha256&gt;/bundle.json；描述可能與後續 local mutation 的實際行為出現落差。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BD3C2FB0-0A0D-4E9E-A475-43D695DA054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3C29C0E6-85E7-4964-BB2C-DCB5D7ED3E44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47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58</a:t>
            </a:r>
          </a:p>
        </p:txBody>
      </p:sp>
    </p:spTree>
    <p:extLst>
      <p:ext uri="{BB962C8B-B14F-4D97-AF65-F5344CB8AC3E}">
        <p14:creationId xmlns:p14="http://schemas.microsoft.com/office/powerpoint/2010/main" val="17697315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F5768B9-F7E2-4E18-AE55-5D156B17C96A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三個版本的實驗完成度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94EF3A-FDB3-49A8-9C84-A8736C134FB2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438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rPr>
              <a:t>10/29 資料補充；承接前頁的歷史快照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0FD6CA9-239B-4BF9-8715-61F6A8063540}"/>
              </a:ext>
            </a:extLst>
          </p:cNvPr>
          <p:cNvGraphicFramePr/>
          <p:nvPr/>
        </p:nvGraphicFramePr>
        <p:xfrm>
          <a:off x="628650" y="2047875"/>
          <a:ext cx="14668500" cy="4286250"/>
        </p:xfrm>
        <a:graphic>
          <a:graphicData uri="http://schemas.openxmlformats.org/drawingml/2006/table">
            <a:tbl>
              <a:tblPr/>
              <a:tblGrid>
                <a:gridCol w="447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版本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世代 × 個體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完成 Seeds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Reflection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最近個體交配第一版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 × 10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8–13，共 6 runs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無 Framework Reflection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整體 Framework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 × 10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8–13，共 6 runs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G6、G11、G16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整體 Framework 延伸版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50 × 10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8、9，共 2 runs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G6、G11…G46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僅 Framework Options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50 × 10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8，共 1 run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G6、G11…G46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2E35DC52-5DF8-48CC-8BB1-17166B935332}"/>
              </a:ext>
            </a:extLst>
          </p:cNvPr>
          <p:cNvSpPr>
            <a:spLocks noGrp="1"/>
          </p:cNvSpPr>
          <p:nvPr/>
        </p:nvSpPr>
        <p:spPr>
          <a:xfrm>
            <a:off x="628650" y="6667500"/>
            <a:ext cx="14382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每完成五代，在下一代開始前 Reflection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7FF7FE-DA96-4766-9568-C64B29812F51}"/>
              </a:ext>
            </a:extLst>
          </p:cNvPr>
          <p:cNvSpPr>
            <a:spLocks noGrp="1"/>
          </p:cNvSpPr>
          <p:nvPr/>
        </p:nvSpPr>
        <p:spPr>
          <a:xfrm>
            <a:off x="628650" y="7381875"/>
            <a:ext cx="14382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20 代兩組共用 b2daa…；50 代兩組初始 Framework 不同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26AAAD-594C-429E-9459-325065379212}"/>
              </a:ext>
            </a:extLst>
          </p:cNvPr>
          <p:cNvSpPr>
            <a:spLocks noGrp="1"/>
          </p:cNvSpPr>
          <p:nvPr/>
        </p:nvSpPr>
        <p:spPr>
          <a:xfrm>
            <a:off x="628650" y="8029575"/>
            <a:ext cx="145732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完成狀態依使用者提供快照；前頁 10/24「尚未確認」保留為歷史紀錄。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BD3C2FB0-0A0D-4E9E-A475-43D695DA054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FEAA533F-D42E-4C4A-A46A-0B8C1DDAF987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48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58</a:t>
            </a:r>
          </a:p>
        </p:txBody>
      </p:sp>
    </p:spTree>
    <p:extLst>
      <p:ext uri="{BB962C8B-B14F-4D97-AF65-F5344CB8AC3E}">
        <p14:creationId xmlns:p14="http://schemas.microsoft.com/office/powerpoint/2010/main" val="22514780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4BB610E-E3C5-48B0-9B2B-F48A14DB95BF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20 代：最終代最佳 Training Fitness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8E49DF0-298C-494F-B1FD-3F9191EFA637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438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rPr>
              <a:t>相同 Seeds 8–13、相同初始 Framework b2daa…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E1B650A-8F3C-47FB-ADE8-CE48EDB89EDD}"/>
              </a:ext>
            </a:extLst>
          </p:cNvPr>
          <p:cNvGraphicFramePr/>
          <p:nvPr/>
        </p:nvGraphicFramePr>
        <p:xfrm>
          <a:off x="628650" y="1952625"/>
          <a:ext cx="14668500" cy="561975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2469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最近個體交配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整體 Reflection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差值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2.068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8.540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+6.472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23.514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26.632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+3.118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-14.280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5.388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+19.669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17.450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14.541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-2.909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12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13.635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2.420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-11.216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21.738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29.915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+8.177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平均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10.688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14.573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+3.885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CF2D5833-C99B-4A77-8F7E-7BFE2C56E7B7}"/>
              </a:ext>
            </a:extLst>
          </p:cNvPr>
          <p:cNvSpPr>
            <a:spLocks noGrp="1"/>
          </p:cNvSpPr>
          <p:nvPr/>
        </p:nvSpPr>
        <p:spPr>
          <a:xfrm>
            <a:off x="628650" y="8029575"/>
            <a:ext cx="145732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保留來源的小數精度；差值由原始值計算，可能與表列四捨五入值相差 0.001。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D3C2FB0-0A0D-4E9E-A475-43D695DA054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C3E0B78D-AA89-4F6D-AD4C-341626772EA2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49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58</a:t>
            </a:r>
          </a:p>
        </p:txBody>
      </p:sp>
    </p:spTree>
    <p:extLst>
      <p:ext uri="{BB962C8B-B14F-4D97-AF65-F5344CB8AC3E}">
        <p14:creationId xmlns:p14="http://schemas.microsoft.com/office/powerpoint/2010/main" val="30733587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371C10B-3ABC-4FBD-B495-AA7B17874445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20 代：平均 Fitness 增加，Seed 間波動大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08588C-1268-49A3-A928-C316B3A80802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438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rPr>
              <a:t>Reflection 在 6 個 Seeds 中有 4 個提升、2 個下降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CFC81946-9F76-4BE7-934C-1B63655CD816}"/>
              </a:ext>
            </a:extLst>
          </p:cNvPr>
          <p:cNvGraphicFramePr/>
          <p:nvPr/>
        </p:nvGraphicFramePr>
        <p:xfrm>
          <a:off x="628650" y="2047875"/>
          <a:ext cx="10572750" cy="552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41F1A130-8E67-403E-A7B3-40FFD9F869CA}"/>
              </a:ext>
            </a:extLst>
          </p:cNvPr>
          <p:cNvSpPr>
            <a:spLocks noGrp="1"/>
          </p:cNvSpPr>
          <p:nvPr/>
        </p:nvSpPr>
        <p:spPr>
          <a:xfrm>
            <a:off x="11620500" y="2667000"/>
            <a:ext cx="352425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0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0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0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0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0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0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0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0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0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0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30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平均增加</a:t>
            </a:r>
          </a:p>
          <a:p>
            <a:pPr>
              <a:defRPr sz="30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+3.885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E32B67-9F9A-4AD6-8268-563BD101BA1F}"/>
              </a:ext>
            </a:extLst>
          </p:cNvPr>
          <p:cNvSpPr>
            <a:spLocks noGrp="1"/>
          </p:cNvSpPr>
          <p:nvPr/>
        </p:nvSpPr>
        <p:spPr>
          <a:xfrm>
            <a:off x="11620500" y="4905375"/>
            <a:ext cx="352425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邊界 Reflection</a:t>
            </a:r>
          </a:p>
          <a:p>
            <a: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 次</a:t>
            </a:r>
          </a:p>
          <a:p>
            <a: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16 成功／2 Rollback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5EE5A4-FDEA-4B28-AA06-BDCDD60C7F47}"/>
              </a:ext>
            </a:extLst>
          </p:cNvPr>
          <p:cNvSpPr>
            <a:spLocks noGrp="1"/>
          </p:cNvSpPr>
          <p:nvPr/>
        </p:nvSpPr>
        <p:spPr>
          <a:xfrm>
            <a:off x="628650" y="8029575"/>
            <a:ext cx="145732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Training Fitness 受 Run 內對手快照影響；泛化表現另看共同固定 Roster 的 Final Test。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BD3C2FB0-0A0D-4E9E-A475-43D695DA054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582F60A0-E7DF-4FB9-B4C1-54307B2BBF35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50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58</a:t>
            </a:r>
          </a:p>
        </p:txBody>
      </p:sp>
    </p:spTree>
    <p:extLst>
      <p:ext uri="{BB962C8B-B14F-4D97-AF65-F5344CB8AC3E}">
        <p14:creationId xmlns:p14="http://schemas.microsoft.com/office/powerpoint/2010/main" val="21092435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064F11F-BE28-4BAD-ABB4-B6FAE10B11D3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20 代：固定對手測試幾乎持平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EF8EA95-58FD-4F99-80A0-8C0C08F9566A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438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rPr>
              <a:t>每 Run 600 場；每組 6 Seeds，共 3,600 場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2706D8A-4C45-4408-8918-9F118C693FED}"/>
              </a:ext>
            </a:extLst>
          </p:cNvPr>
          <p:cNvGraphicFramePr/>
          <p:nvPr/>
        </p:nvGraphicFramePr>
        <p:xfrm>
          <a:off x="628650" y="2000250"/>
          <a:ext cx="14668500" cy="2381250"/>
        </p:xfrm>
        <a:graphic>
          <a:graphicData uri="http://schemas.openxmlformats.org/drawingml/2006/table">
            <a:tbl>
              <a:tblPr/>
              <a:tblGrid>
                <a:gridCol w="466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3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版本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勝–和–敗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純勝率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計分率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最近個體交配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1251–45–2304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34.75%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35.38%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整體 Reflection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1257–52–2291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34.92%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35.64%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C1DA850C-5EA2-48BE-B16E-FF5F32F43F4F}"/>
              </a:ext>
            </a:extLst>
          </p:cNvPr>
          <p:cNvGraphicFramePr/>
          <p:nvPr/>
        </p:nvGraphicFramePr>
        <p:xfrm>
          <a:off x="628650" y="4810125"/>
          <a:ext cx="809625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8F4A56BE-AD5B-4304-A68A-469595A0B77B}"/>
              </a:ext>
            </a:extLst>
          </p:cNvPr>
          <p:cNvSpPr>
            <a:spLocks noGrp="1"/>
          </p:cNvSpPr>
          <p:nvPr/>
        </p:nvSpPr>
        <p:spPr>
          <a:xfrm>
            <a:off x="9239250" y="5048250"/>
            <a:ext cx="5905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純勝率僅增加 0.17 個百分點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7A947C0-E071-4E01-8735-D19FF8696771}"/>
              </a:ext>
            </a:extLst>
          </p:cNvPr>
          <p:cNvSpPr>
            <a:spLocks noGrp="1"/>
          </p:cNvSpPr>
          <p:nvPr/>
        </p:nvSpPr>
        <p:spPr>
          <a:xfrm>
            <a:off x="9239250" y="6334125"/>
            <a:ext cx="5905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尚無穩定泛化提升的證據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8C61E6B-5A28-4B61-A028-72E18F5D7188}"/>
              </a:ext>
            </a:extLst>
          </p:cNvPr>
          <p:cNvSpPr>
            <a:spLocks noGrp="1"/>
          </p:cNvSpPr>
          <p:nvPr/>
        </p:nvSpPr>
        <p:spPr>
          <a:xfrm>
            <a:off x="628650" y="8029575"/>
            <a:ext cx="145732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計分率 =（勝＋0.5 × 和）／總場次。Fitness 改善與共同測試改善分別判讀。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BD3C2FB0-0A0D-4E9E-A475-43D695DA054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515311DD-5591-4C2F-81DE-C86C421AF37F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51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58</a:t>
            </a:r>
          </a:p>
        </p:txBody>
      </p:sp>
    </p:spTree>
    <p:extLst>
      <p:ext uri="{BB962C8B-B14F-4D97-AF65-F5344CB8AC3E}">
        <p14:creationId xmlns:p14="http://schemas.microsoft.com/office/powerpoint/2010/main" val="33865536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128B570-E697-49A9-8696-87DD60226339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 代：已完成 Runs 的結果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BE42754-68A1-4FF1-B42F-77CDCB28CC5A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438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rPr>
              <a:t>每 Run 600 場 Final Test；Options 僅完成 Seed 8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84C94A2-02F4-4E24-A7C5-039D17127266}"/>
              </a:ext>
            </a:extLst>
          </p:cNvPr>
          <p:cNvGraphicFramePr/>
          <p:nvPr/>
        </p:nvGraphicFramePr>
        <p:xfrm>
          <a:off x="628650" y="2095500"/>
          <a:ext cx="14668500" cy="333375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334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版本／Seed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最終代最佳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Run 內最高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勝–和–敗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勝率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時間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整體／8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-4.484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25.281 @ G10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305–5–290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50.83%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8.81 h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整體／9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-19.585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13.955 @ G20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215–4–381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35.83%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9.09 h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Options／8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16.893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30.030 @ G20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299–15–286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49.83%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8.48 h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8F40C218-19E9-4278-BF1A-7E676FC8C165}"/>
              </a:ext>
            </a:extLst>
          </p:cNvPr>
          <p:cNvSpPr>
            <a:spLocks noGrp="1"/>
          </p:cNvSpPr>
          <p:nvPr/>
        </p:nvSpPr>
        <p:spPr>
          <a:xfrm>
            <a:off x="628650" y="5905500"/>
            <a:ext cx="14382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8 勝率相差 1.00 個百分點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D9BBB9-7493-4BF3-A484-1C825485F970}"/>
              </a:ext>
            </a:extLst>
          </p:cNvPr>
          <p:cNvSpPr>
            <a:spLocks noGrp="1"/>
          </p:cNvSpPr>
          <p:nvPr/>
        </p:nvSpPr>
        <p:spPr>
          <a:xfrm>
            <a:off x="628650" y="6762750"/>
            <a:ext cx="14382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 Framework：整體 abb8b57…；Options f674a58…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B775B92-2367-41A2-8A67-97A2AD8176A7}"/>
              </a:ext>
            </a:extLst>
          </p:cNvPr>
          <p:cNvSpPr>
            <a:spLocks noGrp="1"/>
          </p:cNvSpPr>
          <p:nvPr/>
        </p:nvSpPr>
        <p:spPr>
          <a:xfrm>
            <a:off x="628650" y="8029575"/>
            <a:ext cx="145732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兩組初始 Bundle 不同，無法把差異單獨歸因於 Reflection 範圍。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BD3C2FB0-0A0D-4E9E-A475-43D695DA054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0405C8BF-0F2A-48F1-8D40-F64C7C037F96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52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58</a:t>
            </a:r>
          </a:p>
        </p:txBody>
      </p:sp>
    </p:spTree>
    <p:extLst>
      <p:ext uri="{BB962C8B-B14F-4D97-AF65-F5344CB8AC3E}">
        <p14:creationId xmlns:p14="http://schemas.microsoft.com/office/powerpoint/2010/main" val="14585588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36A41BA-A7A2-4873-978D-37D3DFB42EE3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 代：Final Test 與時間比較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0C8A14F-E0BD-4D97-A773-1008BFE4902B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438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rPr>
              <a:t>僅呈現 3 個完成 Runs；樣本數與初始 Framework 限制推論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8859528D-7FC3-40F2-A062-FC08F0343520}"/>
              </a:ext>
            </a:extLst>
          </p:cNvPr>
          <p:cNvGraphicFramePr/>
          <p:nvPr/>
        </p:nvGraphicFramePr>
        <p:xfrm>
          <a:off x="628650" y="2381250"/>
          <a:ext cx="7048500" cy="4762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B5F89E15-1A9E-466D-86BF-4942516B57D4}"/>
              </a:ext>
            </a:extLst>
          </p:cNvPr>
          <p:cNvGraphicFramePr/>
          <p:nvPr/>
        </p:nvGraphicFramePr>
        <p:xfrm>
          <a:off x="8286750" y="2381250"/>
          <a:ext cx="7048500" cy="4762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EF8C8050-F496-4D9C-A226-31DC2108468C}"/>
              </a:ext>
            </a:extLst>
          </p:cNvPr>
          <p:cNvSpPr>
            <a:spLocks noGrp="1"/>
          </p:cNvSpPr>
          <p:nvPr/>
        </p:nvSpPr>
        <p:spPr>
          <a:xfrm>
            <a:off x="628650" y="8029575"/>
            <a:ext cx="145732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時間沿用來源彙整值；未提供計時起訖與 G0／各世代拆分，尚無成本效率結論。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D3C2FB0-0A0D-4E9E-A475-43D695DA054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750F816B-FE1C-4DF9-9D7F-F4D31D374E33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53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58</a:t>
            </a:r>
          </a:p>
        </p:txBody>
      </p:sp>
    </p:spTree>
    <p:extLst>
      <p:ext uri="{BB962C8B-B14F-4D97-AF65-F5344CB8AC3E}">
        <p14:creationId xmlns:p14="http://schemas.microsoft.com/office/powerpoint/2010/main" val="21929547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EFD4B89F-117C-447F-B708-1B2121C1C902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未完成資料與比較結論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46A3B6E-383D-419D-8A2D-790A954505E7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438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rPr>
              <a:t>中斷 Runs 不列入完成樣本或 Final Test 彙總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B07C75C-875A-4F07-9DC6-94FF68C32487}"/>
              </a:ext>
            </a:extLst>
          </p:cNvPr>
          <p:cNvGraphicFramePr/>
          <p:nvPr/>
        </p:nvGraphicFramePr>
        <p:xfrm>
          <a:off x="628650" y="2000250"/>
          <a:ext cx="14668500" cy="3143250"/>
        </p:xfrm>
        <a:graphic>
          <a:graphicData uri="http://schemas.openxmlformats.org/drawingml/2006/table">
            <a:tbl>
              <a:tblPr/>
              <a:tblGrid>
                <a:gridCol w="40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7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581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版本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未完成狀態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整體 Framework 50 代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 10：G0 前中斷；Seeds 11–13：未建立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Options 50 代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 9：Manifest 停於 G10、程序已不存在</a:t>
                      </a:r>
                    </a:p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G10 最佳 Fitness 16.370，沒有 Final Test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Options 其餘 Seeds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Seeds 10–13：未建立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59B29082-038F-4058-8B28-4953649C90F7}"/>
              </a:ext>
            </a:extLst>
          </p:cNvPr>
          <p:cNvSpPr>
            <a:spLocks noGrp="1"/>
          </p:cNvSpPr>
          <p:nvPr/>
        </p:nvSpPr>
        <p:spPr>
          <a:xfrm>
            <a:off x="628650" y="5572125"/>
            <a:ext cx="14382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20 代：平均 Training Fitness +3.885，固定測試勝率僅 +0.17 pp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FA5628C-58AB-450C-BDD1-A14476263435}"/>
              </a:ext>
            </a:extLst>
          </p:cNvPr>
          <p:cNvSpPr>
            <a:spLocks noGrp="1"/>
          </p:cNvSpPr>
          <p:nvPr/>
        </p:nvSpPr>
        <p:spPr>
          <a:xfrm>
            <a:off x="628650" y="6334125"/>
            <a:ext cx="14382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50 代：Seed 8 兩版勝率約 50%，Options 尚無明顯優勢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939CD5A-29B9-44C2-9CE8-F42E83160D5B}"/>
              </a:ext>
            </a:extLst>
          </p:cNvPr>
          <p:cNvSpPr>
            <a:spLocks noGrp="1"/>
          </p:cNvSpPr>
          <p:nvPr/>
        </p:nvSpPr>
        <p:spPr>
          <a:xfrm>
            <a:off x="628650" y="7096125"/>
            <a:ext cx="14382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下一個受控比較：相同初始 Bundle，兩版均完成 Seeds 8–13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1963444-627C-4B5C-8835-A13E6ADB9E11}"/>
              </a:ext>
            </a:extLst>
          </p:cNvPr>
          <p:cNvSpPr>
            <a:spLocks noGrp="1"/>
          </p:cNvSpPr>
          <p:nvPr/>
        </p:nvSpPr>
        <p:spPr>
          <a:xfrm>
            <a:off x="628650" y="8029575"/>
            <a:ext cx="145732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程序及未建立狀態依來源快照，未重新查詢遠端主機。Options 只有 1 個完整 Seed。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BD3C2FB0-0A0D-4E9E-A475-43D695DA054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97A5D9F9-3B53-49BA-B387-7771C1735D34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54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58</a:t>
            </a:r>
          </a:p>
        </p:txBody>
      </p:sp>
    </p:spTree>
    <p:extLst>
      <p:ext uri="{BB962C8B-B14F-4D97-AF65-F5344CB8AC3E}">
        <p14:creationId xmlns:p14="http://schemas.microsoft.com/office/powerpoint/2010/main" val="33950145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B92321B-2374-4670-9844-5DA294CD776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最近與最遠交配：比較條件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9F21380-685C-4153-9445-3D356A813442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438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rPr>
              <a:t>兩批最遠交配歷史基準，對照最近交配第一版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997777B-0325-4B3E-ABA6-88E587AD4A6B}"/>
              </a:ext>
            </a:extLst>
          </p:cNvPr>
          <p:cNvGraphicFramePr/>
          <p:nvPr/>
        </p:nvGraphicFramePr>
        <p:xfrm>
          <a:off x="628650" y="1952625"/>
          <a:ext cx="14668500" cy="5238750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31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比較項目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最遠交配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最近交配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Parent B 選擇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最高 Fitness Tier 內</a:t>
                      </a:r>
                    </a:p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最大相容語意距離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最高 Fitness Tier 內</a:t>
                      </a:r>
                    </a:p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最小相容語意距離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完成批次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A：10/19–20；B：10/21</a:t>
                      </a:r>
                    </a:p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各 6 Runs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10/23–24，6 Runs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共同搜尋設定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Seeds 8–13；20 代 × 10 個體</a:t>
                      </a:r>
                    </a:p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Local、Self-play、無 Framework Reflection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同左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共同初始 Framework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b2daa0d4…0939b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同左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Survivor 邊界選擇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Farthest-first／Max-min 多樣性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維持相同規則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F33EA0C7-6662-4323-886F-FBA08ABC9AFF}"/>
              </a:ext>
            </a:extLst>
          </p:cNvPr>
          <p:cNvSpPr>
            <a:spLocks noGrp="1"/>
          </p:cNvSpPr>
          <p:nvPr/>
        </p:nvSpPr>
        <p:spPr>
          <a:xfrm>
            <a:off x="628650" y="7381875"/>
            <a:ext cx="14382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相同 Seeds 與初始 Bundle；跨日期執行，其他程式與排程差異尚未隔離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7D9B9F-7022-4220-95F5-34FF3AE831A6}"/>
              </a:ext>
            </a:extLst>
          </p:cNvPr>
          <p:cNvSpPr>
            <a:spLocks noGrp="1"/>
          </p:cNvSpPr>
          <p:nvPr/>
        </p:nvSpPr>
        <p:spPr>
          <a:xfrm>
            <a:off x="628650" y="8029575"/>
            <a:ext cx="145732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最遠依歷史報告與 28ea6606 之前的選親程式確認；兩批分列，避免混成單一基準。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D3C2FB0-0A0D-4E9E-A475-43D695DA054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8C911063-C1F1-48F9-B0EB-3B8B08AEFB27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55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58</a:t>
            </a:r>
          </a:p>
        </p:txBody>
      </p:sp>
    </p:spTree>
    <p:extLst>
      <p:ext uri="{BB962C8B-B14F-4D97-AF65-F5344CB8AC3E}">
        <p14:creationId xmlns:p14="http://schemas.microsoft.com/office/powerpoint/2010/main" val="16678565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F3A330C-009F-4523-990C-D00E33A6203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20 代：最近與最遠的最終 Fitness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8B36FCA-913D-4728-9137-BC93DE3266F3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438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rPr>
              <a:t>G20 Population Best；每批 6 個 Seeds，數值越高越好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8AE1180-0B0D-4502-B2A4-FA8A94764497}"/>
              </a:ext>
            </a:extLst>
          </p:cNvPr>
          <p:cNvGraphicFramePr/>
          <p:nvPr/>
        </p:nvGraphicFramePr>
        <p:xfrm>
          <a:off x="628650" y="1952625"/>
          <a:ext cx="14668500" cy="5619750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246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最遠 A（10/19–20）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最遠 B（10/21）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最近（10/23–24）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最近 − 最遠 B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5.592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-3.342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2.068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+5.410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25.733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23.000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23.514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+0.515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-32.037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-32.033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-14.280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+17.753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10.988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13.118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17.450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+4.332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12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6.761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8.561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13.635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+5.075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18.267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22.949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21.738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-1.211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平均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5.884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5.375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10.688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+5.312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F86C1CD5-A6D0-4CCD-8D1F-A83E5AC14B8A}"/>
              </a:ext>
            </a:extLst>
          </p:cNvPr>
          <p:cNvSpPr>
            <a:spLocks noGrp="1"/>
          </p:cNvSpPr>
          <p:nvPr/>
        </p:nvSpPr>
        <p:spPr>
          <a:xfrm>
            <a:off x="628650" y="8029575"/>
            <a:ext cx="145732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最遠：stability_report_data.json 的 G20；最近：先前遠端資料整理。差值用未四捨五入值計算。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D3C2FB0-0A0D-4E9E-A475-43D695DA054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710EF22F-C15C-41A0-972A-DA6E370B028A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56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58</a:t>
            </a:r>
          </a:p>
        </p:txBody>
      </p:sp>
    </p:spTree>
    <p:extLst>
      <p:ext uri="{BB962C8B-B14F-4D97-AF65-F5344CB8AC3E}">
        <p14:creationId xmlns:p14="http://schemas.microsoft.com/office/powerpoint/2010/main" val="27792452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8AC6BCD-1067-4F6F-83B2-2EE1739864C9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最近交配的平均 Fitness 高於兩批最遠基準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5F0F352-D86F-4373-B0DF-2B1E5CA031AA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438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rPr>
              <a:t>相對最遠 B：5／6 Seeds 提升；相對最遠 A：4／6 提升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69A0E958-7BA1-40C2-BA78-ACFBE6AFB56B}"/>
              </a:ext>
            </a:extLst>
          </p:cNvPr>
          <p:cNvGraphicFramePr/>
          <p:nvPr/>
        </p:nvGraphicFramePr>
        <p:xfrm>
          <a:off x="628650" y="2095500"/>
          <a:ext cx="10763250" cy="552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265DD9BE-EE61-41D5-A417-8536CFE7C3FD}"/>
              </a:ext>
            </a:extLst>
          </p:cNvPr>
          <p:cNvSpPr>
            <a:spLocks noGrp="1"/>
          </p:cNvSpPr>
          <p:nvPr/>
        </p:nvSpPr>
        <p:spPr>
          <a:xfrm>
            <a:off x="11715750" y="2428875"/>
            <a:ext cx="342900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最近平均</a:t>
            </a:r>
          </a:p>
          <a:p>
            <a:pPr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10.688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54251E-BB36-480B-A718-E9F5D2A60E0F}"/>
              </a:ext>
            </a:extLst>
          </p:cNvPr>
          <p:cNvSpPr>
            <a:spLocks noGrp="1"/>
          </p:cNvSpPr>
          <p:nvPr/>
        </p:nvSpPr>
        <p:spPr>
          <a:xfrm>
            <a:off x="11715750" y="4191000"/>
            <a:ext cx="3429000" cy="2619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較最遠 B</a:t>
            </a:r>
          </a:p>
          <a:p>
            <a:pPr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+5.312</a:t>
            </a:r>
          </a:p>
          <a:p>
            <a:endParaRPr sz="232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較最遠 A</a:t>
            </a:r>
          </a:p>
          <a:p>
            <a:pPr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+4.804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8EED2D-E911-44BD-8A54-5213758F9460}"/>
              </a:ext>
            </a:extLst>
          </p:cNvPr>
          <p:cNvSpPr>
            <a:spLocks noGrp="1"/>
          </p:cNvSpPr>
          <p:nvPr/>
        </p:nvSpPr>
        <p:spPr>
          <a:xfrm>
            <a:off x="628650" y="8029575"/>
            <a:ext cx="145732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Self-play 對手快照隨搜尋改變，Training Fitness 仍須搭配固定對手測試判讀。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BD3C2FB0-0A0D-4E9E-A475-43D695DA054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52406103-EF98-4BF5-BE06-A679E9D083BF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57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58</a:t>
            </a:r>
          </a:p>
        </p:txBody>
      </p:sp>
    </p:spTree>
    <p:extLst>
      <p:ext uri="{BB962C8B-B14F-4D97-AF65-F5344CB8AC3E}">
        <p14:creationId xmlns:p14="http://schemas.microsoft.com/office/powerpoint/2010/main" val="217910397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EBA6CF1F-CBDC-4B0D-90E3-FF67FAE88645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最近交配的固定對手勝率較高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F061F5-332A-4263-8BE5-67A5A2183638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438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77675"/>
                </a:solidFill>
                <a:latin typeface="Source Han Serif TW"/>
                <a:ea typeface="Source Han Serif TW"/>
                <a:cs typeface="Source Han Serif TW"/>
              </a:rPr>
              <a:t>每批 6 Runs、3,600 場；每 Run 同為 600 場 Final Test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FB27B61-FC26-4412-BCD9-E47A0CFC4CD8}"/>
              </a:ext>
            </a:extLst>
          </p:cNvPr>
          <p:cNvGraphicFramePr/>
          <p:nvPr/>
        </p:nvGraphicFramePr>
        <p:xfrm>
          <a:off x="628650" y="1952625"/>
          <a:ext cx="14668500" cy="2857500"/>
        </p:xfrm>
        <a:graphic>
          <a:graphicData uri="http://schemas.openxmlformats.org/drawingml/2006/table">
            <a:tbl>
              <a:tblPr/>
              <a:tblGrid>
                <a:gridCol w="476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版本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勝–和–敗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純勝率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計分率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>
                      <a:solidFill>
                        <a:srgbClr val="E8D8D9"/>
                      </a:solidFill>
                      <a:prstDash val="soli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最遠 A（10/19–20）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1164–152–2284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32.33%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34.44%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最遠 B（10/21）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1122–148–2330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31.17%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33.22%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最近（10/23–24）</a:t>
                      </a:r>
                    </a:p>
                  </a:txBody>
                  <a:tcPr>
                    <a:lnL w="9525">
                      <a:solidFill>
                        <a:srgbClr val="E8D8D9"/>
                      </a:solidFill>
                      <a:prstDash val="soli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1251–45–2304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34.75%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35.38%</a:t>
                      </a:r>
                    </a:p>
                  </a:txBody>
                  <a:tcPr>
                    <a:lnL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8D8D9"/>
                      </a:solidFill>
                      <a:prstDash val="solid"/>
                    </a:lnR>
                    <a:lnT w="9525" cap="flat" cmpd="sng" algn="ctr">
                      <a:solidFill>
                        <a:srgbClr val="E8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8D8D9"/>
                      </a:solidFill>
                      <a:prstDash val="solid"/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5AECB09A-F427-495A-BE1E-E6DB7C5C15EB}"/>
              </a:ext>
            </a:extLst>
          </p:cNvPr>
          <p:cNvGraphicFramePr/>
          <p:nvPr/>
        </p:nvGraphicFramePr>
        <p:xfrm>
          <a:off x="628650" y="5191125"/>
          <a:ext cx="8001000" cy="257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0C15770B-5050-4B0F-A743-C17F183256B0}"/>
              </a:ext>
            </a:extLst>
          </p:cNvPr>
          <p:cNvSpPr>
            <a:spLocks noGrp="1"/>
          </p:cNvSpPr>
          <p:nvPr/>
        </p:nvSpPr>
        <p:spPr>
          <a:xfrm>
            <a:off x="9239250" y="5238750"/>
            <a:ext cx="59055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最近 vs 最遠 B</a:t>
            </a:r>
          </a:p>
          <a:p>
            <a: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勝率 +3.58 個百分點</a:t>
            </a:r>
          </a:p>
          <a:p>
            <a:pPr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計分率 +2.15 個百分點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77A032-146B-4598-91E6-040AE861D14A}"/>
              </a:ext>
            </a:extLst>
          </p:cNvPr>
          <p:cNvSpPr>
            <a:spLocks noGrp="1"/>
          </p:cNvSpPr>
          <p:nvPr/>
        </p:nvSpPr>
        <p:spPr>
          <a:xfrm>
            <a:off x="9239250" y="7048500"/>
            <a:ext cx="5905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觀察支持改善，仍需重複實驗確認穩定性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E73B5F-D09B-49D5-9277-AAD2F3E68C71}"/>
              </a:ext>
            </a:extLst>
          </p:cNvPr>
          <p:cNvSpPr>
            <a:spLocks noGrp="1"/>
          </p:cNvSpPr>
          <p:nvPr/>
        </p:nvSpPr>
        <p:spPr>
          <a:xfrm>
            <a:off x="628650" y="8029575"/>
            <a:ext cx="145732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def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計分率 =（勝＋0.5 × 和）／總場次；最近缺少同口徑時間，尚無成本效率結論。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BD3C2FB0-0A0D-4E9E-A475-43D695DA054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A8C9B6AB-30BA-4D57-83C6-4ABE2E824D02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58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58</a:t>
            </a:r>
          </a:p>
        </p:txBody>
      </p:sp>
    </p:spTree>
    <p:extLst>
      <p:ext uri="{BB962C8B-B14F-4D97-AF65-F5344CB8AC3E}">
        <p14:creationId xmlns:p14="http://schemas.microsoft.com/office/powerpoint/2010/main" val="1977118473"/>
      </p:ext>
    </p:extLst>
  </p:cSld>
  <p:clrMapOvr>
    <a:masterClrMapping/>
  </p:clrMapOvr>
</p:sld>
</file>

<file path=ppt/theme/theme1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Words>13501</Words>
  <Application>Microsoft Office PowerPoint</Application>
  <DocSecurity>0</DocSecurity>
  <PresentationFormat>自訂</PresentationFormat>
  <Paragraphs>1578</Paragraphs>
  <Slides>58</Slides>
  <Notes>58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58</vt:i4>
      </vt:variant>
    </vt:vector>
  </HeadingPairs>
  <TitlesOfParts>
    <vt:vector size="60" baseType="lpstr">
      <vt:lpstr>Source Han Serif TW</vt:lpstr>
      <vt:lpstr>EAGLE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Sophie Lien</cp:lastModifiedBy>
  <cp:revision>11</cp:revision>
  <dcterms:created xsi:type="dcterms:W3CDTF">2026-10-21T16:35:41Z</dcterms:created>
  <dcterms:modified xsi:type="dcterms:W3CDTF">2026-10-28T17:07:27Z</dcterms:modified>
</cp:coreProperties>
</file>