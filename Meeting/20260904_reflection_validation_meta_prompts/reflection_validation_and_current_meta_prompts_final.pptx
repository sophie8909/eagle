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a809a168bd4257" /><Relationship Type="http://schemas.openxmlformats.org/officeDocument/2006/relationships/extended-properties" Target="/docProps/app.xml" Id="R7e4f1a7755114732" /><Relationship Type="http://schemas.openxmlformats.org/officeDocument/2006/relationships/officeDocument" Target="/ppt/presentation.xml" Id="R112fb8a8626d4996" /></Relationships>
</file>

<file path=ppt/presentation.xml><?xml version="1.0" encoding="utf-8"?>
<p:presentation xmlns:p="http://schemas.openxmlformats.org/presentationml/2006/main">
  <p:sldMasterIdLst>
    <p:sldMasterId xmlns:r="http://schemas.openxmlformats.org/officeDocument/2006/relationships" id="2147483648" r:id="Rdef62a8b1d074456"/>
  </p:sldMasterIdLst>
  <p:notesMasterIdLst>
    <p:notesMasterId xmlns:r="http://schemas.openxmlformats.org/officeDocument/2006/relationships" r:id="Rd5b133bf3c9642ea"/>
  </p:notesMasterIdLst>
  <p:sldIdLst>
    <p:sldId xmlns:r="http://schemas.openxmlformats.org/officeDocument/2006/relationships" id="256" r:id="R51e726d31d2e4cab"/>
    <p:sldId xmlns:r="http://schemas.openxmlformats.org/officeDocument/2006/relationships" id="257" r:id="R54f1fd660206417c"/>
    <p:sldId xmlns:r="http://schemas.openxmlformats.org/officeDocument/2006/relationships" id="258" r:id="R61b1391a79b449e3"/>
    <p:sldId xmlns:r="http://schemas.openxmlformats.org/officeDocument/2006/relationships" id="259" r:id="R8678e5a9a2b54e7b"/>
    <p:sldId xmlns:r="http://schemas.openxmlformats.org/officeDocument/2006/relationships" id="260" r:id="R4c664a06f2734147"/>
    <p:sldId xmlns:r="http://schemas.openxmlformats.org/officeDocument/2006/relationships" id="261" r:id="Rc9f2a2bc76dd4186"/>
    <p:sldId xmlns:r="http://schemas.openxmlformats.org/officeDocument/2006/relationships" id="262" r:id="R6303d568498d44e9"/>
    <p:sldId xmlns:r="http://schemas.openxmlformats.org/officeDocument/2006/relationships" id="263" r:id="R5baa7371535f4e07"/>
    <p:sldId xmlns:r="http://schemas.openxmlformats.org/officeDocument/2006/relationships" id="264" r:id="Rf7672eb74b07403e"/>
    <p:sldId xmlns:r="http://schemas.openxmlformats.org/officeDocument/2006/relationships" id="265" r:id="R1d3caec8fa9c463f"/>
    <p:sldId xmlns:r="http://schemas.openxmlformats.org/officeDocument/2006/relationships" id="266" r:id="R4f7faa89598b4d07"/>
    <p:sldId xmlns:r="http://schemas.openxmlformats.org/officeDocument/2006/relationships" id="267" r:id="R6c0a12252bf54fb7"/>
    <p:sldId xmlns:r="http://schemas.openxmlformats.org/officeDocument/2006/relationships" id="268" r:id="Rc517c2f6010449d6"/>
    <p:sldId xmlns:r="http://schemas.openxmlformats.org/officeDocument/2006/relationships" id="269" r:id="R04cab6158e30440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dd9af827424105" /><Relationship Type="http://schemas.openxmlformats.org/officeDocument/2006/relationships/slideMaster" Target="/ppt/slideMasters/slideMaster1.xml" Id="Rdef62a8b1d074456" /><Relationship Type="http://schemas.openxmlformats.org/officeDocument/2006/relationships/notesMaster" Target="/ppt/notesMasters/notesMaster1.xml" Id="Rd5b133bf3c9642ea" /><Relationship Type="http://schemas.openxmlformats.org/officeDocument/2006/relationships/presProps" Target="/ppt/presProps.xml" Id="R43f91f2efa734d06" /><Relationship Type="http://schemas.openxmlformats.org/officeDocument/2006/relationships/tableStyles" Target="/ppt/tableStyles.xml" Id="Ra4dc66e330b84965" /><Relationship Type="http://schemas.openxmlformats.org/officeDocument/2006/relationships/slide" Target="/ppt/slides/slide1.xml" Id="R51e726d31d2e4cab" /><Relationship Type="http://schemas.openxmlformats.org/officeDocument/2006/relationships/slide" Target="/ppt/slides/slide2.xml" Id="R54f1fd660206417c" /><Relationship Type="http://schemas.openxmlformats.org/officeDocument/2006/relationships/slide" Target="/ppt/slides/slide3.xml" Id="R61b1391a79b449e3" /><Relationship Type="http://schemas.openxmlformats.org/officeDocument/2006/relationships/slide" Target="/ppt/slides/slide4.xml" Id="R8678e5a9a2b54e7b" /><Relationship Type="http://schemas.openxmlformats.org/officeDocument/2006/relationships/slide" Target="/ppt/slides/slide5.xml" Id="R4c664a06f2734147" /><Relationship Type="http://schemas.openxmlformats.org/officeDocument/2006/relationships/slide" Target="/ppt/slides/slide6.xml" Id="Rc9f2a2bc76dd4186" /><Relationship Type="http://schemas.openxmlformats.org/officeDocument/2006/relationships/slide" Target="/ppt/slides/slide7.xml" Id="R6303d568498d44e9" /><Relationship Type="http://schemas.openxmlformats.org/officeDocument/2006/relationships/slide" Target="/ppt/slides/slide8.xml" Id="R5baa7371535f4e07" /><Relationship Type="http://schemas.openxmlformats.org/officeDocument/2006/relationships/slide" Target="/ppt/slides/slide9.xml" Id="Rf7672eb74b07403e" /><Relationship Type="http://schemas.openxmlformats.org/officeDocument/2006/relationships/slide" Target="/ppt/slides/slide10.xml" Id="R1d3caec8fa9c463f" /><Relationship Type="http://schemas.openxmlformats.org/officeDocument/2006/relationships/slide" Target="/ppt/slides/slide11.xml" Id="R4f7faa89598b4d07" /><Relationship Type="http://schemas.openxmlformats.org/officeDocument/2006/relationships/slide" Target="/ppt/slides/slide12.xml" Id="R6c0a12252bf54fb7" /><Relationship Type="http://schemas.openxmlformats.org/officeDocument/2006/relationships/slide" Target="/ppt/slides/slide13.xml" Id="Rc517c2f6010449d6" /><Relationship Type="http://schemas.openxmlformats.org/officeDocument/2006/relationships/slide" Target="/ppt/slides/slide14.xml" Id="R04cab6158e3044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cb81d68ce345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3cc9d310144fa1" /><Relationship Type="http://schemas.openxmlformats.org/officeDocument/2006/relationships/notesMaster" Target="/ppt/notesMasters/notesMaster1.xml" Id="R0b84c2b2529f44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433d8bafd54974" /><Relationship Type="http://schemas.openxmlformats.org/officeDocument/2006/relationships/notesMaster" Target="/ppt/notesMasters/notesMaster1.xml" Id="Rf09b6e925a554d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c898d9f3154f41" /><Relationship Type="http://schemas.openxmlformats.org/officeDocument/2006/relationships/notesMaster" Target="/ppt/notesMasters/notesMaster1.xml" Id="R6c85bf0c5f6147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d68274ebff4e02" /><Relationship Type="http://schemas.openxmlformats.org/officeDocument/2006/relationships/notesMaster" Target="/ppt/notesMasters/notesMaster1.xml" Id="Refccfe83ce6d49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aa80d10b2c4b50" /><Relationship Type="http://schemas.openxmlformats.org/officeDocument/2006/relationships/notesMaster" Target="/ppt/notesMasters/notesMaster1.xml" Id="R1764f8b603c348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40bc5be8d747b8" /><Relationship Type="http://schemas.openxmlformats.org/officeDocument/2006/relationships/notesMaster" Target="/ppt/notesMasters/notesMaster1.xml" Id="Rbea311d2e9694c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3a440c77044cc4" /><Relationship Type="http://schemas.openxmlformats.org/officeDocument/2006/relationships/notesMaster" Target="/ppt/notesMasters/notesMaster1.xml" Id="R08ddaba5ced74e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662f1fc4cc426f" /><Relationship Type="http://schemas.openxmlformats.org/officeDocument/2006/relationships/notesMaster" Target="/ppt/notesMasters/notesMaster1.xml" Id="R6ec511ecdd424a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e2b1545c6f417f" /><Relationship Type="http://schemas.openxmlformats.org/officeDocument/2006/relationships/notesMaster" Target="/ppt/notesMasters/notesMaster1.xml" Id="Rf2d4ce84571040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2a6f3dfd024fbf" /><Relationship Type="http://schemas.openxmlformats.org/officeDocument/2006/relationships/notesMaster" Target="/ppt/notesMasters/notesMaster1.xml" Id="R1c59ec72ef7447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10baf34ae24b08" /><Relationship Type="http://schemas.openxmlformats.org/officeDocument/2006/relationships/notesMaster" Target="/ppt/notesMasters/notesMaster1.xml" Id="R71981bf432b54a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7db5d494e2479d" /><Relationship Type="http://schemas.openxmlformats.org/officeDocument/2006/relationships/notesMaster" Target="/ppt/notesMasters/notesMaster1.xml" Id="R0e30a870dd1045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dc7ceecd1143b0" /><Relationship Type="http://schemas.openxmlformats.org/officeDocument/2006/relationships/notesMaster" Target="/ppt/notesMasters/notesMaster1.xml" Id="Re798cbb7badc4b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aea260ca62461f" /><Relationship Type="http://schemas.openxmlformats.org/officeDocument/2006/relationships/notesMaster" Target="/ppt/notesMasters/notesMaster1.xml" Id="R5d461c1d8c7948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t>
            </a:r>
          </a:p>
          <a:p xmlns:a="http://schemas.openxmlformats.org/drawingml/2006/main">
            <a:r>
              <a:t/>
            </a:r>
          </a:p>
          <a:p xmlns:a="http://schemas.openxmlformats.org/drawingml/2006/main">
            <a:r>
              <a:t>[Sources]</a:t>
            </a:r>
          </a:p>
          <a:p xmlns:a="http://schemas.openxmlformats.org/drawingml/2006/main">
            <a:r>
              <a:t>- /home/mhlab/EAGLE/runs/reflection_inspections/20260904_171444_033622_worker_rush_prompt_compliance_from_reflection_children/summary.md</a:t>
            </a:r>
          </a:p>
          <a:p xmlns:a="http://schemas.openxmlformats.org/drawingml/2006/main">
            <a:r>
              <a:t>- /home/mhlab/EAGLE/Meeting/20260904_worker_rush_reflection_rerun/worker_rush_three_reflections_rerun_report.pptx</a:t>
            </a:r>
          </a:p>
          <a:p xmlns:a="http://schemas.openxmlformats.org/drawingml/2006/main">
            <a:r>
              <a:t/>
            </a:r>
          </a:p>
          <a:p xmlns:a="http://schemas.openxmlformats.org/drawingml/2006/main">
            <a:r>
              <a:t>The deck separates historical experiment evidence from the currently applied prompt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Executive conclusion</a:t>
            </a:r>
          </a:p>
          <a:p xmlns:a="http://schemas.openxmlformats.org/drawingml/2006/main">
            <a:r>
              <a:t/>
            </a:r>
          </a:p>
          <a:p xmlns:a="http://schemas.openxmlformats.org/drawingml/2006/main">
            <a:r>
              <a:t>[Sources]</a:t>
            </a:r>
          </a:p>
          <a:p xmlns:a="http://schemas.openxmlformats.org/drawingml/2006/main">
            <a:r>
              <a:t>- /home/mhlab/EAGLE/runs/reflection_inspections/20260904_171444_033622_worker_rush_prompt_compliance_from_reflection_children/summary.md</a:t>
            </a:r>
          </a:p>
          <a:p xmlns:a="http://schemas.openxmlformats.org/drawingml/2006/main">
            <a:r>
              <a:t/>
            </a:r>
          </a:p>
          <a:p xmlns:a="http://schemas.openxmlformats.org/drawingml/2006/main">
            <a:r>
              <a:t>Scope correctness is the main acceptance criterion. Applied output is not evidence of gameplay strength.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topology</a:t>
            </a:r>
          </a:p>
          <a:p xmlns:a="http://schemas.openxmlformats.org/drawingml/2006/main">
            <a:r>
              <a:t/>
            </a:r>
          </a:p>
          <a:p xmlns:a="http://schemas.openxmlformats.org/drawingml/2006/main">
            <a:r>
              <a:t>[Sources]</a:t>
            </a:r>
          </a:p>
          <a:p xmlns:a="http://schemas.openxmlformats.org/drawingml/2006/main">
            <a:r>
              <a:t>- /home/mhlab/EAGLE/runs/reflection_inspections/20260904_171444_033622_worker_rush_prompt_compliance_from_reflection_children/summary.md</a:t>
            </a:r>
          </a:p>
          <a:p xmlns:a="http://schemas.openxmlformats.org/drawingml/2006/main">
            <a:r>
              <a:t>- /home/mhlab/EAGLE/runs/reflection_inspections/20260904_171444_033622_worker_rush_prompt_compliance_from_reflection_children/inputs</a:t>
            </a:r>
          </a:p>
          <a:p xmlns:a="http://schemas.openxmlformats.org/drawingml/2006/main">
            <a:r>
              <a:t/>
            </a:r>
          </a:p>
          <a:p xmlns:a="http://schemas.openxmlformats.org/drawingml/2006/main">
            <a:r>
              <a:t>The six Compliance parents are the three successful Strategy children and the three successful Code children.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overview</a:t>
            </a:r>
          </a:p>
          <a:p xmlns:a="http://schemas.openxmlformats.org/drawingml/2006/main">
            <a:r>
              <a:t/>
            </a:r>
          </a:p>
          <a:p xmlns:a="http://schemas.openxmlformats.org/drawingml/2006/main">
            <a:r>
              <a:t>[Sources]</a:t>
            </a:r>
          </a:p>
          <a:p xmlns:a="http://schemas.openxmlformats.org/drawingml/2006/main">
            <a:r>
              <a:t>- /home/mhlab/EAGLE/runs/reflection_inspections/20260904_171444_033622_worker_rush_prompt_compliance_from_reflection_children/summary.md</a:t>
            </a:r>
          </a:p>
          <a:p xmlns:a="http://schemas.openxmlformats.org/drawingml/2006/main">
            <a:r>
              <a:t>- /home/mhlab/EAGLE/runs/reflection_inspections/20260904_171444_033622_worker_rush_prompt_compliance_from_reflection_children/summary.json</a:t>
            </a:r>
          </a:p>
          <a:p xmlns:a="http://schemas.openxmlformats.org/drawingml/2006/main">
            <a:r>
              <a:t/>
            </a:r>
          </a:p>
          <a:p xmlns:a="http://schemas.openxmlformats.org/drawingml/2006/main">
            <a:r>
              <a:t>Applied totals: Strategy 3/3, Code 3/3, Prompt Compliance 4/6. All inherited Java hashes are identical.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Reflection result</a:t>
            </a:r>
          </a:p>
          <a:p xmlns:a="http://schemas.openxmlformats.org/drawingml/2006/main">
            <a:r>
              <a:t/>
            </a:r>
          </a:p>
          <a:p xmlns:a="http://schemas.openxmlformats.org/drawingml/2006/main">
            <a:r>
              <a:t>[Sources]</a:t>
            </a:r>
          </a:p>
          <a:p xmlns:a="http://schemas.openxmlformats.org/drawingml/2006/main">
            <a:r>
              <a:t>- /home/mhlab/EAGLE/runs/reflection_inspections/20260904_171444_033622_worker_rush_prompt_compliance_from_reflection_children/trials/strategy/trial_01/changes/strategy_prompt.diff</a:t>
            </a:r>
          </a:p>
          <a:p xmlns:a="http://schemas.openxmlformats.org/drawingml/2006/main">
            <a:r>
              <a:t>- /home/mhlab/EAGLE/runs/reflection_inspections/20260904_171444_033622_worker_rush_prompt_compliance_from_reflection_children/trials/strategy/trial_01/mutation/strategy_reflection/coach_input.json</a:t>
            </a:r>
          </a:p>
          <a:p xmlns:a="http://schemas.openxmlformats.org/drawingml/2006/main">
            <a:r>
              <a:t>- /home/mhlab/EAGLE/runs/reflection_inspections/20260904_171444_033622_worker_rush_prompt_compliance_from_reflection_children/trials/strategy/trial_01/output/strategy_prompt.txt</a:t>
            </a:r>
          </a:p>
          <a:p xmlns:a="http://schemas.openxmlformats.org/drawingml/2006/main">
            <a:r>
              <a:t/>
            </a:r>
          </a:p>
          <a:p xmlns:a="http://schemas.openxmlformats.org/drawingml/2006/main">
            <a:r>
              <a:t>FULL COACH PROPOSAL</a:t>
            </a:r>
          </a:p>
          <a:p xmlns:a="http://schemas.openxmlformats.org/drawingml/2006/main">
            <a:r>
              <a:t>1. If a friendly Base is idle, the stockpile is at least 1, and a free adjacent cell exists, have that Base train a Worker into that cell.</a:t>
            </a:r>
          </a:p>
          <a:p xmlns:a="http://schemas.openxmlformats.org/drawingml/2006/main">
            <a:r>
              <a:t>  2. If a friendly Worker is idle, carries no resource, and at least one other Worker exists, have that Worker harvest the nearest reachable Resource.</a:t>
            </a:r>
          </a:p>
          <a:p xmlns:a="http://schemas.openxmlformats.org/drawingml/2006/main">
            <a:r>
              <a:t>  3. If a friendly Worker is idle, carries no resource, no other Workers exist, and a reachable Resource exists, have that Worker harvest the nearest reachable Resource.</a:t>
            </a:r>
          </a:p>
          <a:p xmlns:a="http://schemas.openxmlformats.org/drawingml/2006/main">
            <a:r>
              <a:t>  4. If a friendly Worker is idle, carries a resource, and a friendly Base exists, have that Worker return the resource to the nearest friendly Base.</a:t>
            </a:r>
          </a:p>
          <a:p xmlns:a="http://schemas.openxmlformats.org/drawingml/2006/main">
            <a:r>
              <a:t>  5. If a friendly Base is idle, the stockpile is at least 5, and a legal free cell exists, have a Worker build a Barracks on that cell.</a:t>
            </a:r>
          </a:p>
          <a:p xmlns:a="http://schemas.openxmlformats.org/drawingml/2006/main">
            <a:r>
              <a:t>  6. If a friendly Barracks is idle, the stockpile is at least 2, and a free adjacent cell exists, have that Barracks train a Light unit into that cell.</a:t>
            </a:r>
          </a:p>
          <a:p xmlns:a="http://schemas.openxmlformats.org/drawingml/2006/main">
            <a:r>
              <a:t>  7. If a friendly Worker is idle, the stockpile is at least 10, and a legal free cell exists, have that Worker build a Base on that cell.</a:t>
            </a:r>
          </a:p>
          <a:p xmlns:a="http://schemas.openxmlformats.org/drawingml/2006/main">
            <a:r>
              <a:t>  8. If a friendly Worker is idle, carries no resource, and no enemy Base currently exists, have that Worker target the nearest enemy unit or Barracks, move toward it if outside attack range, and attack it when within range.</a:t>
            </a:r>
          </a:p>
          <a:p xmlns:a="http://schemas.openxmlformats.org/drawingml/2006/main">
            <a:r>
              <a:t>  9. If a friendly Worker is idle, carries no resource, an enemy Base currently exists, and the nearest enemy unit is within range 1, have that Worker target the nearest enemy unit, move toward it if outside attack range, and attack it when within range.</a:t>
            </a:r>
          </a:p>
          <a:p xmlns:a="http://schemas.openxmlformats.org/drawingml/2006/main">
            <a:r>
              <a:t>  10. If a friendly Worker is idle, carries no resource, an enemy Base currently exists, and no enemy units are within range 1, have that Worker target the enemy Base, move toward it if outside attack range, and attack it when within range.</a:t>
            </a:r>
          </a:p>
          <a:p xmlns:a="http://schemas.openxmlformats.org/drawingml/2006/main">
            <a:r>
              <a:t/>
            </a:r>
          </a:p>
          <a:p xmlns:a="http://schemas.openxmlformats.org/drawingml/2006/main">
            <a:r>
              <a:t>FULL APPLIED OUTPUT</a:t>
            </a:r>
          </a:p>
          <a:p xmlns:a="http://schemas.openxmlformats.org/drawingml/2006/main">
            <a:r>
              <a:t>1. If a friendly Base is idle, the stockpile is at least 1, a free adjacent cell exists, and the stockpile is at least 1, have that Base train a Worker into that cell.</a:t>
            </a:r>
          </a:p>
          <a:p xmlns:a="http://schemas.openxmlformats.org/drawingml/2006/main">
            <a:r>
              <a:t>2. If a friendly Worker is idle, carries no resource, at least one reachable Resource exists, and at least one other Worker exists, have that Worker harvest the nearest reachable Resource.</a:t>
            </a:r>
          </a:p>
          <a:p xmlns:a="http://schemas.openxmlformats.org/drawingml/2006/main">
            <a:r>
              <a:t>3. If a friendly Worker is idle, carries no resource, at least one reachable Resource exists, no other Workers exist, and a reachable Resource exists, have that Worker harvest the nearest reachable Resource.</a:t>
            </a:r>
          </a:p>
          <a:p xmlns:a="http://schemas.openxmlformats.org/drawingml/2006/main">
            <a:r>
              <a:t>4. If a friendly Worker is idle, carries a resource, and a friendly Base exists, have that Worker return the resource to the nearest friendly Base.</a:t>
            </a:r>
          </a:p>
          <a:p xmlns:a="http://schemas.openxmlformats.org/drawingml/2006/main">
            <a:r>
              <a:t>5. If a friendly Worker is idle, the stockpile is at least 10, a legal free cell exists, and a reachable Resource exists, have that Worker build a Base on that cell.</a:t>
            </a:r>
          </a:p>
          <a:p xmlns:a="http://schemas.openxmlformats.org/drawingml/2006/main">
            <a:r>
              <a:t>6. If a friendly Barracks is idle, the stockpile is at least 2, a free adjacent cell exists, and a reachable Resource exists, have that Barracks train a Light unit into that cell.</a:t>
            </a:r>
          </a:p>
          <a:p xmlns:a="http://schemas.openxmlformats.org/drawingml/2006/main">
            <a:r>
              <a:t>7. If a friendly Worker is idle, the stockpile is at least 5, a legal free cell exists, and a reachable Resource exists, have that Worker build a Barracks on that cell.</a:t>
            </a:r>
          </a:p>
          <a:p xmlns:a="http://schemas.openxmlformats.org/drawingml/2006/main">
            <a:r>
              <a:t>8. If a friendly Worker is idle, carries no resource, at least one enemy unit exists, and no enemy Base currently exists, have that Worker target the nearest enemy unit, move toward it if outside range 1, and attack it when within range.</a:t>
            </a:r>
          </a:p>
          <a:p xmlns:a="http://schemas.openxmlformats.org/drawingml/2006/main">
            <a:r>
              <a:t>9. If a friendly Worker is idle, carries no resource, an enemy Base currently exists, at least one enemy unit exists within range 1, have that Worker target the nearest enemy unit, move toward it if outside range 1, and attack it when within range.</a:t>
            </a:r>
          </a:p>
          <a:p xmlns:a="http://schemas.openxmlformats.org/drawingml/2006/main">
            <a:r>
              <a:t>10. If a friendly Worker is idle, carries no resource, an enemy Base currently exists, no enemy units exist within range 1, and the enemy Base exists, have that Worker target the enemy Base, move toward it if outside range 1, and attack it when within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Reflection result</a:t>
            </a:r>
          </a:p>
          <a:p xmlns:a="http://schemas.openxmlformats.org/drawingml/2006/main">
            <a:r>
              <a:t/>
            </a:r>
          </a:p>
          <a:p xmlns:a="http://schemas.openxmlformats.org/drawingml/2006/main">
            <a:r>
              <a:t>[Sources]</a:t>
            </a:r>
          </a:p>
          <a:p xmlns:a="http://schemas.openxmlformats.org/drawingml/2006/main">
            <a:r>
              <a:t>- /home/mhlab/EAGLE/runs/reflection_inspections/20260904_171444_033622_worker_rush_prompt_compliance_from_reflection_children/trials/code/trial_01/changes/generation_prompt.diff</a:t>
            </a:r>
          </a:p>
          <a:p xmlns:a="http://schemas.openxmlformats.org/drawingml/2006/main">
            <a:r>
              <a:t>- /home/mhlab/EAGLE/runs/reflection_inspections/20260904_171444_033622_worker_rush_prompt_compliance_from_reflection_children/trials/code/trial_01/mutation/code_reflection/reflector_request.txt</a:t>
            </a:r>
          </a:p>
          <a:p xmlns:a="http://schemas.openxmlformats.org/drawingml/2006/main">
            <a:r>
              <a:t>- /home/mhlab/EAGLE/runs/reflection_inspections/20260904_171444_033622_worker_rush_prompt_compliance_from_reflection_children/trials/code/trial_01/mutation/code_reflection/rewriter_request.txt</a:t>
            </a:r>
          </a:p>
          <a:p xmlns:a="http://schemas.openxmlformats.org/drawingml/2006/main">
            <a:r>
              <a:t/>
            </a:r>
          </a:p>
          <a:p xmlns:a="http://schemas.openxmlformats.org/drawingml/2006/main">
            <a:r>
              <a:t>FULL APPLIED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[rule-8ab9ef61ed66] state_continuity | Implement continuous behavior by re-evaluating state-based conditions and mandatory actions on every decision cycle while maintaining the idle-friendly-unit guard for all units.</a:t>
            </a:r>
          </a:p>
          <a:p xmlns:a="http://schemas.openxmlformats.org/drawingml/2006/main">
            <a:r>
              <a:t>EAGLE_REUSABLE_RULES_END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Compliance result</a:t>
            </a:r>
          </a:p>
          <a:p xmlns:a="http://schemas.openxmlformats.org/drawingml/2006/main">
            <a:r>
              <a:t/>
            </a:r>
          </a:p>
          <a:p xmlns:a="http://schemas.openxmlformats.org/drawingml/2006/main">
            <a:r>
              <a:t>[Sources]</a:t>
            </a:r>
          </a:p>
          <a:p xmlns:a="http://schemas.openxmlformats.org/drawingml/2006/main">
            <a:r>
              <a:t>- /home/mhlab/EAGLE/runs/reflection_inspections/20260904_171444_033622_worker_rush_prompt_compliance_from_reflection_children/summary.md</a:t>
            </a:r>
          </a:p>
          <a:p xmlns:a="http://schemas.openxmlformats.org/drawingml/2006/main">
            <a:r>
              <a:t>- /home/mhlab/EAGLE/runs/reflection_inspections/20260904_171444_033622_worker_rush_prompt_compliance_from_reflection_children/trials/prompt_compliance/trial_01/changes/strategy_prompt.diff</a:t>
            </a:r>
          </a:p>
          <a:p xmlns:a="http://schemas.openxmlformats.org/drawingml/2006/main">
            <a:r>
              <a:t>- /home/mhlab/EAGLE/runs/reflection_inspections/20260904_171444_033622_worker_rush_prompt_compliance_from_reflection_children/trials/prompt_compliance/trial_02/trial_summary.json</a:t>
            </a:r>
          </a:p>
          <a:p xmlns:a="http://schemas.openxmlformats.org/drawingml/2006/main">
            <a:r>
              <a:t>- /home/mhlab/EAGLE/runs/reflection_inspections/20260904_171444_033622_worker_rush_prompt_compliance_from_reflection_children/trials/prompt_compliance/trial_04/trial_summary.json</a:t>
            </a:r>
          </a:p>
          <a:p xmlns:a="http://schemas.openxmlformats.org/drawingml/2006/main">
            <a:r>
              <a:t/>
            </a:r>
          </a:p>
          <a:p xmlns:a="http://schemas.openxmlformats.org/drawingml/2006/main">
            <a:r>
              <a:t>TRIAL 1 FULL DIFF</a:t>
            </a:r>
          </a:p>
          <a:p xmlns:a="http://schemas.openxmlformats.org/drawingml/2006/main">
            <a:r>
              <a:t>--- parent/strategy_prompt</a:t>
            </a:r>
          </a:p>
          <a:p xmlns:a="http://schemas.openxmlformats.org/drawingml/2006/main">
            <a:r>
              <a:t>+++ child/strategy_prompt</a:t>
            </a:r>
          </a:p>
          <a:p xmlns:a="http://schemas.openxmlformats.org/drawingml/2006/main">
            <a:r>
              <a:t>@@ -1,10 +1,10 @@</a:t>
            </a:r>
          </a:p>
          <a:p xmlns:a="http://schemas.openxmlformats.org/drawingml/2006/main">
            <a:r>
              <a:t>-1. If a friendly Base is idle, the stockpile is at least 1, a free adjacent cell exists, and the stockpile is at least 1, have that Base train a Worker into that cell.</a:t>
            </a:r>
          </a:p>
          <a:p xmlns:a="http://schemas.openxmlformats.org/drawingml/2006/main">
            <a:r>
              <a:t>-2. If a friendly Worker is idle, carries no resource, at least one reachable Resource exists, and at least one other Worker exists, have that Worker harvest the nearest reachable Resource.</a:t>
            </a:r>
          </a:p>
          <a:p xmlns:a="http://schemas.openxmlformats.org/drawingml/2006/main">
            <a:r>
              <a:t>-3. If a friendly Worker is idle, carries no resource, at least one reachable Resource exists, no other Workers exist, and a reachable Resource exists, have that Worker harvest the nearest reachable Resource.</a:t>
            </a:r>
          </a:p>
          <a:p xmlns:a="http://schemas.openxmlformats.org/drawingml/2006/main">
            <a:r>
              <a:t>-4. If a friendly Worker is idle, carries a resource, and a friendly Base exists, have that Worker return the resource to the nearest friendly Base.</a:t>
            </a:r>
          </a:p>
          <a:p xmlns:a="http://schemas.openxmlformats.org/drawingml/2006/main">
            <a:r>
              <a:t>-5. If a friendly Worker is idle, the stockpile is at least 10, a legal free cell exists, and a reachable Resource exists, have that Worker build a Base on that cell.</a:t>
            </a:r>
          </a:p>
          <a:p xmlns:a="http://schemas.openxmlformats.org/drawingml/2006/main">
            <a:r>
              <a:t>-6. If a friendly Barracks is idle, the stockpile is at least 2, a free adjacent cell exists, and a reachable Resource exists, have that Barracks train a Light unit into that cell.</a:t>
            </a:r>
          </a:p>
          <a:p xmlns:a="http://schemas.openxmlformats.org/drawingml/2006/main">
            <a:r>
              <a:t>-7. If a friendly Worker is idle, the stockpile is at least 5, a legal free cell exists, and a reachable Resource exists, have that Worker build a Barracks on that cell.</a:t>
            </a:r>
          </a:p>
          <a:p xmlns:a="http://schemas.openxmlformats.org/drawingml/2006/main">
            <a:r>
              <a:t>-8. If a friendly Worker is idle, carries no resource, at least one enemy unit exists, and no enemy Base currently exists, have that Worker target the nearest enemy unit, move toward it if outside range 1, and attack it when within range.</a:t>
            </a:r>
          </a:p>
          <a:p xmlns:a="http://schemas.openxmlformats.org/drawingml/2006/main">
            <a:r>
              <a:t>-9. If a friendly Worker is idle, carries no resource, an enemy Base currently exists, at least one enemy unit exists within range 1, have that Worker target the nearest enemy unit, move toward it if outside range 1, and attack it when within range.</a:t>
            </a:r>
          </a:p>
          <a:p xmlns:a="http://schemas.openxmlformats.org/drawingml/2006/main">
            <a:r>
              <a:t>-10. If a friendly Worker is idle, carries no resource, an enemy Base currently exists, no enemy units exist within range 1, and the enemy Base exists, have that Worker target the enemy Base, move toward it if outside range 1, and attack it when within range.+1. If a friendly Base is idle, the stockpile is at least 1, and a free adjacent cell exists, have that Base train a Worker into that cell.</a:t>
            </a:r>
          </a:p>
          <a:p xmlns:a="http://schemas.openxmlformats.org/drawingml/2006/main">
            <a:r>
              <a:t>+2. If a friendly Worker is idle, carries no resource, and at least one reachable Resource exists, have that Worker harvest the nearest reachable Resource.</a:t>
            </a:r>
          </a:p>
          <a:p xmlns:a="http://schemas.openxmlformats.org/drawingml/2006/main">
            <a:r>
              <a:t>+3. If a friendly Worker is idle, carries a resource, and a friendly Base exists, have that Worker return the resource to the nearest friendly Base.</a:t>
            </a:r>
          </a:p>
          <a:p xmlns:a="http://schemas.openxmlformats.org/drawingml/2006/main">
            <a:r>
              <a:t>+4. If a friendly Worker is idle, the stockpile is at least 10, a legal free cell adjacent to that Worker exists, and a reachable Resource exists, have that Worker build a Base on that cell.</a:t>
            </a:r>
          </a:p>
          <a:p xmlns:a="http://schemas.openxmlformats.org/drawingml/2006/main">
            <a:r>
              <a:t>+5. If a friendly Worker is idle, the stockpile is at least 5, a legal free cell adjacent to that Worker exists, and a reachable Resource exists, have that Worker build a Barracks on that cell.</a:t>
            </a:r>
          </a:p>
          <a:p xmlns:a="http://schemas.openxmlformats.org/drawingml/2006/main">
            <a:r>
              <a:t>+6. If a friendly Barracks is idle, the stockpile is at least 2, and a free adjacent cell exists, have that Barracks train a Light unit into that cell.</a:t>
            </a:r>
          </a:p>
          <a:p xmlns:a="http://schemas.openxmlformats.org/drawingml/2006/main">
            <a:r>
              <a:t>+7. If a friendly Worker is idle, carries no resource, and an enemy Light or Heavy exists within range 1, have that Worker target the nearest enemy Light or Heavy, move toward it if outside range 1, and attack it when within range.</a:t>
            </a:r>
          </a:p>
          <a:p xmlns:a="http://schemas.openxmlformats.org/drawingml/2006/main">
            <a:r>
              <a:t>+8. If a friendly Worker is idle, carries no resource, and an enemy Ranged exists within range 3, have that Worker target the nearest enemy Ranged, move toward it if outside range 3, and attack it when within range.</a:t>
            </a:r>
          </a:p>
          <a:p xmlns:a="http://schemas.openxmlformats.org/drawingml/2006/main">
            <a:r>
              <a:t>+9. If a friendly Worker is idle, carries no resource, and an enemy Base exists, have that Worker target the nearest enemy Base, move toward it if outside range 1, and attack it when within range.</a:t>
            </a:r>
          </a:p>
          <a:p xmlns:a="http://schemas.openxmlformats.org/drawingml/2006/main">
            <a:r>
              <a:t>+10. If a friendly Barracks is idle, the stockpile is at least 2, and a free adjacent cell exists, have that Barracks train a Ranged unit into that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Failure interpretation</a:t>
            </a:r>
          </a:p>
          <a:p xmlns:a="http://schemas.openxmlformats.org/drawingml/2006/main">
            <a:r>
              <a:t/>
            </a:r>
          </a:p>
          <a:p xmlns:a="http://schemas.openxmlformats.org/drawingml/2006/main">
            <a:r>
              <a:t>[Sources]</a:t>
            </a:r>
          </a:p>
          <a:p xmlns:a="http://schemas.openxmlformats.org/drawingml/2006/main">
            <a:r>
              <a:t>- /home/mhlab/EAGLE/runs/reflection_inspections/20260904_171444_033622_worker_rush_prompt_compliance_from_reflection_children/trials/prompt_compliance/trial_02/trial_summary.json</a:t>
            </a:r>
          </a:p>
          <a:p xmlns:a="http://schemas.openxmlformats.org/drawingml/2006/main">
            <a:r>
              <a:t>- /home/mhlab/EAGLE/runs/reflection_inspections/20260904_171444_033622_worker_rush_prompt_compliance_from_reflection_children/trials/prompt_compliance/trial_02/mutation/prompt_compliance_reflection/strategy_rewriter_attempt_005_response_raw.txt</a:t>
            </a:r>
          </a:p>
          <a:p xmlns:a="http://schemas.openxmlformats.org/drawingml/2006/main">
            <a:r>
              <a:t>- /home/mhlab/EAGLE/runs/reflection_inspections/20260904_171444_033622_worker_rush_prompt_compliance_from_reflection_children/trials/prompt_compliance/trial_04/trial_summary.json</a:t>
            </a:r>
          </a:p>
          <a:p xmlns:a="http://schemas.openxmlformats.org/drawingml/2006/main">
            <a:r>
              <a:t>- /home/mhlab/EAGLE/runs/reflection_inspections/20260904_171444_033622_worker_rush_prompt_compliance_from_reflection_children/trials/prompt_compliance/trial_04/mutation/prompt_compliance_reflection/strategy_rewriter_attempt_005_response_raw.txt</a:t>
            </a:r>
          </a:p>
          <a:p xmlns:a="http://schemas.openxmlformats.org/drawingml/2006/main">
            <a:r>
              <a:t>- /home/mhlab/EAGLE/prompts/strategy_contract_rewrite.txt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prompt architecture</a:t>
            </a:r>
          </a:p>
          <a:p xmlns:a="http://schemas.openxmlformats.org/drawingml/2006/main">
            <a:r>
              <a:t/>
            </a:r>
          </a:p>
          <a:p xmlns:a="http://schemas.openxmlformats.org/drawingml/2006/main">
            <a:r>
              <a:t>[Sources]</a:t>
            </a:r>
          </a:p>
          <a:p xmlns:a="http://schemas.openxmlformats.org/drawingml/2006/main">
            <a:r>
              <a:t>- /home/mhlab/EAGLE/prompts/microrts_gameplay_contract.txt</a:t>
            </a:r>
          </a:p>
          <a:p xmlns:a="http://schemas.openxmlformats.org/drawingml/2006/main">
            <a:r>
              <a:t>- /home/mhlab/EAGLE/prompts/manifest.toml</a:t>
            </a:r>
          </a:p>
          <a:p xmlns:a="http://schemas.openxmlformats.org/drawingml/2006/main">
            <a:r>
              <a:t>- /home/mhlab/EAGLE/prompts/role_validation_retry.txt</a:t>
            </a:r>
          </a:p>
          <a:p xmlns:a="http://schemas.openxmlformats.org/drawingml/2006/main">
            <a:r>
              <a:t>- /home/mhlab/EAGLE/prompts/rewrite_validation_retry.txt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Strategy Reflection meta-prompts</a:t>
            </a:r>
          </a:p>
          <a:p xmlns:a="http://schemas.openxmlformats.org/drawingml/2006/main">
            <a:r>
              <a:t/>
            </a:r>
          </a:p>
          <a:p xmlns:a="http://schemas.openxmlformats.org/drawingml/2006/main">
            <a:r>
              <a:t>[Sources]</a:t>
            </a:r>
          </a:p>
          <a:p xmlns:a="http://schemas.openxmlformats.org/drawingml/2006/main">
            <a:r>
              <a:t>- /home/mhlab/EAGLE/prompts/coach_refine.txt</a:t>
            </a:r>
          </a:p>
          <a:p xmlns:a="http://schemas.openxmlformats.org/drawingml/2006/main">
            <a:r>
              <a:t>- /home/mhlab/EAGLE/prompts/coach_counter.txt</a:t>
            </a:r>
          </a:p>
          <a:p xmlns:a="http://schemas.openxmlformats.org/drawingml/2006/main">
            <a:r>
              <a:t>- /home/mhlab/EAGLE/prompts/coach_structural.txt</a:t>
            </a:r>
          </a:p>
          <a:p xmlns:a="http://schemas.openxmlformats.org/drawingml/2006/main">
            <a:r>
              <a:t>- /home/mhlab/EAGLE/prompts/coach_alternative.txt</a:t>
            </a:r>
          </a:p>
          <a:p xmlns:a="http://schemas.openxmlformats.org/drawingml/2006/main">
            <a:r>
              <a:t>- /home/mhlab/EAGLE/prompts/strategy_contract_rewrite.txt</a:t>
            </a:r>
          </a:p>
          <a:p xmlns:a="http://schemas.openxmlformats.org/drawingml/2006/main">
            <a:r>
              <a:t/>
            </a:r>
          </a:p>
          <a:p xmlns:a="http://schemas.openxmlformats.org/drawingml/2006/main">
            <a:r>
              <a:t>FULL coach_refine.txt</a:t>
            </a:r>
          </a:p>
          <a:p xmlns:a="http://schemas.openxmlformats.org/drawingml/2006/main">
            <a:r>
              <a:t>ROLE: coach</a:t>
            </a:r>
          </a:p>
          <a:p xmlns:a="http://schemas.openxmlformats.org/drawingml/2006/main">
            <a:r>
              <a:t>You are the Coach of an evolutionary MicroRTS team.</a:t>
            </a:r>
          </a:p>
          <a:p xmlns:a="http://schemas.openxmlformats.org/drawingml/2006/main">
            <a:r>
              <a:t>Revise the parent strategy prompt from the deterministic Global Evaluation Summary and the selected Match Commentator diagnoses.</a:t>
            </a:r>
          </a:p>
          <a:p xmlns:a="http://schemas.openxmlformats.org/drawingml/2006/main">
            <a:r>
              <a:t>The replacement may be a genuinely different strategy type, but every rule</a:t>
            </a:r>
          </a:p>
          <a:p xmlns:a="http://schemas.openxmlformats.org/drawingml/2006/main">
            <a:r>
              <a:t>must be executable in this complete gameplay contract:</a:t>
            </a:r>
          </a:p>
          <a:p xmlns:a="http://schemas.openxmlformats.org/drawingml/2006/main">
            <a:r>
              <a:t>$gameplay_contract</a:t>
            </a:r>
          </a:p>
          <a:p xmlns:a="http://schemas.openxmlformats.org/drawingml/2006/main">
            <a:r>
              <a:t>The Global Evaluation Summary provides breadth across all evaluated matches; Commentator diagnoses provide depth for representative individual matches.</a:t>
            </a:r>
          </a:p>
          <a:p xmlns:a="http://schemas.openxmlformats.org/drawingml/2006/main">
            <a:r>
              <a:t>Treat fully beaten opponents as capabilities that must be preserved.</a:t>
            </a:r>
          </a:p>
          <a:p xmlns:a="http://schemas.openxmlformats.org/drawingml/2006/main">
            <a:r>
              <a:t>Prioritize recurring failures across different opponents and maps, preserve successful behavior, and avoid fixing one sampled game by introducing regressions elsewhere.</a:t>
            </a:r>
          </a:p>
          <a:p xmlns:a="http://schemas.openxmlformats.org/drawingml/2006/main">
            <a:r>
              <a:t>Prefer general strategy rules when multiple diagnoses share a cause; use opponent-specific branching only when necessary.</a:t>
            </a:r>
          </a:p>
          <a:p xmlns:a="http://schemas.openxmlformats.org/drawingml/2006/main">
            <a:r>
              <a:t>Do not write Java or implementation instructions.</a:t>
            </a:r>
          </a:p>
          <a:p xmlns:a="http://schemas.openxmlformats.org/drawingml/2006/main">
            <a:r>
              <a:t/>
            </a:r>
          </a:p>
          <a:p xmlns:a="http://schemas.openxmlformats.org/drawingml/2006/main">
            <a:r>
              <a:t>Use the gameplay contract as the sole rules reference. The replacement may</a:t>
            </a:r>
          </a:p>
          <a:p xmlns:a="http://schemas.openxmlformats.org/drawingml/2006/main">
            <a:r>
              <a:t>change strategy type, but each rule must use current observable state, an idle</a:t>
            </a:r>
          </a:p>
          <a:p xmlns:a="http://schemas.openxmlformats.org/drawingml/2006/main">
            <a:r>
              <a:t>friendly actor, and a legal action with its required target, cost, and placement</a:t>
            </a:r>
          </a:p>
          <a:p xmlns:a="http://schemas.openxmlformats.org/drawingml/2006/main">
            <a:r>
              <a:t>conditions. Keep the replacement to at most 10 stand-alone rules and check it</a:t>
            </a:r>
          </a:p>
          <a:p xmlns:a="http://schemas.openxmlformats.org/drawingml/2006/main">
            <a:r>
              <a:t>against the contract before returning it.</a:t>
            </a:r>
          </a:p>
          <a:p xmlns:a="http://schemas.openxmlformats.org/drawingml/2006/main">
            <a:r>
              <a:t>Return a replacement strategy prompt with concrete conditional behavioral rules.</a:t>
            </a:r>
          </a:p>
          <a:p xmlns:a="http://schemas.openxmlformats.org/drawingml/2006/main">
            <a:r>
              <a:t>The replacement must be the concrete game-playing policy itself, never a meta-instruction asking another role to define or design a policy.</a:t>
            </a:r>
          </a:p>
          <a:p xmlns:a="http://schemas.openxmlformats.org/drawingml/2006/main">
            <a:r>
              <a:t>Mutation Intent: REFINE</a:t>
            </a:r>
          </a:p>
          <a:p xmlns:a="http://schemas.openxmlformats.org/drawingml/2006/main">
            <a:r>
              <a:t>Preserve the parent's overall strategic identity. Modify only the strategic behaviors required to address the highest-priority findings in the selected match diagnoses.</a:t>
            </a:r>
          </a:p>
          <a:p xmlns:a="http://schemas.openxmlformats.org/drawingml/2006/main">
            <a:r>
              <a:t>Return exactly one valid JSON object with strategy_changes, strategy_signature, parent_strategy_prompt, and new_strategy_prompt. Do not use Markdown fences. Escape line breaks inside JSON strings as \n.</a:t>
            </a:r>
          </a:p>
          <a:p xmlns:a="http://schemas.openxmlformats.org/drawingml/2006/main">
            <a:r>
              <a:t>strategy_changes must contain preserved, removed_or_reduced, and added_or_strengthened arrays.</a:t>
            </a:r>
          </a:p>
          <a:p xmlns:a="http://schemas.openxmlformats.org/drawingml/2006/main">
            <a:r>
              <a:t>strategy_signature must contain short categorical opening, economy, production, attack_timing, combat_style, expansion, defense, and target_priority fields.</a:t>
            </a:r>
          </a:p>
          <a:p xmlns:a="http://schemas.openxmlformats.org/drawingml/2006/main">
            <a:r>
              <a:t>Do not append reflection history recursively.</a:t>
            </a:r>
          </a:p>
          <a:p xmlns:a="http://schemas.openxmlformats.org/drawingml/2006/main">
            <a:r>
              <a:t>Do not write Java, discuss implementation details, or return analysis outside the schema.</a:t>
            </a:r>
          </a:p>
          <a:p xmlns:a="http://schemas.openxmlformats.org/drawingml/2006/main">
            <a:r>
              <a:t>parent_strategy_prompt: $parent_strategy_prompt</a:t>
            </a:r>
          </a:p>
          <a:p xmlns:a="http://schemas.openxmlformats.org/drawingml/2006/main">
            <a:r>
              <a:t>commentator_diagnoses_and_evaluation_metadata: $commentator_diagnoses_and_evaluation_metadata</a:t>
            </a:r>
          </a:p>
          <a:p xmlns:a="http://schemas.openxmlformats.org/drawingml/2006/main">
            <a:r>
              <a:t/>
            </a:r>
          </a:p>
          <a:p xmlns:a="http://schemas.openxmlformats.org/drawingml/2006/main">
            <a:r>
              <a:t/>
            </a:r>
          </a:p>
          <a:p xmlns:a="http://schemas.openxmlformats.org/drawingml/2006/main">
            <a:r>
              <a:t>FULL strategy_contract_rewrite.txt</a:t>
            </a:r>
          </a:p>
          <a:p xmlns:a="http://schemas.openxmlformats.org/drawingml/2006/main">
            <a:r>
              <a:t>ROLE: strategy_contract_rewriter</a:t>
            </a:r>
          </a:p>
          <a:p xmlns:a="http://schemas.openxmlformats.org/drawingml/2006/main">
            <a:r>
              <a:t/>
            </a:r>
          </a:p>
          <a:p xmlns:a="http://schemas.openxmlformats.org/drawingml/2006/main">
            <a:r>
              <a:t>Repair the proposed MicroRTS policy using the deterministic validation error.</a:t>
            </a:r>
          </a:p>
          <a:p xmlns:a="http://schemas.openxmlformats.org/drawingml/2006/main">
            <a:r>
              <a:t>Preserve its strategic intent; change only what is needed for every rule to use</a:t>
            </a:r>
          </a:p>
          <a:p xmlns:a="http://schemas.openxmlformats.org/drawingml/2006/main">
            <a:r>
              <a:t>observable current state, an idle friendly actor, and legal actions with their</a:t>
            </a:r>
          </a:p>
          <a:p xmlns:a="http://schemas.openxmlformats.org/drawingml/2006/main">
            <a:r>
              <a:t>required target, cost, range, and placement conditions. The acting unit—not the</a:t>
            </a:r>
          </a:p>
          <a:p xmlns:a="http://schemas.openxmlformats.org/drawingml/2006/main">
            <a:r>
              <a:t>target—determines attack range. Keep at most 10 stand-alone rules. Do not add</a:t>
            </a:r>
          </a:p>
          <a:p xmlns:a="http://schemas.openxmlformats.org/drawingml/2006/main">
            <a:r>
              <a:t>performance analysis, Java, API language, or a different strategy objective.</a:t>
            </a:r>
          </a:p>
          <a:p xmlns:a="http://schemas.openxmlformats.org/drawingml/2006/main">
            <a:r>
              <a:t/>
            </a:r>
          </a:p>
          <a:p xmlns:a="http://schemas.openxmlformats.org/drawingml/2006/main">
            <a:r>
              <a:t>Complete gameplay contract:</a:t>
            </a:r>
          </a:p>
          <a:p xmlns:a="http://schemas.openxmlformats.org/drawingml/2006/main">
            <a:r>
              <a:t>$gameplay_contract</a:t>
            </a:r>
          </a:p>
          <a:p xmlns:a="http://schemas.openxmlformats.org/drawingml/2006/main">
            <a:r>
              <a:t/>
            </a:r>
          </a:p>
          <a:p xmlns:a="http://schemas.openxmlformats.org/drawingml/2006/main">
            <a:r>
              <a:t>Proposed strategy:</a:t>
            </a:r>
          </a:p>
          <a:p xmlns:a="http://schemas.openxmlformats.org/drawingml/2006/main">
            <a:r>
              <a:t>$proposed_strategy_prompt</a:t>
            </a:r>
          </a:p>
          <a:p xmlns:a="http://schemas.openxmlformats.org/drawingml/2006/main">
            <a:r>
              <a:t/>
            </a:r>
          </a:p>
          <a:p xmlns:a="http://schemas.openxmlformats.org/drawingml/2006/main">
            <a:r>
              <a:t>Validation error to correct:</a:t>
            </a:r>
          </a:p>
          <a:p xmlns:a="http://schemas.openxmlformats.org/drawingml/2006/main">
            <a:r>
              <a:t>$validation_error</a:t>
            </a:r>
          </a:p>
          <a:p xmlns:a="http://schemas.openxmlformats.org/drawingml/2006/main">
            <a:r>
              <a:t/>
            </a:r>
          </a:p>
          <a:p xmlns:a="http://schemas.openxmlformats.org/drawingml/2006/main">
            <a:r>
              <a:t>Return exactly one raw JSON object with no prose, Markdown, or extra keys:</a:t>
            </a:r>
          </a:p>
          <a:p xmlns:a="http://schemas.openxmlformats.org/drawingml/2006/main">
            <a:r>
              <a:t>{"revised_strategy_prompt":"&lt;complete corrected policy&gt;"}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Code Reflection meta-prompt</a:t>
            </a:r>
          </a:p>
          <a:p xmlns:a="http://schemas.openxmlformats.org/drawingml/2006/main">
            <a:r>
              <a:t/>
            </a:r>
          </a:p>
          <a:p xmlns:a="http://schemas.openxmlformats.org/drawingml/2006/main">
            <a:r>
              <a:t>[Sources]</a:t>
            </a:r>
          </a:p>
          <a:p xmlns:a="http://schemas.openxmlformats.org/drawingml/2006/main">
            <a:r>
              <a:t>- /home/mhlab/EAGLE/prompts/code_rewrite.txt</a:t>
            </a:r>
          </a:p>
          <a:p xmlns:a="http://schemas.openxmlformats.org/drawingml/2006/main">
            <a:r>
              <a:t/>
            </a:r>
          </a:p>
          <a:p xmlns:a="http://schemas.openxmlformats.org/drawingml/2006/main">
            <a:r>
              <a:t>FULL code_rewrite.txt</a:t>
            </a:r>
          </a:p>
          <a:p xmlns:a="http://schemas.openxmlformats.org/drawingml/2006/main">
            <a:r>
              <a:t>EAGLE Code Generation Prompt Rewrite stage.</a:t>
            </a:r>
          </a:p>
          <a:p xmlns:a="http://schemas.openxmlformats.org/drawingml/2006/main">
            <a:r>
              <a:t/>
            </a:r>
          </a:p>
          <a:p xmlns:a="http://schemas.openxmlformats.org/drawingml/2006/main">
            <a:r>
              <a:t>Improve the reusable rules that translate any policy prompt into complete Java. Return a</a:t>
            </a:r>
          </a:p>
          <a:p xmlns:a="http://schemas.openxmlformats.org/drawingml/2006/main">
            <a:r>
              <a:t>rule delta; runtime applies it deterministically to the current rules. Do not rewrite the</a:t>
            </a:r>
          </a:p>
          <a:p xmlns:a="http://schemas.openxmlformats.org/drawingml/2006/main">
            <a:r>
              <a:t>whole prompt.</a:t>
            </a:r>
          </a:p>
          <a:p xmlns:a="http://schemas.openxmlformats.org/drawingml/2006/main">
            <a:r>
              <a:t/>
            </a:r>
          </a:p>
          <a:p xmlns:a="http://schemas.openxmlformats.org/drawingml/2006/main">
            <a:r>
              <a:t>Return exactly one JSON object with this schema:</a:t>
            </a:r>
          </a:p>
          <a:p xmlns:a="http://schemas.openxmlformats.org/drawingml/2006/main">
            <a:r>
              <a:t>{"remove_rule_ids":[],"add_rules":[{"category":"requirement_coverage|priority_ordering|role_assignment|state_continuity|targeting_fallback|policy_grounding|api_compliance","instruction":"&lt;one reusable rule&gt;"}]}</a:t>
            </a:r>
          </a:p>
          <a:p xmlns:a="http://schemas.openxmlformats.org/drawingml/2006/main">
            <a:r>
              <a:t/>
            </a:r>
          </a:p>
          <a:p xmlns:a="http://schemas.openxmlformats.org/drawingml/2006/main">
            <a:r>
              <a:t>The object must contain exactly those two keys. Return exactly one add_rules item and at</a:t>
            </a:r>
          </a:p>
          <a:p xmlns:a="http://schemas.openxmlformats.org/drawingml/2006/main">
            <a:r>
              <a:t>most one remove_rule_ids item. A removal may name only an ID from Current reusable rules.</a:t>
            </a:r>
          </a:p>
          <a:p xmlns:a="http://schemas.openxmlformats.org/drawingml/2006/main">
            <a:r>
              <a:t>The added item must contain exactly category and instruction. Its instruction must be one</a:t>
            </a:r>
          </a:p>
          <a:p xmlns:a="http://schemas.openxmlformats.org/drawingml/2006/main">
            <a:r>
              <a:t>compact policy-agnostic sentence containing 12-240 characters after whitespace is</a:t>
            </a:r>
          </a:p>
          <a:p xmlns:a="http://schemas.openxmlformats.org/drawingml/2006/main">
            <a:r>
              <a:t>normalized. The final rule set may contain at most 10 rules, so when Current reusable rules</a:t>
            </a:r>
          </a:p>
          <a:p xmlns:a="http://schemas.openxmlformats.org/drawingml/2006/main">
            <a:r>
              <a:t>already contains 10 entries, replace one by returning exactly one valid removal ID.</a:t>
            </a:r>
          </a:p>
          <a:p xmlns:a="http://schemas.openxmlformats.org/drawingml/2006/main">
            <a:r>
              <a:t/>
            </a:r>
          </a:p>
          <a:p xmlns:a="http://schemas.openxmlformats.org/drawingml/2006/main">
            <a:r>
              <a:t>Every added instruction must be policy-agnostic and useful for unseen policies. Convert a</a:t>
            </a:r>
          </a:p>
          <a:p xmlns:a="http://schemas.openxmlformats.org/drawingml/2006/main">
            <a:r>
              <a:t>specific mismatch into a general translation principle such as preserving policy priority,</a:t>
            </a:r>
          </a:p>
          <a:p xmlns:a="http://schemas.openxmlformats.org/drawingml/2006/main">
            <a:r>
              <a:t>making stated conditions reachable, or maintaining mutually exclusive roles. Never copy or</a:t>
            </a:r>
          </a:p>
          <a:p xmlns:a="http://schemas.openxmlformats.org/drawingml/2006/main">
            <a:r>
              <a:t>paraphrase the current policy, name its concrete units/structures/strategy, prescribe helper</a:t>
            </a:r>
          </a:p>
          <a:p xmlns:a="http://schemas.openxmlformats.org/drawingml/2006/main">
            <a:r>
              <a:t>or variable names, include Java fragments, or request edits to the immutable scaffold. The</a:t>
            </a:r>
          </a:p>
          <a:p xmlns:a="http://schemas.openxmlformats.org/drawingml/2006/main">
            <a:r>
              <a:t>policy is supplied separately to the Generator and must not be embedded in this reusable</a:t>
            </a:r>
          </a:p>
          <a:p xmlns:a="http://schemas.openxmlformats.org/drawingml/2006/main">
            <a:r>
              <a:t>gene. Do not include examples, parenthetical evidence, quoted policy phrases, code syntax,</a:t>
            </a:r>
          </a:p>
          <a:p xmlns:a="http://schemas.openxmlformats.org/drawingml/2006/main">
            <a:r>
              <a:t>or names copied from the review or API contract. Do not return Java, analysis, a patch, a</a:t>
            </a:r>
          </a:p>
          <a:p xmlns:a="http://schemas.openxmlformats.org/drawingml/2006/main">
            <a:r>
              <a:t>diff, or Markdown.</a:t>
            </a:r>
          </a:p>
          <a:p xmlns:a="http://schemas.openxmlformats.org/drawingml/2006/main">
            <a:r>
              <a:t/>
            </a:r>
          </a:p>
          <a:p xmlns:a="http://schemas.openxmlformats.org/drawingml/2006/main">
            <a:r>
              <a:t>Describe a policy-agnostic translation invariant, not a concrete strategy,</a:t>
            </a:r>
          </a:p>
          <a:p xmlns:a="http://schemas.openxmlformats.org/drawingml/2006/main">
            <a:r>
              <a:t>Java/API detail, scaffold edit, or invented runtime mechanism. Preserve the</a:t>
            </a:r>
          </a:p>
          <a:p xmlns:a="http://schemas.openxmlformats.org/drawingml/2006/main">
            <a:r>
              <a:t>idle-friendly-actor requirement for every translated action.</a:t>
            </a:r>
          </a:p>
          <a:p xmlns:a="http://schemas.openxmlformats.org/drawingml/2006/main">
            <a:r>
              <a:t/>
            </a:r>
          </a:p>
          <a:p xmlns:a="http://schemas.openxmlformats.org/drawingml/2006/main">
            <a:r>
              <a:t>Current code_generation_prompt:</a:t>
            </a:r>
          </a:p>
          <a:p xmlns:a="http://schemas.openxmlformats.org/drawingml/2006/main">
            <a:r>
              <a:t>$code_generation_prompt</a:t>
            </a:r>
          </a:p>
          <a:p xmlns:a="http://schemas.openxmlformats.org/drawingml/2006/main">
            <a:r>
              <a:t/>
            </a:r>
          </a:p>
          <a:p xmlns:a="http://schemas.openxmlformats.org/drawingml/2006/main">
            <a:r>
              <a:t>Current reusable rules (either a valid canonical JSON array, or an invalid status object whose</a:t>
            </a:r>
          </a:p>
          <a:p xmlns:a="http://schemas.openxmlformats.org/drawingml/2006/main">
            <a:r>
              <a:t>recoverable_rules are retained while rejected rules are discarded; legacy free-form prompts</a:t>
            </a:r>
          </a:p>
          <a:p xmlns:a="http://schemas.openxmlformats.org/drawingml/2006/main">
            <a:r>
              <a:t>have no retained reusable rules and must be repaired through add_rules):</a:t>
            </a:r>
          </a:p>
          <a:p xmlns:a="http://schemas.openxmlformats.org/drawingml/2006/main">
            <a:r>
              <a:t>$current_reusable_rules</a:t>
            </a:r>
          </a:p>
          <a:p xmlns:a="http://schemas.openxmlformats.org/drawingml/2006/main">
            <a:r>
              <a:t/>
            </a:r>
          </a:p>
          <a:p xmlns:a="http://schemas.openxmlformats.org/drawingml/2006/main">
            <a:r>
              <a:t>Policy-Code Alignment Review:</a:t>
            </a:r>
          </a:p>
          <a:p xmlns:a="http://schemas.openxmlformats.org/drawingml/2006/main">
            <a:r>
              <a:t>$alignment_review</a:t>
            </a:r>
          </a:p>
          <a:p xmlns:a="http://schemas.openxmlformats.org/drawingml/2006/main">
            <a:r>
              <a:t/>
            </a:r>
          </a:p>
          <a:p xmlns:a="http://schemas.openxmlformats.org/drawingml/2006/main">
            <a:r>
              <a:t>Immutable MicroRTS API contract (the replacement prompt must defer to it and</a:t>
            </a:r>
          </a:p>
          <a:p xmlns:a="http://schemas.openxmlformats.org/drawingml/2006/main">
            <a:r>
              <a:t>must not copy its concrete helpers into reusable rules or claim that any unlisted helper or</a:t>
            </a:r>
          </a:p>
          <a:p xmlns:a="http://schemas.openxmlformats.org/drawingml/2006/main">
            <a:r>
              <a:t>member is provided):</a:t>
            </a:r>
          </a:p>
          <a:p xmlns:a="http://schemas.openxmlformats.org/drawingml/2006/main">
            <a:r>
              <a:t>$action_api_guide</a:t>
            </a:r>
          </a:p>
          <a:p xmlns:a="http://schemas.openxmlformats.org/drawingml/2006/main">
            <a:r>
              <a:t/>
            </a:r>
          </a:p>
          <a:p xmlns:a="http://schemas.openxmlformats.org/drawingml/2006/main">
            <a:r>
              <a:t>Output only the JSON object.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Prompt Compliance meta-prompts</a:t>
            </a:r>
          </a:p>
          <a:p xmlns:a="http://schemas.openxmlformats.org/drawingml/2006/main">
            <a:r>
              <a:t/>
            </a:r>
          </a:p>
          <a:p xmlns:a="http://schemas.openxmlformats.org/drawingml/2006/main">
            <a:r>
              <a:t>[Sources]</a:t>
            </a:r>
          </a:p>
          <a:p xmlns:a="http://schemas.openxmlformats.org/drawingml/2006/main">
            <a:r>
              <a:t>- /home/mhlab/EAGLE/prompts/prompt_compliance_reflection.txt</a:t>
            </a:r>
          </a:p>
          <a:p xmlns:a="http://schemas.openxmlformats.org/drawingml/2006/main">
            <a:r>
              <a:t>- /home/mhlab/EAGLE/prompts/prompt_compliance_strategy_rewrite.txt</a:t>
            </a:r>
          </a:p>
          <a:p xmlns:a="http://schemas.openxmlformats.org/drawingml/2006/main">
            <a:r>
              <a:t>- /home/mhlab/EAGLE/prompts/prompt_compliance_code_rewrite.txt</a:t>
            </a:r>
          </a:p>
          <a:p xmlns:a="http://schemas.openxmlformats.org/drawingml/2006/main">
            <a:r>
              <a:t/>
            </a:r>
          </a:p>
          <a:p xmlns:a="http://schemas.openxmlformats.org/drawingml/2006/main">
            <a:r>
              <a:t>FULL REFLECTOR</a:t>
            </a:r>
          </a:p>
          <a:p xmlns:a="http://schemas.openxmlformats.org/drawingml/2006/main">
            <a:r>
              <a:t>EAGLE Prompt Compliance Reflection stage.</a:t>
            </a:r>
          </a:p>
          <a:p xmlns:a="http://schemas.openxmlformats.org/drawingml/2006/main">
            <a:r>
              <a:t/>
            </a:r>
          </a:p>
          <a:p xmlns:a="http://schemas.openxmlformats.org/drawingml/2006/main">
            <a:r>
              <a:t>Audit only the active strategy_prompt and code_generation_prompt. Find rules</a:t>
            </a:r>
          </a:p>
          <a:p xmlns:a="http://schemas.openxmlformats.org/drawingml/2006/main">
            <a:r>
              <a:t>that cannot be implemented legally and faithfully under the supplied MicroRTS</a:t>
            </a:r>
          </a:p>
          <a:p xmlns:a="http://schemas.openxmlformats.org/drawingml/2006/main">
            <a:r>
              <a:t>gameplay and Java/action API contracts. This stage does not evaluate wins,</a:t>
            </a:r>
          </a:p>
          <a:p xmlns:a="http://schemas.openxmlformats.org/drawingml/2006/main">
            <a:r>
              <a:t>losses, strategy strength, match behavior, or Java quality, and does not rewrite</a:t>
            </a:r>
          </a:p>
          <a:p xmlns:a="http://schemas.openxmlformats.org/drawingml/2006/main">
            <a:r>
              <a:t>either prompt.</a:t>
            </a:r>
          </a:p>
          <a:p xmlns:a="http://schemas.openxmlformats.org/drawingml/2006/main">
            <a:r>
              <a:t/>
            </a:r>
          </a:p>
          <a:p xmlns:a="http://schemas.openxmlformats.org/drawingml/2006/main">
            <a:r>
              <a:t>For strategy_prompt, report only nonexistent game concepts, unavailable state,</a:t>
            </a:r>
          </a:p>
          <a:p xmlns:a="http://schemas.openxmlformats.org/drawingml/2006/main">
            <a:r>
              <a:t>illegal actions or production relations, and instructions too ambiguous or</a:t>
            </a:r>
          </a:p>
          <a:p xmlns:a="http://schemas.openxmlformats.org/drawingml/2006/main">
            <a:r>
              <a:t>contradictory to execute. A strategy may change type; strategic type is not a compliance violation.</a:t>
            </a:r>
          </a:p>
          <a:p xmlns:a="http://schemas.openxmlformats.org/drawingml/2006/main">
            <a:r>
              <a:t/>
            </a:r>
          </a:p>
          <a:p xmlns:a="http://schemas.openxmlformats.org/drawingml/2006/main">
            <a:r>
              <a:t>For code_generation_prompt, report only policy-specific content, unsupported</a:t>
            </a:r>
          </a:p>
          <a:p xmlns:a="http://schemas.openxmlformats.org/drawingml/2006/main">
            <a:r>
              <a:t>API assumptions, scaffold changes, or conflicting reusable translation rules.</a:t>
            </a:r>
          </a:p>
          <a:p xmlns:a="http://schemas.openxmlformats.org/drawingml/2006/main">
            <a:r>
              <a:t>Audit it independently from the strategy prompt. When Current reusable rules is</a:t>
            </a:r>
          </a:p>
          <a:p xmlns:a="http://schemas.openxmlformats.org/drawingml/2006/main">
            <a:r>
              <a:t>a non-empty JSON array, it already passed the authoritative rule validator, so</a:t>
            </a:r>
          </a:p>
          <a:p xmlns:a="http://schemas.openxmlformats.org/drawingml/2006/main">
            <a:r>
              <a:t>return no code-generation issue. When it is an invalid status object, report</a:t>
            </a:r>
          </a:p>
          <a:p xmlns:a="http://schemas.openxmlformats.org/drawingml/2006/main">
            <a:r>
              <a:t>its validation_error; recoverable_rules are the valid rules a repair may keep.</a:t>
            </a:r>
          </a:p>
          <a:p xmlns:a="http://schemas.openxmlformats.org/drawingml/2006/main">
            <a:r>
              <a:t/>
            </a:r>
          </a:p>
          <a:p xmlns:a="http://schemas.openxmlformats.org/drawingml/2006/main">
            <a:r>
              <a:t>Every reported problem must identify content in its corresponding source. If</a:t>
            </a:r>
          </a:p>
          <a:p xmlns:a="http://schemas.openxmlformats.org/drawingml/2006/main">
            <a:r>
              <a:t>one source is compliant, return empty issue and rewrite-focus arrays for that</a:t>
            </a:r>
          </a:p>
          <a:p xmlns:a="http://schemas.openxmlformats.org/drawingml/2006/main">
            <a:r>
              <a:t>source. A rewrite-focus array is non-empty exactly when its issue array is</a:t>
            </a:r>
          </a:p>
          <a:p xmlns:a="http://schemas.openxmlformats.org/drawingml/2006/main">
            <a:r>
              <a:t>non-empty.</a:t>
            </a:r>
          </a:p>
          <a:p xmlns:a="http://schemas.openxmlformats.org/drawingml/2006/main">
            <a:r>
              <a:t/>
            </a:r>
          </a:p>
          <a:p xmlns:a="http://schemas.openxmlformats.org/drawingml/2006/main">
            <a:r>
              <a:t>Current strategy_prompt:</a:t>
            </a:r>
          </a:p>
          <a:p xmlns:a="http://schemas.openxmlformats.org/drawingml/2006/main">
            <a:r>
              <a:t>$strategy_prompt</a:t>
            </a:r>
          </a:p>
          <a:p xmlns:a="http://schemas.openxmlformats.org/drawingml/2006/main">
            <a:r>
              <a:t/>
            </a:r>
          </a:p>
          <a:p xmlns:a="http://schemas.openxmlformats.org/drawingml/2006/main">
            <a:r>
              <a:t>Current code_generation_prompt:</a:t>
            </a:r>
          </a:p>
          <a:p xmlns:a="http://schemas.openxmlformats.org/drawingml/2006/main">
            <a:r>
              <a:t>$code_generation_prompt</a:t>
            </a:r>
          </a:p>
          <a:p xmlns:a="http://schemas.openxmlformats.org/drawingml/2006/main">
            <a:r>
              <a:t/>
            </a:r>
          </a:p>
          <a:p xmlns:a="http://schemas.openxmlformats.org/drawingml/2006/main">
            <a:r>
              <a:t>Current reusable rules:</a:t>
            </a:r>
          </a:p>
          <a:p xmlns:a="http://schemas.openxmlformats.org/drawingml/2006/main">
            <a:r>
              <a:t>$current_reusable_rules</a:t>
            </a:r>
          </a:p>
          <a:p xmlns:a="http://schemas.openxmlformats.org/drawingml/2006/main">
            <a:r>
              <a:t/>
            </a:r>
          </a:p>
          <a:p xmlns:a="http://schemas.openxmlformats.org/drawingml/2006/main">
            <a:r>
              <a:t>Complete MicroRTS gameplay contract:</a:t>
            </a:r>
          </a:p>
          <a:p xmlns:a="http://schemas.openxmlformats.org/drawingml/2006/main">
            <a:r>
              <a:t>$gameplay_contract</a:t>
            </a:r>
          </a:p>
          <a:p xmlns:a="http://schemas.openxmlformats.org/drawingml/2006/main">
            <a:r>
              <a:t/>
            </a:r>
          </a:p>
          <a:p xmlns:a="http://schemas.openxmlformats.org/drawingml/2006/main">
            <a:r>
              <a:t>Immutable Java/action API contract:</a:t>
            </a:r>
          </a:p>
          <a:p xmlns:a="http://schemas.openxmlformats.org/drawingml/2006/main">
            <a:r>
              <a:t>$action_api_guide</a:t>
            </a:r>
          </a:p>
          <a:p xmlns:a="http://schemas.openxmlformats.org/drawingml/2006/main">
            <a:r>
              <a:t/>
            </a:r>
          </a:p>
          <a:p xmlns:a="http://schemas.openxmlformats.org/drawingml/2006/main">
            <a:r>
              <a:t>Return exactly one raw JSON object with no prose or Markdown:</a:t>
            </a:r>
          </a:p>
          <a:p xmlns:a="http://schemas.openxmlformats.org/drawingml/2006/main">
            <a:r>
              <a:t>{"strategy_prompt_issues":[{"category":"illegal_game_concept|unobservable_condition|illegal_action_or_production|ambiguous_or_conflicting_rule","problem":"","correction_goal":""}],"code_generation_prompt_issues":[{"category":"policy_specific_instruction|unsupported_api_assumption|scope_or_scaffold_violation|ambiguous_or_conflicting_rule","problem":"","correction_goal":""}],"strategy_rewrite_focus":[""],"code_generation_rewrite_focus":[""]}</a:t>
            </a:r>
          </a:p>
          <a:p xmlns:a="http://schemas.openxmlformats.org/drawingml/2006/main">
            <a:r>
              <a:t/>
            </a:r>
          </a:p>
          <a:p xmlns:a="http://schemas.openxmlformats.org/drawingml/2006/main">
            <a:r>
              <a:t/>
            </a:r>
          </a:p>
          <a:p xmlns:a="http://schemas.openxmlformats.org/drawingml/2006/main">
            <a:r>
              <a:t>FULL STRATEGY REWRITER</a:t>
            </a:r>
          </a:p>
          <a:p xmlns:a="http://schemas.openxmlformats.org/drawingml/2006/main">
            <a:r>
              <a:t>EAGLE Prompt Compliance Strategy Prompt Rewrite stage.</a:t>
            </a:r>
          </a:p>
          <a:p xmlns:a="http://schemas.openxmlformats.org/drawingml/2006/main">
            <a:r>
              <a:t/>
            </a:r>
          </a:p>
          <a:p xmlns:a="http://schemas.openxmlformats.org/drawingml/2006/main">
            <a:r>
              <a:t>Repair only the reported compliance problems in the strategy prompt. Preserve</a:t>
            </a:r>
          </a:p>
          <a:p xmlns:a="http://schemas.openxmlformats.org/drawingml/2006/main">
            <a:r>
              <a:t>its valid intent and strategy type. Do not optimize for wins or losses or add</a:t>
            </a:r>
          </a:p>
          <a:p xmlns:a="http://schemas.openxmlformats.org/drawingml/2006/main">
            <a:r>
              <a:t>matchup advice. The strategy may differ substantially from Worker Rush when</a:t>
            </a:r>
          </a:p>
          <a:p xmlns:a="http://schemas.openxmlformats.org/drawingml/2006/main">
            <a:r>
              <a:t>that is already its intent.</a:t>
            </a:r>
          </a:p>
          <a:p xmlns:a="http://schemas.openxmlformats.org/drawingml/2006/main">
            <a:r>
              <a:t/>
            </a:r>
          </a:p>
          <a:p xmlns:a="http://schemas.openxmlformats.org/drawingml/2006/main">
            <a:r>
              <a:t>Use the gameplay contract as the sole source of truth. Each rule must use</a:t>
            </a:r>
          </a:p>
          <a:p xmlns:a="http://schemas.openxmlformats.org/drawingml/2006/main">
            <a:r>
              <a:t>current observable state, an idle friendly actor, and a legal action with all</a:t>
            </a:r>
          </a:p>
          <a:p xmlns:a="http://schemas.openxmlformats.org/drawingml/2006/main">
            <a:r>
              <a:t>required target, cost, range, and placement conditions. Remove or reformulate</a:t>
            </a:r>
          </a:p>
          <a:p xmlns:a="http://schemas.openxmlformats.org/drawingml/2006/main">
            <a:r>
              <a:t>invalid concepts without turning the policy into Java or API instructions.</a:t>
            </a:r>
          </a:p>
          <a:p xmlns:a="http://schemas.openxmlformats.org/drawingml/2006/main">
            <a:r>
              <a:t>Keep the complete replacement to at most 10 concise, stand-alone rules.</a:t>
            </a:r>
          </a:p>
          <a:p xmlns:a="http://schemas.openxmlformats.org/drawingml/2006/main">
            <a:r>
              <a:t/>
            </a:r>
          </a:p>
          <a:p xmlns:a="http://schemas.openxmlformats.org/drawingml/2006/main">
            <a:r>
              <a:t>Complete MicroRTS gameplay contract:</a:t>
            </a:r>
          </a:p>
          <a:p xmlns:a="http://schemas.openxmlformats.org/drawingml/2006/main">
            <a:r>
              <a:t>$gameplay_contract</a:t>
            </a:r>
          </a:p>
          <a:p xmlns:a="http://schemas.openxmlformats.org/drawingml/2006/main">
            <a:r>
              <a:t/>
            </a:r>
          </a:p>
          <a:p xmlns:a="http://schemas.openxmlformats.org/drawingml/2006/main">
            <a:r>
              <a:t>Current strategy_prompt:</a:t>
            </a:r>
          </a:p>
          <a:p xmlns:a="http://schemas.openxmlformats.org/drawingml/2006/main">
            <a:r>
              <a:t>$strategy_prompt</a:t>
            </a:r>
          </a:p>
          <a:p xmlns:a="http://schemas.openxmlformats.org/drawingml/2006/main">
            <a:r>
              <a:t/>
            </a:r>
          </a:p>
          <a:p xmlns:a="http://schemas.openxmlformats.org/drawingml/2006/main">
            <a:r>
              <a:t>Prompt Compliance analysis:</a:t>
            </a:r>
          </a:p>
          <a:p xmlns:a="http://schemas.openxmlformats.org/drawingml/2006/main">
            <a:r>
              <a:t>$prompt_compliance_analysis</a:t>
            </a:r>
          </a:p>
          <a:p xmlns:a="http://schemas.openxmlformats.org/drawingml/2006/main">
            <a:r>
              <a:t/>
            </a:r>
          </a:p>
          <a:p xmlns:a="http://schemas.openxmlformats.org/drawingml/2006/main">
            <a:r>
              <a:t>Return exactly one raw JSON object with no prose, Markdown, or extra keys:</a:t>
            </a:r>
          </a:p>
          <a:p xmlns:a="http://schemas.openxmlformats.org/drawingml/2006/main">
            <a:r>
              <a:t>{"revised_strategy_prompt":"&lt;complete replacement policy&gt;"}</a:t>
            </a:r>
          </a:p>
          <a:p xmlns:a="http://schemas.openxmlformats.org/drawingml/2006/main">
            <a:r>
              <a:t/>
            </a:r>
          </a:p>
          <a:p xmlns:a="http://schemas.openxmlformats.org/drawingml/2006/main">
            <a:r>
              <a:t/>
            </a:r>
          </a:p>
          <a:p xmlns:a="http://schemas.openxmlformats.org/drawingml/2006/main">
            <a:r>
              <a:t>FULL CODE REWRITER</a:t>
            </a:r>
          </a:p>
          <a:p xmlns:a="http://schemas.openxmlformats.org/drawingml/2006/main">
            <a:r>
              <a:t>EAGLE Prompt Compliance Code Generation Prompt Rewrite stage.</a:t>
            </a:r>
          </a:p>
          <a:p xmlns:a="http://schemas.openxmlformats.org/drawingml/2006/main">
            <a:r>
              <a:t/>
            </a:r>
          </a:p>
          <a:p xmlns:a="http://schemas.openxmlformats.org/drawingml/2006/main">
            <a:r>
              <a:t>Repair the reported code-generation-prompt compliance problem by returning one</a:t>
            </a:r>
          </a:p>
          <a:p xmlns:a="http://schemas.openxmlformats.org/drawingml/2006/main">
            <a:r>
              <a:t>reusable rule delta. The runtime applies and validates the delta; do not rewrite</a:t>
            </a:r>
          </a:p>
          <a:p xmlns:a="http://schemas.openxmlformats.org/drawingml/2006/main">
            <a:r>
              <a:t>the whole prompt or add a game-playing strategy.</a:t>
            </a:r>
          </a:p>
          <a:p xmlns:a="http://schemas.openxmlformats.org/drawingml/2006/main">
            <a:r>
              <a:t/>
            </a:r>
          </a:p>
          <a:p xmlns:a="http://schemas.openxmlformats.org/drawingml/2006/main">
            <a:r>
              <a:t>Return exactly one raw JSON object:</a:t>
            </a:r>
          </a:p>
          <a:p xmlns:a="http://schemas.openxmlformats.org/drawingml/2006/main">
            <a:r>
              <a:t>{"remove_rule_ids":[],"add_rules":[{"category":"requirement_coverage|priority_ordering|role_assignment|state_continuity|targeting_fallback|policy_grounding|api_compliance","instruction":"&lt;one reusable rule&gt;"}]}</a:t>
            </a:r>
          </a:p>
          <a:p xmlns:a="http://schemas.openxmlformats.org/drawingml/2006/main">
            <a:r>
              <a:t/>
            </a:r>
          </a:p>
          <a:p xmlns:a="http://schemas.openxmlformats.org/drawingml/2006/main">
            <a:r>
              <a:t>Use exactly one add_rules item and at most one removal ID from Current reusable</a:t>
            </a:r>
          </a:p>
          <a:p xmlns:a="http://schemas.openxmlformats.org/drawingml/2006/main">
            <a:r>
              <a:t>rules. The instruction must be one policy-agnostic sentence of 12-240 normalized</a:t>
            </a:r>
          </a:p>
          <a:p xmlns:a="http://schemas.openxmlformats.org/drawingml/2006/main">
            <a:r>
              <a:t>characters. If 10 rules already exist, replace one. State a translation</a:t>
            </a:r>
          </a:p>
          <a:p xmlns:a="http://schemas.openxmlformats.org/drawingml/2006/main">
            <a:r>
              <a:t>invariant, not Java, an API/helper name, a concrete strategy/entity, a scaffold</a:t>
            </a:r>
          </a:p>
          <a:p xmlns:a="http://schemas.openxmlformats.org/drawingml/2006/main">
            <a:r>
              <a:t>edit, or an invented runtime mechanism. Preserve the idle-actor requirement.</a:t>
            </a:r>
          </a:p>
          <a:p xmlns:a="http://schemas.openxmlformats.org/drawingml/2006/main">
            <a:r>
              <a:t/>
            </a:r>
          </a:p>
          <a:p xmlns:a="http://schemas.openxmlformats.org/drawingml/2006/main">
            <a:r>
              <a:t>Current code_generation_prompt:</a:t>
            </a:r>
          </a:p>
          <a:p xmlns:a="http://schemas.openxmlformats.org/drawingml/2006/main">
            <a:r>
              <a:t>$code_generation_prompt</a:t>
            </a:r>
          </a:p>
          <a:p xmlns:a="http://schemas.openxmlformats.org/drawingml/2006/main">
            <a:r>
              <a:t/>
            </a:r>
          </a:p>
          <a:p xmlns:a="http://schemas.openxmlformats.org/drawingml/2006/main">
            <a:r>
              <a:t>Current reusable rules (valid array or invalid status with recoverable rules):</a:t>
            </a:r>
          </a:p>
          <a:p xmlns:a="http://schemas.openxmlformats.org/drawingml/2006/main">
            <a:r>
              <a:t>$current_reusable_rules</a:t>
            </a:r>
          </a:p>
          <a:p xmlns:a="http://schemas.openxmlformats.org/drawingml/2006/main">
            <a:r>
              <a:t/>
            </a:r>
          </a:p>
          <a:p xmlns:a="http://schemas.openxmlformats.org/drawingml/2006/main">
            <a:r>
              <a:t>Prompt Compliance analysis:</a:t>
            </a:r>
          </a:p>
          <a:p xmlns:a="http://schemas.openxmlformats.org/drawingml/2006/main">
            <a:r>
              <a:t>$prompt_compliance_analysis</a:t>
            </a:r>
          </a:p>
          <a:p xmlns:a="http://schemas.openxmlformats.org/drawingml/2006/main">
            <a:r>
              <a:t/>
            </a:r>
          </a:p>
          <a:p xmlns:a="http://schemas.openxmlformats.org/drawingml/2006/main">
            <a:r>
              <a:t>Complete MicroRTS gameplay contract:</a:t>
            </a:r>
          </a:p>
          <a:p xmlns:a="http://schemas.openxmlformats.org/drawingml/2006/main">
            <a:r>
              <a:t>$gameplay_contract</a:t>
            </a:r>
          </a:p>
          <a:p xmlns:a="http://schemas.openxmlformats.org/drawingml/2006/main">
            <a:r>
              <a:t/>
            </a:r>
          </a:p>
          <a:p xmlns:a="http://schemas.openxmlformats.org/drawingml/2006/main">
            <a:r>
              <a:t>Immutable MicroRTS API contract:</a:t>
            </a:r>
          </a:p>
          <a:p xmlns:a="http://schemas.openxmlformats.org/drawingml/2006/main">
            <a:r>
              <a:t>$action_api_guide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gameplay contract</a:t>
            </a:r>
          </a:p>
          <a:p xmlns:a="http://schemas.openxmlformats.org/drawingml/2006/main">
            <a:r>
              <a:t/>
            </a:r>
          </a:p>
          <a:p xmlns:a="http://schemas.openxmlformats.org/drawingml/2006/main">
            <a:r>
              <a:t>[Sources]</a:t>
            </a:r>
          </a:p>
          <a:p xmlns:a="http://schemas.openxmlformats.org/drawingml/2006/main">
            <a:r>
              <a:t>- /home/mhlab/EAGLE/prompts/microrts_gameplay_contract.txt</a:t>
            </a:r>
          </a:p>
          <a:p xmlns:a="http://schemas.openxmlformats.org/drawingml/2006/main">
            <a:r>
              <a:t/>
            </a:r>
          </a:p>
          <a:p xmlns:a="http://schemas.openxmlformats.org/drawingml/2006/main">
            <a:r>
              <a:t>FULL microrts_gameplay_contract.txt</a:t>
            </a:r>
          </a:p>
          <a:p xmlns:a="http://schemas.openxmlformats.org/drawingml/2006/main">
            <a:r>
              <a:t>IMMUTABLE MICRORTS GAMEPLAY CONTRACT.</a:t>
            </a:r>
          </a:p>
          <a:p xmlns:a="http://schemas.openxmlformats.org/drawingml/2006/main">
            <a:r>
              <a:t/>
            </a:r>
          </a:p>
          <a:p xmlns:a="http://schemas.openxmlformats.org/drawingml/2006/main">
            <a:r>
              <a:t>Treat this as a closed-world description of the game available to a strategy.</a:t>
            </a:r>
          </a:p>
          <a:p xmlns:a="http://schemas.openxmlformats.org/drawingml/2006/main">
            <a:r>
              <a:t>A policy may use any strategic identity, unit composition, timing, positioning,</a:t>
            </a:r>
          </a:p>
          <a:p xmlns:a="http://schemas.openxmlformats.org/drawingml/2006/main">
            <a:r>
              <a:t>branching, or opponent adaptation expressible with these mechanics. It may</a:t>
            </a:r>
          </a:p>
          <a:p xmlns:a="http://schemas.openxmlformats.org/drawingml/2006/main">
            <a:r>
              <a:t>depart substantially from its parent strategy. Do not assume an entity,</a:t>
            </a:r>
          </a:p>
          <a:p xmlns:a="http://schemas.openxmlformats.org/drawingml/2006/main">
            <a:r>
              <a:t>capability, observation, or action that is not listed here.</a:t>
            </a:r>
          </a:p>
          <a:p xmlns:a="http://schemas.openxmlformats.org/drawingml/2006/main">
            <a:r>
              <a:t/>
            </a:r>
          </a:p>
          <a:p xmlns:a="http://schemas.openxmlformats.org/drawingml/2006/main">
            <a:r>
              <a:t>Game objective and world:</a:t>
            </a:r>
          </a:p>
          <a:p xmlns:a="http://schemas.openxmlformats.org/drawingml/2006/main">
            <a:r>
              <a:t>- Two players act on a rectangular grid measured in cells and game cycles.</a:t>
            </a:r>
          </a:p>
          <a:p xmlns:a="http://schemas.openxmlformats.org/drawingml/2006/main">
            <a:r>
              <a:t>- The evaluated game state is fully observable; there is no fog-of-war or</a:t>
            </a:r>
          </a:p>
          <a:p xmlns:a="http://schemas.openxmlformats.org/drawingml/2006/main">
            <a:r>
              <a:t>  information-revealing scouting mechanic.</a:t>
            </a:r>
          </a:p>
          <a:p xmlns:a="http://schemas.openxmlformats.org/drawingml/2006/main">
            <a:r>
              <a:t>- A player wins by eliminating every enemy-owned unit and building. A match</a:t>
            </a:r>
          </a:p>
          <a:p xmlns:a="http://schemas.openxmlformats.org/drawingml/2006/main">
            <a:r>
              <a:t>  that reaches its configured cycle limit without a winner is a draw.</a:t>
            </a:r>
          </a:p>
          <a:p xmlns:a="http://schemas.openxmlformats.org/drawingml/2006/main">
            <a:r>
              <a:t>- Cells may be blocked by terrain or occupied. Movement, production, and</a:t>
            </a:r>
          </a:p>
          <a:p xmlns:a="http://schemas.openxmlformats.org/drawingml/2006/main">
            <a:r>
              <a:t>  building placement require a legal reachable or adjacent cell as applicable.</a:t>
            </a:r>
          </a:p>
          <a:p xmlns:a="http://schemas.openxmlformats.org/drawingml/2006/main">
            <a:r>
              <a:t>- Resources are neutral map entities. Each player also has one scalar resource</a:t>
            </a:r>
          </a:p>
          <a:p xmlns:a="http://schemas.openxmlformats.org/drawingml/2006/main">
            <a:r>
              <a:t>  stockpile used to pay production and construction costs.</a:t>
            </a:r>
          </a:p>
          <a:p xmlns:a="http://schemas.openxmlformats.org/drawingml/2006/main">
            <a:r>
              <a:t/>
            </a:r>
          </a:p>
          <a:p xmlns:a="http://schemas.openxmlformats.org/drawingml/2006/main">
            <a:r>
              <a:t>Complete entity set and production graph:</a:t>
            </a:r>
          </a:p>
          <a:p xmlns:a="http://schemas.openxmlformats.org/drawingml/2006/main">
            <a:r>
              <a:t>- Resource: neutral, stationary, harvestable, and not a player unit.</a:t>
            </a:r>
          </a:p>
          <a:p xmlns:a="http://schemas.openxmlformats.org/drawingml/2006/main">
            <a:r>
              <a:t>- Base: stationary stockpile; costs 10 resources, has 10 HP, and produces Worker.</a:t>
            </a:r>
          </a:p>
          <a:p xmlns:a="http://schemas.openxmlformats.org/drawingml/2006/main">
            <a:r>
              <a:t>- Barracks: stationary; costs 5 resources, has 4 HP, and produces Light, Heavy,</a:t>
            </a:r>
          </a:p>
          <a:p xmlns:a="http://schemas.openxmlformats.org/drawingml/2006/main">
            <a:r>
              <a:t>  or Ranged units.</a:t>
            </a:r>
          </a:p>
          <a:p xmlns:a="http://schemas.openxmlformats.org/drawingml/2006/main">
            <a:r>
              <a:t>- Worker: costs 1, has 1 HP, moves, attacks at range 1, harvests one resource at</a:t>
            </a:r>
          </a:p>
          <a:p xmlns:a="http://schemas.openxmlformats.org/drawingml/2006/main">
            <a:r>
              <a:t>  a time, returns carried resources to a friendly Base, and builds Base or</a:t>
            </a:r>
          </a:p>
          <a:p xmlns:a="http://schemas.openxmlformats.org/drawingml/2006/main">
            <a:r>
              <a:t>  Barracks.</a:t>
            </a:r>
          </a:p>
          <a:p xmlns:a="http://schemas.openxmlformats.org/drawingml/2006/main">
            <a:r>
              <a:t>- Light: costs 2, has 4 HP, moves fastest among the listed combat units, attacks</a:t>
            </a:r>
          </a:p>
          <a:p xmlns:a="http://schemas.openxmlformats.org/drawingml/2006/main">
            <a:r>
              <a:t>  at range 1, and deals 2 damage.</a:t>
            </a:r>
          </a:p>
          <a:p xmlns:a="http://schemas.openxmlformats.org/drawingml/2006/main">
            <a:r>
              <a:t>- Heavy: costs 2, has 4 HP, moves slower than Light, attacks at range 1, and</a:t>
            </a:r>
          </a:p>
          <a:p xmlns:a="http://schemas.openxmlformats.org/drawingml/2006/main">
            <a:r>
              <a:t>  deals 4 damage.</a:t>
            </a:r>
          </a:p>
          <a:p xmlns:a="http://schemas.openxmlformats.org/drawingml/2006/main">
            <a:r>
              <a:t>- Ranged: costs 2, has 1 HP, moves, attacks at range 3, and deals 1 damage.</a:t>
            </a:r>
          </a:p>
          <a:p xmlns:a="http://schemas.openxmlformats.org/drawingml/2006/main">
            <a:r>
              <a:t>- Base and Barracks do not move, harvest, or attack. Light, Heavy, and Ranged</a:t>
            </a:r>
          </a:p>
          <a:p xmlns:a="http://schemas.openxmlformats.org/drawingml/2006/main">
            <a:r>
              <a:t>  units do not harvest, return resources, construct buildings, or produce units.</a:t>
            </a:r>
          </a:p>
          <a:p xmlns:a="http://schemas.openxmlformats.org/drawingml/2006/main">
            <a:r>
              <a:t>- Default action durations in game cycles are: Worker move 10, attack 5,</a:t>
            </a:r>
          </a:p>
          <a:p xmlns:a="http://schemas.openxmlformats.org/drawingml/2006/main">
            <a:r>
              <a:t>  harvest 20, return 10, and production 50; Light move 8 and attack 5; Heavy</a:t>
            </a:r>
          </a:p>
          <a:p xmlns:a="http://schemas.openxmlformats.org/drawingml/2006/main">
            <a:r>
              <a:t>  move 12 and attack 5; Ranged move 10 and attack 5; Base construction 250;</a:t>
            </a:r>
          </a:p>
          <a:p xmlns:a="http://schemas.openxmlformats.org/drawingml/2006/main">
            <a:r>
              <a:t>  Barracks construction 200; Light production 80; Heavy production 120; Ranged</a:t>
            </a:r>
          </a:p>
          <a:p xmlns:a="http://schemas.openxmlformats.org/drawingml/2006/main">
            <a:r>
              <a:t>  production 100.</a:t>
            </a:r>
          </a:p>
          <a:p xmlns:a="http://schemas.openxmlformats.org/drawingml/2006/main">
            <a:r>
              <a:t/>
            </a:r>
          </a:p>
          <a:p xmlns:a="http://schemas.openxmlformats.org/drawingml/2006/main">
            <a:r>
              <a:t>Complete strategic action set:</a:t>
            </a:r>
          </a:p>
          <a:p xmlns:a="http://schemas.openxmlformats.org/drawingml/2006/main">
            <a:r>
              <a:t>- Assign an action only to an idle friendly unit; one unit executes one action</a:t>
            </a:r>
          </a:p>
          <a:p xmlns:a="http://schemas.openxmlformats.org/drawingml/2006/main">
            <a:r>
              <a:t>  at a time and the action completes over game cycles.</a:t>
            </a:r>
          </a:p>
          <a:p xmlns:a="http://schemas.openxmlformats.org/drawingml/2006/main">
            <a:r>
              <a:t>- Move a movable unit through orthogonally adjacent legal cells. Competing</a:t>
            </a:r>
          </a:p>
          <a:p xmlns:a="http://schemas.openxmlformats.org/drawingml/2006/main">
            <a:r>
              <a:t>  movement or production into the same cell may be cancelled, so avoid</a:t>
            </a:r>
          </a:p>
          <a:p xmlns:a="http://schemas.openxmlformats.org/drawingml/2006/main">
            <a:r>
              <a:t>  conflicting destinations.</a:t>
            </a:r>
          </a:p>
          <a:p xmlns:a="http://schemas.openxmlformats.org/drawingml/2006/main">
            <a:r>
              <a:t>- Target an enemy-owned unit or building; move toward it when necessary and</a:t>
            </a:r>
          </a:p>
          <a:p xmlns:a="http://schemas.openxmlformats.org/drawingml/2006/main">
            <a:r>
              <a:t>  attack once it is within the attacker's range.</a:t>
            </a:r>
          </a:p>
          <a:p xmlns:a="http://schemas.openxmlformats.org/drawingml/2006/main">
            <a:r>
              <a:t>- Have a Worker harvest a Resource and return its carried resource to a</a:t>
            </a:r>
          </a:p>
          <a:p xmlns:a="http://schemas.openxmlformats.org/drawingml/2006/main">
            <a:r>
              <a:t>  friendly Base.</a:t>
            </a:r>
          </a:p>
          <a:p xmlns:a="http://schemas.openxmlformats.org/drawingml/2006/main">
            <a:r>
              <a:t>- Have a Base train a Worker into a free adjacent cell and pay its cost.</a:t>
            </a:r>
          </a:p>
          <a:p xmlns:a="http://schemas.openxmlformats.org/drawingml/2006/main">
            <a:r>
              <a:t>- Have a Barracks train Light, Heavy, or Ranged into a free adjacent cell and</a:t>
            </a:r>
          </a:p>
          <a:p xmlns:a="http://schemas.openxmlformats.org/drawingml/2006/main">
            <a:r>
              <a:t>  pay its cost.</a:t>
            </a:r>
          </a:p>
          <a:p xmlns:a="http://schemas.openxmlformats.org/drawingml/2006/main">
            <a:r>
              <a:t>- Have a Worker build a Base or Barracks on a legal free cell and pay its cost.</a:t>
            </a:r>
          </a:p>
          <a:p xmlns:a="http://schemas.openxmlformats.org/drawingml/2006/main">
            <a:r>
              <a:t>- Leave a unit idle when no higher-priority legal action applies.</a:t>
            </a:r>
          </a:p>
          <a:p xmlns:a="http://schemas.openxmlformats.org/drawingml/2006/main">
            <a:r>
              <a:t/>
            </a:r>
          </a:p>
          <a:p xmlns:a="http://schemas.openxmlformats.org/drawingml/2006/main">
            <a:r>
              <a:t>Canonical form for executable policy rules:</a:t>
            </a:r>
          </a:p>
          <a:p xmlns:a="http://schemas.openxmlformats.org/drawingml/2006/main">
            <a:r>
              <a:t>- Every action rule is stand-alone. It names an idle friendly actor and all</a:t>
            </a:r>
          </a:p>
          <a:p xmlns:a="http://schemas.openxmlformats.org/drawingml/2006/main">
            <a:r>
              <a:t>  prerequisites in the same rule; it never assumes that an earlier rule has</a:t>
            </a:r>
          </a:p>
          <a:p xmlns:a="http://schemas.openxmlformats.org/drawingml/2006/main">
            <a:r>
              <a:t>  completed.</a:t>
            </a:r>
          </a:p>
          <a:p xmlns:a="http://schemas.openxmlformats.org/drawingml/2006/main">
            <a:r>
              <a:t>- Write one complete condition/action sentence per numbered rule. Do not add an</a:t>
            </a:r>
          </a:p>
          <a:p xmlns:a="http://schemas.openxmlformats.org/drawingml/2006/main">
            <a:r>
              <a:t>  "otherwise" or second-sentence action that reuses "that unit" without again</a:t>
            </a:r>
          </a:p>
          <a:p xmlns:a="http://schemas.openxmlformats.org/drawingml/2006/main">
            <a:r>
              <a:t>  naming the idle friendly actor and its complete prerequisites.</a:t>
            </a:r>
          </a:p>
          <a:p xmlns:a="http://schemas.openxmlformats.org/drawingml/2006/main">
            <a:r>
              <a:t>- Worker production example: if a friendly Base is idle, the stockpile is at</a:t>
            </a:r>
          </a:p>
          <a:p xmlns:a="http://schemas.openxmlformats.org/drawingml/2006/main">
            <a:r>
              <a:t>  least 1, and a free cell adjacent to that Base exists, have that Base train a</a:t>
            </a:r>
          </a:p>
          <a:p xmlns:a="http://schemas.openxmlformats.org/drawingml/2006/main">
            <a:r>
              <a:t>  Worker into that cell.</a:t>
            </a:r>
          </a:p>
          <a:p xmlns:a="http://schemas.openxmlformats.org/drawingml/2006/main">
            <a:r>
              <a:t>- Combat production example: if a friendly Barracks is idle, the stockpile is</a:t>
            </a:r>
          </a:p>
          <a:p xmlns:a="http://schemas.openxmlformats.org/drawingml/2006/main">
            <a:r>
              <a:t>  at least 2, and a free cell adjacent to that Barracks exists, have that</a:t>
            </a:r>
          </a:p>
          <a:p xmlns:a="http://schemas.openxmlformats.org/drawingml/2006/main">
            <a:r>
              <a:t>  Barracks train one named combat-unit type into that cell.</a:t>
            </a:r>
          </a:p>
          <a:p xmlns:a="http://schemas.openxmlformats.org/drawingml/2006/main">
            <a:r>
              <a:t>- Construction example: if a friendly Worker is idle, the stockpile meets the</a:t>
            </a:r>
          </a:p>
          <a:p xmlns:a="http://schemas.openxmlformats.org/drawingml/2006/main">
            <a:r>
              <a:t>  building cost, and a legal free cell adjacent to that Worker exists, have</a:t>
            </a:r>
          </a:p>
          <a:p xmlns:a="http://schemas.openxmlformats.org/drawingml/2006/main">
            <a:r>
              <a:t>  that Worker build the named building on that cell.</a:t>
            </a:r>
          </a:p>
          <a:p xmlns:a="http://schemas.openxmlformats.org/drawingml/2006/main">
            <a:r>
              <a:t>- Harvest example: if a friendly Worker is idle, carries no resource, and a</a:t>
            </a:r>
          </a:p>
          <a:p xmlns:a="http://schemas.openxmlformats.org/drawingml/2006/main">
            <a:r>
              <a:t>  reachable Resource exists, have that Worker harvest the nearest reachable</a:t>
            </a:r>
          </a:p>
          <a:p xmlns:a="http://schemas.openxmlformats.org/drawingml/2006/main">
            <a:r>
              <a:t>  Resource.</a:t>
            </a:r>
          </a:p>
          <a:p xmlns:a="http://schemas.openxmlformats.org/drawingml/2006/main">
            <a:r>
              <a:t>- Return example: if a friendly Worker is idle, carries a resource, and a</a:t>
            </a:r>
          </a:p>
          <a:p xmlns:a="http://schemas.openxmlformats.org/drawingml/2006/main">
            <a:r>
              <a:t>  friendly Base exists, have that Worker return the resource to the nearest</a:t>
            </a:r>
          </a:p>
          <a:p xmlns:a="http://schemas.openxmlformats.org/drawingml/2006/main">
            <a:r>
              <a:t>  friendly Base.</a:t>
            </a:r>
          </a:p>
          <a:p xmlns:a="http://schemas.openxmlformats.org/drawingml/2006/main">
            <a:r>
              <a:t>- Combat example: if a friendly movable attacker is idle and a current enemy</a:t>
            </a:r>
          </a:p>
          <a:p xmlns:a="http://schemas.openxmlformats.org/drawingml/2006/main">
            <a:r>
              <a:t>  entity exists, have the attacker target that entity, move toward it if it is</a:t>
            </a:r>
          </a:p>
          <a:p xmlns:a="http://schemas.openxmlformats.org/drawingml/2006/main">
            <a:r>
              <a:t>  outside attack range, and attack it when it enters range.</a:t>
            </a:r>
          </a:p>
          <a:p xmlns:a="http://schemas.openxmlformats.org/drawingml/2006/main">
            <a:r>
              <a:t>- A distance or attack-range condition for combat is measured from the acting</a:t>
            </a:r>
          </a:p>
          <a:p xmlns:a="http://schemas.openxmlformats.org/drawingml/2006/main">
            <a:r>
              <a:t>  unit named in that rule, not from some other friendly unit or building. Base</a:t>
            </a:r>
          </a:p>
          <a:p xmlns:a="http://schemas.openxmlformats.org/drawingml/2006/main">
            <a:r>
              <a:t>  and Barracks have no attack range. Never target or attack a friendly entity.</a:t>
            </a:r>
          </a:p>
          <a:p xmlns:a="http://schemas.openxmlformats.org/drawingml/2006/main">
            <a:r>
              <a:t>- An immediate attack rule must state that its target is currently within the</a:t>
            </a:r>
          </a:p>
          <a:p xmlns:a="http://schemas.openxmlformats.org/drawingml/2006/main">
            <a:r>
              <a:t>  acting unit's own attack range. If the target may be outside that range, the</a:t>
            </a:r>
          </a:p>
          <a:p xmlns:a="http://schemas.openxmlformats.org/drawingml/2006/main">
            <a:r>
              <a:t>  same rule must target it, move toward it, and attack only after it enters the</a:t>
            </a:r>
          </a:p>
          <a:p xmlns:a="http://schemas.openxmlformats.org/drawingml/2006/main">
            <a:r>
              <a:t>  actor's range. Split mixed unit types when their legal ranges differ.</a:t>
            </a:r>
          </a:p>
          <a:p xmlns:a="http://schemas.openxmlformats.org/drawingml/2006/main">
            <a:r>
              <a:t>- Never target or attack a Resource or combine it with an enemy-target</a:t>
            </a:r>
          </a:p>
          <a:p xmlns:a="http://schemas.openxmlformats.org/drawingml/2006/main">
            <a:r>
              <a:t>  fallback. Resource appears only in a Worker's fully guarded harvest rule.</a:t>
            </a:r>
          </a:p>
          <a:p xmlns:a="http://schemas.openxmlformats.org/drawingml/2006/main">
            <a:r>
              <a:t/>
            </a:r>
          </a:p>
          <a:p xmlns:a="http://schemas.openxmlformats.org/drawingml/2006/main">
            <a:r>
              <a:t>Observable strategy state:</a:t>
            </a:r>
          </a:p>
          <a:p xmlns:a="http://schemas.openxmlformats.org/drawingml/2006/main">
            <a:r>
              <a:t>- Current game cycle, player side, player resource stockpile, and map width and</a:t>
            </a:r>
          </a:p>
          <a:p xmlns:a="http://schemas.openxmlformats.org/drawingml/2006/main">
            <a:r>
              <a:t>  height.</a:t>
            </a:r>
          </a:p>
          <a:p xmlns:a="http://schemas.openxmlformats.org/drawingml/2006/main">
            <a:r>
              <a:t>- Every current entity's type, owner, grid position, carried resource amount,</a:t>
            </a:r>
          </a:p>
          <a:p xmlns:a="http://schemas.openxmlformats.org/drawingml/2006/main">
            <a:r>
              <a:t>  current HP, and maximum HP.</a:t>
            </a:r>
          </a:p>
          <a:p xmlns:a="http://schemas.openxmlformats.org/drawingml/2006/main">
            <a:r>
              <a:t>- Whether a friendly unit is currently idle and whether a candidate grid cell</a:t>
            </a:r>
          </a:p>
          <a:p xmlns:a="http://schemas.openxmlformats.org/drawingml/2006/main">
            <a:r>
              <a:t>  is in bounds and free.</a:t>
            </a:r>
          </a:p>
          <a:p xmlns:a="http://schemas.openxmlformats.org/drawingml/2006/main">
            <a:r>
              <a:t>- Relative distance and counts may be derived from those observations.</a:t>
            </a:r>
          </a:p>
          <a:p xmlns:a="http://schemas.openxmlformats.org/drawingml/2006/main">
            <a:r>
              <a:t>- Opponent implementation name/class, hidden intent, future actions, wall-clock</a:t>
            </a:r>
          </a:p>
          <a:p xmlns:a="http://schemas.openxmlformats.org/drawingml/2006/main">
            <a:r>
              <a:t>  seconds, technology levels, upgrades, and any state not listed above are not</a:t>
            </a:r>
          </a:p>
          <a:p xmlns:a="http://schemas.openxmlformats.org/drawingml/2006/main">
            <a:r>
              <a:t>  observable strategy conditions. Translate opponent-specific evidence into</a:t>
            </a:r>
          </a:p>
          <a:p xmlns:a="http://schemas.openxmlformats.org/drawingml/2006/main">
            <a:r>
              <a:t>  responses to observable unit, building, economy, position, or timing cues.</a:t>
            </a:r>
          </a:p>
          <a:p xmlns:a="http://schemas.openxmlformats.org/drawingml/2006/main">
            <a:r>
              <a:t/>
            </a:r>
          </a:p>
          <a:p xmlns:a="http://schemas.openxmlformats.org/drawingml/2006/main">
            <a:r>
              <a:t>Closed-world interpretation rules:</a:t>
            </a:r>
          </a:p>
          <a:p xmlns:a="http://schemas.openxmlformats.org/drawingml/2006/main">
            <a:r>
              <a:t>- Fully observable means every currently existing enemy entity is present in</a:t>
            </a:r>
          </a:p>
          <a:p xmlns:a="http://schemas.openxmlformats.org/drawingml/2006/main">
            <a:r>
              <a:t>  the current state. Do not invent fog of war, partial visibility, scouting, or</a:t>
            </a:r>
          </a:p>
          <a:p xmlns:a="http://schemas.openxmlformats.org/drawingml/2006/main">
            <a:r>
              <a:t>  a distinction between an existing entity and a visible entity.</a:t>
            </a:r>
          </a:p>
          <a:p xmlns:a="http://schemas.openxmlformats.org/drawingml/2006/main">
            <a:r>
              <a:t>- Cells have terrain and occupancy, but no owner, territory, starting-cell,</a:t>
            </a:r>
          </a:p>
          <a:p xmlns:a="http://schemas.openxmlformats.org/drawingml/2006/main">
            <a:r>
              <a:t>  spawn-location, safety, or capture status. Describe positioning with current</a:t>
            </a:r>
          </a:p>
          <a:p xmlns:a="http://schemas.openxmlformats.org/drawingml/2006/main">
            <a:r>
              <a:t>  coordinates, free cells, map bounds, and distances to current entities.</a:t>
            </a:r>
          </a:p>
          <a:p xmlns:a="http://schemas.openxmlformats.org/drawingml/2006/main">
            <a:r>
              <a:t>- Current positions do not reveal movement history, velocity, convergence,</a:t>
            </a:r>
          </a:p>
          <a:p xmlns:a="http://schemas.openxmlformats.org/drawingml/2006/main">
            <a:r>
              <a:t>  intent, an action target, or whether a unit or building is under attack.</a:t>
            </a:r>
          </a:p>
          <a:p xmlns:a="http://schemas.openxmlformats.org/drawingml/2006/main">
            <a:r>
              <a:t>  Express danger with current enemy type, position, attack range, and distance;</a:t>
            </a:r>
          </a:p>
          <a:p xmlns:a="http://schemas.openxmlformats.org/drawingml/2006/main">
            <a:r>
              <a:t>  express a response with a listed action such as target, move, or attack.</a:t>
            </a:r>
          </a:p>
          <a:p xmlns:a="http://schemas.openxmlformats.org/drawingml/2006/main">
            <a:r>
              <a:t>- Current entities do not reveal when an opponent built or produced them, when</a:t>
            </a:r>
          </a:p>
          <a:p xmlns:a="http://schemas.openxmlformats.org/drawingml/2006/main">
            <a:r>
              <a:t>  another entity was destroyed, production trends, unit creation timestamps,</a:t>
            </a:r>
          </a:p>
          <a:p xmlns:a="http://schemas.openxmlformats.org/drawingml/2006/main">
            <a:r>
              <a:t>  or whether an economy is stagnant. Test current entity counts/types and the</a:t>
            </a:r>
          </a:p>
          <a:p xmlns:a="http://schemas.openxmlformats.org/drawingml/2006/main">
            <a:r>
              <a:t>  current cycle instead of historical events.</a:t>
            </a:r>
          </a:p>
          <a:p xmlns:a="http://schemas.openxmlformats.org/drawingml/2006/main">
            <a:r>
              <a:t>- Strategy prompts describe game-level behavior, not Java implementation. They</a:t>
            </a:r>
          </a:p>
          <a:p xmlns:a="http://schemas.openxmlformats.org/drawingml/2006/main">
            <a:r>
              <a:t>  must not contain helper names, method calls, variable names, code fragments,</a:t>
            </a:r>
          </a:p>
          <a:p xmlns:a="http://schemas.openxmlformats.org/drawingml/2006/main">
            <a:r>
              <a:t>  or API instructions.</a:t>
            </a:r>
          </a:p>
          <a:p xmlns:a="http://schemas.openxmlformats.org/drawingml/2006/main">
            <a:r>
              <a:t>- Words such as "immediately" may specify the highest priority for the next</a:t>
            </a:r>
          </a:p>
          <a:p xmlns:a="http://schemas.openxmlformats.org/drawingml/2006/main">
            <a:r>
              <a:t>  idle-unit decision; they never imply zero-duration movement, training, or</a:t>
            </a:r>
          </a:p>
          <a:p xmlns:a="http://schemas.openxmlformats.org/drawingml/2006/main">
            <a:r>
              <a:t>  construction. A "defensive" strategy is valid, but each defensive response</a:t>
            </a:r>
          </a:p>
          <a:p xmlns:a="http://schemas.openxmlformats.org/drawingml/2006/main">
            <a:r>
              <a:t>  must resolve to a listed target, movement, attack, production, build, harvest,</a:t>
            </a:r>
          </a:p>
          <a:p xmlns:a="http://schemas.openxmlformats.org/drawingml/2006/main">
            <a:r>
              <a:t>  return, or idle action rather than an undefined defend/block command.</a:t>
            </a:r>
          </a:p>
          <a:p xmlns:a="http://schemas.openxmlformats.org/drawingml/2006/main">
            <a:r>
              <a:t/>
            </a:r>
          </a:p>
          <a:p xmlns:a="http://schemas.openxmlformats.org/drawingml/2006/main">
            <a:r>
              <a:t>Grounding requirement:</a:t>
            </a:r>
          </a:p>
          <a:p xmlns:a="http://schemas.openxmlformats.org/drawingml/2006/main">
            <a:r>
              <a:t>- Every condition in a generated policy must use observable state listed above.</a:t>
            </a:r>
          </a:p>
          <a:p xmlns:a="http://schemas.openxmlformats.org/drawingml/2006/main">
            <a:r>
              <a:t>- Every response and fallback must use the listed entities and legal actions.</a:t>
            </a:r>
          </a:p>
          <a:p xmlns:a="http://schemas.openxmlformats.org/drawingml/2006/main">
            <a:r>
              <a:t>- Before returning a policy or diagnosis, check every stated rule against this</a:t>
            </a:r>
          </a:p>
          <a:p xmlns:a="http://schemas.openxmlformats.org/drawingml/2006/main">
            <a:r>
              <a:t>  contract and reformulate any rule that cannot be executed in this closed world.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a:t>
            </a:r>
          </a:p>
          <a:p xmlns:a="http://schemas.openxmlformats.org/drawingml/2006/main">
            <a:r>
              <a:t/>
            </a:r>
          </a:p>
          <a:p xmlns:a="http://schemas.openxmlformats.org/drawingml/2006/main">
            <a:r>
              <a:t>[Sources]</a:t>
            </a:r>
          </a:p>
          <a:p xmlns:a="http://schemas.openxmlformats.org/drawingml/2006/main">
            <a:r>
              <a:t>- /home/mhlab/EAGLE/runs/reflection_inspections/20260904_171444_033622_worker_rush_prompt_compliance_from_reflection_children/summary.md</a:t>
            </a:r>
          </a:p>
          <a:p xmlns:a="http://schemas.openxmlformats.org/drawingml/2006/main">
            <a:r>
              <a:t>- /home/mhlab/EAGLE/prompts</a:t>
            </a:r>
          </a:p>
          <a:p xmlns:a="http://schemas.openxmlformats.org/drawingml/2006/main">
            <a:r>
              <a:t>- commit c133fcb9520</a:t>
            </a:r>
          </a:p>
          <a:p xmlns:a="http://schemas.openxmlformats.org/drawingml/2006/main">
            <a:r>
              <a:t/>
            </a:r>
          </a:p>
          <a:p xmlns:a="http://schemas.openxmlformats.org/drawingml/2006/main">
            <a:r>
              <a:t>This deck does not claim that applied strategies improve win rate. Match evaluation is a separate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2893a938b44d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6310ae0d214c4e" /><Relationship Type="http://schemas.openxmlformats.org/officeDocument/2006/relationships/slideLayout" Target="/ppt/slideLayouts/slideLayout1.xml" Id="R1f28e3387b814d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28e3387b814d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8539d90faf495a" /><Relationship Type="http://schemas.openxmlformats.org/officeDocument/2006/relationships/notesSlide" Target="/ppt/notesSlides/notesSlide1.xml" Id="Re3151a4f6d8645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54cba686d04f10" /><Relationship Type="http://schemas.openxmlformats.org/officeDocument/2006/relationships/notesSlide" Target="/ppt/notesSlides/notesSlide2.xml" Id="Rdf828fe3f13545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fe2c03e8cb499b" /><Relationship Type="http://schemas.openxmlformats.org/officeDocument/2006/relationships/notesSlide" Target="/ppt/notesSlides/notesSlide3.xml" Id="R463b30e107454a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74dc0bbfd2493a" /><Relationship Type="http://schemas.openxmlformats.org/officeDocument/2006/relationships/notesSlide" Target="/ppt/notesSlides/notesSlide4.xml" Id="R0875dead6ba34a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69399203ff47a6" /><Relationship Type="http://schemas.openxmlformats.org/officeDocument/2006/relationships/notesSlide" Target="/ppt/notesSlides/notesSlide5.xml" Id="R726e832766674c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1d456a7c6ab4001" /><Relationship Type="http://schemas.openxmlformats.org/officeDocument/2006/relationships/notesSlide" Target="/ppt/notesSlides/notesSlide6.xml" Id="R6f6f4e5dfbd340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6f362bd7f64495" /><Relationship Type="http://schemas.openxmlformats.org/officeDocument/2006/relationships/notesSlide" Target="/ppt/notesSlides/notesSlide7.xml" Id="Raefec0c587564b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558e4f832e4171" /><Relationship Type="http://schemas.openxmlformats.org/officeDocument/2006/relationships/notesSlide" Target="/ppt/notesSlides/notesSlide8.xml" Id="R0d2ed9dec2014c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4a7d4ff32d46bb" /><Relationship Type="http://schemas.openxmlformats.org/officeDocument/2006/relationships/notesSlide" Target="/ppt/notesSlides/notesSlide9.xml" Id="R430acc45e8b24c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c940cff6034720" /><Relationship Type="http://schemas.openxmlformats.org/officeDocument/2006/relationships/notesSlide" Target="/ppt/notesSlides/notesSlide10.xml" Id="R4a189d40d94247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e72f39e8b349f7" /><Relationship Type="http://schemas.openxmlformats.org/officeDocument/2006/relationships/notesSlide" Target="/ppt/notesSlides/notesSlide11.xml" Id="R6740db02c80d4d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fefc9683714f8f" /><Relationship Type="http://schemas.openxmlformats.org/officeDocument/2006/relationships/notesSlide" Target="/ppt/notesSlides/notesSlide12.xml" Id="R300eff84617a43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9ce5407aeba44da" /><Relationship Type="http://schemas.openxmlformats.org/officeDocument/2006/relationships/notesSlide" Target="/ppt/notesSlides/notesSlide13.xml" Id="R82f3ee712a0b44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244b0a53f14111" /><Relationship Type="http://schemas.openxmlformats.org/officeDocument/2006/relationships/notesSlide" Target="/ppt/notesSlides/notesSlide14.xml" Id="R85c38a9a7a564027" /></Relationships>
</file>

<file path=ppt/slides/slide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7" name="cover-top-left">
            <a:extLst xmlns:a="http://schemas.openxmlformats.org/drawingml/2006/main">
              <a:ext uri="{FF2B5EF4-FFF2-40B4-BE49-F238E27FC236}">
                <a16:creationId xmlns:a16="http://schemas.microsoft.com/office/drawing/2014/main" id="{915DAC54-8C68-4A39-83F0-4268B6E4BAA4}"/>
              </a:ext>
            </a:extLst>
          </p:cNvPr>
          <p:cNvSpPr>
            <a:spLocks xmlns:a="http://schemas.openxmlformats.org/drawingml/2006/main" noGrp="1"/>
          </p:cNvSpPr>
          <p:nvPr/>
        </p:nvSpPr>
        <p:spPr>
          <a:xfrm xmlns:a="http://schemas.openxmlformats.org/drawingml/2006/main">
            <a:off x="762000" y="49530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cover-top-right">
            <a:extLst xmlns:a="http://schemas.openxmlformats.org/drawingml/2006/main">
              <a:ext uri="{FF2B5EF4-FFF2-40B4-BE49-F238E27FC236}">
                <a16:creationId xmlns:a16="http://schemas.microsoft.com/office/drawing/2014/main" id="{0C0F40F1-1CB4-4A6B-9CB1-F803338AB070}"/>
              </a:ext>
            </a:extLst>
          </p:cNvPr>
          <p:cNvSpPr>
            <a:spLocks xmlns:a="http://schemas.openxmlformats.org/drawingml/2006/main" noGrp="1"/>
          </p:cNvSpPr>
          <p:nvPr/>
        </p:nvSpPr>
        <p:spPr>
          <a:xfrm xmlns:a="http://schemas.openxmlformats.org/drawingml/2006/main">
            <a:off x="12668250" y="49530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cover-diamond-a">
            <a:extLst xmlns:a="http://schemas.openxmlformats.org/drawingml/2006/main">
              <a:ext uri="{FF2B5EF4-FFF2-40B4-BE49-F238E27FC236}">
                <a16:creationId xmlns:a16="http://schemas.microsoft.com/office/drawing/2014/main" id="{790E26CC-D33C-4D43-9CEB-7C9D786155D7}"/>
              </a:ext>
            </a:extLst>
          </p:cNvPr>
          <p:cNvSpPr>
            <a:spLocks xmlns:a="http://schemas.openxmlformats.org/drawingml/2006/main" noGrp="1"/>
          </p:cNvSpPr>
          <p:nvPr/>
        </p:nvSpPr>
        <p:spPr>
          <a:xfrm xmlns:a="http://schemas.openxmlformats.org/drawingml/2006/main" rot="2700000">
            <a:off x="9010650" y="42862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cover-diamond-b">
            <a:extLst xmlns:a="http://schemas.openxmlformats.org/drawingml/2006/main">
              <a:ext uri="{FF2B5EF4-FFF2-40B4-BE49-F238E27FC236}">
                <a16:creationId xmlns:a16="http://schemas.microsoft.com/office/drawing/2014/main" id="{47B52D5C-300C-438A-B069-0E35901F017E}"/>
              </a:ext>
            </a:extLst>
          </p:cNvPr>
          <p:cNvSpPr>
            <a:spLocks xmlns:a="http://schemas.openxmlformats.org/drawingml/2006/main" noGrp="1"/>
          </p:cNvSpPr>
          <p:nvPr/>
        </p:nvSpPr>
        <p:spPr>
          <a:xfrm xmlns:a="http://schemas.openxmlformats.org/drawingml/2006/main" rot="2700000">
            <a:off x="9201150" y="42862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cover-diamond-c">
            <a:extLst xmlns:a="http://schemas.openxmlformats.org/drawingml/2006/main">
              <a:ext uri="{FF2B5EF4-FFF2-40B4-BE49-F238E27FC236}">
                <a16:creationId xmlns:a16="http://schemas.microsoft.com/office/drawing/2014/main" id="{B4285682-7D30-439D-9D17-AC8C2C00D80C}"/>
              </a:ext>
            </a:extLst>
          </p:cNvPr>
          <p:cNvSpPr>
            <a:spLocks xmlns:a="http://schemas.openxmlformats.org/drawingml/2006/main" noGrp="1"/>
          </p:cNvSpPr>
          <p:nvPr/>
        </p:nvSpPr>
        <p:spPr>
          <a:xfrm xmlns:a="http://schemas.openxmlformats.org/drawingml/2006/main" rot="2700000">
            <a:off x="9391650" y="42862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cover-kicker">
            <a:extLst xmlns:a="http://schemas.openxmlformats.org/drawingml/2006/main">
              <a:ext uri="{FF2B5EF4-FFF2-40B4-BE49-F238E27FC236}">
                <a16:creationId xmlns:a16="http://schemas.microsoft.com/office/drawing/2014/main" id="{4865310D-7A86-42F0-8942-0DA2BA51644E}"/>
              </a:ext>
            </a:extLst>
          </p:cNvPr>
          <p:cNvSpPr>
            <a:spLocks xmlns:a="http://schemas.openxmlformats.org/drawingml/2006/main" noGrp="1"/>
          </p:cNvSpPr>
          <p:nvPr/>
        </p:nvSpPr>
        <p:spPr>
          <a:xfrm xmlns:a="http://schemas.openxmlformats.org/drawingml/2006/main">
            <a:off x="1123950" y="1219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EAGLE · REFLECTION VALIDATION · 2026.09.04</a:t>
            </a:r>
          </a:p>
        </p:txBody>
      </p:sp>
      <p:sp>
        <p:nvSpPr>
          <p:cNvPr id="7" name="cover-title">
            <a:extLst xmlns:a="http://schemas.openxmlformats.org/drawingml/2006/main">
              <a:ext uri="{FF2B5EF4-FFF2-40B4-BE49-F238E27FC236}">
                <a16:creationId xmlns:a16="http://schemas.microsoft.com/office/drawing/2014/main" id="{6EB7F988-03E3-4B9A-84F2-4C36E3195A8C}"/>
              </a:ext>
            </a:extLst>
          </p:cNvPr>
          <p:cNvSpPr>
            <a:spLocks xmlns:a="http://schemas.openxmlformats.org/drawingml/2006/main" noGrp="1"/>
          </p:cNvSpPr>
          <p:nvPr/>
        </p:nvSpPr>
        <p:spPr>
          <a:xfrm xmlns:a="http://schemas.openxmlformats.org/drawingml/2006/main">
            <a:off x="1123950" y="1952625"/>
            <a:ext cx="138112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250" b="1" i="0">
                <a:solidFill>
                  <a:srgbClr val="431218"/>
                </a:solidFill>
                <a:latin typeface="Noto Serif CJK TC"/>
                <a:ea typeface="Noto Serif CJK TC"/>
                <a:cs typeface="Noto Serif CJK TC"/>
              </a:defRPr>
            </a:pPr>
            <a:r>
              <a:rPr sz="5250" b="1" i="0">
                <a:solidFill>
                  <a:srgbClr val="431218"/>
                </a:solidFill>
                <a:latin typeface="Noto Serif CJK TC"/>
                <a:ea typeface="Noto Serif CJK TC"/>
                <a:cs typeface="Noto Serif CJK TC"/>
              </a:rPr>
              <a:t>三種 Reflection 驗證</a:t>
            </a:r>
          </a:p>
          <a:p xmlns:a="http://schemas.openxmlformats.org/drawingml/2006/main">
            <a:pPr algn="l">
              <a:lnSpc>
                <a:spcPct val="100000"/>
              </a:lnSpc>
              <a:buNone/>
              <a:defRPr sz="5250" b="1" i="0">
                <a:solidFill>
                  <a:srgbClr val="431218"/>
                </a:solidFill>
                <a:latin typeface="Noto Serif CJK TC"/>
                <a:ea typeface="Noto Serif CJK TC"/>
                <a:cs typeface="Noto Serif CJK TC"/>
              </a:defRPr>
            </a:pPr>
            <a:r>
              <a:rPr sz="5250" b="1" i="0">
                <a:solidFill>
                  <a:srgbClr val="431218"/>
                </a:solidFill>
                <a:latin typeface="Noto Serif CJK TC"/>
                <a:ea typeface="Noto Serif CJK TC"/>
                <a:cs typeface="Noto Serif CJK TC"/>
              </a:rPr>
              <a:t>與現行 Meta-prompt</a:t>
            </a:r>
          </a:p>
        </p:txBody>
      </p:sp>
      <p:sp>
        <p:nvSpPr>
          <p:cNvPr id="8" name="cover-subtitle">
            <a:extLst xmlns:a="http://schemas.openxmlformats.org/drawingml/2006/main">
              <a:ext uri="{FF2B5EF4-FFF2-40B4-BE49-F238E27FC236}">
                <a16:creationId xmlns:a16="http://schemas.microsoft.com/office/drawing/2014/main" id="{61ECDE1E-3B2C-4663-A156-F12C7E16D77E}"/>
              </a:ext>
            </a:extLst>
          </p:cNvPr>
          <p:cNvSpPr>
            <a:spLocks xmlns:a="http://schemas.openxmlformats.org/drawingml/2006/main" noGrp="1"/>
          </p:cNvSpPr>
          <p:nvPr/>
        </p:nvSpPr>
        <p:spPr>
          <a:xfrm xmlns:a="http://schemas.openxmlformats.org/drawingml/2006/main">
            <a:off x="1162050" y="4552950"/>
            <a:ext cx="1314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0" i="0">
                <a:solidFill>
                  <a:srgbClr val="62606A"/>
                </a:solidFill>
                <a:latin typeface="Noto Sans CJK TC"/>
                <a:ea typeface="Noto Sans CJK TC"/>
                <a:cs typeface="Noto Sans CJK TC"/>
              </a:defRPr>
            </a:pPr>
            <a:r>
              <a:rPr sz="1875" b="0" i="0">
                <a:solidFill>
                  <a:srgbClr val="62606A"/>
                </a:solidFill>
                <a:latin typeface="Noto Sans CJK TC"/>
                <a:ea typeface="Noto Sans CJK TC"/>
                <a:cs typeface="Noto Sans CJK TC"/>
              </a:rPr>
              <a:t>Worker Rush 子代串接驗證｜修改方向、欄位邊界與規則資訊</a:t>
            </a:r>
          </a:p>
        </p:txBody>
      </p:sp>
      <p:sp>
        <p:nvSpPr>
          <p:cNvPr id="9" name="cover-band">
            <a:extLst xmlns:a="http://schemas.openxmlformats.org/drawingml/2006/main">
              <a:ext uri="{FF2B5EF4-FFF2-40B4-BE49-F238E27FC236}">
                <a16:creationId xmlns:a16="http://schemas.microsoft.com/office/drawing/2014/main" id="{7008A12F-7F1B-49D1-92D5-D1DDA3C040C4}"/>
              </a:ext>
            </a:extLst>
          </p:cNvPr>
          <p:cNvSpPr>
            <a:spLocks xmlns:a="http://schemas.openxmlformats.org/drawingml/2006/main" noGrp="1"/>
          </p:cNvSpPr>
          <p:nvPr/>
        </p:nvSpPr>
        <p:spPr>
          <a:xfrm xmlns:a="http://schemas.openxmlformats.org/drawingml/2006/main">
            <a:off x="1123950" y="6381750"/>
            <a:ext cx="16002000" cy="1809750"/>
          </a:xfrm>
          <a:prstGeom xmlns:a="http://schemas.openxmlformats.org/drawingml/2006/main" prst="roundRect">
            <a:avLst>
              <a:gd name="adj" fmla="val 10526"/>
            </a:avLst>
          </a:prstGeom>
          <a:solidFill xmlns:a="http://schemas.openxmlformats.org/drawingml/2006/main">
            <a:srgbClr val="F8D8D8"/>
          </a:solidFill>
          <a:ln xmlns:a="http://schemas.openxmlformats.org/drawingml/2006/main" w="9525">
            <a:solidFill>
              <a:srgbClr val="E7B9B5"/>
            </a:solidFill>
            <a:prstDash val="solid"/>
          </a:ln>
        </p:spPr>
      </p:sp>
      <p:sp>
        <p:nvSpPr>
          <p:cNvPr id="10" name="cover-metric-0">
            <a:extLst xmlns:a="http://schemas.openxmlformats.org/drawingml/2006/main">
              <a:ext uri="{FF2B5EF4-FFF2-40B4-BE49-F238E27FC236}">
                <a16:creationId xmlns:a16="http://schemas.microsoft.com/office/drawing/2014/main" id="{A0C26894-CAF1-49E2-B08F-ED2A9AF045BA}"/>
              </a:ext>
            </a:extLst>
          </p:cNvPr>
          <p:cNvSpPr>
            <a:spLocks xmlns:a="http://schemas.openxmlformats.org/drawingml/2006/main" noGrp="1"/>
          </p:cNvSpPr>
          <p:nvPr/>
        </p:nvSpPr>
        <p:spPr>
          <a:xfrm xmlns:a="http://schemas.openxmlformats.org/drawingml/2006/main">
            <a:off x="1476375" y="6686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3075" b="1" i="0">
                <a:solidFill>
                  <a:srgbClr val="431218"/>
                </a:solidFill>
                <a:latin typeface="Noto Serif CJK TC"/>
                <a:ea typeface="Noto Serif CJK TC"/>
                <a:cs typeface="Noto Serif CJK TC"/>
              </a:defRPr>
            </a:pPr>
            <a:r>
              <a:rPr sz="3075" b="1" i="0">
                <a:solidFill>
                  <a:srgbClr val="431218"/>
                </a:solidFill>
                <a:latin typeface="Noto Serif CJK TC"/>
                <a:ea typeface="Noto Serif CJK TC"/>
                <a:cs typeface="Noto Serif CJK TC"/>
              </a:rPr>
              <a:t>12</a:t>
            </a:r>
          </a:p>
        </p:txBody>
      </p:sp>
      <p:sp>
        <p:nvSpPr>
          <p:cNvPr id="11" name="cover-label-0">
            <a:extLst xmlns:a="http://schemas.openxmlformats.org/drawingml/2006/main">
              <a:ext uri="{FF2B5EF4-FFF2-40B4-BE49-F238E27FC236}">
                <a16:creationId xmlns:a16="http://schemas.microsoft.com/office/drawing/2014/main" id="{218AA901-CED7-4D0B-B7C5-DBD99916A239}"/>
              </a:ext>
            </a:extLst>
          </p:cNvPr>
          <p:cNvSpPr>
            <a:spLocks xmlns:a="http://schemas.openxmlformats.org/drawingml/2006/main" noGrp="1"/>
          </p:cNvSpPr>
          <p:nvPr/>
        </p:nvSpPr>
        <p:spPr>
          <a:xfrm xmlns:a="http://schemas.openxmlformats.org/drawingml/2006/main">
            <a:off x="1476375" y="7391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總 trials</a:t>
            </a:r>
          </a:p>
        </p:txBody>
      </p:sp>
      <p:sp>
        <p:nvSpPr>
          <p:cNvPr id="12" name="cover-sep-1">
            <a:extLst xmlns:a="http://schemas.openxmlformats.org/drawingml/2006/main">
              <a:ext uri="{FF2B5EF4-FFF2-40B4-BE49-F238E27FC236}">
                <a16:creationId xmlns:a16="http://schemas.microsoft.com/office/drawing/2014/main" id="{EF32E214-DC95-445F-9FA3-87D2624A0D01}"/>
              </a:ext>
            </a:extLst>
          </p:cNvPr>
          <p:cNvSpPr>
            <a:spLocks xmlns:a="http://schemas.openxmlformats.org/drawingml/2006/main" noGrp="1"/>
          </p:cNvSpPr>
          <p:nvPr/>
        </p:nvSpPr>
        <p:spPr>
          <a:xfrm xmlns:a="http://schemas.openxmlformats.org/drawingml/2006/main">
            <a:off x="4343400" y="6762750"/>
            <a:ext cx="0" cy="104775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cover-metric-1">
            <a:extLst xmlns:a="http://schemas.openxmlformats.org/drawingml/2006/main">
              <a:ext uri="{FF2B5EF4-FFF2-40B4-BE49-F238E27FC236}">
                <a16:creationId xmlns:a16="http://schemas.microsoft.com/office/drawing/2014/main" id="{8667B544-FFE8-4C91-ACA2-ED8B87031260}"/>
              </a:ext>
            </a:extLst>
          </p:cNvPr>
          <p:cNvSpPr>
            <a:spLocks xmlns:a="http://schemas.openxmlformats.org/drawingml/2006/main" noGrp="1"/>
          </p:cNvSpPr>
          <p:nvPr/>
        </p:nvSpPr>
        <p:spPr>
          <a:xfrm xmlns:a="http://schemas.openxmlformats.org/drawingml/2006/main">
            <a:off x="4572000" y="6686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3075" b="1" i="0">
                <a:solidFill>
                  <a:srgbClr val="431218"/>
                </a:solidFill>
                <a:latin typeface="Noto Serif CJK TC"/>
                <a:ea typeface="Noto Serif CJK TC"/>
                <a:cs typeface="Noto Serif CJK TC"/>
              </a:defRPr>
            </a:pPr>
            <a:r>
              <a:rPr sz="3075" b="1" i="0">
                <a:solidFill>
                  <a:srgbClr val="431218"/>
                </a:solidFill>
                <a:latin typeface="Noto Serif CJK TC"/>
                <a:ea typeface="Noto Serif CJK TC"/>
                <a:cs typeface="Noto Serif CJK TC"/>
              </a:rPr>
              <a:t>10</a:t>
            </a:r>
          </a:p>
        </p:txBody>
      </p:sp>
      <p:sp>
        <p:nvSpPr>
          <p:cNvPr id="14" name="cover-label-1">
            <a:extLst xmlns:a="http://schemas.openxmlformats.org/drawingml/2006/main">
              <a:ext uri="{FF2B5EF4-FFF2-40B4-BE49-F238E27FC236}">
                <a16:creationId xmlns:a16="http://schemas.microsoft.com/office/drawing/2014/main" id="{D1AAC2DE-96B3-439E-BC07-34858D2393A3}"/>
              </a:ext>
            </a:extLst>
          </p:cNvPr>
          <p:cNvSpPr>
            <a:spLocks xmlns:a="http://schemas.openxmlformats.org/drawingml/2006/main" noGrp="1"/>
          </p:cNvSpPr>
          <p:nvPr/>
        </p:nvSpPr>
        <p:spPr>
          <a:xfrm xmlns:a="http://schemas.openxmlformats.org/drawingml/2006/main">
            <a:off x="4572000" y="7391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安全套用</a:t>
            </a:r>
          </a:p>
        </p:txBody>
      </p:sp>
      <p:sp>
        <p:nvSpPr>
          <p:cNvPr id="15" name="cover-sep-2">
            <a:extLst xmlns:a="http://schemas.openxmlformats.org/drawingml/2006/main">
              <a:ext uri="{FF2B5EF4-FFF2-40B4-BE49-F238E27FC236}">
                <a16:creationId xmlns:a16="http://schemas.microsoft.com/office/drawing/2014/main" id="{C0F85470-8AE0-469A-8CC4-B979D62287AF}"/>
              </a:ext>
            </a:extLst>
          </p:cNvPr>
          <p:cNvSpPr>
            <a:spLocks xmlns:a="http://schemas.openxmlformats.org/drawingml/2006/main" noGrp="1"/>
          </p:cNvSpPr>
          <p:nvPr/>
        </p:nvSpPr>
        <p:spPr>
          <a:xfrm xmlns:a="http://schemas.openxmlformats.org/drawingml/2006/main">
            <a:off x="7439025" y="6762750"/>
            <a:ext cx="0" cy="104775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cover-metric-2">
            <a:extLst xmlns:a="http://schemas.openxmlformats.org/drawingml/2006/main">
              <a:ext uri="{FF2B5EF4-FFF2-40B4-BE49-F238E27FC236}">
                <a16:creationId xmlns:a16="http://schemas.microsoft.com/office/drawing/2014/main" id="{1805307B-99A2-4362-9CD3-EBD182BD7A30}"/>
              </a:ext>
            </a:extLst>
          </p:cNvPr>
          <p:cNvSpPr>
            <a:spLocks xmlns:a="http://schemas.openxmlformats.org/drawingml/2006/main" noGrp="1"/>
          </p:cNvSpPr>
          <p:nvPr/>
        </p:nvSpPr>
        <p:spPr>
          <a:xfrm xmlns:a="http://schemas.openxmlformats.org/drawingml/2006/main">
            <a:off x="7667625" y="6686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3075" b="1" i="0">
                <a:solidFill>
                  <a:srgbClr val="431218"/>
                </a:solidFill>
                <a:latin typeface="Noto Serif CJK TC"/>
                <a:ea typeface="Noto Serif CJK TC"/>
                <a:cs typeface="Noto Serif CJK TC"/>
              </a:defRPr>
            </a:pPr>
            <a:r>
              <a:rPr sz="3075" b="1" i="0">
                <a:solidFill>
                  <a:srgbClr val="431218"/>
                </a:solidFill>
                <a:latin typeface="Noto Serif CJK TC"/>
                <a:ea typeface="Noto Serif CJK TC"/>
                <a:cs typeface="Noto Serif CJK TC"/>
              </a:rPr>
              <a:t>3 / 3</a:t>
            </a:r>
          </a:p>
        </p:txBody>
      </p:sp>
      <p:sp>
        <p:nvSpPr>
          <p:cNvPr id="17" name="cover-label-2">
            <a:extLst xmlns:a="http://schemas.openxmlformats.org/drawingml/2006/main">
              <a:ext uri="{FF2B5EF4-FFF2-40B4-BE49-F238E27FC236}">
                <a16:creationId xmlns:a16="http://schemas.microsoft.com/office/drawing/2014/main" id="{DF816C04-E827-44D7-BAF6-9675C705B6D8}"/>
              </a:ext>
            </a:extLst>
          </p:cNvPr>
          <p:cNvSpPr>
            <a:spLocks xmlns:a="http://schemas.openxmlformats.org/drawingml/2006/main" noGrp="1"/>
          </p:cNvSpPr>
          <p:nvPr/>
        </p:nvSpPr>
        <p:spPr>
          <a:xfrm xmlns:a="http://schemas.openxmlformats.org/drawingml/2006/main">
            <a:off x="7667625" y="7391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Strategy</a:t>
            </a:r>
          </a:p>
        </p:txBody>
      </p:sp>
      <p:sp>
        <p:nvSpPr>
          <p:cNvPr id="18" name="cover-sep-3">
            <a:extLst xmlns:a="http://schemas.openxmlformats.org/drawingml/2006/main">
              <a:ext uri="{FF2B5EF4-FFF2-40B4-BE49-F238E27FC236}">
                <a16:creationId xmlns:a16="http://schemas.microsoft.com/office/drawing/2014/main" id="{ED984EDF-DC5F-4555-A6EE-CA00C09A084C}"/>
              </a:ext>
            </a:extLst>
          </p:cNvPr>
          <p:cNvSpPr>
            <a:spLocks xmlns:a="http://schemas.openxmlformats.org/drawingml/2006/main" noGrp="1"/>
          </p:cNvSpPr>
          <p:nvPr/>
        </p:nvSpPr>
        <p:spPr>
          <a:xfrm xmlns:a="http://schemas.openxmlformats.org/drawingml/2006/main">
            <a:off x="10534650" y="6762750"/>
            <a:ext cx="0" cy="104775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9" name="cover-metric-3">
            <a:extLst xmlns:a="http://schemas.openxmlformats.org/drawingml/2006/main">
              <a:ext uri="{FF2B5EF4-FFF2-40B4-BE49-F238E27FC236}">
                <a16:creationId xmlns:a16="http://schemas.microsoft.com/office/drawing/2014/main" id="{EDA38037-8E73-42BD-A469-0F465B105777}"/>
              </a:ext>
            </a:extLst>
          </p:cNvPr>
          <p:cNvSpPr>
            <a:spLocks xmlns:a="http://schemas.openxmlformats.org/drawingml/2006/main" noGrp="1"/>
          </p:cNvSpPr>
          <p:nvPr/>
        </p:nvSpPr>
        <p:spPr>
          <a:xfrm xmlns:a="http://schemas.openxmlformats.org/drawingml/2006/main">
            <a:off x="10763250" y="6686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3075" b="1" i="0">
                <a:solidFill>
                  <a:srgbClr val="431218"/>
                </a:solidFill>
                <a:latin typeface="Noto Serif CJK TC"/>
                <a:ea typeface="Noto Serif CJK TC"/>
                <a:cs typeface="Noto Serif CJK TC"/>
              </a:defRPr>
            </a:pPr>
            <a:r>
              <a:rPr sz="3075" b="1" i="0">
                <a:solidFill>
                  <a:srgbClr val="431218"/>
                </a:solidFill>
                <a:latin typeface="Noto Serif CJK TC"/>
                <a:ea typeface="Noto Serif CJK TC"/>
                <a:cs typeface="Noto Serif CJK TC"/>
              </a:rPr>
              <a:t>3 / 3</a:t>
            </a:r>
          </a:p>
        </p:txBody>
      </p:sp>
      <p:sp>
        <p:nvSpPr>
          <p:cNvPr id="20" name="cover-label-3">
            <a:extLst xmlns:a="http://schemas.openxmlformats.org/drawingml/2006/main">
              <a:ext uri="{FF2B5EF4-FFF2-40B4-BE49-F238E27FC236}">
                <a16:creationId xmlns:a16="http://schemas.microsoft.com/office/drawing/2014/main" id="{35C11BA9-8260-4B5E-B4C2-1484C4C449C1}"/>
              </a:ext>
            </a:extLst>
          </p:cNvPr>
          <p:cNvSpPr>
            <a:spLocks xmlns:a="http://schemas.openxmlformats.org/drawingml/2006/main" noGrp="1"/>
          </p:cNvSpPr>
          <p:nvPr/>
        </p:nvSpPr>
        <p:spPr>
          <a:xfrm xmlns:a="http://schemas.openxmlformats.org/drawingml/2006/main">
            <a:off x="10763250" y="7391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Code</a:t>
            </a:r>
          </a:p>
        </p:txBody>
      </p:sp>
      <p:sp>
        <p:nvSpPr>
          <p:cNvPr id="21" name="cover-sep-4">
            <a:extLst xmlns:a="http://schemas.openxmlformats.org/drawingml/2006/main">
              <a:ext uri="{FF2B5EF4-FFF2-40B4-BE49-F238E27FC236}">
                <a16:creationId xmlns:a16="http://schemas.microsoft.com/office/drawing/2014/main" id="{A1C1D1C3-BE98-4FE3-8BC9-FE54A644FC44}"/>
              </a:ext>
            </a:extLst>
          </p:cNvPr>
          <p:cNvSpPr>
            <a:spLocks xmlns:a="http://schemas.openxmlformats.org/drawingml/2006/main" noGrp="1"/>
          </p:cNvSpPr>
          <p:nvPr/>
        </p:nvSpPr>
        <p:spPr>
          <a:xfrm xmlns:a="http://schemas.openxmlformats.org/drawingml/2006/main">
            <a:off x="13630275" y="6762750"/>
            <a:ext cx="0" cy="104775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2" name="cover-metric-4">
            <a:extLst xmlns:a="http://schemas.openxmlformats.org/drawingml/2006/main">
              <a:ext uri="{FF2B5EF4-FFF2-40B4-BE49-F238E27FC236}">
                <a16:creationId xmlns:a16="http://schemas.microsoft.com/office/drawing/2014/main" id="{1614ACA7-6B11-4A85-B850-66EDCDABFB24}"/>
              </a:ext>
            </a:extLst>
          </p:cNvPr>
          <p:cNvSpPr>
            <a:spLocks xmlns:a="http://schemas.openxmlformats.org/drawingml/2006/main" noGrp="1"/>
          </p:cNvSpPr>
          <p:nvPr/>
        </p:nvSpPr>
        <p:spPr>
          <a:xfrm xmlns:a="http://schemas.openxmlformats.org/drawingml/2006/main">
            <a:off x="13858875" y="6686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3075" b="1" i="0">
                <a:solidFill>
                  <a:srgbClr val="BF872B"/>
                </a:solidFill>
                <a:latin typeface="Noto Serif CJK TC"/>
                <a:ea typeface="Noto Serif CJK TC"/>
                <a:cs typeface="Noto Serif CJK TC"/>
              </a:defRPr>
            </a:pPr>
            <a:r>
              <a:rPr sz="3075" b="1" i="0">
                <a:solidFill>
                  <a:srgbClr val="BF872B"/>
                </a:solidFill>
                <a:latin typeface="Noto Serif CJK TC"/>
                <a:ea typeface="Noto Serif CJK TC"/>
                <a:cs typeface="Noto Serif CJK TC"/>
              </a:rPr>
              <a:t>4 / 6</a:t>
            </a:r>
          </a:p>
        </p:txBody>
      </p:sp>
      <p:sp>
        <p:nvSpPr>
          <p:cNvPr id="23" name="cover-label-4">
            <a:extLst xmlns:a="http://schemas.openxmlformats.org/drawingml/2006/main">
              <a:ext uri="{FF2B5EF4-FFF2-40B4-BE49-F238E27FC236}">
                <a16:creationId xmlns:a16="http://schemas.microsoft.com/office/drawing/2014/main" id="{0B7A1B72-4D56-4045-89E8-8CB8A6F5BFBC}"/>
              </a:ext>
            </a:extLst>
          </p:cNvPr>
          <p:cNvSpPr>
            <a:spLocks xmlns:a="http://schemas.openxmlformats.org/drawingml/2006/main" noGrp="1"/>
          </p:cNvSpPr>
          <p:nvPr/>
        </p:nvSpPr>
        <p:spPr>
          <a:xfrm xmlns:a="http://schemas.openxmlformats.org/drawingml/2006/main">
            <a:off x="13858875" y="7391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Compliance</a:t>
            </a:r>
          </a:p>
        </p:txBody>
      </p:sp>
      <p:sp>
        <p:nvSpPr>
          <p:cNvPr id="24" name="cover-bottom">
            <a:extLst xmlns:a="http://schemas.openxmlformats.org/drawingml/2006/main">
              <a:ext uri="{FF2B5EF4-FFF2-40B4-BE49-F238E27FC236}">
                <a16:creationId xmlns:a16="http://schemas.microsoft.com/office/drawing/2014/main" id="{74182141-9C67-4902-9472-2297384DECF3}"/>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25" name="cover-footer">
            <a:extLst xmlns:a="http://schemas.openxmlformats.org/drawingml/2006/main">
              <a:ext uri="{FF2B5EF4-FFF2-40B4-BE49-F238E27FC236}">
                <a16:creationId xmlns:a16="http://schemas.microsoft.com/office/drawing/2014/main" id="{EEEC9C84-80DB-483A-B223-F0E6DB3FDD5E}"/>
              </a:ext>
            </a:extLst>
          </p:cNvPr>
          <p:cNvSpPr>
            <a:spLocks xmlns:a="http://schemas.openxmlformats.org/drawingml/2006/main" noGrp="1"/>
          </p:cNvSpPr>
          <p:nvPr/>
        </p:nvSpPr>
        <p:spPr>
          <a:xfrm xmlns:a="http://schemas.openxmlformats.org/drawingml/2006/main">
            <a:off x="1123950" y="8982075"/>
            <a:ext cx="1314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i="0">
                <a:solidFill>
                  <a:srgbClr val="62606A"/>
                </a:solidFill>
                <a:latin typeface="Noto Sans CJK TC"/>
                <a:ea typeface="Noto Sans CJK TC"/>
                <a:cs typeface="Noto Sans CJK TC"/>
              </a:defRPr>
            </a:pPr>
            <a:r>
              <a:rPr sz="1125" b="0" i="0">
                <a:solidFill>
                  <a:srgbClr val="62606A"/>
                </a:solidFill>
                <a:latin typeface="Noto Sans CJK TC"/>
                <a:ea typeface="Noto Sans CJK TC"/>
                <a:cs typeface="Noto Sans CJK TC"/>
              </a:rPr>
              <a:t>Last completed validation: 20260904_171444 · Current prompts: c133fcb9520</a:t>
            </a:r>
          </a:p>
        </p:txBody>
      </p:sp>
      <p:sp>
        <p:nvSpPr>
          <p:cNvPr id="26" name="cover-page">
            <a:extLst xmlns:a="http://schemas.openxmlformats.org/drawingml/2006/main">
              <a:ext uri="{FF2B5EF4-FFF2-40B4-BE49-F238E27FC236}">
                <a16:creationId xmlns:a16="http://schemas.microsoft.com/office/drawing/2014/main" id="{E2EAD5B4-E7EC-4BF1-957D-5E2DC42EBC6F}"/>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01 / 14</a:t>
            </a:r>
          </a:p>
        </p:txBody>
      </p:sp>
    </p:spTree>
    <p:extLst>
      <p:ext uri="{BB962C8B-B14F-4D97-AF65-F5344CB8AC3E}">
        <p14:creationId xmlns:p14="http://schemas.microsoft.com/office/powerpoint/2010/main" val="1333870150"/>
      </p:ext>
    </p:extLst>
  </p:cSld>
</p:sld>
</file>

<file path=ppt/slides/slide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32" name="top-left-2">
            <a:extLst xmlns:a="http://schemas.openxmlformats.org/drawingml/2006/main">
              <a:ext uri="{FF2B5EF4-FFF2-40B4-BE49-F238E27FC236}">
                <a16:creationId xmlns:a16="http://schemas.microsoft.com/office/drawing/2014/main" id="{9153A177-0229-459B-A157-DABF3023535A}"/>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2">
            <a:extLst xmlns:a="http://schemas.openxmlformats.org/drawingml/2006/main">
              <a:ext uri="{FF2B5EF4-FFF2-40B4-BE49-F238E27FC236}">
                <a16:creationId xmlns:a16="http://schemas.microsoft.com/office/drawing/2014/main" id="{B6D3831C-561D-48F6-8317-8BF37C1A2843}"/>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2">
            <a:extLst xmlns:a="http://schemas.openxmlformats.org/drawingml/2006/main">
              <a:ext uri="{FF2B5EF4-FFF2-40B4-BE49-F238E27FC236}">
                <a16:creationId xmlns:a16="http://schemas.microsoft.com/office/drawing/2014/main" id="{CEAA5BD5-1103-4898-B7C3-7D28727A59BD}"/>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2">
            <a:extLst xmlns:a="http://schemas.openxmlformats.org/drawingml/2006/main">
              <a:ext uri="{FF2B5EF4-FFF2-40B4-BE49-F238E27FC236}">
                <a16:creationId xmlns:a16="http://schemas.microsoft.com/office/drawing/2014/main" id="{7846B0F9-1076-4303-BF57-854BCE8082D0}"/>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2">
            <a:extLst xmlns:a="http://schemas.openxmlformats.org/drawingml/2006/main">
              <a:ext uri="{FF2B5EF4-FFF2-40B4-BE49-F238E27FC236}">
                <a16:creationId xmlns:a16="http://schemas.microsoft.com/office/drawing/2014/main" id="{618322E8-09C1-4573-93F1-F86E0B6E972E}"/>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2">
            <a:extLst xmlns:a="http://schemas.openxmlformats.org/drawingml/2006/main">
              <a:ext uri="{FF2B5EF4-FFF2-40B4-BE49-F238E27FC236}">
                <a16:creationId xmlns:a16="http://schemas.microsoft.com/office/drawing/2014/main" id="{2C426EF8-A02E-44D0-A588-A922B89C5595}"/>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01</a:t>
            </a:r>
          </a:p>
        </p:txBody>
      </p:sp>
      <p:sp>
        <p:nvSpPr>
          <p:cNvPr id="7" name="status-2">
            <a:extLst xmlns:a="http://schemas.openxmlformats.org/drawingml/2006/main">
              <a:ext uri="{FF2B5EF4-FFF2-40B4-BE49-F238E27FC236}">
                <a16:creationId xmlns:a16="http://schemas.microsoft.com/office/drawing/2014/main" id="{06712D19-0709-4C52-B62F-E77FB165F88F}"/>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DIRECTION CONFIRMED</a:t>
            </a:r>
          </a:p>
        </p:txBody>
      </p:sp>
      <p:sp>
        <p:nvSpPr>
          <p:cNvPr id="8" name="bottom-2">
            <a:extLst xmlns:a="http://schemas.openxmlformats.org/drawingml/2006/main">
              <a:ext uri="{FF2B5EF4-FFF2-40B4-BE49-F238E27FC236}">
                <a16:creationId xmlns:a16="http://schemas.microsoft.com/office/drawing/2014/main" id="{3F03C5E9-B388-4E3E-AC51-A5DE4BA922B9}"/>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2">
            <a:extLst xmlns:a="http://schemas.openxmlformats.org/drawingml/2006/main">
              <a:ext uri="{FF2B5EF4-FFF2-40B4-BE49-F238E27FC236}">
                <a16:creationId xmlns:a16="http://schemas.microsoft.com/office/drawing/2014/main" id="{E8131E1D-7801-40A8-A970-91E916B7CAE3}"/>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02 / 14</a:t>
            </a:r>
          </a:p>
        </p:txBody>
      </p:sp>
      <p:sp>
        <p:nvSpPr>
          <p:cNvPr id="10" name="title-2">
            <a:extLst xmlns:a="http://schemas.openxmlformats.org/drawingml/2006/main">
              <a:ext uri="{FF2B5EF4-FFF2-40B4-BE49-F238E27FC236}">
                <a16:creationId xmlns:a16="http://schemas.microsoft.com/office/drawing/2014/main" id="{A2684639-A52B-43BC-B16E-82CF9CAB737D}"/>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結論：三個 operator 的修改方向正確</a:t>
            </a:r>
          </a:p>
        </p:txBody>
      </p:sp>
      <p:sp>
        <p:nvSpPr>
          <p:cNvPr id="11" name="subtitle-2">
            <a:extLst xmlns:a="http://schemas.openxmlformats.org/drawingml/2006/main">
              <a:ext uri="{FF2B5EF4-FFF2-40B4-BE49-F238E27FC236}">
                <a16:creationId xmlns:a16="http://schemas.microsoft.com/office/drawing/2014/main" id="{8747B4A2-9C4E-4642-9375-D8B8CE4716BE}"/>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驗證目標不是要求 LLM 一次零錯，而是確認責任邊界、修改欄位與失敗保護</a:t>
            </a:r>
          </a:p>
        </p:txBody>
      </p:sp>
      <p:sp>
        <p:nvSpPr>
          <p:cNvPr id="12" name="exec-value-0">
            <a:extLst xmlns:a="http://schemas.openxmlformats.org/drawingml/2006/main">
              <a:ext uri="{FF2B5EF4-FFF2-40B4-BE49-F238E27FC236}">
                <a16:creationId xmlns:a16="http://schemas.microsoft.com/office/drawing/2014/main" id="{B810A022-5F78-48F7-9439-C97307BA20BB}"/>
              </a:ext>
            </a:extLst>
          </p:cNvPr>
          <p:cNvSpPr>
            <a:spLocks xmlns:a="http://schemas.openxmlformats.org/drawingml/2006/main" noGrp="1"/>
          </p:cNvSpPr>
          <p:nvPr/>
        </p:nvSpPr>
        <p:spPr>
          <a:xfrm xmlns:a="http://schemas.openxmlformats.org/drawingml/2006/main">
            <a:off x="1000125" y="1952625"/>
            <a:ext cx="2238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4275" b="1" i="0">
                <a:solidFill>
                  <a:srgbClr val="47795C"/>
                </a:solidFill>
                <a:latin typeface="Noto Serif CJK TC"/>
                <a:ea typeface="Noto Serif CJK TC"/>
                <a:cs typeface="Noto Serif CJK TC"/>
              </a:defRPr>
            </a:pPr>
            <a:r>
              <a:rPr sz="4275" b="1" i="0">
                <a:solidFill>
                  <a:srgbClr val="47795C"/>
                </a:solidFill>
                <a:latin typeface="Noto Serif CJK TC"/>
                <a:ea typeface="Noto Serif CJK TC"/>
                <a:cs typeface="Noto Serif CJK TC"/>
              </a:rPr>
              <a:t>3 / 3</a:t>
            </a:r>
          </a:p>
        </p:txBody>
      </p:sp>
      <p:sp>
        <p:nvSpPr>
          <p:cNvPr id="13" name="exec-label-0">
            <a:extLst xmlns:a="http://schemas.openxmlformats.org/drawingml/2006/main">
              <a:ext uri="{FF2B5EF4-FFF2-40B4-BE49-F238E27FC236}">
                <a16:creationId xmlns:a16="http://schemas.microsoft.com/office/drawing/2014/main" id="{88F625BB-AC46-4DF4-B2DA-23298769BCDF}"/>
              </a:ext>
            </a:extLst>
          </p:cNvPr>
          <p:cNvSpPr>
            <a:spLocks xmlns:a="http://schemas.openxmlformats.org/drawingml/2006/main" noGrp="1"/>
          </p:cNvSpPr>
          <p:nvPr/>
        </p:nvSpPr>
        <p:spPr>
          <a:xfrm xmlns:a="http://schemas.openxmlformats.org/drawingml/2006/main">
            <a:off x="3381375" y="20669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25252A"/>
                </a:solidFill>
                <a:latin typeface="Noto Sans CJK TC"/>
                <a:ea typeface="Noto Sans CJK TC"/>
                <a:cs typeface="Noto Sans CJK TC"/>
              </a:defRPr>
            </a:pPr>
            <a:r>
              <a:rPr sz="1800" b="1" i="0">
                <a:solidFill>
                  <a:srgbClr val="25252A"/>
                </a:solidFill>
                <a:latin typeface="Noto Sans CJK TC"/>
                <a:ea typeface="Noto Sans CJK TC"/>
                <a:cs typeface="Noto Sans CJK TC"/>
              </a:rPr>
              <a:t>Strategy</a:t>
            </a:r>
          </a:p>
        </p:txBody>
      </p:sp>
      <p:sp>
        <p:nvSpPr>
          <p:cNvPr id="14" name="exec-note-0">
            <a:extLst xmlns:a="http://schemas.openxmlformats.org/drawingml/2006/main">
              <a:ext uri="{FF2B5EF4-FFF2-40B4-BE49-F238E27FC236}">
                <a16:creationId xmlns:a16="http://schemas.microsoft.com/office/drawing/2014/main" id="{A12DF5EF-31D3-4C91-A461-0463D4D197BC}"/>
              </a:ext>
            </a:extLst>
          </p:cNvPr>
          <p:cNvSpPr>
            <a:spLocks xmlns:a="http://schemas.openxmlformats.org/drawingml/2006/main" noGrp="1"/>
          </p:cNvSpPr>
          <p:nvPr/>
        </p:nvSpPr>
        <p:spPr>
          <a:xfrm xmlns:a="http://schemas.openxmlformats.org/drawingml/2006/main">
            <a:off x="3381375" y="24574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只改 strategy_prompt</a:t>
            </a:r>
          </a:p>
        </p:txBody>
      </p:sp>
      <p:sp>
        <p:nvSpPr>
          <p:cNvPr id="15" name="exec-value-1">
            <a:extLst xmlns:a="http://schemas.openxmlformats.org/drawingml/2006/main">
              <a:ext uri="{FF2B5EF4-FFF2-40B4-BE49-F238E27FC236}">
                <a16:creationId xmlns:a16="http://schemas.microsoft.com/office/drawing/2014/main" id="{1FBE751D-B9E8-43C7-BEBD-64BDADDC9BBA}"/>
              </a:ext>
            </a:extLst>
          </p:cNvPr>
          <p:cNvSpPr>
            <a:spLocks xmlns:a="http://schemas.openxmlformats.org/drawingml/2006/main" noGrp="1"/>
          </p:cNvSpPr>
          <p:nvPr/>
        </p:nvSpPr>
        <p:spPr>
          <a:xfrm xmlns:a="http://schemas.openxmlformats.org/drawingml/2006/main">
            <a:off x="6286500" y="1952625"/>
            <a:ext cx="2238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4275" b="1" i="0">
                <a:solidFill>
                  <a:srgbClr val="47795C"/>
                </a:solidFill>
                <a:latin typeface="Noto Serif CJK TC"/>
                <a:ea typeface="Noto Serif CJK TC"/>
                <a:cs typeface="Noto Serif CJK TC"/>
              </a:defRPr>
            </a:pPr>
            <a:r>
              <a:rPr sz="4275" b="1" i="0">
                <a:solidFill>
                  <a:srgbClr val="47795C"/>
                </a:solidFill>
                <a:latin typeface="Noto Serif CJK TC"/>
                <a:ea typeface="Noto Serif CJK TC"/>
                <a:cs typeface="Noto Serif CJK TC"/>
              </a:rPr>
              <a:t>3 / 3</a:t>
            </a:r>
          </a:p>
        </p:txBody>
      </p:sp>
      <p:sp>
        <p:nvSpPr>
          <p:cNvPr id="16" name="exec-label-1">
            <a:extLst xmlns:a="http://schemas.openxmlformats.org/drawingml/2006/main">
              <a:ext uri="{FF2B5EF4-FFF2-40B4-BE49-F238E27FC236}">
                <a16:creationId xmlns:a16="http://schemas.microsoft.com/office/drawing/2014/main" id="{FEC5672A-7979-4A55-BF33-D7CF6D26AF2F}"/>
              </a:ext>
            </a:extLst>
          </p:cNvPr>
          <p:cNvSpPr>
            <a:spLocks xmlns:a="http://schemas.openxmlformats.org/drawingml/2006/main" noGrp="1"/>
          </p:cNvSpPr>
          <p:nvPr/>
        </p:nvSpPr>
        <p:spPr>
          <a:xfrm xmlns:a="http://schemas.openxmlformats.org/drawingml/2006/main">
            <a:off x="8667750" y="20669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25252A"/>
                </a:solidFill>
                <a:latin typeface="Noto Sans CJK TC"/>
                <a:ea typeface="Noto Sans CJK TC"/>
                <a:cs typeface="Noto Sans CJK TC"/>
              </a:defRPr>
            </a:pPr>
            <a:r>
              <a:rPr sz="1800" b="1" i="0">
                <a:solidFill>
                  <a:srgbClr val="25252A"/>
                </a:solidFill>
                <a:latin typeface="Noto Sans CJK TC"/>
                <a:ea typeface="Noto Sans CJK TC"/>
                <a:cs typeface="Noto Sans CJK TC"/>
              </a:rPr>
              <a:t>Code</a:t>
            </a:r>
          </a:p>
        </p:txBody>
      </p:sp>
      <p:sp>
        <p:nvSpPr>
          <p:cNvPr id="17" name="exec-note-1">
            <a:extLst xmlns:a="http://schemas.openxmlformats.org/drawingml/2006/main">
              <a:ext uri="{FF2B5EF4-FFF2-40B4-BE49-F238E27FC236}">
                <a16:creationId xmlns:a16="http://schemas.microsoft.com/office/drawing/2014/main" id="{F3678F3C-D8E4-4C39-A97E-079B9E3CA064}"/>
              </a:ext>
            </a:extLst>
          </p:cNvPr>
          <p:cNvSpPr>
            <a:spLocks xmlns:a="http://schemas.openxmlformats.org/drawingml/2006/main" noGrp="1"/>
          </p:cNvSpPr>
          <p:nvPr/>
        </p:nvSpPr>
        <p:spPr>
          <a:xfrm xmlns:a="http://schemas.openxmlformats.org/drawingml/2006/main">
            <a:off x="8667750" y="24574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只改 generation_prompt</a:t>
            </a:r>
          </a:p>
        </p:txBody>
      </p:sp>
      <p:sp>
        <p:nvSpPr>
          <p:cNvPr id="18" name="exec-value-2">
            <a:extLst xmlns:a="http://schemas.openxmlformats.org/drawingml/2006/main">
              <a:ext uri="{FF2B5EF4-FFF2-40B4-BE49-F238E27FC236}">
                <a16:creationId xmlns:a16="http://schemas.microsoft.com/office/drawing/2014/main" id="{4F5727D9-B2C7-4661-B78A-4C5E6A9EA90D}"/>
              </a:ext>
            </a:extLst>
          </p:cNvPr>
          <p:cNvSpPr>
            <a:spLocks xmlns:a="http://schemas.openxmlformats.org/drawingml/2006/main" noGrp="1"/>
          </p:cNvSpPr>
          <p:nvPr/>
        </p:nvSpPr>
        <p:spPr>
          <a:xfrm xmlns:a="http://schemas.openxmlformats.org/drawingml/2006/main">
            <a:off x="11572875" y="1952625"/>
            <a:ext cx="2238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4275" b="1" i="0">
                <a:solidFill>
                  <a:srgbClr val="BF872B"/>
                </a:solidFill>
                <a:latin typeface="Noto Serif CJK TC"/>
                <a:ea typeface="Noto Serif CJK TC"/>
                <a:cs typeface="Noto Serif CJK TC"/>
              </a:defRPr>
            </a:pPr>
            <a:r>
              <a:rPr sz="4275" b="1" i="0">
                <a:solidFill>
                  <a:srgbClr val="BF872B"/>
                </a:solidFill>
                <a:latin typeface="Noto Serif CJK TC"/>
                <a:ea typeface="Noto Serif CJK TC"/>
                <a:cs typeface="Noto Serif CJK TC"/>
              </a:rPr>
              <a:t>4 / 6</a:t>
            </a:r>
          </a:p>
        </p:txBody>
      </p:sp>
      <p:sp>
        <p:nvSpPr>
          <p:cNvPr id="19" name="exec-label-2">
            <a:extLst xmlns:a="http://schemas.openxmlformats.org/drawingml/2006/main">
              <a:ext uri="{FF2B5EF4-FFF2-40B4-BE49-F238E27FC236}">
                <a16:creationId xmlns:a16="http://schemas.microsoft.com/office/drawing/2014/main" id="{ED9CD517-5F31-4B03-B55F-9792BA7E17B8}"/>
              </a:ext>
            </a:extLst>
          </p:cNvPr>
          <p:cNvSpPr>
            <a:spLocks xmlns:a="http://schemas.openxmlformats.org/drawingml/2006/main" noGrp="1"/>
          </p:cNvSpPr>
          <p:nvPr/>
        </p:nvSpPr>
        <p:spPr>
          <a:xfrm xmlns:a="http://schemas.openxmlformats.org/drawingml/2006/main">
            <a:off x="13954125" y="20669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25252A"/>
                </a:solidFill>
                <a:latin typeface="Noto Sans CJK TC"/>
                <a:ea typeface="Noto Sans CJK TC"/>
                <a:cs typeface="Noto Sans CJK TC"/>
              </a:defRPr>
            </a:pPr>
            <a:r>
              <a:rPr sz="1800" b="1" i="0">
                <a:solidFill>
                  <a:srgbClr val="25252A"/>
                </a:solidFill>
                <a:latin typeface="Noto Sans CJK TC"/>
                <a:ea typeface="Noto Sans CJK TC"/>
                <a:cs typeface="Noto Sans CJK TC"/>
              </a:rPr>
              <a:t>Compliance</a:t>
            </a:r>
          </a:p>
        </p:txBody>
      </p:sp>
      <p:sp>
        <p:nvSpPr>
          <p:cNvPr id="20" name="exec-note-2">
            <a:extLst xmlns:a="http://schemas.openxmlformats.org/drawingml/2006/main">
              <a:ext uri="{FF2B5EF4-FFF2-40B4-BE49-F238E27FC236}">
                <a16:creationId xmlns:a16="http://schemas.microsoft.com/office/drawing/2014/main" id="{7D968F58-9115-4496-A96C-E1C896934981}"/>
              </a:ext>
            </a:extLst>
          </p:cNvPr>
          <p:cNvSpPr>
            <a:spLocks xmlns:a="http://schemas.openxmlformats.org/drawingml/2006/main" noGrp="1"/>
          </p:cNvSpPr>
          <p:nvPr/>
        </p:nvSpPr>
        <p:spPr>
          <a:xfrm xmlns:a="http://schemas.openxmlformats.org/drawingml/2006/main">
            <a:off x="13954125" y="24574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成功修 prompt；2 次拒絕</a:t>
            </a:r>
          </a:p>
        </p:txBody>
      </p:sp>
      <p:sp>
        <p:nvSpPr>
          <p:cNvPr id="21" name="exec-divider">
            <a:extLst xmlns:a="http://schemas.openxmlformats.org/drawingml/2006/main">
              <a:ext uri="{FF2B5EF4-FFF2-40B4-BE49-F238E27FC236}">
                <a16:creationId xmlns:a16="http://schemas.microsoft.com/office/drawing/2014/main" id="{9DF752FF-C826-4F76-9C18-E8167E798058}"/>
              </a:ext>
            </a:extLst>
          </p:cNvPr>
          <p:cNvSpPr>
            <a:spLocks xmlns:a="http://schemas.openxmlformats.org/drawingml/2006/main" noGrp="1"/>
          </p:cNvSpPr>
          <p:nvPr/>
        </p:nvSpPr>
        <p:spPr>
          <a:xfrm xmlns:a="http://schemas.openxmlformats.org/drawingml/2006/main">
            <a:off x="1000125" y="3171825"/>
            <a:ext cx="16268700" cy="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22" name="exec-meaning-text">
            <a:extLst xmlns:a="http://schemas.openxmlformats.org/drawingml/2006/main">
              <a:ext uri="{FF2B5EF4-FFF2-40B4-BE49-F238E27FC236}">
                <a16:creationId xmlns:a16="http://schemas.microsoft.com/office/drawing/2014/main" id="{00E94ACF-3BED-48CD-B57C-F9E91BF92DA1}"/>
              </a:ext>
            </a:extLst>
          </p:cNvPr>
          <p:cNvSpPr>
            <a:spLocks xmlns:a="http://schemas.openxmlformats.org/drawingml/2006/main" noGrp="1"/>
          </p:cNvSpPr>
          <p:nvPr/>
        </p:nvSpPr>
        <p:spPr>
          <a:xfrm xmlns:a="http://schemas.openxmlformats.org/drawingml/2006/main">
            <a:off x="1047750" y="37147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這次驗證真正證明的事</a:t>
            </a:r>
          </a:p>
        </p:txBody>
      </p:sp>
      <p:sp>
        <p:nvSpPr>
          <p:cNvPr id="23" name="exec-meaning-line">
            <a:extLst xmlns:a="http://schemas.openxmlformats.org/drawingml/2006/main">
              <a:ext uri="{FF2B5EF4-FFF2-40B4-BE49-F238E27FC236}">
                <a16:creationId xmlns:a16="http://schemas.microsoft.com/office/drawing/2014/main" id="{B88B3AF1-403D-46FE-AA3B-D9D6BD728A84}"/>
              </a:ext>
            </a:extLst>
          </p:cNvPr>
          <p:cNvSpPr>
            <a:spLocks xmlns:a="http://schemas.openxmlformats.org/drawingml/2006/main" noGrp="1"/>
          </p:cNvSpPr>
          <p:nvPr/>
        </p:nvSpPr>
        <p:spPr>
          <a:xfrm xmlns:a="http://schemas.openxmlformats.org/drawingml/2006/main">
            <a:off x="1047750" y="4095750"/>
            <a:ext cx="9906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24" name="exec-bullets">
            <a:extLst xmlns:a="http://schemas.openxmlformats.org/drawingml/2006/main">
              <a:ext uri="{FF2B5EF4-FFF2-40B4-BE49-F238E27FC236}">
                <a16:creationId xmlns:a16="http://schemas.microsoft.com/office/drawing/2014/main" id="{8877736D-7801-4765-AEAE-90D58351254C}"/>
              </a:ext>
            </a:extLst>
          </p:cNvPr>
          <p:cNvSpPr>
            <a:spLocks xmlns:a="http://schemas.openxmlformats.org/drawingml/2006/main" noGrp="1"/>
          </p:cNvSpPr>
          <p:nvPr/>
        </p:nvSpPr>
        <p:spPr>
          <a:xfrm xmlns:a="http://schemas.openxmlformats.org/drawingml/2006/main">
            <a:off x="1047750" y="4333875"/>
            <a:ext cx="9906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7000"/>
              </a:lnSpc>
              <a:buNone/>
              <a:defRPr sz="1800" b="0" i="0">
                <a:solidFill>
                  <a:srgbClr val="25252A"/>
                </a:solidFill>
                <a:latin typeface="Noto Sans CJK TC"/>
                <a:ea typeface="Noto Sans CJK TC"/>
                <a:cs typeface="Noto Sans CJK TC"/>
              </a:defRPr>
            </a:pPr>
            <a:r>
              <a:rPr sz="1800" b="0" i="0">
                <a:solidFill>
                  <a:srgbClr val="25252A"/>
                </a:solidFill>
                <a:latin typeface="Noto Sans CJK TC"/>
                <a:ea typeface="Noto Sans CJK TC"/>
                <a:cs typeface="Noto Sans CJK TC"/>
              </a:rPr>
              <a:t>• Strategy Reflection 能把策略改成其他類型，同時只碰 policy gene。</a:t>
            </a:r>
          </a:p>
          <a:p xmlns:a="http://schemas.openxmlformats.org/drawingml/2006/main">
            <a:pPr algn="l">
              <a:lnSpc>
                <a:spcPct val="127000"/>
              </a:lnSpc>
              <a:buNone/>
              <a:defRPr sz="1800" b="0" i="0">
                <a:solidFill>
                  <a:srgbClr val="25252A"/>
                </a:solidFill>
                <a:latin typeface="Noto Sans CJK TC"/>
                <a:ea typeface="Noto Sans CJK TC"/>
                <a:cs typeface="Noto Sans CJK TC"/>
              </a:defRPr>
            </a:pPr>
            <a:r>
              <a:rPr sz="1800" b="0" i="0">
                <a:solidFill>
                  <a:srgbClr val="25252A"/>
                </a:solidFill>
                <a:latin typeface="Noto Sans CJK TC"/>
                <a:ea typeface="Noto Sans CJK TC"/>
                <a:cs typeface="Noto Sans CJK TC"/>
              </a:rPr>
              <a:t>• Code Reflection 產生的是可重用翻譯規則，不把當前策略或 Java 寫進 gene。</a:t>
            </a:r>
          </a:p>
          <a:p xmlns:a="http://schemas.openxmlformats.org/drawingml/2006/main">
            <a:pPr algn="l">
              <a:lnSpc>
                <a:spcPct val="127000"/>
              </a:lnSpc>
              <a:buNone/>
              <a:defRPr sz="1800" b="0" i="0">
                <a:solidFill>
                  <a:srgbClr val="25252A"/>
                </a:solidFill>
                <a:latin typeface="Noto Sans CJK TC"/>
                <a:ea typeface="Noto Sans CJK TC"/>
                <a:cs typeface="Noto Sans CJK TC"/>
              </a:defRPr>
            </a:pPr>
            <a:r>
              <a:rPr sz="1800" b="0" i="0">
                <a:solidFill>
                  <a:srgbClr val="25252A"/>
                </a:solidFill>
                <a:latin typeface="Noto Sans CJK TC"/>
                <a:ea typeface="Noto Sans CJK TC"/>
                <a:cs typeface="Noto Sans CJK TC"/>
              </a:rPr>
              <a:t>• Prompt Compliance 只修規範問題，不處理勝負平衡；無法通過時維持原值。</a:t>
            </a:r>
          </a:p>
          <a:p xmlns:a="http://schemas.openxmlformats.org/drawingml/2006/main">
            <a:pPr algn="l">
              <a:lnSpc>
                <a:spcPct val="127000"/>
              </a:lnSpc>
              <a:buNone/>
              <a:defRPr sz="1800" b="0" i="0">
                <a:solidFill>
                  <a:srgbClr val="25252A"/>
                </a:solidFill>
                <a:latin typeface="Noto Sans CJK TC"/>
                <a:ea typeface="Noto Sans CJK TC"/>
                <a:cs typeface="Noto Sans CJK TC"/>
              </a:defRPr>
            </a:pPr>
            <a:r>
              <a:rPr sz="1800" b="0" i="0">
                <a:solidFill>
                  <a:srgbClr val="25252A"/>
                </a:solidFill>
                <a:latin typeface="Noto Sans CJK TC"/>
                <a:ea typeface="Noto Sans CJK TC"/>
                <a:cs typeface="Noto Sans CJK TC"/>
              </a:rPr>
              <a:t>• 12 個 trial 的 inherited Java hash 全部相同，父代 Java 沒有重新生成。</a:t>
            </a:r>
          </a:p>
        </p:txBody>
      </p:sp>
      <p:sp>
        <p:nvSpPr>
          <p:cNvPr id="25" name="exec-criterion-box">
            <a:extLst xmlns:a="http://schemas.openxmlformats.org/drawingml/2006/main">
              <a:ext uri="{FF2B5EF4-FFF2-40B4-BE49-F238E27FC236}">
                <a16:creationId xmlns:a16="http://schemas.microsoft.com/office/drawing/2014/main" id="{53B212D8-B84A-4110-89B1-6DC6DE4A7504}"/>
              </a:ext>
            </a:extLst>
          </p:cNvPr>
          <p:cNvSpPr>
            <a:spLocks xmlns:a="http://schemas.openxmlformats.org/drawingml/2006/main" noGrp="1"/>
          </p:cNvSpPr>
          <p:nvPr/>
        </p:nvSpPr>
        <p:spPr>
          <a:xfrm xmlns:a="http://schemas.openxmlformats.org/drawingml/2006/main">
            <a:off x="12001500" y="3714750"/>
            <a:ext cx="5191125" cy="3333750"/>
          </a:xfrm>
          <a:prstGeom xmlns:a="http://schemas.openxmlformats.org/drawingml/2006/main" prst="roundRect">
            <a:avLst>
              <a:gd name="adj" fmla="val 5143"/>
            </a:avLst>
          </a:prstGeom>
          <a:solidFill xmlns:a="http://schemas.openxmlformats.org/drawingml/2006/main">
            <a:srgbClr val="F7E7C8"/>
          </a:solidFill>
          <a:ln xmlns:a="http://schemas.openxmlformats.org/drawingml/2006/main" w="11430">
            <a:solidFill>
              <a:srgbClr val="BF872B"/>
            </a:solidFill>
            <a:prstDash val="solid"/>
          </a:ln>
        </p:spPr>
      </p:sp>
      <p:sp>
        <p:nvSpPr>
          <p:cNvPr id="26" name="exec-criterion-title">
            <a:extLst xmlns:a="http://schemas.openxmlformats.org/drawingml/2006/main">
              <a:ext uri="{FF2B5EF4-FFF2-40B4-BE49-F238E27FC236}">
                <a16:creationId xmlns:a16="http://schemas.microsoft.com/office/drawing/2014/main" id="{6EDF098C-0F36-424D-B31B-AAC939A25312}"/>
              </a:ext>
            </a:extLst>
          </p:cNvPr>
          <p:cNvSpPr>
            <a:spLocks xmlns:a="http://schemas.openxmlformats.org/drawingml/2006/main" noGrp="1"/>
          </p:cNvSpPr>
          <p:nvPr/>
        </p:nvSpPr>
        <p:spPr>
          <a:xfrm xmlns:a="http://schemas.openxmlformats.org/drawingml/2006/main">
            <a:off x="12230100" y="3905250"/>
            <a:ext cx="4733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BF872B"/>
                </a:solidFill>
                <a:latin typeface="Noto Sans CJK TC"/>
                <a:ea typeface="Noto Sans CJK TC"/>
                <a:cs typeface="Noto Sans CJK TC"/>
              </a:defRPr>
            </a:pPr>
            <a:r>
              <a:rPr sz="1800" b="1" i="0">
                <a:solidFill>
                  <a:srgbClr val="BF872B"/>
                </a:solidFill>
                <a:latin typeface="Noto Sans CJK TC"/>
                <a:ea typeface="Noto Sans CJK TC"/>
                <a:cs typeface="Noto Sans CJK TC"/>
              </a:rPr>
              <a:t>判讀原則</a:t>
            </a:r>
          </a:p>
        </p:txBody>
      </p:sp>
      <p:sp>
        <p:nvSpPr>
          <p:cNvPr id="27" name="exec-criterion-body">
            <a:extLst xmlns:a="http://schemas.openxmlformats.org/drawingml/2006/main">
              <a:ext uri="{FF2B5EF4-FFF2-40B4-BE49-F238E27FC236}">
                <a16:creationId xmlns:a16="http://schemas.microsoft.com/office/drawing/2014/main" id="{59435B02-908A-40F9-870D-FE7245726FC5}"/>
              </a:ext>
            </a:extLst>
          </p:cNvPr>
          <p:cNvSpPr>
            <a:spLocks xmlns:a="http://schemas.openxmlformats.org/drawingml/2006/main" noGrp="1"/>
          </p:cNvSpPr>
          <p:nvPr/>
        </p:nvSpPr>
        <p:spPr>
          <a:xfrm xmlns:a="http://schemas.openxmlformats.org/drawingml/2006/main">
            <a:off x="12230100" y="4400550"/>
            <a:ext cx="4733925"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Applied ≠ 策略一定強。</a:t>
            </a:r>
          </a:p>
          <a:p xmlns:a="http://schemas.openxmlformats.org/drawingml/2006/main">
            <a:r>
              <a:t/>
            </a:r>
          </a:p>
          <a:p xmlns:a="http://schemas.openxmlformats.org/drawingml/2006/main">
            <a:pPr algn="l">
              <a:lnSpc>
                <a:spcPct val="112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本次只檢查：</a:t>
            </a:r>
          </a:p>
          <a:p xmlns:a="http://schemas.openxmlformats.org/drawingml/2006/main">
            <a:pPr algn="l">
              <a:lnSpc>
                <a:spcPct val="112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1. 修改方向正確</a:t>
            </a:r>
          </a:p>
          <a:p xmlns:a="http://schemas.openxmlformats.org/drawingml/2006/main">
            <a:pPr algn="l">
              <a:lnSpc>
                <a:spcPct val="112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2. 欄位 scope 正確</a:t>
            </a:r>
          </a:p>
          <a:p xmlns:a="http://schemas.openxmlformats.org/drawingml/2006/main">
            <a:pPr algn="l">
              <a:lnSpc>
                <a:spcPct val="112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3. 違規輸出不會套用</a:t>
            </a:r>
          </a:p>
          <a:p xmlns:a="http://schemas.openxmlformats.org/drawingml/2006/main">
            <a:pPr algn="l">
              <a:lnSpc>
                <a:spcPct val="112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4. Java 繼承不變</a:t>
            </a:r>
          </a:p>
        </p:txBody>
      </p:sp>
      <p:sp>
        <p:nvSpPr>
          <p:cNvPr id="28" name="band-2">
            <a:extLst xmlns:a="http://schemas.openxmlformats.org/drawingml/2006/main">
              <a:ext uri="{FF2B5EF4-FFF2-40B4-BE49-F238E27FC236}">
                <a16:creationId xmlns:a16="http://schemas.microsoft.com/office/drawing/2014/main" id="{162D52D2-F520-4433-8EAF-83F743232129}"/>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29" name="band-label-2">
            <a:extLst xmlns:a="http://schemas.openxmlformats.org/drawingml/2006/main">
              <a:ext uri="{FF2B5EF4-FFF2-40B4-BE49-F238E27FC236}">
                <a16:creationId xmlns:a16="http://schemas.microsoft.com/office/drawing/2014/main" id="{E5A9E1A6-1F03-47DF-A061-A75969823393}"/>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一句話</a:t>
            </a:r>
          </a:p>
        </p:txBody>
      </p:sp>
      <p:sp>
        <p:nvSpPr>
          <p:cNvPr id="30" name="band-divider-2">
            <a:extLst xmlns:a="http://schemas.openxmlformats.org/drawingml/2006/main">
              <a:ext uri="{FF2B5EF4-FFF2-40B4-BE49-F238E27FC236}">
                <a16:creationId xmlns:a16="http://schemas.microsoft.com/office/drawing/2014/main" id="{AAC238D4-4896-4908-A6FA-15EF7E80BAF0}"/>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31" name="band-text-2">
            <a:extLst xmlns:a="http://schemas.openxmlformats.org/drawingml/2006/main">
              <a:ext uri="{FF2B5EF4-FFF2-40B4-BE49-F238E27FC236}">
                <a16:creationId xmlns:a16="http://schemas.microsoft.com/office/drawing/2014/main" id="{588346C8-D19D-418B-8937-2B040E001361}"/>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架構方向可用；接下來要提升的是 LLM 穩定度，不是再把 meta-prompt 堆得更複雜。</a:t>
            </a:r>
          </a:p>
        </p:txBody>
      </p:sp>
    </p:spTree>
    <p:extLst>
      <p:ext uri="{BB962C8B-B14F-4D97-AF65-F5344CB8AC3E}">
        <p14:creationId xmlns:p14="http://schemas.microsoft.com/office/powerpoint/2010/main" val="1702720116"/>
      </p:ext>
    </p:extLst>
  </p:cSld>
</p:sld>
</file>

<file path=ppt/slides/slide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37" name="top-left-3">
            <a:extLst xmlns:a="http://schemas.openxmlformats.org/drawingml/2006/main">
              <a:ext uri="{FF2B5EF4-FFF2-40B4-BE49-F238E27FC236}">
                <a16:creationId xmlns:a16="http://schemas.microsoft.com/office/drawing/2014/main" id="{D1A96ED1-A71A-4ACA-AAAD-B5CBF647A10F}"/>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3">
            <a:extLst xmlns:a="http://schemas.openxmlformats.org/drawingml/2006/main">
              <a:ext uri="{FF2B5EF4-FFF2-40B4-BE49-F238E27FC236}">
                <a16:creationId xmlns:a16="http://schemas.microsoft.com/office/drawing/2014/main" id="{3DAC2C6C-A86F-4AFF-A975-823C6D0D0DB9}"/>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3">
            <a:extLst xmlns:a="http://schemas.openxmlformats.org/drawingml/2006/main">
              <a:ext uri="{FF2B5EF4-FFF2-40B4-BE49-F238E27FC236}">
                <a16:creationId xmlns:a16="http://schemas.microsoft.com/office/drawing/2014/main" id="{64E4FBC9-FD35-4222-97FA-5F84BDF8B175}"/>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3">
            <a:extLst xmlns:a="http://schemas.openxmlformats.org/drawingml/2006/main">
              <a:ext uri="{FF2B5EF4-FFF2-40B4-BE49-F238E27FC236}">
                <a16:creationId xmlns:a16="http://schemas.microsoft.com/office/drawing/2014/main" id="{77D5E799-8C86-4DD3-85EC-55EDB20333F7}"/>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3">
            <a:extLst xmlns:a="http://schemas.openxmlformats.org/drawingml/2006/main">
              <a:ext uri="{FF2B5EF4-FFF2-40B4-BE49-F238E27FC236}">
                <a16:creationId xmlns:a16="http://schemas.microsoft.com/office/drawing/2014/main" id="{C58C6234-E8E3-4E38-B414-7397CC025105}"/>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3">
            <a:extLst xmlns:a="http://schemas.openxmlformats.org/drawingml/2006/main">
              <a:ext uri="{FF2B5EF4-FFF2-40B4-BE49-F238E27FC236}">
                <a16:creationId xmlns:a16="http://schemas.microsoft.com/office/drawing/2014/main" id="{F84AAC6B-974A-4BD8-A519-B8AF41631D54}"/>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02</a:t>
            </a:r>
          </a:p>
        </p:txBody>
      </p:sp>
      <p:sp>
        <p:nvSpPr>
          <p:cNvPr id="7" name="status-3">
            <a:extLst xmlns:a="http://schemas.openxmlformats.org/drawingml/2006/main">
              <a:ext uri="{FF2B5EF4-FFF2-40B4-BE49-F238E27FC236}">
                <a16:creationId xmlns:a16="http://schemas.microsoft.com/office/drawing/2014/main" id="{679B7C9C-5955-4D1E-81F8-340EA8CDB5C3}"/>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FIXED PARENT · CHAINED CHILDREN</a:t>
            </a:r>
          </a:p>
        </p:txBody>
      </p:sp>
      <p:sp>
        <p:nvSpPr>
          <p:cNvPr id="8" name="bottom-3">
            <a:extLst xmlns:a="http://schemas.openxmlformats.org/drawingml/2006/main">
              <a:ext uri="{FF2B5EF4-FFF2-40B4-BE49-F238E27FC236}">
                <a16:creationId xmlns:a16="http://schemas.microsoft.com/office/drawing/2014/main" id="{EDEF251B-937F-40A0-8934-E0A5D672D8E4}"/>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3">
            <a:extLst xmlns:a="http://schemas.openxmlformats.org/drawingml/2006/main">
              <a:ext uri="{FF2B5EF4-FFF2-40B4-BE49-F238E27FC236}">
                <a16:creationId xmlns:a16="http://schemas.microsoft.com/office/drawing/2014/main" id="{C417A3F3-8DE3-4B38-AECD-E421351B6C57}"/>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03 / 14</a:t>
            </a:r>
          </a:p>
        </p:txBody>
      </p:sp>
      <p:sp>
        <p:nvSpPr>
          <p:cNvPr id="10" name="title-3">
            <a:extLst xmlns:a="http://schemas.openxmlformats.org/drawingml/2006/main">
              <a:ext uri="{FF2B5EF4-FFF2-40B4-BE49-F238E27FC236}">
                <a16:creationId xmlns:a16="http://schemas.microsoft.com/office/drawing/2014/main" id="{EE34F652-6448-4AE1-A1DB-0B8A7E925E7F}"/>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驗證設計：兩條上游路徑，匯入 Compliance</a:t>
            </a:r>
          </a:p>
        </p:txBody>
      </p:sp>
      <p:sp>
        <p:nvSpPr>
          <p:cNvPr id="11" name="subtitle-3">
            <a:extLst xmlns:a="http://schemas.openxmlformats.org/drawingml/2006/main">
              <a:ext uri="{FF2B5EF4-FFF2-40B4-BE49-F238E27FC236}">
                <a16:creationId xmlns:a16="http://schemas.microsoft.com/office/drawing/2014/main" id="{BE5865AB-E316-4192-BD82-BF8BC067C7A3}"/>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Strategy／Code 各從相同 Worker Rush subject 跑三次；成功子代各自成為 Compliance 父代</a:t>
            </a:r>
          </a:p>
        </p:txBody>
      </p:sp>
      <p:sp>
        <p:nvSpPr>
          <p:cNvPr id="12" name="topology-parent-box">
            <a:extLst xmlns:a="http://schemas.openxmlformats.org/drawingml/2006/main">
              <a:ext uri="{FF2B5EF4-FFF2-40B4-BE49-F238E27FC236}">
                <a16:creationId xmlns:a16="http://schemas.microsoft.com/office/drawing/2014/main" id="{F0BC7D13-EF78-4C78-8A4F-BE9416D0E0BB}"/>
              </a:ext>
            </a:extLst>
          </p:cNvPr>
          <p:cNvSpPr>
            <a:spLocks xmlns:a="http://schemas.openxmlformats.org/drawingml/2006/main" noGrp="1"/>
          </p:cNvSpPr>
          <p:nvPr/>
        </p:nvSpPr>
        <p:spPr>
          <a:xfrm xmlns:a="http://schemas.openxmlformats.org/drawingml/2006/main">
            <a:off x="1047750" y="2381250"/>
            <a:ext cx="3143250" cy="2667000"/>
          </a:xfrm>
          <a:prstGeom xmlns:a="http://schemas.openxmlformats.org/drawingml/2006/main" prst="roundRect">
            <a:avLst>
              <a:gd name="adj" fmla="val 6429"/>
            </a:avLst>
          </a:prstGeom>
          <a:solidFill xmlns:a="http://schemas.openxmlformats.org/drawingml/2006/main">
            <a:srgbClr val="FFFDF9"/>
          </a:solidFill>
          <a:ln xmlns:a="http://schemas.openxmlformats.org/drawingml/2006/main" w="11430">
            <a:solidFill>
              <a:srgbClr val="B95160"/>
            </a:solidFill>
            <a:prstDash val="solid"/>
          </a:ln>
        </p:spPr>
      </p:sp>
      <p:sp>
        <p:nvSpPr>
          <p:cNvPr id="13" name="topology-parent-title">
            <a:extLst xmlns:a="http://schemas.openxmlformats.org/drawingml/2006/main">
              <a:ext uri="{FF2B5EF4-FFF2-40B4-BE49-F238E27FC236}">
                <a16:creationId xmlns:a16="http://schemas.microsoft.com/office/drawing/2014/main" id="{435999FB-463F-4621-A448-44B9CC818E9E}"/>
              </a:ext>
            </a:extLst>
          </p:cNvPr>
          <p:cNvSpPr>
            <a:spLocks xmlns:a="http://schemas.openxmlformats.org/drawingml/2006/main" noGrp="1"/>
          </p:cNvSpPr>
          <p:nvPr/>
        </p:nvSpPr>
        <p:spPr>
          <a:xfrm xmlns:a="http://schemas.openxmlformats.org/drawingml/2006/main">
            <a:off x="1276350" y="25717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B95160"/>
                </a:solidFill>
                <a:latin typeface="Noto Sans CJK TC"/>
                <a:ea typeface="Noto Sans CJK TC"/>
                <a:cs typeface="Noto Sans CJK TC"/>
              </a:defRPr>
            </a:pPr>
            <a:r>
              <a:rPr sz="1800" b="1" i="0">
                <a:solidFill>
                  <a:srgbClr val="B95160"/>
                </a:solidFill>
                <a:latin typeface="Noto Sans CJK TC"/>
                <a:ea typeface="Noto Sans CJK TC"/>
                <a:cs typeface="Noto Sans CJK TC"/>
              </a:rPr>
              <a:t>固定父代</a:t>
            </a:r>
          </a:p>
        </p:txBody>
      </p:sp>
      <p:sp>
        <p:nvSpPr>
          <p:cNvPr id="14" name="topology-parent-body">
            <a:extLst xmlns:a="http://schemas.openxmlformats.org/drawingml/2006/main">
              <a:ext uri="{FF2B5EF4-FFF2-40B4-BE49-F238E27FC236}">
                <a16:creationId xmlns:a16="http://schemas.microsoft.com/office/drawing/2014/main" id="{84760187-9C1A-4195-A387-0B711876F6F4}"/>
              </a:ext>
            </a:extLst>
          </p:cNvPr>
          <p:cNvSpPr>
            <a:spLocks xmlns:a="http://schemas.openxmlformats.org/drawingml/2006/main" noGrp="1"/>
          </p:cNvSpPr>
          <p:nvPr/>
        </p:nvSpPr>
        <p:spPr>
          <a:xfrm xmlns:a="http://schemas.openxmlformats.org/drawingml/2006/main">
            <a:off x="1276350" y="3067050"/>
            <a:ext cx="26860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Worker Rush policy</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checked-in Java</a:t>
            </a:r>
          </a:p>
          <a:p xmlns:a="http://schemas.openxmlformats.org/drawingml/2006/main">
            <a:r>
              <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每次 Strategy／Code trial 都從同一 subject 開始</a:t>
            </a:r>
          </a:p>
        </p:txBody>
      </p:sp>
      <p:sp>
        <p:nvSpPr>
          <p:cNvPr id="15" name="topology-arrow-a-arrow">
            <a:extLst xmlns:a="http://schemas.openxmlformats.org/drawingml/2006/main">
              <a:ext uri="{FF2B5EF4-FFF2-40B4-BE49-F238E27FC236}">
                <a16:creationId xmlns:a16="http://schemas.microsoft.com/office/drawing/2014/main" id="{A9EBC98A-DD6A-4252-B601-A757C13C0AEA}"/>
              </a:ext>
            </a:extLst>
          </p:cNvPr>
          <p:cNvSpPr>
            <a:spLocks xmlns:a="http://schemas.openxmlformats.org/drawingml/2006/main" noGrp="1"/>
          </p:cNvSpPr>
          <p:nvPr/>
        </p:nvSpPr>
        <p:spPr>
          <a:xfrm xmlns:a="http://schemas.openxmlformats.org/drawingml/2006/main">
            <a:off x="4191000" y="3143250"/>
            <a:ext cx="104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2550" b="1" i="0">
                <a:solidFill>
                  <a:srgbClr val="BF872B"/>
                </a:solidFill>
                <a:latin typeface="Noto Sans CJK TC"/>
                <a:ea typeface="Noto Sans CJK TC"/>
                <a:cs typeface="Noto Sans CJK TC"/>
              </a:defRPr>
            </a:pPr>
            <a:r>
              <a:rPr sz="2550" b="1" i="0">
                <a:solidFill>
                  <a:srgbClr val="BF872B"/>
                </a:solidFill>
                <a:latin typeface="Noto Sans CJK TC"/>
                <a:ea typeface="Noto Sans CJK TC"/>
                <a:cs typeface="Noto Sans CJK TC"/>
              </a:rPr>
              <a:t>→</a:t>
            </a:r>
          </a:p>
        </p:txBody>
      </p:sp>
      <p:sp>
        <p:nvSpPr>
          <p:cNvPr id="16" name="topology-arrow-a-label">
            <a:extLst xmlns:a="http://schemas.openxmlformats.org/drawingml/2006/main">
              <a:ext uri="{FF2B5EF4-FFF2-40B4-BE49-F238E27FC236}">
                <a16:creationId xmlns:a16="http://schemas.microsoft.com/office/drawing/2014/main" id="{9C9FBA1E-2B0B-4805-8D66-62BD9930EA48}"/>
              </a:ext>
            </a:extLst>
          </p:cNvPr>
          <p:cNvSpPr>
            <a:spLocks xmlns:a="http://schemas.openxmlformats.org/drawingml/2006/main" noGrp="1"/>
          </p:cNvSpPr>
          <p:nvPr/>
        </p:nvSpPr>
        <p:spPr>
          <a:xfrm xmlns:a="http://schemas.openxmlformats.org/drawingml/2006/main">
            <a:off x="3905250" y="35433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同一輸入</a:t>
            </a:r>
          </a:p>
        </p:txBody>
      </p:sp>
      <p:sp>
        <p:nvSpPr>
          <p:cNvPr id="17" name="topology-strategy-box">
            <a:extLst xmlns:a="http://schemas.openxmlformats.org/drawingml/2006/main">
              <a:ext uri="{FF2B5EF4-FFF2-40B4-BE49-F238E27FC236}">
                <a16:creationId xmlns:a16="http://schemas.microsoft.com/office/drawing/2014/main" id="{C0B9587A-437B-4B6D-903D-0B8583CB3B76}"/>
              </a:ext>
            </a:extLst>
          </p:cNvPr>
          <p:cNvSpPr>
            <a:spLocks xmlns:a="http://schemas.openxmlformats.org/drawingml/2006/main" noGrp="1"/>
          </p:cNvSpPr>
          <p:nvPr/>
        </p:nvSpPr>
        <p:spPr>
          <a:xfrm xmlns:a="http://schemas.openxmlformats.org/drawingml/2006/main">
            <a:off x="5381625" y="1952625"/>
            <a:ext cx="3905250" cy="2047875"/>
          </a:xfrm>
          <a:prstGeom xmlns:a="http://schemas.openxmlformats.org/drawingml/2006/main" prst="roundRect">
            <a:avLst>
              <a:gd name="adj" fmla="val 8372"/>
            </a:avLst>
          </a:prstGeom>
          <a:solidFill xmlns:a="http://schemas.openxmlformats.org/drawingml/2006/main">
            <a:srgbClr val="E2EFE6"/>
          </a:solidFill>
          <a:ln xmlns:a="http://schemas.openxmlformats.org/drawingml/2006/main" w="11430">
            <a:solidFill>
              <a:srgbClr val="47795C"/>
            </a:solidFill>
            <a:prstDash val="solid"/>
          </a:ln>
        </p:spPr>
      </p:sp>
      <p:sp>
        <p:nvSpPr>
          <p:cNvPr id="18" name="topology-strategy-title">
            <a:extLst xmlns:a="http://schemas.openxmlformats.org/drawingml/2006/main">
              <a:ext uri="{FF2B5EF4-FFF2-40B4-BE49-F238E27FC236}">
                <a16:creationId xmlns:a16="http://schemas.microsoft.com/office/drawing/2014/main" id="{8D53F64E-86D8-4B36-9014-D6AC570A90CF}"/>
              </a:ext>
            </a:extLst>
          </p:cNvPr>
          <p:cNvSpPr>
            <a:spLocks xmlns:a="http://schemas.openxmlformats.org/drawingml/2006/main" noGrp="1"/>
          </p:cNvSpPr>
          <p:nvPr/>
        </p:nvSpPr>
        <p:spPr>
          <a:xfrm xmlns:a="http://schemas.openxmlformats.org/drawingml/2006/main">
            <a:off x="5610225" y="2143125"/>
            <a:ext cx="3448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47795C"/>
                </a:solidFill>
                <a:latin typeface="Noto Sans CJK TC"/>
                <a:ea typeface="Noto Sans CJK TC"/>
                <a:cs typeface="Noto Sans CJK TC"/>
              </a:defRPr>
            </a:pPr>
            <a:r>
              <a:rPr sz="1800" b="1" i="0">
                <a:solidFill>
                  <a:srgbClr val="47795C"/>
                </a:solidFill>
                <a:latin typeface="Noto Sans CJK TC"/>
                <a:ea typeface="Noto Sans CJK TC"/>
                <a:cs typeface="Noto Sans CJK TC"/>
              </a:rPr>
              <a:t>Strategy Reflection × 3</a:t>
            </a:r>
          </a:p>
        </p:txBody>
      </p:sp>
      <p:sp>
        <p:nvSpPr>
          <p:cNvPr id="19" name="topology-strategy-body">
            <a:extLst xmlns:a="http://schemas.openxmlformats.org/drawingml/2006/main">
              <a:ext uri="{FF2B5EF4-FFF2-40B4-BE49-F238E27FC236}">
                <a16:creationId xmlns:a16="http://schemas.microsoft.com/office/drawing/2014/main" id="{C1BD4BA2-97E6-4227-9342-D429408FBB3A}"/>
              </a:ext>
            </a:extLst>
          </p:cNvPr>
          <p:cNvSpPr>
            <a:spLocks xmlns:a="http://schemas.openxmlformats.org/drawingml/2006/main" noGrp="1"/>
          </p:cNvSpPr>
          <p:nvPr/>
        </p:nvSpPr>
        <p:spPr>
          <a:xfrm xmlns:a="http://schemas.openxmlformats.org/drawingml/2006/main">
            <a:off x="5610225" y="2638425"/>
            <a:ext cx="34480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輸入：match diagnoses ＋ global evaluation ＋ gameplay contract</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輸出：strategy_prompt 子代</a:t>
            </a:r>
          </a:p>
        </p:txBody>
      </p:sp>
      <p:sp>
        <p:nvSpPr>
          <p:cNvPr id="20" name="topology-code-box">
            <a:extLst xmlns:a="http://schemas.openxmlformats.org/drawingml/2006/main">
              <a:ext uri="{FF2B5EF4-FFF2-40B4-BE49-F238E27FC236}">
                <a16:creationId xmlns:a16="http://schemas.microsoft.com/office/drawing/2014/main" id="{7DEE6971-F78C-4047-ADAA-C34D3434CA1B}"/>
              </a:ext>
            </a:extLst>
          </p:cNvPr>
          <p:cNvSpPr>
            <a:spLocks xmlns:a="http://schemas.openxmlformats.org/drawingml/2006/main" noGrp="1"/>
          </p:cNvSpPr>
          <p:nvPr/>
        </p:nvSpPr>
        <p:spPr>
          <a:xfrm xmlns:a="http://schemas.openxmlformats.org/drawingml/2006/main">
            <a:off x="5381625" y="4572000"/>
            <a:ext cx="3905250" cy="2047875"/>
          </a:xfrm>
          <a:prstGeom xmlns:a="http://schemas.openxmlformats.org/drawingml/2006/main" prst="roundRect">
            <a:avLst>
              <a:gd name="adj" fmla="val 8372"/>
            </a:avLst>
          </a:prstGeom>
          <a:solidFill xmlns:a="http://schemas.openxmlformats.org/drawingml/2006/main">
            <a:srgbClr val="E2EFE6"/>
          </a:solidFill>
          <a:ln xmlns:a="http://schemas.openxmlformats.org/drawingml/2006/main" w="11430">
            <a:solidFill>
              <a:srgbClr val="47795C"/>
            </a:solidFill>
            <a:prstDash val="solid"/>
          </a:ln>
        </p:spPr>
      </p:sp>
      <p:sp>
        <p:nvSpPr>
          <p:cNvPr id="21" name="topology-code-title">
            <a:extLst xmlns:a="http://schemas.openxmlformats.org/drawingml/2006/main">
              <a:ext uri="{FF2B5EF4-FFF2-40B4-BE49-F238E27FC236}">
                <a16:creationId xmlns:a16="http://schemas.microsoft.com/office/drawing/2014/main" id="{C126FECB-2DBC-4CB8-B6CD-50B1BD936C9B}"/>
              </a:ext>
            </a:extLst>
          </p:cNvPr>
          <p:cNvSpPr>
            <a:spLocks xmlns:a="http://schemas.openxmlformats.org/drawingml/2006/main" noGrp="1"/>
          </p:cNvSpPr>
          <p:nvPr/>
        </p:nvSpPr>
        <p:spPr>
          <a:xfrm xmlns:a="http://schemas.openxmlformats.org/drawingml/2006/main">
            <a:off x="5610225" y="4762500"/>
            <a:ext cx="3448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47795C"/>
                </a:solidFill>
                <a:latin typeface="Noto Sans CJK TC"/>
                <a:ea typeface="Noto Sans CJK TC"/>
                <a:cs typeface="Noto Sans CJK TC"/>
              </a:defRPr>
            </a:pPr>
            <a:r>
              <a:rPr sz="1800" b="1" i="0">
                <a:solidFill>
                  <a:srgbClr val="47795C"/>
                </a:solidFill>
                <a:latin typeface="Noto Sans CJK TC"/>
                <a:ea typeface="Noto Sans CJK TC"/>
                <a:cs typeface="Noto Sans CJK TC"/>
              </a:rPr>
              <a:t>Code Reflection × 3</a:t>
            </a:r>
          </a:p>
        </p:txBody>
      </p:sp>
      <p:sp>
        <p:nvSpPr>
          <p:cNvPr id="22" name="topology-code-body">
            <a:extLst xmlns:a="http://schemas.openxmlformats.org/drawingml/2006/main">
              <a:ext uri="{FF2B5EF4-FFF2-40B4-BE49-F238E27FC236}">
                <a16:creationId xmlns:a16="http://schemas.microsoft.com/office/drawing/2014/main" id="{0F8645C6-257C-47C4-BC50-B1691D131164}"/>
              </a:ext>
            </a:extLst>
          </p:cNvPr>
          <p:cNvSpPr>
            <a:spLocks xmlns:a="http://schemas.openxmlformats.org/drawingml/2006/main" noGrp="1"/>
          </p:cNvSpPr>
          <p:nvPr/>
        </p:nvSpPr>
        <p:spPr>
          <a:xfrm xmlns:a="http://schemas.openxmlformats.org/drawingml/2006/main">
            <a:off x="5610225" y="5257800"/>
            <a:ext cx="34480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輸入：policy／Java alignment ＋ API contract</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輸出：generation_prompt 子代</a:t>
            </a:r>
          </a:p>
        </p:txBody>
      </p:sp>
      <p:sp>
        <p:nvSpPr>
          <p:cNvPr id="23" name="topology-arrow-b-arrow">
            <a:extLst xmlns:a="http://schemas.openxmlformats.org/drawingml/2006/main">
              <a:ext uri="{FF2B5EF4-FFF2-40B4-BE49-F238E27FC236}">
                <a16:creationId xmlns:a16="http://schemas.microsoft.com/office/drawing/2014/main" id="{C3D688DD-C902-41DB-ACA6-E6D8A1FCD25D}"/>
              </a:ext>
            </a:extLst>
          </p:cNvPr>
          <p:cNvSpPr>
            <a:spLocks xmlns:a="http://schemas.openxmlformats.org/drawingml/2006/main" noGrp="1"/>
          </p:cNvSpPr>
          <p:nvPr/>
        </p:nvSpPr>
        <p:spPr>
          <a:xfrm xmlns:a="http://schemas.openxmlformats.org/drawingml/2006/main">
            <a:off x="9334500" y="314325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2550" b="1" i="0">
                <a:solidFill>
                  <a:srgbClr val="BF872B"/>
                </a:solidFill>
                <a:latin typeface="Noto Sans CJK TC"/>
                <a:ea typeface="Noto Sans CJK TC"/>
                <a:cs typeface="Noto Sans CJK TC"/>
              </a:defRPr>
            </a:pPr>
            <a:r>
              <a:rPr sz="2550" b="1" i="0">
                <a:solidFill>
                  <a:srgbClr val="BF872B"/>
                </a:solidFill>
                <a:latin typeface="Noto Sans CJK TC"/>
                <a:ea typeface="Noto Sans CJK TC"/>
                <a:cs typeface="Noto Sans CJK TC"/>
              </a:rPr>
              <a:t>→</a:t>
            </a:r>
          </a:p>
        </p:txBody>
      </p:sp>
      <p:sp>
        <p:nvSpPr>
          <p:cNvPr id="24" name="topology-arrow-b-label">
            <a:extLst xmlns:a="http://schemas.openxmlformats.org/drawingml/2006/main">
              <a:ext uri="{FF2B5EF4-FFF2-40B4-BE49-F238E27FC236}">
                <a16:creationId xmlns:a16="http://schemas.microsoft.com/office/drawing/2014/main" id="{5A985A78-D01A-45E3-955B-EE017B9919A5}"/>
              </a:ext>
            </a:extLst>
          </p:cNvPr>
          <p:cNvSpPr>
            <a:spLocks xmlns:a="http://schemas.openxmlformats.org/drawingml/2006/main" noGrp="1"/>
          </p:cNvSpPr>
          <p:nvPr/>
        </p:nvSpPr>
        <p:spPr>
          <a:xfrm xmlns:a="http://schemas.openxmlformats.org/drawingml/2006/main">
            <a:off x="9048750" y="3543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3 + 3 子代</a:t>
            </a:r>
          </a:p>
        </p:txBody>
      </p:sp>
      <p:sp>
        <p:nvSpPr>
          <p:cNvPr id="25" name="topology-compliance-box">
            <a:extLst xmlns:a="http://schemas.openxmlformats.org/drawingml/2006/main">
              <a:ext uri="{FF2B5EF4-FFF2-40B4-BE49-F238E27FC236}">
                <a16:creationId xmlns:a16="http://schemas.microsoft.com/office/drawing/2014/main" id="{BF3017AA-3790-4388-B1A7-9ECD9AF0D3FA}"/>
              </a:ext>
            </a:extLst>
          </p:cNvPr>
          <p:cNvSpPr>
            <a:spLocks xmlns:a="http://schemas.openxmlformats.org/drawingml/2006/main" noGrp="1"/>
          </p:cNvSpPr>
          <p:nvPr/>
        </p:nvSpPr>
        <p:spPr>
          <a:xfrm xmlns:a="http://schemas.openxmlformats.org/drawingml/2006/main">
            <a:off x="10620375" y="2857500"/>
            <a:ext cx="4095750" cy="3048000"/>
          </a:xfrm>
          <a:prstGeom xmlns:a="http://schemas.openxmlformats.org/drawingml/2006/main" prst="roundRect">
            <a:avLst>
              <a:gd name="adj" fmla="val 5625"/>
            </a:avLst>
          </a:prstGeom>
          <a:solidFill xmlns:a="http://schemas.openxmlformats.org/drawingml/2006/main">
            <a:srgbClr val="F7E7C8"/>
          </a:solidFill>
          <a:ln xmlns:a="http://schemas.openxmlformats.org/drawingml/2006/main" w="11430">
            <a:solidFill>
              <a:srgbClr val="BF872B"/>
            </a:solidFill>
            <a:prstDash val="solid"/>
          </a:ln>
        </p:spPr>
      </p:sp>
      <p:sp>
        <p:nvSpPr>
          <p:cNvPr id="26" name="topology-compliance-title">
            <a:extLst xmlns:a="http://schemas.openxmlformats.org/drawingml/2006/main">
              <a:ext uri="{FF2B5EF4-FFF2-40B4-BE49-F238E27FC236}">
                <a16:creationId xmlns:a16="http://schemas.microsoft.com/office/drawing/2014/main" id="{333D475B-E299-4A37-A5F8-9C28CD14A28A}"/>
              </a:ext>
            </a:extLst>
          </p:cNvPr>
          <p:cNvSpPr>
            <a:spLocks xmlns:a="http://schemas.openxmlformats.org/drawingml/2006/main" noGrp="1"/>
          </p:cNvSpPr>
          <p:nvPr/>
        </p:nvSpPr>
        <p:spPr>
          <a:xfrm xmlns:a="http://schemas.openxmlformats.org/drawingml/2006/main">
            <a:off x="10848975" y="3048000"/>
            <a:ext cx="3638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BF872B"/>
                </a:solidFill>
                <a:latin typeface="Noto Sans CJK TC"/>
                <a:ea typeface="Noto Sans CJK TC"/>
                <a:cs typeface="Noto Sans CJK TC"/>
              </a:defRPr>
            </a:pPr>
            <a:r>
              <a:rPr sz="1800" b="1" i="0">
                <a:solidFill>
                  <a:srgbClr val="BF872B"/>
                </a:solidFill>
                <a:latin typeface="Noto Sans CJK TC"/>
                <a:ea typeface="Noto Sans CJK TC"/>
                <a:cs typeface="Noto Sans CJK TC"/>
              </a:rPr>
              <a:t>Prompt Compliance × 6</a:t>
            </a:r>
          </a:p>
        </p:txBody>
      </p:sp>
      <p:sp>
        <p:nvSpPr>
          <p:cNvPr id="27" name="topology-compliance-body">
            <a:extLst xmlns:a="http://schemas.openxmlformats.org/drawingml/2006/main">
              <a:ext uri="{FF2B5EF4-FFF2-40B4-BE49-F238E27FC236}">
                <a16:creationId xmlns:a16="http://schemas.microsoft.com/office/drawing/2014/main" id="{F531D237-C0BC-4509-981C-C0CBE91ABB35}"/>
              </a:ext>
            </a:extLst>
          </p:cNvPr>
          <p:cNvSpPr>
            <a:spLocks xmlns:a="http://schemas.openxmlformats.org/drawingml/2006/main" noGrp="1"/>
          </p:cNvSpPr>
          <p:nvPr/>
        </p:nvSpPr>
        <p:spPr>
          <a:xfrm xmlns:a="http://schemas.openxmlformats.org/drawingml/2006/main">
            <a:off x="10848975" y="3543300"/>
            <a:ext cx="36385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父代來源</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Strategy child：3</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Code child：3</a:t>
            </a:r>
          </a:p>
          <a:p xmlns:a="http://schemas.openxmlformats.org/drawingml/2006/main">
            <a:r>
              <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分別稽核兩個 prompt gene；只修有 issue 的欄位</a:t>
            </a:r>
          </a:p>
        </p:txBody>
      </p:sp>
      <p:sp>
        <p:nvSpPr>
          <p:cNvPr id="28" name="topology-arrow-c-arrow">
            <a:extLst xmlns:a="http://schemas.openxmlformats.org/drawingml/2006/main">
              <a:ext uri="{FF2B5EF4-FFF2-40B4-BE49-F238E27FC236}">
                <a16:creationId xmlns:a16="http://schemas.microsoft.com/office/drawing/2014/main" id="{9E06ABF1-BC44-4EE1-A5F2-8615C78CD93C}"/>
              </a:ext>
            </a:extLst>
          </p:cNvPr>
          <p:cNvSpPr>
            <a:spLocks xmlns:a="http://schemas.openxmlformats.org/drawingml/2006/main" noGrp="1"/>
          </p:cNvSpPr>
          <p:nvPr/>
        </p:nvSpPr>
        <p:spPr>
          <a:xfrm xmlns:a="http://schemas.openxmlformats.org/drawingml/2006/main">
            <a:off x="14763750" y="3714750"/>
            <a:ext cx="104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2550" b="1" i="0">
                <a:solidFill>
                  <a:srgbClr val="BF872B"/>
                </a:solidFill>
                <a:latin typeface="Noto Sans CJK TC"/>
                <a:ea typeface="Noto Sans CJK TC"/>
                <a:cs typeface="Noto Sans CJK TC"/>
              </a:defRPr>
            </a:pPr>
            <a:r>
              <a:rPr sz="2550" b="1" i="0">
                <a:solidFill>
                  <a:srgbClr val="BF872B"/>
                </a:solidFill>
                <a:latin typeface="Noto Sans CJK TC"/>
                <a:ea typeface="Noto Sans CJK TC"/>
                <a:cs typeface="Noto Sans CJK TC"/>
              </a:rPr>
              <a:t>→</a:t>
            </a:r>
          </a:p>
        </p:txBody>
      </p:sp>
      <p:sp>
        <p:nvSpPr>
          <p:cNvPr id="29" name="topology-arrow-c-label">
            <a:extLst xmlns:a="http://schemas.openxmlformats.org/drawingml/2006/main">
              <a:ext uri="{FF2B5EF4-FFF2-40B4-BE49-F238E27FC236}">
                <a16:creationId xmlns:a16="http://schemas.microsoft.com/office/drawing/2014/main" id="{CFD1BA15-4A4C-4187-B71F-C8E75F524E72}"/>
              </a:ext>
            </a:extLst>
          </p:cNvPr>
          <p:cNvSpPr>
            <a:spLocks xmlns:a="http://schemas.openxmlformats.org/drawingml/2006/main" noGrp="1"/>
          </p:cNvSpPr>
          <p:nvPr/>
        </p:nvSpPr>
        <p:spPr>
          <a:xfrm xmlns:a="http://schemas.openxmlformats.org/drawingml/2006/main">
            <a:off x="14478000" y="411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套用／拒絕</a:t>
            </a:r>
          </a:p>
        </p:txBody>
      </p:sp>
      <p:sp>
        <p:nvSpPr>
          <p:cNvPr id="30" name="topology-output-box">
            <a:extLst xmlns:a="http://schemas.openxmlformats.org/drawingml/2006/main">
              <a:ext uri="{FF2B5EF4-FFF2-40B4-BE49-F238E27FC236}">
                <a16:creationId xmlns:a16="http://schemas.microsoft.com/office/drawing/2014/main" id="{2E5A9DDD-C8BB-438A-9E9C-2CDBEF5A037B}"/>
              </a:ext>
            </a:extLst>
          </p:cNvPr>
          <p:cNvSpPr>
            <a:spLocks xmlns:a="http://schemas.openxmlformats.org/drawingml/2006/main" noGrp="1"/>
          </p:cNvSpPr>
          <p:nvPr/>
        </p:nvSpPr>
        <p:spPr>
          <a:xfrm xmlns:a="http://schemas.openxmlformats.org/drawingml/2006/main">
            <a:off x="15906750" y="3095625"/>
            <a:ext cx="1428750" cy="2571750"/>
          </a:xfrm>
          <a:prstGeom xmlns:a="http://schemas.openxmlformats.org/drawingml/2006/main" prst="roundRect">
            <a:avLst>
              <a:gd name="adj" fmla="val 12000"/>
            </a:avLst>
          </a:prstGeom>
          <a:solidFill xmlns:a="http://schemas.openxmlformats.org/drawingml/2006/main">
            <a:srgbClr val="FFFDF9"/>
          </a:solidFill>
          <a:ln xmlns:a="http://schemas.openxmlformats.org/drawingml/2006/main" w="11430">
            <a:solidFill>
              <a:srgbClr val="E7B9B5"/>
            </a:solidFill>
            <a:prstDash val="solid"/>
          </a:ln>
        </p:spPr>
      </p:sp>
      <p:sp>
        <p:nvSpPr>
          <p:cNvPr id="31" name="topology-output-title">
            <a:extLst xmlns:a="http://schemas.openxmlformats.org/drawingml/2006/main">
              <a:ext uri="{FF2B5EF4-FFF2-40B4-BE49-F238E27FC236}">
                <a16:creationId xmlns:a16="http://schemas.microsoft.com/office/drawing/2014/main" id="{64AADAE4-3138-42F9-BAA9-DD05629C0A17}"/>
              </a:ext>
            </a:extLst>
          </p:cNvPr>
          <p:cNvSpPr>
            <a:spLocks xmlns:a="http://schemas.openxmlformats.org/drawingml/2006/main" noGrp="1"/>
          </p:cNvSpPr>
          <p:nvPr/>
        </p:nvSpPr>
        <p:spPr>
          <a:xfrm xmlns:a="http://schemas.openxmlformats.org/drawingml/2006/main">
            <a:off x="16135350" y="3286125"/>
            <a:ext cx="97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431218"/>
                </a:solidFill>
                <a:latin typeface="Noto Sans CJK TC"/>
                <a:ea typeface="Noto Sans CJK TC"/>
                <a:cs typeface="Noto Sans CJK TC"/>
              </a:defRPr>
            </a:pPr>
            <a:r>
              <a:rPr sz="1575" b="1" i="0">
                <a:solidFill>
                  <a:srgbClr val="431218"/>
                </a:solidFill>
                <a:latin typeface="Noto Sans CJK TC"/>
                <a:ea typeface="Noto Sans CJK TC"/>
                <a:cs typeface="Noto Sans CJK TC"/>
              </a:rPr>
              <a:t>結果</a:t>
            </a:r>
          </a:p>
        </p:txBody>
      </p:sp>
      <p:sp>
        <p:nvSpPr>
          <p:cNvPr id="32" name="topology-output-body">
            <a:extLst xmlns:a="http://schemas.openxmlformats.org/drawingml/2006/main">
              <a:ext uri="{FF2B5EF4-FFF2-40B4-BE49-F238E27FC236}">
                <a16:creationId xmlns:a16="http://schemas.microsoft.com/office/drawing/2014/main" id="{E33EB3BD-97B1-46C9-8DFB-26059F654343}"/>
              </a:ext>
            </a:extLst>
          </p:cNvPr>
          <p:cNvSpPr>
            <a:spLocks xmlns:a="http://schemas.openxmlformats.org/drawingml/2006/main" noGrp="1"/>
          </p:cNvSpPr>
          <p:nvPr/>
        </p:nvSpPr>
        <p:spPr>
          <a:xfrm xmlns:a="http://schemas.openxmlformats.org/drawingml/2006/main">
            <a:off x="16135350" y="3781425"/>
            <a:ext cx="9715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4 applied</a:t>
            </a:r>
          </a:p>
          <a:p xmlns:a="http://schemas.openxmlformats.org/drawingml/2006/main">
            <a:r>
              <a:t/>
            </a:r>
          </a:p>
          <a:p xmlns:a="http://schemas.openxmlformats.org/drawingml/2006/main">
            <a:pPr algn="l">
              <a:lnSpc>
                <a:spcPct val="112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2 rejected</a:t>
            </a:r>
          </a:p>
          <a:p xmlns:a="http://schemas.openxmlformats.org/drawingml/2006/main">
            <a:r>
              <a:t/>
            </a:r>
          </a:p>
          <a:p xmlns:a="http://schemas.openxmlformats.org/drawingml/2006/main">
            <a:pPr algn="l">
              <a:lnSpc>
                <a:spcPct val="112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Java unchanged</a:t>
            </a:r>
          </a:p>
        </p:txBody>
      </p:sp>
      <p:sp>
        <p:nvSpPr>
          <p:cNvPr id="33" name="band-3">
            <a:extLst xmlns:a="http://schemas.openxmlformats.org/drawingml/2006/main">
              <a:ext uri="{FF2B5EF4-FFF2-40B4-BE49-F238E27FC236}">
                <a16:creationId xmlns:a16="http://schemas.microsoft.com/office/drawing/2014/main" id="{DDD8D7E6-ED48-4FE8-9AF5-6E9DBA543ACA}"/>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34" name="band-label-3">
            <a:extLst xmlns:a="http://schemas.openxmlformats.org/drawingml/2006/main">
              <a:ext uri="{FF2B5EF4-FFF2-40B4-BE49-F238E27FC236}">
                <a16:creationId xmlns:a16="http://schemas.microsoft.com/office/drawing/2014/main" id="{A36E1277-1AD4-40B3-AC71-FB323AB82CB0}"/>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關鍵控制</a:t>
            </a:r>
          </a:p>
        </p:txBody>
      </p:sp>
      <p:sp>
        <p:nvSpPr>
          <p:cNvPr id="35" name="band-divider-3">
            <a:extLst xmlns:a="http://schemas.openxmlformats.org/drawingml/2006/main">
              <a:ext uri="{FF2B5EF4-FFF2-40B4-BE49-F238E27FC236}">
                <a16:creationId xmlns:a16="http://schemas.microsoft.com/office/drawing/2014/main" id="{D50951F4-325E-4687-BD80-C9A7C1434D62}"/>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36" name="band-text-3">
            <a:extLst xmlns:a="http://schemas.openxmlformats.org/drawingml/2006/main">
              <a:ext uri="{FF2B5EF4-FFF2-40B4-BE49-F238E27FC236}">
                <a16:creationId xmlns:a16="http://schemas.microsoft.com/office/drawing/2014/main" id="{1E6B0918-C907-41DB-8012-C0BCD4C2B236}"/>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上游 child 的 prompt hash 能對回來源 trial；Compliance context 隨父代改變，不是重複測同一輸入。</a:t>
            </a:r>
          </a:p>
        </p:txBody>
      </p:sp>
    </p:spTree>
    <p:extLst>
      <p:ext uri="{BB962C8B-B14F-4D97-AF65-F5344CB8AC3E}">
        <p14:creationId xmlns:p14="http://schemas.microsoft.com/office/powerpoint/2010/main" val="1989187511"/>
      </p:ext>
    </p:extLst>
  </p:cSld>
</p:sld>
</file>

<file path=ppt/slides/slide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38" name="top-left-4">
            <a:extLst xmlns:a="http://schemas.openxmlformats.org/drawingml/2006/main">
              <a:ext uri="{FF2B5EF4-FFF2-40B4-BE49-F238E27FC236}">
                <a16:creationId xmlns:a16="http://schemas.microsoft.com/office/drawing/2014/main" id="{6995163D-568F-4364-9B65-1A0FDECCABAE}"/>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4">
            <a:extLst xmlns:a="http://schemas.openxmlformats.org/drawingml/2006/main">
              <a:ext uri="{FF2B5EF4-FFF2-40B4-BE49-F238E27FC236}">
                <a16:creationId xmlns:a16="http://schemas.microsoft.com/office/drawing/2014/main" id="{5E603AD6-15AA-4246-8867-9A8A98BEAE5D}"/>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4">
            <a:extLst xmlns:a="http://schemas.openxmlformats.org/drawingml/2006/main">
              <a:ext uri="{FF2B5EF4-FFF2-40B4-BE49-F238E27FC236}">
                <a16:creationId xmlns:a16="http://schemas.microsoft.com/office/drawing/2014/main" id="{33067660-BC43-4D36-AC0E-22E9F8EBFF4F}"/>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4">
            <a:extLst xmlns:a="http://schemas.openxmlformats.org/drawingml/2006/main">
              <a:ext uri="{FF2B5EF4-FFF2-40B4-BE49-F238E27FC236}">
                <a16:creationId xmlns:a16="http://schemas.microsoft.com/office/drawing/2014/main" id="{16FB36EB-8D97-466D-91FD-AA11B1415372}"/>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4">
            <a:extLst xmlns:a="http://schemas.openxmlformats.org/drawingml/2006/main">
              <a:ext uri="{FF2B5EF4-FFF2-40B4-BE49-F238E27FC236}">
                <a16:creationId xmlns:a16="http://schemas.microsoft.com/office/drawing/2014/main" id="{9B5D9C6A-524E-43CD-B58F-DB07B8B99552}"/>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4">
            <a:extLst xmlns:a="http://schemas.openxmlformats.org/drawingml/2006/main">
              <a:ext uri="{FF2B5EF4-FFF2-40B4-BE49-F238E27FC236}">
                <a16:creationId xmlns:a16="http://schemas.microsoft.com/office/drawing/2014/main" id="{3051A72B-E8D4-40ED-AA5C-D26B4F0CD049}"/>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03</a:t>
            </a:r>
          </a:p>
        </p:txBody>
      </p:sp>
      <p:sp>
        <p:nvSpPr>
          <p:cNvPr id="7" name="status-4">
            <a:extLst xmlns:a="http://schemas.openxmlformats.org/drawingml/2006/main">
              <a:ext uri="{FF2B5EF4-FFF2-40B4-BE49-F238E27FC236}">
                <a16:creationId xmlns:a16="http://schemas.microsoft.com/office/drawing/2014/main" id="{68474311-6E49-46EA-95AF-D33A9003FE78}"/>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10 / 12 APPLIED</a:t>
            </a:r>
          </a:p>
        </p:txBody>
      </p:sp>
      <p:sp>
        <p:nvSpPr>
          <p:cNvPr id="8" name="bottom-4">
            <a:extLst xmlns:a="http://schemas.openxmlformats.org/drawingml/2006/main">
              <a:ext uri="{FF2B5EF4-FFF2-40B4-BE49-F238E27FC236}">
                <a16:creationId xmlns:a16="http://schemas.microsoft.com/office/drawing/2014/main" id="{A83C0E21-EC4D-4C6A-9226-925BC4879D8B}"/>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4">
            <a:extLst xmlns:a="http://schemas.openxmlformats.org/drawingml/2006/main">
              <a:ext uri="{FF2B5EF4-FFF2-40B4-BE49-F238E27FC236}">
                <a16:creationId xmlns:a16="http://schemas.microsoft.com/office/drawing/2014/main" id="{0C85D64A-6C06-4689-B6CD-2CB400A70DE6}"/>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04 / 14</a:t>
            </a:r>
          </a:p>
        </p:txBody>
      </p:sp>
      <p:sp>
        <p:nvSpPr>
          <p:cNvPr id="10" name="title-4">
            <a:extLst xmlns:a="http://schemas.openxmlformats.org/drawingml/2006/main">
              <a:ext uri="{FF2B5EF4-FFF2-40B4-BE49-F238E27FC236}">
                <a16:creationId xmlns:a16="http://schemas.microsoft.com/office/drawing/2014/main" id="{FAFDBAF8-5A6D-4C5B-9D51-9DC78B46E526}"/>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驗證結果：上游 6 次全通過，Compliance 安全拒絕 2 次</a:t>
            </a:r>
          </a:p>
        </p:txBody>
      </p:sp>
      <p:sp>
        <p:nvSpPr>
          <p:cNvPr id="11" name="subtitle-4">
            <a:extLst xmlns:a="http://schemas.openxmlformats.org/drawingml/2006/main">
              <a:ext uri="{FF2B5EF4-FFF2-40B4-BE49-F238E27FC236}">
                <a16:creationId xmlns:a16="http://schemas.microsoft.com/office/drawing/2014/main" id="{46E55573-779F-4BB6-98F9-358905EBB4A0}"/>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綠色代表成功套用；粉紅代表未套用，不代表父代被破壞</a:t>
            </a:r>
          </a:p>
        </p:txBody>
      </p:sp>
      <p:sp>
        <p:nvSpPr>
          <p:cNvPr id="12" name="results-chart-text">
            <a:extLst xmlns:a="http://schemas.openxmlformats.org/drawingml/2006/main">
              <a:ext uri="{FF2B5EF4-FFF2-40B4-BE49-F238E27FC236}">
                <a16:creationId xmlns:a16="http://schemas.microsoft.com/office/drawing/2014/main" id="{320B9EEC-4F7D-450B-9871-F3AAD32F6655}"/>
              </a:ext>
            </a:extLst>
          </p:cNvPr>
          <p:cNvSpPr>
            <a:spLocks xmlns:a="http://schemas.openxmlformats.org/drawingml/2006/main" noGrp="1"/>
          </p:cNvSpPr>
          <p:nvPr/>
        </p:nvSpPr>
        <p:spPr>
          <a:xfrm xmlns:a="http://schemas.openxmlformats.org/drawingml/2006/main">
            <a:off x="1000125" y="190500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Applied / Rejected</a:t>
            </a:r>
          </a:p>
        </p:txBody>
      </p:sp>
      <p:sp>
        <p:nvSpPr>
          <p:cNvPr id="13" name="results-chart-line">
            <a:extLst xmlns:a="http://schemas.openxmlformats.org/drawingml/2006/main">
              <a:ext uri="{FF2B5EF4-FFF2-40B4-BE49-F238E27FC236}">
                <a16:creationId xmlns:a16="http://schemas.microsoft.com/office/drawing/2014/main" id="{60398742-7C18-4E61-B8F9-715D35FABB7D}"/>
              </a:ext>
            </a:extLst>
          </p:cNvPr>
          <p:cNvSpPr>
            <a:spLocks xmlns:a="http://schemas.openxmlformats.org/drawingml/2006/main" noGrp="1"/>
          </p:cNvSpPr>
          <p:nvPr/>
        </p:nvSpPr>
        <p:spPr>
          <a:xfrm xmlns:a="http://schemas.openxmlformats.org/drawingml/2006/main">
            <a:off x="1000125" y="2286000"/>
            <a:ext cx="65722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4" name="result-applied-0">
            <a:extLst xmlns:a="http://schemas.openxmlformats.org/drawingml/2006/main">
              <a:ext uri="{FF2B5EF4-FFF2-40B4-BE49-F238E27FC236}">
                <a16:creationId xmlns:a16="http://schemas.microsoft.com/office/drawing/2014/main" id="{15585162-33BD-4D34-9613-52D860008434}"/>
              </a:ext>
            </a:extLst>
          </p:cNvPr>
          <p:cNvSpPr>
            <a:spLocks xmlns:a="http://schemas.openxmlformats.org/drawingml/2006/main" noGrp="1"/>
          </p:cNvSpPr>
          <p:nvPr/>
        </p:nvSpPr>
        <p:spPr>
          <a:xfrm xmlns:a="http://schemas.openxmlformats.org/drawingml/2006/main">
            <a:off x="1428750" y="4000500"/>
            <a:ext cx="1381125" cy="2571750"/>
          </a:xfrm>
          <a:prstGeom xmlns:a="http://schemas.openxmlformats.org/drawingml/2006/main" prst="rect">
            <a:avLst/>
          </a:prstGeom>
          <a:solidFill xmlns:a="http://schemas.openxmlformats.org/drawingml/2006/main">
            <a:srgbClr val="47795C"/>
          </a:solidFill>
          <a:ln xmlns:a="http://schemas.openxmlformats.org/drawingml/2006/main" w="0">
            <a:solidFill>
              <a:srgbClr val="47795C"/>
            </a:solidFill>
            <a:prstDash val="solid"/>
          </a:ln>
        </p:spPr>
      </p:sp>
      <p:sp>
        <p:nvSpPr>
          <p:cNvPr id="15" name="result-num-0">
            <a:extLst xmlns:a="http://schemas.openxmlformats.org/drawingml/2006/main">
              <a:ext uri="{FF2B5EF4-FFF2-40B4-BE49-F238E27FC236}">
                <a16:creationId xmlns:a16="http://schemas.microsoft.com/office/drawing/2014/main" id="{FB0B0E4B-884B-4D7D-9F94-926904ADEF7B}"/>
              </a:ext>
            </a:extLst>
          </p:cNvPr>
          <p:cNvSpPr>
            <a:spLocks xmlns:a="http://schemas.openxmlformats.org/drawingml/2006/main" noGrp="1"/>
          </p:cNvSpPr>
          <p:nvPr/>
        </p:nvSpPr>
        <p:spPr>
          <a:xfrm xmlns:a="http://schemas.openxmlformats.org/drawingml/2006/main">
            <a:off x="1428750" y="415290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875" b="1" i="0">
                <a:solidFill>
                  <a:srgbClr val="FFFFFF"/>
                </a:solidFill>
                <a:latin typeface="Noto Sans CJK TC"/>
                <a:ea typeface="Noto Sans CJK TC"/>
                <a:cs typeface="Noto Sans CJK TC"/>
              </a:defRPr>
            </a:pPr>
            <a:r>
              <a:rPr sz="1875" b="1" i="0">
                <a:solidFill>
                  <a:srgbClr val="FFFFFF"/>
                </a:solidFill>
                <a:latin typeface="Noto Sans CJK TC"/>
                <a:ea typeface="Noto Sans CJK TC"/>
                <a:cs typeface="Noto Sans CJK TC"/>
              </a:rPr>
              <a:t>3</a:t>
            </a:r>
          </a:p>
        </p:txBody>
      </p:sp>
      <p:sp>
        <p:nvSpPr>
          <p:cNvPr id="16" name="result-label-0">
            <a:extLst xmlns:a="http://schemas.openxmlformats.org/drawingml/2006/main">
              <a:ext uri="{FF2B5EF4-FFF2-40B4-BE49-F238E27FC236}">
                <a16:creationId xmlns:a16="http://schemas.microsoft.com/office/drawing/2014/main" id="{231C9186-58B4-47DC-9D81-D5B23D00EA72}"/>
              </a:ext>
            </a:extLst>
          </p:cNvPr>
          <p:cNvSpPr>
            <a:spLocks xmlns:a="http://schemas.openxmlformats.org/drawingml/2006/main" noGrp="1"/>
          </p:cNvSpPr>
          <p:nvPr/>
        </p:nvSpPr>
        <p:spPr>
          <a:xfrm xmlns:a="http://schemas.openxmlformats.org/drawingml/2006/main">
            <a:off x="1190625" y="6762750"/>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Strategy</a:t>
            </a:r>
          </a:p>
        </p:txBody>
      </p:sp>
      <p:sp>
        <p:nvSpPr>
          <p:cNvPr id="17" name="result-applied-1">
            <a:extLst xmlns:a="http://schemas.openxmlformats.org/drawingml/2006/main">
              <a:ext uri="{FF2B5EF4-FFF2-40B4-BE49-F238E27FC236}">
                <a16:creationId xmlns:a16="http://schemas.microsoft.com/office/drawing/2014/main" id="{D72AA0E7-6AC6-4C25-AB3E-548C97A9391C}"/>
              </a:ext>
            </a:extLst>
          </p:cNvPr>
          <p:cNvSpPr>
            <a:spLocks xmlns:a="http://schemas.openxmlformats.org/drawingml/2006/main" noGrp="1"/>
          </p:cNvSpPr>
          <p:nvPr/>
        </p:nvSpPr>
        <p:spPr>
          <a:xfrm xmlns:a="http://schemas.openxmlformats.org/drawingml/2006/main">
            <a:off x="3524250" y="4000500"/>
            <a:ext cx="1381125" cy="2571750"/>
          </a:xfrm>
          <a:prstGeom xmlns:a="http://schemas.openxmlformats.org/drawingml/2006/main" prst="rect">
            <a:avLst/>
          </a:prstGeom>
          <a:solidFill xmlns:a="http://schemas.openxmlformats.org/drawingml/2006/main">
            <a:srgbClr val="47795C"/>
          </a:solidFill>
          <a:ln xmlns:a="http://schemas.openxmlformats.org/drawingml/2006/main" w="0">
            <a:solidFill>
              <a:srgbClr val="47795C"/>
            </a:solidFill>
            <a:prstDash val="solid"/>
          </a:ln>
        </p:spPr>
      </p:sp>
      <p:sp>
        <p:nvSpPr>
          <p:cNvPr id="18" name="result-num-1">
            <a:extLst xmlns:a="http://schemas.openxmlformats.org/drawingml/2006/main">
              <a:ext uri="{FF2B5EF4-FFF2-40B4-BE49-F238E27FC236}">
                <a16:creationId xmlns:a16="http://schemas.microsoft.com/office/drawing/2014/main" id="{02FF9FB3-5509-44F9-A5CC-D07E3F643E05}"/>
              </a:ext>
            </a:extLst>
          </p:cNvPr>
          <p:cNvSpPr>
            <a:spLocks xmlns:a="http://schemas.openxmlformats.org/drawingml/2006/main" noGrp="1"/>
          </p:cNvSpPr>
          <p:nvPr/>
        </p:nvSpPr>
        <p:spPr>
          <a:xfrm xmlns:a="http://schemas.openxmlformats.org/drawingml/2006/main">
            <a:off x="3524250" y="415290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875" b="1" i="0">
                <a:solidFill>
                  <a:srgbClr val="FFFFFF"/>
                </a:solidFill>
                <a:latin typeface="Noto Sans CJK TC"/>
                <a:ea typeface="Noto Sans CJK TC"/>
                <a:cs typeface="Noto Sans CJK TC"/>
              </a:defRPr>
            </a:pPr>
            <a:r>
              <a:rPr sz="1875" b="1" i="0">
                <a:solidFill>
                  <a:srgbClr val="FFFFFF"/>
                </a:solidFill>
                <a:latin typeface="Noto Sans CJK TC"/>
                <a:ea typeface="Noto Sans CJK TC"/>
                <a:cs typeface="Noto Sans CJK TC"/>
              </a:rPr>
              <a:t>3</a:t>
            </a:r>
          </a:p>
        </p:txBody>
      </p:sp>
      <p:sp>
        <p:nvSpPr>
          <p:cNvPr id="19" name="result-label-1">
            <a:extLst xmlns:a="http://schemas.openxmlformats.org/drawingml/2006/main">
              <a:ext uri="{FF2B5EF4-FFF2-40B4-BE49-F238E27FC236}">
                <a16:creationId xmlns:a16="http://schemas.microsoft.com/office/drawing/2014/main" id="{A075CD38-F8EA-45F2-A7CB-D44D76F8E11A}"/>
              </a:ext>
            </a:extLst>
          </p:cNvPr>
          <p:cNvSpPr>
            <a:spLocks xmlns:a="http://schemas.openxmlformats.org/drawingml/2006/main" noGrp="1"/>
          </p:cNvSpPr>
          <p:nvPr/>
        </p:nvSpPr>
        <p:spPr>
          <a:xfrm xmlns:a="http://schemas.openxmlformats.org/drawingml/2006/main">
            <a:off x="3286125" y="6762750"/>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Code</a:t>
            </a:r>
          </a:p>
        </p:txBody>
      </p:sp>
      <p:sp>
        <p:nvSpPr>
          <p:cNvPr id="20" name="result-applied-2">
            <a:extLst xmlns:a="http://schemas.openxmlformats.org/drawingml/2006/main">
              <a:ext uri="{FF2B5EF4-FFF2-40B4-BE49-F238E27FC236}">
                <a16:creationId xmlns:a16="http://schemas.microsoft.com/office/drawing/2014/main" id="{A4B1C1E6-DCBB-4280-B1DB-B4F123630F77}"/>
              </a:ext>
            </a:extLst>
          </p:cNvPr>
          <p:cNvSpPr>
            <a:spLocks xmlns:a="http://schemas.openxmlformats.org/drawingml/2006/main" noGrp="1"/>
          </p:cNvSpPr>
          <p:nvPr/>
        </p:nvSpPr>
        <p:spPr>
          <a:xfrm xmlns:a="http://schemas.openxmlformats.org/drawingml/2006/main">
            <a:off x="5619750" y="3143250"/>
            <a:ext cx="1381125" cy="3429000"/>
          </a:xfrm>
          <a:prstGeom xmlns:a="http://schemas.openxmlformats.org/drawingml/2006/main" prst="rect">
            <a:avLst/>
          </a:prstGeom>
          <a:solidFill xmlns:a="http://schemas.openxmlformats.org/drawingml/2006/main">
            <a:srgbClr val="47795C"/>
          </a:solidFill>
          <a:ln xmlns:a="http://schemas.openxmlformats.org/drawingml/2006/main" w="0">
            <a:solidFill>
              <a:srgbClr val="47795C"/>
            </a:solidFill>
            <a:prstDash val="solid"/>
          </a:ln>
        </p:spPr>
      </p:sp>
      <p:sp>
        <p:nvSpPr>
          <p:cNvPr id="21" name="result-rejected-2">
            <a:extLst xmlns:a="http://schemas.openxmlformats.org/drawingml/2006/main">
              <a:ext uri="{FF2B5EF4-FFF2-40B4-BE49-F238E27FC236}">
                <a16:creationId xmlns:a16="http://schemas.microsoft.com/office/drawing/2014/main" id="{2DBEBDEB-DDD0-4957-AA58-A530EA5002A0}"/>
              </a:ext>
            </a:extLst>
          </p:cNvPr>
          <p:cNvSpPr>
            <a:spLocks xmlns:a="http://schemas.openxmlformats.org/drawingml/2006/main" noGrp="1"/>
          </p:cNvSpPr>
          <p:nvPr/>
        </p:nvSpPr>
        <p:spPr>
          <a:xfrm xmlns:a="http://schemas.openxmlformats.org/drawingml/2006/main">
            <a:off x="5619750" y="1428750"/>
            <a:ext cx="1381125" cy="1714500"/>
          </a:xfrm>
          <a:prstGeom xmlns:a="http://schemas.openxmlformats.org/drawingml/2006/main" prst="rect">
            <a:avLst/>
          </a:prstGeom>
          <a:solidFill xmlns:a="http://schemas.openxmlformats.org/drawingml/2006/main">
            <a:srgbClr val="E36B78"/>
          </a:solidFill>
          <a:ln xmlns:a="http://schemas.openxmlformats.org/drawingml/2006/main" w="0">
            <a:solidFill>
              <a:srgbClr val="E36B78"/>
            </a:solidFill>
            <a:prstDash val="solid"/>
          </a:ln>
        </p:spPr>
      </p:sp>
      <p:sp>
        <p:nvSpPr>
          <p:cNvPr id="22" name="result-num-2">
            <a:extLst xmlns:a="http://schemas.openxmlformats.org/drawingml/2006/main">
              <a:ext uri="{FF2B5EF4-FFF2-40B4-BE49-F238E27FC236}">
                <a16:creationId xmlns:a16="http://schemas.microsoft.com/office/drawing/2014/main" id="{C7E44AB9-2BB5-4AC4-AF0C-1AD51114B5FA}"/>
              </a:ext>
            </a:extLst>
          </p:cNvPr>
          <p:cNvSpPr>
            <a:spLocks xmlns:a="http://schemas.openxmlformats.org/drawingml/2006/main" noGrp="1"/>
          </p:cNvSpPr>
          <p:nvPr/>
        </p:nvSpPr>
        <p:spPr>
          <a:xfrm xmlns:a="http://schemas.openxmlformats.org/drawingml/2006/main">
            <a:off x="5619750" y="158115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875" b="1" i="0">
                <a:solidFill>
                  <a:srgbClr val="FFFFFF"/>
                </a:solidFill>
                <a:latin typeface="Noto Sans CJK TC"/>
                <a:ea typeface="Noto Sans CJK TC"/>
                <a:cs typeface="Noto Sans CJK TC"/>
              </a:defRPr>
            </a:pPr>
            <a:r>
              <a:rPr sz="1875" b="1" i="0">
                <a:solidFill>
                  <a:srgbClr val="FFFFFF"/>
                </a:solidFill>
                <a:latin typeface="Noto Sans CJK TC"/>
                <a:ea typeface="Noto Sans CJK TC"/>
                <a:cs typeface="Noto Sans CJK TC"/>
              </a:rPr>
              <a:t>4 + 2</a:t>
            </a:r>
          </a:p>
        </p:txBody>
      </p:sp>
      <p:sp>
        <p:nvSpPr>
          <p:cNvPr id="23" name="result-label-2">
            <a:extLst xmlns:a="http://schemas.openxmlformats.org/drawingml/2006/main">
              <a:ext uri="{FF2B5EF4-FFF2-40B4-BE49-F238E27FC236}">
                <a16:creationId xmlns:a16="http://schemas.microsoft.com/office/drawing/2014/main" id="{2D693D08-F839-4026-9451-77FE8A99333A}"/>
              </a:ext>
            </a:extLst>
          </p:cNvPr>
          <p:cNvSpPr>
            <a:spLocks xmlns:a="http://schemas.openxmlformats.org/drawingml/2006/main" noGrp="1"/>
          </p:cNvSpPr>
          <p:nvPr/>
        </p:nvSpPr>
        <p:spPr>
          <a:xfrm xmlns:a="http://schemas.openxmlformats.org/drawingml/2006/main">
            <a:off x="5381625" y="6762750"/>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Compliance</a:t>
            </a:r>
          </a:p>
        </p:txBody>
      </p:sp>
      <p:sp>
        <p:nvSpPr>
          <p:cNvPr id="24" name="results-axis">
            <a:extLst xmlns:a="http://schemas.openxmlformats.org/drawingml/2006/main">
              <a:ext uri="{FF2B5EF4-FFF2-40B4-BE49-F238E27FC236}">
                <a16:creationId xmlns:a16="http://schemas.microsoft.com/office/drawing/2014/main" id="{80BF87ED-D5CC-414D-A03A-05E85FEF0D67}"/>
              </a:ext>
            </a:extLst>
          </p:cNvPr>
          <p:cNvSpPr>
            <a:spLocks xmlns:a="http://schemas.openxmlformats.org/drawingml/2006/main" noGrp="1"/>
          </p:cNvSpPr>
          <p:nvPr/>
        </p:nvSpPr>
        <p:spPr>
          <a:xfrm xmlns:a="http://schemas.openxmlformats.org/drawingml/2006/main">
            <a:off x="1095375" y="6572250"/>
            <a:ext cx="6572250" cy="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25" name="legend-good">
            <a:extLst xmlns:a="http://schemas.openxmlformats.org/drawingml/2006/main">
              <a:ext uri="{FF2B5EF4-FFF2-40B4-BE49-F238E27FC236}">
                <a16:creationId xmlns:a16="http://schemas.microsoft.com/office/drawing/2014/main" id="{ECD6BD4C-3523-459D-9316-E750526ACE96}"/>
              </a:ext>
            </a:extLst>
          </p:cNvPr>
          <p:cNvSpPr>
            <a:spLocks xmlns:a="http://schemas.openxmlformats.org/drawingml/2006/main" noGrp="1"/>
          </p:cNvSpPr>
          <p:nvPr/>
        </p:nvSpPr>
        <p:spPr>
          <a:xfrm xmlns:a="http://schemas.openxmlformats.org/drawingml/2006/main">
            <a:off x="2190750" y="7239000"/>
            <a:ext cx="152400" cy="152400"/>
          </a:xfrm>
          <a:prstGeom xmlns:a="http://schemas.openxmlformats.org/drawingml/2006/main" prst="rect">
            <a:avLst/>
          </a:prstGeom>
          <a:solidFill xmlns:a="http://schemas.openxmlformats.org/drawingml/2006/main">
            <a:srgbClr val="47795C"/>
          </a:solidFill>
          <a:ln xmlns:a="http://schemas.openxmlformats.org/drawingml/2006/main" w="0">
            <a:noFill/>
            <a:prstDash val="solid"/>
          </a:ln>
        </p:spPr>
      </p:sp>
      <p:sp>
        <p:nvSpPr>
          <p:cNvPr id="26" name="legend-good-text">
            <a:extLst xmlns:a="http://schemas.openxmlformats.org/drawingml/2006/main">
              <a:ext uri="{FF2B5EF4-FFF2-40B4-BE49-F238E27FC236}">
                <a16:creationId xmlns:a16="http://schemas.microsoft.com/office/drawing/2014/main" id="{95AD87D2-8ACD-4440-A643-1AA83F69B25F}"/>
              </a:ext>
            </a:extLst>
          </p:cNvPr>
          <p:cNvSpPr>
            <a:spLocks xmlns:a="http://schemas.openxmlformats.org/drawingml/2006/main" noGrp="1"/>
          </p:cNvSpPr>
          <p:nvPr/>
        </p:nvSpPr>
        <p:spPr>
          <a:xfrm xmlns:a="http://schemas.openxmlformats.org/drawingml/2006/main">
            <a:off x="2428875" y="71628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0" i="0">
                <a:solidFill>
                  <a:srgbClr val="62606A"/>
                </a:solidFill>
                <a:latin typeface="Noto Sans CJK TC"/>
                <a:ea typeface="Noto Sans CJK TC"/>
                <a:cs typeface="Noto Sans CJK TC"/>
              </a:defRPr>
            </a:pPr>
            <a:r>
              <a:rPr sz="1200" b="0" i="0">
                <a:solidFill>
                  <a:srgbClr val="62606A"/>
                </a:solidFill>
                <a:latin typeface="Noto Sans CJK TC"/>
                <a:ea typeface="Noto Sans CJK TC"/>
                <a:cs typeface="Noto Sans CJK TC"/>
              </a:rPr>
              <a:t>Applied</a:t>
            </a:r>
          </a:p>
        </p:txBody>
      </p:sp>
      <p:sp>
        <p:nvSpPr>
          <p:cNvPr id="27" name="legend-bad">
            <a:extLst xmlns:a="http://schemas.openxmlformats.org/drawingml/2006/main">
              <a:ext uri="{FF2B5EF4-FFF2-40B4-BE49-F238E27FC236}">
                <a16:creationId xmlns:a16="http://schemas.microsoft.com/office/drawing/2014/main" id="{7A92555B-6B23-477D-8382-AF728858E744}"/>
              </a:ext>
            </a:extLst>
          </p:cNvPr>
          <p:cNvSpPr>
            <a:spLocks xmlns:a="http://schemas.openxmlformats.org/drawingml/2006/main" noGrp="1"/>
          </p:cNvSpPr>
          <p:nvPr/>
        </p:nvSpPr>
        <p:spPr>
          <a:xfrm xmlns:a="http://schemas.openxmlformats.org/drawingml/2006/main">
            <a:off x="3571875" y="7239000"/>
            <a:ext cx="152400" cy="1524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28" name="legend-bad-text">
            <a:extLst xmlns:a="http://schemas.openxmlformats.org/drawingml/2006/main">
              <a:ext uri="{FF2B5EF4-FFF2-40B4-BE49-F238E27FC236}">
                <a16:creationId xmlns:a16="http://schemas.microsoft.com/office/drawing/2014/main" id="{0E2A161D-89F5-49E5-B3A6-41B0034E381E}"/>
              </a:ext>
            </a:extLst>
          </p:cNvPr>
          <p:cNvSpPr>
            <a:spLocks xmlns:a="http://schemas.openxmlformats.org/drawingml/2006/main" noGrp="1"/>
          </p:cNvSpPr>
          <p:nvPr/>
        </p:nvSpPr>
        <p:spPr>
          <a:xfrm xmlns:a="http://schemas.openxmlformats.org/drawingml/2006/main">
            <a:off x="3810000" y="71628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00" b="0" i="0">
                <a:solidFill>
                  <a:srgbClr val="62606A"/>
                </a:solidFill>
                <a:latin typeface="Noto Sans CJK TC"/>
                <a:ea typeface="Noto Sans CJK TC"/>
                <a:cs typeface="Noto Sans CJK TC"/>
              </a:defRPr>
            </a:pPr>
            <a:r>
              <a:rPr sz="1200" b="0" i="0">
                <a:solidFill>
                  <a:srgbClr val="62606A"/>
                </a:solidFill>
                <a:latin typeface="Noto Sans CJK TC"/>
                <a:ea typeface="Noto Sans CJK TC"/>
                <a:cs typeface="Noto Sans CJK TC"/>
              </a:rPr>
              <a:t>Rejected</a:t>
            </a:r>
          </a:p>
        </p:txBody>
      </p:sp>
      <p:sp>
        <p:nvSpPr>
          <p:cNvPr id="29" name="results-table-heading-text">
            <a:extLst xmlns:a="http://schemas.openxmlformats.org/drawingml/2006/main">
              <a:ext uri="{FF2B5EF4-FFF2-40B4-BE49-F238E27FC236}">
                <a16:creationId xmlns:a16="http://schemas.microsoft.com/office/drawing/2014/main" id="{8712A78B-75D6-4217-8A8F-E4476A867B1B}"/>
              </a:ext>
            </a:extLst>
          </p:cNvPr>
          <p:cNvSpPr>
            <a:spLocks xmlns:a="http://schemas.openxmlformats.org/drawingml/2006/main" noGrp="1"/>
          </p:cNvSpPr>
          <p:nvPr/>
        </p:nvSpPr>
        <p:spPr>
          <a:xfrm xmlns:a="http://schemas.openxmlformats.org/drawingml/2006/main">
            <a:off x="8191500" y="190500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Scope 與保護結果</a:t>
            </a:r>
          </a:p>
        </p:txBody>
      </p:sp>
      <p:sp>
        <p:nvSpPr>
          <p:cNvPr id="30" name="results-table-heading-line">
            <a:extLst xmlns:a="http://schemas.openxmlformats.org/drawingml/2006/main">
              <a:ext uri="{FF2B5EF4-FFF2-40B4-BE49-F238E27FC236}">
                <a16:creationId xmlns:a16="http://schemas.microsoft.com/office/drawing/2014/main" id="{7FC4AFD6-2649-48C7-8FB6-58E295A84FCF}"/>
              </a:ext>
            </a:extLst>
          </p:cNvPr>
          <p:cNvSpPr>
            <a:spLocks xmlns:a="http://schemas.openxmlformats.org/drawingml/2006/main" noGrp="1"/>
          </p:cNvSpPr>
          <p:nvPr/>
        </p:nvSpPr>
        <p:spPr>
          <a:xfrm xmlns:a="http://schemas.openxmlformats.org/drawingml/2006/main">
            <a:off x="8191500" y="2286000"/>
            <a:ext cx="90487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graphicFrame>
        <p:nvGraphicFramePr>
          <p:cNvPr id="68" name=""/>
          <p:cNvGraphicFramePr/>
          <p:nvPr/>
        </p:nvGraphicFramePr>
        <p:xfrm>
          <a:off xmlns:a="http://schemas.openxmlformats.org/drawingml/2006/main" x="8191500" y="2571750"/>
          <a:ext xmlns:a="http://schemas.openxmlformats.org/drawingml/2006/main" cx="9048750" cy="3667125"/>
        </p:xfrm>
        <a:graphic xmlns:a="http://schemas.openxmlformats.org/drawingml/2006/main">
          <a:graphicData uri="http://schemas.openxmlformats.org/drawingml/2006/table">
            <a:tbl>
              <a:tblPr/>
              <a:tblGrid>
                <a:gridCol w="1809750"/>
                <a:gridCol w="2714625"/>
                <a:gridCol w="1285875"/>
                <a:gridCol w="1285875"/>
                <a:gridCol w="1952625"/>
              </a:tblGrid>
              <a:tr h="916781">
                <a:tc>
                  <a:txBody>
                    <a:bodyPr/>
                    <a:lstStyle/>
                    <a:p>
                      <a:pPr algn="l"/>
                      <a:r>
                        <a:rPr sz="1275" b="1">
                          <a:solidFill>
                            <a:srgbClr val="FFFFFF"/>
                          </a:solidFill>
                          <a:latin typeface="Noto Sans CJK TC"/>
                          <a:ea typeface="Noto Sans CJK TC"/>
                          <a:cs typeface="Noto Sans CJK TC"/>
                        </a:rPr>
                        <a:t>Reflection</a:t>
                      </a:r>
                    </a:p>
                  </a:txBody>
                  <a:tcPr marL="91440" marR="91440" marT="45720" marB="45720" anchor="ctr">
                    <a:solidFill>
                      <a:srgbClr val="B95160"/>
                    </a:solidFill>
                  </a:tcPr>
                </a:tc>
                <a:tc>
                  <a:txBody>
                    <a:bodyPr/>
                    <a:lstStyle/>
                    <a:p>
                      <a:pPr algn="l"/>
                      <a:r>
                        <a:rPr sz="1275" b="1">
                          <a:solidFill>
                            <a:srgbClr val="FFFFFF"/>
                          </a:solidFill>
                          <a:latin typeface="Noto Sans CJK TC"/>
                          <a:ea typeface="Noto Sans CJK TC"/>
                          <a:cs typeface="Noto Sans CJK TC"/>
                        </a:rPr>
                        <a:t>預期改動</a:t>
                      </a:r>
                    </a:p>
                  </a:txBody>
                  <a:tcPr marL="91440" marR="91440" marT="45720" marB="45720" anchor="ctr">
                    <a:solidFill>
                      <a:srgbClr val="B95160"/>
                    </a:solidFill>
                  </a:tcPr>
                </a:tc>
                <a:tc>
                  <a:txBody>
                    <a:bodyPr/>
                    <a:lstStyle/>
                    <a:p>
                      <a:pPr algn="ctr"/>
                      <a:r>
                        <a:rPr sz="1275" b="1">
                          <a:solidFill>
                            <a:srgbClr val="FFFFFF"/>
                          </a:solidFill>
                          <a:latin typeface="Noto Sans CJK TC"/>
                          <a:ea typeface="Noto Sans CJK TC"/>
                          <a:cs typeface="Noto Sans CJK TC"/>
                        </a:rPr>
                        <a:t>Applied</a:t>
                      </a:r>
                    </a:p>
                  </a:txBody>
                  <a:tcPr marL="91440" marR="91440" marT="45720" marB="45720" anchor="ctr">
                    <a:solidFill>
                      <a:srgbClr val="B95160"/>
                    </a:solidFill>
                  </a:tcPr>
                </a:tc>
                <a:tc>
                  <a:txBody>
                    <a:bodyPr/>
                    <a:lstStyle/>
                    <a:p>
                      <a:pPr algn="ctr"/>
                      <a:r>
                        <a:rPr sz="1275" b="1">
                          <a:solidFill>
                            <a:srgbClr val="FFFFFF"/>
                          </a:solidFill>
                          <a:latin typeface="Noto Sans CJK TC"/>
                          <a:ea typeface="Noto Sans CJK TC"/>
                          <a:cs typeface="Noto Sans CJK TC"/>
                        </a:rPr>
                        <a:t>Scope</a:t>
                      </a:r>
                    </a:p>
                  </a:txBody>
                  <a:tcPr marL="91440" marR="91440" marT="45720" marB="45720" anchor="ctr">
                    <a:solidFill>
                      <a:srgbClr val="B95160"/>
                    </a:solidFill>
                  </a:tcPr>
                </a:tc>
                <a:tc>
                  <a:txBody>
                    <a:bodyPr/>
                    <a:lstStyle/>
                    <a:p>
                      <a:pPr algn="ctr"/>
                      <a:r>
                        <a:rPr sz="1275" b="1">
                          <a:solidFill>
                            <a:srgbClr val="FFFFFF"/>
                          </a:solidFill>
                          <a:latin typeface="Noto Sans CJK TC"/>
                          <a:ea typeface="Noto Sans CJK TC"/>
                          <a:cs typeface="Noto Sans CJK TC"/>
                        </a:rPr>
                        <a:t>Java</a:t>
                      </a:r>
                    </a:p>
                  </a:txBody>
                  <a:tcPr marL="91440" marR="91440" marT="45720" marB="45720" anchor="ctr">
                    <a:solidFill>
                      <a:srgbClr val="B95160"/>
                    </a:solidFill>
                  </a:tcPr>
                </a:tc>
              </a:tr>
              <a:tr h="916781">
                <a:tc>
                  <a:txBody>
                    <a:bodyPr/>
                    <a:lstStyle/>
                    <a:p>
                      <a:pPr algn="l"/>
                      <a:r>
                        <a:rPr sz="1350" b="1">
                          <a:solidFill>
                            <a:srgbClr val="25252A"/>
                          </a:solidFill>
                          <a:latin typeface="Noto Sans CJK TC"/>
                          <a:ea typeface="Noto Sans CJK TC"/>
                          <a:cs typeface="Noto Sans CJK TC"/>
                        </a:rPr>
                        <a:t>Strategy</a:t>
                      </a:r>
                    </a:p>
                  </a:txBody>
                  <a:tcPr marL="91440" marR="91440" marT="45720" marB="45720" anchor="ctr">
                    <a:solidFill>
                      <a:srgbClr val="FFFDF9"/>
                    </a:solidFill>
                  </a:tcPr>
                </a:tc>
                <a:tc>
                  <a:txBody>
                    <a:bodyPr/>
                    <a:lstStyle/>
                    <a:p>
                      <a:pPr algn="l"/>
                      <a:r>
                        <a:rPr sz="1350" b="0">
                          <a:solidFill>
                            <a:srgbClr val="25252A"/>
                          </a:solidFill>
                          <a:latin typeface="Noto Sans CJK TC"/>
                          <a:ea typeface="Noto Sans CJK TC"/>
                          <a:cs typeface="Noto Sans CJK TC"/>
                        </a:rPr>
                        <a:t>strategy_prompt</a:t>
                      </a:r>
                    </a:p>
                  </a:txBody>
                  <a:tcPr marL="91440" marR="91440" marT="45720" marB="45720" anchor="ctr">
                    <a:solidFill>
                      <a:srgbClr val="FFFDF9"/>
                    </a:solidFill>
                  </a:tcPr>
                </a:tc>
                <a:tc>
                  <a:txBody>
                    <a:bodyPr/>
                    <a:lstStyle/>
                    <a:p>
                      <a:pPr algn="ctr"/>
                      <a:r>
                        <a:rPr sz="1350" b="1">
                          <a:solidFill>
                            <a:srgbClr val="47795C"/>
                          </a:solidFill>
                          <a:latin typeface="Noto Sans CJK TC"/>
                          <a:ea typeface="Noto Sans CJK TC"/>
                          <a:cs typeface="Noto Sans CJK TC"/>
                        </a:rPr>
                        <a:t>3 / 3</a:t>
                      </a:r>
                    </a:p>
                  </a:txBody>
                  <a:tcPr marL="91440" marR="91440" marT="45720" marB="45720" anchor="ctr">
                    <a:solidFill>
                      <a:srgbClr val="FFFDF9"/>
                    </a:solidFill>
                  </a:tcPr>
                </a:tc>
                <a:tc>
                  <a:txBody>
                    <a:bodyPr/>
                    <a:lstStyle/>
                    <a:p>
                      <a:pPr algn="ctr"/>
                      <a:r>
                        <a:rPr sz="1350" b="0">
                          <a:solidFill>
                            <a:srgbClr val="25252A"/>
                          </a:solidFill>
                          <a:latin typeface="Noto Sans CJK TC"/>
                          <a:ea typeface="Noto Sans CJK TC"/>
                          <a:cs typeface="Noto Sans CJK TC"/>
                        </a:rPr>
                        <a:t>3 / 3</a:t>
                      </a:r>
                    </a:p>
                  </a:txBody>
                  <a:tcPr marL="91440" marR="91440" marT="45720" marB="45720" anchor="ctr">
                    <a:solidFill>
                      <a:srgbClr val="FFFDF9"/>
                    </a:solidFill>
                  </a:tcPr>
                </a:tc>
                <a:tc>
                  <a:txBody>
                    <a:bodyPr/>
                    <a:lstStyle/>
                    <a:p>
                      <a:pPr algn="ctr"/>
                      <a:r>
                        <a:rPr sz="1350" b="0">
                          <a:solidFill>
                            <a:srgbClr val="25252A"/>
                          </a:solidFill>
                          <a:latin typeface="Noto Sans CJK TC"/>
                          <a:ea typeface="Noto Sans CJK TC"/>
                          <a:cs typeface="Noto Sans CJK TC"/>
                        </a:rPr>
                        <a:t>不變</a:t>
                      </a:r>
                    </a:p>
                  </a:txBody>
                  <a:tcPr marL="91440" marR="91440" marT="45720" marB="45720" anchor="ctr">
                    <a:solidFill>
                      <a:srgbClr val="FFFDF9"/>
                    </a:solidFill>
                  </a:tcPr>
                </a:tc>
              </a:tr>
              <a:tr h="916781">
                <a:tc>
                  <a:txBody>
                    <a:bodyPr/>
                    <a:lstStyle/>
                    <a:p>
                      <a:pPr algn="l"/>
                      <a:r>
                        <a:rPr sz="1350" b="1">
                          <a:solidFill>
                            <a:srgbClr val="25252A"/>
                          </a:solidFill>
                          <a:latin typeface="Noto Sans CJK TC"/>
                          <a:ea typeface="Noto Sans CJK TC"/>
                          <a:cs typeface="Noto Sans CJK TC"/>
                        </a:rPr>
                        <a:t>Code</a:t>
                      </a:r>
                    </a:p>
                  </a:txBody>
                  <a:tcPr marL="91440" marR="91440" marT="45720" marB="45720" anchor="ctr">
                    <a:solidFill>
                      <a:srgbClr val="FFFDF9"/>
                    </a:solidFill>
                  </a:tcPr>
                </a:tc>
                <a:tc>
                  <a:txBody>
                    <a:bodyPr/>
                    <a:lstStyle/>
                    <a:p>
                      <a:pPr algn="l"/>
                      <a:r>
                        <a:rPr sz="1350" b="0">
                          <a:solidFill>
                            <a:srgbClr val="25252A"/>
                          </a:solidFill>
                          <a:latin typeface="Noto Sans CJK TC"/>
                          <a:ea typeface="Noto Sans CJK TC"/>
                          <a:cs typeface="Noto Sans CJK TC"/>
                        </a:rPr>
                        <a:t>generation_prompt</a:t>
                      </a:r>
                    </a:p>
                  </a:txBody>
                  <a:tcPr marL="91440" marR="91440" marT="45720" marB="45720" anchor="ctr">
                    <a:solidFill>
                      <a:srgbClr val="FFFDF9"/>
                    </a:solidFill>
                  </a:tcPr>
                </a:tc>
                <a:tc>
                  <a:txBody>
                    <a:bodyPr/>
                    <a:lstStyle/>
                    <a:p>
                      <a:pPr algn="ctr"/>
                      <a:r>
                        <a:rPr sz="1350" b="1">
                          <a:solidFill>
                            <a:srgbClr val="47795C"/>
                          </a:solidFill>
                          <a:latin typeface="Noto Sans CJK TC"/>
                          <a:ea typeface="Noto Sans CJK TC"/>
                          <a:cs typeface="Noto Sans CJK TC"/>
                        </a:rPr>
                        <a:t>3 / 3</a:t>
                      </a:r>
                    </a:p>
                  </a:txBody>
                  <a:tcPr marL="91440" marR="91440" marT="45720" marB="45720" anchor="ctr">
                    <a:solidFill>
                      <a:srgbClr val="FFFDF9"/>
                    </a:solidFill>
                  </a:tcPr>
                </a:tc>
                <a:tc>
                  <a:txBody>
                    <a:bodyPr/>
                    <a:lstStyle/>
                    <a:p>
                      <a:pPr algn="ctr"/>
                      <a:r>
                        <a:rPr sz="1350" b="0">
                          <a:solidFill>
                            <a:srgbClr val="25252A"/>
                          </a:solidFill>
                          <a:latin typeface="Noto Sans CJK TC"/>
                          <a:ea typeface="Noto Sans CJK TC"/>
                          <a:cs typeface="Noto Sans CJK TC"/>
                        </a:rPr>
                        <a:t>3 / 3</a:t>
                      </a:r>
                    </a:p>
                  </a:txBody>
                  <a:tcPr marL="91440" marR="91440" marT="45720" marB="45720" anchor="ctr">
                    <a:solidFill>
                      <a:srgbClr val="FFFDF9"/>
                    </a:solidFill>
                  </a:tcPr>
                </a:tc>
                <a:tc>
                  <a:txBody>
                    <a:bodyPr/>
                    <a:lstStyle/>
                    <a:p>
                      <a:pPr algn="ctr"/>
                      <a:r>
                        <a:rPr sz="1350" b="0">
                          <a:solidFill>
                            <a:srgbClr val="25252A"/>
                          </a:solidFill>
                          <a:latin typeface="Noto Sans CJK TC"/>
                          <a:ea typeface="Noto Sans CJK TC"/>
                          <a:cs typeface="Noto Sans CJK TC"/>
                        </a:rPr>
                        <a:t>不變</a:t>
                      </a:r>
                    </a:p>
                  </a:txBody>
                  <a:tcPr marL="91440" marR="91440" marT="45720" marB="45720" anchor="ctr">
                    <a:solidFill>
                      <a:srgbClr val="FFFDF9"/>
                    </a:solidFill>
                  </a:tcPr>
                </a:tc>
              </a:tr>
              <a:tr h="916781">
                <a:tc>
                  <a:txBody>
                    <a:bodyPr/>
                    <a:lstStyle/>
                    <a:p>
                      <a:pPr algn="l"/>
                      <a:r>
                        <a:rPr sz="1350" b="1">
                          <a:solidFill>
                            <a:srgbClr val="25252A"/>
                          </a:solidFill>
                          <a:latin typeface="Noto Sans CJK TC"/>
                          <a:ea typeface="Noto Sans CJK TC"/>
                          <a:cs typeface="Noto Sans CJK TC"/>
                        </a:rPr>
                        <a:t>Compliance</a:t>
                      </a:r>
                    </a:p>
                  </a:txBody>
                  <a:tcPr marL="91440" marR="91440" marT="45720" marB="45720" anchor="ctr">
                    <a:solidFill>
                      <a:srgbClr val="FFFDF9"/>
                    </a:solidFill>
                  </a:tcPr>
                </a:tc>
                <a:tc>
                  <a:txBody>
                    <a:bodyPr/>
                    <a:lstStyle/>
                    <a:p>
                      <a:pPr algn="l"/>
                      <a:r>
                        <a:rPr sz="1350" b="0">
                          <a:solidFill>
                            <a:srgbClr val="25252A"/>
                          </a:solidFill>
                          <a:latin typeface="Noto Sans CJK TC"/>
                          <a:ea typeface="Noto Sans CJK TC"/>
                          <a:cs typeface="Noto Sans CJK TC"/>
                        </a:rPr>
                        <a:t>issue-bearing gene</a:t>
                      </a:r>
                    </a:p>
                  </a:txBody>
                  <a:tcPr marL="91440" marR="91440" marT="45720" marB="45720" anchor="ctr">
                    <a:solidFill>
                      <a:srgbClr val="FFFDF9"/>
                    </a:solidFill>
                  </a:tcPr>
                </a:tc>
                <a:tc>
                  <a:txBody>
                    <a:bodyPr/>
                    <a:lstStyle/>
                    <a:p>
                      <a:pPr algn="ctr"/>
                      <a:r>
                        <a:rPr sz="1350" b="1">
                          <a:solidFill>
                            <a:srgbClr val="BF872B"/>
                          </a:solidFill>
                          <a:latin typeface="Noto Sans CJK TC"/>
                          <a:ea typeface="Noto Sans CJK TC"/>
                          <a:cs typeface="Noto Sans CJK TC"/>
                        </a:rPr>
                        <a:t>4 / 6</a:t>
                      </a:r>
                    </a:p>
                  </a:txBody>
                  <a:tcPr marL="91440" marR="91440" marT="45720" marB="45720" anchor="ctr">
                    <a:solidFill>
                      <a:srgbClr val="FFFDF9"/>
                    </a:solidFill>
                  </a:tcPr>
                </a:tc>
                <a:tc>
                  <a:txBody>
                    <a:bodyPr/>
                    <a:lstStyle/>
                    <a:p>
                      <a:pPr algn="ctr"/>
                      <a:r>
                        <a:rPr sz="1350" b="0">
                          <a:solidFill>
                            <a:srgbClr val="25252A"/>
                          </a:solidFill>
                          <a:latin typeface="Noto Sans CJK TC"/>
                          <a:ea typeface="Noto Sans CJK TC"/>
                          <a:cs typeface="Noto Sans CJK TC"/>
                        </a:rPr>
                        <a:t>4 / 6</a:t>
                      </a:r>
                    </a:p>
                  </a:txBody>
                  <a:tcPr marL="91440" marR="91440" marT="45720" marB="45720" anchor="ctr">
                    <a:solidFill>
                      <a:srgbClr val="FFFDF9"/>
                    </a:solidFill>
                  </a:tcPr>
                </a:tc>
                <a:tc>
                  <a:txBody>
                    <a:bodyPr/>
                    <a:lstStyle/>
                    <a:p>
                      <a:pPr algn="ctr"/>
                      <a:r>
                        <a:rPr sz="1350" b="0">
                          <a:solidFill>
                            <a:srgbClr val="25252A"/>
                          </a:solidFill>
                          <a:latin typeface="Noto Sans CJK TC"/>
                          <a:ea typeface="Noto Sans CJK TC"/>
                          <a:cs typeface="Noto Sans CJK TC"/>
                        </a:rPr>
                        <a:t>不變</a:t>
                      </a:r>
                    </a:p>
                  </a:txBody>
                  <a:tcPr marL="91440" marR="91440" marT="45720" marB="45720" anchor="ctr">
                    <a:solidFill>
                      <a:srgbClr val="FFFDF9"/>
                    </a:solidFill>
                  </a:tcPr>
                </a:tc>
              </a:tr>
            </a:tbl>
          </a:graphicData>
        </a:graphic>
      </p:graphicFrame>
      <p:sp>
        <p:nvSpPr>
          <p:cNvPr id="32" name="results-note">
            <a:extLst xmlns:a="http://schemas.openxmlformats.org/drawingml/2006/main">
              <a:ext uri="{FF2B5EF4-FFF2-40B4-BE49-F238E27FC236}">
                <a16:creationId xmlns:a16="http://schemas.microsoft.com/office/drawing/2014/main" id="{74C5317B-4A07-403A-BD9A-72D2400DB590}"/>
              </a:ext>
            </a:extLst>
          </p:cNvPr>
          <p:cNvSpPr>
            <a:spLocks xmlns:a="http://schemas.openxmlformats.org/drawingml/2006/main" noGrp="1"/>
          </p:cNvSpPr>
          <p:nvPr/>
        </p:nvSpPr>
        <p:spPr>
          <a:xfrm xmlns:a="http://schemas.openxmlformats.org/drawingml/2006/main">
            <a:off x="8239125" y="6619875"/>
            <a:ext cx="5238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Response attempts</a:t>
            </a:r>
          </a:p>
          <a:p xmlns:a="http://schemas.openxmlformats.org/drawingml/2006/main">
            <a:pPr algn="l">
              <a:lnSpc>
                <a:spcPct val="118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Strategy：36（含 commentator／coach pipeline）</a:t>
            </a:r>
          </a:p>
          <a:p xmlns:a="http://schemas.openxmlformats.org/drawingml/2006/main">
            <a:pPr algn="l">
              <a:lnSpc>
                <a:spcPct val="118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Code：8</a:t>
            </a:r>
          </a:p>
          <a:p xmlns:a="http://schemas.openxmlformats.org/drawingml/2006/main">
            <a:pPr algn="l">
              <a:lnSpc>
                <a:spcPct val="118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Compliance：23</a:t>
            </a:r>
          </a:p>
        </p:txBody>
      </p:sp>
      <p:sp>
        <p:nvSpPr>
          <p:cNvPr id="33" name="results-hash">
            <a:extLst xmlns:a="http://schemas.openxmlformats.org/drawingml/2006/main">
              <a:ext uri="{FF2B5EF4-FFF2-40B4-BE49-F238E27FC236}">
                <a16:creationId xmlns:a16="http://schemas.microsoft.com/office/drawing/2014/main" id="{2A0F1B1B-EADF-4D46-A707-C10972234352}"/>
              </a:ext>
            </a:extLst>
          </p:cNvPr>
          <p:cNvSpPr>
            <a:spLocks xmlns:a="http://schemas.openxmlformats.org/drawingml/2006/main" noGrp="1"/>
          </p:cNvSpPr>
          <p:nvPr/>
        </p:nvSpPr>
        <p:spPr>
          <a:xfrm xmlns:a="http://schemas.openxmlformats.org/drawingml/2006/main">
            <a:off x="13906500" y="6572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50" b="1" i="0">
                <a:solidFill>
                  <a:srgbClr val="47795C"/>
                </a:solidFill>
                <a:latin typeface="Noto Sans CJK TC"/>
                <a:ea typeface="Noto Sans CJK TC"/>
                <a:cs typeface="Noto Sans CJK TC"/>
              </a:defRPr>
            </a:pPr>
            <a:r>
              <a:rPr sz="1350" b="1" i="0">
                <a:solidFill>
                  <a:srgbClr val="47795C"/>
                </a:solidFill>
                <a:latin typeface="Noto Sans CJK TC"/>
                <a:ea typeface="Noto Sans CJK TC"/>
                <a:cs typeface="Noto Sans CJK TC"/>
              </a:rPr>
              <a:t>inherited_java SHA256</a:t>
            </a:r>
          </a:p>
          <a:p xmlns:a="http://schemas.openxmlformats.org/drawingml/2006/main">
            <a:pPr algn="ctr">
              <a:lnSpc>
                <a:spcPct val="110000"/>
              </a:lnSpc>
              <a:buNone/>
              <a:defRPr sz="1350" b="1" i="0">
                <a:solidFill>
                  <a:srgbClr val="47795C"/>
                </a:solidFill>
                <a:latin typeface="Noto Sans CJK TC"/>
                <a:ea typeface="Noto Sans CJK TC"/>
                <a:cs typeface="Noto Sans CJK TC"/>
              </a:defRPr>
            </a:pPr>
            <a:r>
              <a:rPr sz="1350" b="1" i="0">
                <a:solidFill>
                  <a:srgbClr val="47795C"/>
                </a:solidFill>
                <a:latin typeface="Noto Sans CJK TC"/>
                <a:ea typeface="Noto Sans CJK TC"/>
                <a:cs typeface="Noto Sans CJK TC"/>
              </a:rPr>
              <a:t>9c4f1643…e668</a:t>
            </a:r>
          </a:p>
          <a:p xmlns:a="http://schemas.openxmlformats.org/drawingml/2006/main">
            <a:pPr algn="ctr">
              <a:lnSpc>
                <a:spcPct val="110000"/>
              </a:lnSpc>
              <a:buNone/>
              <a:defRPr sz="1350" b="1" i="0">
                <a:solidFill>
                  <a:srgbClr val="47795C"/>
                </a:solidFill>
                <a:latin typeface="Noto Sans CJK TC"/>
                <a:ea typeface="Noto Sans CJK TC"/>
                <a:cs typeface="Noto Sans CJK TC"/>
              </a:defRPr>
            </a:pPr>
            <a:r>
              <a:rPr sz="1350" b="1" i="0">
                <a:solidFill>
                  <a:srgbClr val="47795C"/>
                </a:solidFill>
                <a:latin typeface="Noto Sans CJK TC"/>
                <a:ea typeface="Noto Sans CJK TC"/>
                <a:cs typeface="Noto Sans CJK TC"/>
              </a:rPr>
              <a:t>12 trials 全部相同</a:t>
            </a:r>
          </a:p>
        </p:txBody>
      </p:sp>
      <p:sp>
        <p:nvSpPr>
          <p:cNvPr id="34" name="band-4">
            <a:extLst xmlns:a="http://schemas.openxmlformats.org/drawingml/2006/main">
              <a:ext uri="{FF2B5EF4-FFF2-40B4-BE49-F238E27FC236}">
                <a16:creationId xmlns:a16="http://schemas.microsoft.com/office/drawing/2014/main" id="{24184B8E-BB8A-431F-9F48-5E1EA7CF69AE}"/>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35" name="band-label-4">
            <a:extLst xmlns:a="http://schemas.openxmlformats.org/drawingml/2006/main">
              <a:ext uri="{FF2B5EF4-FFF2-40B4-BE49-F238E27FC236}">
                <a16:creationId xmlns:a16="http://schemas.microsoft.com/office/drawing/2014/main" id="{270F262F-F801-463C-8417-8746DC5C62B6}"/>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判讀</a:t>
            </a:r>
          </a:p>
        </p:txBody>
      </p:sp>
      <p:sp>
        <p:nvSpPr>
          <p:cNvPr id="36" name="band-divider-4">
            <a:extLst xmlns:a="http://schemas.openxmlformats.org/drawingml/2006/main">
              <a:ext uri="{FF2B5EF4-FFF2-40B4-BE49-F238E27FC236}">
                <a16:creationId xmlns:a16="http://schemas.microsoft.com/office/drawing/2014/main" id="{57F0B18F-A949-4003-A110-72D3EFEE40BC}"/>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37" name="band-text-4">
            <a:extLst xmlns:a="http://schemas.openxmlformats.org/drawingml/2006/main">
              <a:ext uri="{FF2B5EF4-FFF2-40B4-BE49-F238E27FC236}">
                <a16:creationId xmlns:a16="http://schemas.microsoft.com/office/drawing/2014/main" id="{DFB01299-8812-4223-87C6-2834F2905CD1}"/>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2 次失敗都停在 validator／schema gate，actual_changed_fields 為空；因此是安全拒絕，不是錯誤套用。</a:t>
            </a:r>
          </a:p>
        </p:txBody>
      </p:sp>
    </p:spTree>
    <p:extLst>
      <p:ext uri="{BB962C8B-B14F-4D97-AF65-F5344CB8AC3E}">
        <p14:creationId xmlns:p14="http://schemas.microsoft.com/office/powerpoint/2010/main" val="2090142429"/>
      </p:ext>
    </p:extLst>
  </p:cSld>
</p:sld>
</file>

<file path=ppt/slides/slide5.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7" name="top-left-5">
            <a:extLst xmlns:a="http://schemas.openxmlformats.org/drawingml/2006/main">
              <a:ext uri="{FF2B5EF4-FFF2-40B4-BE49-F238E27FC236}">
                <a16:creationId xmlns:a16="http://schemas.microsoft.com/office/drawing/2014/main" id="{C2C03EC6-24DE-457C-9FD9-2B62EAB8315C}"/>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5">
            <a:extLst xmlns:a="http://schemas.openxmlformats.org/drawingml/2006/main">
              <a:ext uri="{FF2B5EF4-FFF2-40B4-BE49-F238E27FC236}">
                <a16:creationId xmlns:a16="http://schemas.microsoft.com/office/drawing/2014/main" id="{DC09D550-916E-4508-8E49-3DE82C13F83F}"/>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5">
            <a:extLst xmlns:a="http://schemas.openxmlformats.org/drawingml/2006/main">
              <a:ext uri="{FF2B5EF4-FFF2-40B4-BE49-F238E27FC236}">
                <a16:creationId xmlns:a16="http://schemas.microsoft.com/office/drawing/2014/main" id="{9CEDE81A-E08C-4D52-99B1-0F2814EB1177}"/>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5">
            <a:extLst xmlns:a="http://schemas.openxmlformats.org/drawingml/2006/main">
              <a:ext uri="{FF2B5EF4-FFF2-40B4-BE49-F238E27FC236}">
                <a16:creationId xmlns:a16="http://schemas.microsoft.com/office/drawing/2014/main" id="{14695010-96E7-468F-ACD9-C54BB7BD78D9}"/>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5">
            <a:extLst xmlns:a="http://schemas.openxmlformats.org/drawingml/2006/main">
              <a:ext uri="{FF2B5EF4-FFF2-40B4-BE49-F238E27FC236}">
                <a16:creationId xmlns:a16="http://schemas.microsoft.com/office/drawing/2014/main" id="{7B5461D1-5C2B-45B1-B162-318F9497E8EE}"/>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5">
            <a:extLst xmlns:a="http://schemas.openxmlformats.org/drawingml/2006/main">
              <a:ext uri="{FF2B5EF4-FFF2-40B4-BE49-F238E27FC236}">
                <a16:creationId xmlns:a16="http://schemas.microsoft.com/office/drawing/2014/main" id="{300DE44A-EBDD-4A6D-AABE-BD176F81EC93}"/>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S</a:t>
            </a:r>
          </a:p>
        </p:txBody>
      </p:sp>
      <p:sp>
        <p:nvSpPr>
          <p:cNvPr id="7" name="status-5">
            <a:extLst xmlns:a="http://schemas.openxmlformats.org/drawingml/2006/main">
              <a:ext uri="{FF2B5EF4-FFF2-40B4-BE49-F238E27FC236}">
                <a16:creationId xmlns:a16="http://schemas.microsoft.com/office/drawing/2014/main" id="{AE65FE49-F039-49FA-B408-6B362890FD89}"/>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3 / 3 APPLIED · SCOPE 3 / 3</a:t>
            </a:r>
          </a:p>
        </p:txBody>
      </p:sp>
      <p:sp>
        <p:nvSpPr>
          <p:cNvPr id="8" name="bottom-5">
            <a:extLst xmlns:a="http://schemas.openxmlformats.org/drawingml/2006/main">
              <a:ext uri="{FF2B5EF4-FFF2-40B4-BE49-F238E27FC236}">
                <a16:creationId xmlns:a16="http://schemas.microsoft.com/office/drawing/2014/main" id="{6ED38F5C-DE9D-4D6F-ACE3-AAD56F649D46}"/>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5">
            <a:extLst xmlns:a="http://schemas.openxmlformats.org/drawingml/2006/main">
              <a:ext uri="{FF2B5EF4-FFF2-40B4-BE49-F238E27FC236}">
                <a16:creationId xmlns:a16="http://schemas.microsoft.com/office/drawing/2014/main" id="{2E71E832-3103-4CA1-9F6B-5D20AC464ABC}"/>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05 / 14</a:t>
            </a:r>
          </a:p>
        </p:txBody>
      </p:sp>
      <p:sp>
        <p:nvSpPr>
          <p:cNvPr id="10" name="title-5">
            <a:extLst xmlns:a="http://schemas.openxmlformats.org/drawingml/2006/main">
              <a:ext uri="{FF2B5EF4-FFF2-40B4-BE49-F238E27FC236}">
                <a16:creationId xmlns:a16="http://schemas.microsoft.com/office/drawing/2014/main" id="{E94ADDF9-FA9D-4801-9C8F-029619C0ACFF}"/>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Strategy Reflection：允許改策略，但只改 policy gene</a:t>
            </a:r>
          </a:p>
        </p:txBody>
      </p:sp>
      <p:sp>
        <p:nvSpPr>
          <p:cNvPr id="11" name="subtitle-5">
            <a:extLst xmlns:a="http://schemas.openxmlformats.org/drawingml/2006/main">
              <a:ext uri="{FF2B5EF4-FFF2-40B4-BE49-F238E27FC236}">
                <a16:creationId xmlns:a16="http://schemas.microsoft.com/office/drawing/2014/main" id="{E734632D-31D2-47E6-A618-F97DD9E5CC89}"/>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從 Worker Rush 出發，依 evidence 產生新的具體條件式策略；generation prompt 與 Java 保持不變</a:t>
            </a:r>
          </a:p>
        </p:txBody>
      </p:sp>
      <p:sp>
        <p:nvSpPr>
          <p:cNvPr id="12" name="vline-a-5">
            <a:extLst xmlns:a="http://schemas.openxmlformats.org/drawingml/2006/main">
              <a:ext uri="{FF2B5EF4-FFF2-40B4-BE49-F238E27FC236}">
                <a16:creationId xmlns:a16="http://schemas.microsoft.com/office/drawing/2014/main" id="{8CC01B55-7C4C-430F-A8A7-00545256E799}"/>
              </a:ext>
            </a:extLst>
          </p:cNvPr>
          <p:cNvSpPr>
            <a:spLocks xmlns:a="http://schemas.openxmlformats.org/drawingml/2006/main" noGrp="1"/>
          </p:cNvSpPr>
          <p:nvPr/>
        </p:nvSpPr>
        <p:spPr>
          <a:xfrm xmlns:a="http://schemas.openxmlformats.org/drawingml/2006/main">
            <a:off x="6143625"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3" name="vline-b-5">
            <a:extLst xmlns:a="http://schemas.openxmlformats.org/drawingml/2006/main">
              <a:ext uri="{FF2B5EF4-FFF2-40B4-BE49-F238E27FC236}">
                <a16:creationId xmlns:a16="http://schemas.microsoft.com/office/drawing/2014/main" id="{D94F4E03-7CF4-4EDC-A19A-FC8CD3A0912D}"/>
              </a:ext>
            </a:extLst>
          </p:cNvPr>
          <p:cNvSpPr>
            <a:spLocks xmlns:a="http://schemas.openxmlformats.org/drawingml/2006/main" noGrp="1"/>
          </p:cNvSpPr>
          <p:nvPr/>
        </p:nvSpPr>
        <p:spPr>
          <a:xfrm xmlns:a="http://schemas.openxmlformats.org/drawingml/2006/main">
            <a:off x="11620500"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4" name="col-5-0-text">
            <a:extLst xmlns:a="http://schemas.openxmlformats.org/drawingml/2006/main">
              <a:ext uri="{FF2B5EF4-FFF2-40B4-BE49-F238E27FC236}">
                <a16:creationId xmlns:a16="http://schemas.microsoft.com/office/drawing/2014/main" id="{79EDCFBD-9686-4E12-AD8A-AD53ECAC3CC7}"/>
              </a:ext>
            </a:extLst>
          </p:cNvPr>
          <p:cNvSpPr>
            <a:spLocks xmlns:a="http://schemas.openxmlformats.org/drawingml/2006/main" noGrp="1"/>
          </p:cNvSpPr>
          <p:nvPr/>
        </p:nvSpPr>
        <p:spPr>
          <a:xfrm xmlns:a="http://schemas.openxmlformats.org/drawingml/2006/main">
            <a:off x="952500"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原始 policy</a:t>
            </a:r>
          </a:p>
        </p:txBody>
      </p:sp>
      <p:sp>
        <p:nvSpPr>
          <p:cNvPr id="15" name="col-5-0-line">
            <a:extLst xmlns:a="http://schemas.openxmlformats.org/drawingml/2006/main">
              <a:ext uri="{FF2B5EF4-FFF2-40B4-BE49-F238E27FC236}">
                <a16:creationId xmlns:a16="http://schemas.microsoft.com/office/drawing/2014/main" id="{54E72132-F0F4-4ECC-A746-D54E191EF77B}"/>
              </a:ext>
            </a:extLst>
          </p:cNvPr>
          <p:cNvSpPr>
            <a:spLocks xmlns:a="http://schemas.openxmlformats.org/drawingml/2006/main" noGrp="1"/>
          </p:cNvSpPr>
          <p:nvPr/>
        </p:nvSpPr>
        <p:spPr>
          <a:xfrm xmlns:a="http://schemas.openxmlformats.org/drawingml/2006/main">
            <a:off x="952500"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6" name="col-body-5-0">
            <a:extLst xmlns:a="http://schemas.openxmlformats.org/drawingml/2006/main">
              <a:ext uri="{FF2B5EF4-FFF2-40B4-BE49-F238E27FC236}">
                <a16:creationId xmlns:a16="http://schemas.microsoft.com/office/drawing/2014/main" id="{4088ABDF-AF8A-4200-8601-B27A89DD617A}"/>
              </a:ext>
            </a:extLst>
          </p:cNvPr>
          <p:cNvSpPr>
            <a:spLocks xmlns:a="http://schemas.openxmlformats.org/drawingml/2006/main" noGrp="1"/>
          </p:cNvSpPr>
          <p:nvPr/>
        </p:nvSpPr>
        <p:spPr>
          <a:xfrm xmlns:a="http://schemas.openxmlformats.org/drawingml/2006/main">
            <a:off x="952500"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lnSpc>
                <a:spcPct val="11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Base 持續生產 Worker；保留一名採集，其餘 Worker 攻擊 enemy Base。</a:t>
            </a:r>
          </a:p>
          <a:p xmlns:a="http://schemas.openxmlformats.org/drawingml/2006/main">
            <a:r>
              <a:t/>
            </a:r>
          </a:p>
          <a:p xmlns:a="http://schemas.openxmlformats.org/drawingml/2006/main">
            <a:pPr algn="l">
              <a:lnSpc>
                <a:spcPct val="11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禁止 Barracks 與非 Worker 戰鬥單位。</a:t>
            </a:r>
          </a:p>
        </p:txBody>
      </p:sp>
      <p:sp>
        <p:nvSpPr>
          <p:cNvPr id="17" name="col-5-1-text">
            <a:extLst xmlns:a="http://schemas.openxmlformats.org/drawingml/2006/main">
              <a:ext uri="{FF2B5EF4-FFF2-40B4-BE49-F238E27FC236}">
                <a16:creationId xmlns:a16="http://schemas.microsoft.com/office/drawing/2014/main" id="{04D6BD4C-34A4-43E2-92AD-97D1263550A1}"/>
              </a:ext>
            </a:extLst>
          </p:cNvPr>
          <p:cNvSpPr>
            <a:spLocks xmlns:a="http://schemas.openxmlformats.org/drawingml/2006/main" noGrp="1"/>
          </p:cNvSpPr>
          <p:nvPr/>
        </p:nvSpPr>
        <p:spPr>
          <a:xfrm xmlns:a="http://schemas.openxmlformats.org/drawingml/2006/main">
            <a:off x="6429375"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送入 Reflection</a:t>
            </a:r>
          </a:p>
        </p:txBody>
      </p:sp>
      <p:sp>
        <p:nvSpPr>
          <p:cNvPr id="18" name="col-5-1-line">
            <a:extLst xmlns:a="http://schemas.openxmlformats.org/drawingml/2006/main">
              <a:ext uri="{FF2B5EF4-FFF2-40B4-BE49-F238E27FC236}">
                <a16:creationId xmlns:a16="http://schemas.microsoft.com/office/drawing/2014/main" id="{89FA4AD8-0AFA-444C-A6EB-B37DBDFED0C1}"/>
              </a:ext>
            </a:extLst>
          </p:cNvPr>
          <p:cNvSpPr>
            <a:spLocks xmlns:a="http://schemas.openxmlformats.org/drawingml/2006/main" noGrp="1"/>
          </p:cNvSpPr>
          <p:nvPr/>
        </p:nvSpPr>
        <p:spPr>
          <a:xfrm xmlns:a="http://schemas.openxmlformats.org/drawingml/2006/main">
            <a:off x="6429375"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9" name="col-body-5-1">
            <a:extLst xmlns:a="http://schemas.openxmlformats.org/drawingml/2006/main">
              <a:ext uri="{FF2B5EF4-FFF2-40B4-BE49-F238E27FC236}">
                <a16:creationId xmlns:a16="http://schemas.microsoft.com/office/drawing/2014/main" id="{3A6E4D2B-BB94-4D40-B409-0EF2BF78CC8B}"/>
              </a:ext>
            </a:extLst>
          </p:cNvPr>
          <p:cNvSpPr>
            <a:spLocks xmlns:a="http://schemas.openxmlformats.org/drawingml/2006/main" noGrp="1"/>
          </p:cNvSpPr>
          <p:nvPr/>
        </p:nvSpPr>
        <p:spPr>
          <a:xfrm xmlns:a="http://schemas.openxmlformats.org/drawingml/2006/main">
            <a:off x="6429375"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parent strategy_prompt</a:t>
            </a:r>
          </a:p>
          <a:p xmlns:a="http://schemas.openxmlformats.org/drawingml/2006/main">
            <a:pPr algn="l">
              <a:lnSpc>
                <a:spcPct val="114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代表性 match diagnoses</a:t>
            </a:r>
          </a:p>
          <a:p xmlns:a="http://schemas.openxmlformats.org/drawingml/2006/main">
            <a:pPr algn="l">
              <a:lnSpc>
                <a:spcPct val="114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global evaluation summary</a:t>
            </a:r>
          </a:p>
          <a:p xmlns:a="http://schemas.openxmlformats.org/drawingml/2006/main">
            <a:pPr algn="l">
              <a:lnSpc>
                <a:spcPct val="114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完整 gameplay contract</a:t>
            </a:r>
          </a:p>
          <a:p xmlns:a="http://schemas.openxmlformats.org/drawingml/2006/main">
            <a:r>
              <a:t/>
            </a:r>
          </a:p>
          <a:p xmlns:a="http://schemas.openxmlformats.org/drawingml/2006/main">
            <a:pPr algn="l">
              <a:lnSpc>
                <a:spcPct val="114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Coach 可改變策略類型，但每條規則必須使用：</a:t>
            </a:r>
          </a:p>
          <a:p xmlns:a="http://schemas.openxmlformats.org/drawingml/2006/main">
            <a:pPr algn="l">
              <a:lnSpc>
                <a:spcPct val="114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current state → idle actor → legal action</a:t>
            </a:r>
          </a:p>
        </p:txBody>
      </p:sp>
      <p:sp>
        <p:nvSpPr>
          <p:cNvPr id="20" name="col-5-2-text">
            <a:extLst xmlns:a="http://schemas.openxmlformats.org/drawingml/2006/main">
              <a:ext uri="{FF2B5EF4-FFF2-40B4-BE49-F238E27FC236}">
                <a16:creationId xmlns:a16="http://schemas.microsoft.com/office/drawing/2014/main" id="{FD47A49A-1E4F-4E4C-86D6-1942751A7162}"/>
              </a:ext>
            </a:extLst>
          </p:cNvPr>
          <p:cNvSpPr>
            <a:spLocks xmlns:a="http://schemas.openxmlformats.org/drawingml/2006/main" noGrp="1"/>
          </p:cNvSpPr>
          <p:nvPr/>
        </p:nvSpPr>
        <p:spPr>
          <a:xfrm xmlns:a="http://schemas.openxmlformats.org/drawingml/2006/main">
            <a:off x="11906250" y="1952625"/>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實際輸出（trial 1 節錄）</a:t>
            </a:r>
          </a:p>
        </p:txBody>
      </p:sp>
      <p:sp>
        <p:nvSpPr>
          <p:cNvPr id="21" name="col-5-2-line">
            <a:extLst xmlns:a="http://schemas.openxmlformats.org/drawingml/2006/main">
              <a:ext uri="{FF2B5EF4-FFF2-40B4-BE49-F238E27FC236}">
                <a16:creationId xmlns:a16="http://schemas.microsoft.com/office/drawing/2014/main" id="{12CCE437-67D9-4DB1-959C-E5529264E1D7}"/>
              </a:ext>
            </a:extLst>
          </p:cNvPr>
          <p:cNvSpPr>
            <a:spLocks xmlns:a="http://schemas.openxmlformats.org/drawingml/2006/main" noGrp="1"/>
          </p:cNvSpPr>
          <p:nvPr/>
        </p:nvSpPr>
        <p:spPr>
          <a:xfrm xmlns:a="http://schemas.openxmlformats.org/drawingml/2006/main">
            <a:off x="11906250" y="2333625"/>
            <a:ext cx="54292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22" name="col-body-5-2">
            <a:extLst xmlns:a="http://schemas.openxmlformats.org/drawingml/2006/main">
              <a:ext uri="{FF2B5EF4-FFF2-40B4-BE49-F238E27FC236}">
                <a16:creationId xmlns:a16="http://schemas.microsoft.com/office/drawing/2014/main" id="{9E8A23AF-751F-4A98-9D67-FFDA4D442291}"/>
              </a:ext>
            </a:extLst>
          </p:cNvPr>
          <p:cNvSpPr>
            <a:spLocks xmlns:a="http://schemas.openxmlformats.org/drawingml/2006/main" noGrp="1"/>
          </p:cNvSpPr>
          <p:nvPr/>
        </p:nvSpPr>
        <p:spPr>
          <a:xfrm xmlns:a="http://schemas.openxmlformats.org/drawingml/2006/main">
            <a:off x="11906250" y="2571750"/>
            <a:ext cx="542925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1. Base idle ＋ stockpile ≥ 1 → train Worker</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2. Worker idle ＋ reachable Resource → harvest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4. stockpile ≥ 10 → build Base</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5. stockpile ≥ 5 → build Barracks</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6. Barracks idle ＋ stockpile ≥ 2 → train Light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8–10. Worker 依 enemy state 移動／攻擊</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實際改動：strategy_prompt only</a:t>
            </a:r>
          </a:p>
        </p:txBody>
      </p:sp>
      <p:sp>
        <p:nvSpPr>
          <p:cNvPr id="23" name="band-5">
            <a:extLst xmlns:a="http://schemas.openxmlformats.org/drawingml/2006/main">
              <a:ext uri="{FF2B5EF4-FFF2-40B4-BE49-F238E27FC236}">
                <a16:creationId xmlns:a16="http://schemas.microsoft.com/office/drawing/2014/main" id="{87C8ACC2-3932-4453-95EE-A22848F2E7E0}"/>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24" name="band-label-5">
            <a:extLst xmlns:a="http://schemas.openxmlformats.org/drawingml/2006/main">
              <a:ext uri="{FF2B5EF4-FFF2-40B4-BE49-F238E27FC236}">
                <a16:creationId xmlns:a16="http://schemas.microsoft.com/office/drawing/2014/main" id="{D11D286C-7139-489A-BC15-C177C197B949}"/>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驗證結論</a:t>
            </a:r>
          </a:p>
        </p:txBody>
      </p:sp>
      <p:sp>
        <p:nvSpPr>
          <p:cNvPr id="25" name="band-divider-5">
            <a:extLst xmlns:a="http://schemas.openxmlformats.org/drawingml/2006/main">
              <a:ext uri="{FF2B5EF4-FFF2-40B4-BE49-F238E27FC236}">
                <a16:creationId xmlns:a16="http://schemas.microsoft.com/office/drawing/2014/main" id="{3AE6E351-6B72-4142-B171-E0FC92304ABB}"/>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26" name="band-text-5">
            <a:extLst xmlns:a="http://schemas.openxmlformats.org/drawingml/2006/main">
              <a:ext uri="{FF2B5EF4-FFF2-40B4-BE49-F238E27FC236}">
                <a16:creationId xmlns:a16="http://schemas.microsoft.com/office/drawing/2014/main" id="{949BA6AC-CCD3-4015-A27E-77EF1C823C81}"/>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修改方向正確：不是把 Worker Rush 原文換句話說，而是產生不同策略；欄位隔離與 Java 繼承均正確。</a:t>
            </a:r>
          </a:p>
        </p:txBody>
      </p:sp>
    </p:spTree>
    <p:extLst>
      <p:ext uri="{BB962C8B-B14F-4D97-AF65-F5344CB8AC3E}">
        <p14:creationId xmlns:p14="http://schemas.microsoft.com/office/powerpoint/2010/main" val="1759489988"/>
      </p:ext>
    </p:extLst>
  </p:cSld>
</p:sld>
</file>

<file path=ppt/slides/slide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7" name="top-left-6">
            <a:extLst xmlns:a="http://schemas.openxmlformats.org/drawingml/2006/main">
              <a:ext uri="{FF2B5EF4-FFF2-40B4-BE49-F238E27FC236}">
                <a16:creationId xmlns:a16="http://schemas.microsoft.com/office/drawing/2014/main" id="{7954F754-0B22-42E3-A443-A9E3E60AF41C}"/>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6">
            <a:extLst xmlns:a="http://schemas.openxmlformats.org/drawingml/2006/main">
              <a:ext uri="{FF2B5EF4-FFF2-40B4-BE49-F238E27FC236}">
                <a16:creationId xmlns:a16="http://schemas.microsoft.com/office/drawing/2014/main" id="{0FD15524-6858-43AF-AF4A-0F16610CA323}"/>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6">
            <a:extLst xmlns:a="http://schemas.openxmlformats.org/drawingml/2006/main">
              <a:ext uri="{FF2B5EF4-FFF2-40B4-BE49-F238E27FC236}">
                <a16:creationId xmlns:a16="http://schemas.microsoft.com/office/drawing/2014/main" id="{70D3DF65-FF4D-425A-A6D9-60BE7FBE5398}"/>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6">
            <a:extLst xmlns:a="http://schemas.openxmlformats.org/drawingml/2006/main">
              <a:ext uri="{FF2B5EF4-FFF2-40B4-BE49-F238E27FC236}">
                <a16:creationId xmlns:a16="http://schemas.microsoft.com/office/drawing/2014/main" id="{C0475975-A22A-4ED5-B588-47544877F6B5}"/>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6">
            <a:extLst xmlns:a="http://schemas.openxmlformats.org/drawingml/2006/main">
              <a:ext uri="{FF2B5EF4-FFF2-40B4-BE49-F238E27FC236}">
                <a16:creationId xmlns:a16="http://schemas.microsoft.com/office/drawing/2014/main" id="{3714481A-93C1-488B-A92D-9816BBD335D7}"/>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6">
            <a:extLst xmlns:a="http://schemas.openxmlformats.org/drawingml/2006/main">
              <a:ext uri="{FF2B5EF4-FFF2-40B4-BE49-F238E27FC236}">
                <a16:creationId xmlns:a16="http://schemas.microsoft.com/office/drawing/2014/main" id="{87396741-B6C4-41AA-BA58-693E055B20D3}"/>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C</a:t>
            </a:r>
          </a:p>
        </p:txBody>
      </p:sp>
      <p:sp>
        <p:nvSpPr>
          <p:cNvPr id="7" name="status-6">
            <a:extLst xmlns:a="http://schemas.openxmlformats.org/drawingml/2006/main">
              <a:ext uri="{FF2B5EF4-FFF2-40B4-BE49-F238E27FC236}">
                <a16:creationId xmlns:a16="http://schemas.microsoft.com/office/drawing/2014/main" id="{77AEFF21-0FE5-41F5-9A4D-F0AC8CE74FDB}"/>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3 / 3 APPLIED · SCOPE 3 / 3</a:t>
            </a:r>
          </a:p>
        </p:txBody>
      </p:sp>
      <p:sp>
        <p:nvSpPr>
          <p:cNvPr id="8" name="bottom-6">
            <a:extLst xmlns:a="http://schemas.openxmlformats.org/drawingml/2006/main">
              <a:ext uri="{FF2B5EF4-FFF2-40B4-BE49-F238E27FC236}">
                <a16:creationId xmlns:a16="http://schemas.microsoft.com/office/drawing/2014/main" id="{86302C22-2E89-40E4-82FA-24188ABF6ECF}"/>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6">
            <a:extLst xmlns:a="http://schemas.openxmlformats.org/drawingml/2006/main">
              <a:ext uri="{FF2B5EF4-FFF2-40B4-BE49-F238E27FC236}">
                <a16:creationId xmlns:a16="http://schemas.microsoft.com/office/drawing/2014/main" id="{09DC0FFD-F068-441C-BAC2-01F178EF92A3}"/>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06 / 14</a:t>
            </a:r>
          </a:p>
        </p:txBody>
      </p:sp>
      <p:sp>
        <p:nvSpPr>
          <p:cNvPr id="10" name="title-6">
            <a:extLst xmlns:a="http://schemas.openxmlformats.org/drawingml/2006/main">
              <a:ext uri="{FF2B5EF4-FFF2-40B4-BE49-F238E27FC236}">
                <a16:creationId xmlns:a16="http://schemas.microsoft.com/office/drawing/2014/main" id="{9A0A66C0-A5D1-4B83-8B6F-F2542567EE3B}"/>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Code Reflection：修正 policy→Java 的翻譯規則</a:t>
            </a:r>
          </a:p>
        </p:txBody>
      </p:sp>
      <p:sp>
        <p:nvSpPr>
          <p:cNvPr id="11" name="subtitle-6">
            <a:extLst xmlns:a="http://schemas.openxmlformats.org/drawingml/2006/main">
              <a:ext uri="{FF2B5EF4-FFF2-40B4-BE49-F238E27FC236}">
                <a16:creationId xmlns:a16="http://schemas.microsoft.com/office/drawing/2014/main" id="{62BFF16E-359C-416B-9128-D61BAC231AB3}"/>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輸出不是 Java，也不是當前策略；只回傳一個可重用 rule delta</a:t>
            </a:r>
          </a:p>
        </p:txBody>
      </p:sp>
      <p:sp>
        <p:nvSpPr>
          <p:cNvPr id="12" name="vline-a-6">
            <a:extLst xmlns:a="http://schemas.openxmlformats.org/drawingml/2006/main">
              <a:ext uri="{FF2B5EF4-FFF2-40B4-BE49-F238E27FC236}">
                <a16:creationId xmlns:a16="http://schemas.microsoft.com/office/drawing/2014/main" id="{1E162CC5-BEF2-4F5D-B0A3-FC7B7340AEF6}"/>
              </a:ext>
            </a:extLst>
          </p:cNvPr>
          <p:cNvSpPr>
            <a:spLocks xmlns:a="http://schemas.openxmlformats.org/drawingml/2006/main" noGrp="1"/>
          </p:cNvSpPr>
          <p:nvPr/>
        </p:nvSpPr>
        <p:spPr>
          <a:xfrm xmlns:a="http://schemas.openxmlformats.org/drawingml/2006/main">
            <a:off x="6143625"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3" name="vline-b-6">
            <a:extLst xmlns:a="http://schemas.openxmlformats.org/drawingml/2006/main">
              <a:ext uri="{FF2B5EF4-FFF2-40B4-BE49-F238E27FC236}">
                <a16:creationId xmlns:a16="http://schemas.microsoft.com/office/drawing/2014/main" id="{5CAEF82D-D19E-4605-843C-DA5B718E1F06}"/>
              </a:ext>
            </a:extLst>
          </p:cNvPr>
          <p:cNvSpPr>
            <a:spLocks xmlns:a="http://schemas.openxmlformats.org/drawingml/2006/main" noGrp="1"/>
          </p:cNvSpPr>
          <p:nvPr/>
        </p:nvSpPr>
        <p:spPr>
          <a:xfrm xmlns:a="http://schemas.openxmlformats.org/drawingml/2006/main">
            <a:off x="11620500"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4" name="col-6-0-text">
            <a:extLst xmlns:a="http://schemas.openxmlformats.org/drawingml/2006/main">
              <a:ext uri="{FF2B5EF4-FFF2-40B4-BE49-F238E27FC236}">
                <a16:creationId xmlns:a16="http://schemas.microsoft.com/office/drawing/2014/main" id="{2BD247B1-AC25-469D-A171-7F0FFB425965}"/>
              </a:ext>
            </a:extLst>
          </p:cNvPr>
          <p:cNvSpPr>
            <a:spLocks xmlns:a="http://schemas.openxmlformats.org/drawingml/2006/main" noGrp="1"/>
          </p:cNvSpPr>
          <p:nvPr/>
        </p:nvSpPr>
        <p:spPr>
          <a:xfrm xmlns:a="http://schemas.openxmlformats.org/drawingml/2006/main">
            <a:off x="952500"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現有 generation gene</a:t>
            </a:r>
          </a:p>
        </p:txBody>
      </p:sp>
      <p:sp>
        <p:nvSpPr>
          <p:cNvPr id="15" name="col-6-0-line">
            <a:extLst xmlns:a="http://schemas.openxmlformats.org/drawingml/2006/main">
              <a:ext uri="{FF2B5EF4-FFF2-40B4-BE49-F238E27FC236}">
                <a16:creationId xmlns:a16="http://schemas.microsoft.com/office/drawing/2014/main" id="{DCA8DE50-972A-4F8B-8853-FAAEA599EC55}"/>
              </a:ext>
            </a:extLst>
          </p:cNvPr>
          <p:cNvSpPr>
            <a:spLocks xmlns:a="http://schemas.openxmlformats.org/drawingml/2006/main" noGrp="1"/>
          </p:cNvSpPr>
          <p:nvPr/>
        </p:nvSpPr>
        <p:spPr>
          <a:xfrm xmlns:a="http://schemas.openxmlformats.org/drawingml/2006/main">
            <a:off x="952500"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6" name="col-body-6-0">
            <a:extLst xmlns:a="http://schemas.openxmlformats.org/drawingml/2006/main">
              <a:ext uri="{FF2B5EF4-FFF2-40B4-BE49-F238E27FC236}">
                <a16:creationId xmlns:a16="http://schemas.microsoft.com/office/drawing/2014/main" id="{E1B8B76E-4EB0-4189-BCFC-704B63AE6956}"/>
              </a:ext>
            </a:extLst>
          </p:cNvPr>
          <p:cNvSpPr>
            <a:spLocks xmlns:a="http://schemas.openxmlformats.org/drawingml/2006/main" noGrp="1"/>
          </p:cNvSpPr>
          <p:nvPr/>
        </p:nvSpPr>
        <p:spPr>
          <a:xfrm xmlns:a="http://schemas.openxmlformats.org/drawingml/2006/main">
            <a:off x="952500"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Canonical reusable rules</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requirement coverage</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priority ordering</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role assignment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state continuity</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targeting fallback</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policy grounding</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API compliance</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Policy 與 API contract 由 Generator 另外取得。</a:t>
            </a:r>
          </a:p>
        </p:txBody>
      </p:sp>
      <p:sp>
        <p:nvSpPr>
          <p:cNvPr id="17" name="col-6-1-text">
            <a:extLst xmlns:a="http://schemas.openxmlformats.org/drawingml/2006/main">
              <a:ext uri="{FF2B5EF4-FFF2-40B4-BE49-F238E27FC236}">
                <a16:creationId xmlns:a16="http://schemas.microsoft.com/office/drawing/2014/main" id="{0BE60BA2-4F3A-4F69-A22C-64B75D3BE950}"/>
              </a:ext>
            </a:extLst>
          </p:cNvPr>
          <p:cNvSpPr>
            <a:spLocks xmlns:a="http://schemas.openxmlformats.org/drawingml/2006/main" noGrp="1"/>
          </p:cNvSpPr>
          <p:nvPr/>
        </p:nvSpPr>
        <p:spPr>
          <a:xfrm xmlns:a="http://schemas.openxmlformats.org/drawingml/2006/main">
            <a:off x="6429375"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送入 Reflection</a:t>
            </a:r>
          </a:p>
        </p:txBody>
      </p:sp>
      <p:sp>
        <p:nvSpPr>
          <p:cNvPr id="18" name="col-6-1-line">
            <a:extLst xmlns:a="http://schemas.openxmlformats.org/drawingml/2006/main">
              <a:ext uri="{FF2B5EF4-FFF2-40B4-BE49-F238E27FC236}">
                <a16:creationId xmlns:a16="http://schemas.microsoft.com/office/drawing/2014/main" id="{746E9B12-6D45-4D99-96DA-6E02190A576D}"/>
              </a:ext>
            </a:extLst>
          </p:cNvPr>
          <p:cNvSpPr>
            <a:spLocks xmlns:a="http://schemas.openxmlformats.org/drawingml/2006/main" noGrp="1"/>
          </p:cNvSpPr>
          <p:nvPr/>
        </p:nvSpPr>
        <p:spPr>
          <a:xfrm xmlns:a="http://schemas.openxmlformats.org/drawingml/2006/main">
            <a:off x="6429375"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9" name="col-body-6-1">
            <a:extLst xmlns:a="http://schemas.openxmlformats.org/drawingml/2006/main">
              <a:ext uri="{FF2B5EF4-FFF2-40B4-BE49-F238E27FC236}">
                <a16:creationId xmlns:a16="http://schemas.microsoft.com/office/drawing/2014/main" id="{29BAC7F9-93CF-45C4-AB80-D043C4BE4EBD}"/>
              </a:ext>
            </a:extLst>
          </p:cNvPr>
          <p:cNvSpPr>
            <a:spLocks xmlns:a="http://schemas.openxmlformats.org/drawingml/2006/main" noGrp="1"/>
          </p:cNvSpPr>
          <p:nvPr/>
        </p:nvSpPr>
        <p:spPr>
          <a:xfrm xmlns:a="http://schemas.openxmlformats.org/drawingml/2006/main">
            <a:off x="6429375"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current policy prompt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inherited Java editable region</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structural evidence</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immutable Java/action API contract</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Reviewer 找 policy-code alignment 問題；Rewriter 將具體 mismatch 抽象成通用 translation invariant。</a:t>
            </a:r>
          </a:p>
        </p:txBody>
      </p:sp>
      <p:sp>
        <p:nvSpPr>
          <p:cNvPr id="20" name="col-6-2-text">
            <a:extLst xmlns:a="http://schemas.openxmlformats.org/drawingml/2006/main">
              <a:ext uri="{FF2B5EF4-FFF2-40B4-BE49-F238E27FC236}">
                <a16:creationId xmlns:a16="http://schemas.microsoft.com/office/drawing/2014/main" id="{5F415BF3-17BE-464E-9D0A-3EC9479376E2}"/>
              </a:ext>
            </a:extLst>
          </p:cNvPr>
          <p:cNvSpPr>
            <a:spLocks xmlns:a="http://schemas.openxmlformats.org/drawingml/2006/main" noGrp="1"/>
          </p:cNvSpPr>
          <p:nvPr/>
        </p:nvSpPr>
        <p:spPr>
          <a:xfrm xmlns:a="http://schemas.openxmlformats.org/drawingml/2006/main">
            <a:off x="11906250" y="1952625"/>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實際輸出（trial 1）</a:t>
            </a:r>
          </a:p>
        </p:txBody>
      </p:sp>
      <p:sp>
        <p:nvSpPr>
          <p:cNvPr id="21" name="col-6-2-line">
            <a:extLst xmlns:a="http://schemas.openxmlformats.org/drawingml/2006/main">
              <a:ext uri="{FF2B5EF4-FFF2-40B4-BE49-F238E27FC236}">
                <a16:creationId xmlns:a16="http://schemas.microsoft.com/office/drawing/2014/main" id="{AEF0E6C7-4D6E-497F-A2FF-8C3A81A24F8C}"/>
              </a:ext>
            </a:extLst>
          </p:cNvPr>
          <p:cNvSpPr>
            <a:spLocks xmlns:a="http://schemas.openxmlformats.org/drawingml/2006/main" noGrp="1"/>
          </p:cNvSpPr>
          <p:nvPr/>
        </p:nvSpPr>
        <p:spPr>
          <a:xfrm xmlns:a="http://schemas.openxmlformats.org/drawingml/2006/main">
            <a:off x="11906250" y="2333625"/>
            <a:ext cx="54292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22" name="col-body-6-2">
            <a:extLst xmlns:a="http://schemas.openxmlformats.org/drawingml/2006/main">
              <a:ext uri="{FF2B5EF4-FFF2-40B4-BE49-F238E27FC236}">
                <a16:creationId xmlns:a16="http://schemas.microsoft.com/office/drawing/2014/main" id="{F2CA5D08-7E1F-4F9B-9E23-DB6BD66A8789}"/>
              </a:ext>
            </a:extLst>
          </p:cNvPr>
          <p:cNvSpPr>
            <a:spLocks xmlns:a="http://schemas.openxmlformats.org/drawingml/2006/main" noGrp="1"/>
          </p:cNvSpPr>
          <p:nvPr/>
        </p:nvSpPr>
        <p:spPr>
          <a:xfrm xmlns:a="http://schemas.openxmlformats.org/drawingml/2006/main">
            <a:off x="11906250" y="2571750"/>
            <a:ext cx="542925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 [rule-8ab9ef61ed66]</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  state_continuity</a:t>
            </a:r>
          </a:p>
          <a:p xmlns:a="http://schemas.openxmlformats.org/drawingml/2006/main">
            <a:r>
              <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“Implement continuous behavior by re-evaluating state-based conditions and mandatory actions on every decision cycle while maintaining the idle-friendly-unit guard for all units.”</a:t>
            </a:r>
          </a:p>
          <a:p xmlns:a="http://schemas.openxmlformats.org/drawingml/2006/main">
            <a:r>
              <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strategy_prompt／Java：不變</a:t>
            </a:r>
          </a:p>
        </p:txBody>
      </p:sp>
      <p:sp>
        <p:nvSpPr>
          <p:cNvPr id="23" name="band-6">
            <a:extLst xmlns:a="http://schemas.openxmlformats.org/drawingml/2006/main">
              <a:ext uri="{FF2B5EF4-FFF2-40B4-BE49-F238E27FC236}">
                <a16:creationId xmlns:a16="http://schemas.microsoft.com/office/drawing/2014/main" id="{27D96221-621B-4078-94AD-D6B74762C014}"/>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24" name="band-label-6">
            <a:extLst xmlns:a="http://schemas.openxmlformats.org/drawingml/2006/main">
              <a:ext uri="{FF2B5EF4-FFF2-40B4-BE49-F238E27FC236}">
                <a16:creationId xmlns:a16="http://schemas.microsoft.com/office/drawing/2014/main" id="{2430AA68-BC26-4C14-A403-5CB62628ABFF}"/>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驗證結論</a:t>
            </a:r>
          </a:p>
        </p:txBody>
      </p:sp>
      <p:sp>
        <p:nvSpPr>
          <p:cNvPr id="25" name="band-divider-6">
            <a:extLst xmlns:a="http://schemas.openxmlformats.org/drawingml/2006/main">
              <a:ext uri="{FF2B5EF4-FFF2-40B4-BE49-F238E27FC236}">
                <a16:creationId xmlns:a16="http://schemas.microsoft.com/office/drawing/2014/main" id="{F0A25519-2DDF-4C61-9B8E-BBB7B9CFA51E}"/>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26" name="band-text-6">
            <a:extLst xmlns:a="http://schemas.openxmlformats.org/drawingml/2006/main">
              <a:ext uri="{FF2B5EF4-FFF2-40B4-BE49-F238E27FC236}">
                <a16:creationId xmlns:a16="http://schemas.microsoft.com/office/drawing/2014/main" id="{3846E30E-5368-4F21-8314-CCC6176F7239}"/>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三次都只新增／替換 reusable rule；成功子代沒有把 Worker、Barracks、helper 名稱或 Java 片段寫進 gene。</a:t>
            </a:r>
          </a:p>
        </p:txBody>
      </p:sp>
    </p:spTree>
    <p:extLst>
      <p:ext uri="{BB962C8B-B14F-4D97-AF65-F5344CB8AC3E}">
        <p14:creationId xmlns:p14="http://schemas.microsoft.com/office/powerpoint/2010/main" val="1576043154"/>
      </p:ext>
    </p:extLst>
  </p:cSld>
</p:sld>
</file>

<file path=ppt/slides/slide7.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32" name="top-left-7">
            <a:extLst xmlns:a="http://schemas.openxmlformats.org/drawingml/2006/main">
              <a:ext uri="{FF2B5EF4-FFF2-40B4-BE49-F238E27FC236}">
                <a16:creationId xmlns:a16="http://schemas.microsoft.com/office/drawing/2014/main" id="{91E2985B-51D8-4391-9730-2BC3B3A3522A}"/>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7">
            <a:extLst xmlns:a="http://schemas.openxmlformats.org/drawingml/2006/main">
              <a:ext uri="{FF2B5EF4-FFF2-40B4-BE49-F238E27FC236}">
                <a16:creationId xmlns:a16="http://schemas.microsoft.com/office/drawing/2014/main" id="{D81F0AEC-9E2C-43DA-874C-C0555D5CEDD5}"/>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7">
            <a:extLst xmlns:a="http://schemas.openxmlformats.org/drawingml/2006/main">
              <a:ext uri="{FF2B5EF4-FFF2-40B4-BE49-F238E27FC236}">
                <a16:creationId xmlns:a16="http://schemas.microsoft.com/office/drawing/2014/main" id="{C9461EE8-F9B3-4244-99AB-D653BD8F414C}"/>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7">
            <a:extLst xmlns:a="http://schemas.openxmlformats.org/drawingml/2006/main">
              <a:ext uri="{FF2B5EF4-FFF2-40B4-BE49-F238E27FC236}">
                <a16:creationId xmlns:a16="http://schemas.microsoft.com/office/drawing/2014/main" id="{E96D9569-B5DD-4A3E-BB4F-7B4071EE5040}"/>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7">
            <a:extLst xmlns:a="http://schemas.openxmlformats.org/drawingml/2006/main">
              <a:ext uri="{FF2B5EF4-FFF2-40B4-BE49-F238E27FC236}">
                <a16:creationId xmlns:a16="http://schemas.microsoft.com/office/drawing/2014/main" id="{9E828C94-3500-4909-BEA5-3E568EDEDC6F}"/>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7">
            <a:extLst xmlns:a="http://schemas.openxmlformats.org/drawingml/2006/main">
              <a:ext uri="{FF2B5EF4-FFF2-40B4-BE49-F238E27FC236}">
                <a16:creationId xmlns:a16="http://schemas.microsoft.com/office/drawing/2014/main" id="{F7D61476-BC34-41B5-B591-B1AB8AD94E4D}"/>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PC</a:t>
            </a:r>
          </a:p>
        </p:txBody>
      </p:sp>
      <p:sp>
        <p:nvSpPr>
          <p:cNvPr id="7" name="status-7">
            <a:extLst xmlns:a="http://schemas.openxmlformats.org/drawingml/2006/main">
              <a:ext uri="{FF2B5EF4-FFF2-40B4-BE49-F238E27FC236}">
                <a16:creationId xmlns:a16="http://schemas.microsoft.com/office/drawing/2014/main" id="{DAFE1DA6-F0A5-4892-B06E-9D2D475C6438}"/>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BF872B"/>
                </a:solidFill>
                <a:latin typeface="Noto Sans CJK TC"/>
                <a:ea typeface="Noto Sans CJK TC"/>
                <a:cs typeface="Noto Sans CJK TC"/>
              </a:defRPr>
            </a:pPr>
            <a:r>
              <a:rPr sz="1275" b="1" i="0">
                <a:solidFill>
                  <a:srgbClr val="BF872B"/>
                </a:solidFill>
                <a:latin typeface="Noto Sans CJK TC"/>
                <a:ea typeface="Noto Sans CJK TC"/>
                <a:cs typeface="Noto Sans CJK TC"/>
              </a:rPr>
              <a:t>4 / 6 APPLIED · 2 SAFE REJECTIONS</a:t>
            </a:r>
          </a:p>
        </p:txBody>
      </p:sp>
      <p:sp>
        <p:nvSpPr>
          <p:cNvPr id="8" name="bottom-7">
            <a:extLst xmlns:a="http://schemas.openxmlformats.org/drawingml/2006/main">
              <a:ext uri="{FF2B5EF4-FFF2-40B4-BE49-F238E27FC236}">
                <a16:creationId xmlns:a16="http://schemas.microsoft.com/office/drawing/2014/main" id="{A7F24C09-7D25-4BA2-A1E8-CCCC52D670F6}"/>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7">
            <a:extLst xmlns:a="http://schemas.openxmlformats.org/drawingml/2006/main">
              <a:ext uri="{FF2B5EF4-FFF2-40B4-BE49-F238E27FC236}">
                <a16:creationId xmlns:a16="http://schemas.microsoft.com/office/drawing/2014/main" id="{291A5371-FF81-4807-8893-A27BA5FC9C39}"/>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07 / 14</a:t>
            </a:r>
          </a:p>
        </p:txBody>
      </p:sp>
      <p:sp>
        <p:nvSpPr>
          <p:cNvPr id="10" name="title-7">
            <a:extLst xmlns:a="http://schemas.openxmlformats.org/drawingml/2006/main">
              <a:ext uri="{FF2B5EF4-FFF2-40B4-BE49-F238E27FC236}">
                <a16:creationId xmlns:a16="http://schemas.microsoft.com/office/drawing/2014/main" id="{3C7AB7B4-BBB4-4FF6-83BB-BBB7D2B33EC6}"/>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Prompt Compliance：只修規範，不碰勝負與 Java</a:t>
            </a:r>
          </a:p>
        </p:txBody>
      </p:sp>
      <p:sp>
        <p:nvSpPr>
          <p:cNvPr id="11" name="subtitle-7">
            <a:extLst xmlns:a="http://schemas.openxmlformats.org/drawingml/2006/main">
              <a:ext uri="{FF2B5EF4-FFF2-40B4-BE49-F238E27FC236}">
                <a16:creationId xmlns:a16="http://schemas.microsoft.com/office/drawing/2014/main" id="{5422BFB8-5BB6-475B-BFDC-5E7CA8146C75}"/>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父代改成上游 Strategy／Code 子代；兩個 prompt gene 獨立稽核，只有 issue-bearing gene 會改</a:t>
            </a:r>
          </a:p>
        </p:txBody>
      </p:sp>
      <p:sp>
        <p:nvSpPr>
          <p:cNvPr id="12" name="pc-source-a-box">
            <a:extLst xmlns:a="http://schemas.openxmlformats.org/drawingml/2006/main">
              <a:ext uri="{FF2B5EF4-FFF2-40B4-BE49-F238E27FC236}">
                <a16:creationId xmlns:a16="http://schemas.microsoft.com/office/drawing/2014/main" id="{3A1CF644-7A29-4493-A67A-283611EA2257}"/>
              </a:ext>
            </a:extLst>
          </p:cNvPr>
          <p:cNvSpPr>
            <a:spLocks xmlns:a="http://schemas.openxmlformats.org/drawingml/2006/main" noGrp="1"/>
          </p:cNvSpPr>
          <p:nvPr/>
        </p:nvSpPr>
        <p:spPr>
          <a:xfrm xmlns:a="http://schemas.openxmlformats.org/drawingml/2006/main">
            <a:off x="1000125" y="2095500"/>
            <a:ext cx="3619500" cy="2095500"/>
          </a:xfrm>
          <a:prstGeom xmlns:a="http://schemas.openxmlformats.org/drawingml/2006/main" prst="roundRect">
            <a:avLst>
              <a:gd name="adj" fmla="val 8182"/>
            </a:avLst>
          </a:prstGeom>
          <a:solidFill xmlns:a="http://schemas.openxmlformats.org/drawingml/2006/main">
            <a:srgbClr val="E2EFE6"/>
          </a:solidFill>
          <a:ln xmlns:a="http://schemas.openxmlformats.org/drawingml/2006/main" w="11430">
            <a:solidFill>
              <a:srgbClr val="47795C"/>
            </a:solidFill>
            <a:prstDash val="solid"/>
          </a:ln>
        </p:spPr>
      </p:sp>
      <p:sp>
        <p:nvSpPr>
          <p:cNvPr id="13" name="pc-source-a-title">
            <a:extLst xmlns:a="http://schemas.openxmlformats.org/drawingml/2006/main">
              <a:ext uri="{FF2B5EF4-FFF2-40B4-BE49-F238E27FC236}">
                <a16:creationId xmlns:a16="http://schemas.microsoft.com/office/drawing/2014/main" id="{F0DCE350-4030-4E7C-B598-4E5C654E53C7}"/>
              </a:ext>
            </a:extLst>
          </p:cNvPr>
          <p:cNvSpPr>
            <a:spLocks xmlns:a="http://schemas.openxmlformats.org/drawingml/2006/main" noGrp="1"/>
          </p:cNvSpPr>
          <p:nvPr/>
        </p:nvSpPr>
        <p:spPr>
          <a:xfrm xmlns:a="http://schemas.openxmlformats.org/drawingml/2006/main">
            <a:off x="1228725" y="2286000"/>
            <a:ext cx="3162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47795C"/>
                </a:solidFill>
                <a:latin typeface="Noto Sans CJK TC"/>
                <a:ea typeface="Noto Sans CJK TC"/>
                <a:cs typeface="Noto Sans CJK TC"/>
              </a:defRPr>
            </a:pPr>
            <a:r>
              <a:rPr sz="1800" b="1" i="0">
                <a:solidFill>
                  <a:srgbClr val="47795C"/>
                </a:solidFill>
                <a:latin typeface="Noto Sans CJK TC"/>
                <a:ea typeface="Noto Sans CJK TC"/>
                <a:cs typeface="Noto Sans CJK TC"/>
              </a:rPr>
              <a:t>Strategy children × 3</a:t>
            </a:r>
          </a:p>
        </p:txBody>
      </p:sp>
      <p:sp>
        <p:nvSpPr>
          <p:cNvPr id="14" name="pc-source-a-body">
            <a:extLst xmlns:a="http://schemas.openxmlformats.org/drawingml/2006/main">
              <a:ext uri="{FF2B5EF4-FFF2-40B4-BE49-F238E27FC236}">
                <a16:creationId xmlns:a16="http://schemas.microsoft.com/office/drawing/2014/main" id="{4A3A4279-893B-4259-9B13-AA81DCB26965}"/>
              </a:ext>
            </a:extLst>
          </p:cNvPr>
          <p:cNvSpPr>
            <a:spLocks xmlns:a="http://schemas.openxmlformats.org/drawingml/2006/main" noGrp="1"/>
          </p:cNvSpPr>
          <p:nvPr/>
        </p:nvSpPr>
        <p:spPr>
          <a:xfrm xmlns:a="http://schemas.openxmlformats.org/drawingml/2006/main">
            <a:off x="1228725" y="2781300"/>
            <a:ext cx="31623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三份不同 strategy_prompt</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＋同一 generation_prompt</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＋同一 inherited Java</a:t>
            </a:r>
          </a:p>
        </p:txBody>
      </p:sp>
      <p:sp>
        <p:nvSpPr>
          <p:cNvPr id="15" name="pc-source-b-box">
            <a:extLst xmlns:a="http://schemas.openxmlformats.org/drawingml/2006/main">
              <a:ext uri="{FF2B5EF4-FFF2-40B4-BE49-F238E27FC236}">
                <a16:creationId xmlns:a16="http://schemas.microsoft.com/office/drawing/2014/main" id="{2716FE3D-7278-45B4-9F80-5D9B229918CA}"/>
              </a:ext>
            </a:extLst>
          </p:cNvPr>
          <p:cNvSpPr>
            <a:spLocks xmlns:a="http://schemas.openxmlformats.org/drawingml/2006/main" noGrp="1"/>
          </p:cNvSpPr>
          <p:nvPr/>
        </p:nvSpPr>
        <p:spPr>
          <a:xfrm xmlns:a="http://schemas.openxmlformats.org/drawingml/2006/main">
            <a:off x="1000125" y="4810125"/>
            <a:ext cx="3619500" cy="2095500"/>
          </a:xfrm>
          <a:prstGeom xmlns:a="http://schemas.openxmlformats.org/drawingml/2006/main" prst="roundRect">
            <a:avLst>
              <a:gd name="adj" fmla="val 8182"/>
            </a:avLst>
          </a:prstGeom>
          <a:solidFill xmlns:a="http://schemas.openxmlformats.org/drawingml/2006/main">
            <a:srgbClr val="E2EFE6"/>
          </a:solidFill>
          <a:ln xmlns:a="http://schemas.openxmlformats.org/drawingml/2006/main" w="11430">
            <a:solidFill>
              <a:srgbClr val="47795C"/>
            </a:solidFill>
            <a:prstDash val="solid"/>
          </a:ln>
        </p:spPr>
      </p:sp>
      <p:sp>
        <p:nvSpPr>
          <p:cNvPr id="16" name="pc-source-b-title">
            <a:extLst xmlns:a="http://schemas.openxmlformats.org/drawingml/2006/main">
              <a:ext uri="{FF2B5EF4-FFF2-40B4-BE49-F238E27FC236}">
                <a16:creationId xmlns:a16="http://schemas.microsoft.com/office/drawing/2014/main" id="{A5E021F7-52E5-42A4-B2C9-B1B310CEE0A2}"/>
              </a:ext>
            </a:extLst>
          </p:cNvPr>
          <p:cNvSpPr>
            <a:spLocks xmlns:a="http://schemas.openxmlformats.org/drawingml/2006/main" noGrp="1"/>
          </p:cNvSpPr>
          <p:nvPr/>
        </p:nvSpPr>
        <p:spPr>
          <a:xfrm xmlns:a="http://schemas.openxmlformats.org/drawingml/2006/main">
            <a:off x="1228725" y="5000625"/>
            <a:ext cx="3162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47795C"/>
                </a:solidFill>
                <a:latin typeface="Noto Sans CJK TC"/>
                <a:ea typeface="Noto Sans CJK TC"/>
                <a:cs typeface="Noto Sans CJK TC"/>
              </a:defRPr>
            </a:pPr>
            <a:r>
              <a:rPr sz="1800" b="1" i="0">
                <a:solidFill>
                  <a:srgbClr val="47795C"/>
                </a:solidFill>
                <a:latin typeface="Noto Sans CJK TC"/>
                <a:ea typeface="Noto Sans CJK TC"/>
                <a:cs typeface="Noto Sans CJK TC"/>
              </a:rPr>
              <a:t>Code children × 3</a:t>
            </a:r>
          </a:p>
        </p:txBody>
      </p:sp>
      <p:sp>
        <p:nvSpPr>
          <p:cNvPr id="17" name="pc-source-b-body">
            <a:extLst xmlns:a="http://schemas.openxmlformats.org/drawingml/2006/main">
              <a:ext uri="{FF2B5EF4-FFF2-40B4-BE49-F238E27FC236}">
                <a16:creationId xmlns:a16="http://schemas.microsoft.com/office/drawing/2014/main" id="{64AE9E7C-1EAD-4739-B465-E90DAC743FB4}"/>
              </a:ext>
            </a:extLst>
          </p:cNvPr>
          <p:cNvSpPr>
            <a:spLocks xmlns:a="http://schemas.openxmlformats.org/drawingml/2006/main" noGrp="1"/>
          </p:cNvSpPr>
          <p:nvPr/>
        </p:nvSpPr>
        <p:spPr>
          <a:xfrm xmlns:a="http://schemas.openxmlformats.org/drawingml/2006/main">
            <a:off x="1228725" y="5495925"/>
            <a:ext cx="31623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同一 Worker Rush strategy_prompt</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＋三份不同 reusable rules</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＋同一 inherited Java</a:t>
            </a:r>
          </a:p>
        </p:txBody>
      </p:sp>
      <p:sp>
        <p:nvSpPr>
          <p:cNvPr id="18" name="pc-arrow-arrow">
            <a:extLst xmlns:a="http://schemas.openxmlformats.org/drawingml/2006/main">
              <a:ext uri="{FF2B5EF4-FFF2-40B4-BE49-F238E27FC236}">
                <a16:creationId xmlns:a16="http://schemas.microsoft.com/office/drawing/2014/main" id="{86500C25-AB67-4A7D-AB3F-5F994E7C4B12}"/>
              </a:ext>
            </a:extLst>
          </p:cNvPr>
          <p:cNvSpPr>
            <a:spLocks xmlns:a="http://schemas.openxmlformats.org/drawingml/2006/main" noGrp="1"/>
          </p:cNvSpPr>
          <p:nvPr/>
        </p:nvSpPr>
        <p:spPr>
          <a:xfrm xmlns:a="http://schemas.openxmlformats.org/drawingml/2006/main">
            <a:off x="4762500" y="400050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2550" b="1" i="0">
                <a:solidFill>
                  <a:srgbClr val="BF872B"/>
                </a:solidFill>
                <a:latin typeface="Noto Sans CJK TC"/>
                <a:ea typeface="Noto Sans CJK TC"/>
                <a:cs typeface="Noto Sans CJK TC"/>
              </a:defRPr>
            </a:pPr>
            <a:r>
              <a:rPr sz="2550" b="1" i="0">
                <a:solidFill>
                  <a:srgbClr val="BF872B"/>
                </a:solidFill>
                <a:latin typeface="Noto Sans CJK TC"/>
                <a:ea typeface="Noto Sans CJK TC"/>
                <a:cs typeface="Noto Sans CJK TC"/>
              </a:rPr>
              <a:t>→</a:t>
            </a:r>
          </a:p>
        </p:txBody>
      </p:sp>
      <p:sp>
        <p:nvSpPr>
          <p:cNvPr id="19" name="pc-arrow-label">
            <a:extLst xmlns:a="http://schemas.openxmlformats.org/drawingml/2006/main">
              <a:ext uri="{FF2B5EF4-FFF2-40B4-BE49-F238E27FC236}">
                <a16:creationId xmlns:a16="http://schemas.microsoft.com/office/drawing/2014/main" id="{E5B26ADA-6971-4C22-AC6F-60E35CAB30BB}"/>
              </a:ext>
            </a:extLst>
          </p:cNvPr>
          <p:cNvSpPr>
            <a:spLocks xmlns:a="http://schemas.openxmlformats.org/drawingml/2006/main" noGrp="1"/>
          </p:cNvSpPr>
          <p:nvPr/>
        </p:nvSpPr>
        <p:spPr>
          <a:xfrm xmlns:a="http://schemas.openxmlformats.org/drawingml/2006/main">
            <a:off x="4476750" y="44005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6 parents</a:t>
            </a:r>
          </a:p>
        </p:txBody>
      </p:sp>
      <p:sp>
        <p:nvSpPr>
          <p:cNvPr id="20" name="pc-audit-box">
            <a:extLst xmlns:a="http://schemas.openxmlformats.org/drawingml/2006/main">
              <a:ext uri="{FF2B5EF4-FFF2-40B4-BE49-F238E27FC236}">
                <a16:creationId xmlns:a16="http://schemas.microsoft.com/office/drawing/2014/main" id="{34ABC5F9-0A35-4EFF-91D9-A183B5674795}"/>
              </a:ext>
            </a:extLst>
          </p:cNvPr>
          <p:cNvSpPr>
            <a:spLocks xmlns:a="http://schemas.openxmlformats.org/drawingml/2006/main" noGrp="1"/>
          </p:cNvSpPr>
          <p:nvPr/>
        </p:nvSpPr>
        <p:spPr>
          <a:xfrm xmlns:a="http://schemas.openxmlformats.org/drawingml/2006/main">
            <a:off x="6000750" y="2476500"/>
            <a:ext cx="4476750" cy="3810000"/>
          </a:xfrm>
          <a:prstGeom xmlns:a="http://schemas.openxmlformats.org/drawingml/2006/main" prst="roundRect">
            <a:avLst>
              <a:gd name="adj" fmla="val 4500"/>
            </a:avLst>
          </a:prstGeom>
          <a:solidFill xmlns:a="http://schemas.openxmlformats.org/drawingml/2006/main">
            <a:srgbClr val="FFFDF9"/>
          </a:solidFill>
          <a:ln xmlns:a="http://schemas.openxmlformats.org/drawingml/2006/main" w="11430">
            <a:solidFill>
              <a:srgbClr val="B95160"/>
            </a:solidFill>
            <a:prstDash val="solid"/>
          </a:ln>
        </p:spPr>
      </p:sp>
      <p:sp>
        <p:nvSpPr>
          <p:cNvPr id="21" name="pc-audit-title">
            <a:extLst xmlns:a="http://schemas.openxmlformats.org/drawingml/2006/main">
              <a:ext uri="{FF2B5EF4-FFF2-40B4-BE49-F238E27FC236}">
                <a16:creationId xmlns:a16="http://schemas.microsoft.com/office/drawing/2014/main" id="{3157BA0F-A545-4B90-9A02-B046A90DA08C}"/>
              </a:ext>
            </a:extLst>
          </p:cNvPr>
          <p:cNvSpPr>
            <a:spLocks xmlns:a="http://schemas.openxmlformats.org/drawingml/2006/main" noGrp="1"/>
          </p:cNvSpPr>
          <p:nvPr/>
        </p:nvSpPr>
        <p:spPr>
          <a:xfrm xmlns:a="http://schemas.openxmlformats.org/drawingml/2006/main">
            <a:off x="6229350" y="2667000"/>
            <a:ext cx="401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B95160"/>
                </a:solidFill>
                <a:latin typeface="Noto Sans CJK TC"/>
                <a:ea typeface="Noto Sans CJK TC"/>
                <a:cs typeface="Noto Sans CJK TC"/>
              </a:defRPr>
            </a:pPr>
            <a:r>
              <a:rPr sz="1800" b="1" i="0">
                <a:solidFill>
                  <a:srgbClr val="B95160"/>
                </a:solidFill>
                <a:latin typeface="Noto Sans CJK TC"/>
                <a:ea typeface="Noto Sans CJK TC"/>
                <a:cs typeface="Noto Sans CJK TC"/>
              </a:rPr>
              <a:t>獨立 audit</a:t>
            </a:r>
          </a:p>
        </p:txBody>
      </p:sp>
      <p:sp>
        <p:nvSpPr>
          <p:cNvPr id="22" name="pc-audit-body">
            <a:extLst xmlns:a="http://schemas.openxmlformats.org/drawingml/2006/main">
              <a:ext uri="{FF2B5EF4-FFF2-40B4-BE49-F238E27FC236}">
                <a16:creationId xmlns:a16="http://schemas.microsoft.com/office/drawing/2014/main" id="{D6D35FCA-917D-45DA-B4B0-515605C84C08}"/>
              </a:ext>
            </a:extLst>
          </p:cNvPr>
          <p:cNvSpPr>
            <a:spLocks xmlns:a="http://schemas.openxmlformats.org/drawingml/2006/main" noGrp="1"/>
          </p:cNvSpPr>
          <p:nvPr/>
        </p:nvSpPr>
        <p:spPr>
          <a:xfrm xmlns:a="http://schemas.openxmlformats.org/drawingml/2006/main">
            <a:off x="6229350" y="3162300"/>
            <a:ext cx="40195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strategy_prompt</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nonexistent game concept</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unavailable state</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illegal action / production</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ambiguous / conflicting rule</a:t>
            </a:r>
          </a:p>
          <a:p xmlns:a="http://schemas.openxmlformats.org/drawingml/2006/main">
            <a:r>
              <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code_generation_prompt</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policy-specific content</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unsupported API assumption</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scaffold violation</a:t>
            </a:r>
          </a:p>
          <a:p xmlns:a="http://schemas.openxmlformats.org/drawingml/2006/main">
            <a:pPr algn="l">
              <a:lnSpc>
                <a:spcPct val="112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conflicting reusable rules</a:t>
            </a:r>
          </a:p>
        </p:txBody>
      </p:sp>
      <p:sp>
        <p:nvSpPr>
          <p:cNvPr id="23" name="pc-arrow-2-arrow">
            <a:extLst xmlns:a="http://schemas.openxmlformats.org/drawingml/2006/main">
              <a:ext uri="{FF2B5EF4-FFF2-40B4-BE49-F238E27FC236}">
                <a16:creationId xmlns:a16="http://schemas.microsoft.com/office/drawing/2014/main" id="{F857C4F5-7D50-45D8-B2AE-7DB1288C3947}"/>
              </a:ext>
            </a:extLst>
          </p:cNvPr>
          <p:cNvSpPr>
            <a:spLocks xmlns:a="http://schemas.openxmlformats.org/drawingml/2006/main" noGrp="1"/>
          </p:cNvSpPr>
          <p:nvPr/>
        </p:nvSpPr>
        <p:spPr>
          <a:xfrm xmlns:a="http://schemas.openxmlformats.org/drawingml/2006/main">
            <a:off x="10572750" y="400050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2550" b="1" i="0">
                <a:solidFill>
                  <a:srgbClr val="BF872B"/>
                </a:solidFill>
                <a:latin typeface="Noto Sans CJK TC"/>
                <a:ea typeface="Noto Sans CJK TC"/>
                <a:cs typeface="Noto Sans CJK TC"/>
              </a:defRPr>
            </a:pPr>
            <a:r>
              <a:rPr sz="2550" b="1" i="0">
                <a:solidFill>
                  <a:srgbClr val="BF872B"/>
                </a:solidFill>
                <a:latin typeface="Noto Sans CJK TC"/>
                <a:ea typeface="Noto Sans CJK TC"/>
                <a:cs typeface="Noto Sans CJK TC"/>
              </a:rPr>
              <a:t>→</a:t>
            </a:r>
          </a:p>
        </p:txBody>
      </p:sp>
      <p:sp>
        <p:nvSpPr>
          <p:cNvPr id="24" name="pc-arrow-2-label">
            <a:extLst xmlns:a="http://schemas.openxmlformats.org/drawingml/2006/main">
              <a:ext uri="{FF2B5EF4-FFF2-40B4-BE49-F238E27FC236}">
                <a16:creationId xmlns:a16="http://schemas.microsoft.com/office/drawing/2014/main" id="{2AB9993F-8769-40A6-9F13-9ACC5C23BC78}"/>
              </a:ext>
            </a:extLst>
          </p:cNvPr>
          <p:cNvSpPr>
            <a:spLocks xmlns:a="http://schemas.openxmlformats.org/drawingml/2006/main" noGrp="1"/>
          </p:cNvSpPr>
          <p:nvPr/>
        </p:nvSpPr>
        <p:spPr>
          <a:xfrm xmlns:a="http://schemas.openxmlformats.org/drawingml/2006/main">
            <a:off x="10287000" y="44005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selective rewrite</a:t>
            </a:r>
          </a:p>
        </p:txBody>
      </p:sp>
      <p:sp>
        <p:nvSpPr>
          <p:cNvPr id="25" name="pc-out-box">
            <a:extLst xmlns:a="http://schemas.openxmlformats.org/drawingml/2006/main">
              <a:ext uri="{FF2B5EF4-FFF2-40B4-BE49-F238E27FC236}">
                <a16:creationId xmlns:a16="http://schemas.microsoft.com/office/drawing/2014/main" id="{D959AE2F-A76D-4782-8049-E47EA149EE63}"/>
              </a:ext>
            </a:extLst>
          </p:cNvPr>
          <p:cNvSpPr>
            <a:spLocks xmlns:a="http://schemas.openxmlformats.org/drawingml/2006/main" noGrp="1"/>
          </p:cNvSpPr>
          <p:nvPr/>
        </p:nvSpPr>
        <p:spPr>
          <a:xfrm xmlns:a="http://schemas.openxmlformats.org/drawingml/2006/main">
            <a:off x="11811000" y="2095500"/>
            <a:ext cx="5381625" cy="4810125"/>
          </a:xfrm>
          <a:prstGeom xmlns:a="http://schemas.openxmlformats.org/drawingml/2006/main" prst="roundRect">
            <a:avLst>
              <a:gd name="adj" fmla="val 3564"/>
            </a:avLst>
          </a:prstGeom>
          <a:solidFill xmlns:a="http://schemas.openxmlformats.org/drawingml/2006/main">
            <a:srgbClr val="F7E7C8"/>
          </a:solidFill>
          <a:ln xmlns:a="http://schemas.openxmlformats.org/drawingml/2006/main" w="11430">
            <a:solidFill>
              <a:srgbClr val="BF872B"/>
            </a:solidFill>
            <a:prstDash val="solid"/>
          </a:ln>
        </p:spPr>
      </p:sp>
      <p:sp>
        <p:nvSpPr>
          <p:cNvPr id="26" name="pc-out-title">
            <a:extLst xmlns:a="http://schemas.openxmlformats.org/drawingml/2006/main">
              <a:ext uri="{FF2B5EF4-FFF2-40B4-BE49-F238E27FC236}">
                <a16:creationId xmlns:a16="http://schemas.microsoft.com/office/drawing/2014/main" id="{B0146B08-A70B-44ED-BE60-6D7D58C3F9B8}"/>
              </a:ext>
            </a:extLst>
          </p:cNvPr>
          <p:cNvSpPr>
            <a:spLocks xmlns:a="http://schemas.openxmlformats.org/drawingml/2006/main" noGrp="1"/>
          </p:cNvSpPr>
          <p:nvPr/>
        </p:nvSpPr>
        <p:spPr>
          <a:xfrm xmlns:a="http://schemas.openxmlformats.org/drawingml/2006/main">
            <a:off x="12039600" y="2286000"/>
            <a:ext cx="4924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BF872B"/>
                </a:solidFill>
                <a:latin typeface="Noto Sans CJK TC"/>
                <a:ea typeface="Noto Sans CJK TC"/>
                <a:cs typeface="Noto Sans CJK TC"/>
              </a:defRPr>
            </a:pPr>
            <a:r>
              <a:rPr sz="1800" b="1" i="0">
                <a:solidFill>
                  <a:srgbClr val="BF872B"/>
                </a:solidFill>
                <a:latin typeface="Noto Sans CJK TC"/>
                <a:ea typeface="Noto Sans CJK TC"/>
                <a:cs typeface="Noto Sans CJK TC"/>
              </a:rPr>
              <a:t>本次實際結果</a:t>
            </a:r>
          </a:p>
        </p:txBody>
      </p:sp>
      <p:sp>
        <p:nvSpPr>
          <p:cNvPr id="27" name="pc-out-body">
            <a:extLst xmlns:a="http://schemas.openxmlformats.org/drawingml/2006/main">
              <a:ext uri="{FF2B5EF4-FFF2-40B4-BE49-F238E27FC236}">
                <a16:creationId xmlns:a16="http://schemas.microsoft.com/office/drawing/2014/main" id="{B5D68245-93F2-4AF6-9FFF-B6490D8E6409}"/>
              </a:ext>
            </a:extLst>
          </p:cNvPr>
          <p:cNvSpPr>
            <a:spLocks xmlns:a="http://schemas.openxmlformats.org/drawingml/2006/main" noGrp="1"/>
          </p:cNvSpPr>
          <p:nvPr/>
        </p:nvSpPr>
        <p:spPr>
          <a:xfrm xmlns:a="http://schemas.openxmlformats.org/drawingml/2006/main">
            <a:off x="12039600" y="2781300"/>
            <a:ext cx="4924425" cy="393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Applied 4</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trial 1 / 3 / 5 / 6</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實際都只改 strategy_prompt</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generation_prompt、Java 不變</a:t>
            </a:r>
          </a:p>
          <a:p xmlns:a="http://schemas.openxmlformats.org/drawingml/2006/main">
            <a:r>
              <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Rejected 2</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trial 2：range validator 誤判</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trial 4：輸出 schema／規則不合格</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actual_changed_fields = []</a:t>
            </a:r>
          </a:p>
        </p:txBody>
      </p:sp>
      <p:sp>
        <p:nvSpPr>
          <p:cNvPr id="28" name="band-7">
            <a:extLst xmlns:a="http://schemas.openxmlformats.org/drawingml/2006/main">
              <a:ext uri="{FF2B5EF4-FFF2-40B4-BE49-F238E27FC236}">
                <a16:creationId xmlns:a16="http://schemas.microsoft.com/office/drawing/2014/main" id="{092FCD69-0510-4D81-8F49-5723B4AB6EF0}"/>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29" name="band-label-7">
            <a:extLst xmlns:a="http://schemas.openxmlformats.org/drawingml/2006/main">
              <a:ext uri="{FF2B5EF4-FFF2-40B4-BE49-F238E27FC236}">
                <a16:creationId xmlns:a16="http://schemas.microsoft.com/office/drawing/2014/main" id="{2AEBE313-098E-4958-867B-1692827C09CE}"/>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驗證結論</a:t>
            </a:r>
          </a:p>
        </p:txBody>
      </p:sp>
      <p:sp>
        <p:nvSpPr>
          <p:cNvPr id="30" name="band-divider-7">
            <a:extLst xmlns:a="http://schemas.openxmlformats.org/drawingml/2006/main">
              <a:ext uri="{FF2B5EF4-FFF2-40B4-BE49-F238E27FC236}">
                <a16:creationId xmlns:a16="http://schemas.microsoft.com/office/drawing/2014/main" id="{3878D7C7-D5A5-4C3F-9D69-BAACF9341B65}"/>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31" name="band-text-7">
            <a:extLst xmlns:a="http://schemas.openxmlformats.org/drawingml/2006/main">
              <a:ext uri="{FF2B5EF4-FFF2-40B4-BE49-F238E27FC236}">
                <a16:creationId xmlns:a16="http://schemas.microsoft.com/office/drawing/2014/main" id="{D0F515E0-14DC-4D91-AF64-C9C1116E9748}"/>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方向正確：Compliance 沒有重新設計策略強弱，只把不可執行／不合規的敘述改成 closed-world 規則。</a:t>
            </a:r>
          </a:p>
        </p:txBody>
      </p:sp>
    </p:spTree>
    <p:extLst>
      <p:ext uri="{BB962C8B-B14F-4D97-AF65-F5344CB8AC3E}">
        <p14:creationId xmlns:p14="http://schemas.microsoft.com/office/powerpoint/2010/main" val="929433604"/>
      </p:ext>
    </p:extLst>
  </p:cSld>
</p:sld>
</file>

<file path=ppt/slides/slide8.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3" name="top-left-8">
            <a:extLst xmlns:a="http://schemas.openxmlformats.org/drawingml/2006/main">
              <a:ext uri="{FF2B5EF4-FFF2-40B4-BE49-F238E27FC236}">
                <a16:creationId xmlns:a16="http://schemas.microsoft.com/office/drawing/2014/main" id="{3367645B-01B4-4C17-80C4-7D78628134FA}"/>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8">
            <a:extLst xmlns:a="http://schemas.openxmlformats.org/drawingml/2006/main">
              <a:ext uri="{FF2B5EF4-FFF2-40B4-BE49-F238E27FC236}">
                <a16:creationId xmlns:a16="http://schemas.microsoft.com/office/drawing/2014/main" id="{F6E36E8D-827C-4957-9CA3-45C35667C5DD}"/>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8">
            <a:extLst xmlns:a="http://schemas.openxmlformats.org/drawingml/2006/main">
              <a:ext uri="{FF2B5EF4-FFF2-40B4-BE49-F238E27FC236}">
                <a16:creationId xmlns:a16="http://schemas.microsoft.com/office/drawing/2014/main" id="{113FE269-5DE5-4503-B73E-E9E0E3CABA57}"/>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8">
            <a:extLst xmlns:a="http://schemas.openxmlformats.org/drawingml/2006/main">
              <a:ext uri="{FF2B5EF4-FFF2-40B4-BE49-F238E27FC236}">
                <a16:creationId xmlns:a16="http://schemas.microsoft.com/office/drawing/2014/main" id="{90E2402E-F2A0-4FAF-A41E-7644834E9AE7}"/>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8">
            <a:extLst xmlns:a="http://schemas.openxmlformats.org/drawingml/2006/main">
              <a:ext uri="{FF2B5EF4-FFF2-40B4-BE49-F238E27FC236}">
                <a16:creationId xmlns:a16="http://schemas.microsoft.com/office/drawing/2014/main" id="{080FF263-C6D6-4F1F-8E4B-BFE41F86ABCD}"/>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8">
            <a:extLst xmlns:a="http://schemas.openxmlformats.org/drawingml/2006/main">
              <a:ext uri="{FF2B5EF4-FFF2-40B4-BE49-F238E27FC236}">
                <a16:creationId xmlns:a16="http://schemas.microsoft.com/office/drawing/2014/main" id="{D1380644-45DF-440B-83E8-1CF450D587A9}"/>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04</a:t>
            </a:r>
          </a:p>
        </p:txBody>
      </p:sp>
      <p:sp>
        <p:nvSpPr>
          <p:cNvPr id="7" name="status-8">
            <a:extLst xmlns:a="http://schemas.openxmlformats.org/drawingml/2006/main">
              <a:ext uri="{FF2B5EF4-FFF2-40B4-BE49-F238E27FC236}">
                <a16:creationId xmlns:a16="http://schemas.microsoft.com/office/drawing/2014/main" id="{5C619C61-13B2-439F-AF40-99443AC7AFD9}"/>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BF872B"/>
                </a:solidFill>
                <a:latin typeface="Noto Sans CJK TC"/>
                <a:ea typeface="Noto Sans CJK TC"/>
                <a:cs typeface="Noto Sans CJK TC"/>
              </a:defRPr>
            </a:pPr>
            <a:r>
              <a:rPr sz="1275" b="1" i="0">
                <a:solidFill>
                  <a:srgbClr val="BF872B"/>
                </a:solidFill>
                <a:latin typeface="Noto Sans CJK TC"/>
                <a:ea typeface="Noto Sans CJK TC"/>
                <a:cs typeface="Noto Sans CJK TC"/>
              </a:rPr>
              <a:t>HISTORICAL FAILURES · CURRENTLY ADDRESSED</a:t>
            </a:r>
          </a:p>
        </p:txBody>
      </p:sp>
      <p:sp>
        <p:nvSpPr>
          <p:cNvPr id="8" name="bottom-8">
            <a:extLst xmlns:a="http://schemas.openxmlformats.org/drawingml/2006/main">
              <a:ext uri="{FF2B5EF4-FFF2-40B4-BE49-F238E27FC236}">
                <a16:creationId xmlns:a16="http://schemas.microsoft.com/office/drawing/2014/main" id="{0215DC11-7CFA-42E4-A24C-90992F05E233}"/>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8">
            <a:extLst xmlns:a="http://schemas.openxmlformats.org/drawingml/2006/main">
              <a:ext uri="{FF2B5EF4-FFF2-40B4-BE49-F238E27FC236}">
                <a16:creationId xmlns:a16="http://schemas.microsoft.com/office/drawing/2014/main" id="{8DBA3BE3-B8BB-4859-B16B-17A0F8948C5D}"/>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08 / 14</a:t>
            </a:r>
          </a:p>
        </p:txBody>
      </p:sp>
      <p:sp>
        <p:nvSpPr>
          <p:cNvPr id="10" name="title-8">
            <a:extLst xmlns:a="http://schemas.openxmlformats.org/drawingml/2006/main">
              <a:ext uri="{FF2B5EF4-FFF2-40B4-BE49-F238E27FC236}">
                <a16:creationId xmlns:a16="http://schemas.microsoft.com/office/drawing/2014/main" id="{D720AAAD-746A-4A39-8402-5EB3D6CFEF78}"/>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兩次失敗告訴我們什麼</a:t>
            </a:r>
          </a:p>
        </p:txBody>
      </p:sp>
      <p:sp>
        <p:nvSpPr>
          <p:cNvPr id="11" name="subtitle-8">
            <a:extLst xmlns:a="http://schemas.openxmlformats.org/drawingml/2006/main">
              <a:ext uri="{FF2B5EF4-FFF2-40B4-BE49-F238E27FC236}">
                <a16:creationId xmlns:a16="http://schemas.microsoft.com/office/drawing/2014/main" id="{56C39379-DCC0-436F-9B2E-6B9BB9561083}"/>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保留真實失敗：它們指出 validator 與輸出契約需要修正，而不是要把主 meta-prompt 無限加長</a:t>
            </a:r>
          </a:p>
        </p:txBody>
      </p:sp>
      <p:sp>
        <p:nvSpPr>
          <p:cNvPr id="12" name="failure-two-text">
            <a:extLst xmlns:a="http://schemas.openxmlformats.org/drawingml/2006/main">
              <a:ext uri="{FF2B5EF4-FFF2-40B4-BE49-F238E27FC236}">
                <a16:creationId xmlns:a16="http://schemas.microsoft.com/office/drawing/2014/main" id="{07D1D429-841F-4C1E-B1EE-1CFB9645FCF3}"/>
              </a:ext>
            </a:extLst>
          </p:cNvPr>
          <p:cNvSpPr>
            <a:spLocks xmlns:a="http://schemas.openxmlformats.org/drawingml/2006/main" noGrp="1"/>
          </p:cNvSpPr>
          <p:nvPr/>
        </p:nvSpPr>
        <p:spPr>
          <a:xfrm xmlns:a="http://schemas.openxmlformats.org/drawingml/2006/main">
            <a:off x="1000125" y="200025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Trial 2｜合法接近動作被誤判</a:t>
            </a:r>
          </a:p>
        </p:txBody>
      </p:sp>
      <p:sp>
        <p:nvSpPr>
          <p:cNvPr id="13" name="failure-two-line">
            <a:extLst xmlns:a="http://schemas.openxmlformats.org/drawingml/2006/main">
              <a:ext uri="{FF2B5EF4-FFF2-40B4-BE49-F238E27FC236}">
                <a16:creationId xmlns:a16="http://schemas.microsoft.com/office/drawing/2014/main" id="{E236BAD3-1F10-4404-8BC3-6376FD88FD06}"/>
              </a:ext>
            </a:extLst>
          </p:cNvPr>
          <p:cNvSpPr>
            <a:spLocks xmlns:a="http://schemas.openxmlformats.org/drawingml/2006/main" noGrp="1"/>
          </p:cNvSpPr>
          <p:nvPr/>
        </p:nvSpPr>
        <p:spPr>
          <a:xfrm xmlns:a="http://schemas.openxmlformats.org/drawingml/2006/main">
            <a:off x="1000125" y="2381250"/>
            <a:ext cx="75247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4" name="failure-two-body">
            <a:extLst xmlns:a="http://schemas.openxmlformats.org/drawingml/2006/main">
              <a:ext uri="{FF2B5EF4-FFF2-40B4-BE49-F238E27FC236}">
                <a16:creationId xmlns:a16="http://schemas.microsoft.com/office/drawing/2014/main" id="{DD8CBC8F-2A54-421D-A97C-384207AF627D}"/>
              </a:ext>
            </a:extLst>
          </p:cNvPr>
          <p:cNvSpPr>
            <a:spLocks xmlns:a="http://schemas.openxmlformats.org/drawingml/2006/main" noGrp="1"/>
          </p:cNvSpPr>
          <p:nvPr/>
        </p:nvSpPr>
        <p:spPr>
          <a:xfrm xmlns:a="http://schemas.openxmlformats.org/drawingml/2006/main">
            <a:off x="1000125" y="2619375"/>
            <a:ext cx="7524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歷史輸出</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Light 發現 range 3 內的 Ranged，先移動，進入 range 1 後再攻擊。</a:t>
            </a:r>
          </a:p>
          <a:p xmlns:a="http://schemas.openxmlformats.org/drawingml/2006/main">
            <a:r>
              <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當時結果</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Validator 把條件中的 range 3 誤當成 Light 的 attack range，因此拒絕。</a:t>
            </a:r>
          </a:p>
          <a:p xmlns:a="http://schemas.openxmlformats.org/drawingml/2006/main">
            <a:r>
              <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目前修正</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明確區分 observation／approach distance 與 attack range</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attack range 由 acting unit 決定</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合法「移動後再攻擊」不再因觀察距離被誤判</a:t>
            </a:r>
          </a:p>
        </p:txBody>
      </p:sp>
      <p:sp>
        <p:nvSpPr>
          <p:cNvPr id="15" name="failure-divider">
            <a:extLst xmlns:a="http://schemas.openxmlformats.org/drawingml/2006/main">
              <a:ext uri="{FF2B5EF4-FFF2-40B4-BE49-F238E27FC236}">
                <a16:creationId xmlns:a16="http://schemas.microsoft.com/office/drawing/2014/main" id="{4A694644-D868-42EA-A8A0-D2EE6E9C4CBC}"/>
              </a:ext>
            </a:extLst>
          </p:cNvPr>
          <p:cNvSpPr>
            <a:spLocks xmlns:a="http://schemas.openxmlformats.org/drawingml/2006/main" noGrp="1"/>
          </p:cNvSpPr>
          <p:nvPr/>
        </p:nvSpPr>
        <p:spPr>
          <a:xfrm xmlns:a="http://schemas.openxmlformats.org/drawingml/2006/main">
            <a:off x="9096375" y="2095500"/>
            <a:ext cx="0" cy="5286375"/>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6" name="failure-four-text">
            <a:extLst xmlns:a="http://schemas.openxmlformats.org/drawingml/2006/main">
              <a:ext uri="{FF2B5EF4-FFF2-40B4-BE49-F238E27FC236}">
                <a16:creationId xmlns:a16="http://schemas.microsoft.com/office/drawing/2014/main" id="{7ED41DB2-0C48-4D83-9883-5ECCDE6A143C}"/>
              </a:ext>
            </a:extLst>
          </p:cNvPr>
          <p:cNvSpPr>
            <a:spLocks xmlns:a="http://schemas.openxmlformats.org/drawingml/2006/main" noGrp="1"/>
          </p:cNvSpPr>
          <p:nvPr/>
        </p:nvSpPr>
        <p:spPr>
          <a:xfrm xmlns:a="http://schemas.openxmlformats.org/drawingml/2006/main">
            <a:off x="9667875" y="200025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Trial 4｜Schema 與規則持續不合格</a:t>
            </a:r>
          </a:p>
        </p:txBody>
      </p:sp>
      <p:sp>
        <p:nvSpPr>
          <p:cNvPr id="17" name="failure-four-line">
            <a:extLst xmlns:a="http://schemas.openxmlformats.org/drawingml/2006/main">
              <a:ext uri="{FF2B5EF4-FFF2-40B4-BE49-F238E27FC236}">
                <a16:creationId xmlns:a16="http://schemas.microsoft.com/office/drawing/2014/main" id="{334882A4-6AF0-4DD3-8469-311988F927B9}"/>
              </a:ext>
            </a:extLst>
          </p:cNvPr>
          <p:cNvSpPr>
            <a:spLocks xmlns:a="http://schemas.openxmlformats.org/drawingml/2006/main" noGrp="1"/>
          </p:cNvSpPr>
          <p:nvPr/>
        </p:nvSpPr>
        <p:spPr>
          <a:xfrm xmlns:a="http://schemas.openxmlformats.org/drawingml/2006/main">
            <a:off x="9667875" y="2381250"/>
            <a:ext cx="75247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8" name="failure-four-body">
            <a:extLst xmlns:a="http://schemas.openxmlformats.org/drawingml/2006/main">
              <a:ext uri="{FF2B5EF4-FFF2-40B4-BE49-F238E27FC236}">
                <a16:creationId xmlns:a16="http://schemas.microsoft.com/office/drawing/2014/main" id="{309E48AB-D304-485B-AB41-C4942EE4AF55}"/>
              </a:ext>
            </a:extLst>
          </p:cNvPr>
          <p:cNvSpPr>
            <a:spLocks xmlns:a="http://schemas.openxmlformats.org/drawingml/2006/main" noGrp="1"/>
          </p:cNvSpPr>
          <p:nvPr/>
        </p:nvSpPr>
        <p:spPr>
          <a:xfrm xmlns:a="http://schemas.openxmlformats.org/drawingml/2006/main">
            <a:off x="9667875" y="2619375"/>
            <a:ext cx="7524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歷史輸出</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部分 attempt 把 revised_strategy_prompt 回成 array；其他 attempt 仍混入 Worker／Light 的錯誤攻擊距離或互相矛盾條件。</a:t>
            </a:r>
          </a:p>
          <a:p xmlns:a="http://schemas.openxmlformats.org/drawingml/2006/main">
            <a:r>
              <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當時結果</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所有 retries 均未形成可接受字串 policy；父代 prompt 與 Java 原封不動。</a:t>
            </a:r>
          </a:p>
          <a:p xmlns:a="http://schemas.openxmlformats.org/drawingml/2006/main">
            <a:r>
              <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目前修正</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exactly one JSON object</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revised_strategy_prompt 必須是 non-empty string</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retry 收到原輸出＋精確 validation error</a:t>
            </a:r>
          </a:p>
          <a:p xmlns:a="http://schemas.openxmlformats.org/drawingml/2006/main">
            <a:pPr algn="l">
              <a:lnSpc>
                <a:spcPct val="12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最多 3 次；仍錯就安全拒絕</a:t>
            </a:r>
          </a:p>
        </p:txBody>
      </p:sp>
      <p:sp>
        <p:nvSpPr>
          <p:cNvPr id="19" name="band-8">
            <a:extLst xmlns:a="http://schemas.openxmlformats.org/drawingml/2006/main">
              <a:ext uri="{FF2B5EF4-FFF2-40B4-BE49-F238E27FC236}">
                <a16:creationId xmlns:a16="http://schemas.microsoft.com/office/drawing/2014/main" id="{806219B3-B9A1-4E1D-AEEB-ACCD8E43565A}"/>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F7E7C8"/>
          </a:solidFill>
          <a:ln xmlns:a="http://schemas.openxmlformats.org/drawingml/2006/main" w="11430">
            <a:solidFill>
              <a:srgbClr val="BF872B"/>
            </a:solidFill>
            <a:prstDash val="solid"/>
          </a:ln>
        </p:spPr>
      </p:sp>
      <p:sp>
        <p:nvSpPr>
          <p:cNvPr id="20" name="band-label-8">
            <a:extLst xmlns:a="http://schemas.openxmlformats.org/drawingml/2006/main">
              <a:ext uri="{FF2B5EF4-FFF2-40B4-BE49-F238E27FC236}">
                <a16:creationId xmlns:a16="http://schemas.microsoft.com/office/drawing/2014/main" id="{59EBFE4A-E069-4C06-8B9C-646D86303EC8}"/>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BF872B"/>
                </a:solidFill>
                <a:latin typeface="Noto Sans CJK TC"/>
                <a:ea typeface="Noto Sans CJK TC"/>
                <a:cs typeface="Noto Sans CJK TC"/>
              </a:defRPr>
            </a:pPr>
            <a:r>
              <a:rPr sz="1275" b="1" i="0">
                <a:solidFill>
                  <a:srgbClr val="BF872B"/>
                </a:solidFill>
                <a:latin typeface="Noto Sans CJK TC"/>
                <a:ea typeface="Noto Sans CJK TC"/>
                <a:cs typeface="Noto Sans CJK TC"/>
              </a:rPr>
              <a:t>設計取向</a:t>
            </a:r>
          </a:p>
        </p:txBody>
      </p:sp>
      <p:sp>
        <p:nvSpPr>
          <p:cNvPr id="21" name="band-divider-8">
            <a:extLst xmlns:a="http://schemas.openxmlformats.org/drawingml/2006/main">
              <a:ext uri="{FF2B5EF4-FFF2-40B4-BE49-F238E27FC236}">
                <a16:creationId xmlns:a16="http://schemas.microsoft.com/office/drawing/2014/main" id="{6A95A37F-88A9-41F8-8888-1C6DED83ABCC}"/>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BF872B"/>
            </a:solidFill>
            <a:prstDash val="solid"/>
          </a:ln>
        </p:spPr>
      </p:sp>
      <p:sp>
        <p:nvSpPr>
          <p:cNvPr id="22" name="band-text-8">
            <a:extLst xmlns:a="http://schemas.openxmlformats.org/drawingml/2006/main">
              <a:ext uri="{FF2B5EF4-FFF2-40B4-BE49-F238E27FC236}">
                <a16:creationId xmlns:a16="http://schemas.microsoft.com/office/drawing/2014/main" id="{3A65528D-F479-48DA-A584-4E8741869EB2}"/>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LLM 不必保證一次成功；系統只要提供充分規則、精確回饋與有限重試，最後不讓無效 mutation 落地。</a:t>
            </a:r>
          </a:p>
        </p:txBody>
      </p:sp>
    </p:spTree>
    <p:extLst>
      <p:ext uri="{BB962C8B-B14F-4D97-AF65-F5344CB8AC3E}">
        <p14:creationId xmlns:p14="http://schemas.microsoft.com/office/powerpoint/2010/main" val="479492331"/>
      </p:ext>
    </p:extLst>
  </p:cSld>
</p:sld>
</file>

<file path=ppt/slides/slide9.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32" name="top-left-9">
            <a:extLst xmlns:a="http://schemas.openxmlformats.org/drawingml/2006/main">
              <a:ext uri="{FF2B5EF4-FFF2-40B4-BE49-F238E27FC236}">
                <a16:creationId xmlns:a16="http://schemas.microsoft.com/office/drawing/2014/main" id="{B1DD7801-6AC1-4A1E-95AC-60D90D2C1DD0}"/>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9">
            <a:extLst xmlns:a="http://schemas.openxmlformats.org/drawingml/2006/main">
              <a:ext uri="{FF2B5EF4-FFF2-40B4-BE49-F238E27FC236}">
                <a16:creationId xmlns:a16="http://schemas.microsoft.com/office/drawing/2014/main" id="{2FF4AD96-4227-4AE4-8621-CE0B26010436}"/>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9">
            <a:extLst xmlns:a="http://schemas.openxmlformats.org/drawingml/2006/main">
              <a:ext uri="{FF2B5EF4-FFF2-40B4-BE49-F238E27FC236}">
                <a16:creationId xmlns:a16="http://schemas.microsoft.com/office/drawing/2014/main" id="{A0A5EAE1-F048-4E3D-8818-0A371DC7F5DD}"/>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9">
            <a:extLst xmlns:a="http://schemas.openxmlformats.org/drawingml/2006/main">
              <a:ext uri="{FF2B5EF4-FFF2-40B4-BE49-F238E27FC236}">
                <a16:creationId xmlns:a16="http://schemas.microsoft.com/office/drawing/2014/main" id="{1B3E9674-187E-4C82-B679-C39E93712BBC}"/>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9">
            <a:extLst xmlns:a="http://schemas.openxmlformats.org/drawingml/2006/main">
              <a:ext uri="{FF2B5EF4-FFF2-40B4-BE49-F238E27FC236}">
                <a16:creationId xmlns:a16="http://schemas.microsoft.com/office/drawing/2014/main" id="{AEC5463D-5EC8-4D32-A19A-CB4485A25FFF}"/>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9">
            <a:extLst xmlns:a="http://schemas.openxmlformats.org/drawingml/2006/main">
              <a:ext uri="{FF2B5EF4-FFF2-40B4-BE49-F238E27FC236}">
                <a16:creationId xmlns:a16="http://schemas.microsoft.com/office/drawing/2014/main" id="{97DE393D-39AC-4E6A-B3FB-9B0CEA9C354F}"/>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05</a:t>
            </a:r>
          </a:p>
        </p:txBody>
      </p:sp>
      <p:sp>
        <p:nvSpPr>
          <p:cNvPr id="7" name="status-9">
            <a:extLst xmlns:a="http://schemas.openxmlformats.org/drawingml/2006/main">
              <a:ext uri="{FF2B5EF4-FFF2-40B4-BE49-F238E27FC236}">
                <a16:creationId xmlns:a16="http://schemas.microsoft.com/office/drawing/2014/main" id="{D3DFEF1E-CC34-4913-B36C-E618D0505A14}"/>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CURRENT PROMPT ARCHITECTURE</a:t>
            </a:r>
          </a:p>
        </p:txBody>
      </p:sp>
      <p:sp>
        <p:nvSpPr>
          <p:cNvPr id="8" name="bottom-9">
            <a:extLst xmlns:a="http://schemas.openxmlformats.org/drawingml/2006/main">
              <a:ext uri="{FF2B5EF4-FFF2-40B4-BE49-F238E27FC236}">
                <a16:creationId xmlns:a16="http://schemas.microsoft.com/office/drawing/2014/main" id="{24F23C7D-ED10-45BB-90F8-B9E6BE20D5E6}"/>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9">
            <a:extLst xmlns:a="http://schemas.openxmlformats.org/drawingml/2006/main">
              <a:ext uri="{FF2B5EF4-FFF2-40B4-BE49-F238E27FC236}">
                <a16:creationId xmlns:a16="http://schemas.microsoft.com/office/drawing/2014/main" id="{735BDD6D-BD4B-49B0-9E1B-DDCA9FC9604E}"/>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09 / 14</a:t>
            </a:r>
          </a:p>
        </p:txBody>
      </p:sp>
      <p:sp>
        <p:nvSpPr>
          <p:cNvPr id="10" name="title-9">
            <a:extLst xmlns:a="http://schemas.openxmlformats.org/drawingml/2006/main">
              <a:ext uri="{FF2B5EF4-FFF2-40B4-BE49-F238E27FC236}">
                <a16:creationId xmlns:a16="http://schemas.microsoft.com/office/drawing/2014/main" id="{77CC31D0-5D66-4641-B745-C8E0D2EF037F}"/>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現行設計：完整規則集中，角色 prompt 保持短</a:t>
            </a:r>
          </a:p>
        </p:txBody>
      </p:sp>
      <p:sp>
        <p:nvSpPr>
          <p:cNvPr id="11" name="subtitle-9">
            <a:extLst xmlns:a="http://schemas.openxmlformats.org/drawingml/2006/main">
              <a:ext uri="{FF2B5EF4-FFF2-40B4-BE49-F238E27FC236}">
                <a16:creationId xmlns:a16="http://schemas.microsoft.com/office/drawing/2014/main" id="{AB9BEC8D-E56F-421B-836C-37E566327055}"/>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把 domain knowledge、角色任務、輸出 schema 與 deterministic validation 分離</a:t>
            </a:r>
          </a:p>
        </p:txBody>
      </p:sp>
      <p:sp>
        <p:nvSpPr>
          <p:cNvPr id="12" name="arch-card-0-box">
            <a:extLst xmlns:a="http://schemas.openxmlformats.org/drawingml/2006/main">
              <a:ext uri="{FF2B5EF4-FFF2-40B4-BE49-F238E27FC236}">
                <a16:creationId xmlns:a16="http://schemas.microsoft.com/office/drawing/2014/main" id="{338BA76D-0A25-4F93-A4AD-1389C1116EA4}"/>
              </a:ext>
            </a:extLst>
          </p:cNvPr>
          <p:cNvSpPr>
            <a:spLocks xmlns:a="http://schemas.openxmlformats.org/drawingml/2006/main" noGrp="1"/>
          </p:cNvSpPr>
          <p:nvPr/>
        </p:nvSpPr>
        <p:spPr>
          <a:xfrm xmlns:a="http://schemas.openxmlformats.org/drawingml/2006/main">
            <a:off x="952500" y="2476500"/>
            <a:ext cx="3429000" cy="3619500"/>
          </a:xfrm>
          <a:prstGeom xmlns:a="http://schemas.openxmlformats.org/drawingml/2006/main" prst="roundRect">
            <a:avLst>
              <a:gd name="adj" fmla="val 5000"/>
            </a:avLst>
          </a:prstGeom>
          <a:solidFill xmlns:a="http://schemas.openxmlformats.org/drawingml/2006/main">
            <a:srgbClr val="FFFDF9"/>
          </a:solidFill>
          <a:ln xmlns:a="http://schemas.openxmlformats.org/drawingml/2006/main" w="11430">
            <a:solidFill>
              <a:srgbClr val="B95160"/>
            </a:solidFill>
            <a:prstDash val="solid"/>
          </a:ln>
        </p:spPr>
      </p:sp>
      <p:sp>
        <p:nvSpPr>
          <p:cNvPr id="13" name="arch-card-0-title">
            <a:extLst xmlns:a="http://schemas.openxmlformats.org/drawingml/2006/main">
              <a:ext uri="{FF2B5EF4-FFF2-40B4-BE49-F238E27FC236}">
                <a16:creationId xmlns:a16="http://schemas.microsoft.com/office/drawing/2014/main" id="{5852972D-5159-4479-B35F-19D4AFB757DA}"/>
              </a:ext>
            </a:extLst>
          </p:cNvPr>
          <p:cNvSpPr>
            <a:spLocks xmlns:a="http://schemas.openxmlformats.org/drawingml/2006/main" noGrp="1"/>
          </p:cNvSpPr>
          <p:nvPr/>
        </p:nvSpPr>
        <p:spPr>
          <a:xfrm xmlns:a="http://schemas.openxmlformats.org/drawingml/2006/main">
            <a:off x="1181100" y="26670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B95160"/>
                </a:solidFill>
                <a:latin typeface="Noto Sans CJK TC"/>
                <a:ea typeface="Noto Sans CJK TC"/>
                <a:cs typeface="Noto Sans CJK TC"/>
              </a:defRPr>
            </a:pPr>
            <a:r>
              <a:rPr sz="1800" b="1" i="0">
                <a:solidFill>
                  <a:srgbClr val="B95160"/>
                </a:solidFill>
                <a:latin typeface="Noto Sans CJK TC"/>
                <a:ea typeface="Noto Sans CJK TC"/>
                <a:cs typeface="Noto Sans CJK TC"/>
              </a:rPr>
              <a:t>Gameplay contract</a:t>
            </a:r>
          </a:p>
        </p:txBody>
      </p:sp>
      <p:sp>
        <p:nvSpPr>
          <p:cNvPr id="14" name="arch-card-0-body">
            <a:extLst xmlns:a="http://schemas.openxmlformats.org/drawingml/2006/main">
              <a:ext uri="{FF2B5EF4-FFF2-40B4-BE49-F238E27FC236}">
                <a16:creationId xmlns:a16="http://schemas.microsoft.com/office/drawing/2014/main" id="{7F7157F2-C92E-4C9C-B1E4-BE85BA980516}"/>
              </a:ext>
            </a:extLst>
          </p:cNvPr>
          <p:cNvSpPr>
            <a:spLocks xmlns:a="http://schemas.openxmlformats.org/drawingml/2006/main" noGrp="1"/>
          </p:cNvSpPr>
          <p:nvPr/>
        </p:nvSpPr>
        <p:spPr>
          <a:xfrm xmlns:a="http://schemas.openxmlformats.org/drawingml/2006/main">
            <a:off x="1181100" y="3162300"/>
            <a:ext cx="29718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133 lines</a:t>
            </a:r>
          </a:p>
          <a:p xmlns:a="http://schemas.openxmlformats.org/drawingml/2006/main">
            <a:r>
              <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完整 MicroRTS closed-world 規則：</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entity／cost／production</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range／placement／observable state</a:t>
            </a:r>
          </a:p>
        </p:txBody>
      </p:sp>
      <p:sp>
        <p:nvSpPr>
          <p:cNvPr id="15" name="arch-arrow-0-arrow">
            <a:extLst xmlns:a="http://schemas.openxmlformats.org/drawingml/2006/main">
              <a:ext uri="{FF2B5EF4-FFF2-40B4-BE49-F238E27FC236}">
                <a16:creationId xmlns:a16="http://schemas.microsoft.com/office/drawing/2014/main" id="{E41F4A9B-3663-4B39-83B8-32E26CA3EAA8}"/>
              </a:ext>
            </a:extLst>
          </p:cNvPr>
          <p:cNvSpPr>
            <a:spLocks xmlns:a="http://schemas.openxmlformats.org/drawingml/2006/main" noGrp="1"/>
          </p:cNvSpPr>
          <p:nvPr/>
        </p:nvSpPr>
        <p:spPr>
          <a:xfrm xmlns:a="http://schemas.openxmlformats.org/drawingml/2006/main">
            <a:off x="4381500" y="385762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2550" b="1" i="0">
                <a:solidFill>
                  <a:srgbClr val="BF872B"/>
                </a:solidFill>
                <a:latin typeface="Noto Sans CJK TC"/>
                <a:ea typeface="Noto Sans CJK TC"/>
                <a:cs typeface="Noto Sans CJK TC"/>
              </a:defRPr>
            </a:pPr>
            <a:r>
              <a:rPr sz="2550" b="1" i="0">
                <a:solidFill>
                  <a:srgbClr val="BF872B"/>
                </a:solidFill>
                <a:latin typeface="Noto Sans CJK TC"/>
                <a:ea typeface="Noto Sans CJK TC"/>
                <a:cs typeface="Noto Sans CJK TC"/>
              </a:rPr>
              <a:t>→</a:t>
            </a:r>
          </a:p>
        </p:txBody>
      </p:sp>
      <p:sp>
        <p:nvSpPr>
          <p:cNvPr id="16" name="arch-card-1-box">
            <a:extLst xmlns:a="http://schemas.openxmlformats.org/drawingml/2006/main">
              <a:ext uri="{FF2B5EF4-FFF2-40B4-BE49-F238E27FC236}">
                <a16:creationId xmlns:a16="http://schemas.microsoft.com/office/drawing/2014/main" id="{104EB4CA-D550-476C-A1CF-D8B18423331B}"/>
              </a:ext>
            </a:extLst>
          </p:cNvPr>
          <p:cNvSpPr>
            <a:spLocks xmlns:a="http://schemas.openxmlformats.org/drawingml/2006/main" noGrp="1"/>
          </p:cNvSpPr>
          <p:nvPr/>
        </p:nvSpPr>
        <p:spPr>
          <a:xfrm xmlns:a="http://schemas.openxmlformats.org/drawingml/2006/main">
            <a:off x="5048250" y="2476500"/>
            <a:ext cx="3429000" cy="3619500"/>
          </a:xfrm>
          <a:prstGeom xmlns:a="http://schemas.openxmlformats.org/drawingml/2006/main" prst="roundRect">
            <a:avLst>
              <a:gd name="adj" fmla="val 5000"/>
            </a:avLst>
          </a:prstGeom>
          <a:solidFill xmlns:a="http://schemas.openxmlformats.org/drawingml/2006/main">
            <a:srgbClr val="E2EFE6"/>
          </a:solidFill>
          <a:ln xmlns:a="http://schemas.openxmlformats.org/drawingml/2006/main" w="11430">
            <a:solidFill>
              <a:srgbClr val="47795C"/>
            </a:solidFill>
            <a:prstDash val="solid"/>
          </a:ln>
        </p:spPr>
      </p:sp>
      <p:sp>
        <p:nvSpPr>
          <p:cNvPr id="17" name="arch-card-1-title">
            <a:extLst xmlns:a="http://schemas.openxmlformats.org/drawingml/2006/main">
              <a:ext uri="{FF2B5EF4-FFF2-40B4-BE49-F238E27FC236}">
                <a16:creationId xmlns:a16="http://schemas.microsoft.com/office/drawing/2014/main" id="{AE602DE4-3403-488D-AB16-F889701EC84A}"/>
              </a:ext>
            </a:extLst>
          </p:cNvPr>
          <p:cNvSpPr>
            <a:spLocks xmlns:a="http://schemas.openxmlformats.org/drawingml/2006/main" noGrp="1"/>
          </p:cNvSpPr>
          <p:nvPr/>
        </p:nvSpPr>
        <p:spPr>
          <a:xfrm xmlns:a="http://schemas.openxmlformats.org/drawingml/2006/main">
            <a:off x="5276850" y="26670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47795C"/>
                </a:solidFill>
                <a:latin typeface="Noto Sans CJK TC"/>
                <a:ea typeface="Noto Sans CJK TC"/>
                <a:cs typeface="Noto Sans CJK TC"/>
              </a:defRPr>
            </a:pPr>
            <a:r>
              <a:rPr sz="1800" b="1" i="0">
                <a:solidFill>
                  <a:srgbClr val="47795C"/>
                </a:solidFill>
                <a:latin typeface="Noto Sans CJK TC"/>
                <a:ea typeface="Noto Sans CJK TC"/>
                <a:cs typeface="Noto Sans CJK TC"/>
              </a:rPr>
              <a:t>Reflection role</a:t>
            </a:r>
          </a:p>
        </p:txBody>
      </p:sp>
      <p:sp>
        <p:nvSpPr>
          <p:cNvPr id="18" name="arch-card-1-body">
            <a:extLst xmlns:a="http://schemas.openxmlformats.org/drawingml/2006/main">
              <a:ext uri="{FF2B5EF4-FFF2-40B4-BE49-F238E27FC236}">
                <a16:creationId xmlns:a16="http://schemas.microsoft.com/office/drawing/2014/main" id="{7AC59C20-E263-4CF2-9280-D86B4BEBB19E}"/>
              </a:ext>
            </a:extLst>
          </p:cNvPr>
          <p:cNvSpPr>
            <a:spLocks xmlns:a="http://schemas.openxmlformats.org/drawingml/2006/main" noGrp="1"/>
          </p:cNvSpPr>
          <p:nvPr/>
        </p:nvSpPr>
        <p:spPr>
          <a:xfrm xmlns:a="http://schemas.openxmlformats.org/drawingml/2006/main">
            <a:off x="5276850" y="3162300"/>
            <a:ext cx="29718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28 / 47 / 41 lines</a:t>
            </a:r>
          </a:p>
          <a:p xmlns:a="http://schemas.openxmlformats.org/drawingml/2006/main">
            <a:r>
              <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只說明該 operator 看什麼、改什麼、不改什麼。</a:t>
            </a:r>
          </a:p>
        </p:txBody>
      </p:sp>
      <p:sp>
        <p:nvSpPr>
          <p:cNvPr id="19" name="arch-arrow-1-arrow">
            <a:extLst xmlns:a="http://schemas.openxmlformats.org/drawingml/2006/main">
              <a:ext uri="{FF2B5EF4-FFF2-40B4-BE49-F238E27FC236}">
                <a16:creationId xmlns:a16="http://schemas.microsoft.com/office/drawing/2014/main" id="{386ED8E9-5E67-4642-AB3E-C953C784C145}"/>
              </a:ext>
            </a:extLst>
          </p:cNvPr>
          <p:cNvSpPr>
            <a:spLocks xmlns:a="http://schemas.openxmlformats.org/drawingml/2006/main" noGrp="1"/>
          </p:cNvSpPr>
          <p:nvPr/>
        </p:nvSpPr>
        <p:spPr>
          <a:xfrm xmlns:a="http://schemas.openxmlformats.org/drawingml/2006/main">
            <a:off x="8477250" y="385762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2550" b="1" i="0">
                <a:solidFill>
                  <a:srgbClr val="BF872B"/>
                </a:solidFill>
                <a:latin typeface="Noto Sans CJK TC"/>
                <a:ea typeface="Noto Sans CJK TC"/>
                <a:cs typeface="Noto Sans CJK TC"/>
              </a:defRPr>
            </a:pPr>
            <a:r>
              <a:rPr sz="2550" b="1" i="0">
                <a:solidFill>
                  <a:srgbClr val="BF872B"/>
                </a:solidFill>
                <a:latin typeface="Noto Sans CJK TC"/>
                <a:ea typeface="Noto Sans CJK TC"/>
                <a:cs typeface="Noto Sans CJK TC"/>
              </a:rPr>
              <a:t>→</a:t>
            </a:r>
          </a:p>
        </p:txBody>
      </p:sp>
      <p:sp>
        <p:nvSpPr>
          <p:cNvPr id="20" name="arch-card-2-box">
            <a:extLst xmlns:a="http://schemas.openxmlformats.org/drawingml/2006/main">
              <a:ext uri="{FF2B5EF4-FFF2-40B4-BE49-F238E27FC236}">
                <a16:creationId xmlns:a16="http://schemas.microsoft.com/office/drawing/2014/main" id="{E942439C-F737-4C68-B2DF-136204E96413}"/>
              </a:ext>
            </a:extLst>
          </p:cNvPr>
          <p:cNvSpPr>
            <a:spLocks xmlns:a="http://schemas.openxmlformats.org/drawingml/2006/main" noGrp="1"/>
          </p:cNvSpPr>
          <p:nvPr/>
        </p:nvSpPr>
        <p:spPr>
          <a:xfrm xmlns:a="http://schemas.openxmlformats.org/drawingml/2006/main">
            <a:off x="9144000" y="2476500"/>
            <a:ext cx="3429000" cy="3619500"/>
          </a:xfrm>
          <a:prstGeom xmlns:a="http://schemas.openxmlformats.org/drawingml/2006/main" prst="roundRect">
            <a:avLst>
              <a:gd name="adj" fmla="val 5000"/>
            </a:avLst>
          </a:prstGeom>
          <a:solidFill xmlns:a="http://schemas.openxmlformats.org/drawingml/2006/main">
            <a:srgbClr val="F7E7C8"/>
          </a:solidFill>
          <a:ln xmlns:a="http://schemas.openxmlformats.org/drawingml/2006/main" w="11430">
            <a:solidFill>
              <a:srgbClr val="BF872B"/>
            </a:solidFill>
            <a:prstDash val="solid"/>
          </a:ln>
        </p:spPr>
      </p:sp>
      <p:sp>
        <p:nvSpPr>
          <p:cNvPr id="21" name="arch-card-2-title">
            <a:extLst xmlns:a="http://schemas.openxmlformats.org/drawingml/2006/main">
              <a:ext uri="{FF2B5EF4-FFF2-40B4-BE49-F238E27FC236}">
                <a16:creationId xmlns:a16="http://schemas.microsoft.com/office/drawing/2014/main" id="{C56BA0DE-E510-426F-B590-C0A6BDC470C0}"/>
              </a:ext>
            </a:extLst>
          </p:cNvPr>
          <p:cNvSpPr>
            <a:spLocks xmlns:a="http://schemas.openxmlformats.org/drawingml/2006/main" noGrp="1"/>
          </p:cNvSpPr>
          <p:nvPr/>
        </p:nvSpPr>
        <p:spPr>
          <a:xfrm xmlns:a="http://schemas.openxmlformats.org/drawingml/2006/main">
            <a:off x="9372600" y="26670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BF872B"/>
                </a:solidFill>
                <a:latin typeface="Noto Sans CJK TC"/>
                <a:ea typeface="Noto Sans CJK TC"/>
                <a:cs typeface="Noto Sans CJK TC"/>
              </a:defRPr>
            </a:pPr>
            <a:r>
              <a:rPr sz="1800" b="1" i="0">
                <a:solidFill>
                  <a:srgbClr val="BF872B"/>
                </a:solidFill>
                <a:latin typeface="Noto Sans CJK TC"/>
                <a:ea typeface="Noto Sans CJK TC"/>
                <a:cs typeface="Noto Sans CJK TC"/>
              </a:rPr>
              <a:t>Rewrite schema</a:t>
            </a:r>
          </a:p>
        </p:txBody>
      </p:sp>
      <p:sp>
        <p:nvSpPr>
          <p:cNvPr id="22" name="arch-card-2-body">
            <a:extLst xmlns:a="http://schemas.openxmlformats.org/drawingml/2006/main">
              <a:ext uri="{FF2B5EF4-FFF2-40B4-BE49-F238E27FC236}">
                <a16:creationId xmlns:a16="http://schemas.microsoft.com/office/drawing/2014/main" id="{96FE7EFD-255E-4356-8003-92C860E012C2}"/>
              </a:ext>
            </a:extLst>
          </p:cNvPr>
          <p:cNvSpPr>
            <a:spLocks xmlns:a="http://schemas.openxmlformats.org/drawingml/2006/main" noGrp="1"/>
          </p:cNvSpPr>
          <p:nvPr/>
        </p:nvSpPr>
        <p:spPr>
          <a:xfrm xmlns:a="http://schemas.openxmlformats.org/drawingml/2006/main">
            <a:off x="9372600" y="3162300"/>
            <a:ext cx="29718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20 / 24 / 29 lines</a:t>
            </a:r>
          </a:p>
          <a:p xmlns:a="http://schemas.openxmlformats.org/drawingml/2006/main">
            <a:r>
              <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限定 JSON shape、欄位與 delta；不重複整份規則。</a:t>
            </a:r>
          </a:p>
        </p:txBody>
      </p:sp>
      <p:sp>
        <p:nvSpPr>
          <p:cNvPr id="23" name="arch-arrow-2-arrow">
            <a:extLst xmlns:a="http://schemas.openxmlformats.org/drawingml/2006/main">
              <a:ext uri="{FF2B5EF4-FFF2-40B4-BE49-F238E27FC236}">
                <a16:creationId xmlns:a16="http://schemas.microsoft.com/office/drawing/2014/main" id="{DF7FAFDA-F5AB-4F98-AE15-FD879098305F}"/>
              </a:ext>
            </a:extLst>
          </p:cNvPr>
          <p:cNvSpPr>
            <a:spLocks xmlns:a="http://schemas.openxmlformats.org/drawingml/2006/main" noGrp="1"/>
          </p:cNvSpPr>
          <p:nvPr/>
        </p:nvSpPr>
        <p:spPr>
          <a:xfrm xmlns:a="http://schemas.openxmlformats.org/drawingml/2006/main">
            <a:off x="12573000" y="385762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2550" b="1" i="0">
                <a:solidFill>
                  <a:srgbClr val="BF872B"/>
                </a:solidFill>
                <a:latin typeface="Noto Sans CJK TC"/>
                <a:ea typeface="Noto Sans CJK TC"/>
                <a:cs typeface="Noto Sans CJK TC"/>
              </a:defRPr>
            </a:pPr>
            <a:r>
              <a:rPr sz="2550" b="1" i="0">
                <a:solidFill>
                  <a:srgbClr val="BF872B"/>
                </a:solidFill>
                <a:latin typeface="Noto Sans CJK TC"/>
                <a:ea typeface="Noto Sans CJK TC"/>
                <a:cs typeface="Noto Sans CJK TC"/>
              </a:rPr>
              <a:t>→</a:t>
            </a:r>
          </a:p>
        </p:txBody>
      </p:sp>
      <p:sp>
        <p:nvSpPr>
          <p:cNvPr id="24" name="arch-card-3-box">
            <a:extLst xmlns:a="http://schemas.openxmlformats.org/drawingml/2006/main">
              <a:ext uri="{FF2B5EF4-FFF2-40B4-BE49-F238E27FC236}">
                <a16:creationId xmlns:a16="http://schemas.microsoft.com/office/drawing/2014/main" id="{BD4457B7-E418-4AB7-9D60-8DD4622654C3}"/>
              </a:ext>
            </a:extLst>
          </p:cNvPr>
          <p:cNvSpPr>
            <a:spLocks xmlns:a="http://schemas.openxmlformats.org/drawingml/2006/main" noGrp="1"/>
          </p:cNvSpPr>
          <p:nvPr/>
        </p:nvSpPr>
        <p:spPr>
          <a:xfrm xmlns:a="http://schemas.openxmlformats.org/drawingml/2006/main">
            <a:off x="13239750" y="2476500"/>
            <a:ext cx="3429000" cy="3619500"/>
          </a:xfrm>
          <a:prstGeom xmlns:a="http://schemas.openxmlformats.org/drawingml/2006/main" prst="roundRect">
            <a:avLst>
              <a:gd name="adj" fmla="val 5000"/>
            </a:avLst>
          </a:prstGeom>
          <a:solidFill xmlns:a="http://schemas.openxmlformats.org/drawingml/2006/main">
            <a:srgbClr val="F6DCDD"/>
          </a:solidFill>
          <a:ln xmlns:a="http://schemas.openxmlformats.org/drawingml/2006/main" w="11430">
            <a:solidFill>
              <a:srgbClr val="9B3D49"/>
            </a:solidFill>
            <a:prstDash val="solid"/>
          </a:ln>
        </p:spPr>
      </p:sp>
      <p:sp>
        <p:nvSpPr>
          <p:cNvPr id="25" name="arch-card-3-title">
            <a:extLst xmlns:a="http://schemas.openxmlformats.org/drawingml/2006/main">
              <a:ext uri="{FF2B5EF4-FFF2-40B4-BE49-F238E27FC236}">
                <a16:creationId xmlns:a16="http://schemas.microsoft.com/office/drawing/2014/main" id="{5FFD679F-F5A6-450B-ABA8-B3462F21601E}"/>
              </a:ext>
            </a:extLst>
          </p:cNvPr>
          <p:cNvSpPr>
            <a:spLocks xmlns:a="http://schemas.openxmlformats.org/drawingml/2006/main" noGrp="1"/>
          </p:cNvSpPr>
          <p:nvPr/>
        </p:nvSpPr>
        <p:spPr>
          <a:xfrm xmlns:a="http://schemas.openxmlformats.org/drawingml/2006/main">
            <a:off x="13468350" y="26670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i="0">
                <a:solidFill>
                  <a:srgbClr val="9B3D49"/>
                </a:solidFill>
                <a:latin typeface="Noto Sans CJK TC"/>
                <a:ea typeface="Noto Sans CJK TC"/>
                <a:cs typeface="Noto Sans CJK TC"/>
              </a:defRPr>
            </a:pPr>
            <a:r>
              <a:rPr sz="1800" b="1" i="0">
                <a:solidFill>
                  <a:srgbClr val="9B3D49"/>
                </a:solidFill>
                <a:latin typeface="Noto Sans CJK TC"/>
                <a:ea typeface="Noto Sans CJK TC"/>
                <a:cs typeface="Noto Sans CJK TC"/>
              </a:rPr>
              <a:t>Validator + retry</a:t>
            </a:r>
          </a:p>
        </p:txBody>
      </p:sp>
      <p:sp>
        <p:nvSpPr>
          <p:cNvPr id="26" name="arch-card-3-body">
            <a:extLst xmlns:a="http://schemas.openxmlformats.org/drawingml/2006/main">
              <a:ext uri="{FF2B5EF4-FFF2-40B4-BE49-F238E27FC236}">
                <a16:creationId xmlns:a16="http://schemas.microsoft.com/office/drawing/2014/main" id="{81A8F114-DA3C-40BB-A6FC-99D4B324309C}"/>
              </a:ext>
            </a:extLst>
          </p:cNvPr>
          <p:cNvSpPr>
            <a:spLocks xmlns:a="http://schemas.openxmlformats.org/drawingml/2006/main" noGrp="1"/>
          </p:cNvSpPr>
          <p:nvPr/>
        </p:nvSpPr>
        <p:spPr>
          <a:xfrm xmlns:a="http://schemas.openxmlformats.org/drawingml/2006/main">
            <a:off x="13468350" y="3162300"/>
            <a:ext cx="29718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13–14 lines retry prompt</a:t>
            </a:r>
          </a:p>
          <a:p xmlns:a="http://schemas.openxmlformats.org/drawingml/2006/main">
            <a:r>
              <a:t/>
            </a:r>
          </a:p>
          <a:p xmlns:a="http://schemas.openxmlformats.org/drawingml/2006/main">
            <a:pPr algn="l">
              <a:lnSpc>
                <a:spcPct val="112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用精確錯誤修正；最多 3 次，失敗不套用。</a:t>
            </a:r>
          </a:p>
        </p:txBody>
      </p:sp>
      <p:sp>
        <p:nvSpPr>
          <p:cNvPr id="27" name="arch-files">
            <a:extLst xmlns:a="http://schemas.openxmlformats.org/drawingml/2006/main">
              <a:ext uri="{FF2B5EF4-FFF2-40B4-BE49-F238E27FC236}">
                <a16:creationId xmlns:a16="http://schemas.microsoft.com/office/drawing/2014/main" id="{603064F7-A26B-47CF-8472-643F3860EDA0}"/>
              </a:ext>
            </a:extLst>
          </p:cNvPr>
          <p:cNvSpPr>
            <a:spLocks xmlns:a="http://schemas.openxmlformats.org/drawingml/2006/main" noGrp="1"/>
          </p:cNvSpPr>
          <p:nvPr/>
        </p:nvSpPr>
        <p:spPr>
          <a:xfrm xmlns:a="http://schemas.openxmlformats.org/drawingml/2006/main">
            <a:off x="2952750" y="6572250"/>
            <a:ext cx="12382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主要檔案</a:t>
            </a:r>
          </a:p>
          <a:p xmlns:a="http://schemas.openxmlformats.org/drawingml/2006/main">
            <a:pPr algn="ctr">
              <a:lnSpc>
                <a:spcPct val="115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microrts_gameplay_contract.txt</a:t>
            </a:r>
          </a:p>
          <a:p xmlns:a="http://schemas.openxmlformats.org/drawingml/2006/main">
            <a:pPr algn="ctr">
              <a:lnSpc>
                <a:spcPct val="115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coach_*.txt · code_rewrite.txt</a:t>
            </a:r>
          </a:p>
          <a:p xmlns:a="http://schemas.openxmlformats.org/drawingml/2006/main">
            <a:pPr algn="ctr">
              <a:lnSpc>
                <a:spcPct val="115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prompt_compliance_*.txt</a:t>
            </a:r>
          </a:p>
          <a:p xmlns:a="http://schemas.openxmlformats.org/drawingml/2006/main">
            <a:pPr algn="ctr">
              <a:lnSpc>
                <a:spcPct val="115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strategy_contract_rewrite.txt</a:t>
            </a:r>
          </a:p>
          <a:p xmlns:a="http://schemas.openxmlformats.org/drawingml/2006/main">
            <a:pPr algn="ctr">
              <a:lnSpc>
                <a:spcPct val="115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role_validation_retry.txt · rewrite_validation_retry.txt</a:t>
            </a:r>
          </a:p>
        </p:txBody>
      </p:sp>
      <p:sp>
        <p:nvSpPr>
          <p:cNvPr id="28" name="band-9">
            <a:extLst xmlns:a="http://schemas.openxmlformats.org/drawingml/2006/main">
              <a:ext uri="{FF2B5EF4-FFF2-40B4-BE49-F238E27FC236}">
                <a16:creationId xmlns:a16="http://schemas.microsoft.com/office/drawing/2014/main" id="{478315B5-AD91-4EF9-B964-374A82B61A95}"/>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29" name="band-label-9">
            <a:extLst xmlns:a="http://schemas.openxmlformats.org/drawingml/2006/main">
              <a:ext uri="{FF2B5EF4-FFF2-40B4-BE49-F238E27FC236}">
                <a16:creationId xmlns:a16="http://schemas.microsoft.com/office/drawing/2014/main" id="{6D68AA92-74BB-40FE-89E3-8367BE6BDDF4}"/>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原則</a:t>
            </a:r>
          </a:p>
        </p:txBody>
      </p:sp>
      <p:sp>
        <p:nvSpPr>
          <p:cNvPr id="30" name="band-divider-9">
            <a:extLst xmlns:a="http://schemas.openxmlformats.org/drawingml/2006/main">
              <a:ext uri="{FF2B5EF4-FFF2-40B4-BE49-F238E27FC236}">
                <a16:creationId xmlns:a16="http://schemas.microsoft.com/office/drawing/2014/main" id="{7A1CA773-9449-4012-B7E2-F7F6C241646C}"/>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31" name="band-text-9">
            <a:extLst xmlns:a="http://schemas.openxmlformats.org/drawingml/2006/main">
              <a:ext uri="{FF2B5EF4-FFF2-40B4-BE49-F238E27FC236}">
                <a16:creationId xmlns:a16="http://schemas.microsoft.com/office/drawing/2014/main" id="{DBC2E2B7-1A6F-4C9F-A076-8462611E12DD}"/>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規則資訊只維護一份；meta-prompt 引用 contract 並描述責任，不把每個已知錯誤逐條硬編進 prompt。</a:t>
            </a:r>
          </a:p>
        </p:txBody>
      </p:sp>
    </p:spTree>
    <p:extLst>
      <p:ext uri="{BB962C8B-B14F-4D97-AF65-F5344CB8AC3E}">
        <p14:creationId xmlns:p14="http://schemas.microsoft.com/office/powerpoint/2010/main" val="160872260"/>
      </p:ext>
    </p:extLst>
  </p:cSld>
</p:sld>
</file>

<file path=ppt/slides/slide10.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7" name="top-left-10">
            <a:extLst xmlns:a="http://schemas.openxmlformats.org/drawingml/2006/main">
              <a:ext uri="{FF2B5EF4-FFF2-40B4-BE49-F238E27FC236}">
                <a16:creationId xmlns:a16="http://schemas.microsoft.com/office/drawing/2014/main" id="{DC9653F5-2889-4A2A-880C-D105693F613C}"/>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10">
            <a:extLst xmlns:a="http://schemas.openxmlformats.org/drawingml/2006/main">
              <a:ext uri="{FF2B5EF4-FFF2-40B4-BE49-F238E27FC236}">
                <a16:creationId xmlns:a16="http://schemas.microsoft.com/office/drawing/2014/main" id="{A659B95C-E5E2-4E8B-8CA0-22C8FD040CA9}"/>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10">
            <a:extLst xmlns:a="http://schemas.openxmlformats.org/drawingml/2006/main">
              <a:ext uri="{FF2B5EF4-FFF2-40B4-BE49-F238E27FC236}">
                <a16:creationId xmlns:a16="http://schemas.microsoft.com/office/drawing/2014/main" id="{EA789241-3C7F-4D18-8538-90F19FDF110C}"/>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10">
            <a:extLst xmlns:a="http://schemas.openxmlformats.org/drawingml/2006/main">
              <a:ext uri="{FF2B5EF4-FFF2-40B4-BE49-F238E27FC236}">
                <a16:creationId xmlns:a16="http://schemas.microsoft.com/office/drawing/2014/main" id="{7DEC7AC9-B746-4CED-81C7-85A9E25C4B6A}"/>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10">
            <a:extLst xmlns:a="http://schemas.openxmlformats.org/drawingml/2006/main">
              <a:ext uri="{FF2B5EF4-FFF2-40B4-BE49-F238E27FC236}">
                <a16:creationId xmlns:a16="http://schemas.microsoft.com/office/drawing/2014/main" id="{E41DA21F-0C2B-4BBD-8407-C6A7AABD34B1}"/>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10">
            <a:extLst xmlns:a="http://schemas.openxmlformats.org/drawingml/2006/main">
              <a:ext uri="{FF2B5EF4-FFF2-40B4-BE49-F238E27FC236}">
                <a16:creationId xmlns:a16="http://schemas.microsoft.com/office/drawing/2014/main" id="{2F39D0AC-E961-471C-9B7C-F056F46A6FD5}"/>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M1</a:t>
            </a:r>
          </a:p>
        </p:txBody>
      </p:sp>
      <p:sp>
        <p:nvSpPr>
          <p:cNvPr id="7" name="status-10">
            <a:extLst xmlns:a="http://schemas.openxmlformats.org/drawingml/2006/main">
              <a:ext uri="{FF2B5EF4-FFF2-40B4-BE49-F238E27FC236}">
                <a16:creationId xmlns:a16="http://schemas.microsoft.com/office/drawing/2014/main" id="{8AC3A901-BCD1-425F-B3B4-092A971AF7AD}"/>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CURRENT · STRATEGY REFLECTION</a:t>
            </a:r>
          </a:p>
        </p:txBody>
      </p:sp>
      <p:sp>
        <p:nvSpPr>
          <p:cNvPr id="8" name="bottom-10">
            <a:extLst xmlns:a="http://schemas.openxmlformats.org/drawingml/2006/main">
              <a:ext uri="{FF2B5EF4-FFF2-40B4-BE49-F238E27FC236}">
                <a16:creationId xmlns:a16="http://schemas.microsoft.com/office/drawing/2014/main" id="{FC611FD9-98FE-4A27-9631-B885D1AFD62E}"/>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10">
            <a:extLst xmlns:a="http://schemas.openxmlformats.org/drawingml/2006/main">
              <a:ext uri="{FF2B5EF4-FFF2-40B4-BE49-F238E27FC236}">
                <a16:creationId xmlns:a16="http://schemas.microsoft.com/office/drawing/2014/main" id="{DAA65F93-3F88-4FD1-9A95-6A124F98B339}"/>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10 / 14</a:t>
            </a:r>
          </a:p>
        </p:txBody>
      </p:sp>
      <p:sp>
        <p:nvSpPr>
          <p:cNvPr id="10" name="title-10">
            <a:extLst xmlns:a="http://schemas.openxmlformats.org/drawingml/2006/main">
              <a:ext uri="{FF2B5EF4-FFF2-40B4-BE49-F238E27FC236}">
                <a16:creationId xmlns:a16="http://schemas.microsoft.com/office/drawing/2014/main" id="{261DD234-2FAB-4B12-B97D-A5657C69FE3D}"/>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Meta-prompt 1｜Strategy Reflection</a:t>
            </a:r>
          </a:p>
        </p:txBody>
      </p:sp>
      <p:sp>
        <p:nvSpPr>
          <p:cNvPr id="11" name="subtitle-10">
            <a:extLst xmlns:a="http://schemas.openxmlformats.org/drawingml/2006/main">
              <a:ext uri="{FF2B5EF4-FFF2-40B4-BE49-F238E27FC236}">
                <a16:creationId xmlns:a16="http://schemas.microsoft.com/office/drawing/2014/main" id="{FF520A44-FB93-4B04-8CB9-4C963EB71E15}"/>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Coach 可重設策略類型，但必須輸出可執行的 game-playing policy；不寫 Java</a:t>
            </a:r>
          </a:p>
        </p:txBody>
      </p:sp>
      <p:sp>
        <p:nvSpPr>
          <p:cNvPr id="12" name="vline-a-10">
            <a:extLst xmlns:a="http://schemas.openxmlformats.org/drawingml/2006/main">
              <a:ext uri="{FF2B5EF4-FFF2-40B4-BE49-F238E27FC236}">
                <a16:creationId xmlns:a16="http://schemas.microsoft.com/office/drawing/2014/main" id="{42E15C6C-612B-4E56-BFBB-535349AB583C}"/>
              </a:ext>
            </a:extLst>
          </p:cNvPr>
          <p:cNvSpPr>
            <a:spLocks xmlns:a="http://schemas.openxmlformats.org/drawingml/2006/main" noGrp="1"/>
          </p:cNvSpPr>
          <p:nvPr/>
        </p:nvSpPr>
        <p:spPr>
          <a:xfrm xmlns:a="http://schemas.openxmlformats.org/drawingml/2006/main">
            <a:off x="6143625"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3" name="vline-b-10">
            <a:extLst xmlns:a="http://schemas.openxmlformats.org/drawingml/2006/main">
              <a:ext uri="{FF2B5EF4-FFF2-40B4-BE49-F238E27FC236}">
                <a16:creationId xmlns:a16="http://schemas.microsoft.com/office/drawing/2014/main" id="{63AAE395-9EAF-459C-A31F-A06A1A1A5A76}"/>
              </a:ext>
            </a:extLst>
          </p:cNvPr>
          <p:cNvSpPr>
            <a:spLocks xmlns:a="http://schemas.openxmlformats.org/drawingml/2006/main" noGrp="1"/>
          </p:cNvSpPr>
          <p:nvPr/>
        </p:nvSpPr>
        <p:spPr>
          <a:xfrm xmlns:a="http://schemas.openxmlformats.org/drawingml/2006/main">
            <a:off x="11620500"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4" name="col-10-0-text">
            <a:extLst xmlns:a="http://schemas.openxmlformats.org/drawingml/2006/main">
              <a:ext uri="{FF2B5EF4-FFF2-40B4-BE49-F238E27FC236}">
                <a16:creationId xmlns:a16="http://schemas.microsoft.com/office/drawing/2014/main" id="{15E24ACD-8122-4601-A40A-B69967C03C09}"/>
              </a:ext>
            </a:extLst>
          </p:cNvPr>
          <p:cNvSpPr>
            <a:spLocks xmlns:a="http://schemas.openxmlformats.org/drawingml/2006/main" noGrp="1"/>
          </p:cNvSpPr>
          <p:nvPr/>
        </p:nvSpPr>
        <p:spPr>
          <a:xfrm xmlns:a="http://schemas.openxmlformats.org/drawingml/2006/main">
            <a:off x="952500"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輸入</a:t>
            </a:r>
          </a:p>
        </p:txBody>
      </p:sp>
      <p:sp>
        <p:nvSpPr>
          <p:cNvPr id="15" name="col-10-0-line">
            <a:extLst xmlns:a="http://schemas.openxmlformats.org/drawingml/2006/main">
              <a:ext uri="{FF2B5EF4-FFF2-40B4-BE49-F238E27FC236}">
                <a16:creationId xmlns:a16="http://schemas.microsoft.com/office/drawing/2014/main" id="{79ACA06B-9915-4B63-8D44-0AD9426EB2B2}"/>
              </a:ext>
            </a:extLst>
          </p:cNvPr>
          <p:cNvSpPr>
            <a:spLocks xmlns:a="http://schemas.openxmlformats.org/drawingml/2006/main" noGrp="1"/>
          </p:cNvSpPr>
          <p:nvPr/>
        </p:nvSpPr>
        <p:spPr>
          <a:xfrm xmlns:a="http://schemas.openxmlformats.org/drawingml/2006/main">
            <a:off x="952500"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6" name="col-body-10-0">
            <a:extLst xmlns:a="http://schemas.openxmlformats.org/drawingml/2006/main">
              <a:ext uri="{FF2B5EF4-FFF2-40B4-BE49-F238E27FC236}">
                <a16:creationId xmlns:a16="http://schemas.microsoft.com/office/drawing/2014/main" id="{FE6320E1-4074-4263-8F57-D34CA9EDEA4E}"/>
              </a:ext>
            </a:extLst>
          </p:cNvPr>
          <p:cNvSpPr>
            <a:spLocks xmlns:a="http://schemas.openxmlformats.org/drawingml/2006/main" noGrp="1"/>
          </p:cNvSpPr>
          <p:nvPr/>
        </p:nvSpPr>
        <p:spPr>
          <a:xfrm xmlns:a="http://schemas.openxmlformats.org/drawingml/2006/main">
            <a:off x="952500"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$parent_strategy_prompt</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$commentator_diagnoses_and_evaluation_metadata</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$gameplay_contract</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Global summary 提供 breadth；selected matches 提供 depth。</a:t>
            </a:r>
          </a:p>
        </p:txBody>
      </p:sp>
      <p:sp>
        <p:nvSpPr>
          <p:cNvPr id="17" name="col-10-1-text">
            <a:extLst xmlns:a="http://schemas.openxmlformats.org/drawingml/2006/main">
              <a:ext uri="{FF2B5EF4-FFF2-40B4-BE49-F238E27FC236}">
                <a16:creationId xmlns:a16="http://schemas.microsoft.com/office/drawing/2014/main" id="{D220C677-0A6F-4F4A-AED9-129A04DD6057}"/>
              </a:ext>
            </a:extLst>
          </p:cNvPr>
          <p:cNvSpPr>
            <a:spLocks xmlns:a="http://schemas.openxmlformats.org/drawingml/2006/main" noGrp="1"/>
          </p:cNvSpPr>
          <p:nvPr/>
        </p:nvSpPr>
        <p:spPr>
          <a:xfrm xmlns:a="http://schemas.openxmlformats.org/drawingml/2006/main">
            <a:off x="6429375"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核心指令</a:t>
            </a:r>
          </a:p>
        </p:txBody>
      </p:sp>
      <p:sp>
        <p:nvSpPr>
          <p:cNvPr id="18" name="col-10-1-line">
            <a:extLst xmlns:a="http://schemas.openxmlformats.org/drawingml/2006/main">
              <a:ext uri="{FF2B5EF4-FFF2-40B4-BE49-F238E27FC236}">
                <a16:creationId xmlns:a16="http://schemas.microsoft.com/office/drawing/2014/main" id="{408CB34F-A0DE-4ABD-B6CC-DCEE38F50A24}"/>
              </a:ext>
            </a:extLst>
          </p:cNvPr>
          <p:cNvSpPr>
            <a:spLocks xmlns:a="http://schemas.openxmlformats.org/drawingml/2006/main" noGrp="1"/>
          </p:cNvSpPr>
          <p:nvPr/>
        </p:nvSpPr>
        <p:spPr>
          <a:xfrm xmlns:a="http://schemas.openxmlformats.org/drawingml/2006/main">
            <a:off x="6429375"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9" name="col-body-10-1">
            <a:extLst xmlns:a="http://schemas.openxmlformats.org/drawingml/2006/main">
              <a:ext uri="{FF2B5EF4-FFF2-40B4-BE49-F238E27FC236}">
                <a16:creationId xmlns:a16="http://schemas.microsoft.com/office/drawing/2014/main" id="{9789CBD9-4C62-47ED-A0F5-799F7461440C}"/>
              </a:ext>
            </a:extLst>
          </p:cNvPr>
          <p:cNvSpPr>
            <a:spLocks xmlns:a="http://schemas.openxmlformats.org/drawingml/2006/main" noGrp="1"/>
          </p:cNvSpPr>
          <p:nvPr/>
        </p:nvSpPr>
        <p:spPr>
          <a:xfrm xmlns:a="http://schemas.openxmlformats.org/drawingml/2006/main">
            <a:off x="6429375"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replacement 可是不同策略類型</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每條規則只用 current observable state</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actor 必須是 idle friendly unit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action 必須合法，包含 target／cost／placement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最多 10 條 stand-alone rules</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保留已擊敗對手所代表的能力</a:t>
            </a:r>
          </a:p>
        </p:txBody>
      </p:sp>
      <p:sp>
        <p:nvSpPr>
          <p:cNvPr id="20" name="col-10-2-text">
            <a:extLst xmlns:a="http://schemas.openxmlformats.org/drawingml/2006/main">
              <a:ext uri="{FF2B5EF4-FFF2-40B4-BE49-F238E27FC236}">
                <a16:creationId xmlns:a16="http://schemas.microsoft.com/office/drawing/2014/main" id="{A4EEDFB4-6C13-4038-87B4-17C670F34507}"/>
              </a:ext>
            </a:extLst>
          </p:cNvPr>
          <p:cNvSpPr>
            <a:spLocks xmlns:a="http://schemas.openxmlformats.org/drawingml/2006/main" noGrp="1"/>
          </p:cNvSpPr>
          <p:nvPr/>
        </p:nvSpPr>
        <p:spPr>
          <a:xfrm xmlns:a="http://schemas.openxmlformats.org/drawingml/2006/main">
            <a:off x="11906250" y="1952625"/>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輸出／保護</a:t>
            </a:r>
          </a:p>
        </p:txBody>
      </p:sp>
      <p:sp>
        <p:nvSpPr>
          <p:cNvPr id="21" name="col-10-2-line">
            <a:extLst xmlns:a="http://schemas.openxmlformats.org/drawingml/2006/main">
              <a:ext uri="{FF2B5EF4-FFF2-40B4-BE49-F238E27FC236}">
                <a16:creationId xmlns:a16="http://schemas.microsoft.com/office/drawing/2014/main" id="{5FC3FFDE-716A-464B-8421-3B793107AF9B}"/>
              </a:ext>
            </a:extLst>
          </p:cNvPr>
          <p:cNvSpPr>
            <a:spLocks xmlns:a="http://schemas.openxmlformats.org/drawingml/2006/main" noGrp="1"/>
          </p:cNvSpPr>
          <p:nvPr/>
        </p:nvSpPr>
        <p:spPr>
          <a:xfrm xmlns:a="http://schemas.openxmlformats.org/drawingml/2006/main">
            <a:off x="11906250" y="2333625"/>
            <a:ext cx="54292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22" name="col-body-10-2">
            <a:extLst xmlns:a="http://schemas.openxmlformats.org/drawingml/2006/main">
              <a:ext uri="{FF2B5EF4-FFF2-40B4-BE49-F238E27FC236}">
                <a16:creationId xmlns:a16="http://schemas.microsoft.com/office/drawing/2014/main" id="{1CB54125-8751-4FD3-92AD-F5F3E8055435}"/>
              </a:ext>
            </a:extLst>
          </p:cNvPr>
          <p:cNvSpPr>
            <a:spLocks xmlns:a="http://schemas.openxmlformats.org/drawingml/2006/main" noGrp="1"/>
          </p:cNvSpPr>
          <p:nvPr/>
        </p:nvSpPr>
        <p:spPr>
          <a:xfrm xmlns:a="http://schemas.openxmlformats.org/drawingml/2006/main">
            <a:off x="11906250" y="2571750"/>
            <a:ext cx="542925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JSON：</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strategy_changes</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strategy_signature</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parent_strategy_prompt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new_strategy_prompt</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若 deterministic contract validator 拒絕，改交給 strategy_contract_rewriter 做最小修正；失敗則 mutation 不落地。</a:t>
            </a:r>
          </a:p>
        </p:txBody>
      </p:sp>
      <p:sp>
        <p:nvSpPr>
          <p:cNvPr id="23" name="band-10">
            <a:extLst xmlns:a="http://schemas.openxmlformats.org/drawingml/2006/main">
              <a:ext uri="{FF2B5EF4-FFF2-40B4-BE49-F238E27FC236}">
                <a16:creationId xmlns:a16="http://schemas.microsoft.com/office/drawing/2014/main" id="{DA44FF99-7639-4A40-B0F5-F037517CCE64}"/>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24" name="band-label-10">
            <a:extLst xmlns:a="http://schemas.openxmlformats.org/drawingml/2006/main">
              <a:ext uri="{FF2B5EF4-FFF2-40B4-BE49-F238E27FC236}">
                <a16:creationId xmlns:a16="http://schemas.microsoft.com/office/drawing/2014/main" id="{CA414439-4C1E-434C-A23E-14B49B579912}"/>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scope</a:t>
            </a:r>
          </a:p>
        </p:txBody>
      </p:sp>
      <p:sp>
        <p:nvSpPr>
          <p:cNvPr id="25" name="band-divider-10">
            <a:extLst xmlns:a="http://schemas.openxmlformats.org/drawingml/2006/main">
              <a:ext uri="{FF2B5EF4-FFF2-40B4-BE49-F238E27FC236}">
                <a16:creationId xmlns:a16="http://schemas.microsoft.com/office/drawing/2014/main" id="{9F138A05-039A-4DEB-962C-6125BA8BB613}"/>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26" name="band-text-10">
            <a:extLst xmlns:a="http://schemas.openxmlformats.org/drawingml/2006/main">
              <a:ext uri="{FF2B5EF4-FFF2-40B4-BE49-F238E27FC236}">
                <a16:creationId xmlns:a16="http://schemas.microsoft.com/office/drawing/2014/main" id="{F06A2280-38D0-422D-BA59-B16DF405C8CC}"/>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只允許 strategy_prompt 改變；generation_prompt、inherited_java 不變。</a:t>
            </a:r>
          </a:p>
        </p:txBody>
      </p:sp>
    </p:spTree>
    <p:extLst>
      <p:ext uri="{BB962C8B-B14F-4D97-AF65-F5344CB8AC3E}">
        <p14:creationId xmlns:p14="http://schemas.microsoft.com/office/powerpoint/2010/main" val="979340382"/>
      </p:ext>
    </p:extLst>
  </p:cSld>
</p:sld>
</file>

<file path=ppt/slides/slide1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7" name="top-left-11">
            <a:extLst xmlns:a="http://schemas.openxmlformats.org/drawingml/2006/main">
              <a:ext uri="{FF2B5EF4-FFF2-40B4-BE49-F238E27FC236}">
                <a16:creationId xmlns:a16="http://schemas.microsoft.com/office/drawing/2014/main" id="{174D069A-F65F-46A9-89B0-6CB9BFDDF253}"/>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11">
            <a:extLst xmlns:a="http://schemas.openxmlformats.org/drawingml/2006/main">
              <a:ext uri="{FF2B5EF4-FFF2-40B4-BE49-F238E27FC236}">
                <a16:creationId xmlns:a16="http://schemas.microsoft.com/office/drawing/2014/main" id="{375F6071-836C-4023-8AA2-A48C24D57F87}"/>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11">
            <a:extLst xmlns:a="http://schemas.openxmlformats.org/drawingml/2006/main">
              <a:ext uri="{FF2B5EF4-FFF2-40B4-BE49-F238E27FC236}">
                <a16:creationId xmlns:a16="http://schemas.microsoft.com/office/drawing/2014/main" id="{7BDE1B78-D645-4DCC-9556-05B7B8FB916C}"/>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11">
            <a:extLst xmlns:a="http://schemas.openxmlformats.org/drawingml/2006/main">
              <a:ext uri="{FF2B5EF4-FFF2-40B4-BE49-F238E27FC236}">
                <a16:creationId xmlns:a16="http://schemas.microsoft.com/office/drawing/2014/main" id="{577B95A8-7637-469A-9349-20B7826E1EAE}"/>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11">
            <a:extLst xmlns:a="http://schemas.openxmlformats.org/drawingml/2006/main">
              <a:ext uri="{FF2B5EF4-FFF2-40B4-BE49-F238E27FC236}">
                <a16:creationId xmlns:a16="http://schemas.microsoft.com/office/drawing/2014/main" id="{77C7E1F7-B0FB-4FC5-A2F4-9AF5D17A3686}"/>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11">
            <a:extLst xmlns:a="http://schemas.openxmlformats.org/drawingml/2006/main">
              <a:ext uri="{FF2B5EF4-FFF2-40B4-BE49-F238E27FC236}">
                <a16:creationId xmlns:a16="http://schemas.microsoft.com/office/drawing/2014/main" id="{2BC75BBC-BD7C-4E07-89B2-EEBCBD2E3563}"/>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M2</a:t>
            </a:r>
          </a:p>
        </p:txBody>
      </p:sp>
      <p:sp>
        <p:nvSpPr>
          <p:cNvPr id="7" name="status-11">
            <a:extLst xmlns:a="http://schemas.openxmlformats.org/drawingml/2006/main">
              <a:ext uri="{FF2B5EF4-FFF2-40B4-BE49-F238E27FC236}">
                <a16:creationId xmlns:a16="http://schemas.microsoft.com/office/drawing/2014/main" id="{535E2CA5-E397-47E4-B0F2-552B5338DA05}"/>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CURRENT · CODE REFLECTION</a:t>
            </a:r>
          </a:p>
        </p:txBody>
      </p:sp>
      <p:sp>
        <p:nvSpPr>
          <p:cNvPr id="8" name="bottom-11">
            <a:extLst xmlns:a="http://schemas.openxmlformats.org/drawingml/2006/main">
              <a:ext uri="{FF2B5EF4-FFF2-40B4-BE49-F238E27FC236}">
                <a16:creationId xmlns:a16="http://schemas.microsoft.com/office/drawing/2014/main" id="{0E314E57-519B-42D1-9FE4-443BD74B288F}"/>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11">
            <a:extLst xmlns:a="http://schemas.openxmlformats.org/drawingml/2006/main">
              <a:ext uri="{FF2B5EF4-FFF2-40B4-BE49-F238E27FC236}">
                <a16:creationId xmlns:a16="http://schemas.microsoft.com/office/drawing/2014/main" id="{C884ACDF-D6AF-471F-AAFB-F43595F0C710}"/>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11 / 14</a:t>
            </a:r>
          </a:p>
        </p:txBody>
      </p:sp>
      <p:sp>
        <p:nvSpPr>
          <p:cNvPr id="10" name="title-11">
            <a:extLst xmlns:a="http://schemas.openxmlformats.org/drawingml/2006/main">
              <a:ext uri="{FF2B5EF4-FFF2-40B4-BE49-F238E27FC236}">
                <a16:creationId xmlns:a16="http://schemas.microsoft.com/office/drawing/2014/main" id="{F798FDF2-4CCF-4EF7-ACA5-EFDC38335427}"/>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Meta-prompt 2｜Code Reflection</a:t>
            </a:r>
          </a:p>
        </p:txBody>
      </p:sp>
      <p:sp>
        <p:nvSpPr>
          <p:cNvPr id="11" name="subtitle-11">
            <a:extLst xmlns:a="http://schemas.openxmlformats.org/drawingml/2006/main">
              <a:ext uri="{FF2B5EF4-FFF2-40B4-BE49-F238E27FC236}">
                <a16:creationId xmlns:a16="http://schemas.microsoft.com/office/drawing/2014/main" id="{E7EB6F1E-EA53-4667-99AF-852E916D9705}"/>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把特定 policy-code mismatch 抽象成 unseen policies 也能使用的 translation invariant</a:t>
            </a:r>
          </a:p>
        </p:txBody>
      </p:sp>
      <p:sp>
        <p:nvSpPr>
          <p:cNvPr id="12" name="vline-a-11">
            <a:extLst xmlns:a="http://schemas.openxmlformats.org/drawingml/2006/main">
              <a:ext uri="{FF2B5EF4-FFF2-40B4-BE49-F238E27FC236}">
                <a16:creationId xmlns:a16="http://schemas.microsoft.com/office/drawing/2014/main" id="{49A3AA7A-739B-4CD8-90D2-0EAD41B06E55}"/>
              </a:ext>
            </a:extLst>
          </p:cNvPr>
          <p:cNvSpPr>
            <a:spLocks xmlns:a="http://schemas.openxmlformats.org/drawingml/2006/main" noGrp="1"/>
          </p:cNvSpPr>
          <p:nvPr/>
        </p:nvSpPr>
        <p:spPr>
          <a:xfrm xmlns:a="http://schemas.openxmlformats.org/drawingml/2006/main">
            <a:off x="6143625"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3" name="vline-b-11">
            <a:extLst xmlns:a="http://schemas.openxmlformats.org/drawingml/2006/main">
              <a:ext uri="{FF2B5EF4-FFF2-40B4-BE49-F238E27FC236}">
                <a16:creationId xmlns:a16="http://schemas.microsoft.com/office/drawing/2014/main" id="{35999FD7-EC89-4B29-BE40-EBB1E664FE73}"/>
              </a:ext>
            </a:extLst>
          </p:cNvPr>
          <p:cNvSpPr>
            <a:spLocks xmlns:a="http://schemas.openxmlformats.org/drawingml/2006/main" noGrp="1"/>
          </p:cNvSpPr>
          <p:nvPr/>
        </p:nvSpPr>
        <p:spPr>
          <a:xfrm xmlns:a="http://schemas.openxmlformats.org/drawingml/2006/main">
            <a:off x="11620500"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4" name="col-11-0-text">
            <a:extLst xmlns:a="http://schemas.openxmlformats.org/drawingml/2006/main">
              <a:ext uri="{FF2B5EF4-FFF2-40B4-BE49-F238E27FC236}">
                <a16:creationId xmlns:a16="http://schemas.microsoft.com/office/drawing/2014/main" id="{83AF534C-A4CF-4160-BD85-952501069BB3}"/>
              </a:ext>
            </a:extLst>
          </p:cNvPr>
          <p:cNvSpPr>
            <a:spLocks xmlns:a="http://schemas.openxmlformats.org/drawingml/2006/main" noGrp="1"/>
          </p:cNvSpPr>
          <p:nvPr/>
        </p:nvSpPr>
        <p:spPr>
          <a:xfrm xmlns:a="http://schemas.openxmlformats.org/drawingml/2006/main">
            <a:off x="952500"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輸入</a:t>
            </a:r>
          </a:p>
        </p:txBody>
      </p:sp>
      <p:sp>
        <p:nvSpPr>
          <p:cNvPr id="15" name="col-11-0-line">
            <a:extLst xmlns:a="http://schemas.openxmlformats.org/drawingml/2006/main">
              <a:ext uri="{FF2B5EF4-FFF2-40B4-BE49-F238E27FC236}">
                <a16:creationId xmlns:a16="http://schemas.microsoft.com/office/drawing/2014/main" id="{2F56ACEA-7CB0-44AB-BF6E-8505BE2ED26E}"/>
              </a:ext>
            </a:extLst>
          </p:cNvPr>
          <p:cNvSpPr>
            <a:spLocks xmlns:a="http://schemas.openxmlformats.org/drawingml/2006/main" noGrp="1"/>
          </p:cNvSpPr>
          <p:nvPr/>
        </p:nvSpPr>
        <p:spPr>
          <a:xfrm xmlns:a="http://schemas.openxmlformats.org/drawingml/2006/main">
            <a:off x="952500"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6" name="col-body-11-0">
            <a:extLst xmlns:a="http://schemas.openxmlformats.org/drawingml/2006/main">
              <a:ext uri="{FF2B5EF4-FFF2-40B4-BE49-F238E27FC236}">
                <a16:creationId xmlns:a16="http://schemas.microsoft.com/office/drawing/2014/main" id="{B3EB517A-073A-4C23-AF27-F7D1D23A771B}"/>
              </a:ext>
            </a:extLst>
          </p:cNvPr>
          <p:cNvSpPr>
            <a:spLocks xmlns:a="http://schemas.openxmlformats.org/drawingml/2006/main" noGrp="1"/>
          </p:cNvSpPr>
          <p:nvPr/>
        </p:nvSpPr>
        <p:spPr>
          <a:xfrm xmlns:a="http://schemas.openxmlformats.org/drawingml/2006/main">
            <a:off x="952500"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$code_generation_prompt</a:t>
            </a:r>
          </a:p>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$current_reusable_rules</a:t>
            </a:r>
          </a:p>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$alignment_review</a:t>
            </a:r>
          </a:p>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$action_api_guide</a:t>
            </a:r>
          </a:p>
          <a:p xmlns:a="http://schemas.openxmlformats.org/drawingml/2006/main">
            <a:r>
              <a:t/>
            </a:r>
          </a:p>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valid array 直接使用；invalid status 只保留 recoverable_rules。</a:t>
            </a:r>
          </a:p>
        </p:txBody>
      </p:sp>
      <p:sp>
        <p:nvSpPr>
          <p:cNvPr id="17" name="col-11-1-text">
            <a:extLst xmlns:a="http://schemas.openxmlformats.org/drawingml/2006/main">
              <a:ext uri="{FF2B5EF4-FFF2-40B4-BE49-F238E27FC236}">
                <a16:creationId xmlns:a16="http://schemas.microsoft.com/office/drawing/2014/main" id="{939A3EDB-6024-4CAA-B515-7488279CA790}"/>
              </a:ext>
            </a:extLst>
          </p:cNvPr>
          <p:cNvSpPr>
            <a:spLocks xmlns:a="http://schemas.openxmlformats.org/drawingml/2006/main" noGrp="1"/>
          </p:cNvSpPr>
          <p:nvPr/>
        </p:nvSpPr>
        <p:spPr>
          <a:xfrm xmlns:a="http://schemas.openxmlformats.org/drawingml/2006/main">
            <a:off x="6429375"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固定 schema</a:t>
            </a:r>
          </a:p>
        </p:txBody>
      </p:sp>
      <p:sp>
        <p:nvSpPr>
          <p:cNvPr id="18" name="col-11-1-line">
            <a:extLst xmlns:a="http://schemas.openxmlformats.org/drawingml/2006/main">
              <a:ext uri="{FF2B5EF4-FFF2-40B4-BE49-F238E27FC236}">
                <a16:creationId xmlns:a16="http://schemas.microsoft.com/office/drawing/2014/main" id="{0E093F6A-9F02-484F-8161-5DC4FCAFA844}"/>
              </a:ext>
            </a:extLst>
          </p:cNvPr>
          <p:cNvSpPr>
            <a:spLocks xmlns:a="http://schemas.openxmlformats.org/drawingml/2006/main" noGrp="1"/>
          </p:cNvSpPr>
          <p:nvPr/>
        </p:nvSpPr>
        <p:spPr>
          <a:xfrm xmlns:a="http://schemas.openxmlformats.org/drawingml/2006/main">
            <a:off x="6429375"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9" name="col-body-11-1">
            <a:extLst xmlns:a="http://schemas.openxmlformats.org/drawingml/2006/main">
              <a:ext uri="{FF2B5EF4-FFF2-40B4-BE49-F238E27FC236}">
                <a16:creationId xmlns:a16="http://schemas.microsoft.com/office/drawing/2014/main" id="{1D9A0939-E0D8-473E-A731-3DAE381A682B}"/>
              </a:ext>
            </a:extLst>
          </p:cNvPr>
          <p:cNvSpPr>
            <a:spLocks xmlns:a="http://schemas.openxmlformats.org/drawingml/2006/main" noGrp="1"/>
          </p:cNvSpPr>
          <p:nvPr/>
        </p:nvSpPr>
        <p:spPr>
          <a:xfrm xmlns:a="http://schemas.openxmlformats.org/drawingml/2006/main">
            <a:off x="6429375"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  remove_rule_ids: [],</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  add_rules: [{</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    category: "…",</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    instruction: "…"</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  }]</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a:t>
            </a:r>
          </a:p>
          <a:p xmlns:a="http://schemas.openxmlformats.org/drawingml/2006/main">
            <a:r>
              <a:t/>
            </a:r>
          </a:p>
          <a:p xmlns:a="http://schemas.openxmlformats.org/drawingml/2006/main">
            <a:pPr algn="l">
              <a:lnSpc>
                <a:spcPct val="114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exactly 1 add；at most 1 remove；final ≤ 10 rules；instruction 12–240 chars。</a:t>
            </a:r>
          </a:p>
        </p:txBody>
      </p:sp>
      <p:sp>
        <p:nvSpPr>
          <p:cNvPr id="20" name="col-11-2-text">
            <a:extLst xmlns:a="http://schemas.openxmlformats.org/drawingml/2006/main">
              <a:ext uri="{FF2B5EF4-FFF2-40B4-BE49-F238E27FC236}">
                <a16:creationId xmlns:a16="http://schemas.microsoft.com/office/drawing/2014/main" id="{36B8E4C9-A355-411D-A314-0AE0981A09B3}"/>
              </a:ext>
            </a:extLst>
          </p:cNvPr>
          <p:cNvSpPr>
            <a:spLocks xmlns:a="http://schemas.openxmlformats.org/drawingml/2006/main" noGrp="1"/>
          </p:cNvSpPr>
          <p:nvPr/>
        </p:nvSpPr>
        <p:spPr>
          <a:xfrm xmlns:a="http://schemas.openxmlformats.org/drawingml/2006/main">
            <a:off x="11906250" y="1952625"/>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禁止內容</a:t>
            </a:r>
          </a:p>
        </p:txBody>
      </p:sp>
      <p:sp>
        <p:nvSpPr>
          <p:cNvPr id="21" name="col-11-2-line">
            <a:extLst xmlns:a="http://schemas.openxmlformats.org/drawingml/2006/main">
              <a:ext uri="{FF2B5EF4-FFF2-40B4-BE49-F238E27FC236}">
                <a16:creationId xmlns:a16="http://schemas.microsoft.com/office/drawing/2014/main" id="{46D1EC8A-9B66-4103-8C08-F4BD94F2893D}"/>
              </a:ext>
            </a:extLst>
          </p:cNvPr>
          <p:cNvSpPr>
            <a:spLocks xmlns:a="http://schemas.openxmlformats.org/drawingml/2006/main" noGrp="1"/>
          </p:cNvSpPr>
          <p:nvPr/>
        </p:nvSpPr>
        <p:spPr>
          <a:xfrm xmlns:a="http://schemas.openxmlformats.org/drawingml/2006/main">
            <a:off x="11906250" y="2333625"/>
            <a:ext cx="54292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22" name="col-body-11-2">
            <a:extLst xmlns:a="http://schemas.openxmlformats.org/drawingml/2006/main">
              <a:ext uri="{FF2B5EF4-FFF2-40B4-BE49-F238E27FC236}">
                <a16:creationId xmlns:a16="http://schemas.microsoft.com/office/drawing/2014/main" id="{3838E09D-B9B3-4F87-823B-C6663C599763}"/>
              </a:ext>
            </a:extLst>
          </p:cNvPr>
          <p:cNvSpPr>
            <a:spLocks xmlns:a="http://schemas.openxmlformats.org/drawingml/2006/main" noGrp="1"/>
          </p:cNvSpPr>
          <p:nvPr/>
        </p:nvSpPr>
        <p:spPr>
          <a:xfrm xmlns:a="http://schemas.openxmlformats.org/drawingml/2006/main">
            <a:off x="11906250" y="2571750"/>
            <a:ext cx="542925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concrete strategy／entity</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policy 句子的複製或改寫</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Java fragment／helper／variable</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unsupported API assumption</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scaffold edit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invented runtime mechanism</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必須保留 idle-friendly-actor requirement。</a:t>
            </a:r>
          </a:p>
        </p:txBody>
      </p:sp>
      <p:sp>
        <p:nvSpPr>
          <p:cNvPr id="23" name="band-11">
            <a:extLst xmlns:a="http://schemas.openxmlformats.org/drawingml/2006/main">
              <a:ext uri="{FF2B5EF4-FFF2-40B4-BE49-F238E27FC236}">
                <a16:creationId xmlns:a16="http://schemas.microsoft.com/office/drawing/2014/main" id="{0C85B879-DF5D-45BD-BFA6-AD52EB4F9C2A}"/>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24" name="band-label-11">
            <a:extLst xmlns:a="http://schemas.openxmlformats.org/drawingml/2006/main">
              <a:ext uri="{FF2B5EF4-FFF2-40B4-BE49-F238E27FC236}">
                <a16:creationId xmlns:a16="http://schemas.microsoft.com/office/drawing/2014/main" id="{C8E1860E-0D88-4364-8F7A-6D47DC12CBBE}"/>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scope</a:t>
            </a:r>
          </a:p>
        </p:txBody>
      </p:sp>
      <p:sp>
        <p:nvSpPr>
          <p:cNvPr id="25" name="band-divider-11">
            <a:extLst xmlns:a="http://schemas.openxmlformats.org/drawingml/2006/main">
              <a:ext uri="{FF2B5EF4-FFF2-40B4-BE49-F238E27FC236}">
                <a16:creationId xmlns:a16="http://schemas.microsoft.com/office/drawing/2014/main" id="{9EFD0D49-67C4-4689-BDB6-74D9ECF9E4CF}"/>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26" name="band-text-11">
            <a:extLst xmlns:a="http://schemas.openxmlformats.org/drawingml/2006/main">
              <a:ext uri="{FF2B5EF4-FFF2-40B4-BE49-F238E27FC236}">
                <a16:creationId xmlns:a16="http://schemas.microsoft.com/office/drawing/2014/main" id="{2A4536F6-097B-4354-A37B-C56A5A022552}"/>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只允許 canonical generation_prompt rule set 改變；strategy_prompt、inherited_java 不變。</a:t>
            </a:r>
          </a:p>
        </p:txBody>
      </p:sp>
    </p:spTree>
    <p:extLst>
      <p:ext uri="{BB962C8B-B14F-4D97-AF65-F5344CB8AC3E}">
        <p14:creationId xmlns:p14="http://schemas.microsoft.com/office/powerpoint/2010/main" val="322032705"/>
      </p:ext>
    </p:extLst>
  </p:cSld>
</p:sld>
</file>

<file path=ppt/slides/slide1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7" name="top-left-12">
            <a:extLst xmlns:a="http://schemas.openxmlformats.org/drawingml/2006/main">
              <a:ext uri="{FF2B5EF4-FFF2-40B4-BE49-F238E27FC236}">
                <a16:creationId xmlns:a16="http://schemas.microsoft.com/office/drawing/2014/main" id="{28E89825-0023-455C-9961-838ABDCAB61A}"/>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12">
            <a:extLst xmlns:a="http://schemas.openxmlformats.org/drawingml/2006/main">
              <a:ext uri="{FF2B5EF4-FFF2-40B4-BE49-F238E27FC236}">
                <a16:creationId xmlns:a16="http://schemas.microsoft.com/office/drawing/2014/main" id="{B994DF20-2D15-4CB0-BC9C-874A6EC15944}"/>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12">
            <a:extLst xmlns:a="http://schemas.openxmlformats.org/drawingml/2006/main">
              <a:ext uri="{FF2B5EF4-FFF2-40B4-BE49-F238E27FC236}">
                <a16:creationId xmlns:a16="http://schemas.microsoft.com/office/drawing/2014/main" id="{C4F9D139-711C-4458-ADAF-F65321BC551B}"/>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12">
            <a:extLst xmlns:a="http://schemas.openxmlformats.org/drawingml/2006/main">
              <a:ext uri="{FF2B5EF4-FFF2-40B4-BE49-F238E27FC236}">
                <a16:creationId xmlns:a16="http://schemas.microsoft.com/office/drawing/2014/main" id="{9516B582-F08E-4493-815F-033A4DF0C368}"/>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12">
            <a:extLst xmlns:a="http://schemas.openxmlformats.org/drawingml/2006/main">
              <a:ext uri="{FF2B5EF4-FFF2-40B4-BE49-F238E27FC236}">
                <a16:creationId xmlns:a16="http://schemas.microsoft.com/office/drawing/2014/main" id="{ADCE71AF-CDBB-4052-885A-FC759A1ECB07}"/>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12">
            <a:extLst xmlns:a="http://schemas.openxmlformats.org/drawingml/2006/main">
              <a:ext uri="{FF2B5EF4-FFF2-40B4-BE49-F238E27FC236}">
                <a16:creationId xmlns:a16="http://schemas.microsoft.com/office/drawing/2014/main" id="{FD0886A0-8C4C-4FCC-95C5-73749A88E377}"/>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M3</a:t>
            </a:r>
          </a:p>
        </p:txBody>
      </p:sp>
      <p:sp>
        <p:nvSpPr>
          <p:cNvPr id="7" name="status-12">
            <a:extLst xmlns:a="http://schemas.openxmlformats.org/drawingml/2006/main">
              <a:ext uri="{FF2B5EF4-FFF2-40B4-BE49-F238E27FC236}">
                <a16:creationId xmlns:a16="http://schemas.microsoft.com/office/drawing/2014/main" id="{F7068FE9-5CFA-426C-BAFE-A05CF3E60665}"/>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CURRENT · PROMPT COMPLIANCE</a:t>
            </a:r>
          </a:p>
        </p:txBody>
      </p:sp>
      <p:sp>
        <p:nvSpPr>
          <p:cNvPr id="8" name="bottom-12">
            <a:extLst xmlns:a="http://schemas.openxmlformats.org/drawingml/2006/main">
              <a:ext uri="{FF2B5EF4-FFF2-40B4-BE49-F238E27FC236}">
                <a16:creationId xmlns:a16="http://schemas.microsoft.com/office/drawing/2014/main" id="{92E73B09-265D-4FE7-8847-BE758D04A4C7}"/>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12">
            <a:extLst xmlns:a="http://schemas.openxmlformats.org/drawingml/2006/main">
              <a:ext uri="{FF2B5EF4-FFF2-40B4-BE49-F238E27FC236}">
                <a16:creationId xmlns:a16="http://schemas.microsoft.com/office/drawing/2014/main" id="{F9A620D7-C8BF-4E5B-9E77-2754F6161C36}"/>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12 / 14</a:t>
            </a:r>
          </a:p>
        </p:txBody>
      </p:sp>
      <p:sp>
        <p:nvSpPr>
          <p:cNvPr id="10" name="title-12">
            <a:extLst xmlns:a="http://schemas.openxmlformats.org/drawingml/2006/main">
              <a:ext uri="{FF2B5EF4-FFF2-40B4-BE49-F238E27FC236}">
                <a16:creationId xmlns:a16="http://schemas.microsoft.com/office/drawing/2014/main" id="{EAE412F7-2FAF-48EE-BB00-16D9B6E90568}"/>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Meta-prompt 3｜Prompt Compliance</a:t>
            </a:r>
          </a:p>
        </p:txBody>
      </p:sp>
      <p:sp>
        <p:nvSpPr>
          <p:cNvPr id="11" name="subtitle-12">
            <a:extLst xmlns:a="http://schemas.openxmlformats.org/drawingml/2006/main">
              <a:ext uri="{FF2B5EF4-FFF2-40B4-BE49-F238E27FC236}">
                <a16:creationId xmlns:a16="http://schemas.microsoft.com/office/drawing/2014/main" id="{DB0B1780-7D19-4DBC-813D-B328A07612E4}"/>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不再處理 balance；只檢查 prompt 是否能在 MicroRTS 規則與 API 下合法、忠實地執行</a:t>
            </a:r>
          </a:p>
        </p:txBody>
      </p:sp>
      <p:sp>
        <p:nvSpPr>
          <p:cNvPr id="12" name="vline-a-12">
            <a:extLst xmlns:a="http://schemas.openxmlformats.org/drawingml/2006/main">
              <a:ext uri="{FF2B5EF4-FFF2-40B4-BE49-F238E27FC236}">
                <a16:creationId xmlns:a16="http://schemas.microsoft.com/office/drawing/2014/main" id="{0FA742B5-AE86-4BD9-AE73-104379F4520D}"/>
              </a:ext>
            </a:extLst>
          </p:cNvPr>
          <p:cNvSpPr>
            <a:spLocks xmlns:a="http://schemas.openxmlformats.org/drawingml/2006/main" noGrp="1"/>
          </p:cNvSpPr>
          <p:nvPr/>
        </p:nvSpPr>
        <p:spPr>
          <a:xfrm xmlns:a="http://schemas.openxmlformats.org/drawingml/2006/main">
            <a:off x="6143625"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3" name="vline-b-12">
            <a:extLst xmlns:a="http://schemas.openxmlformats.org/drawingml/2006/main">
              <a:ext uri="{FF2B5EF4-FFF2-40B4-BE49-F238E27FC236}">
                <a16:creationId xmlns:a16="http://schemas.microsoft.com/office/drawing/2014/main" id="{340295F4-D9D9-445E-8F55-0A59AA87649D}"/>
              </a:ext>
            </a:extLst>
          </p:cNvPr>
          <p:cNvSpPr>
            <a:spLocks xmlns:a="http://schemas.openxmlformats.org/drawingml/2006/main" noGrp="1"/>
          </p:cNvSpPr>
          <p:nvPr/>
        </p:nvSpPr>
        <p:spPr>
          <a:xfrm xmlns:a="http://schemas.openxmlformats.org/drawingml/2006/main">
            <a:off x="11620500" y="2047875"/>
            <a:ext cx="0" cy="5619750"/>
          </a:xfrm>
          <a:prstGeom xmlns:a="http://schemas.openxmlformats.org/drawingml/2006/main" prst="line">
            <a:avLst/>
          </a:prstGeom>
          <a:noFill xmlns:a="http://schemas.openxmlformats.org/drawingml/2006/main"/>
          <a:ln xmlns:a="http://schemas.openxmlformats.org/drawingml/2006/main" w="12383">
            <a:solidFill>
              <a:srgbClr val="E7B9B5"/>
            </a:solidFill>
            <a:prstDash val="solid"/>
          </a:ln>
        </p:spPr>
      </p:sp>
      <p:sp>
        <p:nvSpPr>
          <p:cNvPr id="14" name="col-12-0-text">
            <a:extLst xmlns:a="http://schemas.openxmlformats.org/drawingml/2006/main">
              <a:ext uri="{FF2B5EF4-FFF2-40B4-BE49-F238E27FC236}">
                <a16:creationId xmlns:a16="http://schemas.microsoft.com/office/drawing/2014/main" id="{7529C669-B8CD-4750-9CA3-1A325452A56D}"/>
              </a:ext>
            </a:extLst>
          </p:cNvPr>
          <p:cNvSpPr>
            <a:spLocks xmlns:a="http://schemas.openxmlformats.org/drawingml/2006/main" noGrp="1"/>
          </p:cNvSpPr>
          <p:nvPr/>
        </p:nvSpPr>
        <p:spPr>
          <a:xfrm xmlns:a="http://schemas.openxmlformats.org/drawingml/2006/main">
            <a:off x="952500"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Reflector：獨立稽核</a:t>
            </a:r>
          </a:p>
        </p:txBody>
      </p:sp>
      <p:sp>
        <p:nvSpPr>
          <p:cNvPr id="15" name="col-12-0-line">
            <a:extLst xmlns:a="http://schemas.openxmlformats.org/drawingml/2006/main">
              <a:ext uri="{FF2B5EF4-FFF2-40B4-BE49-F238E27FC236}">
                <a16:creationId xmlns:a16="http://schemas.microsoft.com/office/drawing/2014/main" id="{1B35C381-6F9A-4449-B920-C51093ABBAFA}"/>
              </a:ext>
            </a:extLst>
          </p:cNvPr>
          <p:cNvSpPr>
            <a:spLocks xmlns:a="http://schemas.openxmlformats.org/drawingml/2006/main" noGrp="1"/>
          </p:cNvSpPr>
          <p:nvPr/>
        </p:nvSpPr>
        <p:spPr>
          <a:xfrm xmlns:a="http://schemas.openxmlformats.org/drawingml/2006/main">
            <a:off x="952500"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6" name="col-body-12-0">
            <a:extLst xmlns:a="http://schemas.openxmlformats.org/drawingml/2006/main">
              <a:ext uri="{FF2B5EF4-FFF2-40B4-BE49-F238E27FC236}">
                <a16:creationId xmlns:a16="http://schemas.microsoft.com/office/drawing/2014/main" id="{4F7E9197-585B-464F-8BA3-DD9DC9E90118}"/>
              </a:ext>
            </a:extLst>
          </p:cNvPr>
          <p:cNvSpPr>
            <a:spLocks xmlns:a="http://schemas.openxmlformats.org/drawingml/2006/main" noGrp="1"/>
          </p:cNvSpPr>
          <p:nvPr/>
        </p:nvSpPr>
        <p:spPr>
          <a:xfrm xmlns:a="http://schemas.openxmlformats.org/drawingml/2006/main">
            <a:off x="952500"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strategy_prompt</a:t>
            </a:r>
          </a:p>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game concept／state／action／production／ambiguity</a:t>
            </a:r>
          </a:p>
          <a:p xmlns:a="http://schemas.openxmlformats.org/drawingml/2006/main">
            <a:r>
              <a:t/>
            </a:r>
          </a:p>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code_generation_prompt</a:t>
            </a:r>
          </a:p>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 policy-specific／API assumption／scaffold／rule conflict</a:t>
            </a:r>
          </a:p>
          <a:p xmlns:a="http://schemas.openxmlformats.org/drawingml/2006/main">
            <a:r>
              <a:t/>
            </a:r>
          </a:p>
          <a:p xmlns:a="http://schemas.openxmlformats.org/drawingml/2006/main">
            <a:pPr algn="l">
              <a:lnSpc>
                <a:spcPct val="114000"/>
              </a:lnSpc>
              <a:buNone/>
              <a:defRPr sz="1425" b="0" i="0">
                <a:solidFill>
                  <a:srgbClr val="25252A"/>
                </a:solidFill>
                <a:latin typeface="Noto Sans CJK TC"/>
                <a:ea typeface="Noto Sans CJK TC"/>
                <a:cs typeface="Noto Sans CJK TC"/>
              </a:defRPr>
            </a:pPr>
            <a:r>
              <a:rPr sz="1425" b="0" i="0">
                <a:solidFill>
                  <a:srgbClr val="25252A"/>
                </a:solidFill>
                <a:latin typeface="Noto Sans CJK TC"/>
                <a:ea typeface="Noto Sans CJK TC"/>
                <a:cs typeface="Noto Sans CJK TC"/>
              </a:rPr>
              <a:t>禁止使用 wins、losses、fitness、match behavior 或 Java quality 作判斷。</a:t>
            </a:r>
          </a:p>
        </p:txBody>
      </p:sp>
      <p:sp>
        <p:nvSpPr>
          <p:cNvPr id="17" name="col-12-1-text">
            <a:extLst xmlns:a="http://schemas.openxmlformats.org/drawingml/2006/main">
              <a:ext uri="{FF2B5EF4-FFF2-40B4-BE49-F238E27FC236}">
                <a16:creationId xmlns:a16="http://schemas.microsoft.com/office/drawing/2014/main" id="{E1B8413C-30AD-4BC3-9715-5E2C2DE4CA6A}"/>
              </a:ext>
            </a:extLst>
          </p:cNvPr>
          <p:cNvSpPr>
            <a:spLocks xmlns:a="http://schemas.openxmlformats.org/drawingml/2006/main" noGrp="1"/>
          </p:cNvSpPr>
          <p:nvPr/>
        </p:nvSpPr>
        <p:spPr>
          <a:xfrm xmlns:a="http://schemas.openxmlformats.org/drawingml/2006/main">
            <a:off x="6429375" y="19526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Selective rewrite</a:t>
            </a:r>
          </a:p>
        </p:txBody>
      </p:sp>
      <p:sp>
        <p:nvSpPr>
          <p:cNvPr id="18" name="col-12-1-line">
            <a:extLst xmlns:a="http://schemas.openxmlformats.org/drawingml/2006/main">
              <a:ext uri="{FF2B5EF4-FFF2-40B4-BE49-F238E27FC236}">
                <a16:creationId xmlns:a16="http://schemas.microsoft.com/office/drawing/2014/main" id="{69F1D547-C733-4C4C-8350-FF9A8856EE2B}"/>
              </a:ext>
            </a:extLst>
          </p:cNvPr>
          <p:cNvSpPr>
            <a:spLocks xmlns:a="http://schemas.openxmlformats.org/drawingml/2006/main" noGrp="1"/>
          </p:cNvSpPr>
          <p:nvPr/>
        </p:nvSpPr>
        <p:spPr>
          <a:xfrm xmlns:a="http://schemas.openxmlformats.org/drawingml/2006/main">
            <a:off x="6429375" y="2333625"/>
            <a:ext cx="4953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9" name="col-body-12-1">
            <a:extLst xmlns:a="http://schemas.openxmlformats.org/drawingml/2006/main">
              <a:ext uri="{FF2B5EF4-FFF2-40B4-BE49-F238E27FC236}">
                <a16:creationId xmlns:a16="http://schemas.microsoft.com/office/drawing/2014/main" id="{FA0956C6-017E-4224-9E17-0A5732B45703}"/>
              </a:ext>
            </a:extLst>
          </p:cNvPr>
          <p:cNvSpPr>
            <a:spLocks xmlns:a="http://schemas.openxmlformats.org/drawingml/2006/main" noGrp="1"/>
          </p:cNvSpPr>
          <p:nvPr/>
        </p:nvSpPr>
        <p:spPr>
          <a:xfrm xmlns:a="http://schemas.openxmlformats.org/drawingml/2006/main">
            <a:off x="6429375" y="2571750"/>
            <a:ext cx="495300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issue array 為空</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rewrite focus 也必須空</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該 gene 不呼叫 rewriter</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有 strategy issue</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complete replacement policy</a:t>
            </a:r>
          </a:p>
          <a:p xmlns:a="http://schemas.openxmlformats.org/drawingml/2006/main">
            <a:r>
              <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有 code issue</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one reusable rule delta</a:t>
            </a:r>
          </a:p>
        </p:txBody>
      </p:sp>
      <p:sp>
        <p:nvSpPr>
          <p:cNvPr id="20" name="col-12-2-text">
            <a:extLst xmlns:a="http://schemas.openxmlformats.org/drawingml/2006/main">
              <a:ext uri="{FF2B5EF4-FFF2-40B4-BE49-F238E27FC236}">
                <a16:creationId xmlns:a16="http://schemas.microsoft.com/office/drawing/2014/main" id="{19750C61-A47A-43E1-98F1-40714A28A372}"/>
              </a:ext>
            </a:extLst>
          </p:cNvPr>
          <p:cNvSpPr>
            <a:spLocks xmlns:a="http://schemas.openxmlformats.org/drawingml/2006/main" noGrp="1"/>
          </p:cNvSpPr>
          <p:nvPr/>
        </p:nvSpPr>
        <p:spPr>
          <a:xfrm xmlns:a="http://schemas.openxmlformats.org/drawingml/2006/main">
            <a:off x="11906250" y="1952625"/>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Commit semantics</a:t>
            </a:r>
          </a:p>
        </p:txBody>
      </p:sp>
      <p:sp>
        <p:nvSpPr>
          <p:cNvPr id="21" name="col-12-2-line">
            <a:extLst xmlns:a="http://schemas.openxmlformats.org/drawingml/2006/main">
              <a:ext uri="{FF2B5EF4-FFF2-40B4-BE49-F238E27FC236}">
                <a16:creationId xmlns:a16="http://schemas.microsoft.com/office/drawing/2014/main" id="{3226750B-87C7-4877-8EB0-AF16DF924319}"/>
              </a:ext>
            </a:extLst>
          </p:cNvPr>
          <p:cNvSpPr>
            <a:spLocks xmlns:a="http://schemas.openxmlformats.org/drawingml/2006/main" noGrp="1"/>
          </p:cNvSpPr>
          <p:nvPr/>
        </p:nvSpPr>
        <p:spPr>
          <a:xfrm xmlns:a="http://schemas.openxmlformats.org/drawingml/2006/main">
            <a:off x="11906250" y="2333625"/>
            <a:ext cx="54292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22" name="col-body-12-2">
            <a:extLst xmlns:a="http://schemas.openxmlformats.org/drawingml/2006/main">
              <a:ext uri="{FF2B5EF4-FFF2-40B4-BE49-F238E27FC236}">
                <a16:creationId xmlns:a16="http://schemas.microsoft.com/office/drawing/2014/main" id="{6BD03EF5-DF5D-4B28-8486-1774791AFB48}"/>
              </a:ext>
            </a:extLst>
          </p:cNvPr>
          <p:cNvSpPr>
            <a:spLocks xmlns:a="http://schemas.openxmlformats.org/drawingml/2006/main" noGrp="1"/>
          </p:cNvSpPr>
          <p:nvPr/>
        </p:nvSpPr>
        <p:spPr>
          <a:xfrm xmlns:a="http://schemas.openxmlformats.org/drawingml/2006/main">
            <a:off x="11906250" y="2571750"/>
            <a:ext cx="5429250" cy="519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只改有 issue 的 gene</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兩個 gene 都有 issue 時，兩個 rewrite 必須都成功才一起 commit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clean audit → already_compliant</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任一輸出未通過 schema／contract validator → 不套用</a:t>
            </a:r>
          </a:p>
          <a:p xmlns:a="http://schemas.openxmlformats.org/drawingml/2006/main">
            <a:pPr algn="l">
              <a:lnSpc>
                <a:spcPct val="114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inherited Java 永遠不改</a:t>
            </a:r>
          </a:p>
        </p:txBody>
      </p:sp>
      <p:sp>
        <p:nvSpPr>
          <p:cNvPr id="23" name="band-12">
            <a:extLst xmlns:a="http://schemas.openxmlformats.org/drawingml/2006/main">
              <a:ext uri="{FF2B5EF4-FFF2-40B4-BE49-F238E27FC236}">
                <a16:creationId xmlns:a16="http://schemas.microsoft.com/office/drawing/2014/main" id="{AF44E19B-1554-45EB-9BCE-529668E501E9}"/>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24" name="band-label-12">
            <a:extLst xmlns:a="http://schemas.openxmlformats.org/drawingml/2006/main">
              <a:ext uri="{FF2B5EF4-FFF2-40B4-BE49-F238E27FC236}">
                <a16:creationId xmlns:a16="http://schemas.microsoft.com/office/drawing/2014/main" id="{5FDB15F4-7DEE-47C9-9AA9-D490F0A67550}"/>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名稱與責任</a:t>
            </a:r>
          </a:p>
        </p:txBody>
      </p:sp>
      <p:sp>
        <p:nvSpPr>
          <p:cNvPr id="25" name="band-divider-12">
            <a:extLst xmlns:a="http://schemas.openxmlformats.org/drawingml/2006/main">
              <a:ext uri="{FF2B5EF4-FFF2-40B4-BE49-F238E27FC236}">
                <a16:creationId xmlns:a16="http://schemas.microsoft.com/office/drawing/2014/main" id="{11F0EB61-ECDE-4D1F-83BF-7EF58F89B47E}"/>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26" name="band-text-12">
            <a:extLst xmlns:a="http://schemas.openxmlformats.org/drawingml/2006/main">
              <a:ext uri="{FF2B5EF4-FFF2-40B4-BE49-F238E27FC236}">
                <a16:creationId xmlns:a16="http://schemas.microsoft.com/office/drawing/2014/main" id="{26552F65-AF72-4113-926E-236B2A22A5FB}"/>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Prompt Compliance Reflection：修正 prompt 與遊戲／API 規範的落差；不再做勝負平衡建議。</a:t>
            </a:r>
          </a:p>
        </p:txBody>
      </p:sp>
    </p:spTree>
    <p:extLst>
      <p:ext uri="{BB962C8B-B14F-4D97-AF65-F5344CB8AC3E}">
        <p14:creationId xmlns:p14="http://schemas.microsoft.com/office/powerpoint/2010/main" val="1299219143"/>
      </p:ext>
    </p:extLst>
  </p:cSld>
</p:sld>
</file>

<file path=ppt/slides/slide1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34" name="top-left-13">
            <a:extLst xmlns:a="http://schemas.openxmlformats.org/drawingml/2006/main">
              <a:ext uri="{FF2B5EF4-FFF2-40B4-BE49-F238E27FC236}">
                <a16:creationId xmlns:a16="http://schemas.microsoft.com/office/drawing/2014/main" id="{78A35CD6-6E21-4A63-AA30-8DE0F0BB1EA0}"/>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13">
            <a:extLst xmlns:a="http://schemas.openxmlformats.org/drawingml/2006/main">
              <a:ext uri="{FF2B5EF4-FFF2-40B4-BE49-F238E27FC236}">
                <a16:creationId xmlns:a16="http://schemas.microsoft.com/office/drawing/2014/main" id="{5B63C2FE-146B-49B2-8A82-772FD4E56BE9}"/>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13">
            <a:extLst xmlns:a="http://schemas.openxmlformats.org/drawingml/2006/main">
              <a:ext uri="{FF2B5EF4-FFF2-40B4-BE49-F238E27FC236}">
                <a16:creationId xmlns:a16="http://schemas.microsoft.com/office/drawing/2014/main" id="{91E279FC-7D5C-485C-8040-42912651FD3F}"/>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13">
            <a:extLst xmlns:a="http://schemas.openxmlformats.org/drawingml/2006/main">
              <a:ext uri="{FF2B5EF4-FFF2-40B4-BE49-F238E27FC236}">
                <a16:creationId xmlns:a16="http://schemas.microsoft.com/office/drawing/2014/main" id="{0732D6CA-A950-47CE-9A1F-CA5CEDB14866}"/>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13">
            <a:extLst xmlns:a="http://schemas.openxmlformats.org/drawingml/2006/main">
              <a:ext uri="{FF2B5EF4-FFF2-40B4-BE49-F238E27FC236}">
                <a16:creationId xmlns:a16="http://schemas.microsoft.com/office/drawing/2014/main" id="{C34556D8-4E71-4EA9-930B-9A2DCCFCFA81}"/>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13">
            <a:extLst xmlns:a="http://schemas.openxmlformats.org/drawingml/2006/main">
              <a:ext uri="{FF2B5EF4-FFF2-40B4-BE49-F238E27FC236}">
                <a16:creationId xmlns:a16="http://schemas.microsoft.com/office/drawing/2014/main" id="{347B98D4-D4BF-4656-92E4-32F385ACFA63}"/>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06</a:t>
            </a:r>
          </a:p>
        </p:txBody>
      </p:sp>
      <p:sp>
        <p:nvSpPr>
          <p:cNvPr id="7" name="status-13">
            <a:extLst xmlns:a="http://schemas.openxmlformats.org/drawingml/2006/main">
              <a:ext uri="{FF2B5EF4-FFF2-40B4-BE49-F238E27FC236}">
                <a16:creationId xmlns:a16="http://schemas.microsoft.com/office/drawing/2014/main" id="{DAB8FD90-8BD3-43F0-A6D5-427C4D063573}"/>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ONE SOURCE OF GAME RULES</a:t>
            </a:r>
          </a:p>
        </p:txBody>
      </p:sp>
      <p:sp>
        <p:nvSpPr>
          <p:cNvPr id="8" name="bottom-13">
            <a:extLst xmlns:a="http://schemas.openxmlformats.org/drawingml/2006/main">
              <a:ext uri="{FF2B5EF4-FFF2-40B4-BE49-F238E27FC236}">
                <a16:creationId xmlns:a16="http://schemas.microsoft.com/office/drawing/2014/main" id="{3258A6B7-517D-47E6-AF76-7F8791D53832}"/>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13">
            <a:extLst xmlns:a="http://schemas.openxmlformats.org/drawingml/2006/main">
              <a:ext uri="{FF2B5EF4-FFF2-40B4-BE49-F238E27FC236}">
                <a16:creationId xmlns:a16="http://schemas.microsoft.com/office/drawing/2014/main" id="{256EEC33-7AEE-4E3A-B0FE-1539E43C7147}"/>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13 / 14</a:t>
            </a:r>
          </a:p>
        </p:txBody>
      </p:sp>
      <p:sp>
        <p:nvSpPr>
          <p:cNvPr id="10" name="title-13">
            <a:extLst xmlns:a="http://schemas.openxmlformats.org/drawingml/2006/main">
              <a:ext uri="{FF2B5EF4-FFF2-40B4-BE49-F238E27FC236}">
                <a16:creationId xmlns:a16="http://schemas.microsoft.com/office/drawing/2014/main" id="{42DF4B02-A7C1-4123-8A54-A6CDB719F86A}"/>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LLM 現在拿到的遊戲資訊</a:t>
            </a:r>
          </a:p>
        </p:txBody>
      </p:sp>
      <p:sp>
        <p:nvSpPr>
          <p:cNvPr id="11" name="subtitle-13">
            <a:extLst xmlns:a="http://schemas.openxmlformats.org/drawingml/2006/main">
              <a:ext uri="{FF2B5EF4-FFF2-40B4-BE49-F238E27FC236}">
                <a16:creationId xmlns:a16="http://schemas.microsoft.com/office/drawing/2014/main" id="{B6F18EC3-AA20-4E5F-B91E-2A5C0BB09CDD}"/>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完整 contract 保留 domain detail；meta-prompt 只引用，不重複堆疊</a:t>
            </a:r>
          </a:p>
        </p:txBody>
      </p:sp>
      <p:sp>
        <p:nvSpPr>
          <p:cNvPr id="12" name="contract-0-box">
            <a:extLst xmlns:a="http://schemas.openxmlformats.org/drawingml/2006/main">
              <a:ext uri="{FF2B5EF4-FFF2-40B4-BE49-F238E27FC236}">
                <a16:creationId xmlns:a16="http://schemas.microsoft.com/office/drawing/2014/main" id="{FD93C20D-EF5E-4469-889C-483070C74371}"/>
              </a:ext>
            </a:extLst>
          </p:cNvPr>
          <p:cNvSpPr>
            <a:spLocks xmlns:a="http://schemas.openxmlformats.org/drawingml/2006/main" noGrp="1"/>
          </p:cNvSpPr>
          <p:nvPr/>
        </p:nvSpPr>
        <p:spPr>
          <a:xfrm xmlns:a="http://schemas.openxmlformats.org/drawingml/2006/main">
            <a:off x="1047750" y="1952625"/>
            <a:ext cx="7620000" cy="1571625"/>
          </a:xfrm>
          <a:prstGeom xmlns:a="http://schemas.openxmlformats.org/drawingml/2006/main" prst="roundRect">
            <a:avLst>
              <a:gd name="adj" fmla="val 10909"/>
            </a:avLst>
          </a:prstGeom>
          <a:solidFill xmlns:a="http://schemas.openxmlformats.org/drawingml/2006/main">
            <a:srgbClr val="E2EFE6"/>
          </a:solidFill>
          <a:ln xmlns:a="http://schemas.openxmlformats.org/drawingml/2006/main" w="11430">
            <a:solidFill>
              <a:srgbClr val="47795C"/>
            </a:solidFill>
            <a:prstDash val="solid"/>
          </a:ln>
        </p:spPr>
      </p:sp>
      <p:sp>
        <p:nvSpPr>
          <p:cNvPr id="13" name="contract-0-title">
            <a:extLst xmlns:a="http://schemas.openxmlformats.org/drawingml/2006/main">
              <a:ext uri="{FF2B5EF4-FFF2-40B4-BE49-F238E27FC236}">
                <a16:creationId xmlns:a16="http://schemas.microsoft.com/office/drawing/2014/main" id="{EAD82CF8-1C2F-450D-84F4-0FC265F6FE91}"/>
              </a:ext>
            </a:extLst>
          </p:cNvPr>
          <p:cNvSpPr>
            <a:spLocks xmlns:a="http://schemas.openxmlformats.org/drawingml/2006/main" noGrp="1"/>
          </p:cNvSpPr>
          <p:nvPr/>
        </p:nvSpPr>
        <p:spPr>
          <a:xfrm xmlns:a="http://schemas.openxmlformats.org/drawingml/2006/main">
            <a:off x="1276350" y="2143125"/>
            <a:ext cx="716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Entities</a:t>
            </a:r>
          </a:p>
        </p:txBody>
      </p:sp>
      <p:sp>
        <p:nvSpPr>
          <p:cNvPr id="14" name="contract-0-body">
            <a:extLst xmlns:a="http://schemas.openxmlformats.org/drawingml/2006/main">
              <a:ext uri="{FF2B5EF4-FFF2-40B4-BE49-F238E27FC236}">
                <a16:creationId xmlns:a16="http://schemas.microsoft.com/office/drawing/2014/main" id="{225F394D-75FC-4F0B-8E11-F6F371604905}"/>
              </a:ext>
            </a:extLst>
          </p:cNvPr>
          <p:cNvSpPr>
            <a:spLocks xmlns:a="http://schemas.openxmlformats.org/drawingml/2006/main" noGrp="1"/>
          </p:cNvSpPr>
          <p:nvPr/>
        </p:nvSpPr>
        <p:spPr>
          <a:xfrm xmlns:a="http://schemas.openxmlformats.org/drawingml/2006/main">
            <a:off x="1276350" y="2638425"/>
            <a:ext cx="716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Base · Barracks · Worker · Light · Heavy · Ranged · Resource</a:t>
            </a:r>
          </a:p>
        </p:txBody>
      </p:sp>
      <p:sp>
        <p:nvSpPr>
          <p:cNvPr id="15" name="contract-1-box">
            <a:extLst xmlns:a="http://schemas.openxmlformats.org/drawingml/2006/main">
              <a:ext uri="{FF2B5EF4-FFF2-40B4-BE49-F238E27FC236}">
                <a16:creationId xmlns:a16="http://schemas.microsoft.com/office/drawing/2014/main" id="{1EE2C93F-8D11-4F1E-AF54-6FAA5ACA7C3C}"/>
              </a:ext>
            </a:extLst>
          </p:cNvPr>
          <p:cNvSpPr>
            <a:spLocks xmlns:a="http://schemas.openxmlformats.org/drawingml/2006/main" noGrp="1"/>
          </p:cNvSpPr>
          <p:nvPr/>
        </p:nvSpPr>
        <p:spPr>
          <a:xfrm xmlns:a="http://schemas.openxmlformats.org/drawingml/2006/main">
            <a:off x="9239250" y="1952625"/>
            <a:ext cx="7620000" cy="1571625"/>
          </a:xfrm>
          <a:prstGeom xmlns:a="http://schemas.openxmlformats.org/drawingml/2006/main" prst="roundRect">
            <a:avLst>
              <a:gd name="adj" fmla="val 10909"/>
            </a:avLst>
          </a:prstGeom>
          <a:solidFill xmlns:a="http://schemas.openxmlformats.org/drawingml/2006/main">
            <a:srgbClr val="FFFDF9"/>
          </a:solidFill>
          <a:ln xmlns:a="http://schemas.openxmlformats.org/drawingml/2006/main" w="11430">
            <a:solidFill>
              <a:srgbClr val="E7B9B5"/>
            </a:solidFill>
            <a:prstDash val="solid"/>
          </a:ln>
        </p:spPr>
      </p:sp>
      <p:sp>
        <p:nvSpPr>
          <p:cNvPr id="16" name="contract-1-title">
            <a:extLst xmlns:a="http://schemas.openxmlformats.org/drawingml/2006/main">
              <a:ext uri="{FF2B5EF4-FFF2-40B4-BE49-F238E27FC236}">
                <a16:creationId xmlns:a16="http://schemas.microsoft.com/office/drawing/2014/main" id="{93C8D7E4-8F0C-4383-9E04-BC567A4097BA}"/>
              </a:ext>
            </a:extLst>
          </p:cNvPr>
          <p:cNvSpPr>
            <a:spLocks xmlns:a="http://schemas.openxmlformats.org/drawingml/2006/main" noGrp="1"/>
          </p:cNvSpPr>
          <p:nvPr/>
        </p:nvSpPr>
        <p:spPr>
          <a:xfrm xmlns:a="http://schemas.openxmlformats.org/drawingml/2006/main">
            <a:off x="9467850" y="2143125"/>
            <a:ext cx="716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B95160"/>
                </a:solidFill>
                <a:latin typeface="Noto Sans CJK TC"/>
                <a:ea typeface="Noto Sans CJK TC"/>
                <a:cs typeface="Noto Sans CJK TC"/>
              </a:defRPr>
            </a:pPr>
            <a:r>
              <a:rPr sz="1650" b="1" i="0">
                <a:solidFill>
                  <a:srgbClr val="B95160"/>
                </a:solidFill>
                <a:latin typeface="Noto Sans CJK TC"/>
                <a:ea typeface="Noto Sans CJK TC"/>
                <a:cs typeface="Noto Sans CJK TC"/>
              </a:rPr>
              <a:t>Economy</a:t>
            </a:r>
          </a:p>
        </p:txBody>
      </p:sp>
      <p:sp>
        <p:nvSpPr>
          <p:cNvPr id="17" name="contract-1-body">
            <a:extLst xmlns:a="http://schemas.openxmlformats.org/drawingml/2006/main">
              <a:ext uri="{FF2B5EF4-FFF2-40B4-BE49-F238E27FC236}">
                <a16:creationId xmlns:a16="http://schemas.microsoft.com/office/drawing/2014/main" id="{98F8EE71-00D6-4244-A3BB-EA4B062E479E}"/>
              </a:ext>
            </a:extLst>
          </p:cNvPr>
          <p:cNvSpPr>
            <a:spLocks xmlns:a="http://schemas.openxmlformats.org/drawingml/2006/main" noGrp="1"/>
          </p:cNvSpPr>
          <p:nvPr/>
        </p:nvSpPr>
        <p:spPr>
          <a:xfrm xmlns:a="http://schemas.openxmlformats.org/drawingml/2006/main">
            <a:off x="9467850" y="2638425"/>
            <a:ext cx="716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resource carrying／return；cost：Worker 1、Light 2、Heavy 3、Ranged 2、Barracks 5、Base 10</a:t>
            </a:r>
          </a:p>
        </p:txBody>
      </p:sp>
      <p:sp>
        <p:nvSpPr>
          <p:cNvPr id="18" name="contract-2-box">
            <a:extLst xmlns:a="http://schemas.openxmlformats.org/drawingml/2006/main">
              <a:ext uri="{FF2B5EF4-FFF2-40B4-BE49-F238E27FC236}">
                <a16:creationId xmlns:a16="http://schemas.microsoft.com/office/drawing/2014/main" id="{1EEBCFDC-1C69-4AD4-A6AF-3A8509A51571}"/>
              </a:ext>
            </a:extLst>
          </p:cNvPr>
          <p:cNvSpPr>
            <a:spLocks xmlns:a="http://schemas.openxmlformats.org/drawingml/2006/main" noGrp="1"/>
          </p:cNvSpPr>
          <p:nvPr/>
        </p:nvSpPr>
        <p:spPr>
          <a:xfrm xmlns:a="http://schemas.openxmlformats.org/drawingml/2006/main">
            <a:off x="1047750" y="3905250"/>
            <a:ext cx="7620000" cy="1571625"/>
          </a:xfrm>
          <a:prstGeom xmlns:a="http://schemas.openxmlformats.org/drawingml/2006/main" prst="roundRect">
            <a:avLst>
              <a:gd name="adj" fmla="val 10909"/>
            </a:avLst>
          </a:prstGeom>
          <a:solidFill xmlns:a="http://schemas.openxmlformats.org/drawingml/2006/main">
            <a:srgbClr val="E2EFE6"/>
          </a:solidFill>
          <a:ln xmlns:a="http://schemas.openxmlformats.org/drawingml/2006/main" w="11430">
            <a:solidFill>
              <a:srgbClr val="47795C"/>
            </a:solidFill>
            <a:prstDash val="solid"/>
          </a:ln>
        </p:spPr>
      </p:sp>
      <p:sp>
        <p:nvSpPr>
          <p:cNvPr id="19" name="contract-2-title">
            <a:extLst xmlns:a="http://schemas.openxmlformats.org/drawingml/2006/main">
              <a:ext uri="{FF2B5EF4-FFF2-40B4-BE49-F238E27FC236}">
                <a16:creationId xmlns:a16="http://schemas.microsoft.com/office/drawing/2014/main" id="{E1C3C419-8791-4B92-B3C1-AB5164895539}"/>
              </a:ext>
            </a:extLst>
          </p:cNvPr>
          <p:cNvSpPr>
            <a:spLocks xmlns:a="http://schemas.openxmlformats.org/drawingml/2006/main" noGrp="1"/>
          </p:cNvSpPr>
          <p:nvPr/>
        </p:nvSpPr>
        <p:spPr>
          <a:xfrm xmlns:a="http://schemas.openxmlformats.org/drawingml/2006/main">
            <a:off x="1276350" y="4095750"/>
            <a:ext cx="716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Production</a:t>
            </a:r>
          </a:p>
        </p:txBody>
      </p:sp>
      <p:sp>
        <p:nvSpPr>
          <p:cNvPr id="20" name="contract-2-body">
            <a:extLst xmlns:a="http://schemas.openxmlformats.org/drawingml/2006/main">
              <a:ext uri="{FF2B5EF4-FFF2-40B4-BE49-F238E27FC236}">
                <a16:creationId xmlns:a16="http://schemas.microsoft.com/office/drawing/2014/main" id="{586B2178-A549-491F-82D1-8187D10DE82D}"/>
              </a:ext>
            </a:extLst>
          </p:cNvPr>
          <p:cNvSpPr>
            <a:spLocks xmlns:a="http://schemas.openxmlformats.org/drawingml/2006/main" noGrp="1"/>
          </p:cNvSpPr>
          <p:nvPr/>
        </p:nvSpPr>
        <p:spPr>
          <a:xfrm xmlns:a="http://schemas.openxmlformats.org/drawingml/2006/main">
            <a:off x="1276350" y="4591050"/>
            <a:ext cx="716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Base→Worker；Barracks→Light／Heavy／Ranged；free adjacent cell；Worker production = 50 cycles</a:t>
            </a:r>
          </a:p>
        </p:txBody>
      </p:sp>
      <p:sp>
        <p:nvSpPr>
          <p:cNvPr id="21" name="contract-3-box">
            <a:extLst xmlns:a="http://schemas.openxmlformats.org/drawingml/2006/main">
              <a:ext uri="{FF2B5EF4-FFF2-40B4-BE49-F238E27FC236}">
                <a16:creationId xmlns:a16="http://schemas.microsoft.com/office/drawing/2014/main" id="{AD7C8E1F-7B82-4646-8118-E7A2A6B69D69}"/>
              </a:ext>
            </a:extLst>
          </p:cNvPr>
          <p:cNvSpPr>
            <a:spLocks xmlns:a="http://schemas.openxmlformats.org/drawingml/2006/main" noGrp="1"/>
          </p:cNvSpPr>
          <p:nvPr/>
        </p:nvSpPr>
        <p:spPr>
          <a:xfrm xmlns:a="http://schemas.openxmlformats.org/drawingml/2006/main">
            <a:off x="9239250" y="3905250"/>
            <a:ext cx="7620000" cy="1571625"/>
          </a:xfrm>
          <a:prstGeom xmlns:a="http://schemas.openxmlformats.org/drawingml/2006/main" prst="roundRect">
            <a:avLst>
              <a:gd name="adj" fmla="val 10909"/>
            </a:avLst>
          </a:prstGeom>
          <a:solidFill xmlns:a="http://schemas.openxmlformats.org/drawingml/2006/main">
            <a:srgbClr val="FFFDF9"/>
          </a:solidFill>
          <a:ln xmlns:a="http://schemas.openxmlformats.org/drawingml/2006/main" w="11430">
            <a:solidFill>
              <a:srgbClr val="E7B9B5"/>
            </a:solidFill>
            <a:prstDash val="solid"/>
          </a:ln>
        </p:spPr>
      </p:sp>
      <p:sp>
        <p:nvSpPr>
          <p:cNvPr id="22" name="contract-3-title">
            <a:extLst xmlns:a="http://schemas.openxmlformats.org/drawingml/2006/main">
              <a:ext uri="{FF2B5EF4-FFF2-40B4-BE49-F238E27FC236}">
                <a16:creationId xmlns:a16="http://schemas.microsoft.com/office/drawing/2014/main" id="{1233FA60-9A82-48C8-B814-502CD0CDB8CE}"/>
              </a:ext>
            </a:extLst>
          </p:cNvPr>
          <p:cNvSpPr>
            <a:spLocks xmlns:a="http://schemas.openxmlformats.org/drawingml/2006/main" noGrp="1"/>
          </p:cNvSpPr>
          <p:nvPr/>
        </p:nvSpPr>
        <p:spPr>
          <a:xfrm xmlns:a="http://schemas.openxmlformats.org/drawingml/2006/main">
            <a:off x="9467850" y="4095750"/>
            <a:ext cx="716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B95160"/>
                </a:solidFill>
                <a:latin typeface="Noto Sans CJK TC"/>
                <a:ea typeface="Noto Sans CJK TC"/>
                <a:cs typeface="Noto Sans CJK TC"/>
              </a:defRPr>
            </a:pPr>
            <a:r>
              <a:rPr sz="1650" b="1" i="0">
                <a:solidFill>
                  <a:srgbClr val="B95160"/>
                </a:solidFill>
                <a:latin typeface="Noto Sans CJK TC"/>
                <a:ea typeface="Noto Sans CJK TC"/>
                <a:cs typeface="Noto Sans CJK TC"/>
              </a:rPr>
              <a:t>Combat</a:t>
            </a:r>
          </a:p>
        </p:txBody>
      </p:sp>
      <p:sp>
        <p:nvSpPr>
          <p:cNvPr id="23" name="contract-3-body">
            <a:extLst xmlns:a="http://schemas.openxmlformats.org/drawingml/2006/main">
              <a:ext uri="{FF2B5EF4-FFF2-40B4-BE49-F238E27FC236}">
                <a16:creationId xmlns:a16="http://schemas.microsoft.com/office/drawing/2014/main" id="{A70CCA75-EEFC-4479-A442-9BCC53FA30D5}"/>
              </a:ext>
            </a:extLst>
          </p:cNvPr>
          <p:cNvSpPr>
            <a:spLocks xmlns:a="http://schemas.openxmlformats.org/drawingml/2006/main" noGrp="1"/>
          </p:cNvSpPr>
          <p:nvPr/>
        </p:nvSpPr>
        <p:spPr>
          <a:xfrm xmlns:a="http://schemas.openxmlformats.org/drawingml/2006/main">
            <a:off x="9467850" y="4591050"/>
            <a:ext cx="716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Worker／Light／Heavy range 1；Ranged range 3；attack range 由 acting unit 決定</a:t>
            </a:r>
          </a:p>
        </p:txBody>
      </p:sp>
      <p:sp>
        <p:nvSpPr>
          <p:cNvPr id="24" name="contract-4-box">
            <a:extLst xmlns:a="http://schemas.openxmlformats.org/drawingml/2006/main">
              <a:ext uri="{FF2B5EF4-FFF2-40B4-BE49-F238E27FC236}">
                <a16:creationId xmlns:a16="http://schemas.microsoft.com/office/drawing/2014/main" id="{CD73D185-C57C-4ED6-912F-A4A9F453D117}"/>
              </a:ext>
            </a:extLst>
          </p:cNvPr>
          <p:cNvSpPr>
            <a:spLocks xmlns:a="http://schemas.openxmlformats.org/drawingml/2006/main" noGrp="1"/>
          </p:cNvSpPr>
          <p:nvPr/>
        </p:nvSpPr>
        <p:spPr>
          <a:xfrm xmlns:a="http://schemas.openxmlformats.org/drawingml/2006/main">
            <a:off x="1047750" y="5857875"/>
            <a:ext cx="7620000" cy="1571625"/>
          </a:xfrm>
          <a:prstGeom xmlns:a="http://schemas.openxmlformats.org/drawingml/2006/main" prst="roundRect">
            <a:avLst>
              <a:gd name="adj" fmla="val 10909"/>
            </a:avLst>
          </a:prstGeom>
          <a:solidFill xmlns:a="http://schemas.openxmlformats.org/drawingml/2006/main">
            <a:srgbClr val="E2EFE6"/>
          </a:solidFill>
          <a:ln xmlns:a="http://schemas.openxmlformats.org/drawingml/2006/main" w="11430">
            <a:solidFill>
              <a:srgbClr val="47795C"/>
            </a:solidFill>
            <a:prstDash val="solid"/>
          </a:ln>
        </p:spPr>
      </p:sp>
      <p:sp>
        <p:nvSpPr>
          <p:cNvPr id="25" name="contract-4-title">
            <a:extLst xmlns:a="http://schemas.openxmlformats.org/drawingml/2006/main">
              <a:ext uri="{FF2B5EF4-FFF2-40B4-BE49-F238E27FC236}">
                <a16:creationId xmlns:a16="http://schemas.microsoft.com/office/drawing/2014/main" id="{65A1231B-F6EE-4608-9918-3DCA8D42EC73}"/>
              </a:ext>
            </a:extLst>
          </p:cNvPr>
          <p:cNvSpPr>
            <a:spLocks xmlns:a="http://schemas.openxmlformats.org/drawingml/2006/main" noGrp="1"/>
          </p:cNvSpPr>
          <p:nvPr/>
        </p:nvSpPr>
        <p:spPr>
          <a:xfrm xmlns:a="http://schemas.openxmlformats.org/drawingml/2006/main">
            <a:off x="1276350" y="6048375"/>
            <a:ext cx="716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Observation</a:t>
            </a:r>
          </a:p>
        </p:txBody>
      </p:sp>
      <p:sp>
        <p:nvSpPr>
          <p:cNvPr id="26" name="contract-4-body">
            <a:extLst xmlns:a="http://schemas.openxmlformats.org/drawingml/2006/main">
              <a:ext uri="{FF2B5EF4-FFF2-40B4-BE49-F238E27FC236}">
                <a16:creationId xmlns:a16="http://schemas.microsoft.com/office/drawing/2014/main" id="{EE6ED117-8E4B-4F99-9506-F245626544F0}"/>
              </a:ext>
            </a:extLst>
          </p:cNvPr>
          <p:cNvSpPr>
            <a:spLocks xmlns:a="http://schemas.openxmlformats.org/drawingml/2006/main" noGrp="1"/>
          </p:cNvSpPr>
          <p:nvPr/>
        </p:nvSpPr>
        <p:spPr>
          <a:xfrm xmlns:a="http://schemas.openxmlformats.org/drawingml/2006/main">
            <a:off x="1276350" y="6543675"/>
            <a:ext cx="716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current fully observable state；不使用 visibility memory、future state 或不存在的 tech／unit</a:t>
            </a:r>
          </a:p>
        </p:txBody>
      </p:sp>
      <p:sp>
        <p:nvSpPr>
          <p:cNvPr id="27" name="contract-5-box">
            <a:extLst xmlns:a="http://schemas.openxmlformats.org/drawingml/2006/main">
              <a:ext uri="{FF2B5EF4-FFF2-40B4-BE49-F238E27FC236}">
                <a16:creationId xmlns:a16="http://schemas.microsoft.com/office/drawing/2014/main" id="{7433527F-78E2-462D-95DF-AFE0B289C11A}"/>
              </a:ext>
            </a:extLst>
          </p:cNvPr>
          <p:cNvSpPr>
            <a:spLocks xmlns:a="http://schemas.openxmlformats.org/drawingml/2006/main" noGrp="1"/>
          </p:cNvSpPr>
          <p:nvPr/>
        </p:nvSpPr>
        <p:spPr>
          <a:xfrm xmlns:a="http://schemas.openxmlformats.org/drawingml/2006/main">
            <a:off x="9239250" y="5857875"/>
            <a:ext cx="7620000" cy="1571625"/>
          </a:xfrm>
          <a:prstGeom xmlns:a="http://schemas.openxmlformats.org/drawingml/2006/main" prst="roundRect">
            <a:avLst>
              <a:gd name="adj" fmla="val 10909"/>
            </a:avLst>
          </a:prstGeom>
          <a:solidFill xmlns:a="http://schemas.openxmlformats.org/drawingml/2006/main">
            <a:srgbClr val="FFFDF9"/>
          </a:solidFill>
          <a:ln xmlns:a="http://schemas.openxmlformats.org/drawingml/2006/main" w="11430">
            <a:solidFill>
              <a:srgbClr val="E7B9B5"/>
            </a:solidFill>
            <a:prstDash val="solid"/>
          </a:ln>
        </p:spPr>
      </p:sp>
      <p:sp>
        <p:nvSpPr>
          <p:cNvPr id="28" name="contract-5-title">
            <a:extLst xmlns:a="http://schemas.openxmlformats.org/drawingml/2006/main">
              <a:ext uri="{FF2B5EF4-FFF2-40B4-BE49-F238E27FC236}">
                <a16:creationId xmlns:a16="http://schemas.microsoft.com/office/drawing/2014/main" id="{4231D93C-AA36-4DB8-BD45-AFE5A76C7829}"/>
              </a:ext>
            </a:extLst>
          </p:cNvPr>
          <p:cNvSpPr>
            <a:spLocks xmlns:a="http://schemas.openxmlformats.org/drawingml/2006/main" noGrp="1"/>
          </p:cNvSpPr>
          <p:nvPr/>
        </p:nvSpPr>
        <p:spPr>
          <a:xfrm xmlns:a="http://schemas.openxmlformats.org/drawingml/2006/main">
            <a:off x="9467850" y="6048375"/>
            <a:ext cx="716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B95160"/>
                </a:solidFill>
                <a:latin typeface="Noto Sans CJK TC"/>
                <a:ea typeface="Noto Sans CJK TC"/>
                <a:cs typeface="Noto Sans CJK TC"/>
              </a:defRPr>
            </a:pPr>
            <a:r>
              <a:rPr sz="1650" b="1" i="0">
                <a:solidFill>
                  <a:srgbClr val="B95160"/>
                </a:solidFill>
                <a:latin typeface="Noto Sans CJK TC"/>
                <a:ea typeface="Noto Sans CJK TC"/>
                <a:cs typeface="Noto Sans CJK TC"/>
              </a:rPr>
              <a:t>Action form</a:t>
            </a:r>
          </a:p>
        </p:txBody>
      </p:sp>
      <p:sp>
        <p:nvSpPr>
          <p:cNvPr id="29" name="contract-5-body">
            <a:extLst xmlns:a="http://schemas.openxmlformats.org/drawingml/2006/main">
              <a:ext uri="{FF2B5EF4-FFF2-40B4-BE49-F238E27FC236}">
                <a16:creationId xmlns:a16="http://schemas.microsoft.com/office/drawing/2014/main" id="{181049A1-F6B4-4EDF-B78E-6966302F27FC}"/>
              </a:ext>
            </a:extLst>
          </p:cNvPr>
          <p:cNvSpPr>
            <a:spLocks xmlns:a="http://schemas.openxmlformats.org/drawingml/2006/main" noGrp="1"/>
          </p:cNvSpPr>
          <p:nvPr/>
        </p:nvSpPr>
        <p:spPr>
          <a:xfrm xmlns:a="http://schemas.openxmlformats.org/drawingml/2006/main">
            <a:off x="9467850" y="6543675"/>
            <a:ext cx="716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idle friendly actor ＋ observable condition ＋ legal action ＋ target／cost／range／placement prerequisites</a:t>
            </a:r>
          </a:p>
        </p:txBody>
      </p:sp>
      <p:sp>
        <p:nvSpPr>
          <p:cNvPr id="30" name="band-13">
            <a:extLst xmlns:a="http://schemas.openxmlformats.org/drawingml/2006/main">
              <a:ext uri="{FF2B5EF4-FFF2-40B4-BE49-F238E27FC236}">
                <a16:creationId xmlns:a16="http://schemas.microsoft.com/office/drawing/2014/main" id="{7633398C-B43F-4301-9154-F01A279B15C1}"/>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31" name="band-label-13">
            <a:extLst xmlns:a="http://schemas.openxmlformats.org/drawingml/2006/main">
              <a:ext uri="{FF2B5EF4-FFF2-40B4-BE49-F238E27FC236}">
                <a16:creationId xmlns:a16="http://schemas.microsoft.com/office/drawing/2014/main" id="{7B9605DE-15BB-4D39-AF74-743CE66367DE}"/>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設計理由</a:t>
            </a:r>
          </a:p>
        </p:txBody>
      </p:sp>
      <p:sp>
        <p:nvSpPr>
          <p:cNvPr id="32" name="band-divider-13">
            <a:extLst xmlns:a="http://schemas.openxmlformats.org/drawingml/2006/main">
              <a:ext uri="{FF2B5EF4-FFF2-40B4-BE49-F238E27FC236}">
                <a16:creationId xmlns:a16="http://schemas.microsoft.com/office/drawing/2014/main" id="{C01724AE-5049-40C4-827C-4C9049B54389}"/>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33" name="band-text-13">
            <a:extLst xmlns:a="http://schemas.openxmlformats.org/drawingml/2006/main">
              <a:ext uri="{FF2B5EF4-FFF2-40B4-BE49-F238E27FC236}">
                <a16:creationId xmlns:a16="http://schemas.microsoft.com/office/drawing/2014/main" id="{749A77F4-0B13-4045-800A-89D25F2D506B}"/>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模型要的是充分且單一的規則來源；異常由 validator 給具體錯誤，不靠把每次失敗永久加進 meta-prompt。</a:t>
            </a:r>
          </a:p>
        </p:txBody>
      </p:sp>
    </p:spTree>
    <p:extLst>
      <p:ext uri="{BB962C8B-B14F-4D97-AF65-F5344CB8AC3E}">
        <p14:creationId xmlns:p14="http://schemas.microsoft.com/office/powerpoint/2010/main" val="13189053"/>
      </p:ext>
    </p:extLst>
  </p:cSld>
</p:sld>
</file>

<file path=ppt/slides/slide1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3" name="top-left-14">
            <a:extLst xmlns:a="http://schemas.openxmlformats.org/drawingml/2006/main">
              <a:ext uri="{FF2B5EF4-FFF2-40B4-BE49-F238E27FC236}">
                <a16:creationId xmlns:a16="http://schemas.microsoft.com/office/drawing/2014/main" id="{85C25A20-237A-4AB5-B0D6-631AFBCEF1B5}"/>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ight-14">
            <a:extLst xmlns:a="http://schemas.openxmlformats.org/drawingml/2006/main">
              <a:ext uri="{FF2B5EF4-FFF2-40B4-BE49-F238E27FC236}">
                <a16:creationId xmlns:a16="http://schemas.microsoft.com/office/drawing/2014/main" id="{B85C8283-4B92-45AC-8D2F-78BDA4B95C32}"/>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diamond-a-14">
            <a:extLst xmlns:a="http://schemas.openxmlformats.org/drawingml/2006/main">
              <a:ext uri="{FF2B5EF4-FFF2-40B4-BE49-F238E27FC236}">
                <a16:creationId xmlns:a16="http://schemas.microsoft.com/office/drawing/2014/main" id="{3ED8ABFD-84FA-40B6-BDB2-BA5F5E1CDBCD}"/>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diamond-b-14">
            <a:extLst xmlns:a="http://schemas.openxmlformats.org/drawingml/2006/main">
              <a:ext uri="{FF2B5EF4-FFF2-40B4-BE49-F238E27FC236}">
                <a16:creationId xmlns:a16="http://schemas.microsoft.com/office/drawing/2014/main" id="{0B36FF1D-A722-4529-8894-5949412BCE4D}"/>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diamond-c-14">
            <a:extLst xmlns:a="http://schemas.openxmlformats.org/drawingml/2006/main">
              <a:ext uri="{FF2B5EF4-FFF2-40B4-BE49-F238E27FC236}">
                <a16:creationId xmlns:a16="http://schemas.microsoft.com/office/drawing/2014/main" id="{D8D23DF7-1F7C-4A0D-AD97-F7456D42A6FB}"/>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14">
            <a:extLst xmlns:a="http://schemas.openxmlformats.org/drawingml/2006/main">
              <a:ext uri="{FF2B5EF4-FFF2-40B4-BE49-F238E27FC236}">
                <a16:creationId xmlns:a16="http://schemas.microsoft.com/office/drawing/2014/main" id="{C1A265E5-1BA9-47BE-A1EB-E7DB49FC7DD2}"/>
              </a:ext>
            </a:extLst>
          </p:cNvPr>
          <p:cNvSpPr>
            <a:spLocks xmlns:a="http://schemas.openxmlformats.org/drawingml/2006/main" noGrp="1"/>
          </p:cNvSpPr>
          <p:nvPr/>
        </p:nvSpPr>
        <p:spPr>
          <a:xfrm xmlns:a="http://schemas.openxmlformats.org/drawingml/2006/main">
            <a:off x="685800" y="590550"/>
            <a:ext cx="609600" cy="6096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DF9"/>
                </a:solidFill>
                <a:latin typeface="Noto Sans CJK TC"/>
                <a:ea typeface="Noto Sans CJK TC"/>
                <a:cs typeface="Noto Sans CJK TC"/>
              </a:defRPr>
            </a:pPr>
            <a:r>
              <a:rPr sz="1650" b="1">
                <a:solidFill>
                  <a:srgbClr val="FFFDF9"/>
                </a:solidFill>
                <a:latin typeface="Noto Sans CJK TC"/>
                <a:ea typeface="Noto Sans CJK TC"/>
                <a:cs typeface="Noto Sans CJK TC"/>
              </a:rPr>
              <a:t>07</a:t>
            </a:r>
          </a:p>
        </p:txBody>
      </p:sp>
      <p:sp>
        <p:nvSpPr>
          <p:cNvPr id="7" name="status-14">
            <a:extLst xmlns:a="http://schemas.openxmlformats.org/drawingml/2006/main">
              <a:ext uri="{FF2B5EF4-FFF2-40B4-BE49-F238E27FC236}">
                <a16:creationId xmlns:a16="http://schemas.microsoft.com/office/drawing/2014/main" id="{7B0C9CD2-E772-42AD-AD35-E6A6D2431F80}"/>
              </a:ext>
            </a:extLst>
          </p:cNvPr>
          <p:cNvSpPr>
            <a:spLocks xmlns:a="http://schemas.openxmlformats.org/drawingml/2006/main" noGrp="1"/>
          </p:cNvSpPr>
          <p:nvPr/>
        </p:nvSpPr>
        <p:spPr>
          <a:xfrm xmlns:a="http://schemas.openxmlformats.org/drawingml/2006/main">
            <a:off x="13525500" y="628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READY FOR NEXT VALIDATION</a:t>
            </a:r>
          </a:p>
        </p:txBody>
      </p:sp>
      <p:sp>
        <p:nvSpPr>
          <p:cNvPr id="8" name="bottom-14">
            <a:extLst xmlns:a="http://schemas.openxmlformats.org/drawingml/2006/main">
              <a:ext uri="{FF2B5EF4-FFF2-40B4-BE49-F238E27FC236}">
                <a16:creationId xmlns:a16="http://schemas.microsoft.com/office/drawing/2014/main" id="{AC4DDEA3-40A3-4B81-B1FE-892F966A34B1}"/>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9" name="page-14">
            <a:extLst xmlns:a="http://schemas.openxmlformats.org/drawingml/2006/main">
              <a:ext uri="{FF2B5EF4-FFF2-40B4-BE49-F238E27FC236}">
                <a16:creationId xmlns:a16="http://schemas.microsoft.com/office/drawing/2014/main" id="{95C93C28-9922-4E14-BF74-309C916EFC0F}"/>
              </a:ext>
            </a:extLst>
          </p:cNvPr>
          <p:cNvSpPr>
            <a:spLocks xmlns:a="http://schemas.openxmlformats.org/drawingml/2006/main" noGrp="1"/>
          </p:cNvSpPr>
          <p:nvPr/>
        </p:nvSpPr>
        <p:spPr>
          <a:xfrm xmlns:a="http://schemas.openxmlformats.org/drawingml/2006/main">
            <a:off x="16383000" y="9858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050" b="0" i="0">
                <a:solidFill>
                  <a:srgbClr val="62606A"/>
                </a:solidFill>
                <a:latin typeface="Noto Sans CJK TC"/>
                <a:ea typeface="Noto Sans CJK TC"/>
                <a:cs typeface="Noto Sans CJK TC"/>
              </a:defRPr>
            </a:pPr>
            <a:r>
              <a:rPr sz="1050" b="0" i="0">
                <a:solidFill>
                  <a:srgbClr val="62606A"/>
                </a:solidFill>
                <a:latin typeface="Noto Sans CJK TC"/>
                <a:ea typeface="Noto Sans CJK TC"/>
                <a:cs typeface="Noto Sans CJK TC"/>
              </a:rPr>
              <a:t>14 / 14</a:t>
            </a:r>
          </a:p>
        </p:txBody>
      </p:sp>
      <p:sp>
        <p:nvSpPr>
          <p:cNvPr id="10" name="title-14">
            <a:extLst xmlns:a="http://schemas.openxmlformats.org/drawingml/2006/main">
              <a:ext uri="{FF2B5EF4-FFF2-40B4-BE49-F238E27FC236}">
                <a16:creationId xmlns:a16="http://schemas.microsoft.com/office/drawing/2014/main" id="{AEFCFD83-2717-4C6B-A99C-9B52D6BCC16A}"/>
              </a:ext>
            </a:extLst>
          </p:cNvPr>
          <p:cNvSpPr>
            <a:spLocks xmlns:a="http://schemas.openxmlformats.org/drawingml/2006/main" noGrp="1"/>
          </p:cNvSpPr>
          <p:nvPr/>
        </p:nvSpPr>
        <p:spPr>
          <a:xfrm xmlns:a="http://schemas.openxmlformats.org/drawingml/2006/main">
            <a:off x="1428750" y="523875"/>
            <a:ext cx="1181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3525" b="1" i="0">
                <a:solidFill>
                  <a:srgbClr val="431218"/>
                </a:solidFill>
                <a:latin typeface="Noto Serif CJK TC"/>
                <a:ea typeface="Noto Serif CJK TC"/>
                <a:cs typeface="Noto Serif CJK TC"/>
              </a:defRPr>
            </a:pPr>
            <a:r>
              <a:rPr sz="3525" b="1" i="0">
                <a:solidFill>
                  <a:srgbClr val="431218"/>
                </a:solidFill>
                <a:latin typeface="Noto Serif CJK TC"/>
                <a:ea typeface="Noto Serif CJK TC"/>
                <a:cs typeface="Noto Serif CJK TC"/>
              </a:rPr>
              <a:t>目前判斷與下一步</a:t>
            </a:r>
          </a:p>
        </p:txBody>
      </p:sp>
      <p:sp>
        <p:nvSpPr>
          <p:cNvPr id="11" name="subtitle-14">
            <a:extLst xmlns:a="http://schemas.openxmlformats.org/drawingml/2006/main">
              <a:ext uri="{FF2B5EF4-FFF2-40B4-BE49-F238E27FC236}">
                <a16:creationId xmlns:a16="http://schemas.microsoft.com/office/drawing/2014/main" id="{3A3A58DE-FF7D-4FBF-97DD-82292EF0B455}"/>
              </a:ext>
            </a:extLst>
          </p:cNvPr>
          <p:cNvSpPr>
            <a:spLocks xmlns:a="http://schemas.openxmlformats.org/drawingml/2006/main" noGrp="1"/>
          </p:cNvSpPr>
          <p:nvPr/>
        </p:nvSpPr>
        <p:spPr>
          <a:xfrm xmlns:a="http://schemas.openxmlformats.org/drawingml/2006/main">
            <a:off x="1447800" y="114300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i="0">
                <a:solidFill>
                  <a:srgbClr val="62606A"/>
                </a:solidFill>
                <a:latin typeface="Noto Sans CJK TC"/>
                <a:ea typeface="Noto Sans CJK TC"/>
                <a:cs typeface="Noto Sans CJK TC"/>
              </a:defRPr>
            </a:pPr>
            <a:r>
              <a:rPr sz="1425" b="0" i="0">
                <a:solidFill>
                  <a:srgbClr val="62606A"/>
                </a:solidFill>
                <a:latin typeface="Noto Sans CJK TC"/>
                <a:ea typeface="Noto Sans CJK TC"/>
                <a:cs typeface="Noto Sans CJK TC"/>
              </a:rPr>
              <a:t>現有架構已符合目標：策略可變、prompt 可修、Java 繼承、違規 mutation 不落地</a:t>
            </a:r>
          </a:p>
        </p:txBody>
      </p:sp>
      <p:sp>
        <p:nvSpPr>
          <p:cNvPr id="12" name="conclusion-left-text">
            <a:extLst xmlns:a="http://schemas.openxmlformats.org/drawingml/2006/main">
              <a:ext uri="{FF2B5EF4-FFF2-40B4-BE49-F238E27FC236}">
                <a16:creationId xmlns:a16="http://schemas.microsoft.com/office/drawing/2014/main" id="{102F1BAE-3D6E-4E23-B244-8CAE768F9016}"/>
              </a:ext>
            </a:extLst>
          </p:cNvPr>
          <p:cNvSpPr>
            <a:spLocks xmlns:a="http://schemas.openxmlformats.org/drawingml/2006/main" noGrp="1"/>
          </p:cNvSpPr>
          <p:nvPr/>
        </p:nvSpPr>
        <p:spPr>
          <a:xfrm xmlns:a="http://schemas.openxmlformats.org/drawingml/2006/main">
            <a:off x="1000125" y="1952625"/>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已確認</a:t>
            </a:r>
          </a:p>
        </p:txBody>
      </p:sp>
      <p:sp>
        <p:nvSpPr>
          <p:cNvPr id="13" name="conclusion-left-line">
            <a:extLst xmlns:a="http://schemas.openxmlformats.org/drawingml/2006/main">
              <a:ext uri="{FF2B5EF4-FFF2-40B4-BE49-F238E27FC236}">
                <a16:creationId xmlns:a16="http://schemas.microsoft.com/office/drawing/2014/main" id="{CF360F2C-5229-41CF-A09F-85DFB6072137}"/>
              </a:ext>
            </a:extLst>
          </p:cNvPr>
          <p:cNvSpPr>
            <a:spLocks xmlns:a="http://schemas.openxmlformats.org/drawingml/2006/main" noGrp="1"/>
          </p:cNvSpPr>
          <p:nvPr/>
        </p:nvSpPr>
        <p:spPr>
          <a:xfrm xmlns:a="http://schemas.openxmlformats.org/drawingml/2006/main">
            <a:off x="1000125" y="2333625"/>
            <a:ext cx="75247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4" name="conclusion-left-body">
            <a:extLst xmlns:a="http://schemas.openxmlformats.org/drawingml/2006/main">
              <a:ext uri="{FF2B5EF4-FFF2-40B4-BE49-F238E27FC236}">
                <a16:creationId xmlns:a16="http://schemas.microsoft.com/office/drawing/2014/main" id="{152DFF80-63A6-4EA0-8E9D-22983670798D}"/>
              </a:ext>
            </a:extLst>
          </p:cNvPr>
          <p:cNvSpPr>
            <a:spLocks xmlns:a="http://schemas.openxmlformats.org/drawingml/2006/main" noGrp="1"/>
          </p:cNvSpPr>
          <p:nvPr/>
        </p:nvSpPr>
        <p:spPr>
          <a:xfrm xmlns:a="http://schemas.openxmlformats.org/drawingml/2006/main">
            <a:off x="1000125" y="2571750"/>
            <a:ext cx="752475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 Strategy Reflection：3/3 修改 policy gene，方向正確。</a:t>
            </a:r>
          </a:p>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 Code Reflection：3/3 修改 reusable generation gene，方向正確。</a:t>
            </a:r>
          </a:p>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 Prompt Compliance：能用 Strategy／Code 子代當父代逐一稽核。</a:t>
            </a:r>
          </a:p>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 12 次 inherited Java hash 相同；environment selection 後父代 Java 不重生。</a:t>
            </a:r>
          </a:p>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 schema／contract 不合格時，輸出被拒絕且 genotype 不變。</a:t>
            </a:r>
          </a:p>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 當前測試：445 passed，1 skipped。</a:t>
            </a:r>
          </a:p>
        </p:txBody>
      </p:sp>
      <p:sp>
        <p:nvSpPr>
          <p:cNvPr id="15" name="conclusion-divider">
            <a:extLst xmlns:a="http://schemas.openxmlformats.org/drawingml/2006/main">
              <a:ext uri="{FF2B5EF4-FFF2-40B4-BE49-F238E27FC236}">
                <a16:creationId xmlns:a16="http://schemas.microsoft.com/office/drawing/2014/main" id="{6EC25E63-9BAD-4971-9CFE-75C01A294B0E}"/>
              </a:ext>
            </a:extLst>
          </p:cNvPr>
          <p:cNvSpPr>
            <a:spLocks xmlns:a="http://schemas.openxmlformats.org/drawingml/2006/main" noGrp="1"/>
          </p:cNvSpPr>
          <p:nvPr/>
        </p:nvSpPr>
        <p:spPr>
          <a:xfrm xmlns:a="http://schemas.openxmlformats.org/drawingml/2006/main">
            <a:off x="9096375" y="2095500"/>
            <a:ext cx="0" cy="514350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6" name="conclusion-right-text">
            <a:extLst xmlns:a="http://schemas.openxmlformats.org/drawingml/2006/main">
              <a:ext uri="{FF2B5EF4-FFF2-40B4-BE49-F238E27FC236}">
                <a16:creationId xmlns:a16="http://schemas.microsoft.com/office/drawing/2014/main" id="{E03164E3-C42D-4082-8AC2-0B9B735CA1AC}"/>
              </a:ext>
            </a:extLst>
          </p:cNvPr>
          <p:cNvSpPr>
            <a:spLocks xmlns:a="http://schemas.openxmlformats.org/drawingml/2006/main" noGrp="1"/>
          </p:cNvSpPr>
          <p:nvPr/>
        </p:nvSpPr>
        <p:spPr>
          <a:xfrm xmlns:a="http://schemas.openxmlformats.org/drawingml/2006/main">
            <a:off x="9667875" y="1952625"/>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1" i="0">
                <a:solidFill>
                  <a:srgbClr val="B95160"/>
                </a:solidFill>
                <a:latin typeface="Noto Sans CJK TC"/>
                <a:ea typeface="Noto Sans CJK TC"/>
                <a:cs typeface="Noto Sans CJK TC"/>
              </a:defRPr>
            </a:pPr>
            <a:r>
              <a:rPr sz="1575" b="1" i="0">
                <a:solidFill>
                  <a:srgbClr val="B95160"/>
                </a:solidFill>
                <a:latin typeface="Noto Sans CJK TC"/>
                <a:ea typeface="Noto Sans CJK TC"/>
                <a:cs typeface="Noto Sans CJK TC"/>
              </a:rPr>
              <a:t>下一輪只需要驗證</a:t>
            </a:r>
          </a:p>
        </p:txBody>
      </p:sp>
      <p:sp>
        <p:nvSpPr>
          <p:cNvPr id="17" name="conclusion-right-line">
            <a:extLst xmlns:a="http://schemas.openxmlformats.org/drawingml/2006/main">
              <a:ext uri="{FF2B5EF4-FFF2-40B4-BE49-F238E27FC236}">
                <a16:creationId xmlns:a16="http://schemas.microsoft.com/office/drawing/2014/main" id="{33C0721D-6BDF-49E0-805B-8730309AD3A3}"/>
              </a:ext>
            </a:extLst>
          </p:cNvPr>
          <p:cNvSpPr>
            <a:spLocks xmlns:a="http://schemas.openxmlformats.org/drawingml/2006/main" noGrp="1"/>
          </p:cNvSpPr>
          <p:nvPr/>
        </p:nvSpPr>
        <p:spPr>
          <a:xfrm xmlns:a="http://schemas.openxmlformats.org/drawingml/2006/main">
            <a:off x="9667875" y="2333625"/>
            <a:ext cx="7524750" cy="0"/>
          </a:xfrm>
          <a:prstGeom xmlns:a="http://schemas.openxmlformats.org/drawingml/2006/main" prst="line">
            <a:avLst/>
          </a:prstGeom>
          <a:noFill xmlns:a="http://schemas.openxmlformats.org/drawingml/2006/main"/>
          <a:ln xmlns:a="http://schemas.openxmlformats.org/drawingml/2006/main" w="14288">
            <a:solidFill>
              <a:srgbClr val="F8D8D8"/>
            </a:solidFill>
            <a:prstDash val="solid"/>
          </a:ln>
        </p:spPr>
      </p:sp>
      <p:sp>
        <p:nvSpPr>
          <p:cNvPr id="18" name="conclusion-right-body">
            <a:extLst xmlns:a="http://schemas.openxmlformats.org/drawingml/2006/main">
              <a:ext uri="{FF2B5EF4-FFF2-40B4-BE49-F238E27FC236}">
                <a16:creationId xmlns:a16="http://schemas.microsoft.com/office/drawing/2014/main" id="{C3F67D7A-2DCD-4B9B-9A16-0909B2E09480}"/>
              </a:ext>
            </a:extLst>
          </p:cNvPr>
          <p:cNvSpPr>
            <a:spLocks xmlns:a="http://schemas.openxmlformats.org/drawingml/2006/main" noGrp="1"/>
          </p:cNvSpPr>
          <p:nvPr/>
        </p:nvSpPr>
        <p:spPr>
          <a:xfrm xmlns:a="http://schemas.openxmlformats.org/drawingml/2006/main">
            <a:off x="9667875" y="2571750"/>
            <a:ext cx="752475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1. 用現在的 prompt／validator 重跑同樣 3＋3＋6 設計。</a:t>
            </a:r>
          </a:p>
          <a:p xmlns:a="http://schemas.openxmlformats.org/drawingml/2006/main">
            <a:r>
              <a:t/>
            </a:r>
          </a:p>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2. 觀察 Trial 2 類「移動後攻擊」是否不再被誤判。</a:t>
            </a:r>
          </a:p>
          <a:p xmlns:a="http://schemas.openxmlformats.org/drawingml/2006/main">
            <a:r>
              <a:t/>
            </a:r>
          </a:p>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3. 記錄 schema retry 是否在 3 次內回到合法 string JSON。</a:t>
            </a:r>
          </a:p>
          <a:p xmlns:a="http://schemas.openxmlformats.org/drawingml/2006/main">
            <a:r>
              <a:t/>
            </a:r>
          </a:p>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4. 仍以修改方向、scope、safe rejection 為主，不把一次成功率當唯一目標。</a:t>
            </a:r>
          </a:p>
          <a:p xmlns:a="http://schemas.openxmlformats.org/drawingml/2006/main">
            <a:r>
              <a:t/>
            </a:r>
          </a:p>
          <a:p xmlns:a="http://schemas.openxmlformats.org/drawingml/2006/main">
            <a:pPr algn="l">
              <a:lnSpc>
                <a:spcPct val="124000"/>
              </a:lnSpc>
              <a:buNone/>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5. 另外跑實際 match 才能討論策略是否變強。</a:t>
            </a:r>
          </a:p>
        </p:txBody>
      </p:sp>
      <p:sp>
        <p:nvSpPr>
          <p:cNvPr id="19" name="band-14">
            <a:extLst xmlns:a="http://schemas.openxmlformats.org/drawingml/2006/main">
              <a:ext uri="{FF2B5EF4-FFF2-40B4-BE49-F238E27FC236}">
                <a16:creationId xmlns:a16="http://schemas.microsoft.com/office/drawing/2014/main" id="{8463115A-E46A-4B4A-BB67-D60A46F086FD}"/>
              </a:ext>
            </a:extLst>
          </p:cNvPr>
          <p:cNvSpPr>
            <a:spLocks xmlns:a="http://schemas.openxmlformats.org/drawingml/2006/main" noGrp="1"/>
          </p:cNvSpPr>
          <p:nvPr/>
        </p:nvSpPr>
        <p:spPr>
          <a:xfrm xmlns:a="http://schemas.openxmlformats.org/drawingml/2006/main">
            <a:off x="952500" y="8286750"/>
            <a:ext cx="16383000" cy="1095375"/>
          </a:xfrm>
          <a:prstGeom xmlns:a="http://schemas.openxmlformats.org/drawingml/2006/main" prst="roundRect">
            <a:avLst>
              <a:gd name="adj" fmla="val 15652"/>
            </a:avLst>
          </a:prstGeom>
          <a:solidFill xmlns:a="http://schemas.openxmlformats.org/drawingml/2006/main">
            <a:srgbClr val="E2EFE6"/>
          </a:solidFill>
          <a:ln xmlns:a="http://schemas.openxmlformats.org/drawingml/2006/main" w="11430">
            <a:solidFill>
              <a:srgbClr val="47795C"/>
            </a:solidFill>
            <a:prstDash val="solid"/>
          </a:ln>
        </p:spPr>
      </p:sp>
      <p:sp>
        <p:nvSpPr>
          <p:cNvPr id="20" name="band-label-14">
            <a:extLst xmlns:a="http://schemas.openxmlformats.org/drawingml/2006/main">
              <a:ext uri="{FF2B5EF4-FFF2-40B4-BE49-F238E27FC236}">
                <a16:creationId xmlns:a16="http://schemas.microsoft.com/office/drawing/2014/main" id="{BC206CB2-D987-4955-92C6-FEB0BBB340A8}"/>
              </a:ext>
            </a:extLst>
          </p:cNvPr>
          <p:cNvSpPr>
            <a:spLocks xmlns:a="http://schemas.openxmlformats.org/drawingml/2006/main" noGrp="1"/>
          </p:cNvSpPr>
          <p:nvPr/>
        </p:nvSpPr>
        <p:spPr>
          <a:xfrm xmlns:a="http://schemas.openxmlformats.org/drawingml/2006/main">
            <a:off x="1238250" y="85439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1" i="0">
                <a:solidFill>
                  <a:srgbClr val="47795C"/>
                </a:solidFill>
                <a:latin typeface="Noto Sans CJK TC"/>
                <a:ea typeface="Noto Sans CJK TC"/>
                <a:cs typeface="Noto Sans CJK TC"/>
              </a:defRPr>
            </a:pPr>
            <a:r>
              <a:rPr sz="1275" b="1" i="0">
                <a:solidFill>
                  <a:srgbClr val="47795C"/>
                </a:solidFill>
                <a:latin typeface="Noto Sans CJK TC"/>
                <a:ea typeface="Noto Sans CJK TC"/>
                <a:cs typeface="Noto Sans CJK TC"/>
              </a:rPr>
              <a:t>最終結論</a:t>
            </a:r>
          </a:p>
        </p:txBody>
      </p:sp>
      <p:sp>
        <p:nvSpPr>
          <p:cNvPr id="21" name="band-divider-14">
            <a:extLst xmlns:a="http://schemas.openxmlformats.org/drawingml/2006/main">
              <a:ext uri="{FF2B5EF4-FFF2-40B4-BE49-F238E27FC236}">
                <a16:creationId xmlns:a16="http://schemas.microsoft.com/office/drawing/2014/main" id="{6A0FA0FF-5534-4C03-A55F-765F23CF6A5A}"/>
              </a:ext>
            </a:extLst>
          </p:cNvPr>
          <p:cNvSpPr>
            <a:spLocks xmlns:a="http://schemas.openxmlformats.org/drawingml/2006/main" noGrp="1"/>
          </p:cNvSpPr>
          <p:nvPr/>
        </p:nvSpPr>
        <p:spPr>
          <a:xfrm xmlns:a="http://schemas.openxmlformats.org/drawingml/2006/main">
            <a:off x="2952750" y="8477250"/>
            <a:ext cx="0" cy="723900"/>
          </a:xfrm>
          <a:prstGeom xmlns:a="http://schemas.openxmlformats.org/drawingml/2006/main" prst="line">
            <a:avLst/>
          </a:prstGeom>
          <a:noFill xmlns:a="http://schemas.openxmlformats.org/drawingml/2006/main"/>
          <a:ln xmlns:a="http://schemas.openxmlformats.org/drawingml/2006/main" w="9525">
            <a:solidFill>
              <a:srgbClr val="47795C"/>
            </a:solidFill>
            <a:prstDash val="solid"/>
          </a:ln>
        </p:spPr>
      </p:sp>
      <p:sp>
        <p:nvSpPr>
          <p:cNvPr id="22" name="band-text-14">
            <a:extLst xmlns:a="http://schemas.openxmlformats.org/drawingml/2006/main">
              <a:ext uri="{FF2B5EF4-FFF2-40B4-BE49-F238E27FC236}">
                <a16:creationId xmlns:a16="http://schemas.microsoft.com/office/drawing/2014/main" id="{1CC143BD-EA00-4313-89CD-4B481779DE3C}"/>
              </a:ext>
            </a:extLst>
          </p:cNvPr>
          <p:cNvSpPr>
            <a:spLocks xmlns:a="http://schemas.openxmlformats.org/drawingml/2006/main" noGrp="1"/>
          </p:cNvSpPr>
          <p:nvPr/>
        </p:nvSpPr>
        <p:spPr>
          <a:xfrm xmlns:a="http://schemas.openxmlformats.org/drawingml/2006/main">
            <a:off x="3333750" y="849630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725" b="1" i="0">
                <a:solidFill>
                  <a:srgbClr val="431218"/>
                </a:solidFill>
                <a:latin typeface="Noto Sans CJK TC"/>
                <a:ea typeface="Noto Sans CJK TC"/>
                <a:cs typeface="Noto Sans CJK TC"/>
              </a:defRPr>
            </a:pPr>
            <a:r>
              <a:rPr sz="1725" b="1" i="0">
                <a:solidFill>
                  <a:srgbClr val="431218"/>
                </a:solidFill>
                <a:latin typeface="Noto Sans CJK TC"/>
                <a:ea typeface="Noto Sans CJK TC"/>
                <a:cs typeface="Noto Sans CJK TC"/>
              </a:rPr>
              <a:t>三種 Reflection 的責任分工與修改方向已正確；現在需要的是重跑確認穩定度，而不是擴張 meta-prompt。</a:t>
            </a:r>
          </a:p>
        </p:txBody>
      </p:sp>
    </p:spTree>
    <p:extLst>
      <p:ext uri="{BB962C8B-B14F-4D97-AF65-F5344CB8AC3E}">
        <p14:creationId xmlns:p14="http://schemas.microsoft.com/office/powerpoint/2010/main" val="17616645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2026-09-04T10:02:54.7680000Z</dcterms:created>
  <dcterms:modified xsi:type="dcterms:W3CDTF">2026-09-04T10:02:54.7680000Z</dcterms:modified>
</coreProperties>
</file>