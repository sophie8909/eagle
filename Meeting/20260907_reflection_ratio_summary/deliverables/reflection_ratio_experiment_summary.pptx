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5298ecc1840f2" /><Relationship Type="http://schemas.openxmlformats.org/officeDocument/2006/relationships/extended-properties" Target="/docProps/app.xml" Id="R874de16dd10a483f" /><Relationship Type="http://schemas.openxmlformats.org/officeDocument/2006/relationships/officeDocument" Target="/ppt/presentation.xml" Id="Rd78269eb45b4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eb5aea6ec4469a"/>
  </p:sldMasterIdLst>
  <p:notesMasterIdLst>
    <p:notesMasterId xmlns:r="http://schemas.openxmlformats.org/officeDocument/2006/relationships" r:id="R030767224c61417d"/>
  </p:notesMasterIdLst>
  <p:sldIdLst>
    <p:sldId xmlns:r="http://schemas.openxmlformats.org/officeDocument/2006/relationships" id="256" r:id="Ra858f8977b4043f6"/>
    <p:sldId xmlns:r="http://schemas.openxmlformats.org/officeDocument/2006/relationships" id="257" r:id="Rbc96402cf9b3485c"/>
    <p:sldId xmlns:r="http://schemas.openxmlformats.org/officeDocument/2006/relationships" id="258" r:id="R89e90596cc164af9"/>
    <p:sldId xmlns:r="http://schemas.openxmlformats.org/officeDocument/2006/relationships" id="259" r:id="R816aa5cbde7e41c2"/>
    <p:sldId xmlns:r="http://schemas.openxmlformats.org/officeDocument/2006/relationships" id="260" r:id="R4abc2ec8baec426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eeacd372c48c8" /><Relationship Type="http://schemas.openxmlformats.org/officeDocument/2006/relationships/slideMaster" Target="/ppt/slideMasters/slideMaster1.xml" Id="R45eb5aea6ec4469a" /><Relationship Type="http://schemas.openxmlformats.org/officeDocument/2006/relationships/notesMaster" Target="/ppt/notesMasters/notesMaster1.xml" Id="R030767224c61417d" /><Relationship Type="http://schemas.openxmlformats.org/officeDocument/2006/relationships/presProps" Target="/ppt/presProps.xml" Id="Ra7c18853142e4ce3" /><Relationship Type="http://schemas.openxmlformats.org/officeDocument/2006/relationships/tableStyles" Target="/ppt/tableStyles.xml" Id="Ra3d96e07ee19430a" /><Relationship Type="http://schemas.openxmlformats.org/officeDocument/2006/relationships/slide" Target="/ppt/slides/slide1.xml" Id="Ra858f8977b4043f6" /><Relationship Type="http://schemas.openxmlformats.org/officeDocument/2006/relationships/slide" Target="/ppt/slides/slide2.xml" Id="Rbc96402cf9b3485c" /><Relationship Type="http://schemas.openxmlformats.org/officeDocument/2006/relationships/slide" Target="/ppt/slides/slide3.xml" Id="R89e90596cc164af9" /><Relationship Type="http://schemas.openxmlformats.org/officeDocument/2006/relationships/slide" Target="/ppt/slides/slide4.xml" Id="R816aa5cbde7e41c2" /><Relationship Type="http://schemas.openxmlformats.org/officeDocument/2006/relationships/slide" Target="/ppt/slides/slide5.xml" Id="R4abc2ec8baec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4e96f923ed48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c1c59b779438e" /><Relationship Type="http://schemas.openxmlformats.org/officeDocument/2006/relationships/notesMaster" Target="/ppt/notesMasters/notesMaster1.xml" Id="R4411c83f1b4347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fe6061e08d49c1" /><Relationship Type="http://schemas.openxmlformats.org/officeDocument/2006/relationships/notesMaster" Target="/ppt/notesMasters/notesMaster1.xml" Id="Rfb863c59d04c4d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d1a52957404844" /><Relationship Type="http://schemas.openxmlformats.org/officeDocument/2006/relationships/notesMaster" Target="/ppt/notesMasters/notesMaster1.xml" Id="R9ac7e284b1254a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e81bc401bc4a50" /><Relationship Type="http://schemas.openxmlformats.org/officeDocument/2006/relationships/notesMaster" Target="/ppt/notesMasters/notesMaster1.xml" Id="R46d0d1ad9ca344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ae787bf82e4ee7" /><Relationship Type="http://schemas.openxmlformats.org/officeDocument/2006/relationships/notesMaster" Target="/ppt/notesMasters/notesMaster1.xml" Id="Rc789bcd3891443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資料來源：configs/experiments/0904_3_reflection_ratios/experiment.yaml</a:t>
            </a:r>
          </a:p>
          <a:p xmlns:a="http://schemas.openxmlformats.org/drawingml/2006/main">
            <a:r>
              <a:t>Runs: 20260904_194420_684640, 20260905_092717_344449, 20260906_164007_089091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表格均以每代被選擇留下的 10 個 survivors 計算；Final Test 為各 run 選定 champion 的 600 場測試。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曲線資料來自三個 run 的 generation survivor summaries。Selection 使用 opponent-wise lexicase，因此 aggregate GP 僅供報告判讀。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Test W/D/L: 20/20/60 = 258/31/311; 33/33/34 = 223/51/326; 40/40/20 = 1/170/429。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AOS config: configs/experiments/0907_aos_opponent/ministral3_8b_aos_opponent_0.33_0.33_0.34_llm_mixed.yaml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286aa68e449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2f90fbfd0490d" /><Relationship Type="http://schemas.openxmlformats.org/officeDocument/2006/relationships/slideLayout" Target="/ppt/slideLayouts/slideLayout1.xml" Id="R62e50f02f6e74c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50f02f6e74c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bdc0d4a0341b9" /><Relationship Type="http://schemas.openxmlformats.org/officeDocument/2006/relationships/notesSlide" Target="/ppt/notesSlides/notesSlide1.xml" Id="Rfd6f081089e345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e552ca583431e" /><Relationship Type="http://schemas.openxmlformats.org/officeDocument/2006/relationships/notesSlide" Target="/ppt/notesSlides/notesSlide2.xml" Id="R575ac5b2febb4c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8e20d8fcf4216" /><Relationship Type="http://schemas.openxmlformats.org/officeDocument/2006/relationships/chart" Target="/ppt/slides/charts/chart1.xml" Id="R4e7d8e1d4e7e472b" /><Relationship Type="http://schemas.openxmlformats.org/officeDocument/2006/relationships/notesSlide" Target="/ppt/notesSlides/notesSlide3.xml" Id="R0cb4cb0659c5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7f9c90c894c6b" /><Relationship Type="http://schemas.openxmlformats.org/officeDocument/2006/relationships/chart" Target="/ppt/slides/charts/chart2.xml" Id="R51be45e3f1b04cc5" /><Relationship Type="http://schemas.openxmlformats.org/officeDocument/2006/relationships/notesSlide" Target="/ppt/notesSlides/notesSlide4.xml" Id="Rd86f4f6aacf741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05dad7a054be3" /><Relationship Type="http://schemas.openxmlformats.org/officeDocument/2006/relationships/notesSlide" Target="/ppt/notesSlides/notesSlide5.xml" Id="Rb35b280c9d7e4f2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20/20/60</c:v>
          </c:tx>
          <c:spPr>
            <a:ln xmlns:a="http://schemas.openxmlformats.org/drawingml/2006/main" w="38100">
              <a:solidFill>
                <a:srgbClr val="C98A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98A2F"/>
              </a:solidFill>
            </c:spPr>
          </c:marker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</c:formatCode>
                <c:ptCount val="21"/>
                <c:pt idx="0">
                  <c:v>-90.5</c:v>
                </c:pt>
                <c:pt idx="1">
                  <c:v>-89.4</c:v>
                </c:pt>
                <c:pt idx="2">
                  <c:v>-87.9</c:v>
                </c:pt>
                <c:pt idx="3">
                  <c:v>-85.3</c:v>
                </c:pt>
                <c:pt idx="4">
                  <c:v>-84.9</c:v>
                </c:pt>
                <c:pt idx="5">
                  <c:v>-82.8</c:v>
                </c:pt>
                <c:pt idx="6">
                  <c:v>-85.3</c:v>
                </c:pt>
                <c:pt idx="7">
                  <c:v>-84.6</c:v>
                </c:pt>
                <c:pt idx="8">
                  <c:v>-79.5</c:v>
                </c:pt>
                <c:pt idx="9">
                  <c:v>-81.9</c:v>
                </c:pt>
                <c:pt idx="10">
                  <c:v>-81.8</c:v>
                </c:pt>
                <c:pt idx="11">
                  <c:v>-82</c:v>
                </c:pt>
                <c:pt idx="12">
                  <c:v>-80.9</c:v>
                </c:pt>
                <c:pt idx="13">
                  <c:v>-79.6</c:v>
                </c:pt>
                <c:pt idx="14">
                  <c:v>-81</c:v>
                </c:pt>
                <c:pt idx="15">
                  <c:v>-78.9</c:v>
                </c:pt>
                <c:pt idx="16">
                  <c:v>-76.1</c:v>
                </c:pt>
                <c:pt idx="17">
                  <c:v>-49.7</c:v>
                </c:pt>
                <c:pt idx="18">
                  <c:v>-50.9</c:v>
                </c:pt>
                <c:pt idx="19">
                  <c:v>-60.3</c:v>
                </c:pt>
                <c:pt idx="20">
                  <c:v>-65.4</c:v>
                </c:pt>
              </c:numCache>
            </c:numRef>
          </c:val>
          <c:smooth val="0"/>
        </c:ser>
        <c:ser>
          <c:idx val="1"/>
          <c:order val="1"/>
          <c:tx>
            <c:v>33/33/34</c:v>
          </c:tx>
          <c:spPr>
            <a:ln xmlns:a="http://schemas.openxmlformats.org/drawingml/2006/main" w="47625">
              <a:solidFill>
                <a:srgbClr val="3E7C5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E7C59"/>
              </a:solidFill>
            </c:spPr>
          </c:marker>
          <c:cat>
            <c:numRef>
              <c:f>'Chart Data'!$C$2:$C$22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Data'!$D$2:$D$22</c:f>
              <c:numCache>
                <c:formatCode>0</c:formatCode>
                <c:ptCount val="21"/>
                <c:pt idx="0">
                  <c:v>-90.4</c:v>
                </c:pt>
                <c:pt idx="1">
                  <c:v>-87.7</c:v>
                </c:pt>
                <c:pt idx="2">
                  <c:v>-73.8</c:v>
                </c:pt>
                <c:pt idx="3">
                  <c:v>-68.1</c:v>
                </c:pt>
                <c:pt idx="4">
                  <c:v>-64.6</c:v>
                </c:pt>
                <c:pt idx="5">
                  <c:v>-59.7</c:v>
                </c:pt>
                <c:pt idx="6">
                  <c:v>-66.4</c:v>
                </c:pt>
                <c:pt idx="7">
                  <c:v>-65.7</c:v>
                </c:pt>
                <c:pt idx="8">
                  <c:v>-59.8</c:v>
                </c:pt>
                <c:pt idx="9">
                  <c:v>-59.2</c:v>
                </c:pt>
                <c:pt idx="10">
                  <c:v>-62.4</c:v>
                </c:pt>
                <c:pt idx="11">
                  <c:v>-63.2</c:v>
                </c:pt>
                <c:pt idx="12">
                  <c:v>-53</c:v>
                </c:pt>
                <c:pt idx="13">
                  <c:v>-50.9</c:v>
                </c:pt>
                <c:pt idx="14">
                  <c:v>-57</c:v>
                </c:pt>
                <c:pt idx="15">
                  <c:v>-60.7</c:v>
                </c:pt>
                <c:pt idx="16">
                  <c:v>-54.8</c:v>
                </c:pt>
                <c:pt idx="17">
                  <c:v>-55.8</c:v>
                </c:pt>
                <c:pt idx="18">
                  <c:v>-57.4</c:v>
                </c:pt>
                <c:pt idx="19">
                  <c:v>-53.5</c:v>
                </c:pt>
                <c:pt idx="20">
                  <c:v>-53.4</c:v>
                </c:pt>
              </c:numCache>
            </c:numRef>
          </c:val>
          <c:smooth val="0"/>
        </c:ser>
        <c:ser>
          <c:idx val="2"/>
          <c:order val="2"/>
          <c:tx>
            <c:v>40/40/20</c:v>
          </c:tx>
          <c:spPr>
            <a:ln xmlns:a="http://schemas.openxmlformats.org/drawingml/2006/main" w="38100">
              <a:solidFill>
                <a:srgbClr val="E36B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36B78"/>
              </a:solidFill>
            </c:spPr>
          </c:marker>
          <c:cat>
            <c:numRef>
              <c:f>'Chart Data'!$E$2:$E$22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Data'!$F$2:$F$22</c:f>
              <c:numCache>
                <c:formatCode>0</c:formatCode>
                <c:ptCount val="21"/>
                <c:pt idx="0">
                  <c:v>-90.6</c:v>
                </c:pt>
                <c:pt idx="1">
                  <c:v>-90.7</c:v>
                </c:pt>
                <c:pt idx="2">
                  <c:v>-91.2</c:v>
                </c:pt>
                <c:pt idx="3">
                  <c:v>-90.6</c:v>
                </c:pt>
                <c:pt idx="4">
                  <c:v>-90.6</c:v>
                </c:pt>
                <c:pt idx="5">
                  <c:v>-90.3</c:v>
                </c:pt>
                <c:pt idx="6">
                  <c:v>-90.5</c:v>
                </c:pt>
                <c:pt idx="7">
                  <c:v>-90.6</c:v>
                </c:pt>
                <c:pt idx="8">
                  <c:v>-90.6</c:v>
                </c:pt>
                <c:pt idx="9">
                  <c:v>-90.4</c:v>
                </c:pt>
                <c:pt idx="10">
                  <c:v>-90.3</c:v>
                </c:pt>
                <c:pt idx="11">
                  <c:v>-90.2</c:v>
                </c:pt>
                <c:pt idx="12">
                  <c:v>-90.4</c:v>
                </c:pt>
                <c:pt idx="13">
                  <c:v>-90.2</c:v>
                </c:pt>
                <c:pt idx="14">
                  <c:v>-90.1</c:v>
                </c:pt>
                <c:pt idx="15">
                  <c:v>-90.3</c:v>
                </c:pt>
                <c:pt idx="16">
                  <c:v>-90.3</c:v>
                </c:pt>
                <c:pt idx="17">
                  <c:v>-90.4</c:v>
                </c:pt>
                <c:pt idx="18">
                  <c:v>-90.4</c:v>
                </c:pt>
                <c:pt idx="19">
                  <c:v>-90.1</c:v>
                </c:pt>
                <c:pt idx="20">
                  <c:v>-90.2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TC"/>
                  <a:ea typeface="Noto Sans CJK TC"/>
                  <a:cs typeface="Noto Sans CJK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2606A"/>
                    </a:solidFill>
                    <a:latin typeface="Noto Sans CJK TC"/>
                    <a:ea typeface="Noto Sans CJK TC"/>
                    <a:cs typeface="Noto Sans CJK TC"/>
                  </a:rPr>
                  <a:t>Generation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2606A"/>
                  </a:solidFill>
                  <a:latin typeface="Noto Sans CJK TC"/>
                  <a:ea typeface="Noto Sans CJK TC"/>
                  <a:cs typeface="Noto Sans CJK T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B9B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72768"/>
      </c:catAx>
      <c:valAx>
        <c:axId val="48672768"/>
        <c:scaling>
          <c:orientation val="minMax"/>
          <c:max val="-4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DDD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2606A"/>
                    </a:solidFill>
                    <a:latin typeface="Noto Sans CJK TC"/>
                    <a:ea typeface="Noto Sans CJK TC"/>
                    <a:cs typeface="Noto Sans CJK TC"/>
                  </a:rPr>
                  <a:t>Mean GP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2606A"/>
                  </a:solidFill>
                  <a:latin typeface="Noto Sans CJK TC"/>
                  <a:ea typeface="Noto Sans CJK TC"/>
                  <a:cs typeface="Noto Sans CJK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E7B9B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7B9B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2606A"/>
              </a:solidFill>
              <a:latin typeface="Noto Sans CJK TC"/>
              <a:ea typeface="Noto Sans CJK TC"/>
              <a:cs typeface="Noto Sans CJK TC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Wins</c:v>
          </c:tx>
          <c:spPr>
            <a:solidFill xmlns:a="http://schemas.openxmlformats.org/drawingml/2006/main">
              <a:srgbClr val="3E7C59"/>
            </a:solidFill>
          </c:spPr>
          <c:cat>
            <c:strRef>
              <c:f>'Chart Data'!$A$2:$A$4</c:f>
              <c:strCache>
                <c:ptCount val="3"/>
                <c:pt idx="0">
                  <c:v>40/40/20</c:v>
                </c:pt>
                <c:pt idx="1">
                  <c:v>33/33/34</c:v>
                </c:pt>
                <c:pt idx="2">
                  <c:v>20/20/60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223</c:v>
                </c:pt>
                <c:pt idx="2">
                  <c:v>258</c:v>
                </c:pt>
              </c:numCache>
            </c:numRef>
          </c:val>
        </c:ser>
        <c:ser>
          <c:idx val="1"/>
          <c:order val="1"/>
          <c:tx>
            <c:v>Draws</c:v>
          </c:tx>
          <c:spPr>
            <a:solidFill xmlns:a="http://schemas.openxmlformats.org/drawingml/2006/main">
              <a:srgbClr val="C98A2F"/>
            </a:solidFill>
          </c:spPr>
          <c:cat>
            <c:strRef>
              <c:f>'Chart Data'!$C$2:$C$4</c:f>
              <c:strCache>
                <c:ptCount val="3"/>
                <c:pt idx="0">
                  <c:v>40/40/20</c:v>
                </c:pt>
                <c:pt idx="1">
                  <c:v>33/33/34</c:v>
                </c:pt>
                <c:pt idx="2">
                  <c:v>20/20/60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170</c:v>
                </c:pt>
                <c:pt idx="1">
                  <c:v>51</c:v>
                </c:pt>
                <c:pt idx="2">
                  <c:v>31</c:v>
                </c:pt>
              </c:numCache>
            </c:numRef>
          </c:val>
        </c:ser>
        <c:ser>
          <c:idx val="2"/>
          <c:order val="2"/>
          <c:tx>
            <c:v>Losses</c:v>
          </c:tx>
          <c:spPr>
            <a:solidFill xmlns:a="http://schemas.openxmlformats.org/drawingml/2006/main">
              <a:srgbClr val="E36B78"/>
            </a:solidFill>
          </c:spPr>
          <c:cat>
            <c:strRef>
              <c:f>'Chart Data'!$E$2:$E$4</c:f>
              <c:strCache>
                <c:ptCount val="3"/>
                <c:pt idx="0">
                  <c:v>40/40/20</c:v>
                </c:pt>
                <c:pt idx="1">
                  <c:v>33/33/34</c:v>
                </c:pt>
                <c:pt idx="2">
                  <c:v>20/20/60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429</c:v>
                </c:pt>
                <c:pt idx="1">
                  <c:v>326</c:v>
                </c:pt>
                <c:pt idx="2">
                  <c:v>311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FFFFF"/>
                  </a:solidFill>
                  <a:latin typeface="Noto Sans CJK TC"/>
                  <a:ea typeface="Noto Sans CJK TC"/>
                  <a:cs typeface="Noto Sans CJK T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DDD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2606A"/>
                    </a:solidFill>
                    <a:latin typeface="Noto Sans CJK TC"/>
                    <a:ea typeface="Noto Sans CJK TC"/>
                    <a:cs typeface="Noto Sans CJK TC"/>
                  </a:rPr>
                  <a:t>Matches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2606A"/>
                  </a:solidFill>
                  <a:latin typeface="Noto Sans CJK TC"/>
                  <a:ea typeface="Noto Sans CJK TC"/>
                  <a:cs typeface="Noto Sans CJK T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B9B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B9B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7B9B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2606A"/>
              </a:solidFill>
              <a:latin typeface="Noto Sans CJK TC"/>
              <a:ea typeface="Noto Sans CJK TC"/>
              <a:cs typeface="Noto Sans CJK TC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left-cover">
            <a:extLst xmlns:a="http://schemas.openxmlformats.org/drawingml/2006/main">
              <a:ext uri="{FF2B5EF4-FFF2-40B4-BE49-F238E27FC236}">
                <a16:creationId xmlns:a16="http://schemas.microsoft.com/office/drawing/2014/main" id="{F0112012-A2F5-46B9-B0D3-48097667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2" name="top-right-cover">
            <a:extLst xmlns:a="http://schemas.openxmlformats.org/drawingml/2006/main">
              <a:ext uri="{FF2B5EF4-FFF2-40B4-BE49-F238E27FC236}">
                <a16:creationId xmlns:a16="http://schemas.microsoft.com/office/drawing/2014/main" id="{85D872ED-93A6-4717-A091-D446A30D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3" name="diamond-cover-1">
            <a:extLst xmlns:a="http://schemas.openxmlformats.org/drawingml/2006/main">
              <a:ext uri="{FF2B5EF4-FFF2-40B4-BE49-F238E27FC236}">
                <a16:creationId xmlns:a16="http://schemas.microsoft.com/office/drawing/2014/main" id="{A4FAA105-20BA-485F-96A2-054E2588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4" name="diamond-cover-2">
            <a:extLst xmlns:a="http://schemas.openxmlformats.org/drawingml/2006/main">
              <a:ext uri="{FF2B5EF4-FFF2-40B4-BE49-F238E27FC236}">
                <a16:creationId xmlns:a16="http://schemas.microsoft.com/office/drawing/2014/main" id="{9EEBE509-5D07-44FB-AF71-113F871C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5" name="diamond-cover-3">
            <a:extLst xmlns:a="http://schemas.openxmlformats.org/drawingml/2006/main">
              <a:ext uri="{FF2B5EF4-FFF2-40B4-BE49-F238E27FC236}">
                <a16:creationId xmlns:a16="http://schemas.microsoft.com/office/drawing/2014/main" id="{47B52FC7-3F05-4E01-B43B-B4335D46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6" name="cover-overline">
            <a:extLst xmlns:a="http://schemas.openxmlformats.org/drawingml/2006/main">
              <a:ext uri="{FF2B5EF4-FFF2-40B4-BE49-F238E27FC236}">
                <a16:creationId xmlns:a16="http://schemas.microsoft.com/office/drawing/2014/main" id="{168B5ACD-FE5D-43B7-AAAD-6B593284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00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9516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B95160"/>
                </a:solidFill>
                <a:latin typeface="Noto Sans CJK TC"/>
                <a:ea typeface="Noto Sans CJK TC"/>
                <a:cs typeface="Noto Sans CJK TC"/>
              </a:rPr>
              <a:t>EAGLE · REFLECTION RATIO REVIEW · 2026.09.07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CF92E08-A551-4FC9-8E68-FE1F0418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257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65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465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三種 Reflection 比例實驗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65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465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簡版結果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704406-E345-41BF-BC89-743E6A01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20/20/60 · 33/33/34 · 40/40/20｜20 generations｜Ministral3 8B</a:t>
            </a:r>
          </a:p>
        </p:txBody>
      </p:sp>
      <p:sp>
        <p:nvSpPr>
          <p:cNvPr id="9" name="cover-band">
            <a:extLst xmlns:a="http://schemas.openxmlformats.org/drawingml/2006/main">
              <a:ext uri="{FF2B5EF4-FFF2-40B4-BE49-F238E27FC236}">
                <a16:creationId xmlns:a16="http://schemas.microsoft.com/office/drawing/2014/main" id="{1D27A1DD-C3D8-444D-A67C-98F1ECC8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1600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8D8D8"/>
          </a:solidFill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0" name="cover-divider-1">
            <a:extLst xmlns:a="http://schemas.openxmlformats.org/drawingml/2006/main">
              <a:ext uri="{FF2B5EF4-FFF2-40B4-BE49-F238E27FC236}">
                <a16:creationId xmlns:a16="http://schemas.microsoft.com/office/drawing/2014/main" id="{E74B48FC-47A0-4526-980E-34B5786B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7225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1" name="cover-divider-2">
            <a:extLst xmlns:a="http://schemas.openxmlformats.org/drawingml/2006/main">
              <a:ext uri="{FF2B5EF4-FFF2-40B4-BE49-F238E27FC236}">
                <a16:creationId xmlns:a16="http://schemas.microsoft.com/office/drawing/2014/main" id="{2AAE2CCC-4769-4F07-A941-5C18CF37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7225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2" name="cover-divider-3">
            <a:extLst xmlns:a="http://schemas.openxmlformats.org/drawingml/2006/main">
              <a:ext uri="{FF2B5EF4-FFF2-40B4-BE49-F238E27FC236}">
                <a16:creationId xmlns:a16="http://schemas.microsoft.com/office/drawing/2014/main" id="{A0A8C19F-15E4-44EE-B246-0864FA45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57225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3" name="kpi-value-ratio">
            <a:extLst xmlns:a="http://schemas.openxmlformats.org/drawingml/2006/main">
              <a:ext uri="{FF2B5EF4-FFF2-40B4-BE49-F238E27FC236}">
                <a16:creationId xmlns:a16="http://schemas.microsoft.com/office/drawing/2014/main" id="{9AC94B4B-059D-4668-8175-4AE0B46C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667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rPr>
              <a:t>33/33/34</a:t>
            </a:r>
          </a:p>
        </p:txBody>
      </p:sp>
      <p:sp>
        <p:nvSpPr>
          <p:cNvPr id="14" name="kpi-label-ratio">
            <a:extLst xmlns:a="http://schemas.openxmlformats.org/drawingml/2006/main">
              <a:ext uri="{FF2B5EF4-FFF2-40B4-BE49-F238E27FC236}">
                <a16:creationId xmlns:a16="http://schemas.microsoft.com/office/drawing/2014/main" id="{317C9104-C8AF-457F-83E5-1686891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305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整體最佳比例</a:t>
            </a:r>
          </a:p>
        </p:txBody>
      </p:sp>
      <p:sp>
        <p:nvSpPr>
          <p:cNvPr id="15" name="kpi-value-gp">
            <a:extLst xmlns:a="http://schemas.openxmlformats.org/drawingml/2006/main">
              <a:ext uri="{FF2B5EF4-FFF2-40B4-BE49-F238E27FC236}">
                <a16:creationId xmlns:a16="http://schemas.microsoft.com/office/drawing/2014/main" id="{1B10A16D-51FF-4AC7-8AB0-BDA07E48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667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rPr>
              <a:t>-53.37</a:t>
            </a:r>
          </a:p>
        </p:txBody>
      </p:sp>
      <p:sp>
        <p:nvSpPr>
          <p:cNvPr id="16" name="kpi-label-gp">
            <a:extLst xmlns:a="http://schemas.openxmlformats.org/drawingml/2006/main">
              <a:ext uri="{FF2B5EF4-FFF2-40B4-BE49-F238E27FC236}">
                <a16:creationId xmlns:a16="http://schemas.microsoft.com/office/drawing/2014/main" id="{D5A6552C-8A33-4ED8-B7CA-973A79A5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305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最終 survivor mean GP</a:t>
            </a:r>
          </a:p>
        </p:txBody>
      </p:sp>
      <p:sp>
        <p:nvSpPr>
          <p:cNvPr id="17" name="kpi-value-failures">
            <a:extLst xmlns:a="http://schemas.openxmlformats.org/drawingml/2006/main">
              <a:ext uri="{FF2B5EF4-FFF2-40B4-BE49-F238E27FC236}">
                <a16:creationId xmlns:a16="http://schemas.microsoft.com/office/drawing/2014/main" id="{9A128B20-02FA-41DC-80BF-13D6006F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67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rPr>
              <a:t>1 / 200</a:t>
            </a:r>
          </a:p>
        </p:txBody>
      </p:sp>
      <p:sp>
        <p:nvSpPr>
          <p:cNvPr id="18" name="kpi-label-failures">
            <a:extLst xmlns:a="http://schemas.openxmlformats.org/drawingml/2006/main">
              <a:ext uri="{FF2B5EF4-FFF2-40B4-BE49-F238E27FC236}">
                <a16:creationId xmlns:a16="http://schemas.microsoft.com/office/drawing/2014/main" id="{1E475D7F-11D8-45C3-ACD9-667ADE5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305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失敗 offspring</a:t>
            </a:r>
          </a:p>
        </p:txBody>
      </p:sp>
      <p:sp>
        <p:nvSpPr>
          <p:cNvPr id="19" name="kpi-value-time">
            <a:extLst xmlns:a="http://schemas.openxmlformats.org/drawingml/2006/main">
              <a:ext uri="{FF2B5EF4-FFF2-40B4-BE49-F238E27FC236}">
                <a16:creationId xmlns:a16="http://schemas.microsoft.com/office/drawing/2014/main" id="{F21A715E-DF6B-4954-94C8-2A5B97A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6667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rPr>
              <a:t>7.80 h</a:t>
            </a:r>
          </a:p>
        </p:txBody>
      </p:sp>
      <p:sp>
        <p:nvSpPr>
          <p:cNvPr id="20" name="kpi-label-time">
            <a:extLst xmlns:a="http://schemas.openxmlformats.org/drawingml/2006/main">
              <a:ext uri="{FF2B5EF4-FFF2-40B4-BE49-F238E27FC236}">
                <a16:creationId xmlns:a16="http://schemas.microsoft.com/office/drawing/2014/main" id="{5D0AF27C-66C6-4D0E-8CA8-E7BAF8FD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7305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累積 LLM 時間</a:t>
            </a:r>
          </a:p>
        </p:txBody>
      </p:sp>
      <p:sp>
        <p:nvSpPr>
          <p:cNvPr id="21" name="cover-bottom">
            <a:extLst xmlns:a="http://schemas.openxmlformats.org/drawingml/2006/main">
              <a:ext uri="{FF2B5EF4-FFF2-40B4-BE49-F238E27FC236}">
                <a16:creationId xmlns:a16="http://schemas.microsoft.com/office/drawing/2014/main" id="{3F7DAF8C-6109-404E-870E-BC1DDCF1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6312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22" name="cover-note">
            <a:extLst xmlns:a="http://schemas.openxmlformats.org/drawingml/2006/main">
              <a:ext uri="{FF2B5EF4-FFF2-40B4-BE49-F238E27FC236}">
                <a16:creationId xmlns:a16="http://schemas.microsoft.com/office/drawing/2014/main" id="{D51DE6BD-FEFB-425E-B924-E52F795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858250"/>
            <a:ext cx="1190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簡版聚焦：整體族群、單一 champion、執行可靠度與下一步</a:t>
            </a:r>
          </a:p>
        </p:txBody>
      </p:sp>
      <p:sp>
        <p:nvSpPr>
          <p:cNvPr id="23" name="cover-page">
            <a:extLst xmlns:a="http://schemas.openxmlformats.org/drawingml/2006/main">
              <a:ext uri="{FF2B5EF4-FFF2-40B4-BE49-F238E27FC236}">
                <a16:creationId xmlns:a16="http://schemas.microsoft.com/office/drawing/2014/main" id="{FBCC449A-A52A-4413-A1FF-D72EDB0A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858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382600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left-2">
            <a:extLst xmlns:a="http://schemas.openxmlformats.org/drawingml/2006/main">
              <a:ext uri="{FF2B5EF4-FFF2-40B4-BE49-F238E27FC236}">
                <a16:creationId xmlns:a16="http://schemas.microsoft.com/office/drawing/2014/main" id="{4DE62AB5-55AF-4393-84E3-FA51F503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2" name="top-right-2">
            <a:extLst xmlns:a="http://schemas.openxmlformats.org/drawingml/2006/main">
              <a:ext uri="{FF2B5EF4-FFF2-40B4-BE49-F238E27FC236}">
                <a16:creationId xmlns:a16="http://schemas.microsoft.com/office/drawing/2014/main" id="{21C402EF-34C3-40CE-AE67-9FF43BFB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3" name="diamond-2-1">
            <a:extLst xmlns:a="http://schemas.openxmlformats.org/drawingml/2006/main">
              <a:ext uri="{FF2B5EF4-FFF2-40B4-BE49-F238E27FC236}">
                <a16:creationId xmlns:a16="http://schemas.microsoft.com/office/drawing/2014/main" id="{8115DC0F-E3C8-45F3-BB0D-21BEC3B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4" name="diamond-2-2">
            <a:extLst xmlns:a="http://schemas.openxmlformats.org/drawingml/2006/main">
              <a:ext uri="{FF2B5EF4-FFF2-40B4-BE49-F238E27FC236}">
                <a16:creationId xmlns:a16="http://schemas.microsoft.com/office/drawing/2014/main" id="{D83BDD06-2119-47DD-B1BC-28DA7F37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5" name="diamond-2-3">
            <a:extLst xmlns:a="http://schemas.openxmlformats.org/drawingml/2006/main">
              <a:ext uri="{FF2B5EF4-FFF2-40B4-BE49-F238E27FC236}">
                <a16:creationId xmlns:a16="http://schemas.microsoft.com/office/drawing/2014/main" id="{3CD93939-C464-4245-9049-F3AB0D2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6" name="section-dot-2">
            <a:extLst xmlns:a="http://schemas.openxmlformats.org/drawingml/2006/main">
              <a:ext uri="{FF2B5EF4-FFF2-40B4-BE49-F238E27FC236}">
                <a16:creationId xmlns:a16="http://schemas.microsoft.com/office/drawing/2014/main" id="{7EA1E3C5-D6E0-4FAD-A1C4-4A7B04F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7" name="section-number-2">
            <a:extLst xmlns:a="http://schemas.openxmlformats.org/drawingml/2006/main">
              <a:ext uri="{FF2B5EF4-FFF2-40B4-BE49-F238E27FC236}">
                <a16:creationId xmlns:a16="http://schemas.microsoft.com/office/drawing/2014/main" id="{D97676C7-C525-4611-A06B-506B7579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CBFDB9AD-74DC-4B8F-A38E-CCB68DC0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9532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結論先講：33/33/34 是目前最穩的預設</a:t>
            </a:r>
          </a:p>
        </p:txBody>
      </p:sp>
      <p:sp>
        <p:nvSpPr>
          <p:cNvPr id="9" name="kicker-2">
            <a:extLst xmlns:a="http://schemas.openxmlformats.org/drawingml/2006/main">
              <a:ext uri="{FF2B5EF4-FFF2-40B4-BE49-F238E27FC236}">
                <a16:creationId xmlns:a16="http://schemas.microsoft.com/office/drawing/2014/main" id="{CE64767A-B1BF-4018-9735-74EF49C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83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OVERALL WINNER</a:t>
            </a:r>
          </a:p>
        </p:txBody>
      </p:sp>
      <p:sp>
        <p:nvSpPr>
          <p:cNvPr id="10" name="bottom-2">
            <a:extLst xmlns:a="http://schemas.openxmlformats.org/drawingml/2006/main">
              <a:ext uri="{FF2B5EF4-FFF2-40B4-BE49-F238E27FC236}">
                <a16:creationId xmlns:a16="http://schemas.microsoft.com/office/drawing/2014/main" id="{28D92C54-4AA3-4CBF-B718-41EEF26C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6312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7A1BF341-1B57-4C9F-926F-305F2CC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858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02 / 05</a:t>
            </a:r>
          </a:p>
        </p:txBody>
      </p:sp>
      <p:sp>
        <p:nvSpPr>
          <p:cNvPr id="12" name="s2-subtitle">
            <a:extLst xmlns:a="http://schemas.openxmlformats.org/drawingml/2006/main">
              <a:ext uri="{FF2B5EF4-FFF2-40B4-BE49-F238E27FC236}">
                <a16:creationId xmlns:a16="http://schemas.microsoft.com/office/drawing/2014/main" id="{8FFB542D-C832-41AD-8EDA-5251CBF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同時比較 survivor population、單一最佳個體與執行可靠度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952500" y="2238375"/>
          <a:ext xmlns:a="http://schemas.openxmlformats.org/drawingml/2006/main" cx="16383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333625"/>
                <a:gridCol w="2000250"/>
                <a:gridCol w="2857500"/>
                <a:gridCol w="2000250"/>
                <a:gridCol w="2428875"/>
                <a:gridCol w="2381250"/>
              </a:tblGrid>
              <a:tr h="714375"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比例 S/C/P</a:t>
                      </a:r>
                    </a:p>
                  </a:txBody>
                  <a:tcPr marL="76200" marR="76200" marT="95250" marB="95250" anchor="ctr">
                    <a:solidFill>
                      <a:srgbClr val="B9516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最終 mean GP</a:t>
                      </a:r>
                    </a:p>
                  </a:txBody>
                  <a:tcPr marL="76200" marR="76200" marT="95250" marB="95250" anchor="ctr">
                    <a:solidFill>
                      <a:srgbClr val="B9516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最佳 GP</a:t>
                      </a:r>
                    </a:p>
                  </a:txBody>
                  <a:tcPr marL="76200" marR="76200" marT="95250" marB="95250" anchor="ctr">
                    <a:solidFill>
                      <a:srgbClr val="B9516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Final Test W/D/L</a:t>
                      </a:r>
                    </a:p>
                  </a:txBody>
                  <a:tcPr marL="76200" marR="76200" marT="95250" marB="95250" anchor="ctr">
                    <a:solidFill>
                      <a:srgbClr val="B9516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有效 policy</a:t>
                      </a:r>
                    </a:p>
                  </a:txBody>
                  <a:tcPr marL="76200" marR="76200" marT="95250" marB="95250" anchor="ctr">
                    <a:solidFill>
                      <a:srgbClr val="B9516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失敗 offspring</a:t>
                      </a:r>
                    </a:p>
                  </a:txBody>
                  <a:tcPr marL="76200" marR="76200" marT="95250" marB="95250" anchor="ctr">
                    <a:solidFill>
                      <a:srgbClr val="B9516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LLM 時間</a:t>
                      </a:r>
                    </a:p>
                  </a:txBody>
                  <a:tcPr marL="76200" marR="76200" marT="95250" marB="95250" anchor="ctr">
                    <a:solidFill>
                      <a:srgbClr val="B95160"/>
                    </a:solidFill>
                  </a:tcPr>
                </a:tc>
              </a:tr>
              <a:tr h="9525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20/20/60</a:t>
                      </a:r>
                    </a:p>
                  </a:txBody>
                  <a:tcPr marL="76200" marR="76200" marT="95250" marB="95250" anchor="ctr">
                    <a:solidFill>
                      <a:srgbClr val="FAE8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-65.41</a:t>
                      </a:r>
                    </a:p>
                  </a:txBody>
                  <a:tcPr marL="76200" marR="76200" marT="95250" marB="95250" anchor="ctr">
                    <a:solidFill>
                      <a:srgbClr val="FAE8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-40.72</a:t>
                      </a:r>
                    </a:p>
                  </a:txBody>
                  <a:tcPr marL="76200" marR="76200" marT="95250" marB="95250" anchor="ctr">
                    <a:solidFill>
                      <a:srgbClr val="FAE8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258 / 31 / 311</a:t>
                      </a:r>
                    </a:p>
                  </a:txBody>
                  <a:tcPr marL="76200" marR="76200" marT="95250" marB="95250" anchor="ctr">
                    <a:solidFill>
                      <a:srgbClr val="FAE8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 / 10</a:t>
                      </a:r>
                    </a:p>
                  </a:txBody>
                  <a:tcPr marL="76200" marR="76200" marT="95250" marB="95250" anchor="ctr">
                    <a:solidFill>
                      <a:srgbClr val="FAE8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 / 200</a:t>
                      </a:r>
                    </a:p>
                  </a:txBody>
                  <a:tcPr marL="76200" marR="76200" marT="95250" marB="95250" anchor="ctr">
                    <a:solidFill>
                      <a:srgbClr val="FAE8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8.98 h</a:t>
                      </a:r>
                    </a:p>
                  </a:txBody>
                  <a:tcPr marL="76200" marR="76200" marT="95250" marB="95250" anchor="ctr">
                    <a:solidFill>
                      <a:srgbClr val="FAE8BF"/>
                    </a:solidFill>
                  </a:tcPr>
                </a:tc>
              </a:tr>
              <a:tr h="1047750"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3E7C59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33/33/34</a:t>
                      </a:r>
                    </a:p>
                  </a:txBody>
                  <a:tcPr marL="76200" marR="76200" marT="95250" marB="95250" anchor="ctr">
                    <a:solidFill>
                      <a:srgbClr val="E2F1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3E7C59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-53.37</a:t>
                      </a:r>
                    </a:p>
                  </a:txBody>
                  <a:tcPr marL="76200" marR="76200" marT="95250" marB="95250" anchor="ctr">
                    <a:solidFill>
                      <a:srgbClr val="E2F1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3E7C59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-49.27</a:t>
                      </a:r>
                    </a:p>
                  </a:txBody>
                  <a:tcPr marL="76200" marR="76200" marT="95250" marB="95250" anchor="ctr">
                    <a:solidFill>
                      <a:srgbClr val="E2F1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3E7C59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223 / 51 / 326</a:t>
                      </a:r>
                    </a:p>
                  </a:txBody>
                  <a:tcPr marL="76200" marR="76200" marT="95250" marB="95250" anchor="ctr">
                    <a:solidFill>
                      <a:srgbClr val="E2F1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3E7C59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 / 10</a:t>
                      </a:r>
                    </a:p>
                  </a:txBody>
                  <a:tcPr marL="76200" marR="76200" marT="95250" marB="95250" anchor="ctr">
                    <a:solidFill>
                      <a:srgbClr val="E2F1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3E7C59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/ 200</a:t>
                      </a:r>
                    </a:p>
                  </a:txBody>
                  <a:tcPr marL="76200" marR="76200" marT="95250" marB="95250" anchor="ctr">
                    <a:solidFill>
                      <a:srgbClr val="E2F1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3E7C59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7.80 h</a:t>
                      </a:r>
                    </a:p>
                  </a:txBody>
                  <a:tcPr marL="76200" marR="76200" marT="95250" marB="95250" anchor="ctr">
                    <a:solidFill>
                      <a:srgbClr val="E2F1E7"/>
                    </a:solidFill>
                  </a:tcPr>
                </a:tc>
              </a:tr>
              <a:tr h="9525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40/40/20</a:t>
                      </a:r>
                    </a:p>
                  </a:txBody>
                  <a:tcPr marL="76200" marR="76200" marT="95250" marB="95250" anchor="ctr">
                    <a:solidFill>
                      <a:srgbClr val="F8D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-90.16</a:t>
                      </a:r>
                    </a:p>
                  </a:txBody>
                  <a:tcPr marL="76200" marR="76200" marT="95250" marB="95250" anchor="ctr">
                    <a:solidFill>
                      <a:srgbClr val="F8D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-88.84</a:t>
                      </a:r>
                    </a:p>
                  </a:txBody>
                  <a:tcPr marL="76200" marR="76200" marT="95250" marB="95250" anchor="ctr">
                    <a:solidFill>
                      <a:srgbClr val="F8D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/ 170 / 429</a:t>
                      </a:r>
                    </a:p>
                  </a:txBody>
                  <a:tcPr marL="76200" marR="76200" marT="95250" marB="95250" anchor="ctr">
                    <a:solidFill>
                      <a:srgbClr val="F8D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 / 10</a:t>
                      </a:r>
                    </a:p>
                  </a:txBody>
                  <a:tcPr marL="76200" marR="76200" marT="95250" marB="95250" anchor="ctr">
                    <a:solidFill>
                      <a:srgbClr val="F8D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 / 200</a:t>
                      </a:r>
                    </a:p>
                  </a:txBody>
                  <a:tcPr marL="76200" marR="76200" marT="95250" marB="95250" anchor="ctr">
                    <a:solidFill>
                      <a:srgbClr val="F8D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43121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10.08 h</a:t>
                      </a:r>
                    </a:p>
                  </a:txBody>
                  <a:tcPr marL="76200" marR="76200" marT="95250" marB="95250" anchor="ctr">
                    <a:solidFill>
                      <a:srgbClr val="F8D8D8"/>
                    </a:solidFill>
                  </a:tcPr>
                </a:tc>
              </a:tr>
            </a:tbl>
          </a:graphicData>
        </a:graphic>
      </p:graphicFrame>
      <p:sp>
        <p:nvSpPr>
          <p:cNvPr id="14" name="s2-card-0">
            <a:extLst xmlns:a="http://schemas.openxmlformats.org/drawingml/2006/main">
              <a:ext uri="{FF2B5EF4-FFF2-40B4-BE49-F238E27FC236}">
                <a16:creationId xmlns:a16="http://schemas.microsoft.com/office/drawing/2014/main" id="{7CF3DFCE-F5D9-4014-AECF-BE46A21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5048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15" name="s2-card-value-0">
            <a:extLst xmlns:a="http://schemas.openxmlformats.org/drawingml/2006/main">
              <a:ext uri="{FF2B5EF4-FFF2-40B4-BE49-F238E27FC236}">
                <a16:creationId xmlns:a16="http://schemas.microsoft.com/office/drawing/2014/main" id="{339ABDB7-77E3-4C31-AB83-3CB72328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532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2475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rPr>
              <a:t>33/33/34</a:t>
            </a:r>
          </a:p>
        </p:txBody>
      </p:sp>
      <p:sp>
        <p:nvSpPr>
          <p:cNvPr id="16" name="s2-card-label-0">
            <a:extLst xmlns:a="http://schemas.openxmlformats.org/drawingml/2006/main">
              <a:ext uri="{FF2B5EF4-FFF2-40B4-BE49-F238E27FC236}">
                <a16:creationId xmlns:a16="http://schemas.microsoft.com/office/drawing/2014/main" id="{4B7E2017-7305-4571-905D-67FBB12A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24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整體族群最佳</a:t>
            </a:r>
          </a:p>
        </p:txBody>
      </p:sp>
      <p:sp>
        <p:nvSpPr>
          <p:cNvPr id="17" name="s2-card-1">
            <a:extLst xmlns:a="http://schemas.openxmlformats.org/drawingml/2006/main">
              <a:ext uri="{FF2B5EF4-FFF2-40B4-BE49-F238E27FC236}">
                <a16:creationId xmlns:a16="http://schemas.microsoft.com/office/drawing/2014/main" id="{8E9E1E9A-F888-4407-8547-85FC00ED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334125"/>
            <a:ext cx="5048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E8BF"/>
          </a:solidFill>
          <a:ln xmlns:a="http://schemas.openxmlformats.org/drawingml/2006/main" w="9525">
            <a:solidFill>
              <a:srgbClr val="C98A2F"/>
            </a:solidFill>
            <a:prstDash val="solid"/>
          </a:ln>
        </p:spPr>
      </p:sp>
      <p:sp>
        <p:nvSpPr>
          <p:cNvPr id="18" name="s2-card-value-1">
            <a:extLst xmlns:a="http://schemas.openxmlformats.org/drawingml/2006/main">
              <a:ext uri="{FF2B5EF4-FFF2-40B4-BE49-F238E27FC236}">
                <a16:creationId xmlns:a16="http://schemas.microsoft.com/office/drawing/2014/main" id="{1534F6CB-6143-45A9-9AC1-E2302678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5532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2475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20/20/60</a:t>
            </a:r>
          </a:p>
        </p:txBody>
      </p:sp>
      <p:sp>
        <p:nvSpPr>
          <p:cNvPr id="19" name="s2-card-label-1">
            <a:extLst xmlns:a="http://schemas.openxmlformats.org/drawingml/2006/main">
              <a:ext uri="{FF2B5EF4-FFF2-40B4-BE49-F238E27FC236}">
                <a16:creationId xmlns:a16="http://schemas.microsoft.com/office/drawing/2014/main" id="{FFECC5BD-9FDF-41C5-98C3-CEB1087A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7124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單一 champion 最佳</a:t>
            </a:r>
          </a:p>
        </p:txBody>
      </p:sp>
      <p:sp>
        <p:nvSpPr>
          <p:cNvPr id="20" name="s2-card-2">
            <a:extLst xmlns:a="http://schemas.openxmlformats.org/drawingml/2006/main">
              <a:ext uri="{FF2B5EF4-FFF2-40B4-BE49-F238E27FC236}">
                <a16:creationId xmlns:a16="http://schemas.microsoft.com/office/drawing/2014/main" id="{37239C2A-7153-408C-AF9A-D8F4EC4E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34125"/>
            <a:ext cx="5048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D8D8"/>
          </a:solidFill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21" name="s2-card-value-2">
            <a:extLst xmlns:a="http://schemas.openxmlformats.org/drawingml/2006/main">
              <a:ext uri="{FF2B5EF4-FFF2-40B4-BE49-F238E27FC236}">
                <a16:creationId xmlns:a16="http://schemas.microsoft.com/office/drawing/2014/main" id="{8F25F135-A706-4396-8F97-71493778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5532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2475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40/40/20</a:t>
            </a:r>
          </a:p>
        </p:txBody>
      </p:sp>
      <p:sp>
        <p:nvSpPr>
          <p:cNvPr id="22" name="s2-card-label-2">
            <a:extLst xmlns:a="http://schemas.openxmlformats.org/drawingml/2006/main">
              <a:ext uri="{FF2B5EF4-FFF2-40B4-BE49-F238E27FC236}">
                <a16:creationId xmlns:a16="http://schemas.microsoft.com/office/drawing/2014/main" id="{E608F822-237B-4C45-BF70-DCC60EC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7124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目前不建議</a:t>
            </a:r>
          </a:p>
        </p:txBody>
      </p:sp>
      <p:sp>
        <p:nvSpPr>
          <p:cNvPr id="23" name="band-2">
            <a:extLst xmlns:a="http://schemas.openxmlformats.org/drawingml/2006/main">
              <a:ext uri="{FF2B5EF4-FFF2-40B4-BE49-F238E27FC236}">
                <a16:creationId xmlns:a16="http://schemas.microsoft.com/office/drawing/2014/main" id="{B51C0558-8E26-4F4B-9349-E295BFE2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16383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24" name="band-label-2">
            <a:extLst xmlns:a="http://schemas.openxmlformats.org/drawingml/2006/main">
              <a:ext uri="{FF2B5EF4-FFF2-40B4-BE49-F238E27FC236}">
                <a16:creationId xmlns:a16="http://schemas.microsoft.com/office/drawing/2014/main" id="{B9E36C4C-21BE-4347-B085-D9F8BE36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515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判讀</a:t>
            </a:r>
          </a:p>
        </p:txBody>
      </p:sp>
      <p:sp>
        <p:nvSpPr>
          <p:cNvPr id="25" name="band-divider-2">
            <a:extLst xmlns:a="http://schemas.openxmlformats.org/drawingml/2006/main">
              <a:ext uri="{FF2B5EF4-FFF2-40B4-BE49-F238E27FC236}">
                <a16:creationId xmlns:a16="http://schemas.microsoft.com/office/drawing/2014/main" id="{933D3B67-62B9-4336-AD72-71487EE6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4772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26" name="band-copy-2">
            <a:extLst xmlns:a="http://schemas.openxmlformats.org/drawingml/2006/main">
              <a:ext uri="{FF2B5EF4-FFF2-40B4-BE49-F238E27FC236}">
                <a16:creationId xmlns:a16="http://schemas.microsoft.com/office/drawing/2014/main" id="{3BB49082-CFB7-4770-821E-1FF22894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515350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看整體族群與可靠度選 33/33/34；只取最強單一個體時，20/20/60 仍有優勢。</a:t>
            </a:r>
          </a:p>
        </p:txBody>
      </p:sp>
    </p:spTree>
    <p:extLst>
      <p:ext uri="{BB962C8B-B14F-4D97-AF65-F5344CB8AC3E}">
        <p14:creationId xmlns:p14="http://schemas.microsoft.com/office/powerpoint/2010/main" val="739836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left-3">
            <a:extLst xmlns:a="http://schemas.openxmlformats.org/drawingml/2006/main">
              <a:ext uri="{FF2B5EF4-FFF2-40B4-BE49-F238E27FC236}">
                <a16:creationId xmlns:a16="http://schemas.microsoft.com/office/drawing/2014/main" id="{3C88C9DE-3928-401E-94BD-46AC7D1D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2" name="top-right-3">
            <a:extLst xmlns:a="http://schemas.openxmlformats.org/drawingml/2006/main">
              <a:ext uri="{FF2B5EF4-FFF2-40B4-BE49-F238E27FC236}">
                <a16:creationId xmlns:a16="http://schemas.microsoft.com/office/drawing/2014/main" id="{6F99A725-BE82-4067-A8F0-D2BA263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3" name="diamond-3-1">
            <a:extLst xmlns:a="http://schemas.openxmlformats.org/drawingml/2006/main">
              <a:ext uri="{FF2B5EF4-FFF2-40B4-BE49-F238E27FC236}">
                <a16:creationId xmlns:a16="http://schemas.microsoft.com/office/drawing/2014/main" id="{60607E11-381F-4DD3-BA7B-5F6C414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4" name="diamond-3-2">
            <a:extLst xmlns:a="http://schemas.openxmlformats.org/drawingml/2006/main">
              <a:ext uri="{FF2B5EF4-FFF2-40B4-BE49-F238E27FC236}">
                <a16:creationId xmlns:a16="http://schemas.microsoft.com/office/drawing/2014/main" id="{21F38909-9A25-4EAB-924A-7594E82C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5" name="diamond-3-3">
            <a:extLst xmlns:a="http://schemas.openxmlformats.org/drawingml/2006/main">
              <a:ext uri="{FF2B5EF4-FFF2-40B4-BE49-F238E27FC236}">
                <a16:creationId xmlns:a16="http://schemas.microsoft.com/office/drawing/2014/main" id="{0B714231-E08D-4120-BF3C-351DA33F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6" name="section-dot-3">
            <a:extLst xmlns:a="http://schemas.openxmlformats.org/drawingml/2006/main">
              <a:ext uri="{FF2B5EF4-FFF2-40B4-BE49-F238E27FC236}">
                <a16:creationId xmlns:a16="http://schemas.microsoft.com/office/drawing/2014/main" id="{D866C14D-ED63-4DA2-BDB3-8E00C47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7" name="section-number-3">
            <a:extLst xmlns:a="http://schemas.openxmlformats.org/drawingml/2006/main">
              <a:ext uri="{FF2B5EF4-FFF2-40B4-BE49-F238E27FC236}">
                <a16:creationId xmlns:a16="http://schemas.microsoft.com/office/drawing/2014/main" id="{D8271169-DA21-4E18-BEC4-E035A283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01959D59-B4D8-4524-81AF-5D4ECF6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9532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演化曲線：平衡比例改善最快，也最穩</a:t>
            </a:r>
          </a:p>
        </p:txBody>
      </p:sp>
      <p:sp>
        <p:nvSpPr>
          <p:cNvPr id="9" name="kicker-3">
            <a:extLst xmlns:a="http://schemas.openxmlformats.org/drawingml/2006/main">
              <a:ext uri="{FF2B5EF4-FFF2-40B4-BE49-F238E27FC236}">
                <a16:creationId xmlns:a16="http://schemas.microsoft.com/office/drawing/2014/main" id="{5AFBB334-D652-4BA0-B71C-E2AF7231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83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SURVIVOR MEAN GP</a:t>
            </a:r>
          </a:p>
        </p:txBody>
      </p:sp>
      <p:sp>
        <p:nvSpPr>
          <p:cNvPr id="10" name="bottom-3">
            <a:extLst xmlns:a="http://schemas.openxmlformats.org/drawingml/2006/main">
              <a:ext uri="{FF2B5EF4-FFF2-40B4-BE49-F238E27FC236}">
                <a16:creationId xmlns:a16="http://schemas.microsoft.com/office/drawing/2014/main" id="{6BD63402-5515-4F9A-9FCF-4B3C341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6312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1" name="footer-3">
            <a:extLst xmlns:a="http://schemas.openxmlformats.org/drawingml/2006/main">
              <a:ext uri="{FF2B5EF4-FFF2-40B4-BE49-F238E27FC236}">
                <a16:creationId xmlns:a16="http://schemas.microsoft.com/office/drawing/2014/main" id="{B716A72D-08DD-41CE-BB2F-901B4A1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858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03 / 05</a:t>
            </a:r>
          </a:p>
        </p:txBody>
      </p:sp>
      <p:sp>
        <p:nvSpPr>
          <p:cNvPr id="12" name="s3-subtitle">
            <a:extLst xmlns:a="http://schemas.openxmlformats.org/drawingml/2006/main">
              <a:ext uri="{FF2B5EF4-FFF2-40B4-BE49-F238E27FC236}">
                <a16:creationId xmlns:a16="http://schemas.microsoft.com/office/drawing/2014/main" id="{038C6330-47C0-4731-938C-B0A0332E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每代被 selection 留下的 10 個 survivors 平均 GP，數值越高越好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200150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7d8e1d4e7e472b"/>
          </a:graphicData>
        </a:graphic>
      </p:graphicFrame>
      <p:sp>
        <p:nvSpPr>
          <p:cNvPr id="14" name="s3-reading-card">
            <a:extLst xmlns:a="http://schemas.openxmlformats.org/drawingml/2006/main">
              <a:ext uri="{FF2B5EF4-FFF2-40B4-BE49-F238E27FC236}">
                <a16:creationId xmlns:a16="http://schemas.microsoft.com/office/drawing/2014/main" id="{A1408D52-7328-497D-929D-5F0D224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333625"/>
            <a:ext cx="3857625" cy="4953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0EB"/>
          </a:solidFill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5" name="s3-card-title">
            <a:extLst xmlns:a="http://schemas.openxmlformats.org/drawingml/2006/main">
              <a:ext uri="{FF2B5EF4-FFF2-40B4-BE49-F238E27FC236}">
                <a16:creationId xmlns:a16="http://schemas.microsoft.com/office/drawing/2014/main" id="{068025A7-9272-459D-B0A4-77CD9B6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667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21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如何讀這張圖</a:t>
            </a:r>
          </a:p>
        </p:txBody>
      </p:sp>
      <p:sp>
        <p:nvSpPr>
          <p:cNvPr id="16" name="s3-card-rule">
            <a:extLst xmlns:a="http://schemas.openxmlformats.org/drawingml/2006/main">
              <a:ext uri="{FF2B5EF4-FFF2-40B4-BE49-F238E27FC236}">
                <a16:creationId xmlns:a16="http://schemas.microsoft.com/office/drawing/2014/main" id="{E043E4C1-CB99-471E-85AD-9FF7132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190875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7" name="s3-green-label">
            <a:extLst xmlns:a="http://schemas.openxmlformats.org/drawingml/2006/main">
              <a:ext uri="{FF2B5EF4-FFF2-40B4-BE49-F238E27FC236}">
                <a16:creationId xmlns:a16="http://schemas.microsoft.com/office/drawing/2014/main" id="{C3D25B3C-C5A5-474D-BFBB-CAF6C9D3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5718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33/33/34</a:t>
            </a:r>
          </a:p>
        </p:txBody>
      </p:sp>
      <p:sp>
        <p:nvSpPr>
          <p:cNvPr id="18" name="s3-green-copy">
            <a:extLst xmlns:a="http://schemas.openxmlformats.org/drawingml/2006/main">
              <a:ext uri="{FF2B5EF4-FFF2-40B4-BE49-F238E27FC236}">
                <a16:creationId xmlns:a16="http://schemas.microsoft.com/office/drawing/2014/main" id="{1E4D3EDE-DE90-400C-B125-CEC13F27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952875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G13 進入 -50 附近，G20 仍維持 -53.37。</a:t>
            </a:r>
          </a:p>
        </p:txBody>
      </p:sp>
      <p:sp>
        <p:nvSpPr>
          <p:cNvPr id="19" name="s3-amber-label">
            <a:extLst xmlns:a="http://schemas.openxmlformats.org/drawingml/2006/main">
              <a:ext uri="{FF2B5EF4-FFF2-40B4-BE49-F238E27FC236}">
                <a16:creationId xmlns:a16="http://schemas.microsoft.com/office/drawing/2014/main" id="{B40B0861-2CCB-4EEA-8157-0956C8F4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810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98A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C98A2F"/>
                </a:solidFill>
                <a:latin typeface="Noto Sans CJK TC"/>
                <a:ea typeface="Noto Sans CJK TC"/>
                <a:cs typeface="Noto Sans CJK TC"/>
              </a:rPr>
              <a:t>20/20/60</a:t>
            </a:r>
          </a:p>
        </p:txBody>
      </p:sp>
      <p:sp>
        <p:nvSpPr>
          <p:cNvPr id="20" name="s3-amber-copy">
            <a:extLst xmlns:a="http://schemas.openxmlformats.org/drawingml/2006/main">
              <a:ext uri="{FF2B5EF4-FFF2-40B4-BE49-F238E27FC236}">
                <a16:creationId xmlns:a16="http://schemas.microsoft.com/office/drawing/2014/main" id="{95B36524-5EBB-49AD-ACC8-72DF30D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191125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G16 後突破，但 G17 之後族群平均回落。</a:t>
            </a:r>
          </a:p>
        </p:txBody>
      </p:sp>
      <p:sp>
        <p:nvSpPr>
          <p:cNvPr id="21" name="s3-pink-label">
            <a:extLst xmlns:a="http://schemas.openxmlformats.org/drawingml/2006/main">
              <a:ext uri="{FF2B5EF4-FFF2-40B4-BE49-F238E27FC236}">
                <a16:creationId xmlns:a16="http://schemas.microsoft.com/office/drawing/2014/main" id="{ADD291E6-9E8B-4ECE-93F8-1558063F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0483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9516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B95160"/>
                </a:solidFill>
                <a:latin typeface="Noto Sans CJK TC"/>
                <a:ea typeface="Noto Sans CJK TC"/>
                <a:cs typeface="Noto Sans CJK TC"/>
              </a:rPr>
              <a:t>40/40/20</a:t>
            </a:r>
          </a:p>
        </p:txBody>
      </p:sp>
      <p:sp>
        <p:nvSpPr>
          <p:cNvPr id="22" name="s3-pink-copy">
            <a:extLst xmlns:a="http://schemas.openxmlformats.org/drawingml/2006/main">
              <a:ext uri="{FF2B5EF4-FFF2-40B4-BE49-F238E27FC236}">
                <a16:creationId xmlns:a16="http://schemas.microsoft.com/office/drawing/2014/main" id="{802D3450-BD85-481A-BF92-AF9EA55D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429375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20 代幾乎都停在 -90，沒有形成有效改善。</a:t>
            </a:r>
          </a:p>
        </p:txBody>
      </p:sp>
      <p:sp>
        <p:nvSpPr>
          <p:cNvPr id="23" name="band-3">
            <a:extLst xmlns:a="http://schemas.openxmlformats.org/drawingml/2006/main">
              <a:ext uri="{FF2B5EF4-FFF2-40B4-BE49-F238E27FC236}">
                <a16:creationId xmlns:a16="http://schemas.microsoft.com/office/drawing/2014/main" id="{3ADCA837-CA1A-4E02-842B-2E23DC2F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16383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24" name="band-label-3">
            <a:extLst xmlns:a="http://schemas.openxmlformats.org/drawingml/2006/main">
              <a:ext uri="{FF2B5EF4-FFF2-40B4-BE49-F238E27FC236}">
                <a16:creationId xmlns:a16="http://schemas.microsoft.com/office/drawing/2014/main" id="{2F1BB0FA-555A-4B54-A9EA-A5083DE9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515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重點</a:t>
            </a:r>
          </a:p>
        </p:txBody>
      </p:sp>
      <p:sp>
        <p:nvSpPr>
          <p:cNvPr id="25" name="band-divider-3">
            <a:extLst xmlns:a="http://schemas.openxmlformats.org/drawingml/2006/main">
              <a:ext uri="{FF2B5EF4-FFF2-40B4-BE49-F238E27FC236}">
                <a16:creationId xmlns:a16="http://schemas.microsoft.com/office/drawing/2014/main" id="{3C0F494C-7FDC-49E9-ABE5-7DFAF90F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4772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26" name="band-copy-3">
            <a:extLst xmlns:a="http://schemas.openxmlformats.org/drawingml/2006/main">
              <a:ext uri="{FF2B5EF4-FFF2-40B4-BE49-F238E27FC236}">
                <a16:creationId xmlns:a16="http://schemas.microsoft.com/office/drawing/2014/main" id="{A1E0611A-0B19-452F-B0E8-FB1C4741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515350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曲線下降不等於父代被重生；lexicase 依 opponent cases 選擇，不直接最大化整體 mean GP。</a:t>
            </a:r>
          </a:p>
        </p:txBody>
      </p:sp>
    </p:spTree>
    <p:extLst>
      <p:ext uri="{BB962C8B-B14F-4D97-AF65-F5344CB8AC3E}">
        <p14:creationId xmlns:p14="http://schemas.microsoft.com/office/powerpoint/2010/main" val="511986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left-4">
            <a:extLst xmlns:a="http://schemas.openxmlformats.org/drawingml/2006/main">
              <a:ext uri="{FF2B5EF4-FFF2-40B4-BE49-F238E27FC236}">
                <a16:creationId xmlns:a16="http://schemas.microsoft.com/office/drawing/2014/main" id="{C496508D-FF6A-4FDC-B9B7-7FAD3DB4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2" name="top-right-4">
            <a:extLst xmlns:a="http://schemas.openxmlformats.org/drawingml/2006/main">
              <a:ext uri="{FF2B5EF4-FFF2-40B4-BE49-F238E27FC236}">
                <a16:creationId xmlns:a16="http://schemas.microsoft.com/office/drawing/2014/main" id="{A0364294-C33F-4415-8128-7E0F4AB1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3" name="diamond-4-1">
            <a:extLst xmlns:a="http://schemas.openxmlformats.org/drawingml/2006/main">
              <a:ext uri="{FF2B5EF4-FFF2-40B4-BE49-F238E27FC236}">
                <a16:creationId xmlns:a16="http://schemas.microsoft.com/office/drawing/2014/main" id="{F7B256E5-C269-421E-ACCE-44B3613F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4" name="diamond-4-2">
            <a:extLst xmlns:a="http://schemas.openxmlformats.org/drawingml/2006/main">
              <a:ext uri="{FF2B5EF4-FFF2-40B4-BE49-F238E27FC236}">
                <a16:creationId xmlns:a16="http://schemas.microsoft.com/office/drawing/2014/main" id="{A4648AA3-249A-4E36-A14C-692A0C24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5" name="diamond-4-3">
            <a:extLst xmlns:a="http://schemas.openxmlformats.org/drawingml/2006/main">
              <a:ext uri="{FF2B5EF4-FFF2-40B4-BE49-F238E27FC236}">
                <a16:creationId xmlns:a16="http://schemas.microsoft.com/office/drawing/2014/main" id="{D48E4800-23F2-460B-BC8D-AA4D7B1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6" name="section-dot-4">
            <a:extLst xmlns:a="http://schemas.openxmlformats.org/drawingml/2006/main">
              <a:ext uri="{FF2B5EF4-FFF2-40B4-BE49-F238E27FC236}">
                <a16:creationId xmlns:a16="http://schemas.microsoft.com/office/drawing/2014/main" id="{09B06194-DB6D-4640-8E3E-F068A48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7" name="section-number-4">
            <a:extLst xmlns:a="http://schemas.openxmlformats.org/drawingml/2006/main">
              <a:ext uri="{FF2B5EF4-FFF2-40B4-BE49-F238E27FC236}">
                <a16:creationId xmlns:a16="http://schemas.microsoft.com/office/drawing/2014/main" id="{14F3B740-A264-4924-AA73-4002339E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8" name="title-4">
            <a:extLst xmlns:a="http://schemas.openxmlformats.org/drawingml/2006/main">
              <a:ext uri="{FF2B5EF4-FFF2-40B4-BE49-F238E27FC236}">
                <a16:creationId xmlns:a16="http://schemas.microsoft.com/office/drawing/2014/main" id="{22277877-B815-45CA-A782-14E513F9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9532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最終 600 場測試：單一 champion 由 20/20/60 勝出</a:t>
            </a:r>
          </a:p>
        </p:txBody>
      </p:sp>
      <p:sp>
        <p:nvSpPr>
          <p:cNvPr id="9" name="kicker-4">
            <a:extLst xmlns:a="http://schemas.openxmlformats.org/drawingml/2006/main">
              <a:ext uri="{FF2B5EF4-FFF2-40B4-BE49-F238E27FC236}">
                <a16:creationId xmlns:a16="http://schemas.microsoft.com/office/drawing/2014/main" id="{353E4B29-3F8E-484F-9630-6AF135F3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83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CHAMPION TEST</a:t>
            </a:r>
          </a:p>
        </p:txBody>
      </p:sp>
      <p:sp>
        <p:nvSpPr>
          <p:cNvPr id="10" name="bottom-4">
            <a:extLst xmlns:a="http://schemas.openxmlformats.org/drawingml/2006/main">
              <a:ext uri="{FF2B5EF4-FFF2-40B4-BE49-F238E27FC236}">
                <a16:creationId xmlns:a16="http://schemas.microsoft.com/office/drawing/2014/main" id="{DA0B84F5-BCCE-4C5F-B27B-391E7970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6312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1" name="footer-4">
            <a:extLst xmlns:a="http://schemas.openxmlformats.org/drawingml/2006/main">
              <a:ext uri="{FF2B5EF4-FFF2-40B4-BE49-F238E27FC236}">
                <a16:creationId xmlns:a16="http://schemas.microsoft.com/office/drawing/2014/main" id="{723839AF-9709-47FB-AFBC-0562196E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858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04 / 05</a:t>
            </a:r>
          </a:p>
        </p:txBody>
      </p:sp>
      <p:sp>
        <p:nvSpPr>
          <p:cNvPr id="12" name="s4-subtitle">
            <a:extLst xmlns:a="http://schemas.openxmlformats.org/drawingml/2006/main">
              <a:ext uri="{FF2B5EF4-FFF2-40B4-BE49-F238E27FC236}">
                <a16:creationId xmlns:a16="http://schemas.microsoft.com/office/drawing/2014/main" id="{EB7457C4-374C-4127-A0B8-5D3210C7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Wins、Draws、Losses 的總和皆為 600 場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857250" y="2238375"/>
          <a:ext xmlns:a="http://schemas.openxmlformats.org/drawingml/2006/main" cx="12049125" cy="5286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be45e3f1b04cc5"/>
          </a:graphicData>
        </a:graphic>
      </p:graphicFrame>
      <p:sp>
        <p:nvSpPr>
          <p:cNvPr id="14" name="s4-rate-card-0">
            <a:extLst xmlns:a="http://schemas.openxmlformats.org/drawingml/2006/main">
              <a:ext uri="{FF2B5EF4-FFF2-40B4-BE49-F238E27FC236}">
                <a16:creationId xmlns:a16="http://schemas.microsoft.com/office/drawing/2014/main" id="{3BC5BEE0-56CD-42A6-B813-AA3FDD6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2428875"/>
            <a:ext cx="3762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AE8BF"/>
          </a:solidFill>
          <a:ln xmlns:a="http://schemas.openxmlformats.org/drawingml/2006/main" w="9525">
            <a:solidFill>
              <a:srgbClr val="C98A2F"/>
            </a:solidFill>
            <a:prstDash val="solid"/>
          </a:ln>
        </p:spPr>
      </p:sp>
      <p:sp>
        <p:nvSpPr>
          <p:cNvPr id="15" name="s4-rate-value-0">
            <a:extLst xmlns:a="http://schemas.openxmlformats.org/drawingml/2006/main">
              <a:ext uri="{FF2B5EF4-FFF2-40B4-BE49-F238E27FC236}">
                <a16:creationId xmlns:a16="http://schemas.microsoft.com/office/drawing/2014/main" id="{42E8FDFC-35E3-4BB6-9472-4A947A5B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60032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C98A2F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150" b="1">
                <a:solidFill>
                  <a:srgbClr val="C98A2F"/>
                </a:solidFill>
                <a:latin typeface="Noto Serif CJK TC"/>
                <a:ea typeface="Noto Serif CJK TC"/>
                <a:cs typeface="Noto Serif CJK TC"/>
              </a:rPr>
              <a:t>43.0%</a:t>
            </a:r>
          </a:p>
        </p:txBody>
      </p:sp>
      <p:sp>
        <p:nvSpPr>
          <p:cNvPr id="16" name="s4-rate-label-0">
            <a:extLst xmlns:a="http://schemas.openxmlformats.org/drawingml/2006/main">
              <a:ext uri="{FF2B5EF4-FFF2-40B4-BE49-F238E27FC236}">
                <a16:creationId xmlns:a16="http://schemas.microsoft.com/office/drawing/2014/main" id="{75C4AC4A-18CE-4001-88A8-74B1E4B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26707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20/20/60 win rate</a:t>
            </a:r>
          </a:p>
        </p:txBody>
      </p:sp>
      <p:sp>
        <p:nvSpPr>
          <p:cNvPr id="17" name="s4-rate-card-1">
            <a:extLst xmlns:a="http://schemas.openxmlformats.org/drawingml/2006/main">
              <a:ext uri="{FF2B5EF4-FFF2-40B4-BE49-F238E27FC236}">
                <a16:creationId xmlns:a16="http://schemas.microsoft.com/office/drawing/2014/main" id="{0D6B4E93-4CBF-427B-92F0-6398AE7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4095750"/>
            <a:ext cx="3762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18" name="s4-rate-value-1">
            <a:extLst xmlns:a="http://schemas.openxmlformats.org/drawingml/2006/main">
              <a:ext uri="{FF2B5EF4-FFF2-40B4-BE49-F238E27FC236}">
                <a16:creationId xmlns:a16="http://schemas.microsoft.com/office/drawing/2014/main" id="{8EFDF484-6453-4AC4-959B-93394DD7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2672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1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rPr>
              <a:t>37.2%</a:t>
            </a:r>
          </a:p>
        </p:txBody>
      </p:sp>
      <p:sp>
        <p:nvSpPr>
          <p:cNvPr id="19" name="s4-rate-label-1">
            <a:extLst xmlns:a="http://schemas.openxmlformats.org/drawingml/2006/main">
              <a:ext uri="{FF2B5EF4-FFF2-40B4-BE49-F238E27FC236}">
                <a16:creationId xmlns:a16="http://schemas.microsoft.com/office/drawing/2014/main" id="{7521E8DF-CA80-4863-B835-918AA293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933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33/33/34 win rate</a:t>
            </a:r>
          </a:p>
        </p:txBody>
      </p:sp>
      <p:sp>
        <p:nvSpPr>
          <p:cNvPr id="20" name="s4-rate-card-2">
            <a:extLst xmlns:a="http://schemas.openxmlformats.org/drawingml/2006/main">
              <a:ext uri="{FF2B5EF4-FFF2-40B4-BE49-F238E27FC236}">
                <a16:creationId xmlns:a16="http://schemas.microsoft.com/office/drawing/2014/main" id="{BE50C750-6C01-4544-983A-B79201F8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5762625"/>
            <a:ext cx="3762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D8D8"/>
          </a:solidFill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21" name="s4-rate-value-2">
            <a:extLst xmlns:a="http://schemas.openxmlformats.org/drawingml/2006/main">
              <a:ext uri="{FF2B5EF4-FFF2-40B4-BE49-F238E27FC236}">
                <a16:creationId xmlns:a16="http://schemas.microsoft.com/office/drawing/2014/main" id="{7D48E7B7-D389-4344-BA9B-100C8171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9340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B95160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150" b="1">
                <a:solidFill>
                  <a:srgbClr val="B95160"/>
                </a:solidFill>
                <a:latin typeface="Noto Serif CJK TC"/>
                <a:ea typeface="Noto Serif CJK TC"/>
                <a:cs typeface="Noto Serif CJK TC"/>
              </a:rPr>
              <a:t>0.17%</a:t>
            </a:r>
          </a:p>
        </p:txBody>
      </p:sp>
      <p:sp>
        <p:nvSpPr>
          <p:cNvPr id="22" name="s4-rate-label-2">
            <a:extLst xmlns:a="http://schemas.openxmlformats.org/drawingml/2006/main">
              <a:ext uri="{FF2B5EF4-FFF2-40B4-BE49-F238E27FC236}">
                <a16:creationId xmlns:a16="http://schemas.microsoft.com/office/drawing/2014/main" id="{502C7F7C-F360-4B07-A285-4A3BE26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60082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40/40/20 win rate</a:t>
            </a:r>
          </a:p>
        </p:txBody>
      </p:sp>
      <p:sp>
        <p:nvSpPr>
          <p:cNvPr id="23" name="band-4">
            <a:extLst xmlns:a="http://schemas.openxmlformats.org/drawingml/2006/main">
              <a:ext uri="{FF2B5EF4-FFF2-40B4-BE49-F238E27FC236}">
                <a16:creationId xmlns:a16="http://schemas.microsoft.com/office/drawing/2014/main" id="{64EB0892-37F7-4C6B-9BA4-F7887A8F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16383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AE8BF"/>
          </a:solidFill>
          <a:ln xmlns:a="http://schemas.openxmlformats.org/drawingml/2006/main" w="9525">
            <a:solidFill>
              <a:srgbClr val="C98A2F"/>
            </a:solidFill>
            <a:prstDash val="solid"/>
          </a:ln>
        </p:spPr>
      </p:sp>
      <p:sp>
        <p:nvSpPr>
          <p:cNvPr id="24" name="band-label-4">
            <a:extLst xmlns:a="http://schemas.openxmlformats.org/drawingml/2006/main">
              <a:ext uri="{FF2B5EF4-FFF2-40B4-BE49-F238E27FC236}">
                <a16:creationId xmlns:a16="http://schemas.microsoft.com/office/drawing/2014/main" id="{D8337556-12F9-4A79-B439-34F4938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515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98A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C98A2F"/>
                </a:solidFill>
                <a:latin typeface="Noto Sans CJK TC"/>
                <a:ea typeface="Noto Sans CJK TC"/>
                <a:cs typeface="Noto Sans CJK TC"/>
              </a:rPr>
              <a:t>判讀</a:t>
            </a:r>
          </a:p>
        </p:txBody>
      </p:sp>
      <p:sp>
        <p:nvSpPr>
          <p:cNvPr id="25" name="band-divider-4">
            <a:extLst xmlns:a="http://schemas.openxmlformats.org/drawingml/2006/main">
              <a:ext uri="{FF2B5EF4-FFF2-40B4-BE49-F238E27FC236}">
                <a16:creationId xmlns:a16="http://schemas.microsoft.com/office/drawing/2014/main" id="{9E9D45DB-6E88-4486-BCC9-486B6A63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4772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8A2F"/>
            </a:solidFill>
            <a:prstDash val="solid"/>
          </a:ln>
        </p:spPr>
      </p:sp>
      <p:sp>
        <p:nvSpPr>
          <p:cNvPr id="26" name="band-copy-4">
            <a:extLst xmlns:a="http://schemas.openxmlformats.org/drawingml/2006/main">
              <a:ext uri="{FF2B5EF4-FFF2-40B4-BE49-F238E27FC236}">
                <a16:creationId xmlns:a16="http://schemas.microsoft.com/office/drawing/2014/main" id="{082BD869-E976-42F8-BE23-B700B621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515350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20/20/60 的優勢集中在 champion，不代表整個 survivor population 較好。</a:t>
            </a:r>
          </a:p>
        </p:txBody>
      </p:sp>
    </p:spTree>
    <p:extLst>
      <p:ext uri="{BB962C8B-B14F-4D97-AF65-F5344CB8AC3E}">
        <p14:creationId xmlns:p14="http://schemas.microsoft.com/office/powerpoint/2010/main" val="2035734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left-5">
            <a:extLst xmlns:a="http://schemas.openxmlformats.org/drawingml/2006/main">
              <a:ext uri="{FF2B5EF4-FFF2-40B4-BE49-F238E27FC236}">
                <a16:creationId xmlns:a16="http://schemas.microsoft.com/office/drawing/2014/main" id="{56860138-08A9-4172-B441-38DBD60D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2" name="top-right-5">
            <a:extLst xmlns:a="http://schemas.openxmlformats.org/drawingml/2006/main">
              <a:ext uri="{FF2B5EF4-FFF2-40B4-BE49-F238E27FC236}">
                <a16:creationId xmlns:a16="http://schemas.microsoft.com/office/drawing/2014/main" id="{2D3ABB64-FAED-4AE5-97F4-63486C8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23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6B78"/>
            </a:solidFill>
            <a:prstDash val="solid"/>
          </a:ln>
        </p:spPr>
      </p:sp>
      <p:sp>
        <p:nvSpPr>
          <p:cNvPr id="3" name="diamond-5-1">
            <a:extLst xmlns:a="http://schemas.openxmlformats.org/drawingml/2006/main">
              <a:ext uri="{FF2B5EF4-FFF2-40B4-BE49-F238E27FC236}">
                <a16:creationId xmlns:a16="http://schemas.microsoft.com/office/drawing/2014/main" id="{9FBC3638-6373-474F-9B0C-BDB04E12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4" name="diamond-5-2">
            <a:extLst xmlns:a="http://schemas.openxmlformats.org/drawingml/2006/main">
              <a:ext uri="{FF2B5EF4-FFF2-40B4-BE49-F238E27FC236}">
                <a16:creationId xmlns:a16="http://schemas.microsoft.com/office/drawing/2014/main" id="{7882EC6C-2A99-4814-BBFD-792854B0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5" name="diamond-5-3">
            <a:extLst xmlns:a="http://schemas.openxmlformats.org/drawingml/2006/main">
              <a:ext uri="{FF2B5EF4-FFF2-40B4-BE49-F238E27FC236}">
                <a16:creationId xmlns:a16="http://schemas.microsoft.com/office/drawing/2014/main" id="{BFD84D8A-FC52-461D-9AF2-32E4124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6" name="section-dot-5">
            <a:extLst xmlns:a="http://schemas.openxmlformats.org/drawingml/2006/main">
              <a:ext uri="{FF2B5EF4-FFF2-40B4-BE49-F238E27FC236}">
                <a16:creationId xmlns:a16="http://schemas.microsoft.com/office/drawing/2014/main" id="{9D36D2B4-5C0B-4213-AE42-2D87D68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B78"/>
          </a:solidFill>
          <a:ln xmlns:a="http://schemas.openxmlformats.org/drawingml/2006/main" w="0">
            <a:noFill/>
          </a:ln>
        </p:spPr>
      </p:sp>
      <p:sp>
        <p:nvSpPr>
          <p:cNvPr id="7" name="section-number-5">
            <a:extLst xmlns:a="http://schemas.openxmlformats.org/drawingml/2006/main">
              <a:ext uri="{FF2B5EF4-FFF2-40B4-BE49-F238E27FC236}">
                <a16:creationId xmlns:a16="http://schemas.microsoft.com/office/drawing/2014/main" id="{99C17B2D-967B-4DAE-A5D6-70244C3C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80E52406-B2BD-4A33-ACCF-2ECE326F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9532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000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建議：AOS 從 33/33/34 起跑</a:t>
            </a:r>
          </a:p>
        </p:txBody>
      </p:sp>
      <p:sp>
        <p:nvSpPr>
          <p:cNvPr id="9" name="kicker-5">
            <a:extLst xmlns:a="http://schemas.openxmlformats.org/drawingml/2006/main">
              <a:ext uri="{FF2B5EF4-FFF2-40B4-BE49-F238E27FC236}">
                <a16:creationId xmlns:a16="http://schemas.microsoft.com/office/drawing/2014/main" id="{D52A4DAF-D7B1-462E-99AF-DAD8D768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83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NEXT EXPERIMENT</a:t>
            </a:r>
          </a:p>
        </p:txBody>
      </p:sp>
      <p:sp>
        <p:nvSpPr>
          <p:cNvPr id="10" name="bottom-5">
            <a:extLst xmlns:a="http://schemas.openxmlformats.org/drawingml/2006/main">
              <a:ext uri="{FF2B5EF4-FFF2-40B4-BE49-F238E27FC236}">
                <a16:creationId xmlns:a16="http://schemas.microsoft.com/office/drawing/2014/main" id="{4ECF08E4-1B7D-4979-8D8C-5B25108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6312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196906CB-1D78-4BD8-A190-02EF135D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858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05 / 05</a:t>
            </a:r>
          </a:p>
        </p:txBody>
      </p:sp>
      <p:sp>
        <p:nvSpPr>
          <p:cNvPr id="12" name="s5-subtitle">
            <a:extLst xmlns:a="http://schemas.openxmlformats.org/drawingml/2006/main">
              <a:ext uri="{FF2B5EF4-FFF2-40B4-BE49-F238E27FC236}">
                <a16:creationId xmlns:a16="http://schemas.microsoft.com/office/drawing/2014/main" id="{08EB095C-B52D-4E16-B73E-60BCF94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以穩定的初始分佈開始，再讓 operator credit 依 opponent case 自適應調整</a:t>
            </a:r>
          </a:p>
        </p:txBody>
      </p:sp>
      <p:sp>
        <p:nvSpPr>
          <p:cNvPr id="13" name="s5-adopt-panel">
            <a:extLst xmlns:a="http://schemas.openxmlformats.org/drawingml/2006/main">
              <a:ext uri="{FF2B5EF4-FFF2-40B4-BE49-F238E27FC236}">
                <a16:creationId xmlns:a16="http://schemas.microsoft.com/office/drawing/2014/main" id="{CBE88C02-5ABE-4E9E-88AC-0C644663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7620000" cy="43338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14" name="s5-adopt-label">
            <a:extLst xmlns:a="http://schemas.openxmlformats.org/drawingml/2006/main">
              <a:ext uri="{FF2B5EF4-FFF2-40B4-BE49-F238E27FC236}">
                <a16:creationId xmlns:a16="http://schemas.microsoft.com/office/drawing/2014/main" id="{E1F229A4-346B-4127-9603-459AE48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採用</a:t>
            </a:r>
          </a:p>
        </p:txBody>
      </p:sp>
      <p:sp>
        <p:nvSpPr>
          <p:cNvPr id="15" name="s5-adopt-title">
            <a:extLst xmlns:a="http://schemas.openxmlformats.org/drawingml/2006/main">
              <a:ext uri="{FF2B5EF4-FFF2-40B4-BE49-F238E27FC236}">
                <a16:creationId xmlns:a16="http://schemas.microsoft.com/office/drawing/2014/main" id="{870DFCA5-71D6-4C42-8231-094D2C6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750" b="1">
                <a:solidFill>
                  <a:srgbClr val="3E7C59"/>
                </a:solidFill>
                <a:latin typeface="Noto Serif CJK TC"/>
                <a:ea typeface="Noto Serif CJK TC"/>
                <a:cs typeface="Noto Serif CJK TC"/>
              </a:rPr>
              <a:t>33 / 33 / 34</a:t>
            </a:r>
          </a:p>
        </p:txBody>
      </p:sp>
      <p:sp>
        <p:nvSpPr>
          <p:cNvPr id="16" name="s5-adopt-rule">
            <a:extLst xmlns:a="http://schemas.openxmlformats.org/drawingml/2006/main">
              <a:ext uri="{FF2B5EF4-FFF2-40B4-BE49-F238E27FC236}">
                <a16:creationId xmlns:a16="http://schemas.microsoft.com/office/drawing/2014/main" id="{782E2BD6-0880-4B75-96AB-730EC724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48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17" name="s5-adopt-copy">
            <a:extLst xmlns:a="http://schemas.openxmlformats.org/drawingml/2006/main">
              <a:ext uri="{FF2B5EF4-FFF2-40B4-BE49-F238E27FC236}">
                <a16:creationId xmlns:a16="http://schemas.microsoft.com/office/drawing/2014/main" id="{E09E42EB-2B5A-4CD3-980B-7AB77866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族群平均最佳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失敗率最低：1 / 200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最終 policy：10 / 10 有效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LLM 時間最少：7.80 h</a:t>
            </a:r>
          </a:p>
        </p:txBody>
      </p:sp>
      <p:sp>
        <p:nvSpPr>
          <p:cNvPr id="18" name="s5-watch-panel">
            <a:extLst xmlns:a="http://schemas.openxmlformats.org/drawingml/2006/main">
              <a:ext uri="{FF2B5EF4-FFF2-40B4-BE49-F238E27FC236}">
                <a16:creationId xmlns:a16="http://schemas.microsoft.com/office/drawing/2014/main" id="{1131C015-5282-45B8-8232-1A6CA06A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7620000" cy="43338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AE8BF"/>
          </a:solidFill>
          <a:ln xmlns:a="http://schemas.openxmlformats.org/drawingml/2006/main" w="9525">
            <a:solidFill>
              <a:srgbClr val="C98A2F"/>
            </a:solidFill>
            <a:prstDash val="solid"/>
          </a:ln>
        </p:spPr>
      </p:sp>
      <p:sp>
        <p:nvSpPr>
          <p:cNvPr id="19" name="s5-watch-label">
            <a:extLst xmlns:a="http://schemas.openxmlformats.org/drawingml/2006/main">
              <a:ext uri="{FF2B5EF4-FFF2-40B4-BE49-F238E27FC236}">
                <a16:creationId xmlns:a16="http://schemas.microsoft.com/office/drawing/2014/main" id="{8AC5BE36-84D9-459F-B521-FBA1C0BF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98A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C98A2F"/>
                </a:solidFill>
                <a:latin typeface="Noto Sans CJK TC"/>
                <a:ea typeface="Noto Sans CJK TC"/>
                <a:cs typeface="Noto Sans CJK TC"/>
              </a:rPr>
              <a:t>保留對照</a:t>
            </a:r>
          </a:p>
        </p:txBody>
      </p:sp>
      <p:sp>
        <p:nvSpPr>
          <p:cNvPr id="20" name="s5-watch-title">
            <a:extLst xmlns:a="http://schemas.openxmlformats.org/drawingml/2006/main">
              <a:ext uri="{FF2B5EF4-FFF2-40B4-BE49-F238E27FC236}">
                <a16:creationId xmlns:a16="http://schemas.microsoft.com/office/drawing/2014/main" id="{3BFA8CFD-F7B9-4D06-BB7C-ADF3BEF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2925" b="1">
                <a:solidFill>
                  <a:srgbClr val="431218"/>
                </a:solidFill>
                <a:latin typeface="Noto Serif CJK TC"/>
                <a:ea typeface="Noto Serif CJK TC"/>
                <a:cs typeface="Noto Serif CJK TC"/>
              </a:rPr>
              <a:t>Champion-first baseline</a:t>
            </a:r>
          </a:p>
        </p:txBody>
      </p:sp>
      <p:sp>
        <p:nvSpPr>
          <p:cNvPr id="21" name="s5-watch-rule">
            <a:extLst xmlns:a="http://schemas.openxmlformats.org/drawingml/2006/main">
              <a:ext uri="{FF2B5EF4-FFF2-40B4-BE49-F238E27FC236}">
                <a16:creationId xmlns:a16="http://schemas.microsoft.com/office/drawing/2014/main" id="{D7010BA2-F4B8-4DDF-9A3A-B0461FAA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48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8A2F"/>
            </a:solidFill>
            <a:prstDash val="solid"/>
          </a:ln>
        </p:spPr>
      </p:sp>
      <p:sp>
        <p:nvSpPr>
          <p:cNvPr id="22" name="s5-watch-copy">
            <a:extLst xmlns:a="http://schemas.openxmlformats.org/drawingml/2006/main">
              <a:ext uri="{FF2B5EF4-FFF2-40B4-BE49-F238E27FC236}">
                <a16:creationId xmlns:a16="http://schemas.microsoft.com/office/drawing/2014/main" id="{D60859DC-F2BC-4B50-895A-E99A4BA5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20/20/60 保留作為單一 champion 對照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40/40/20 暫不採用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正式比較前需固定同一組 initial population</a:t>
            </a:r>
          </a:p>
        </p:txBody>
      </p:sp>
      <p:sp>
        <p:nvSpPr>
          <p:cNvPr id="23" name="s5-caveat">
            <a:extLst xmlns:a="http://schemas.openxmlformats.org/drawingml/2006/main">
              <a:ext uri="{FF2B5EF4-FFF2-40B4-BE49-F238E27FC236}">
                <a16:creationId xmlns:a16="http://schemas.microsoft.com/office/drawing/2014/main" id="{C3AAA24F-E559-486F-9112-EE08B20C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00875"/>
            <a:ext cx="1638300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0EB"/>
          </a:solidFill>
          <a:ln xmlns:a="http://schemas.openxmlformats.org/drawingml/2006/main" w="9525">
            <a:solidFill>
              <a:srgbClr val="E7B9B5"/>
            </a:solidFill>
            <a:prstDash val="solid"/>
          </a:ln>
        </p:spPr>
      </p:sp>
      <p:sp>
        <p:nvSpPr>
          <p:cNvPr id="24" name="s5-caveat-label">
            <a:extLst xmlns:a="http://schemas.openxmlformats.org/drawingml/2006/main">
              <a:ext uri="{FF2B5EF4-FFF2-40B4-BE49-F238E27FC236}">
                <a16:creationId xmlns:a16="http://schemas.microsoft.com/office/drawing/2014/main" id="{FFE83244-4F81-496F-8146-75966DE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675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9516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95160"/>
                </a:solidFill>
                <a:latin typeface="Noto Sans CJK TC"/>
                <a:ea typeface="Noto Sans CJK TC"/>
                <a:cs typeface="Noto Sans CJK TC"/>
              </a:rPr>
              <a:t>限制</a:t>
            </a:r>
          </a:p>
        </p:txBody>
      </p:sp>
      <p:sp>
        <p:nvSpPr>
          <p:cNvPr id="25" name="s5-caveat-copy">
            <a:extLst xmlns:a="http://schemas.openxmlformats.org/drawingml/2006/main">
              <a:ext uri="{FF2B5EF4-FFF2-40B4-BE49-F238E27FC236}">
                <a16:creationId xmlns:a16="http://schemas.microsoft.com/office/drawing/2014/main" id="{27F3A5FD-430E-406F-844E-F5E68F12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191375"/>
            <a:ext cx="1447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2606A"/>
                </a:solidFill>
                <a:latin typeface="Noto Sans CJK TC"/>
                <a:ea typeface="Noto Sans CJK TC"/>
                <a:cs typeface="Noto Sans CJK TC"/>
              </a:rPr>
              <a:t>目前每個比例只有 1 次 run，且九個初始 policies 各自由 LLM 生成。正式結論至少需要固定 population 並跑 3 seeds。</a:t>
            </a:r>
          </a:p>
        </p:txBody>
      </p:sp>
      <p:sp>
        <p:nvSpPr>
          <p:cNvPr id="26" name="band-5">
            <a:extLst xmlns:a="http://schemas.openxmlformats.org/drawingml/2006/main">
              <a:ext uri="{FF2B5EF4-FFF2-40B4-BE49-F238E27FC236}">
                <a16:creationId xmlns:a16="http://schemas.microsoft.com/office/drawing/2014/main" id="{5CEDD49A-4B8B-462E-9F08-10DBA30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16383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27" name="band-label-5">
            <a:extLst xmlns:a="http://schemas.openxmlformats.org/drawingml/2006/main">
              <a:ext uri="{FF2B5EF4-FFF2-40B4-BE49-F238E27FC236}">
                <a16:creationId xmlns:a16="http://schemas.microsoft.com/office/drawing/2014/main" id="{6172CA53-8328-42F6-907B-689B83D3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515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E7C59"/>
                </a:solidFill>
                <a:latin typeface="Noto Sans CJK TC"/>
                <a:ea typeface="Noto Sans CJK TC"/>
                <a:cs typeface="Noto Sans CJK TC"/>
              </a:rPr>
              <a:t>下一步</a:t>
            </a:r>
          </a:p>
        </p:txBody>
      </p:sp>
      <p:sp>
        <p:nvSpPr>
          <p:cNvPr id="28" name="band-divider-5">
            <a:extLst xmlns:a="http://schemas.openxmlformats.org/drawingml/2006/main">
              <a:ext uri="{FF2B5EF4-FFF2-40B4-BE49-F238E27FC236}">
                <a16:creationId xmlns:a16="http://schemas.microsoft.com/office/drawing/2014/main" id="{A95191A1-D7AE-4BDB-A326-1128C817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4772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B6A1"/>
            </a:solidFill>
            <a:prstDash val="solid"/>
          </a:ln>
        </p:spPr>
      </p:sp>
      <p:sp>
        <p:nvSpPr>
          <p:cNvPr id="29" name="band-copy-5">
            <a:extLst xmlns:a="http://schemas.openxmlformats.org/drawingml/2006/main">
              <a:ext uri="{FF2B5EF4-FFF2-40B4-BE49-F238E27FC236}">
                <a16:creationId xmlns:a16="http://schemas.microsoft.com/office/drawing/2014/main" id="{0BBBC413-2935-49C5-8521-303ED6F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515350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431218"/>
                </a:solidFill>
                <a:latin typeface="Noto Sans CJK TC"/>
                <a:ea typeface="Noto Sans CJK TC"/>
                <a:cs typeface="Noto Sans CJK TC"/>
              </a:rPr>
              <a:t>使用 33/33/34 作為 AOS 初始分佈，觀察 operator credit 是否能改善後期穩定性。</a:t>
            </a:r>
          </a:p>
        </p:txBody>
      </p:sp>
    </p:spTree>
    <p:extLst>
      <p:ext uri="{BB962C8B-B14F-4D97-AF65-F5344CB8AC3E}">
        <p14:creationId xmlns:p14="http://schemas.microsoft.com/office/powerpoint/2010/main" val="340084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2026-09-07T04:44:52.5900000Z</dcterms:created>
  <dcterms:modified xsi:type="dcterms:W3CDTF">2026-09-07T04:44:52.5900000Z</dcterms:modified>
</coreProperties>
</file>