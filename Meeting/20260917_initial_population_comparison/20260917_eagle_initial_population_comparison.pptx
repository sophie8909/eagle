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2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xlsx" ContentType="application/vnd.openxmlformats-officedocument.spreadsheetml.sheet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0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5925800" cy="8963025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charts/_rels/chart1.xml.rels><Relationships xmlns="http://schemas.openxmlformats.org/package/2006/relationships"><Relationship Id="rIdChartSnapshot1" Type="http://schemas.openxmlformats.org/officeDocument/2006/relationships/package" Target="../embeddings/chart-data-snapshot-001.xlsx"/></Relationships>
</file>

<file path=ppt/charts/_rels/chart2.xml.rels><Relationships xmlns="http://schemas.openxmlformats.org/package/2006/relationships"><Relationship Id="rIdChartSnapshot1" Type="http://schemas.openxmlformats.org/officeDocument/2006/relationships/package" Target="../embeddings/chart-data-snapshot-00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TW"/>
  <c:roundedCorners val="1"/>
  <c:style val="2"/>
  <c:chart>
    <c:autoTitleDeleted val="1"/>
    <c:plotArea>
      <c:layout/>
      <c:scatterChart>
        <c:scatterStyle val="lineMarker"/>
        <c:varyColors val="1"/>
        <c:ser>
          <c:idx val="0"/>
          <c:order val="0"/>
          <c:tx>
            <c:v>全 Worker Rush</c:v>
          </c:tx>
          <c:spPr>
            <a:ln w="38100">
              <a:solidFill>
                <a:srgbClr val="CF8792"/>
              </a:solidFill>
            </a:ln>
          </c:spPr>
          <c:marker>
            <c:symbol val="circle"/>
            <c:size val="9"/>
            <c:spPr>
              <a:solidFill>
                <a:srgbClr val="CF8792"/>
              </a:solidFill>
            </c:spPr>
          </c:marker>
          <c:xVal>
            <c:numRef>
              <c:f>'Chart Data'!$A$2:$A$7</c:f>
              <c:numCache>
                <c:formatCode>General</c:formatCode>
                <c:ptCount val="6"/>
                <c:pt idx="0">
                  <c:v>0</c:v>
                </c:pt>
                <c:pt idx="1">
                  <c:v>1</c:v>
                </c:pt>
                <c:pt idx="2">
                  <c:v>5</c:v>
                </c:pt>
                <c:pt idx="3">
                  <c:v>10</c:v>
                </c:pt>
                <c:pt idx="4">
                  <c:v>12</c:v>
                </c:pt>
                <c:pt idx="5">
                  <c:v>20</c:v>
                </c:pt>
              </c:numCache>
            </c:numRef>
          </c:xVal>
          <c:yVal>
            <c:numRef>
              <c:f>'Chart Data'!$B$2:$B$7</c:f>
              <c:numCache>
                <c:formatCode>General</c:formatCode>
                <c:ptCount val="6"/>
                <c:pt idx="0">
                  <c:v>-89.46</c:v>
                </c:pt>
                <c:pt idx="1">
                  <c:v>-88.96</c:v>
                </c:pt>
                <c:pt idx="2">
                  <c:v>-88.31</c:v>
                </c:pt>
                <c:pt idx="3">
                  <c:v>-89.25</c:v>
                </c:pt>
                <c:pt idx="4">
                  <c:v>-89.13</c:v>
                </c:pt>
                <c:pt idx="5">
                  <c:v>-87.78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8DEF-49FE-9297-FE618D01DF6A}"/>
            </c:ext>
          </c:extLst>
        </c:ser>
        <c:ser>
          <c:idx val="1"/>
          <c:order val="1"/>
          <c:tx>
            <c:v>Mixed</c:v>
          </c:tx>
          <c:spPr>
            <a:ln w="38100">
              <a:solidFill>
                <a:srgbClr val="47171C"/>
              </a:solidFill>
            </a:ln>
          </c:spPr>
          <c:marker>
            <c:symbol val="circle"/>
            <c:size val="9"/>
            <c:spPr>
              <a:solidFill>
                <a:srgbClr val="47171C"/>
              </a:solidFill>
            </c:spPr>
          </c:marker>
          <c:xVal>
            <c:numRef>
              <c:f>'Chart Data'!$C$2:$C$7</c:f>
              <c:numCache>
                <c:formatCode>General</c:formatCode>
                <c:ptCount val="6"/>
                <c:pt idx="0">
                  <c:v>0</c:v>
                </c:pt>
                <c:pt idx="1">
                  <c:v>1</c:v>
                </c:pt>
                <c:pt idx="2">
                  <c:v>5</c:v>
                </c:pt>
                <c:pt idx="3">
                  <c:v>10</c:v>
                </c:pt>
                <c:pt idx="4">
                  <c:v>12</c:v>
                </c:pt>
                <c:pt idx="5">
                  <c:v>20</c:v>
                </c:pt>
              </c:numCache>
            </c:numRef>
          </c:xVal>
          <c:yVal>
            <c:numRef>
              <c:f>'Chart Data'!$D$2:$D$7</c:f>
              <c:numCache>
                <c:formatCode>General</c:formatCode>
                <c:ptCount val="6"/>
                <c:pt idx="0">
                  <c:v>-90.29</c:v>
                </c:pt>
                <c:pt idx="1">
                  <c:v>-81.96</c:v>
                </c:pt>
                <c:pt idx="2">
                  <c:v>-78.26</c:v>
                </c:pt>
                <c:pt idx="3">
                  <c:v>-69.34</c:v>
                </c:pt>
                <c:pt idx="4">
                  <c:v>-52.1</c:v>
                </c:pt>
                <c:pt idx="5">
                  <c:v>-50.51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8DEF-49FE-9297-FE618D01DF6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-40"/>
          <c:min val="-100"/>
        </c:scaling>
        <c:delete val="0"/>
        <c:axPos val="l"/>
        <c:title>
          <c:tx>
            <c:rich>
              <a:bodyPr/>
              <a:lstStyle/>
              <a:p>
                <a:r>
                  <a:t>Best GP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8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lang="zh-TW"/>
          </a:p>
        </c:txPr>
        <c:crossAx val="48650112"/>
        <c:crosses val="autoZero"/>
        <c:crossBetween val="midCat"/>
        <c:majorUnit val="10"/>
      </c:valAx>
      <c:valAx>
        <c:axId val="48650112"/>
        <c:scaling>
          <c:orientation val="minMax"/>
          <c:max val="20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t>Generation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8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lang="zh-TW"/>
          </a:p>
        </c:txPr>
        <c:crossAx val="48672768"/>
        <c:crosses val="autoZero"/>
        <c:crossBetween val="midCat"/>
        <c:majorUnit val="5"/>
      </c:valAx>
      <c:spPr>
        <a:solidFill>
          <a:srgbClr val="FCF8F5"/>
        </a:solidFill>
      </c:spPr>
    </c:plotArea>
    <c:legend>
      <c:legendPos val="b"/>
      <c:overlay val="0"/>
      <c:txPr>
        <a:bodyPr anchorCtr="1"/>
        <a:lstStyle/>
        <a:p>
          <a:pPr>
            <a:defRPr sz="1875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defRPr>
          </a:pPr>
          <a:endParaRPr lang="zh-TW"/>
        </a:p>
      </c:txPr>
    </c:legend>
    <c:plotVisOnly val="1"/>
    <c:dispBlanksAs val="zero"/>
    <c:showDLblsOverMax val="1"/>
  </c:chart>
  <c:spPr>
    <a:solidFill>
      <a:srgbClr val="FCF8F5"/>
    </a:solidFill>
    <a:ln w="0">
      <a:noFill/>
    </a:ln>
  </c:spPr>
  <c:externalData r:id="rIdChartSnapshot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TW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Mixed 勝率</c:v>
          </c:tx>
          <c:spPr>
            <a:solidFill>
              <a:srgbClr val="CF8792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875">
                    <a:solidFill>
                      <a:srgbClr val="423C3B"/>
                    </a:solidFill>
                    <a:latin typeface="Source Han Serif TW"/>
                    <a:ea typeface="Source Han Serif TW"/>
                    <a:cs typeface="Source Han Serif TW"/>
                  </a:defRPr>
                </a:pPr>
                <a:endParaRPr lang="zh-TW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Data'!$A$2:$A$4</c:f>
              <c:strCache>
                <c:ptCount val="3"/>
                <c:pt idx="0">
                  <c:v>8×8</c:v>
                </c:pt>
                <c:pt idx="1">
                  <c:v>16×16</c:v>
                </c:pt>
                <c:pt idx="2">
                  <c:v>24×24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49</c:v>
                </c:pt>
                <c:pt idx="1">
                  <c:v>45</c:v>
                </c:pt>
                <c:pt idx="2">
                  <c:v>34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7A80-49E7-A837-964F83B55C0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8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lang="zh-TW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6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t>勝率（%）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8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lang="zh-TW"/>
          </a:p>
        </c:txPr>
        <c:crossAx val="48650112"/>
        <c:crosses val="autoZero"/>
        <c:crossBetween val="between"/>
        <c:majorUnit val="20"/>
      </c:valAx>
      <c:spPr>
        <a:solidFill>
          <a:srgbClr val="FCF8F5"/>
        </a:solidFill>
      </c:spPr>
    </c:plotArea>
    <c:plotVisOnly val="1"/>
    <c:dispBlanksAs val="zero"/>
    <c:showDLblsOverMax val="1"/>
  </c:chart>
  <c:spPr>
    <a:solidFill>
      <a:srgbClr val="FCF8F5"/>
    </a:solidFill>
    <a:ln w="0">
      <a:noFill/>
    </a:ln>
  </c:spPr>
  <c:externalData r:id="rIdChartSnapshot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本簡報日期為 2026/09/17，資料整理截至 2026/09/12。</a:t>
            </a:r>
          </a:p>
          <a:p>
            <a:r>
              <a:t>資料來源：Meeting/20260912_initial_population_comparison_20x10/initial_population_comparison_presentation_content.md。數值引用該分析稿；其原始 September run artifacts 未隨本地 checkout 提供，數值沿用既有分析，未重新執行實驗。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來源：docs/eagle_architecture_spec.md §§1–6。這批實驗採 inherited_genotype、static 與 μ＋λ。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來源：docs/eagle_architecture_spec.md §§2、5、6。Generator 保留原有 prompt genes；新 Java 可供下一代繼承。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來源：eagle/selection.py；eagle/opponent_cases.py；docs/eagle_architecture_spec.md §3、§11。選擇不使用 aggregate GP、世代年齡或 code quality 打破同分。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來源：docs/eagle_architecture_spec.md §6；本次兩組 experiment configs。Code revision 不接收 generation_prompt，成功 revision 不會再被一般 Generator 覆寫。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資料來源：Meeting/20260912_initial_population_comparison_20x10/initial_population_comparison_presentation_content.md。數值引用該分析稿；其原始 September run artifacts 未隨本地 checkout 提供，數值沿用既有分析，未重新執行實驗。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資料來源：Meeting/20260912_initial_population_comparison_20x10/initial_population_comparison_presentation_content.md。數值引用該分析稿；其原始 September run artifacts 未隨本地 checkout 提供，數值沿用既有分析，未重新執行實驗。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資料來源：Meeting/20260912_initial_population_comparison_20x10/initial_population_comparison_presentation_content.md。數值引用該分析稿；其原始 September run artifacts 未隨本地 checkout 提供，數值沿用既有分析，未重新執行實驗。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資料來源：Meeting/20260912_initial_population_comparison_20x10/initial_population_comparison_presentation_content.md。數值引用該分析稿；其原始 September run artifacts 未隨本地 checkout 提供，數值沿用既有分析，未重新執行實驗。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資料來源：Meeting/20260912_initial_population_comparison_20x10/initial_population_comparison_presentation_content.md。數值引用該分析稿；其原始 September run artifacts 未隨本地 checkout 提供，數值沿用既有分析，未重新執行實驗。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資料來源：Meeting/20260912_initial_population_comparison_20x10/initial_population_comparison_presentation_content.md。數值引用該分析稿；其原始 September run artifacts 未隨本地 checkout 提供，數值沿用既有分析，未重新執行實驗。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資料來源：Meeting/20260912_initial_population_comparison_20x10/initial_population_comparison_presentation_content.md。數值引用該分析稿；其原始 September run artifacts 未隨本地 checkout 提供，數值沿用既有分析，未重新執行實驗。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資料來源：Meeting/20260912_initial_population_comparison_20x10/initial_population_comparison_presentation_content.md。數值引用該分析稿；其原始 September run artifacts 未隨本地 checkout 提供，數值沿用既有分析，未重新執行實驗。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資料來源：Meeting/20260912_initial_population_comparison_20x10/initial_population_comparison_presentation_content.md。數值引用該分析稿；其原始 September run artifacts 未隨本地 checkout 提供，數值沿用既有分析，未重新執行實驗。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資料來源：Meeting/20260912_initial_population_comparison_20x10/initial_population_comparison_presentation_content.md。數值引用該分析稿；其原始 September run artifacts 未隨本地 checkout 提供，數值沿用既有分析，未重新執行實驗。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資料來源：Meeting/20260912_initial_population_comparison_20x10/initial_population_comparison_presentation_content.md。數值引用該分析稿；其原始 September run artifacts 未隨本地 checkout 提供，數值沿用既有分析，未重新執行實驗。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資料來源：Meeting/20260912_initial_population_comparison_20x10/initial_population_comparison_presentation_content.md。數值引用該分析稿；其原始 September run artifacts 未隨本地 checkout 提供，數值沿用既有分析，未重新執行實驗。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資料來源：Meeting/20260912_initial_population_comparison_20x10/initial_population_comparison_presentation_content.md。數值引用該分析稿；其原始 September run artifacts 未隨本地 checkout 提供，數值沿用既有分析，未重新執行實驗。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資料來源：Meeting/20260912_initial_population_comparison_20x10/initial_population_comparison_presentation_content.md。數值引用該分析稿；其原始 September run artifacts 未隨本地 checkout 提供，數值沿用既有分析，未重新執行實驗。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資料來源：Meeting/20260912_initial_population_comparison_20x10/initial_population_comparison_presentation_content.md。數值引用該分析稿；其原始 September run artifacts 未隨本地 checkout 提供，數值沿用既有分析，未重新執行實驗。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AGLE_0">
            <a:extLst>
              <a:ext uri="{FF2B5EF4-FFF2-40B4-BE49-F238E27FC236}">
                <a16:creationId xmlns:a16="http://schemas.microsoft.com/office/drawing/2014/main" id="{2F34C9E6-C370-4CE6-8C49-57861F01F240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2476500" y="2762250"/>
            <a:ext cx="10972800" cy="1333500"/>
          </a:xfrm>
        </p:spPr>
        <p:txBody>
          <a:bodyPr anchor="ctr">
            <a:noAutofit/>
          </a:bodyPr>
          <a:lstStyle/>
          <a:p>
            <a:pPr lvl="0" algn="ctr">
              <a:defRPr sz="5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lang="zh-TW" altLang="en-US" sz="5700" b="1">
                <a:solidFill>
                  <a:srgbClr val="47171C"/>
                </a:solidFill>
                <a:latin typeface="Source Han Serif TW"/>
                <a:ea typeface="Source Han Serif TW"/>
              </a:rPr>
              <a:t>按一下以編輯母片文字樣式</a:t>
            </a:r>
          </a:p>
        </p:txBody>
      </p:sp>
      <p:sp>
        <p:nvSpPr>
          <p:cNvPr id="3" name="EAGLE_1">
            <a:extLst>
              <a:ext uri="{FF2B5EF4-FFF2-40B4-BE49-F238E27FC236}">
                <a16:creationId xmlns:a16="http://schemas.microsoft.com/office/drawing/2014/main" id="{7A0C5AD2-9560-46CF-A557-9D96775B73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7500" y="4429125"/>
            <a:ext cx="10210800" cy="952500"/>
          </a:xfrm>
        </p:spPr>
        <p:txBody>
          <a:bodyPr anchor="ctr">
            <a:noAutofit/>
          </a:bodyPr>
          <a:lstStyle/>
          <a:p>
            <a:pPr lvl="0"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lang="zh-TW" altLang="en-US" sz="2250" b="0">
                <a:solidFill>
                  <a:srgbClr val="423C3B"/>
                </a:solidFill>
                <a:latin typeface="Source Han Serif TW"/>
                <a:ea typeface="Source Han Serif TW"/>
              </a:rPr>
              <a:t>按一下以編輯母片文字樣式</a:t>
            </a:r>
          </a:p>
        </p:txBody>
      </p:sp>
      <p:sp>
        <p:nvSpPr>
          <p:cNvPr id="4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94FF8C53-65A6-4BE2-B1C3-0860FCD540B7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‹#›</a:t>
            </a:fld>
            <a:endParaRPr sz="1650" b="0">
              <a:solidFill>
                <a:srgbClr val="CF8792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40289123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AGLE_0">
            <a:extLst>
              <a:ext uri="{FF2B5EF4-FFF2-40B4-BE49-F238E27FC236}">
                <a16:creationId xmlns:a16="http://schemas.microsoft.com/office/drawing/2014/main" id="{E3969E06-0C81-48D2-BB37-515771E13DCE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2476500" y="3238500"/>
            <a:ext cx="10972800" cy="1238250"/>
          </a:xfrm>
        </p:spPr>
        <p:txBody>
          <a:bodyPr anchor="ctr">
            <a:noAutofit/>
          </a:bodyPr>
          <a:lstStyle/>
          <a:p>
            <a:pPr lvl="0" algn="ctr">
              <a:defRPr sz="5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lang="zh-TW" altLang="en-US" sz="5700" b="1">
                <a:solidFill>
                  <a:srgbClr val="47171C"/>
                </a:solidFill>
                <a:latin typeface="Source Han Serif TW"/>
                <a:ea typeface="Source Han Serif TW"/>
              </a:rPr>
              <a:t>按一下以編輯母片文字樣式</a:t>
            </a:r>
          </a:p>
        </p:txBody>
      </p:sp>
      <p:sp>
        <p:nvSpPr>
          <p:cNvPr id="3" name="EAGLE_2">
            <a:extLst>
              <a:ext uri="{FF2B5EF4-FFF2-40B4-BE49-F238E27FC236}">
                <a16:creationId xmlns:a16="http://schemas.microsoft.com/office/drawing/2014/main" id="{590865AA-9D35-4748-91A3-B387D561BA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0" y="4714875"/>
            <a:ext cx="9829800" cy="857250"/>
          </a:xfrm>
        </p:spPr>
        <p:txBody>
          <a:bodyPr anchor="t">
            <a:noAutofit/>
          </a:bodyPr>
          <a:lstStyle/>
          <a:p>
            <a:pPr lvl="0" algn="l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lang="zh-TW" altLang="en-US" sz="2250" b="0">
                <a:solidFill>
                  <a:srgbClr val="423C3B"/>
                </a:solidFill>
                <a:latin typeface="Source Han Serif TW"/>
                <a:ea typeface="Source Han Serif TW"/>
              </a:rPr>
              <a:t>按一下以編輯母片文字樣式</a:t>
            </a:r>
          </a:p>
        </p:txBody>
      </p:sp>
      <p:sp>
        <p:nvSpPr>
          <p:cNvPr id="4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1DC12639-B266-46C5-BCF3-45A4D32AE42A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‹#›</a:t>
            </a:fld>
            <a:endParaRPr sz="1650" b="0">
              <a:solidFill>
                <a:srgbClr val="CF8792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29337474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AGLE_0">
            <a:extLst>
              <a:ext uri="{FF2B5EF4-FFF2-40B4-BE49-F238E27FC236}">
                <a16:creationId xmlns:a16="http://schemas.microsoft.com/office/drawing/2014/main" id="{6EC4DF72-535F-4440-B07D-46BAD5D2A2AE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lvl="0"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lang="zh-TW" altLang="en-US" sz="5250" b="1">
                <a:solidFill>
                  <a:srgbClr val="47171C"/>
                </a:solidFill>
                <a:latin typeface="Source Han Serif TW"/>
                <a:ea typeface="Source Han Serif TW"/>
              </a:rPr>
              <a:t>按一下以編輯母片文字樣式</a:t>
            </a:r>
          </a:p>
        </p:txBody>
      </p:sp>
      <p:sp>
        <p:nvSpPr>
          <p:cNvPr id="3" name="EAGLE_1">
            <a:extLst>
              <a:ext uri="{FF2B5EF4-FFF2-40B4-BE49-F238E27FC236}">
                <a16:creationId xmlns:a16="http://schemas.microsoft.com/office/drawing/2014/main" id="{51353937-B2B6-48C4-A2B5-2F27B15E71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lvl="0"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lang="zh-TW" altLang="en-US" sz="2175" b="0">
                <a:solidFill>
                  <a:srgbClr val="423C3B"/>
                </a:solidFill>
                <a:latin typeface="Source Han Serif TW"/>
                <a:ea typeface="Source Han Serif TW"/>
              </a:rPr>
              <a:t>按一下以編輯母片文字樣式</a:t>
            </a:r>
          </a:p>
        </p:txBody>
      </p:sp>
      <p:sp>
        <p:nvSpPr>
          <p:cNvPr id="4" name="EAGLE_2">
            <a:extLst>
              <a:ext uri="{FF2B5EF4-FFF2-40B4-BE49-F238E27FC236}">
                <a16:creationId xmlns:a16="http://schemas.microsoft.com/office/drawing/2014/main" id="{92425B3F-3430-4EDE-B5B3-73C027E72E1D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1428750" y="2619375"/>
            <a:ext cx="13068300" cy="4905375"/>
          </a:xfrm>
        </p:spPr>
        <p:txBody>
          <a:bodyPr anchor="t">
            <a:noAutofit/>
          </a:bodyPr>
          <a:lstStyle/>
          <a:p>
            <a:pPr lvl="0"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lang="zh-TW" altLang="en-US" sz="2100" b="0">
                <a:solidFill>
                  <a:srgbClr val="423C3B"/>
                </a:solidFill>
                <a:latin typeface="Source Han Serif TW"/>
                <a:ea typeface="Source Han Serif TW"/>
              </a:rPr>
              <a:t>按一下以編輯母片文字樣式</a:t>
            </a:r>
          </a:p>
        </p:txBody>
      </p:sp>
      <p:sp>
        <p:nvSpPr>
          <p:cNvPr id="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1ED4EB3D-E8EE-422C-AC16-9B2450B7C42F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‹#›</a:t>
            </a:fld>
            <a:endParaRPr sz="1650" b="0">
              <a:solidFill>
                <a:srgbClr val="CF8792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12729174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AGLE_0">
            <a:extLst>
              <a:ext uri="{FF2B5EF4-FFF2-40B4-BE49-F238E27FC236}">
                <a16:creationId xmlns:a16="http://schemas.microsoft.com/office/drawing/2014/main" id="{3A4791D8-472B-4CB1-9BF5-68D6DDA5E08C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lvl="0"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lang="zh-TW" altLang="en-US" sz="5250" b="1">
                <a:solidFill>
                  <a:srgbClr val="47171C"/>
                </a:solidFill>
                <a:latin typeface="Source Han Serif TW"/>
                <a:ea typeface="Source Han Serif TW"/>
              </a:rPr>
              <a:t>按一下以編輯母片文字樣式</a:t>
            </a:r>
          </a:p>
        </p:txBody>
      </p:sp>
      <p:sp>
        <p:nvSpPr>
          <p:cNvPr id="3" name="EAGLE_1">
            <a:extLst>
              <a:ext uri="{FF2B5EF4-FFF2-40B4-BE49-F238E27FC236}">
                <a16:creationId xmlns:a16="http://schemas.microsoft.com/office/drawing/2014/main" id="{302C0C6D-C490-4DDF-92D9-E216E08E1C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lvl="0"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lang="zh-TW" altLang="en-US" sz="2175" b="0">
                <a:solidFill>
                  <a:srgbClr val="423C3B"/>
                </a:solidFill>
                <a:latin typeface="Source Han Serif TW"/>
                <a:ea typeface="Source Han Serif TW"/>
              </a:rPr>
              <a:t>按一下以編輯母片文字樣式</a:t>
            </a:r>
          </a:p>
        </p:txBody>
      </p:sp>
      <p:sp>
        <p:nvSpPr>
          <p:cNvPr id="4" name="EAGLE_2">
            <a:extLst>
              <a:ext uri="{FF2B5EF4-FFF2-40B4-BE49-F238E27FC236}">
                <a16:creationId xmlns:a16="http://schemas.microsoft.com/office/drawing/2014/main" id="{0892CF96-6BB8-469E-8C05-16E66270671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1428750" y="2619375"/>
            <a:ext cx="6305550" cy="4905375"/>
          </a:xfrm>
        </p:spPr>
        <p:txBody>
          <a:bodyPr anchor="t">
            <a:noAutofit/>
          </a:bodyPr>
          <a:lstStyle/>
          <a:p>
            <a:pPr lvl="0"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lang="zh-TW" altLang="en-US" sz="2100" b="0">
                <a:solidFill>
                  <a:srgbClr val="423C3B"/>
                </a:solidFill>
                <a:latin typeface="Source Han Serif TW"/>
                <a:ea typeface="Source Han Serif TW"/>
              </a:rPr>
              <a:t>按一下以編輯母片文字樣式</a:t>
            </a:r>
          </a:p>
        </p:txBody>
      </p:sp>
      <p:sp>
        <p:nvSpPr>
          <p:cNvPr id="5" name="EAGLE_3">
            <a:extLst>
              <a:ext uri="{FF2B5EF4-FFF2-40B4-BE49-F238E27FC236}">
                <a16:creationId xmlns:a16="http://schemas.microsoft.com/office/drawing/2014/main" id="{00538733-DF1C-4D96-92B6-38724A005A9A}"/>
              </a:ext>
            </a:extLst>
          </p:cNvPr>
          <p:cNvSpPr>
            <a:spLocks noGrp="1"/>
          </p:cNvSpPr>
          <p:nvPr>
            <p:ph idx="3"/>
          </p:nvPr>
        </p:nvSpPr>
        <p:spPr>
          <a:xfrm>
            <a:off x="8191500" y="2619375"/>
            <a:ext cx="6305550" cy="4905375"/>
          </a:xfrm>
        </p:spPr>
        <p:txBody>
          <a:bodyPr anchor="t">
            <a:noAutofit/>
          </a:bodyPr>
          <a:lstStyle/>
          <a:p>
            <a:pPr lvl="0"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lang="zh-TW" altLang="en-US" sz="2100" b="0">
                <a:solidFill>
                  <a:srgbClr val="423C3B"/>
                </a:solidFill>
                <a:latin typeface="Source Han Serif TW"/>
                <a:ea typeface="Source Han Serif TW"/>
              </a:rPr>
              <a:t>按一下以編輯母片文字樣式</a:t>
            </a:r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58176649-BADB-4675-AA89-5F227F3F3954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‹#›</a:t>
            </a:fld>
            <a:endParaRPr sz="1650" b="0">
              <a:solidFill>
                <a:srgbClr val="CF8792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25769197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AGLE_0">
            <a:extLst>
              <a:ext uri="{FF2B5EF4-FFF2-40B4-BE49-F238E27FC236}">
                <a16:creationId xmlns:a16="http://schemas.microsoft.com/office/drawing/2014/main" id="{C4DD0E43-2CD7-44D8-A8DE-10D092170A60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lvl="0"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lang="zh-TW" altLang="en-US" sz="5250" b="1">
                <a:solidFill>
                  <a:srgbClr val="47171C"/>
                </a:solidFill>
                <a:latin typeface="Source Han Serif TW"/>
                <a:ea typeface="Source Han Serif TW"/>
              </a:rPr>
              <a:t>按一下以編輯母片文字樣式</a:t>
            </a:r>
          </a:p>
        </p:txBody>
      </p:sp>
      <p:sp>
        <p:nvSpPr>
          <p:cNvPr id="3" name="EAGLE_1">
            <a:extLst>
              <a:ext uri="{FF2B5EF4-FFF2-40B4-BE49-F238E27FC236}">
                <a16:creationId xmlns:a16="http://schemas.microsoft.com/office/drawing/2014/main" id="{076D8F65-D3F7-4349-B3FE-19769F6294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lvl="0"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lang="zh-TW" altLang="en-US" sz="2175" b="0">
                <a:solidFill>
                  <a:srgbClr val="423C3B"/>
                </a:solidFill>
                <a:latin typeface="Source Han Serif TW"/>
                <a:ea typeface="Source Han Serif TW"/>
              </a:rPr>
              <a:t>按一下以編輯母片文字樣式</a:t>
            </a:r>
          </a:p>
        </p:txBody>
      </p:sp>
      <p:sp>
        <p:nvSpPr>
          <p:cNvPr id="4" name="EAGLE_2">
            <a:extLst>
              <a:ext uri="{FF2B5EF4-FFF2-40B4-BE49-F238E27FC236}">
                <a16:creationId xmlns:a16="http://schemas.microsoft.com/office/drawing/2014/main" id="{E2F427F0-C955-46A6-9858-9A50C0C635E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1428750" y="2571750"/>
            <a:ext cx="6305550" cy="619125"/>
          </a:xfrm>
        </p:spPr>
        <p:txBody>
          <a:bodyPr anchor="t">
            <a:noAutofit/>
          </a:bodyPr>
          <a:lstStyle/>
          <a:p>
            <a:pPr lvl="0"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lang="zh-TW" altLang="en-US" sz="2250" b="1">
                <a:solidFill>
                  <a:srgbClr val="47171C"/>
                </a:solidFill>
                <a:latin typeface="Source Han Serif TW"/>
                <a:ea typeface="Source Han Serif TW"/>
              </a:rPr>
              <a:t>按一下以編輯母片文字樣式</a:t>
            </a:r>
          </a:p>
        </p:txBody>
      </p:sp>
      <p:sp>
        <p:nvSpPr>
          <p:cNvPr id="5" name="EAGLE_4">
            <a:extLst>
              <a:ext uri="{FF2B5EF4-FFF2-40B4-BE49-F238E27FC236}">
                <a16:creationId xmlns:a16="http://schemas.microsoft.com/office/drawing/2014/main" id="{3BB99614-5410-42D4-8D56-3C67339DE590}"/>
              </a:ext>
            </a:extLst>
          </p:cNvPr>
          <p:cNvSpPr>
            <a:spLocks noGrp="1"/>
          </p:cNvSpPr>
          <p:nvPr>
            <p:ph idx="3"/>
          </p:nvPr>
        </p:nvSpPr>
        <p:spPr>
          <a:xfrm>
            <a:off x="1428750" y="3476625"/>
            <a:ext cx="6305550" cy="4048125"/>
          </a:xfrm>
        </p:spPr>
        <p:txBody>
          <a:bodyPr anchor="t">
            <a:noAutofit/>
          </a:bodyPr>
          <a:lstStyle/>
          <a:p>
            <a:pPr lvl="0"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lang="zh-TW" altLang="en-US" sz="2100" b="0">
                <a:solidFill>
                  <a:srgbClr val="423C3B"/>
                </a:solidFill>
                <a:latin typeface="Source Han Serif TW"/>
                <a:ea typeface="Source Han Serif TW"/>
              </a:rPr>
              <a:t>按一下以編輯母片文字樣式</a:t>
            </a:r>
          </a:p>
        </p:txBody>
      </p:sp>
      <p:sp>
        <p:nvSpPr>
          <p:cNvPr id="6" name="EAGLE_3">
            <a:extLst>
              <a:ext uri="{FF2B5EF4-FFF2-40B4-BE49-F238E27FC236}">
                <a16:creationId xmlns:a16="http://schemas.microsoft.com/office/drawing/2014/main" id="{A31AD1B3-6BB9-4504-B9C5-087515F7D2D4}"/>
              </a:ext>
            </a:extLst>
          </p:cNvPr>
          <p:cNvSpPr>
            <a:spLocks noGrp="1"/>
          </p:cNvSpPr>
          <p:nvPr>
            <p:ph idx="5"/>
          </p:nvPr>
        </p:nvSpPr>
        <p:spPr>
          <a:xfrm>
            <a:off x="8191500" y="2571750"/>
            <a:ext cx="6305550" cy="619125"/>
          </a:xfrm>
        </p:spPr>
        <p:txBody>
          <a:bodyPr anchor="t">
            <a:noAutofit/>
          </a:bodyPr>
          <a:lstStyle/>
          <a:p>
            <a:pPr lvl="0"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lang="zh-TW" altLang="en-US" sz="2250" b="1">
                <a:solidFill>
                  <a:srgbClr val="47171C"/>
                </a:solidFill>
                <a:latin typeface="Source Han Serif TW"/>
                <a:ea typeface="Source Han Serif TW"/>
              </a:rPr>
              <a:t>按一下以編輯母片文字樣式</a:t>
            </a:r>
          </a:p>
        </p:txBody>
      </p:sp>
      <p:sp>
        <p:nvSpPr>
          <p:cNvPr id="7" name="EAGLE_5">
            <a:extLst>
              <a:ext uri="{FF2B5EF4-FFF2-40B4-BE49-F238E27FC236}">
                <a16:creationId xmlns:a16="http://schemas.microsoft.com/office/drawing/2014/main" id="{31D81A76-EB56-426E-8AAB-C05D479E14FD}"/>
              </a:ext>
            </a:extLst>
          </p:cNvPr>
          <p:cNvSpPr>
            <a:spLocks noGrp="1"/>
          </p:cNvSpPr>
          <p:nvPr>
            <p:ph idx="5"/>
          </p:nvPr>
        </p:nvSpPr>
        <p:spPr>
          <a:xfrm>
            <a:off x="8191500" y="3476625"/>
            <a:ext cx="6305550" cy="4048125"/>
          </a:xfrm>
        </p:spPr>
        <p:txBody>
          <a:bodyPr anchor="t">
            <a:noAutofit/>
          </a:bodyPr>
          <a:lstStyle/>
          <a:p>
            <a:pPr lvl="0"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lang="zh-TW" altLang="en-US" sz="2100" b="0">
                <a:solidFill>
                  <a:srgbClr val="423C3B"/>
                </a:solidFill>
                <a:latin typeface="Source Han Serif TW"/>
                <a:ea typeface="Source Han Serif TW"/>
              </a:rPr>
              <a:t>按一下以編輯母片文字樣式</a:t>
            </a:r>
          </a:p>
        </p:txBody>
      </p:sp>
      <p:sp>
        <p:nvSpPr>
          <p:cNvPr id="8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DAAEABEC-89D6-436E-9471-497DE5F8CC71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‹#›</a:t>
            </a:fld>
            <a:endParaRPr sz="1650" b="0">
              <a:solidFill>
                <a:srgbClr val="CF8792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36322919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三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AGLE_0">
            <a:extLst>
              <a:ext uri="{FF2B5EF4-FFF2-40B4-BE49-F238E27FC236}">
                <a16:creationId xmlns:a16="http://schemas.microsoft.com/office/drawing/2014/main" id="{D22686DD-6022-4F4D-883C-A3A2AE4FE63B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lvl="0"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lang="zh-TW" altLang="en-US" sz="5250" b="1">
                <a:solidFill>
                  <a:srgbClr val="47171C"/>
                </a:solidFill>
                <a:latin typeface="Source Han Serif TW"/>
                <a:ea typeface="Source Han Serif TW"/>
              </a:rPr>
              <a:t>按一下以編輯母片文字樣式</a:t>
            </a:r>
          </a:p>
        </p:txBody>
      </p:sp>
      <p:sp>
        <p:nvSpPr>
          <p:cNvPr id="3" name="EAGLE_1">
            <a:extLst>
              <a:ext uri="{FF2B5EF4-FFF2-40B4-BE49-F238E27FC236}">
                <a16:creationId xmlns:a16="http://schemas.microsoft.com/office/drawing/2014/main" id="{6D6AF434-5A04-42F0-BBFA-BC92C57998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lvl="0"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lang="zh-TW" altLang="en-US" sz="2175" b="0">
                <a:solidFill>
                  <a:srgbClr val="423C3B"/>
                </a:solidFill>
                <a:latin typeface="Source Han Serif TW"/>
                <a:ea typeface="Source Han Serif TW"/>
              </a:rPr>
              <a:t>按一下以編輯母片文字樣式</a:t>
            </a:r>
          </a:p>
        </p:txBody>
      </p:sp>
      <p:sp>
        <p:nvSpPr>
          <p:cNvPr id="4" name="EAGLE_2">
            <a:extLst>
              <a:ext uri="{FF2B5EF4-FFF2-40B4-BE49-F238E27FC236}">
                <a16:creationId xmlns:a16="http://schemas.microsoft.com/office/drawing/2014/main" id="{FEB69765-384F-41D2-A24F-900B0409C29C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1428750" y="2619375"/>
            <a:ext cx="4038600" cy="4905375"/>
          </a:xfrm>
        </p:spPr>
        <p:txBody>
          <a:bodyPr anchor="t">
            <a:noAutofit/>
          </a:bodyPr>
          <a:lstStyle/>
          <a:p>
            <a:pPr lvl="0" algn="l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lang="zh-TW" altLang="en-US" sz="1950" b="0">
                <a:solidFill>
                  <a:srgbClr val="423C3B"/>
                </a:solidFill>
                <a:latin typeface="Source Han Serif TW"/>
                <a:ea typeface="Source Han Serif TW"/>
              </a:rPr>
              <a:t>按一下以編輯母片文字樣式</a:t>
            </a:r>
          </a:p>
        </p:txBody>
      </p:sp>
      <p:sp>
        <p:nvSpPr>
          <p:cNvPr id="5" name="EAGLE_3">
            <a:extLst>
              <a:ext uri="{FF2B5EF4-FFF2-40B4-BE49-F238E27FC236}">
                <a16:creationId xmlns:a16="http://schemas.microsoft.com/office/drawing/2014/main" id="{BB259B69-1EC0-4318-8F78-3881E3FD7476}"/>
              </a:ext>
            </a:extLst>
          </p:cNvPr>
          <p:cNvSpPr>
            <a:spLocks noGrp="1"/>
          </p:cNvSpPr>
          <p:nvPr>
            <p:ph idx="3"/>
          </p:nvPr>
        </p:nvSpPr>
        <p:spPr>
          <a:xfrm>
            <a:off x="5943600" y="2619375"/>
            <a:ext cx="4038600" cy="4905375"/>
          </a:xfrm>
        </p:spPr>
        <p:txBody>
          <a:bodyPr anchor="t">
            <a:noAutofit/>
          </a:bodyPr>
          <a:lstStyle/>
          <a:p>
            <a:pPr lvl="0" algn="l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lang="zh-TW" altLang="en-US" sz="1950" b="0">
                <a:solidFill>
                  <a:srgbClr val="423C3B"/>
                </a:solidFill>
                <a:latin typeface="Source Han Serif TW"/>
                <a:ea typeface="Source Han Serif TW"/>
              </a:rPr>
              <a:t>按一下以編輯母片文字樣式</a:t>
            </a:r>
          </a:p>
        </p:txBody>
      </p:sp>
      <p:sp>
        <p:nvSpPr>
          <p:cNvPr id="6" name="EAGLE_4">
            <a:extLst>
              <a:ext uri="{FF2B5EF4-FFF2-40B4-BE49-F238E27FC236}">
                <a16:creationId xmlns:a16="http://schemas.microsoft.com/office/drawing/2014/main" id="{86B9ECF8-06DD-4853-A29A-64E7D62F27ED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10458450" y="2619375"/>
            <a:ext cx="4038600" cy="4905375"/>
          </a:xfrm>
        </p:spPr>
        <p:txBody>
          <a:bodyPr anchor="t">
            <a:noAutofit/>
          </a:bodyPr>
          <a:lstStyle/>
          <a:p>
            <a:pPr lvl="0" algn="l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lang="zh-TW" altLang="en-US" sz="1950" b="0">
                <a:solidFill>
                  <a:srgbClr val="423C3B"/>
                </a:solidFill>
                <a:latin typeface="Source Han Serif TW"/>
                <a:ea typeface="Source Han Serif TW"/>
              </a:rPr>
              <a:t>按一下以編輯母片文字樣式</a:t>
            </a:r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534CC2CF-DFA1-4FF2-9601-EFC4BA57938F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‹#›</a:t>
            </a:fld>
            <a:endParaRPr sz="1650" b="0">
              <a:solidFill>
                <a:srgbClr val="CF8792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23632328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圖片及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AGLE_0">
            <a:extLst>
              <a:ext uri="{FF2B5EF4-FFF2-40B4-BE49-F238E27FC236}">
                <a16:creationId xmlns:a16="http://schemas.microsoft.com/office/drawing/2014/main" id="{93752F55-AC4A-40BE-B03B-0C040D718409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lvl="0"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lang="zh-TW" altLang="en-US" sz="5250" b="1">
                <a:solidFill>
                  <a:srgbClr val="47171C"/>
                </a:solidFill>
                <a:latin typeface="Source Han Serif TW"/>
                <a:ea typeface="Source Han Serif TW"/>
              </a:rPr>
              <a:t>按一下以編輯母片文字樣式</a:t>
            </a:r>
          </a:p>
        </p:txBody>
      </p:sp>
      <p:sp>
        <p:nvSpPr>
          <p:cNvPr id="3" name="EAGLE_1">
            <a:extLst>
              <a:ext uri="{FF2B5EF4-FFF2-40B4-BE49-F238E27FC236}">
                <a16:creationId xmlns:a16="http://schemas.microsoft.com/office/drawing/2014/main" id="{8B7D0469-A4AB-493F-ACBF-E8CB73C3A6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lvl="0"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lang="zh-TW" altLang="en-US" sz="2175" b="0">
                <a:solidFill>
                  <a:srgbClr val="423C3B"/>
                </a:solidFill>
                <a:latin typeface="Source Han Serif TW"/>
                <a:ea typeface="Source Han Serif TW"/>
              </a:rPr>
              <a:t>按一下以編輯母片文字樣式</a:t>
            </a:r>
          </a:p>
        </p:txBody>
      </p:sp>
      <p:sp>
        <p:nvSpPr>
          <p:cNvPr id="4" name="EAGLE_2">
            <a:extLst>
              <a:ext uri="{FF2B5EF4-FFF2-40B4-BE49-F238E27FC236}">
                <a16:creationId xmlns:a16="http://schemas.microsoft.com/office/drawing/2014/main" id="{9089290D-C95F-4404-8DFC-D4901DA1C1B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2000250" y="2476500"/>
            <a:ext cx="11925300" cy="4619625"/>
          </a:xfrm>
        </p:spPr>
        <p:txBody>
          <a:bodyPr anchor="t">
            <a:noAutofit/>
          </a:bodyPr>
          <a:lstStyle/>
          <a:p>
            <a:pPr lvl="0"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lang="zh-TW" altLang="en-US" sz="2100" b="0">
                <a:solidFill>
                  <a:srgbClr val="423C3B"/>
                </a:solidFill>
                <a:latin typeface="Source Han Serif TW"/>
                <a:ea typeface="Source Han Serif TW"/>
              </a:rPr>
              <a:t>按一下以編輯母片文字樣式</a:t>
            </a:r>
          </a:p>
        </p:txBody>
      </p:sp>
      <p:sp>
        <p:nvSpPr>
          <p:cNvPr id="5" name="EAGLE_3">
            <a:extLst>
              <a:ext uri="{FF2B5EF4-FFF2-40B4-BE49-F238E27FC236}">
                <a16:creationId xmlns:a16="http://schemas.microsoft.com/office/drawing/2014/main" id="{D1E03D6F-4B50-441D-9B62-7C7CF72080CE}"/>
              </a:ext>
            </a:extLst>
          </p:cNvPr>
          <p:cNvSpPr>
            <a:spLocks noGrp="1"/>
          </p:cNvSpPr>
          <p:nvPr>
            <p:ph idx="3"/>
          </p:nvPr>
        </p:nvSpPr>
        <p:spPr>
          <a:xfrm>
            <a:off x="2000250" y="7334250"/>
            <a:ext cx="11925300" cy="666750"/>
          </a:xfrm>
        </p:spPr>
        <p:txBody>
          <a:bodyPr anchor="t">
            <a:noAutofit/>
          </a:bodyPr>
          <a:lstStyle/>
          <a:p>
            <a:pPr lvl="0" algn="l">
              <a:def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lang="zh-TW" altLang="en-US" sz="1800" b="0">
                <a:solidFill>
                  <a:srgbClr val="423C3B"/>
                </a:solidFill>
                <a:latin typeface="Source Han Serif TW"/>
                <a:ea typeface="Source Han Serif TW"/>
              </a:rPr>
              <a:t>按一下以編輯母片文字樣式</a:t>
            </a:r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5C3B0106-61B7-472E-AA5A-C33DCAE7DD66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‹#›</a:t>
            </a:fld>
            <a:endParaRPr sz="1650" b="0">
              <a:solidFill>
                <a:srgbClr val="CF8792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25664476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內容與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AGLE_0">
            <a:extLst>
              <a:ext uri="{FF2B5EF4-FFF2-40B4-BE49-F238E27FC236}">
                <a16:creationId xmlns:a16="http://schemas.microsoft.com/office/drawing/2014/main" id="{4E1AFFBC-8DD7-4858-BE9E-DF7B9E845243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lvl="0"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lang="zh-TW" altLang="en-US" sz="5250" b="1">
                <a:solidFill>
                  <a:srgbClr val="47171C"/>
                </a:solidFill>
                <a:latin typeface="Source Han Serif TW"/>
                <a:ea typeface="Source Han Serif TW"/>
              </a:rPr>
              <a:t>按一下以編輯母片文字樣式</a:t>
            </a:r>
          </a:p>
        </p:txBody>
      </p:sp>
      <p:sp>
        <p:nvSpPr>
          <p:cNvPr id="3" name="EAGLE_1">
            <a:extLst>
              <a:ext uri="{FF2B5EF4-FFF2-40B4-BE49-F238E27FC236}">
                <a16:creationId xmlns:a16="http://schemas.microsoft.com/office/drawing/2014/main" id="{51E591F6-4009-4737-9C0E-3381B92FB0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lvl="0"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lang="zh-TW" altLang="en-US" sz="2175" b="0">
                <a:solidFill>
                  <a:srgbClr val="423C3B"/>
                </a:solidFill>
                <a:latin typeface="Source Han Serif TW"/>
                <a:ea typeface="Source Han Serif TW"/>
              </a:rPr>
              <a:t>按一下以編輯母片文字樣式</a:t>
            </a:r>
          </a:p>
        </p:txBody>
      </p:sp>
      <p:sp>
        <p:nvSpPr>
          <p:cNvPr id="4" name="EAGLE_2">
            <a:extLst>
              <a:ext uri="{FF2B5EF4-FFF2-40B4-BE49-F238E27FC236}">
                <a16:creationId xmlns:a16="http://schemas.microsoft.com/office/drawing/2014/main" id="{6277AB01-EE8D-4317-87D9-BEC820CCC3C8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1428750" y="2619375"/>
            <a:ext cx="5476875" cy="4905375"/>
          </a:xfrm>
        </p:spPr>
        <p:txBody>
          <a:bodyPr anchor="t">
            <a:noAutofit/>
          </a:bodyPr>
          <a:lstStyle/>
          <a:p>
            <a:pPr lvl="0"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lang="zh-TW" altLang="en-US" sz="2100" b="0">
                <a:solidFill>
                  <a:srgbClr val="423C3B"/>
                </a:solidFill>
                <a:latin typeface="Source Han Serif TW"/>
                <a:ea typeface="Source Han Serif TW"/>
              </a:rPr>
              <a:t>按一下以編輯母片文字樣式</a:t>
            </a:r>
          </a:p>
        </p:txBody>
      </p:sp>
      <p:sp>
        <p:nvSpPr>
          <p:cNvPr id="5" name="EAGLE_3">
            <a:extLst>
              <a:ext uri="{FF2B5EF4-FFF2-40B4-BE49-F238E27FC236}">
                <a16:creationId xmlns:a16="http://schemas.microsoft.com/office/drawing/2014/main" id="{882ACEB2-431F-4BBF-8F1B-4F07F63851B4}"/>
              </a:ext>
            </a:extLst>
          </p:cNvPr>
          <p:cNvSpPr>
            <a:spLocks noGrp="1"/>
          </p:cNvSpPr>
          <p:nvPr>
            <p:ph idx="3"/>
          </p:nvPr>
        </p:nvSpPr>
        <p:spPr>
          <a:xfrm>
            <a:off x="7429500" y="2619375"/>
            <a:ext cx="7067550" cy="4905375"/>
          </a:xfrm>
        </p:spPr>
        <p:txBody>
          <a:bodyPr anchor="t">
            <a:noAutofit/>
          </a:bodyPr>
          <a:lstStyle/>
          <a:p>
            <a:pPr lvl="0"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lang="zh-TW" altLang="en-US" sz="2100" b="0">
                <a:solidFill>
                  <a:srgbClr val="423C3B"/>
                </a:solidFill>
                <a:latin typeface="Source Han Serif TW"/>
                <a:ea typeface="Source Han Serif TW"/>
              </a:rPr>
              <a:t>按一下以編輯母片文字樣式</a:t>
            </a:r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C110DA2E-972D-47CE-8ED2-D648217896EA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‹#›</a:t>
            </a:fld>
            <a:endParaRPr sz="1650" b="0">
              <a:solidFill>
                <a:srgbClr val="CF8792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1492630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AGLE_0">
            <a:extLst>
              <a:ext uri="{FF2B5EF4-FFF2-40B4-BE49-F238E27FC236}">
                <a16:creationId xmlns:a16="http://schemas.microsoft.com/office/drawing/2014/main" id="{3F380ADE-E8BD-4361-83D4-34B395C514E3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lvl="0"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lang="zh-TW" altLang="en-US" sz="5250" b="1">
                <a:solidFill>
                  <a:srgbClr val="47171C"/>
                </a:solidFill>
                <a:latin typeface="Source Han Serif TW"/>
                <a:ea typeface="Source Han Serif TW"/>
              </a:rPr>
              <a:t>按一下以編輯母片文字樣式</a:t>
            </a:r>
          </a:p>
        </p:txBody>
      </p:sp>
      <p:sp>
        <p:nvSpPr>
          <p:cNvPr id="3" name="EAGLE_1">
            <a:extLst>
              <a:ext uri="{FF2B5EF4-FFF2-40B4-BE49-F238E27FC236}">
                <a16:creationId xmlns:a16="http://schemas.microsoft.com/office/drawing/2014/main" id="{198BEF13-EEB7-4982-8834-382B045AD4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lvl="0"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lang="zh-TW" altLang="en-US" sz="2175" b="0">
                <a:solidFill>
                  <a:srgbClr val="423C3B"/>
                </a:solidFill>
                <a:latin typeface="Source Han Serif TW"/>
                <a:ea typeface="Source Han Serif TW"/>
              </a:rPr>
              <a:t>按一下以編輯母片文字樣式</a:t>
            </a:r>
          </a:p>
        </p:txBody>
      </p:sp>
      <p:sp>
        <p:nvSpPr>
          <p:cNvPr id="4" name="EAGLE_2">
            <a:extLst>
              <a:ext uri="{FF2B5EF4-FFF2-40B4-BE49-F238E27FC236}">
                <a16:creationId xmlns:a16="http://schemas.microsoft.com/office/drawing/2014/main" id="{72D86C95-69D7-4516-97E8-EFF008A8DEC4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1428750" y="2619375"/>
            <a:ext cx="13068300" cy="4905375"/>
          </a:xfrm>
        </p:spPr>
        <p:txBody>
          <a:bodyPr anchor="t">
            <a:noAutofit/>
          </a:bodyPr>
          <a:lstStyle/>
          <a:p>
            <a:pPr lvl="0"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lang="zh-TW" altLang="en-US" sz="2100" b="0">
                <a:solidFill>
                  <a:srgbClr val="423C3B"/>
                </a:solidFill>
                <a:latin typeface="Source Han Serif TW"/>
                <a:ea typeface="Source Han Serif TW"/>
              </a:rPr>
              <a:t>按一下以編輯母片文字樣式</a:t>
            </a:r>
          </a:p>
        </p:txBody>
      </p:sp>
      <p:sp>
        <p:nvSpPr>
          <p:cNvPr id="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04A177D9-44BB-4EE7-B2EE-483B651A8234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‹#›</a:t>
            </a:fld>
            <a:endParaRPr sz="1650" b="0">
              <a:solidFill>
                <a:srgbClr val="CF8792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3780603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preserve="1">
  <p:cSld name="標題及圖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AGLE_0">
            <a:extLst>
              <a:ext uri="{FF2B5EF4-FFF2-40B4-BE49-F238E27FC236}">
                <a16:creationId xmlns:a16="http://schemas.microsoft.com/office/drawing/2014/main" id="{1A30452A-65F7-44A3-A2FA-1CF1F34140ED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lvl="0"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lang="zh-TW" altLang="en-US" sz="5250" b="1">
                <a:solidFill>
                  <a:srgbClr val="47171C"/>
                </a:solidFill>
                <a:latin typeface="Source Han Serif TW"/>
                <a:ea typeface="Source Han Serif TW"/>
              </a:rPr>
              <a:t>按一下以編輯母片文字樣式</a:t>
            </a:r>
          </a:p>
        </p:txBody>
      </p:sp>
      <p:sp>
        <p:nvSpPr>
          <p:cNvPr id="3" name="EAGLE_1">
            <a:extLst>
              <a:ext uri="{FF2B5EF4-FFF2-40B4-BE49-F238E27FC236}">
                <a16:creationId xmlns:a16="http://schemas.microsoft.com/office/drawing/2014/main" id="{C07D963E-74AF-48B2-8248-0768C947D0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lvl="0"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lang="zh-TW" altLang="en-US" sz="2175" b="0">
                <a:solidFill>
                  <a:srgbClr val="423C3B"/>
                </a:solidFill>
                <a:latin typeface="Source Han Serif TW"/>
                <a:ea typeface="Source Han Serif TW"/>
              </a:rPr>
              <a:t>按一下以編輯母片文字樣式</a:t>
            </a:r>
          </a:p>
        </p:txBody>
      </p:sp>
      <p:sp>
        <p:nvSpPr>
          <p:cNvPr id="4" name="EAGLE_2">
            <a:extLst>
              <a:ext uri="{FF2B5EF4-FFF2-40B4-BE49-F238E27FC236}">
                <a16:creationId xmlns:a16="http://schemas.microsoft.com/office/drawing/2014/main" id="{6394422A-37D3-4C97-96C5-AF5AE3C8DC4D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1428750" y="2619375"/>
            <a:ext cx="13068300" cy="4905375"/>
          </a:xfrm>
        </p:spPr>
        <p:txBody>
          <a:bodyPr anchor="t">
            <a:noAutofit/>
          </a:bodyPr>
          <a:lstStyle/>
          <a:p>
            <a:pPr lvl="0"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lang="zh-TW" altLang="en-US" sz="2100" b="0">
                <a:solidFill>
                  <a:srgbClr val="423C3B"/>
                </a:solidFill>
                <a:latin typeface="Source Han Serif TW"/>
                <a:ea typeface="Source Han Serif TW"/>
              </a:rPr>
              <a:t>按一下以編輯母片文字樣式</a:t>
            </a:r>
          </a:p>
        </p:txBody>
      </p:sp>
      <p:sp>
        <p:nvSpPr>
          <p:cNvPr id="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86AA3F53-A20A-43C4-B655-9BABD8BDE394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‹#›</a:t>
            </a:fld>
            <a:endParaRPr sz="1650" b="0">
              <a:solidFill>
                <a:srgbClr val="CF8792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20009714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僅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AGLE_0">
            <a:extLst>
              <a:ext uri="{FF2B5EF4-FFF2-40B4-BE49-F238E27FC236}">
                <a16:creationId xmlns:a16="http://schemas.microsoft.com/office/drawing/2014/main" id="{2F1A0662-494B-4627-BCEA-708F46AE5F74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lvl="0"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lang="zh-TW" altLang="en-US" sz="5250" b="1">
                <a:solidFill>
                  <a:srgbClr val="47171C"/>
                </a:solidFill>
                <a:latin typeface="Source Han Serif TW"/>
                <a:ea typeface="Source Han Serif TW"/>
              </a:rPr>
              <a:t>按一下以編輯母片文字樣式</a:t>
            </a:r>
          </a:p>
        </p:txBody>
      </p:sp>
      <p:sp>
        <p:nvSpPr>
          <p:cNvPr id="3" name="EAGLE_1">
            <a:extLst>
              <a:ext uri="{FF2B5EF4-FFF2-40B4-BE49-F238E27FC236}">
                <a16:creationId xmlns:a16="http://schemas.microsoft.com/office/drawing/2014/main" id="{5E4D67E8-1093-453A-AE8D-20B1DE405F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lvl="0"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lang="zh-TW" altLang="en-US" sz="2175" b="0">
                <a:solidFill>
                  <a:srgbClr val="423C3B"/>
                </a:solidFill>
                <a:latin typeface="Source Han Serif TW"/>
                <a:ea typeface="Source Han Serif TW"/>
              </a:rPr>
              <a:t>按一下以編輯母片文字樣式</a:t>
            </a:r>
          </a:p>
        </p:txBody>
      </p:sp>
      <p:sp>
        <p:nvSpPr>
          <p:cNvPr id="4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EFA42C01-117D-4BA1-BE6C-78A506A620BB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‹#›</a:t>
            </a:fld>
            <a:endParaRPr sz="1650" b="0">
              <a:solidFill>
                <a:srgbClr val="CF8792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26060067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28360F44-9DDB-4760-BE5D-FBB78FF4F621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‹#›</a:t>
            </a:fld>
            <a:endParaRPr sz="1650" b="0">
              <a:solidFill>
                <a:srgbClr val="CF8792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22443577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37228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EAGLE geometric full-slide background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0" y="0"/>
            <a:ext cx="15925800" cy="8963025"/>
          </a:xfrm>
          <a:prstGeom prst="rect">
            <a:avLst/>
          </a:prstGeom>
        </p:spPr>
      </p:pic>
      <p:sp>
        <p:nvSpPr>
          <p:cNvPr id="3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F71BC431-0EC4-43B1-8E1D-CB4D6212917A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‹#›</a:t>
            </a:fld>
            <a:endParaRPr sz="1650" b="0">
              <a:solidFill>
                <a:srgbClr val="CF8792"/>
              </a:solidFill>
              <a:latin typeface="Source Han Serif TW"/>
              <a:ea typeface="Source Han Serif TW"/>
              <a:cs typeface="Source Han Serif TW"/>
            </a:endParaRPr>
          </a:p>
        </p:txBody>
      </p:sp>
    </p:spTree>
    <p:extLst>
      <p:ext uri="{BB962C8B-B14F-4D97-AF65-F5344CB8AC3E}">
        <p14:creationId xmlns:p14="http://schemas.microsoft.com/office/powerpoint/2010/main" val="7210367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</p:sldLayoutIdLst>
  <p:txStyles>
    <p:titleStyle>
      <a:lvl1pPr algn="l" eaLnBrk="1" hangingPunct="1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Source Han Serif TW"/>
          <a:ea typeface="Source Han Serif TW"/>
          <a:cs typeface="Source Han Serif TW"/>
        </a:defRPr>
      </a:lvl1pPr>
    </p:titleStyle>
    <p:bodyStyle>
      <a:lvl1pPr marL="228600" indent="-228600" algn="l" eaLnBrk="1" hangingPunct="1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Source Han Serif TW"/>
          <a:ea typeface="Source Han Serif TW"/>
          <a:cs typeface="Source Han Serif TW"/>
        </a:defRPr>
      </a:lvl1pPr>
      <a:lvl2pPr marL="685800" indent="-228600" algn="l" eaLnBrk="1" hangingPunct="1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Source Han Serif TW"/>
          <a:ea typeface="Source Han Serif TW"/>
          <a:cs typeface="Source Han Serif TW"/>
        </a:defRPr>
      </a:lvl2pPr>
      <a:lvl3pPr marL="1143000" indent="-228600" algn="l" eaLnBrk="1" hangingPunct="1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Source Han Serif TW"/>
          <a:ea typeface="Source Han Serif TW"/>
          <a:cs typeface="Source Han Serif TW"/>
        </a:defRPr>
      </a:lvl3pPr>
      <a:lvl4pPr marL="1600200" indent="-228600" algn="l" eaLnBrk="1" hangingPunct="1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4pPr>
      <a:lvl5pPr marL="2057400" indent="-228600" algn="l" eaLnBrk="1" hangingPunct="1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5pPr>
      <a:lvl6pPr marL="2514600" indent="-228600" algn="l" eaLnBrk="1" hangingPunct="1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6pPr>
      <a:lvl7pPr marL="2971800" indent="-228600" algn="l" eaLnBrk="1" hangingPunct="1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7pPr>
      <a:lvl8pPr marL="3429000" indent="-228600" algn="l" eaLnBrk="1" hangingPunct="1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8pPr>
      <a:lvl9pPr marL="3886200" indent="-228600" algn="l" eaLnBrk="1" hangingPunct="1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9pPr>
    </p:bodyStyle>
    <p:otherStyle>
      <a:lvl1pPr marL="0" algn="l" eaLnBrk="1" hangingPunct="1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1pPr>
      <a:lvl2pPr marL="457200" algn="l" eaLnBrk="1" hangingPunct="1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2pPr>
      <a:lvl3pPr marL="914400" algn="l" eaLnBrk="1" hangingPunct="1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3pPr>
      <a:lvl4pPr marL="1371600" algn="l" eaLnBrk="1" hangingPunct="1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4pPr>
      <a:lvl5pPr marL="1828800" algn="l" eaLnBrk="1" hangingPunct="1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5pPr>
      <a:lvl6pPr marL="2286000" algn="l" eaLnBrk="1" hangingPunct="1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6pPr>
      <a:lvl7pPr marL="2743200" algn="l" eaLnBrk="1" hangingPunct="1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7pPr>
      <a:lvl8pPr marL="3200400" algn="l" eaLnBrk="1" hangingPunct="1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8pPr>
      <a:lvl9pPr marL="3657600" algn="l" eaLnBrk="1" hangingPunct="1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B4E4B8EA-50AE-4444-8F74-0B25FF4437A8}"/>
              </a:ext>
            </a:extLst>
          </p:cNvPr>
          <p:cNvSpPr>
            <a:spLocks noGrp="1"/>
          </p:cNvSpPr>
          <p:nvPr/>
        </p:nvSpPr>
        <p:spPr>
          <a:xfrm>
            <a:off x="1285875" y="619125"/>
            <a:ext cx="13354050" cy="857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0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EAGLE 初始族群比較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49EFB17-4FA1-4414-9526-419359AD2FF2}"/>
              </a:ext>
            </a:extLst>
          </p:cNvPr>
          <p:cNvSpPr>
            <a:spLocks noGrp="1"/>
          </p:cNvSpPr>
          <p:nvPr/>
        </p:nvSpPr>
        <p:spPr>
          <a:xfrm>
            <a:off x="1714500" y="2952750"/>
            <a:ext cx="124968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5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初始 policy 多樣性與 Java seed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9773CD3-76FF-4F08-96F3-737683E3955E}"/>
              </a:ext>
            </a:extLst>
          </p:cNvPr>
          <p:cNvSpPr>
            <a:spLocks noGrp="1"/>
          </p:cNvSpPr>
          <p:nvPr/>
        </p:nvSpPr>
        <p:spPr>
          <a:xfrm>
            <a:off x="1714500" y="4095750"/>
            <a:ext cx="12496800" cy="809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1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1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全 Worker Rush 與 Mixed 初始化方案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78B925C-8671-4C19-8AE6-EF9B39E008A8}"/>
              </a:ext>
            </a:extLst>
          </p:cNvPr>
          <p:cNvSpPr>
            <a:spLocks noGrp="1"/>
          </p:cNvSpPr>
          <p:nvPr/>
        </p:nvSpPr>
        <p:spPr>
          <a:xfrm>
            <a:off x="1714500" y="5334000"/>
            <a:ext cx="124968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7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20 代 × 族群 10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5BE7C82-1B47-4CAB-AB74-1E40B37E84F2}"/>
              </a:ext>
            </a:extLst>
          </p:cNvPr>
          <p:cNvSpPr>
            <a:spLocks noGrp="1"/>
          </p:cNvSpPr>
          <p:nvPr/>
        </p:nvSpPr>
        <p:spPr>
          <a:xfrm>
            <a:off x="1714500" y="6858000"/>
            <a:ext cx="12496800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2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Meeting 0917　2026.09.17</a:t>
            </a:r>
          </a:p>
        </p:txBody>
      </p:sp>
      <p:sp>
        <p:nvSpPr>
          <p:cNvPr id="9000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CB959129-20D6-4B09-8419-372805478F42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1295067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矩形 26">
            <a:extLst>
              <a:ext uri="{FF2B5EF4-FFF2-40B4-BE49-F238E27FC236}">
                <a16:creationId xmlns:a16="http://schemas.microsoft.com/office/drawing/2014/main" id="{6477AD89-1EF7-4A39-A9E4-32064320DF52}"/>
              </a:ext>
            </a:extLst>
          </p:cNvPr>
          <p:cNvSpPr>
            <a:spLocks noGrp="1"/>
          </p:cNvSpPr>
          <p:nvPr/>
        </p:nvSpPr>
        <p:spPr>
          <a:xfrm>
            <a:off x="1285875" y="619125"/>
            <a:ext cx="13354050" cy="857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0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EAGLE 基本演算法架構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9BAE294-B638-4264-8E45-5B147169857B}"/>
              </a:ext>
            </a:extLst>
          </p:cNvPr>
          <p:cNvSpPr>
            <a:spLocks noGrp="1"/>
          </p:cNvSpPr>
          <p:nvPr/>
        </p:nvSpPr>
        <p:spPr>
          <a:xfrm>
            <a:off x="1428750" y="1619250"/>
            <a:ext cx="13068300" cy="5429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離線演化 Java agent；MicroRTS 對戰期間不呼叫 LLM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D0CF5BF6-A8B1-469A-9F28-836F252BA4FD}"/>
              </a:ext>
            </a:extLst>
          </p:cNvPr>
          <p:cNvSpPr>
            <a:spLocks noGrp="1"/>
          </p:cNvSpPr>
          <p:nvPr/>
        </p:nvSpPr>
        <p:spPr>
          <a:xfrm>
            <a:off x="1143000" y="2667000"/>
            <a:ext cx="4114800" cy="2190750"/>
          </a:xfrm>
          <a:prstGeom prst="roundRect">
            <a:avLst>
              <a:gd name="adj" fmla="val 7826"/>
            </a:avLst>
          </a:prstGeom>
          <a:solidFill>
            <a:srgbClr val="FCF8F5"/>
          </a:solidFill>
          <a:ln w="19050">
            <a:solidFill>
              <a:srgbClr val="DEB4BA"/>
            </a:solidFill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B0C0FC9-DF55-423F-BE84-BDCAFB6433D5}"/>
              </a:ext>
            </a:extLst>
          </p:cNvPr>
          <p:cNvSpPr>
            <a:spLocks noGrp="1"/>
          </p:cNvSpPr>
          <p:nvPr/>
        </p:nvSpPr>
        <p:spPr>
          <a:xfrm>
            <a:off x="1352550" y="2781300"/>
            <a:ext cx="3695700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G0 初始族群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F477CA2-BF6E-4102-9264-582BF044EADE}"/>
              </a:ext>
            </a:extLst>
          </p:cNvPr>
          <p:cNvSpPr>
            <a:spLocks noGrp="1"/>
          </p:cNvSpPr>
          <p:nvPr/>
        </p:nvSpPr>
        <p:spPr>
          <a:xfrm>
            <a:off x="1428750" y="3543300"/>
            <a:ext cx="3543300" cy="1162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依初始化方案建立</a:t>
            </a:r>
          </a:p>
          <a:p>
            <a:pPr algn="l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10 個 candidates</a:t>
            </a:r>
          </a:p>
          <a:p>
            <a:pPr algn="l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完成初次評估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EAEB7400-9C99-4FEE-B3EB-9517F9B1CE7B}"/>
              </a:ext>
            </a:extLst>
          </p:cNvPr>
          <p:cNvSpPr>
            <a:spLocks noGrp="1"/>
          </p:cNvSpPr>
          <p:nvPr/>
        </p:nvSpPr>
        <p:spPr>
          <a:xfrm>
            <a:off x="5905500" y="2667000"/>
            <a:ext cx="4114800" cy="2190750"/>
          </a:xfrm>
          <a:prstGeom prst="roundRect">
            <a:avLst>
              <a:gd name="adj" fmla="val 7826"/>
            </a:avLst>
          </a:prstGeom>
          <a:solidFill>
            <a:srgbClr val="FCF8F5"/>
          </a:solidFill>
          <a:ln w="19050">
            <a:solidFill>
              <a:srgbClr val="DEB4BA"/>
            </a:solidFill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BA571EB-FCDC-45FD-A9D9-0BE87319A50D}"/>
              </a:ext>
            </a:extLst>
          </p:cNvPr>
          <p:cNvSpPr>
            <a:spLocks noGrp="1"/>
          </p:cNvSpPr>
          <p:nvPr/>
        </p:nvSpPr>
        <p:spPr>
          <a:xfrm>
            <a:off x="6115050" y="2781300"/>
            <a:ext cx="3695700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① 子代規劃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4D43972-C15D-46DE-B53E-BCFA3B28F25B}"/>
              </a:ext>
            </a:extLst>
          </p:cNvPr>
          <p:cNvSpPr>
            <a:spLocks noGrp="1"/>
          </p:cNvSpPr>
          <p:nvPr/>
        </p:nvSpPr>
        <p:spPr>
          <a:xfrm>
            <a:off x="6191250" y="3543300"/>
            <a:ext cx="3543300" cy="1162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Lexicase 選父代</a:t>
            </a:r>
          </a:p>
          <a:p>
            <a:pPr algn="l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三個 gene 獨立交叉</a:t>
            </a:r>
          </a:p>
          <a:p>
            <a:pPr algn="l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分配反思操作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F04C6D8B-89A8-4D10-BAAF-D27278C8C97C}"/>
              </a:ext>
            </a:extLst>
          </p:cNvPr>
          <p:cNvSpPr>
            <a:spLocks noGrp="1"/>
          </p:cNvSpPr>
          <p:nvPr/>
        </p:nvSpPr>
        <p:spPr>
          <a:xfrm>
            <a:off x="10668000" y="2667000"/>
            <a:ext cx="4114800" cy="2190750"/>
          </a:xfrm>
          <a:prstGeom prst="roundRect">
            <a:avLst>
              <a:gd name="adj" fmla="val 7826"/>
            </a:avLst>
          </a:prstGeom>
          <a:solidFill>
            <a:srgbClr val="FCF8F5"/>
          </a:solidFill>
          <a:ln w="19050">
            <a:solidFill>
              <a:srgbClr val="DEB4BA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CAFB58B-4D3A-43EA-A6EC-30FC5090F59E}"/>
              </a:ext>
            </a:extLst>
          </p:cNvPr>
          <p:cNvSpPr>
            <a:spLocks noGrp="1"/>
          </p:cNvSpPr>
          <p:nvPr/>
        </p:nvSpPr>
        <p:spPr>
          <a:xfrm>
            <a:off x="10877550" y="2781300"/>
            <a:ext cx="3695700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② 反思與改寫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FEDDDFB-3C7E-405A-B79E-47A50B361FBD}"/>
              </a:ext>
            </a:extLst>
          </p:cNvPr>
          <p:cNvSpPr>
            <a:spLocks noGrp="1"/>
          </p:cNvSpPr>
          <p:nvPr/>
        </p:nvSpPr>
        <p:spPr>
          <a:xfrm>
            <a:off x="10953750" y="3543300"/>
            <a:ext cx="3543300" cy="1162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Strategy / Prompt 改寫</a:t>
            </a:r>
          </a:p>
          <a:p>
            <a:pPr algn="l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Code 完成診斷</a:t>
            </a:r>
          </a:p>
          <a:p>
            <a:pPr algn="l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Java revision 延後</a:t>
            </a:r>
          </a:p>
        </p:txBody>
      </p:sp>
      <p:sp>
        <p:nvSpPr>
          <p:cNvPr id="12" name="箭號: 向右 11">
            <a:extLst>
              <a:ext uri="{FF2B5EF4-FFF2-40B4-BE49-F238E27FC236}">
                <a16:creationId xmlns:a16="http://schemas.microsoft.com/office/drawing/2014/main" id="{CD9AF15E-95D7-45AB-A648-D08B93AB73E9}"/>
              </a:ext>
            </a:extLst>
          </p:cNvPr>
          <p:cNvSpPr>
            <a:spLocks noGrp="1"/>
          </p:cNvSpPr>
          <p:nvPr/>
        </p:nvSpPr>
        <p:spPr>
          <a:xfrm>
            <a:off x="5381625" y="3638550"/>
            <a:ext cx="428625" cy="228600"/>
          </a:xfrm>
          <a:prstGeom prst="rightArrow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13" name="箭號: 向右 12">
            <a:extLst>
              <a:ext uri="{FF2B5EF4-FFF2-40B4-BE49-F238E27FC236}">
                <a16:creationId xmlns:a16="http://schemas.microsoft.com/office/drawing/2014/main" id="{4E2977BA-81C8-4BC1-AD17-3D1E4687D883}"/>
              </a:ext>
            </a:extLst>
          </p:cNvPr>
          <p:cNvSpPr>
            <a:spLocks noGrp="1"/>
          </p:cNvSpPr>
          <p:nvPr/>
        </p:nvSpPr>
        <p:spPr>
          <a:xfrm>
            <a:off x="10144125" y="3638550"/>
            <a:ext cx="428625" cy="228600"/>
          </a:xfrm>
          <a:prstGeom prst="rightArrow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14" name="箭號: 向下 13">
            <a:extLst>
              <a:ext uri="{FF2B5EF4-FFF2-40B4-BE49-F238E27FC236}">
                <a16:creationId xmlns:a16="http://schemas.microsoft.com/office/drawing/2014/main" id="{457706B4-E085-4919-B711-E1ED9D2DDAEE}"/>
              </a:ext>
            </a:extLst>
          </p:cNvPr>
          <p:cNvSpPr>
            <a:spLocks noGrp="1"/>
          </p:cNvSpPr>
          <p:nvPr/>
        </p:nvSpPr>
        <p:spPr>
          <a:xfrm>
            <a:off x="12611100" y="4953000"/>
            <a:ext cx="228600" cy="266700"/>
          </a:xfrm>
          <a:prstGeom prst="downArrow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7880850B-3B1A-4B75-A7F6-837953D9361C}"/>
              </a:ext>
            </a:extLst>
          </p:cNvPr>
          <p:cNvSpPr>
            <a:spLocks noGrp="1"/>
          </p:cNvSpPr>
          <p:nvPr/>
        </p:nvSpPr>
        <p:spPr>
          <a:xfrm>
            <a:off x="1143000" y="5381625"/>
            <a:ext cx="4114800" cy="2190750"/>
          </a:xfrm>
          <a:prstGeom prst="roundRect">
            <a:avLst>
              <a:gd name="adj" fmla="val 7826"/>
            </a:avLst>
          </a:prstGeom>
          <a:solidFill>
            <a:srgbClr val="FCF8F5"/>
          </a:solidFill>
          <a:ln w="19050">
            <a:solidFill>
              <a:srgbClr val="DEB4BA"/>
            </a:solidFill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974C945-1790-4986-90D7-48CB6AC31299}"/>
              </a:ext>
            </a:extLst>
          </p:cNvPr>
          <p:cNvSpPr>
            <a:spLocks noGrp="1"/>
          </p:cNvSpPr>
          <p:nvPr/>
        </p:nvSpPr>
        <p:spPr>
          <a:xfrm>
            <a:off x="1352550" y="5495925"/>
            <a:ext cx="3695700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⑤ 生存者選擇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CC73A74-E625-46F6-8324-EEBB58416CBA}"/>
              </a:ext>
            </a:extLst>
          </p:cNvPr>
          <p:cNvSpPr>
            <a:spLocks noGrp="1"/>
          </p:cNvSpPr>
          <p:nvPr/>
        </p:nvSpPr>
        <p:spPr>
          <a:xfrm>
            <a:off x="1428750" y="6257925"/>
            <a:ext cx="3543300" cy="1162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父代 10 ＋ 子代 10</a:t>
            </a:r>
          </a:p>
          <a:p>
            <a:pPr algn="l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無放回 Lexicase</a:t>
            </a:r>
          </a:p>
          <a:p>
            <a:pPr algn="l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保留 10 個 survivors</a:t>
            </a:r>
          </a:p>
        </p:txBody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AB792BCD-AF7D-4513-8754-BCFD431C49E8}"/>
              </a:ext>
            </a:extLst>
          </p:cNvPr>
          <p:cNvSpPr>
            <a:spLocks noGrp="1"/>
          </p:cNvSpPr>
          <p:nvPr/>
        </p:nvSpPr>
        <p:spPr>
          <a:xfrm>
            <a:off x="5905500" y="5381625"/>
            <a:ext cx="4114800" cy="2190750"/>
          </a:xfrm>
          <a:prstGeom prst="roundRect">
            <a:avLst>
              <a:gd name="adj" fmla="val 7826"/>
            </a:avLst>
          </a:prstGeom>
          <a:solidFill>
            <a:srgbClr val="FCF8F5"/>
          </a:solidFill>
          <a:ln w="19050">
            <a:solidFill>
              <a:srgbClr val="DEB4BA"/>
            </a:solidFill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9BA256B-6C74-49A4-BE39-0D6993C886A3}"/>
              </a:ext>
            </a:extLst>
          </p:cNvPr>
          <p:cNvSpPr>
            <a:spLocks noGrp="1"/>
          </p:cNvSpPr>
          <p:nvPr/>
        </p:nvSpPr>
        <p:spPr>
          <a:xfrm>
            <a:off x="6115050" y="5495925"/>
            <a:ext cx="3695700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④ 驗證與評估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87FAE2D-A068-423B-A651-2141F15CCC22}"/>
              </a:ext>
            </a:extLst>
          </p:cNvPr>
          <p:cNvSpPr>
            <a:spLocks noGrp="1"/>
          </p:cNvSpPr>
          <p:nvPr/>
        </p:nvSpPr>
        <p:spPr>
          <a:xfrm>
            <a:off x="6191250" y="6257925"/>
            <a:ext cx="3543300" cy="1162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驗證、編譯、整合檢查</a:t>
            </a:r>
          </a:p>
          <a:p>
            <a:pPr algn="l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 candidate 180 場</a:t>
            </a:r>
          </a:p>
          <a:p>
            <a:pPr algn="l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形成 10 個對手 cases</a:t>
            </a:r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A63901D7-BCBF-4D74-BCB8-D75465DA1434}"/>
              </a:ext>
            </a:extLst>
          </p:cNvPr>
          <p:cNvSpPr>
            <a:spLocks noGrp="1"/>
          </p:cNvSpPr>
          <p:nvPr/>
        </p:nvSpPr>
        <p:spPr>
          <a:xfrm>
            <a:off x="10668000" y="5381625"/>
            <a:ext cx="4114800" cy="2190750"/>
          </a:xfrm>
          <a:prstGeom prst="roundRect">
            <a:avLst>
              <a:gd name="adj" fmla="val 7826"/>
            </a:avLst>
          </a:prstGeom>
          <a:solidFill>
            <a:srgbClr val="FCF8F5"/>
          </a:solidFill>
          <a:ln w="19050">
            <a:solidFill>
              <a:srgbClr val="DEB4BA"/>
            </a:solidFill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DC7E083A-CCA9-4320-BFA0-A9E475F5B398}"/>
              </a:ext>
            </a:extLst>
          </p:cNvPr>
          <p:cNvSpPr>
            <a:spLocks noGrp="1"/>
          </p:cNvSpPr>
          <p:nvPr/>
        </p:nvSpPr>
        <p:spPr>
          <a:xfrm>
            <a:off x="10877550" y="5495925"/>
            <a:ext cx="3695700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③ 產生 Java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DF548BC-18BA-449C-A42A-AF635A25B22F}"/>
              </a:ext>
            </a:extLst>
          </p:cNvPr>
          <p:cNvSpPr>
            <a:spLocks noGrp="1"/>
          </p:cNvSpPr>
          <p:nvPr/>
        </p:nvSpPr>
        <p:spPr>
          <a:xfrm>
            <a:off x="10953750" y="6257925"/>
            <a:ext cx="3543300" cy="1162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Generator 重新解碼</a:t>
            </a:r>
          </a:p>
          <a:p>
            <a:pPr algn="l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或依診斷修改 Java</a:t>
            </a:r>
          </a:p>
          <a:p>
            <a:pPr algn="l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輸出完整 agent</a:t>
            </a:r>
          </a:p>
        </p:txBody>
      </p:sp>
      <p:sp>
        <p:nvSpPr>
          <p:cNvPr id="24" name="箭號: 向左 23">
            <a:extLst>
              <a:ext uri="{FF2B5EF4-FFF2-40B4-BE49-F238E27FC236}">
                <a16:creationId xmlns:a16="http://schemas.microsoft.com/office/drawing/2014/main" id="{922949E7-4CCC-465D-BA66-4DF19346C4BA}"/>
              </a:ext>
            </a:extLst>
          </p:cNvPr>
          <p:cNvSpPr>
            <a:spLocks noGrp="1"/>
          </p:cNvSpPr>
          <p:nvPr/>
        </p:nvSpPr>
        <p:spPr>
          <a:xfrm>
            <a:off x="5381625" y="6353175"/>
            <a:ext cx="428625" cy="228600"/>
          </a:xfrm>
          <a:prstGeom prst="leftArrow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25" name="箭號: 向左 24">
            <a:extLst>
              <a:ext uri="{FF2B5EF4-FFF2-40B4-BE49-F238E27FC236}">
                <a16:creationId xmlns:a16="http://schemas.microsoft.com/office/drawing/2014/main" id="{788E4AD4-91A6-4A05-86CA-A5BD9A69585D}"/>
              </a:ext>
            </a:extLst>
          </p:cNvPr>
          <p:cNvSpPr>
            <a:spLocks noGrp="1"/>
          </p:cNvSpPr>
          <p:nvPr/>
        </p:nvSpPr>
        <p:spPr>
          <a:xfrm>
            <a:off x="10144125" y="6353175"/>
            <a:ext cx="428625" cy="228600"/>
          </a:xfrm>
          <a:prstGeom prst="leftArrow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7862450-BBAA-4489-8FC6-E48CBA345A07}"/>
              </a:ext>
            </a:extLst>
          </p:cNvPr>
          <p:cNvSpPr>
            <a:spLocks noGrp="1"/>
          </p:cNvSpPr>
          <p:nvPr/>
        </p:nvSpPr>
        <p:spPr>
          <a:xfrm>
            <a:off x="1666875" y="7829550"/>
            <a:ext cx="1259205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G1 至 G20 重複步驟 ① 至 ⑤；上一代 survivors 成為下一代 parent pool</a:t>
            </a:r>
          </a:p>
        </p:txBody>
      </p:sp>
      <p:sp>
        <p:nvSpPr>
          <p:cNvPr id="9000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D8A57DCE-A665-45DE-9462-A8A7CE430E95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063544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C1721EA1-6BAB-49E0-B830-D08F0B71EBD3}"/>
              </a:ext>
            </a:extLst>
          </p:cNvPr>
          <p:cNvSpPr>
            <a:spLocks noGrp="1"/>
          </p:cNvSpPr>
          <p:nvPr/>
        </p:nvSpPr>
        <p:spPr>
          <a:xfrm>
            <a:off x="1285875" y="619125"/>
            <a:ext cx="13354050" cy="857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0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Genotype 與 Phenotype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9835418-9B5A-4F0F-88F4-94DB3C128B3A}"/>
              </a:ext>
            </a:extLst>
          </p:cNvPr>
          <p:cNvSpPr>
            <a:spLocks noGrp="1"/>
          </p:cNvSpPr>
          <p:nvPr/>
        </p:nvSpPr>
        <p:spPr>
          <a:xfrm>
            <a:off x="1428750" y="1619250"/>
            <a:ext cx="13068300" cy="5429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本次採 inherited_genotype，三個 component 可獨立來自不同父代</a:t>
            </a:r>
          </a:p>
        </p:txBody>
      </p:sp>
      <p:graphicFrame>
        <p:nvGraphicFramePr>
          <p:cNvPr id="10" name="表格 9"/>
          <p:cNvGraphicFramePr/>
          <p:nvPr/>
        </p:nvGraphicFramePr>
        <p:xfrm>
          <a:off x="1428750" y="2714625"/>
          <a:ext cx="13068300" cy="3381375"/>
        </p:xfrm>
        <a:graphic>
          <a:graphicData uri="http://schemas.openxmlformats.org/drawingml/2006/table">
            <a:tbl>
              <a:tblPr/>
              <a:tblGrid>
                <a:gridCol w="314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3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76275">
                <a:tc>
                  <a:txBody>
                    <a:bodyPr/>
                    <a:lstStyle/>
                    <a:p>
                      <a:pPr algn="l"/>
                      <a:r>
                        <a:rPr sz="23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層次</a:t>
                      </a:r>
                    </a:p>
                  </a:txBody>
                  <a:tcPr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內容</a:t>
                      </a:r>
                    </a:p>
                  </a:txBody>
                  <a:tcPr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作用</a:t>
                      </a:r>
                    </a:p>
                  </a:txBody>
                  <a:tcPr>
                    <a:solidFill>
                      <a:srgbClr val="DEB4B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6275">
                <a:tc>
                  <a:txBody>
                    <a:bodyPr/>
                    <a:lstStyle/>
                    <a:p>
                      <a:pPr algn="l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Policy gene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strategy_prompt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描述要採取的 RTS 策略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6275">
                <a:tc>
                  <a:txBody>
                    <a:bodyPr/>
                    <a:lstStyle/>
                    <a:p>
                      <a:pPr algn="l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Translation gene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generation_prompt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描述策略轉成 Java 的通用規則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6275">
                <a:tc>
                  <a:txBody>
                    <a:bodyPr/>
                    <a:lstStyle/>
                    <a:p>
                      <a:pPr algn="l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Java component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inherited_java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保存父代完整 Java，供解碼或 revision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6275">
                <a:tc>
                  <a:txBody>
                    <a:bodyPr/>
                    <a:lstStyle/>
                    <a:p>
                      <a:pPr algn="l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Phenotype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generated_java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實際通過驗證並執行對戰的程式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矩形 3">
            <a:extLst>
              <a:ext uri="{FF2B5EF4-FFF2-40B4-BE49-F238E27FC236}">
                <a16:creationId xmlns:a16="http://schemas.microsoft.com/office/drawing/2014/main" id="{8164A760-232E-4E5E-BD39-838F8F049707}"/>
              </a:ext>
            </a:extLst>
          </p:cNvPr>
          <p:cNvSpPr>
            <a:spLocks noGrp="1"/>
          </p:cNvSpPr>
          <p:nvPr/>
        </p:nvSpPr>
        <p:spPr>
          <a:xfrm>
            <a:off x="1714500" y="6477000"/>
            <a:ext cx="95250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Policy ＋ translation rules ＋ inherited Java</a:t>
            </a:r>
          </a:p>
        </p:txBody>
      </p:sp>
      <p:sp>
        <p:nvSpPr>
          <p:cNvPr id="5" name="箭號: 向右 4">
            <a:extLst>
              <a:ext uri="{FF2B5EF4-FFF2-40B4-BE49-F238E27FC236}">
                <a16:creationId xmlns:a16="http://schemas.microsoft.com/office/drawing/2014/main" id="{CF000A81-E7A3-49C5-AFA2-F172B806098E}"/>
              </a:ext>
            </a:extLst>
          </p:cNvPr>
          <p:cNvSpPr>
            <a:spLocks noGrp="1"/>
          </p:cNvSpPr>
          <p:nvPr/>
        </p:nvSpPr>
        <p:spPr>
          <a:xfrm>
            <a:off x="11239500" y="6667500"/>
            <a:ext cx="428625" cy="228600"/>
          </a:xfrm>
          <a:prstGeom prst="rightArrow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297E28D-887B-41FA-9FB2-55099D156471}"/>
              </a:ext>
            </a:extLst>
          </p:cNvPr>
          <p:cNvSpPr>
            <a:spLocks noGrp="1"/>
          </p:cNvSpPr>
          <p:nvPr/>
        </p:nvSpPr>
        <p:spPr>
          <a:xfrm>
            <a:off x="11811000" y="6438900"/>
            <a:ext cx="2667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6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新 Java agent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C2BCFD4-F82D-47F2-9CEE-6BD66A9373A6}"/>
              </a:ext>
            </a:extLst>
          </p:cNvPr>
          <p:cNvSpPr>
            <a:spLocks noGrp="1"/>
          </p:cNvSpPr>
          <p:nvPr/>
        </p:nvSpPr>
        <p:spPr>
          <a:xfrm>
            <a:off x="1666875" y="7829550"/>
            <a:ext cx="1259205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Prompt gene、生成前 Java input 與實際 phenotype 分開保存，才能追蹤變化來源</a:t>
            </a:r>
          </a:p>
        </p:txBody>
      </p:sp>
      <p:sp>
        <p:nvSpPr>
          <p:cNvPr id="9000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74881E98-00BA-4780-98B8-B72E90349818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13612782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697C1AA7-D682-4ED2-A7A7-4DAF07F451BC}"/>
              </a:ext>
            </a:extLst>
          </p:cNvPr>
          <p:cNvSpPr>
            <a:spLocks noGrp="1"/>
          </p:cNvSpPr>
          <p:nvPr/>
        </p:nvSpPr>
        <p:spPr>
          <a:xfrm>
            <a:off x="1285875" y="619125"/>
            <a:ext cx="13354050" cy="857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0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Opponent-wise Lexicase 選擇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B07A301-DC44-41A3-A608-1F0F4B5791EF}"/>
              </a:ext>
            </a:extLst>
          </p:cNvPr>
          <p:cNvSpPr>
            <a:spLocks noGrp="1"/>
          </p:cNvSpPr>
          <p:nvPr/>
        </p:nvSpPr>
        <p:spPr>
          <a:xfrm>
            <a:off x="1428750" y="1619250"/>
            <a:ext cx="13068300" cy="5429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依 10 個對手 cases 篩選，保留不同對手上的競爭能力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82C1094-2C2A-4180-B5F8-40C73A5206DF}"/>
              </a:ext>
            </a:extLst>
          </p:cNvPr>
          <p:cNvSpPr>
            <a:spLocks noGrp="1"/>
          </p:cNvSpPr>
          <p:nvPr/>
        </p:nvSpPr>
        <p:spPr>
          <a:xfrm>
            <a:off x="1571625" y="2619375"/>
            <a:ext cx="12782550" cy="9144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6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　每次選擇先打亂 10 個 opponent cases 的順序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8070702-D12C-4871-9F53-5F40847C199C}"/>
              </a:ext>
            </a:extLst>
          </p:cNvPr>
          <p:cNvSpPr>
            <a:spLocks noGrp="1"/>
          </p:cNvSpPr>
          <p:nvPr/>
        </p:nvSpPr>
        <p:spPr>
          <a:xfrm>
            <a:off x="1571625" y="3648075"/>
            <a:ext cx="12782550" cy="9144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6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　逐 case 只保留該 case 分數最佳的候選者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C90B150-9935-4FA3-907F-387B543F57F5}"/>
              </a:ext>
            </a:extLst>
          </p:cNvPr>
          <p:cNvSpPr>
            <a:spLocks noGrp="1"/>
          </p:cNvSpPr>
          <p:nvPr/>
        </p:nvSpPr>
        <p:spPr>
          <a:xfrm>
            <a:off x="1571625" y="4676775"/>
            <a:ext cx="12782550" cy="9144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6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3　剩下一個即選出；cases 用盡仍同分時隨機選出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CCCFAA1-AA15-468F-8CC5-AC6703F22B1C}"/>
              </a:ext>
            </a:extLst>
          </p:cNvPr>
          <p:cNvSpPr>
            <a:spLocks noGrp="1"/>
          </p:cNvSpPr>
          <p:nvPr/>
        </p:nvSpPr>
        <p:spPr>
          <a:xfrm>
            <a:off x="1571625" y="5705475"/>
            <a:ext cx="12782550" cy="9144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6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4　父代與子代合併後，以無放回選擇維持族群大小 10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36393FF-1078-4054-88EF-A57AFE445636}"/>
              </a:ext>
            </a:extLst>
          </p:cNvPr>
          <p:cNvSpPr>
            <a:spLocks noGrp="1"/>
          </p:cNvSpPr>
          <p:nvPr/>
        </p:nvSpPr>
        <p:spPr>
          <a:xfrm>
            <a:off x="1666875" y="7829550"/>
            <a:ext cx="1259205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Game Performance 是加權報告指標；Code Quality、Alignment 與 niche 只供診斷</a:t>
            </a:r>
          </a:p>
        </p:txBody>
      </p:sp>
      <p:sp>
        <p:nvSpPr>
          <p:cNvPr id="9000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29457673-E927-48A0-9EC4-4BDDB81917FB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21098300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98F70897-5D7B-4A2C-B1A4-50C8AEFCBE7F}"/>
              </a:ext>
            </a:extLst>
          </p:cNvPr>
          <p:cNvSpPr>
            <a:spLocks noGrp="1"/>
          </p:cNvSpPr>
          <p:nvPr/>
        </p:nvSpPr>
        <p:spPr>
          <a:xfrm>
            <a:off x="1285875" y="619125"/>
            <a:ext cx="13354050" cy="857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0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三種 Reflection 的修改範圍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FE1E32A-867A-4B53-BF32-B63E3232D115}"/>
              </a:ext>
            </a:extLst>
          </p:cNvPr>
          <p:cNvSpPr>
            <a:spLocks noGrp="1"/>
          </p:cNvSpPr>
          <p:nvPr/>
        </p:nvSpPr>
        <p:spPr>
          <a:xfrm>
            <a:off x="1428750" y="1619250"/>
            <a:ext cx="13068300" cy="5429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Static 機率：Strategy 0.33、Prompt 0.33、Code 0.34</a:t>
            </a:r>
          </a:p>
        </p:txBody>
      </p:sp>
      <p:graphicFrame>
        <p:nvGraphicFramePr>
          <p:cNvPr id="7" name="表格 6"/>
          <p:cNvGraphicFramePr/>
          <p:nvPr/>
        </p:nvGraphicFramePr>
        <p:xfrm>
          <a:off x="1428750" y="2714625"/>
          <a:ext cx="13068300" cy="4143375"/>
        </p:xfrm>
        <a:graphic>
          <a:graphicData uri="http://schemas.openxmlformats.org/drawingml/2006/table">
            <a:tbl>
              <a:tblPr/>
              <a:tblGrid>
                <a:gridCol w="2619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48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35844">
                <a:tc>
                  <a:txBody>
                    <a:bodyPr/>
                    <a:lstStyle/>
                    <a:p>
                      <a:pPr algn="l"/>
                      <a:r>
                        <a:rPr sz="2400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Operator</a:t>
                      </a:r>
                    </a:p>
                  </a:txBody>
                  <a:tcPr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讀取的主要證據</a:t>
                      </a:r>
                    </a:p>
                  </a:txBody>
                  <a:tcPr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實際修改</a:t>
                      </a:r>
                    </a:p>
                  </a:txBody>
                  <a:tcPr>
                    <a:solidFill>
                      <a:srgbClr val="DEB4B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35844">
                <a:tc>
                  <a:txBody>
                    <a:bodyPr/>
                    <a:lstStyle/>
                    <a:p>
                      <a:pPr algn="l"/>
                      <a:r>
                        <a:rPr sz="24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Strategy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對戰 traces 與表現摘要</a:t>
                      </a:r>
                    </a:p>
                    <a:p>
                      <a:pPr algn="ctr"/>
                      <a:r>
                        <a:rPr sz="24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Commentator 與 Coach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strategy_prompt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35844">
                <a:tc>
                  <a:txBody>
                    <a:bodyPr/>
                    <a:lstStyle/>
                    <a:p>
                      <a:pPr algn="l"/>
                      <a:r>
                        <a:rPr sz="24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Prompt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Policy、Java 與 API 規則</a:t>
                      </a:r>
                    </a:p>
                    <a:p>
                      <a:pPr algn="ctr"/>
                      <a:r>
                        <a:rPr sz="24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不讀取對戰結果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generation_prompt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35844">
                <a:tc>
                  <a:txBody>
                    <a:bodyPr/>
                    <a:lstStyle/>
                    <a:p>
                      <a:pPr algn="l"/>
                      <a:r>
                        <a:rPr sz="24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Code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Policy、父代 Java 與 contracts</a:t>
                      </a:r>
                    </a:p>
                    <a:p>
                      <a:pPr algn="ctr"/>
                      <a:r>
                        <a:rPr sz="24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先 diagnosis，再延後 revision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Java phenotype</a:t>
                      </a:r>
                    </a:p>
                    <a:p>
                      <a:pPr algn="ctr"/>
                      <a:r>
                        <a:rPr sz="24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兩個 prompt genes 不變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矩形 3">
            <a:extLst>
              <a:ext uri="{FF2B5EF4-FFF2-40B4-BE49-F238E27FC236}">
                <a16:creationId xmlns:a16="http://schemas.microsoft.com/office/drawing/2014/main" id="{7A1BA35E-325C-4F19-B624-0ADD75ED6474}"/>
              </a:ext>
            </a:extLst>
          </p:cNvPr>
          <p:cNvSpPr>
            <a:spLocks noGrp="1"/>
          </p:cNvSpPr>
          <p:nvPr/>
        </p:nvSpPr>
        <p:spPr>
          <a:xfrm>
            <a:off x="1666875" y="7829550"/>
            <a:ext cx="1259205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Operator assignment 只代表分配的操作；判斷成效仍需核對 applied 與 revision 結果</a:t>
            </a:r>
          </a:p>
        </p:txBody>
      </p:sp>
      <p:sp>
        <p:nvSpPr>
          <p:cNvPr id="9000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746C5F5B-FD82-4311-B44D-94996F655E70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5</a:t>
            </a:fld>
          </a:p>
        </p:txBody>
      </p:sp>
    </p:spTree>
    <p:extLst>
      <p:ext uri="{BB962C8B-B14F-4D97-AF65-F5344CB8AC3E}">
        <p14:creationId xmlns:p14="http://schemas.microsoft.com/office/powerpoint/2010/main" val="5136489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5871357B-D24E-4E42-9B9C-386B34BC79EA}"/>
              </a:ext>
            </a:extLst>
          </p:cNvPr>
          <p:cNvSpPr>
            <a:spLocks noGrp="1"/>
          </p:cNvSpPr>
          <p:nvPr/>
        </p:nvSpPr>
        <p:spPr>
          <a:xfrm>
            <a:off x="1285875" y="619125"/>
            <a:ext cx="13354050" cy="857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0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兩種完整初始化方案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231DB15-2CEC-48DD-B5D7-AC9D0F6B8A03}"/>
              </a:ext>
            </a:extLst>
          </p:cNvPr>
          <p:cNvSpPr>
            <a:spLocks noGrp="1"/>
          </p:cNvSpPr>
          <p:nvPr/>
        </p:nvSpPr>
        <p:spPr>
          <a:xfrm>
            <a:off x="1428750" y="1619250"/>
            <a:ext cx="13068300" cy="5429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Policy 組成、Java seed 與 G0 生成方式同時改變</a:t>
            </a:r>
          </a:p>
        </p:txBody>
      </p:sp>
      <p:graphicFrame>
        <p:nvGraphicFramePr>
          <p:cNvPr id="7" name="表格 6"/>
          <p:cNvGraphicFramePr/>
          <p:nvPr/>
        </p:nvGraphicFramePr>
        <p:xfrm>
          <a:off x="1428750" y="2714625"/>
          <a:ext cx="13068300" cy="3667125"/>
        </p:xfrm>
        <a:graphic>
          <a:graphicData uri="http://schemas.openxmlformats.org/drawingml/2006/table">
            <a:tbl>
              <a:tblPr/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7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43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3425">
                <a:tc>
                  <a:txBody>
                    <a:bodyPr/>
                    <a:lstStyle/>
                    <a:p>
                      <a:pPr algn="l"/>
                      <a:r>
                        <a:rPr sz="23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條件</a:t>
                      </a:r>
                    </a:p>
                  </a:txBody>
                  <a:tcPr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全 Worker Rush</a:t>
                      </a:r>
                    </a:p>
                  </a:txBody>
                  <a:tcPr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Mixed policies</a:t>
                      </a:r>
                    </a:p>
                  </a:txBody>
                  <a:tcPr>
                    <a:solidFill>
                      <a:srgbClr val="DEB4B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3425">
                <a:tc>
                  <a:txBody>
                    <a:bodyPr/>
                    <a:lstStyle/>
                    <a:p>
                      <a:pPr algn="l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Policy 組成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 個相同 Worker Rush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 個 Worker Rush ＋ 9 個 LLM policies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3425">
                <a:tc>
                  <a:txBody>
                    <a:bodyPr/>
                    <a:lstStyle/>
                    <a:p>
                      <a:pPr algn="l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Inherited Java seed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no-op Java seed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checked-in WorkerRush Java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3425">
                <a:tc>
                  <a:txBody>
                    <a:bodyPr/>
                    <a:lstStyle/>
                    <a:p>
                      <a:pPr algn="l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Generation 0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 次獨立 Java generation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共用固定 Java，不執行 Generator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3425">
                <a:tc>
                  <a:txBody>
                    <a:bodyPr/>
                    <a:lstStyle/>
                    <a:p>
                      <a:pPr algn="l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G0 策略與程式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由 Generator 嘗試實現 policy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不同 policy 暫時對應同一個 Java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矩形 3">
            <a:extLst>
              <a:ext uri="{FF2B5EF4-FFF2-40B4-BE49-F238E27FC236}">
                <a16:creationId xmlns:a16="http://schemas.microsoft.com/office/drawing/2014/main" id="{9D2084D2-183E-477E-A523-CB4345996347}"/>
              </a:ext>
            </a:extLst>
          </p:cNvPr>
          <p:cNvSpPr>
            <a:spLocks noGrp="1"/>
          </p:cNvSpPr>
          <p:nvPr/>
        </p:nvSpPr>
        <p:spPr>
          <a:xfrm>
            <a:off x="1666875" y="7829550"/>
            <a:ext cx="1259205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本次可比較整體初始化方案，尚無法分離 policy 多樣性的單獨效果</a:t>
            </a:r>
          </a:p>
        </p:txBody>
      </p:sp>
      <p:sp>
        <p:nvSpPr>
          <p:cNvPr id="9000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FBDAAFB8-6CF9-48F2-A005-845DDE7B1C7C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6</a:t>
            </a:fld>
          </a:p>
        </p:txBody>
      </p:sp>
    </p:spTree>
    <p:extLst>
      <p:ext uri="{BB962C8B-B14F-4D97-AF65-F5344CB8AC3E}">
        <p14:creationId xmlns:p14="http://schemas.microsoft.com/office/powerpoint/2010/main" val="2464944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ED032584-AAA0-4552-B681-FD17B831C8CD}"/>
              </a:ext>
            </a:extLst>
          </p:cNvPr>
          <p:cNvSpPr>
            <a:spLocks noGrp="1"/>
          </p:cNvSpPr>
          <p:nvPr/>
        </p:nvSpPr>
        <p:spPr>
          <a:xfrm>
            <a:off x="1285875" y="619125"/>
            <a:ext cx="13354050" cy="857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0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共同實驗設定與評估矩陣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2440986-A54C-43E5-BB6F-6E459DA3DD7B}"/>
              </a:ext>
            </a:extLst>
          </p:cNvPr>
          <p:cNvSpPr>
            <a:spLocks noGrp="1"/>
          </p:cNvSpPr>
          <p:nvPr/>
        </p:nvSpPr>
        <p:spPr>
          <a:xfrm>
            <a:off x="1428750" y="1619250"/>
            <a:ext cx="13068300" cy="5429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每條件 1 次 evolutionary run，EA random seed 皆為 7</a:t>
            </a:r>
          </a:p>
        </p:txBody>
      </p:sp>
      <p:graphicFrame>
        <p:nvGraphicFramePr>
          <p:cNvPr id="7" name="表格 6"/>
          <p:cNvGraphicFramePr/>
          <p:nvPr/>
        </p:nvGraphicFramePr>
        <p:xfrm>
          <a:off x="1428750" y="2714625"/>
          <a:ext cx="13068300" cy="4286250"/>
        </p:xfrm>
        <a:graphic>
          <a:graphicData uri="http://schemas.openxmlformats.org/drawingml/2006/table">
            <a:tbl>
              <a:tblPr/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20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12321">
                <a:tc>
                  <a:txBody>
                    <a:bodyPr/>
                    <a:lstStyle/>
                    <a:p>
                      <a:pPr algn="l"/>
                      <a:r>
                        <a:rPr sz="2250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項目</a:t>
                      </a:r>
                    </a:p>
                  </a:txBody>
                  <a:tcPr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50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設定</a:t>
                      </a:r>
                    </a:p>
                  </a:txBody>
                  <a:tcPr>
                    <a:solidFill>
                      <a:srgbClr val="DEB4B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321">
                <a:tc>
                  <a:txBody>
                    <a:bodyPr/>
                    <a:lstStyle/>
                    <a:p>
                      <a:pPr algn="l"/>
                      <a:r>
                        <a:rPr sz="22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搜尋規模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20 代，每代 10 offspring，survivors 10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321">
                <a:tc>
                  <a:txBody>
                    <a:bodyPr/>
                    <a:lstStyle/>
                    <a:p>
                      <a:pPr algn="l"/>
                      <a:r>
                        <a:rPr sz="22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模型與操作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Ministral 3 8B；crossover 0.75；mutation 1.0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321">
                <a:tc>
                  <a:txBody>
                    <a:bodyPr/>
                    <a:lstStyle/>
                    <a:p>
                      <a:pPr algn="l"/>
                      <a:r>
                        <a:rPr sz="22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Selection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Opponent-wise Lexicase；μ＋λ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321">
                <a:tc>
                  <a:txBody>
                    <a:bodyPr/>
                    <a:lstStyle/>
                    <a:p>
                      <a:pPr algn="l"/>
                      <a:r>
                        <a:rPr sz="22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搜尋評估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 opponents × 3 maps × 3 rounds × 2 sides ＝ 180 場／candidate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2321">
                <a:tc>
                  <a:txBody>
                    <a:bodyPr/>
                    <a:lstStyle/>
                    <a:p>
                      <a:pPr algn="l"/>
                      <a:r>
                        <a:rPr sz="22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Final test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最佳 agent 共 600 場；每 opponent 60 場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2321">
                <a:tc>
                  <a:txBody>
                    <a:bodyPr/>
                    <a:lstStyle/>
                    <a:p>
                      <a:pPr algn="l"/>
                      <a:r>
                        <a:rPr sz="22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地圖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8×8、16×16、24×24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矩形 3">
            <a:extLst>
              <a:ext uri="{FF2B5EF4-FFF2-40B4-BE49-F238E27FC236}">
                <a16:creationId xmlns:a16="http://schemas.microsoft.com/office/drawing/2014/main" id="{4DB1C57B-EB4F-4438-82B5-E1EA1FBB150B}"/>
              </a:ext>
            </a:extLst>
          </p:cNvPr>
          <p:cNvSpPr>
            <a:spLocks noGrp="1"/>
          </p:cNvSpPr>
          <p:nvPr/>
        </p:nvSpPr>
        <p:spPr>
          <a:xfrm>
            <a:off x="1666875" y="7829550"/>
            <a:ext cx="1259205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搜尋評估、最終族群診斷與最佳 agent 的 Final test 必須分開解讀</a:t>
            </a:r>
          </a:p>
        </p:txBody>
      </p:sp>
      <p:sp>
        <p:nvSpPr>
          <p:cNvPr id="9000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59E62D0A-7CE1-4B00-BDB8-091C6DDCA1CC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7</a:t>
            </a:fld>
          </a:p>
        </p:txBody>
      </p:sp>
    </p:spTree>
    <p:extLst>
      <p:ext uri="{BB962C8B-B14F-4D97-AF65-F5344CB8AC3E}">
        <p14:creationId xmlns:p14="http://schemas.microsoft.com/office/powerpoint/2010/main" val="13559970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BC5FB593-C735-458C-84BA-EE2D648E0575}"/>
              </a:ext>
            </a:extLst>
          </p:cNvPr>
          <p:cNvSpPr>
            <a:spLocks noGrp="1"/>
          </p:cNvSpPr>
          <p:nvPr/>
        </p:nvSpPr>
        <p:spPr>
          <a:xfrm>
            <a:off x="1285875" y="619125"/>
            <a:ext cx="13354050" cy="857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0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Mixed 方案取得較高的最終戰力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2A3224E-96E8-4CD2-BFB1-4B12E6356AA2}"/>
              </a:ext>
            </a:extLst>
          </p:cNvPr>
          <p:cNvSpPr>
            <a:spLocks noGrp="1"/>
          </p:cNvSpPr>
          <p:nvPr/>
        </p:nvSpPr>
        <p:spPr>
          <a:xfrm>
            <a:off x="1428750" y="1619250"/>
            <a:ext cx="13068300" cy="5429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Final test 每組 600 場，皆無執行錯誤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625F713-873A-49A9-9A8B-C617FA2A8A19}"/>
              </a:ext>
            </a:extLst>
          </p:cNvPr>
          <p:cNvSpPr>
            <a:spLocks noGrp="1"/>
          </p:cNvSpPr>
          <p:nvPr/>
        </p:nvSpPr>
        <p:spPr>
          <a:xfrm>
            <a:off x="2000250" y="2714625"/>
            <a:ext cx="5048250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全 Worker Rush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62AE987-4B3F-448E-8B74-60BEC59198BF}"/>
              </a:ext>
            </a:extLst>
          </p:cNvPr>
          <p:cNvSpPr>
            <a:spLocks noGrp="1"/>
          </p:cNvSpPr>
          <p:nvPr/>
        </p:nvSpPr>
        <p:spPr>
          <a:xfrm>
            <a:off x="8953500" y="2714625"/>
            <a:ext cx="5048250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Mixed policies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E91BDA5-063B-43FB-8856-0DB1778764D0}"/>
              </a:ext>
            </a:extLst>
          </p:cNvPr>
          <p:cNvSpPr>
            <a:spLocks noGrp="1"/>
          </p:cNvSpPr>
          <p:nvPr/>
        </p:nvSpPr>
        <p:spPr>
          <a:xfrm>
            <a:off x="2000250" y="3381375"/>
            <a:ext cx="50482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69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69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4.0%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DF7F74C-26ED-4358-B6EF-D1B9BF2457F1}"/>
              </a:ext>
            </a:extLst>
          </p:cNvPr>
          <p:cNvSpPr>
            <a:spLocks noGrp="1"/>
          </p:cNvSpPr>
          <p:nvPr/>
        </p:nvSpPr>
        <p:spPr>
          <a:xfrm>
            <a:off x="8953500" y="3381375"/>
            <a:ext cx="50482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69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69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42.7%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1CBD785-390F-4D43-AB6C-6BC98CF67953}"/>
              </a:ext>
            </a:extLst>
          </p:cNvPr>
          <p:cNvSpPr>
            <a:spLocks noGrp="1"/>
          </p:cNvSpPr>
          <p:nvPr/>
        </p:nvSpPr>
        <p:spPr>
          <a:xfrm>
            <a:off x="1714500" y="4714875"/>
            <a:ext cx="5619750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24 勝／141 和／435 敗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47D70CF-8016-4254-A9FE-175DFA3760DC}"/>
              </a:ext>
            </a:extLst>
          </p:cNvPr>
          <p:cNvSpPr>
            <a:spLocks noGrp="1"/>
          </p:cNvSpPr>
          <p:nvPr/>
        </p:nvSpPr>
        <p:spPr>
          <a:xfrm>
            <a:off x="8667750" y="4714875"/>
            <a:ext cx="5619750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256 勝／12 和／332 敗</a:t>
            </a:r>
          </a:p>
        </p:txBody>
      </p:sp>
      <p:graphicFrame>
        <p:nvGraphicFramePr>
          <p:cNvPr id="19" name="表格 18"/>
          <p:cNvGraphicFramePr/>
          <p:nvPr/>
        </p:nvGraphicFramePr>
        <p:xfrm>
          <a:off x="1428750" y="5715000"/>
          <a:ext cx="13068300" cy="1762125"/>
        </p:xfrm>
        <a:graphic>
          <a:graphicData uri="http://schemas.openxmlformats.org/drawingml/2006/table">
            <a:tbl>
              <a:tblPr/>
              <a:tblGrid>
                <a:gridCol w="4476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57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5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87375">
                <a:tc>
                  <a:txBody>
                    <a:bodyPr/>
                    <a:lstStyle/>
                    <a:p>
                      <a:pPr algn="l"/>
                      <a:r>
                        <a:rPr sz="217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最終族群 GP</a:t>
                      </a:r>
                    </a:p>
                  </a:txBody>
                  <a:tcPr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7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全 Worker Rush</a:t>
                      </a:r>
                    </a:p>
                  </a:txBody>
                  <a:tcPr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7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Mixed</a:t>
                      </a:r>
                    </a:p>
                  </a:txBody>
                  <a:tcPr>
                    <a:solidFill>
                      <a:srgbClr val="DEB4B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7375">
                <a:tc>
                  <a:txBody>
                    <a:bodyPr/>
                    <a:lstStyle/>
                    <a:p>
                      <a:pPr algn="l"/>
                      <a:r>
                        <a:rPr sz="21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最佳</a:t>
                      </a:r>
                    </a:p>
                  </a:txBody>
                  <a:tcPr>
                    <a:solidFill>
                      <a:srgbClr val="FAED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−87.78</a:t>
                      </a:r>
                    </a:p>
                  </a:txBody>
                  <a:tcPr>
                    <a:solidFill>
                      <a:srgbClr val="FAED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−50.51</a:t>
                      </a:r>
                    </a:p>
                  </a:txBody>
                  <a:tcPr>
                    <a:solidFill>
                      <a:srgbClr val="FAEDC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7375">
                <a:tc>
                  <a:txBody>
                    <a:bodyPr/>
                    <a:lstStyle/>
                    <a:p>
                      <a:pPr algn="l"/>
                      <a:r>
                        <a:rPr sz="21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平均／中位數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−88.89／−89.09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7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−65.35／−67.67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矩形 9">
            <a:extLst>
              <a:ext uri="{FF2B5EF4-FFF2-40B4-BE49-F238E27FC236}">
                <a16:creationId xmlns:a16="http://schemas.microsoft.com/office/drawing/2014/main" id="{BB01A6AA-B4BE-4A57-9996-D5E2AB0A1F45}"/>
              </a:ext>
            </a:extLst>
          </p:cNvPr>
          <p:cNvSpPr>
            <a:spLocks noGrp="1"/>
          </p:cNvSpPr>
          <p:nvPr/>
        </p:nvSpPr>
        <p:spPr>
          <a:xfrm>
            <a:off x="1666875" y="7829550"/>
            <a:ext cx="1259205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勝率增加 38.7 個百分點；搜尋時間由 15.21 小時增加至 16.72 小時（約 ＋9.9%）</a:t>
            </a:r>
          </a:p>
        </p:txBody>
      </p:sp>
      <p:sp>
        <p:nvSpPr>
          <p:cNvPr id="9000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86F72865-AAFC-41B5-A791-ADFC68487091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8</a:t>
            </a:fld>
          </a:p>
        </p:txBody>
      </p:sp>
    </p:spTree>
    <p:extLst>
      <p:ext uri="{BB962C8B-B14F-4D97-AF65-F5344CB8AC3E}">
        <p14:creationId xmlns:p14="http://schemas.microsoft.com/office/powerpoint/2010/main" val="12072031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A764304F-0740-4A98-A8F0-9CAA047F5A48}"/>
              </a:ext>
            </a:extLst>
          </p:cNvPr>
          <p:cNvSpPr>
            <a:spLocks noGrp="1"/>
          </p:cNvSpPr>
          <p:nvPr/>
        </p:nvSpPr>
        <p:spPr>
          <a:xfrm>
            <a:off x="1285875" y="619125"/>
            <a:ext cx="13354050" cy="857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0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兩組從相近的 G0 開始分化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6A11BDC-81EE-4BFA-8FEE-E7AA2DD091CF}"/>
              </a:ext>
            </a:extLst>
          </p:cNvPr>
          <p:cNvSpPr>
            <a:spLocks noGrp="1"/>
          </p:cNvSpPr>
          <p:nvPr/>
        </p:nvSpPr>
        <p:spPr>
          <a:xfrm>
            <a:off x="1428750" y="1619250"/>
            <a:ext cx="13068300" cy="5429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所列世代的 best GP；越高越好，並非 best-so-far</a:t>
            </a:r>
          </a:p>
        </p:txBody>
      </p:sp>
      <p:graphicFrame>
        <p:nvGraphicFramePr>
          <p:cNvPr id="9" name="Chart"/>
          <p:cNvGraphicFramePr/>
          <p:nvPr/>
        </p:nvGraphicFramePr>
        <p:xfrm>
          <a:off x="1428750" y="2619375"/>
          <a:ext cx="10572750" cy="4524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矩形 3">
            <a:extLst>
              <a:ext uri="{FF2B5EF4-FFF2-40B4-BE49-F238E27FC236}">
                <a16:creationId xmlns:a16="http://schemas.microsoft.com/office/drawing/2014/main" id="{C38FD946-0A59-475A-AB53-CA4465C08198}"/>
              </a:ext>
            </a:extLst>
          </p:cNvPr>
          <p:cNvSpPr>
            <a:spLocks noGrp="1"/>
          </p:cNvSpPr>
          <p:nvPr/>
        </p:nvSpPr>
        <p:spPr>
          <a:xfrm>
            <a:off x="12192000" y="3381375"/>
            <a:ext cx="2571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G12 主要突破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D3B91EE-5FD7-469B-8A9C-80BB845EB491}"/>
              </a:ext>
            </a:extLst>
          </p:cNvPr>
          <p:cNvSpPr>
            <a:spLocks noGrp="1"/>
          </p:cNvSpPr>
          <p:nvPr/>
        </p:nvSpPr>
        <p:spPr>
          <a:xfrm>
            <a:off x="12192000" y="4238625"/>
            <a:ext cx="2571750" cy="2476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Mixed</a:t>
            </a:r>
          </a:p>
          <a:p>
            <a:pPr algn="l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G11：−68.43</a:t>
            </a:r>
          </a:p>
          <a:p>
            <a:pPr algn="l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G12：−52.10</a:t>
            </a:r>
          </a:p>
          <a:p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algn="l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G18：−50.51</a:t>
            </a:r>
          </a:p>
          <a:p>
            <a:pPr algn="l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G20 維持同值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86C88FE-A261-47B7-8B72-80638F8FE19F}"/>
              </a:ext>
            </a:extLst>
          </p:cNvPr>
          <p:cNvSpPr>
            <a:spLocks noGrp="1"/>
          </p:cNvSpPr>
          <p:nvPr/>
        </p:nvSpPr>
        <p:spPr>
          <a:xfrm>
            <a:off x="1666875" y="7829550"/>
            <a:ext cx="1259205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折線只連接分析稿提供的世代觀測點；Lexicase 不保證 aggregate GP 單調上升</a:t>
            </a:r>
          </a:p>
        </p:txBody>
      </p:sp>
      <p:sp>
        <p:nvSpPr>
          <p:cNvPr id="9000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991B6F48-A1D1-4832-B678-CDB2DCB38827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16119953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7D4F5DC4-7925-4BD7-9031-13CF8CC392F5}"/>
              </a:ext>
            </a:extLst>
          </p:cNvPr>
          <p:cNvSpPr>
            <a:spLocks noGrp="1"/>
          </p:cNvSpPr>
          <p:nvPr/>
        </p:nvSpPr>
        <p:spPr>
          <a:xfrm>
            <a:off x="1285875" y="619125"/>
            <a:ext cx="13354050" cy="857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0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Final test 的對手別表現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2919FE6-F7F7-437C-A7CC-6ABFA12161C0}"/>
              </a:ext>
            </a:extLst>
          </p:cNvPr>
          <p:cNvSpPr>
            <a:spLocks noGrp="1"/>
          </p:cNvSpPr>
          <p:nvPr/>
        </p:nvSpPr>
        <p:spPr>
          <a:xfrm>
            <a:off x="1428750" y="1619250"/>
            <a:ext cx="13068300" cy="5429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 opponent 60 場；W / D / L 代表勝／和／敗</a:t>
            </a:r>
          </a:p>
        </p:txBody>
      </p:sp>
      <p:graphicFrame>
        <p:nvGraphicFramePr>
          <p:cNvPr id="7" name="表格 6"/>
          <p:cNvGraphicFramePr/>
          <p:nvPr/>
        </p:nvGraphicFramePr>
        <p:xfrm>
          <a:off x="1428750" y="2476500"/>
          <a:ext cx="13068300" cy="5143500"/>
        </p:xfrm>
        <a:graphic>
          <a:graphicData uri="http://schemas.openxmlformats.org/drawingml/2006/table">
            <a:tbl>
              <a:tblPr/>
              <a:tblGrid>
                <a:gridCol w="428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1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1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67591">
                <a:tc>
                  <a:txBody>
                    <a:bodyPr/>
                    <a:lstStyle/>
                    <a:p>
                      <a:pPr algn="l"/>
                      <a:r>
                        <a:rPr sz="20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Opponent</a:t>
                      </a:r>
                    </a:p>
                  </a:txBody>
                  <a:tcPr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全 Worker Rush</a:t>
                      </a:r>
                    </a:p>
                  </a:txBody>
                  <a:tcPr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Mixed policies</a:t>
                      </a:r>
                    </a:p>
                  </a:txBody>
                  <a:tcPr>
                    <a:solidFill>
                      <a:srgbClr val="DEB4B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7591">
                <a:tc>
                  <a:txBody>
                    <a:bodyPr/>
                    <a:lstStyle/>
                    <a:p>
                      <a:pPr algn="l"/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Passive</a:t>
                      </a:r>
                    </a:p>
                  </a:txBody>
                  <a:tcPr>
                    <a:solidFill>
                      <a:srgbClr val="FAED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 / 60 / 0</a:t>
                      </a:r>
                    </a:p>
                  </a:txBody>
                  <a:tcPr>
                    <a:solidFill>
                      <a:srgbClr val="FAED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60 / 0 / 0</a:t>
                      </a:r>
                    </a:p>
                  </a:txBody>
                  <a:tcPr>
                    <a:solidFill>
                      <a:srgbClr val="FAEDC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7591">
                <a:tc>
                  <a:txBody>
                    <a:bodyPr/>
                    <a:lstStyle/>
                    <a:p>
                      <a:pPr algn="l"/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Random</a:t>
                      </a:r>
                    </a:p>
                  </a:txBody>
                  <a:tcPr>
                    <a:solidFill>
                      <a:srgbClr val="FAED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22 / 38 / 0</a:t>
                      </a:r>
                    </a:p>
                  </a:txBody>
                  <a:tcPr>
                    <a:solidFill>
                      <a:srgbClr val="FAED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59 / 1 / 0</a:t>
                      </a:r>
                    </a:p>
                  </a:txBody>
                  <a:tcPr>
                    <a:solidFill>
                      <a:srgbClr val="FAEDC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7591">
                <a:tc>
                  <a:txBody>
                    <a:bodyPr/>
                    <a:lstStyle/>
                    <a:p>
                      <a:pPr algn="l"/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RandomBiased</a:t>
                      </a:r>
                    </a:p>
                  </a:txBody>
                  <a:tcPr>
                    <a:solidFill>
                      <a:srgbClr val="FAED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 / 43 / 15</a:t>
                      </a:r>
                    </a:p>
                  </a:txBody>
                  <a:tcPr>
                    <a:solidFill>
                      <a:srgbClr val="FAED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57 / 1 / 2</a:t>
                      </a:r>
                    </a:p>
                  </a:txBody>
                  <a:tcPr>
                    <a:solidFill>
                      <a:srgbClr val="FAEDC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7591">
                <a:tc>
                  <a:txBody>
                    <a:bodyPr/>
                    <a:lstStyle/>
                    <a:p>
                      <a:pPr algn="l"/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LightRush</a:t>
                      </a:r>
                    </a:p>
                  </a:txBody>
                  <a:tcPr>
                    <a:solidFill>
                      <a:srgbClr val="FAED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 / 0 / 60</a:t>
                      </a:r>
                    </a:p>
                  </a:txBody>
                  <a:tcPr>
                    <a:solidFill>
                      <a:srgbClr val="FAED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30 / 10 / 20</a:t>
                      </a:r>
                    </a:p>
                  </a:txBody>
                  <a:tcPr>
                    <a:solidFill>
                      <a:srgbClr val="FAEDC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7591">
                <a:tc>
                  <a:txBody>
                    <a:bodyPr/>
                    <a:lstStyle/>
                    <a:p>
                      <a:pPr algn="l"/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HeavyRush</a:t>
                      </a:r>
                    </a:p>
                  </a:txBody>
                  <a:tcPr>
                    <a:solidFill>
                      <a:srgbClr val="FAED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 / 0 / 60</a:t>
                      </a:r>
                    </a:p>
                  </a:txBody>
                  <a:tcPr>
                    <a:solidFill>
                      <a:srgbClr val="FAED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40 / 0 / 20</a:t>
                      </a:r>
                    </a:p>
                  </a:txBody>
                  <a:tcPr>
                    <a:solidFill>
                      <a:srgbClr val="FAEDC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7591">
                <a:tc>
                  <a:txBody>
                    <a:bodyPr/>
                    <a:lstStyle/>
                    <a:p>
                      <a:pPr algn="l"/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WorkerRush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 / 0 / 60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 / 0 / 60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67591">
                <a:tc>
                  <a:txBody>
                    <a:bodyPr/>
                    <a:lstStyle/>
                    <a:p>
                      <a:pPr algn="l"/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AllInBot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 / 0 / 60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 / 0 / 60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67591">
                <a:tc>
                  <a:txBody>
                    <a:bodyPr/>
                    <a:lstStyle/>
                    <a:p>
                      <a:pPr algn="l"/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Mayari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 / 0 / 60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 / 0 / 60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67591">
                <a:tc>
                  <a:txBody>
                    <a:bodyPr/>
                    <a:lstStyle/>
                    <a:p>
                      <a:pPr algn="l"/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COAC</a:t>
                      </a:r>
                    </a:p>
                  </a:txBody>
                  <a:tcPr>
                    <a:solidFill>
                      <a:srgbClr val="FAED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 / 0 / 60</a:t>
                      </a:r>
                    </a:p>
                  </a:txBody>
                  <a:tcPr>
                    <a:solidFill>
                      <a:srgbClr val="FAED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 / 0 / 50</a:t>
                      </a:r>
                    </a:p>
                  </a:txBody>
                  <a:tcPr>
                    <a:solidFill>
                      <a:srgbClr val="FAEDC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67591">
                <a:tc>
                  <a:txBody>
                    <a:bodyPr/>
                    <a:lstStyle/>
                    <a:p>
                      <a:pPr algn="l"/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TMA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 / 0 / 60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 / 0 / 60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4" name="矩形 3">
            <a:extLst>
              <a:ext uri="{FF2B5EF4-FFF2-40B4-BE49-F238E27FC236}">
                <a16:creationId xmlns:a16="http://schemas.microsoft.com/office/drawing/2014/main" id="{EE08FD66-462F-4D77-A121-BED6C81730E4}"/>
              </a:ext>
            </a:extLst>
          </p:cNvPr>
          <p:cNvSpPr>
            <a:spLocks noGrp="1"/>
          </p:cNvSpPr>
          <p:nvPr/>
        </p:nvSpPr>
        <p:spPr>
          <a:xfrm>
            <a:off x="1666875" y="7829550"/>
            <a:ext cx="1259205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Mixed 將基礎對手的和局轉為勝局；WorkerRush、AllInBot、Mayari 與 TMA 仍全敗</a:t>
            </a:r>
          </a:p>
        </p:txBody>
      </p:sp>
      <p:sp>
        <p:nvSpPr>
          <p:cNvPr id="9000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04560133-1FCF-4A34-B201-1D6E2BC9D72A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10</a:t>
            </a:fld>
          </a:p>
        </p:txBody>
      </p:sp>
    </p:spTree>
    <p:extLst>
      <p:ext uri="{BB962C8B-B14F-4D97-AF65-F5344CB8AC3E}">
        <p14:creationId xmlns:p14="http://schemas.microsoft.com/office/powerpoint/2010/main" val="11547752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99CCE00A-ABEF-45E5-8C5D-E87E0B641089}"/>
              </a:ext>
            </a:extLst>
          </p:cNvPr>
          <p:cNvSpPr>
            <a:spLocks noGrp="1"/>
          </p:cNvSpPr>
          <p:nvPr/>
        </p:nvSpPr>
        <p:spPr>
          <a:xfrm>
            <a:off x="1285875" y="619125"/>
            <a:ext cx="13354050" cy="857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0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Mixed 在較大地圖的勝率下降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A022105-51CD-4043-A825-0D792CE06633}"/>
              </a:ext>
            </a:extLst>
          </p:cNvPr>
          <p:cNvSpPr>
            <a:spLocks noGrp="1"/>
          </p:cNvSpPr>
          <p:nvPr/>
        </p:nvSpPr>
        <p:spPr>
          <a:xfrm>
            <a:off x="1428750" y="1619250"/>
            <a:ext cx="13068300" cy="5429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Final test 沿用既有地圖尺寸，不能據此宣稱 holdout 泛化</a:t>
            </a:r>
          </a:p>
        </p:txBody>
      </p:sp>
      <p:graphicFrame>
        <p:nvGraphicFramePr>
          <p:cNvPr id="12" name="Chart"/>
          <p:cNvGraphicFramePr/>
          <p:nvPr/>
        </p:nvGraphicFramePr>
        <p:xfrm>
          <a:off x="1619250" y="2762250"/>
          <a:ext cx="8096250" cy="4381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矩形 3">
            <a:extLst>
              <a:ext uri="{FF2B5EF4-FFF2-40B4-BE49-F238E27FC236}">
                <a16:creationId xmlns:a16="http://schemas.microsoft.com/office/drawing/2014/main" id="{A349E8F0-5F00-4E9E-9CAA-B281D6522707}"/>
              </a:ext>
            </a:extLst>
          </p:cNvPr>
          <p:cNvSpPr>
            <a:spLocks noGrp="1"/>
          </p:cNvSpPr>
          <p:nvPr/>
        </p:nvSpPr>
        <p:spPr>
          <a:xfrm>
            <a:off x="10382250" y="2781300"/>
            <a:ext cx="4048125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每張地圖 200 場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9D82291-E248-4335-8B9C-BB0143D8AAE8}"/>
              </a:ext>
            </a:extLst>
          </p:cNvPr>
          <p:cNvSpPr>
            <a:spLocks noGrp="1"/>
          </p:cNvSpPr>
          <p:nvPr/>
        </p:nvSpPr>
        <p:spPr>
          <a:xfrm>
            <a:off x="10382250" y="3619500"/>
            <a:ext cx="4143375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8×8　98 / 0 / 102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8B7F0F4-914D-44AE-B50F-B52453DC6167}"/>
              </a:ext>
            </a:extLst>
          </p:cNvPr>
          <p:cNvSpPr>
            <a:spLocks noGrp="1"/>
          </p:cNvSpPr>
          <p:nvPr/>
        </p:nvSpPr>
        <p:spPr>
          <a:xfrm>
            <a:off x="10382250" y="4305300"/>
            <a:ext cx="4143375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16×16　90 / 10 / 100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75954A1-45E7-4122-B721-98DA15FFA88C}"/>
              </a:ext>
            </a:extLst>
          </p:cNvPr>
          <p:cNvSpPr>
            <a:spLocks noGrp="1"/>
          </p:cNvSpPr>
          <p:nvPr/>
        </p:nvSpPr>
        <p:spPr>
          <a:xfrm>
            <a:off x="10382250" y="4991100"/>
            <a:ext cx="4143375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24×24　68 / 2 / 130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9147EB4-37F5-4A2F-A7FC-A9291A6564B5}"/>
              </a:ext>
            </a:extLst>
          </p:cNvPr>
          <p:cNvSpPr>
            <a:spLocks noGrp="1"/>
          </p:cNvSpPr>
          <p:nvPr/>
        </p:nvSpPr>
        <p:spPr>
          <a:xfrm>
            <a:off x="10382250" y="5953125"/>
            <a:ext cx="4143375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p0 與 p1 各 128 勝</a:t>
            </a:r>
          </a:p>
          <a:p>
            <a:pPr algn="l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整體勝數平衡，局部 matchup</a:t>
            </a:r>
          </a:p>
          <a:p>
            <a:pPr algn="l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仍可能依賴 player side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6A7BC48-3811-4421-A125-7CB9BAA77152}"/>
              </a:ext>
            </a:extLst>
          </p:cNvPr>
          <p:cNvSpPr>
            <a:spLocks noGrp="1"/>
          </p:cNvSpPr>
          <p:nvPr/>
        </p:nvSpPr>
        <p:spPr>
          <a:xfrm>
            <a:off x="1666875" y="7829550"/>
            <a:ext cx="1259205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長距離經濟、移動與進攻決策可能是瓶頸；目前尚未做機制隔離驗證</a:t>
            </a:r>
          </a:p>
        </p:txBody>
      </p:sp>
      <p:sp>
        <p:nvSpPr>
          <p:cNvPr id="9000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6188CEAD-C0C5-488A-8725-15004B1E614D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11</a:t>
            </a:fld>
          </a:p>
        </p:txBody>
      </p:sp>
    </p:spTree>
    <p:extLst>
      <p:ext uri="{BB962C8B-B14F-4D97-AF65-F5344CB8AC3E}">
        <p14:creationId xmlns:p14="http://schemas.microsoft.com/office/powerpoint/2010/main" val="5797529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74F65551-DA2A-49B2-AAB6-F4DC27700EE5}"/>
              </a:ext>
            </a:extLst>
          </p:cNvPr>
          <p:cNvSpPr>
            <a:spLocks noGrp="1"/>
          </p:cNvSpPr>
          <p:nvPr/>
        </p:nvSpPr>
        <p:spPr>
          <a:xfrm>
            <a:off x="1285875" y="619125"/>
            <a:ext cx="13354050" cy="857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0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突破候選者的實際變化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3CE172E-F9A3-404C-9844-85E1832F0E16}"/>
              </a:ext>
            </a:extLst>
          </p:cNvPr>
          <p:cNvSpPr>
            <a:spLocks noGrp="1"/>
          </p:cNvSpPr>
          <p:nvPr/>
        </p:nvSpPr>
        <p:spPr>
          <a:xfrm>
            <a:off x="1428750" y="1619250"/>
            <a:ext cx="13068300" cy="5429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依既有 candidate lineage 與 Java diff 分析記錄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79F0D54-B1C6-4459-A651-5DD1951D530D}"/>
              </a:ext>
            </a:extLst>
          </p:cNvPr>
          <p:cNvSpPr>
            <a:spLocks noGrp="1"/>
          </p:cNvSpPr>
          <p:nvPr/>
        </p:nvSpPr>
        <p:spPr>
          <a:xfrm>
            <a:off x="1571625" y="2762250"/>
            <a:ext cx="1278255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5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G12：Strategy mutation 被拒絕，candidate 仍達到 GP −52.10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1F31B8C-C5AD-4CD0-B318-CC9CDDA85DCD}"/>
              </a:ext>
            </a:extLst>
          </p:cNvPr>
          <p:cNvSpPr>
            <a:spLocks noGrp="1"/>
          </p:cNvSpPr>
          <p:nvPr/>
        </p:nvSpPr>
        <p:spPr>
          <a:xfrm>
            <a:off x="1571625" y="3829050"/>
            <a:ext cx="1278255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5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最終 Mixed 族群：10 個 survivors 中，僅 1 個成功套用 mutation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0305ED4-5DFD-428A-83BE-4A065F44137C}"/>
              </a:ext>
            </a:extLst>
          </p:cNvPr>
          <p:cNvSpPr>
            <a:spLocks noGrp="1"/>
          </p:cNvSpPr>
          <p:nvPr/>
        </p:nvSpPr>
        <p:spPr>
          <a:xfrm>
            <a:off x="1571625" y="4895850"/>
            <a:ext cx="1278255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5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最佳 candidate：標記 Code Reflection，三次 Java revision 均失敗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516C164-9D67-4151-8A01-73FD3B322C40}"/>
              </a:ext>
            </a:extLst>
          </p:cNvPr>
          <p:cNvSpPr>
            <a:spLocks noGrp="1"/>
          </p:cNvSpPr>
          <p:nvPr/>
        </p:nvSpPr>
        <p:spPr>
          <a:xfrm>
            <a:off x="1571625" y="5962650"/>
            <a:ext cx="1278255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5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最佳 Java 沿用父代內容，分析記錄僅發現結尾換行差異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7F79D54-65D9-4656-9EE5-10AC054CC11B}"/>
              </a:ext>
            </a:extLst>
          </p:cNvPr>
          <p:cNvSpPr>
            <a:spLocks noGrp="1"/>
          </p:cNvSpPr>
          <p:nvPr/>
        </p:nvSpPr>
        <p:spPr>
          <a:xfrm>
            <a:off x="1666875" y="7829550"/>
            <a:ext cx="1259205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Lineage 顯示重組與重新生成值得追蹤；仍需 ablation 才能估計各機制的因果貢獻</a:t>
            </a:r>
          </a:p>
        </p:txBody>
      </p:sp>
      <p:sp>
        <p:nvSpPr>
          <p:cNvPr id="9000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AEDC9163-986B-4B77-B510-9521CCBDF7E3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12</a:t>
            </a:fld>
          </a:p>
        </p:txBody>
      </p:sp>
    </p:spTree>
    <p:extLst>
      <p:ext uri="{BB962C8B-B14F-4D97-AF65-F5344CB8AC3E}">
        <p14:creationId xmlns:p14="http://schemas.microsoft.com/office/powerpoint/2010/main" val="17694838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0F8790A4-6829-4CFF-A004-2942E05D04B2}"/>
              </a:ext>
            </a:extLst>
          </p:cNvPr>
          <p:cNvSpPr>
            <a:spLocks noGrp="1"/>
          </p:cNvSpPr>
          <p:nvPr/>
        </p:nvSpPr>
        <p:spPr>
          <a:xfrm>
            <a:off x="1285875" y="619125"/>
            <a:ext cx="13354050" cy="857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0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Static reflection 的套用與收益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EBDD4E9-28DA-40B4-BB35-3E14BE0D2722}"/>
              </a:ext>
            </a:extLst>
          </p:cNvPr>
          <p:cNvSpPr>
            <a:spLocks noGrp="1"/>
          </p:cNvSpPr>
          <p:nvPr/>
        </p:nvSpPr>
        <p:spPr>
          <a:xfrm>
            <a:off x="1428750" y="1619250"/>
            <a:ext cx="13068300" cy="5429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Mixed run；ΔGP 以各 operator 的 evidence parent 為基準</a:t>
            </a:r>
          </a:p>
        </p:txBody>
      </p:sp>
      <p:graphicFrame>
        <p:nvGraphicFramePr>
          <p:cNvPr id="9" name="表格 8"/>
          <p:cNvGraphicFramePr/>
          <p:nvPr/>
        </p:nvGraphicFramePr>
        <p:xfrm>
          <a:off x="1428750" y="2714625"/>
          <a:ext cx="13068300" cy="2762250"/>
        </p:xfrm>
        <a:graphic>
          <a:graphicData uri="http://schemas.openxmlformats.org/drawingml/2006/table">
            <a:tbl>
              <a:tblPr/>
              <a:tblGrid>
                <a:gridCol w="3238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71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81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81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90563">
                <a:tc>
                  <a:txBody>
                    <a:bodyPr/>
                    <a:lstStyle/>
                    <a:p>
                      <a:pPr algn="l"/>
                      <a:r>
                        <a:rPr sz="23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Operator</a:t>
                      </a:r>
                    </a:p>
                  </a:txBody>
                  <a:tcPr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分配</a:t>
                      </a:r>
                    </a:p>
                  </a:txBody>
                  <a:tcPr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實際套用</a:t>
                      </a:r>
                    </a:p>
                  </a:txBody>
                  <a:tcPr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Candidate 失敗</a:t>
                      </a:r>
                    </a:p>
                  </a:txBody>
                  <a:tcPr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平均 ΔGP¹</a:t>
                      </a:r>
                    </a:p>
                  </a:txBody>
                  <a:tcPr>
                    <a:solidFill>
                      <a:srgbClr val="DEB4B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0563">
                <a:tc>
                  <a:txBody>
                    <a:bodyPr/>
                    <a:lstStyle/>
                    <a:p>
                      <a:pPr algn="l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Strategy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70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46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4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−9.87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0563">
                <a:tc>
                  <a:txBody>
                    <a:bodyPr/>
                    <a:lstStyle/>
                    <a:p>
                      <a:pPr algn="l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Prompt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72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40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7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−3.74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0563">
                <a:tc>
                  <a:txBody>
                    <a:bodyPr/>
                    <a:lstStyle/>
                    <a:p>
                      <a:pPr algn="l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Code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58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39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12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−5.59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矩形 3">
            <a:extLst>
              <a:ext uri="{FF2B5EF4-FFF2-40B4-BE49-F238E27FC236}">
                <a16:creationId xmlns:a16="http://schemas.microsoft.com/office/drawing/2014/main" id="{6F9C9FEF-FBA0-4FFD-BF26-35E8C8D92360}"/>
              </a:ext>
            </a:extLst>
          </p:cNvPr>
          <p:cNvSpPr>
            <a:spLocks noGrp="1"/>
          </p:cNvSpPr>
          <p:nvPr/>
        </p:nvSpPr>
        <p:spPr>
          <a:xfrm>
            <a:off x="1571625" y="6096000"/>
            <a:ext cx="12782550" cy="647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成功套用且可執行的 child，約四分之一優於 evidence parent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9D26E98-611A-43F4-AFF2-06C6EF9271CA}"/>
              </a:ext>
            </a:extLst>
          </p:cNvPr>
          <p:cNvSpPr>
            <a:spLocks noGrp="1"/>
          </p:cNvSpPr>
          <p:nvPr/>
        </p:nvSpPr>
        <p:spPr>
          <a:xfrm>
            <a:off x="1571625" y="6858000"/>
            <a:ext cx="12782550" cy="647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Strategy 相關 LLM 呼叫約 4.6 小時，無成功套用者留在最終族群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DBA3613-EBEB-485B-9205-B0D970EAF18B}"/>
              </a:ext>
            </a:extLst>
          </p:cNvPr>
          <p:cNvSpPr>
            <a:spLocks noGrp="1"/>
          </p:cNvSpPr>
          <p:nvPr/>
        </p:nvSpPr>
        <p:spPr>
          <a:xfrm>
            <a:off x="1666875" y="7829550"/>
            <a:ext cx="1259205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¹ 僅統計已套用且可執行者；child 可能含 crossover，ΔGP 並非純 mutation 效果</a:t>
            </a:r>
          </a:p>
        </p:txBody>
      </p:sp>
      <p:sp>
        <p:nvSpPr>
          <p:cNvPr id="9000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C54F9F52-B11E-4BDD-BA2C-6BB35AA1B6EE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13</a:t>
            </a:fld>
          </a:p>
        </p:txBody>
      </p:sp>
    </p:spTree>
    <p:extLst>
      <p:ext uri="{BB962C8B-B14F-4D97-AF65-F5344CB8AC3E}">
        <p14:creationId xmlns:p14="http://schemas.microsoft.com/office/powerpoint/2010/main" val="19586051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2FD7F107-5B1F-4712-8E68-F835EC45D7A1}"/>
              </a:ext>
            </a:extLst>
          </p:cNvPr>
          <p:cNvSpPr>
            <a:spLocks noGrp="1"/>
          </p:cNvSpPr>
          <p:nvPr/>
        </p:nvSpPr>
        <p:spPr>
          <a:xfrm>
            <a:off x="1285875" y="619125"/>
            <a:ext cx="13354050" cy="857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0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效能改善伴隨較多 pipeline 失敗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BE29767-5E8B-41CF-9E2C-87F51D92AF50}"/>
              </a:ext>
            </a:extLst>
          </p:cNvPr>
          <p:cNvSpPr>
            <a:spLocks noGrp="1"/>
          </p:cNvSpPr>
          <p:nvPr/>
        </p:nvSpPr>
        <p:spPr>
          <a:xfrm>
            <a:off x="1428750" y="1619250"/>
            <a:ext cx="13068300" cy="5429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Candidate 狀態與 Java generation 狀態的分母不同</a:t>
            </a:r>
          </a:p>
        </p:txBody>
      </p:sp>
      <p:graphicFrame>
        <p:nvGraphicFramePr>
          <p:cNvPr id="8" name="表格 7"/>
          <p:cNvGraphicFramePr/>
          <p:nvPr/>
        </p:nvGraphicFramePr>
        <p:xfrm>
          <a:off x="1428750" y="2714625"/>
          <a:ext cx="13068300" cy="4000500"/>
        </p:xfrm>
        <a:graphic>
          <a:graphicData uri="http://schemas.openxmlformats.org/drawingml/2006/table">
            <a:tbl>
              <a:tblPr/>
              <a:tblGrid>
                <a:gridCol w="533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67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67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2250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指標</a:t>
                      </a:r>
                    </a:p>
                  </a:txBody>
                  <a:tcPr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50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全 Worker Rush</a:t>
                      </a:r>
                    </a:p>
                  </a:txBody>
                  <a:tcPr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50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Mixed</a:t>
                      </a:r>
                    </a:p>
                  </a:txBody>
                  <a:tcPr>
                    <a:solidFill>
                      <a:srgbClr val="DEB4B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22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成功評估 candidate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207 / 210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187 / 210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22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Candidate failures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 / 210（1.4%）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23 / 210（11.0%）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22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Generation-stage 成功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209 / 210¹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183 / 200²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22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LLM requests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1,538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1,659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22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LLM 累積時間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9.61 小時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10.98 小時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22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搜尋時間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15.21 小時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16.72 小時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矩形 3">
            <a:extLst>
              <a:ext uri="{FF2B5EF4-FFF2-40B4-BE49-F238E27FC236}">
                <a16:creationId xmlns:a16="http://schemas.microsoft.com/office/drawing/2014/main" id="{F8674C67-B543-4ECE-AB74-9570F53F078B}"/>
              </a:ext>
            </a:extLst>
          </p:cNvPr>
          <p:cNvSpPr>
            <a:spLocks noGrp="1"/>
          </p:cNvSpPr>
          <p:nvPr/>
        </p:nvSpPr>
        <p:spPr>
          <a:xfrm>
            <a:off x="1524000" y="7000875"/>
            <a:ext cx="12877800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Mixed failures：Validation 7、Runtime 6、Generation 5、Compilation 5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BFBB33D-3C5F-4545-A70F-09D35BE99BDD}"/>
              </a:ext>
            </a:extLst>
          </p:cNvPr>
          <p:cNvSpPr>
            <a:spLocks noGrp="1"/>
          </p:cNvSpPr>
          <p:nvPr/>
        </p:nvSpPr>
        <p:spPr>
          <a:xfrm>
            <a:off x="1666875" y="7829550"/>
            <a:ext cx="1259205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¹ 含 G0 的 10 次生成　² Mixed G0 共用 Java，所以僅計 200 個 offspring</a:t>
            </a:r>
          </a:p>
        </p:txBody>
      </p:sp>
      <p:sp>
        <p:nvSpPr>
          <p:cNvPr id="9000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00ECF793-2382-4B79-A89D-9BB7C32BF123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14</a:t>
            </a:fld>
          </a:p>
        </p:txBody>
      </p:sp>
    </p:spTree>
    <p:extLst>
      <p:ext uri="{BB962C8B-B14F-4D97-AF65-F5344CB8AC3E}">
        <p14:creationId xmlns:p14="http://schemas.microsoft.com/office/powerpoint/2010/main" val="4220003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1B822B76-CFB4-4E3C-831F-FD762F9063AA}"/>
              </a:ext>
            </a:extLst>
          </p:cNvPr>
          <p:cNvSpPr>
            <a:spLocks noGrp="1"/>
          </p:cNvSpPr>
          <p:nvPr/>
        </p:nvSpPr>
        <p:spPr>
          <a:xfrm>
            <a:off x="1285875" y="619125"/>
            <a:ext cx="13354050" cy="857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0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高 Function Capability 仍可能含語義錯誤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43B146B-8E53-4558-96D9-D59E7551FFDA}"/>
              </a:ext>
            </a:extLst>
          </p:cNvPr>
          <p:cNvSpPr>
            <a:spLocks noGrp="1"/>
          </p:cNvSpPr>
          <p:nvPr/>
        </p:nvSpPr>
        <p:spPr>
          <a:xfrm>
            <a:off x="1428750" y="1619250"/>
            <a:ext cx="13068300" cy="5429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最佳 Mixed agent：GP −50.51，Function Capability 100/100</a:t>
            </a:r>
          </a:p>
        </p:txBody>
      </p:sp>
      <p:graphicFrame>
        <p:nvGraphicFramePr>
          <p:cNvPr id="8" name="表格 7"/>
          <p:cNvGraphicFramePr/>
          <p:nvPr/>
        </p:nvGraphicFramePr>
        <p:xfrm>
          <a:off x="1428750" y="2714625"/>
          <a:ext cx="13068300" cy="3095625"/>
        </p:xfrm>
        <a:graphic>
          <a:graphicData uri="http://schemas.openxmlformats.org/drawingml/2006/table">
            <a:tbl>
              <a:tblPr/>
              <a:tblGrid>
                <a:gridCol w="6572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9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73906">
                <a:tc>
                  <a:txBody>
                    <a:bodyPr/>
                    <a:lstStyle/>
                    <a:p>
                      <a:pPr algn="l"/>
                      <a:r>
                        <a:rPr sz="23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分析記錄中的程式問題</a:t>
                      </a:r>
                    </a:p>
                  </a:txBody>
                  <a:tcPr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可能影響</a:t>
                      </a:r>
                    </a:p>
                  </a:txBody>
                  <a:tcPr>
                    <a:solidFill>
                      <a:srgbClr val="DEB4B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906">
                <a:tc>
                  <a:txBody>
                    <a:bodyPr/>
                    <a:lstStyle/>
                    <a:p>
                      <a:pPr algn="l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以 enemy.getPlayer() &lt; 0 尋找敵人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選到 neutral / resource，敵方目標判定失效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3906">
                <a:tc>
                  <a:txBody>
                    <a:bodyPr/>
                    <a:lstStyle/>
                    <a:p>
                      <a:pPr algn="l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commandHarvest(worker, null, base)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null target 使 action helper 拒絕執行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3906">
                <a:tc>
                  <a:txBody>
                    <a:bodyPr/>
                    <a:lstStyle/>
                    <a:p>
                      <a:pPr algn="l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由 Base 呼叫 commandBuild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builder 類型不合法，建造行為不執行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矩形 3">
            <a:extLst>
              <a:ext uri="{FF2B5EF4-FFF2-40B4-BE49-F238E27FC236}">
                <a16:creationId xmlns:a16="http://schemas.microsoft.com/office/drawing/2014/main" id="{E5EA0766-4502-4A76-B11A-5D47397B4F18}"/>
              </a:ext>
            </a:extLst>
          </p:cNvPr>
          <p:cNvSpPr>
            <a:spLocks noGrp="1"/>
          </p:cNvSpPr>
          <p:nvPr/>
        </p:nvSpPr>
        <p:spPr>
          <a:xfrm>
            <a:off x="1571625" y="6334125"/>
            <a:ext cx="12782550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4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Strategy Alignment 4/10　　Code Quality 26.14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9079DB4-C1EA-4ED5-A995-9DB74232712E}"/>
              </a:ext>
            </a:extLst>
          </p:cNvPr>
          <p:cNvSpPr>
            <a:spLocks noGrp="1"/>
          </p:cNvSpPr>
          <p:nvPr/>
        </p:nvSpPr>
        <p:spPr>
          <a:xfrm>
            <a:off x="1666875" y="7829550"/>
            <a:ext cx="1259205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結構、API 與編譯檢查不足以保證策略語義；尚不能把特定敗局全部歸因於上述錯誤</a:t>
            </a:r>
          </a:p>
        </p:txBody>
      </p:sp>
      <p:sp>
        <p:nvSpPr>
          <p:cNvPr id="9000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1A65C38F-8A24-4EFA-9B62-F18948608778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15</a:t>
            </a:fld>
          </a:p>
        </p:txBody>
      </p:sp>
    </p:spTree>
    <p:extLst>
      <p:ext uri="{BB962C8B-B14F-4D97-AF65-F5344CB8AC3E}">
        <p14:creationId xmlns:p14="http://schemas.microsoft.com/office/powerpoint/2010/main" val="11178929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A490BC61-3965-46E8-A134-AD711447AB34}"/>
              </a:ext>
            </a:extLst>
          </p:cNvPr>
          <p:cNvSpPr>
            <a:spLocks noGrp="1"/>
          </p:cNvSpPr>
          <p:nvPr/>
        </p:nvSpPr>
        <p:spPr>
          <a:xfrm>
            <a:off x="1285875" y="619125"/>
            <a:ext cx="13354050" cy="857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0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診斷多樣性與實際戰力分開看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25370EC-1CAE-4783-9DE7-50D05B144857}"/>
              </a:ext>
            </a:extLst>
          </p:cNvPr>
          <p:cNvSpPr>
            <a:spLocks noGrp="1"/>
          </p:cNvSpPr>
          <p:nvPr/>
        </p:nvSpPr>
        <p:spPr>
          <a:xfrm>
            <a:off x="1428750" y="1619250"/>
            <a:ext cx="13068300" cy="5429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最終族群；niche 與 code quality 不參與 Lexicase 選擇</a:t>
            </a:r>
          </a:p>
        </p:txBody>
      </p:sp>
      <p:graphicFrame>
        <p:nvGraphicFramePr>
          <p:cNvPr id="7" name="表格 6"/>
          <p:cNvGraphicFramePr/>
          <p:nvPr/>
        </p:nvGraphicFramePr>
        <p:xfrm>
          <a:off x="1428750" y="2714625"/>
          <a:ext cx="13068300" cy="4286250"/>
        </p:xfrm>
        <a:graphic>
          <a:graphicData uri="http://schemas.openxmlformats.org/drawingml/2006/table">
            <a:tbl>
              <a:tblPr/>
              <a:tblGrid>
                <a:gridCol w="5905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81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81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12321">
                <a:tc>
                  <a:txBody>
                    <a:bodyPr/>
                    <a:lstStyle/>
                    <a:p>
                      <a:pPr algn="l"/>
                      <a:r>
                        <a:rPr sz="23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指標</a:t>
                      </a:r>
                    </a:p>
                  </a:txBody>
                  <a:tcPr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全 Worker Rush</a:t>
                      </a:r>
                    </a:p>
                  </a:txBody>
                  <a:tcPr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Mixed</a:t>
                      </a:r>
                    </a:p>
                  </a:txBody>
                  <a:tcPr>
                    <a:solidFill>
                      <a:srgbClr val="DEB4B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321">
                <a:tc>
                  <a:txBody>
                    <a:bodyPr/>
                    <a:lstStyle/>
                    <a:p>
                      <a:pPr algn="l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Strategy niches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8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321">
                <a:tc>
                  <a:txBody>
                    <a:bodyPr/>
                    <a:lstStyle/>
                    <a:p>
                      <a:pPr algn="l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Dominant niche ratio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20%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60%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321">
                <a:tc>
                  <a:txBody>
                    <a:bodyPr/>
                    <a:lstStyle/>
                    <a:p>
                      <a:pPr algn="l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Unique Java hashes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9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321">
                <a:tc>
                  <a:txBody>
                    <a:bodyPr/>
                    <a:lstStyle/>
                    <a:p>
                      <a:pPr algn="l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平均 Strategy Alignment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6.2 / 10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5.7 / 10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2321">
                <a:tc>
                  <a:txBody>
                    <a:bodyPr/>
                    <a:lstStyle/>
                    <a:p>
                      <a:pPr algn="l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平均 Code Quality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27.85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23.65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2321">
                <a:tc>
                  <a:txBody>
                    <a:bodyPr/>
                    <a:lstStyle/>
                    <a:p>
                      <a:pPr algn="l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平均 Game Performance</a:t>
                      </a:r>
                    </a:p>
                  </a:txBody>
                  <a:tcPr>
                    <a:solidFill>
                      <a:srgbClr val="FAED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−88.89</a:t>
                      </a:r>
                    </a:p>
                  </a:txBody>
                  <a:tcPr>
                    <a:solidFill>
                      <a:srgbClr val="FAED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−65.35</a:t>
                      </a:r>
                    </a:p>
                  </a:txBody>
                  <a:tcPr>
                    <a:solidFill>
                      <a:srgbClr val="FAEDC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矩形 3">
            <a:extLst>
              <a:ext uri="{FF2B5EF4-FFF2-40B4-BE49-F238E27FC236}">
                <a16:creationId xmlns:a16="http://schemas.microsoft.com/office/drawing/2014/main" id="{75601310-6831-421C-AC2C-596A27E1904D}"/>
              </a:ext>
            </a:extLst>
          </p:cNvPr>
          <p:cNvSpPr>
            <a:spLocks noGrp="1"/>
          </p:cNvSpPr>
          <p:nvPr/>
        </p:nvSpPr>
        <p:spPr>
          <a:xfrm>
            <a:off x="1666875" y="7829550"/>
            <a:ext cx="1259205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全 Worker Rush 的 niche 較多、診斷分數較高，但本次遊戲表現仍較差</a:t>
            </a:r>
          </a:p>
        </p:txBody>
      </p:sp>
      <p:sp>
        <p:nvSpPr>
          <p:cNvPr id="9000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1A9AAEFF-7029-4D30-88F1-82A2CAA0551B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16</a:t>
            </a:fld>
          </a:p>
        </p:txBody>
      </p:sp>
    </p:spTree>
    <p:extLst>
      <p:ext uri="{BB962C8B-B14F-4D97-AF65-F5344CB8AC3E}">
        <p14:creationId xmlns:p14="http://schemas.microsoft.com/office/powerpoint/2010/main" val="16674867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F391D248-0F16-4701-84E2-E733E9E8AB10}"/>
              </a:ext>
            </a:extLst>
          </p:cNvPr>
          <p:cNvSpPr>
            <a:spLocks noGrp="1"/>
          </p:cNvSpPr>
          <p:nvPr/>
        </p:nvSpPr>
        <p:spPr>
          <a:xfrm>
            <a:off x="1285875" y="619125"/>
            <a:ext cx="13354050" cy="857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0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這次比較能支持的結論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B79234C-E35A-4275-898E-CA1A4F06D336}"/>
              </a:ext>
            </a:extLst>
          </p:cNvPr>
          <p:cNvSpPr>
            <a:spLocks noGrp="1"/>
          </p:cNvSpPr>
          <p:nvPr/>
        </p:nvSpPr>
        <p:spPr>
          <a:xfrm>
            <a:off x="1428750" y="1619250"/>
            <a:ext cx="13068300" cy="5429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600 場 Final test 測量同一 champion，不能取代跨 evolutionary seed 重複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E1F76C4-7C05-40A2-A21D-B0F5E49B628F}"/>
              </a:ext>
            </a:extLst>
          </p:cNvPr>
          <p:cNvSpPr>
            <a:spLocks noGrp="1"/>
          </p:cNvSpPr>
          <p:nvPr/>
        </p:nvSpPr>
        <p:spPr>
          <a:xfrm>
            <a:off x="1571625" y="2619375"/>
            <a:ext cx="5905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9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9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已有觀察支持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9A21804-ED05-4A8F-A0EE-3D02D65F17F8}"/>
              </a:ext>
            </a:extLst>
          </p:cNvPr>
          <p:cNvSpPr>
            <a:spLocks noGrp="1"/>
          </p:cNvSpPr>
          <p:nvPr/>
        </p:nvSpPr>
        <p:spPr>
          <a:xfrm>
            <a:off x="1571625" y="3571875"/>
            <a:ext cx="59055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Mixed 完整初始化方案在本次 run 較好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71BC0E7-16DE-4CA0-B532-50ED626E8957}"/>
              </a:ext>
            </a:extLst>
          </p:cNvPr>
          <p:cNvSpPr>
            <a:spLocks noGrp="1"/>
          </p:cNvSpPr>
          <p:nvPr/>
        </p:nvSpPr>
        <p:spPr>
          <a:xfrm>
            <a:off x="1571625" y="4638675"/>
            <a:ext cx="59055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搜尋 GP 與 final-test 勝場方向一致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46A78EA-D183-41E2-A40E-A9F6E0DAD3D0}"/>
              </a:ext>
            </a:extLst>
          </p:cNvPr>
          <p:cNvSpPr>
            <a:spLocks noGrp="1"/>
          </p:cNvSpPr>
          <p:nvPr/>
        </p:nvSpPr>
        <p:spPr>
          <a:xfrm>
            <a:off x="1571625" y="5705475"/>
            <a:ext cx="59055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額外搜尋時間約 1.5 小時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6D5B875-E78F-4A05-9E0B-0F34D514DA4D}"/>
              </a:ext>
            </a:extLst>
          </p:cNvPr>
          <p:cNvSpPr>
            <a:spLocks noGrp="1"/>
          </p:cNvSpPr>
          <p:nvPr/>
        </p:nvSpPr>
        <p:spPr>
          <a:xfrm>
            <a:off x="8334375" y="2619375"/>
            <a:ext cx="60198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9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9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仍需後續驗證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A884F96-B2C7-4DEC-9206-1F5E34B26A3A}"/>
              </a:ext>
            </a:extLst>
          </p:cNvPr>
          <p:cNvSpPr>
            <a:spLocks noGrp="1"/>
          </p:cNvSpPr>
          <p:nvPr/>
        </p:nvSpPr>
        <p:spPr>
          <a:xfrm>
            <a:off x="8334375" y="3571875"/>
            <a:ext cx="60198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Policy diversity 的單獨因果效果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D70ACE4-CCE4-42F4-BC33-650F6F519972}"/>
              </a:ext>
            </a:extLst>
          </p:cNvPr>
          <p:cNvSpPr>
            <a:spLocks noGrp="1"/>
          </p:cNvSpPr>
          <p:nvPr/>
        </p:nvSpPr>
        <p:spPr>
          <a:xfrm>
            <a:off x="8334375" y="4638675"/>
            <a:ext cx="60198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跨 seed 的平均收益與變異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85BB1AA-2A6D-4428-8A44-42B0062F569B}"/>
              </a:ext>
            </a:extLst>
          </p:cNvPr>
          <p:cNvSpPr>
            <a:spLocks noGrp="1"/>
          </p:cNvSpPr>
          <p:nvPr/>
        </p:nvSpPr>
        <p:spPr>
          <a:xfrm>
            <a:off x="8334375" y="5705475"/>
            <a:ext cx="60198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未參與演化的 maps / opponents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907F9E9-F6CA-4DF5-BD4E-AB3FAE3D5AD4}"/>
              </a:ext>
            </a:extLst>
          </p:cNvPr>
          <p:cNvSpPr>
            <a:spLocks noGrp="1"/>
          </p:cNvSpPr>
          <p:nvPr/>
        </p:nvSpPr>
        <p:spPr>
          <a:xfrm>
            <a:off x="1666875" y="7829550"/>
            <a:ext cx="1259205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每條件僅 1 run；重複 matchup 也不一定是完全獨立樣本</a:t>
            </a:r>
          </a:p>
        </p:txBody>
      </p:sp>
      <p:sp>
        <p:nvSpPr>
          <p:cNvPr id="9000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F739D38F-991C-42E5-AC1C-A043D7D2F29C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17</a:t>
            </a:fld>
          </a:p>
        </p:txBody>
      </p:sp>
    </p:spTree>
    <p:extLst>
      <p:ext uri="{BB962C8B-B14F-4D97-AF65-F5344CB8AC3E}">
        <p14:creationId xmlns:p14="http://schemas.microsoft.com/office/powerpoint/2010/main" val="17158266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13073593-2FA7-486E-8700-319561F3C793}"/>
              </a:ext>
            </a:extLst>
          </p:cNvPr>
          <p:cNvSpPr>
            <a:spLocks noGrp="1"/>
          </p:cNvSpPr>
          <p:nvPr/>
        </p:nvSpPr>
        <p:spPr>
          <a:xfrm>
            <a:off x="1285875" y="619125"/>
            <a:ext cx="13354050" cy="857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0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下一輪：2×2 初始化控制實驗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935AA02-F0D7-4EEF-99EC-41AA82A0FE64}"/>
              </a:ext>
            </a:extLst>
          </p:cNvPr>
          <p:cNvSpPr>
            <a:spLocks noGrp="1"/>
          </p:cNvSpPr>
          <p:nvPr/>
        </p:nvSpPr>
        <p:spPr>
          <a:xfrm>
            <a:off x="1428750" y="1619250"/>
            <a:ext cx="13068300" cy="5429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分離 policy 組成與 Java seed／G0 materialization 方案</a:t>
            </a:r>
          </a:p>
        </p:txBody>
      </p:sp>
      <p:graphicFrame>
        <p:nvGraphicFramePr>
          <p:cNvPr id="10" name="表格 9"/>
          <p:cNvGraphicFramePr/>
          <p:nvPr/>
        </p:nvGraphicFramePr>
        <p:xfrm>
          <a:off x="1428750" y="2714625"/>
          <a:ext cx="13068300" cy="2571750"/>
        </p:xfrm>
        <a:graphic>
          <a:graphicData uri="http://schemas.openxmlformats.org/drawingml/2006/table">
            <a:tbl>
              <a:tblPr/>
              <a:tblGrid>
                <a:gridCol w="419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1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2250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初始 policy</a:t>
                      </a:r>
                    </a:p>
                  </a:txBody>
                  <a:tcPr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50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固定 WorkerRush Java</a:t>
                      </a:r>
                    </a:p>
                  </a:txBody>
                  <a:tcPr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50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no-op seed ＋ G0 生成</a:t>
                      </a:r>
                    </a:p>
                  </a:txBody>
                  <a:tcPr>
                    <a:solidFill>
                      <a:srgbClr val="DEB4B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22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 個相同 Worker Rush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條件 A（新增）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條件 B（現有全 Worker Rush）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22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 Worker Rush ＋ 9 LLM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條件 C（現有 Mixed）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條件 D（新增）</a:t>
                      </a:r>
                    </a:p>
                  </a:txBody>
                  <a:tcPr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矩形 3">
            <a:extLst>
              <a:ext uri="{FF2B5EF4-FFF2-40B4-BE49-F238E27FC236}">
                <a16:creationId xmlns:a16="http://schemas.microsoft.com/office/drawing/2014/main" id="{6C5BFCCF-EEFC-484B-B157-2F54E4F0FF6D}"/>
              </a:ext>
            </a:extLst>
          </p:cNvPr>
          <p:cNvSpPr>
            <a:spLocks noGrp="1"/>
          </p:cNvSpPr>
          <p:nvPr/>
        </p:nvSpPr>
        <p:spPr>
          <a:xfrm>
            <a:off x="1571625" y="5810250"/>
            <a:ext cx="12782550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每條件至少 3 個 evolutionary seeds，保留完整 20 代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20F39CF-2CD9-4343-A8CA-3B59941DFFBF}"/>
              </a:ext>
            </a:extLst>
          </p:cNvPr>
          <p:cNvSpPr>
            <a:spLocks noGrp="1"/>
          </p:cNvSpPr>
          <p:nvPr/>
        </p:nvSpPr>
        <p:spPr>
          <a:xfrm>
            <a:off x="1571625" y="6496050"/>
            <a:ext cx="12782550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模型、selection、operator 配比與 evaluation matrix 相同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8036D0B-DAED-4CB9-97B3-196A92C04550}"/>
              </a:ext>
            </a:extLst>
          </p:cNvPr>
          <p:cNvSpPr>
            <a:spLocks noGrp="1"/>
          </p:cNvSpPr>
          <p:nvPr/>
        </p:nvSpPr>
        <p:spPr>
          <a:xfrm>
            <a:off x="1571625" y="7181850"/>
            <a:ext cx="12782550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另加入未參與演化的 holdout maps 或 opponents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025A416-285E-46D3-8D54-FB510026CF30}"/>
              </a:ext>
            </a:extLst>
          </p:cNvPr>
          <p:cNvSpPr>
            <a:spLocks noGrp="1"/>
          </p:cNvSpPr>
          <p:nvPr/>
        </p:nvSpPr>
        <p:spPr>
          <a:xfrm>
            <a:off x="1666875" y="7829550"/>
            <a:ext cx="1259205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此 2×2 分離 policy 因子與 Java 初始化方案；Java seed 和 G0 生成仍作為同一方案因子</a:t>
            </a:r>
          </a:p>
        </p:txBody>
      </p:sp>
      <p:sp>
        <p:nvSpPr>
          <p:cNvPr id="9000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42C28267-B3B6-4661-99A3-CA6A8B74CA8E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18</a:t>
            </a:fld>
          </a:p>
        </p:txBody>
      </p:sp>
    </p:spTree>
    <p:extLst>
      <p:ext uri="{BB962C8B-B14F-4D97-AF65-F5344CB8AC3E}">
        <p14:creationId xmlns:p14="http://schemas.microsoft.com/office/powerpoint/2010/main" val="17095318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647514E6-2BBE-40CD-BE4D-B1F7A7CBFFBA}"/>
              </a:ext>
            </a:extLst>
          </p:cNvPr>
          <p:cNvSpPr>
            <a:spLocks noGrp="1"/>
          </p:cNvSpPr>
          <p:nvPr/>
        </p:nvSpPr>
        <p:spPr>
          <a:xfrm>
            <a:off x="1285875" y="619125"/>
            <a:ext cx="13354050" cy="857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0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近期基線與後續優先順序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25E97ED-4600-4F6D-B0AB-5B59D13B91FC}"/>
              </a:ext>
            </a:extLst>
          </p:cNvPr>
          <p:cNvSpPr>
            <a:spLocks noGrp="1"/>
          </p:cNvSpPr>
          <p:nvPr/>
        </p:nvSpPr>
        <p:spPr>
          <a:xfrm>
            <a:off x="1428750" y="1619250"/>
            <a:ext cx="13068300" cy="5429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先用 Mixed 方案延續實驗，再確認收益來源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35C4FF9-B7B3-4C55-B0F1-F3B3486B2018}"/>
              </a:ext>
            </a:extLst>
          </p:cNvPr>
          <p:cNvSpPr>
            <a:spLocks noGrp="1"/>
          </p:cNvSpPr>
          <p:nvPr/>
        </p:nvSpPr>
        <p:spPr>
          <a:xfrm>
            <a:off x="1571625" y="2714625"/>
            <a:ext cx="1278255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5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暫定基線：Mixed，Final-test 勝率 42.7%，仍保留單 run 限制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2C6FDA6-1452-4C9B-8077-F86FDA69A404}"/>
              </a:ext>
            </a:extLst>
          </p:cNvPr>
          <p:cNvSpPr>
            <a:spLocks noGrp="1"/>
          </p:cNvSpPr>
          <p:nvPr/>
        </p:nvSpPr>
        <p:spPr>
          <a:xfrm>
            <a:off x="1571625" y="3781425"/>
            <a:ext cx="1278255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5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第一優先：2×2 初始化設計與跨 seed replication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AAFF23C-2C78-4CAF-9BD4-77CE15C8931E}"/>
              </a:ext>
            </a:extLst>
          </p:cNvPr>
          <p:cNvSpPr>
            <a:spLocks noGrp="1"/>
          </p:cNvSpPr>
          <p:nvPr/>
        </p:nvSpPr>
        <p:spPr>
          <a:xfrm>
            <a:off x="1571625" y="4848225"/>
            <a:ext cx="1278255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5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第二優先：enemy ownership、null target、builder 的語義檢查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9C30C9E-DB30-4B00-ABDF-C03FF3399859}"/>
              </a:ext>
            </a:extLst>
          </p:cNvPr>
          <p:cNvSpPr>
            <a:spLocks noGrp="1"/>
          </p:cNvSpPr>
          <p:nvPr/>
        </p:nvSpPr>
        <p:spPr>
          <a:xfrm>
            <a:off x="1571625" y="5915025"/>
            <a:ext cx="1278255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5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後續效率實驗：static 與 aos_opponent，比較收益及失敗成本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FAC39EF-122F-4E4F-960E-B013AC859A8A}"/>
              </a:ext>
            </a:extLst>
          </p:cNvPr>
          <p:cNvSpPr>
            <a:spLocks noGrp="1"/>
          </p:cNvSpPr>
          <p:nvPr/>
        </p:nvSpPr>
        <p:spPr>
          <a:xfrm>
            <a:off x="1666875" y="7829550"/>
            <a:ext cx="1259205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Mixed 提供可延續的方向；下一步是釐清性能來源，降低生成與反思的失敗成本</a:t>
            </a:r>
          </a:p>
        </p:txBody>
      </p:sp>
      <p:sp>
        <p:nvSpPr>
          <p:cNvPr id="9000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DE0E6A92-A0EF-47D8-9B19-F97303980BC9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19</a:t>
            </a:fld>
          </a:p>
        </p:txBody>
      </p:sp>
    </p:spTree>
    <p:extLst>
      <p:ext uri="{BB962C8B-B14F-4D97-AF65-F5344CB8AC3E}">
        <p14:creationId xmlns:p14="http://schemas.microsoft.com/office/powerpoint/2010/main" val="21349022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09882B29-AE3D-4C64-B851-7954C5FA779C}"/>
              </a:ext>
            </a:extLst>
          </p:cNvPr>
          <p:cNvSpPr>
            <a:spLocks noGrp="1"/>
          </p:cNvSpPr>
          <p:nvPr/>
        </p:nvSpPr>
        <p:spPr>
          <a:xfrm>
            <a:off x="1285875" y="619125"/>
            <a:ext cx="13354050" cy="857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0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附錄：指標定義與資料來源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8F0582F-D743-494A-9B7D-E8936716B949}"/>
              </a:ext>
            </a:extLst>
          </p:cNvPr>
          <p:cNvSpPr>
            <a:spLocks noGrp="1"/>
          </p:cNvSpPr>
          <p:nvPr/>
        </p:nvSpPr>
        <p:spPr>
          <a:xfrm>
            <a:off x="1428750" y="1619250"/>
            <a:ext cx="13068300" cy="5429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報告日期 0917；本次比較資料整理截至 0912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B18D2E0-E135-494D-BA63-8EE30D5327F8}"/>
              </a:ext>
            </a:extLst>
          </p:cNvPr>
          <p:cNvSpPr>
            <a:spLocks noGrp="1"/>
          </p:cNvSpPr>
          <p:nvPr/>
        </p:nvSpPr>
        <p:spPr>
          <a:xfrm>
            <a:off x="1571625" y="2619375"/>
            <a:ext cx="127825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GP：10 個 opponent 分數的加權平均，越高越好，只供報告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D0A9537-B83A-41D3-80CD-161247B41ED7}"/>
              </a:ext>
            </a:extLst>
          </p:cNvPr>
          <p:cNvSpPr>
            <a:spLocks noGrp="1"/>
          </p:cNvSpPr>
          <p:nvPr/>
        </p:nvSpPr>
        <p:spPr>
          <a:xfrm>
            <a:off x="1571625" y="3438525"/>
            <a:ext cx="127825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Candidate 總數：G0 的 10 個，加上 20 × 10 offspring，共 210 個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76F3750-4553-46B1-9BD9-814339755EEE}"/>
              </a:ext>
            </a:extLst>
          </p:cNvPr>
          <p:cNvSpPr>
            <a:spLocks noGrp="1"/>
          </p:cNvSpPr>
          <p:nvPr/>
        </p:nvSpPr>
        <p:spPr>
          <a:xfrm>
            <a:off x="1571625" y="4257675"/>
            <a:ext cx="127825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Final test：每組最佳 agent 600 場；不等同最終族群的 1,800 場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0804C88-1EAA-4A30-A1CC-600FF2065B11}"/>
              </a:ext>
            </a:extLst>
          </p:cNvPr>
          <p:cNvSpPr>
            <a:spLocks noGrp="1"/>
          </p:cNvSpPr>
          <p:nvPr/>
        </p:nvSpPr>
        <p:spPr>
          <a:xfrm>
            <a:off x="1571625" y="5476875"/>
            <a:ext cx="12782550" cy="1809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實驗分析：0912 initial population comparison 內容稿</a:t>
            </a:r>
          </a:p>
          <a:p>
            <a:pPr algn="l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設定：configs/experiments/0910_initial_population_comparison_20x10/</a:t>
            </a:r>
          </a:p>
          <a:p>
            <a:pPr algn="l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演算法：docs/eagle_architecture_spec.md、eagle/selection.py</a:t>
            </a:r>
          </a:p>
          <a:p>
            <a:pPr algn="l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Run IDs：20260910_160655_907573、20260911_072610_382082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0BAD441-0A30-45CF-A28F-9F81D1E7E8DD}"/>
              </a:ext>
            </a:extLst>
          </p:cNvPr>
          <p:cNvSpPr>
            <a:spLocks noGrp="1"/>
          </p:cNvSpPr>
          <p:nvPr/>
        </p:nvSpPr>
        <p:spPr>
          <a:xfrm>
            <a:off x="1666875" y="7829550"/>
            <a:ext cx="1259205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原始 September run artifacts 未隨本地 checkout 提供；結果沿用既有分析，未重新執行實驗</a:t>
            </a:r>
          </a:p>
        </p:txBody>
      </p:sp>
      <p:sp>
        <p:nvSpPr>
          <p:cNvPr id="9000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0B4B660E-8F05-4C5F-A2D5-3CB7692FF83F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20</a:t>
            </a:fld>
          </a:p>
        </p:txBody>
      </p:sp>
    </p:spTree>
    <p:extLst>
      <p:ext uri="{BB962C8B-B14F-4D97-AF65-F5344CB8AC3E}">
        <p14:creationId xmlns:p14="http://schemas.microsoft.com/office/powerpoint/2010/main" val="421184775"/>
      </p:ext>
    </p:extLst>
  </p:cSld>
  <p:clrMapOvr>
    <a:masterClrMapping/>
  </p:clrMapOvr>
</p:sld>
</file>

<file path=ppt/theme/theme1.xml><?xml version="1.0" encoding="utf-8"?>
<a:theme xmlns:a="http://schemas.openxmlformats.org/drawingml/2006/main" name="EAGLE">
  <a:themeElements>
    <a:clrScheme name="Meeting 0830 Rose &amp; Gold">
      <a:dk1>
        <a:srgbClr val="47171C"/>
      </a:dk1>
      <a:lt1>
        <a:srgbClr val="FCF8F5"/>
      </a:lt1>
      <a:dk2>
        <a:srgbClr val="423C3B"/>
      </a:dk2>
      <a:lt2>
        <a:srgbClr val="FFFFFF"/>
      </a:lt2>
      <a:accent1>
        <a:srgbClr val="CF8792"/>
      </a:accent1>
      <a:accent2>
        <a:srgbClr val="C69B45"/>
      </a:accent2>
      <a:accent3>
        <a:srgbClr val="DEB4BA"/>
      </a:accent3>
      <a:accent4>
        <a:srgbClr val="47171C"/>
      </a:accent4>
      <a:accent5>
        <a:srgbClr val="F4DEA0"/>
      </a:accent5>
      <a:accent6>
        <a:srgbClr val="423C3B"/>
      </a:accent6>
      <a:hlink>
        <a:srgbClr val="CF8792"/>
      </a:hlink>
      <a:folHlink>
        <a:srgbClr val="C69B45"/>
      </a:folHlink>
    </a:clrScheme>
    <a:fontScheme name="Office">
      <a:majorFont>
        <a:latin typeface="Source Han Serif TW"/>
        <a:ea typeface="Source Han Serif TW"/>
        <a:cs typeface="Source Han Serif TW"/>
      </a:majorFont>
      <a:minorFont>
        <a:latin typeface="Source Han Serif TW"/>
        <a:ea typeface="Source Han Serif TW"/>
        <a:cs typeface="Source Han Serif TW"/>
      </a:minorFont>
    </a:fontScheme>
    <a:fmtScheme name="Meeting 0830 Rose &amp; Gold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EAGLE</Template>
  <TotalTime>0</TotalTime>
  <Words>2107</Words>
  <Application>Microsoft Office PowerPoint</Application>
  <DocSecurity>0</DocSecurity>
  <PresentationFormat>自訂</PresentationFormat>
  <Paragraphs>347</Paragraphs>
  <Slides>20</Slides>
  <Notes>20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20</vt:i4>
      </vt:variant>
    </vt:vector>
  </HeadingPairs>
  <TitlesOfParts>
    <vt:vector size="23" baseType="lpstr">
      <vt:lpstr>Source Han Serif TW</vt:lpstr>
      <vt:lpstr>Calibri</vt:lpstr>
      <vt:lpstr>EAGLE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Sophie Lien</cp:lastModifiedBy>
  <cp:revision>1</cp:revision>
  <dcterms:created xsi:type="dcterms:W3CDTF">2026-09-12T03:48:08Z</dcterms:created>
  <dcterms:modified xsi:type="dcterms:W3CDTF">2026-09-12T03:48:16Z</dcterms:modified>
</cp:coreProperties>
</file>