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36"/>
  </p:notesMasterIdLst>
  <p:sldIdLst>
    <p:sldId id="256" r:id="rIdReportSlide1"/>
    <p:sldId id="257" r:id="rIdReportSlide2"/>
    <p:sldId id="258" r:id="rIdReportSlide3"/>
    <p:sldId id="259" r:id="rIdReportSlide4"/>
    <p:sldId id="260" r:id="rIdReportSlide5"/>
    <p:sldId id="261" r:id="rIdReportSlide6"/>
    <p:sldId id="262" r:id="rIdReportSlide7"/>
    <p:sldId id="263" r:id="rIdReportSlide8"/>
    <p:sldId id="264" r:id="rIdReportSlide9"/>
    <p:sldId id="265" r:id="rIdReportSlide10"/>
    <p:sldId id="266" r:id="rIdReportSlide11"/>
    <p:sldId id="267" r:id="rIdReportSlide12"/>
    <p:sldId id="268" r:id="rIdReportSlide13"/>
    <p:sldId id="269" r:id="rIdReportSlide14"/>
    <p:sldId id="270" r:id="rIdReportSlide15"/>
    <p:sldId id="271" r:id="rIdReportSlide16"/>
    <p:sldId id="272" r:id="rIdReportSlide17"/>
    <p:sldId id="273" r:id="rIdReportSlide18"/>
  </p:sldIdLst>
  <p:sldSz cx="15925800" cy="8963025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497E131-5584-4FF0-9A17-202609170001}">
  <a:tblStyle styleId="{8497E131-5584-4FF0-9A17-202609170001}" styleName="EAGLE 0917 Rose">
    <a:wholeTbl>
      <a:tcTxStyle b="off">
        <a:fontRef idx="minor">
          <a:srgbClr val="423C3B"/>
        </a:fontRef>
        <a:srgbClr val="423C3B"/>
      </a:tcTxStyle>
      <a:tcStyle>
        <a:tcBdr>
          <a:left>
            <a:ln w="6350">
              <a:solidFill>
                <a:srgbClr val="423C3B"/>
              </a:solidFill>
              <a:prstDash val="solid"/>
            </a:ln>
          </a:left>
          <a:right>
            <a:ln w="6350">
              <a:solidFill>
                <a:srgbClr val="423C3B"/>
              </a:solidFill>
              <a:prstDash val="solid"/>
            </a:ln>
          </a:right>
          <a:top>
            <a:ln w="6350">
              <a:solidFill>
                <a:srgbClr val="423C3B"/>
              </a:solidFill>
              <a:prstDash val="solid"/>
            </a:ln>
          </a:top>
          <a:bottom>
            <a:ln w="6350">
              <a:solidFill>
                <a:srgbClr val="423C3B"/>
              </a:solidFill>
              <a:prstDash val="solid"/>
            </a:ln>
          </a:bottom>
          <a:insideH>
            <a:ln w="6350">
              <a:solidFill>
                <a:srgbClr val="423C3B"/>
              </a:solidFill>
              <a:prstDash val="solid"/>
            </a:ln>
          </a:insideH>
          <a:insideV>
            <a:ln w="6350">
              <a:solidFill>
                <a:srgbClr val="423C3B"/>
              </a:solidFill>
              <a:prstDash val="solid"/>
            </a:ln>
          </a:insideV>
        </a:tcBdr>
        <a:fill>
          <a:solidFill>
            <a:srgbClr val="FCF8F5"/>
          </a:solidFill>
        </a:fill>
      </a:tcStyle>
    </a:wholeTbl>
    <a:firstRow>
      <a:tcTxStyle b="on">
        <a:fontRef idx="minor">
          <a:srgbClr val="423C3B"/>
        </a:fontRef>
        <a:srgbClr val="423C3B"/>
      </a:tcTxStyle>
      <a:tcStyle>
        <a:tcBdr>
          <a:left>
            <a:ln w="6350">
              <a:solidFill>
                <a:srgbClr val="423C3B"/>
              </a:solidFill>
              <a:prstDash val="solid"/>
            </a:ln>
          </a:left>
          <a:right>
            <a:ln w="6350">
              <a:solidFill>
                <a:srgbClr val="423C3B"/>
              </a:solidFill>
              <a:prstDash val="solid"/>
            </a:ln>
          </a:right>
          <a:top>
            <a:ln w="6350">
              <a:solidFill>
                <a:srgbClr val="423C3B"/>
              </a:solidFill>
              <a:prstDash val="solid"/>
            </a:ln>
          </a:top>
          <a:bottom>
            <a:ln w="6350">
              <a:solidFill>
                <a:srgbClr val="423C3B"/>
              </a:solidFill>
              <a:prstDash val="solid"/>
            </a:ln>
          </a:bottom>
          <a:insideH>
            <a:ln w="6350">
              <a:solidFill>
                <a:srgbClr val="423C3B"/>
              </a:solidFill>
              <a:prstDash val="solid"/>
            </a:ln>
          </a:insideH>
          <a:insideV>
            <a:ln w="6350">
              <a:solidFill>
                <a:srgbClr val="423C3B"/>
              </a:solidFill>
              <a:prstDash val="solid"/>
            </a:ln>
          </a:insideV>
        </a:tcBdr>
        <a:fill>
          <a:solidFill>
            <a:srgbClr val="DEB4BA"/>
          </a:solidFill>
        </a:fill>
      </a:tcStyle>
    </a:firstRow>
    <a:lastRow>
      <a:tcTxStyle b="on">
        <a:fontRef idx="minor">
          <a:srgbClr val="423C3B"/>
        </a:fontRef>
        <a:srgbClr val="423C3B"/>
      </a:tcTxStyle>
      <a:tcStyle>
        <a:tcBdr>
          <a:left>
            <a:ln w="6350">
              <a:solidFill>
                <a:srgbClr val="423C3B"/>
              </a:solidFill>
              <a:prstDash val="solid"/>
            </a:ln>
          </a:left>
          <a:right>
            <a:ln w="6350">
              <a:solidFill>
                <a:srgbClr val="423C3B"/>
              </a:solidFill>
              <a:prstDash val="solid"/>
            </a:ln>
          </a:right>
          <a:top>
            <a:ln w="6350">
              <a:solidFill>
                <a:srgbClr val="423C3B"/>
              </a:solidFill>
              <a:prstDash val="solid"/>
            </a:ln>
          </a:top>
          <a:bottom>
            <a:ln w="6350">
              <a:solidFill>
                <a:srgbClr val="423C3B"/>
              </a:solidFill>
              <a:prstDash val="solid"/>
            </a:ln>
          </a:bottom>
          <a:insideH>
            <a:ln w="6350">
              <a:solidFill>
                <a:srgbClr val="423C3B"/>
              </a:solidFill>
              <a:prstDash val="solid"/>
            </a:ln>
          </a:insideH>
          <a:insideV>
            <a:ln w="6350">
              <a:solidFill>
                <a:srgbClr val="423C3B"/>
              </a:solidFill>
              <a:prstDash val="solid"/>
            </a:ln>
          </a:insideV>
        </a:tcBdr>
        <a:fill>
          <a:solidFill>
            <a:srgbClr val="FAEDC6"/>
          </a:solidFill>
        </a:fill>
      </a:tcStyle>
    </a:la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6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39" Type="http://schemas.openxmlformats.org/officeDocument/2006/relationships/theme" Target="theme/theme1.xml" /><Relationship Id="rId38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37" Type="http://schemas.openxmlformats.org/officeDocument/2006/relationships/presProps" Target="presProps.xml" /><Relationship Id="rId40" Type="http://schemas.openxmlformats.org/officeDocument/2006/relationships/tableStyles" Target="tableStyles.xml" /><Relationship Id="rId36" Type="http://schemas.openxmlformats.org/officeDocument/2006/relationships/notesMaster" Target="notesMasters/notesMaster1.xml" /><Relationship Type="http://schemas.openxmlformats.org/officeDocument/2006/relationships/slide" Target="/ppt/slides/slide1.xml" Id="rIdReportSlide1" /><Relationship Type="http://schemas.openxmlformats.org/officeDocument/2006/relationships/slide" Target="/ppt/slides/slide2.xml" Id="rIdReportSlide2" /><Relationship Type="http://schemas.openxmlformats.org/officeDocument/2006/relationships/slide" Target="/ppt/slides/slide3.xml" Id="rIdReportSlide3" /><Relationship Type="http://schemas.openxmlformats.org/officeDocument/2006/relationships/slide" Target="/ppt/slides/slide4.xml" Id="rIdReportSlide4" /><Relationship Type="http://schemas.openxmlformats.org/officeDocument/2006/relationships/slide" Target="/ppt/slides/slide5.xml" Id="rIdReportSlide5" /><Relationship Type="http://schemas.openxmlformats.org/officeDocument/2006/relationships/slide" Target="/ppt/slides/slide6.xml" Id="rIdReportSlide6" /><Relationship Type="http://schemas.openxmlformats.org/officeDocument/2006/relationships/slide" Target="/ppt/slides/slide7.xml" Id="rIdReportSlide7" /><Relationship Type="http://schemas.openxmlformats.org/officeDocument/2006/relationships/slide" Target="/ppt/slides/slide8.xml" Id="rIdReportSlide8" /><Relationship Type="http://schemas.openxmlformats.org/officeDocument/2006/relationships/slide" Target="/ppt/slides/slide9.xml" Id="rIdReportSlide9" /><Relationship Type="http://schemas.openxmlformats.org/officeDocument/2006/relationships/slide" Target="/ppt/slides/slide10.xml" Id="rIdReportSlide10" /><Relationship Type="http://schemas.openxmlformats.org/officeDocument/2006/relationships/slide" Target="/ppt/slides/slide11.xml" Id="rIdReportSlide11" /><Relationship Type="http://schemas.openxmlformats.org/officeDocument/2006/relationships/slide" Target="/ppt/slides/slide12.xml" Id="rIdReportSlide12" /><Relationship Type="http://schemas.openxmlformats.org/officeDocument/2006/relationships/slide" Target="/ppt/slides/slide13.xml" Id="rIdReportSlide13" /><Relationship Type="http://schemas.openxmlformats.org/officeDocument/2006/relationships/slide" Target="/ppt/slides/slide14.xml" Id="rIdReportSlide14" /><Relationship Type="http://schemas.openxmlformats.org/officeDocument/2006/relationships/slide" Target="/ppt/slides/slide15.xml" Id="rIdReportSlide15" /><Relationship Type="http://schemas.openxmlformats.org/officeDocument/2006/relationships/slide" Target="/ppt/slides/slide16.xml" Id="rIdReportSlide16" /><Relationship Type="http://schemas.openxmlformats.org/officeDocument/2006/relationships/slide" Target="/ppt/slides/slide17.xml" Id="rIdReportSlide17" /><Relationship Type="http://schemas.openxmlformats.org/officeDocument/2006/relationships/slide" Target="/ppt/slides/slide18.xml" Id="rIdReportSlide18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848417b59a40f7" /><Relationship Type="http://schemas.openxmlformats.org/officeDocument/2006/relationships/notesMaster" Target="/ppt/notesMasters/notesMaster1.xml" Id="R852a0d10f5f540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8c23ba297d423f" /><Relationship Type="http://schemas.openxmlformats.org/officeDocument/2006/relationships/notesMaster" Target="/ppt/notesMasters/notesMaster1.xml" Id="R2fbb148759834da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11b6bf81c2482f" /><Relationship Type="http://schemas.openxmlformats.org/officeDocument/2006/relationships/notesMaster" Target="/ppt/notesMasters/notesMaster1.xml" Id="R218a7a7783324b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e1a89318014236" /><Relationship Type="http://schemas.openxmlformats.org/officeDocument/2006/relationships/notesMaster" Target="/ppt/notesMasters/notesMaster1.xml" Id="Rfe08e123ff3644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300bd898da41cd" /><Relationship Type="http://schemas.openxmlformats.org/officeDocument/2006/relationships/notesMaster" Target="/ppt/notesMasters/notesMaster1.xml" Id="R7744d83e4ae54d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ce74c71c2945f6" /><Relationship Type="http://schemas.openxmlformats.org/officeDocument/2006/relationships/notesMaster" Target="/ppt/notesMasters/notesMaster1.xml" Id="Rfd75751a91894e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e1feaa1ace4428" /><Relationship Type="http://schemas.openxmlformats.org/officeDocument/2006/relationships/notesMaster" Target="/ppt/notesMasters/notesMaster1.xml" Id="Re0c2b226f9494e8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2b514af1d24aeb" /><Relationship Type="http://schemas.openxmlformats.org/officeDocument/2006/relationships/notesMaster" Target="/ppt/notesMasters/notesMaster1.xml" Id="Rfaac2b1824c343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bbdcbfe4b74db7" /><Relationship Type="http://schemas.openxmlformats.org/officeDocument/2006/relationships/notesMaster" Target="/ppt/notesMasters/notesMaster1.xml" Id="Rc0feee606a5b4e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c078cdf7f574d12" /><Relationship Type="http://schemas.openxmlformats.org/officeDocument/2006/relationships/notesMaster" Target="/ppt/notesMasters/notesMaster1.xml" Id="R512b2ab68f3d485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97c8ddb1e74d38" /><Relationship Type="http://schemas.openxmlformats.org/officeDocument/2006/relationships/notesMaster" Target="/ppt/notesMasters/notesMaster1.xml" Id="Rfb169bb9f58a48b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45abf6a77404959" /><Relationship Type="http://schemas.openxmlformats.org/officeDocument/2006/relationships/notesMaster" Target="/ppt/notesMasters/notesMaster1.xml" Id="Ree4c5800c9f5478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dce33b269be4ec3" /><Relationship Type="http://schemas.openxmlformats.org/officeDocument/2006/relationships/notesMaster" Target="/ppt/notesMasters/notesMaster1.xml" Id="R0dc46d9d3d79481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e278753a6124614" /><Relationship Type="http://schemas.openxmlformats.org/officeDocument/2006/relationships/notesMaster" Target="/ppt/notesMasters/notesMaster1.xml" Id="Rfb0d2a39fd52495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cf7ff57b8404300" /><Relationship Type="http://schemas.openxmlformats.org/officeDocument/2006/relationships/notesMaster" Target="/ppt/notesMasters/notesMaster1.xml" Id="Rcc2140c0e9f64c4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8fc3449ca60438b" /><Relationship Type="http://schemas.openxmlformats.org/officeDocument/2006/relationships/notesMaster" Target="/ppt/notesMasters/notesMaster1.xml" Id="Rd022e5937aeb413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6e9522210c04d83" /><Relationship Type="http://schemas.openxmlformats.org/officeDocument/2006/relationships/notesMaster" Target="/ppt/notesMasters/notesMaster1.xml" Id="Re8e4265e44e546f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19e357ed8f54ae4" /><Relationship Type="http://schemas.openxmlformats.org/officeDocument/2006/relationships/notesMaster" Target="/ppt/notesMasters/notesMaster1.xml" Id="Re151848ff1904c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來源：Meeting/20261001/README.md；Notion MicroRTS EAGLE 實驗資料庫。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Meeting/20261001_self_play/20261001_palette.pptx；Meeting/20261001/README.md；Notion 0925–0927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本地 configs/experiments/0925_self_play/*.yaml、0926_self_play_sent/self_play_10x20.yaml；Notion run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Meeting/20261001/analysis_md/20260910_generation_model_comparison.md；runs 20260908_121222_306081、20260909_032729_611766.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Meeting/20261001/analysis_md/20260912_initial_population_comparison.md；runs 20260910_160655_907573、20260911_072610_382082.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Meeting/20261001/analysis_md/20260914_parent_regeneration_comparison.md；common gen0 fork；20×10.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Meeting/20261001/analysis_md/20260907_reflection_ratio_full_report.md；configs/experiments/0914_reflection_ablation_20x10/; experiment_results_after_0907.md.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本地 Meeting/20261001/README.md；Notion 0926 10×10、0926 5×20、0927 10×20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Meeting/20261001/analysis_md/20260928_self_play_10x10_vs_5x20.md；Notion 0926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Notion 0926 Self-play 10×10 與 5×20 pages；Meeting/20261001/analysis_md/20260928_self_play_10x10_vs_5x20.md.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Notion 0927 page；configs/experiments/0929/README.md.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Meeting/20261001/analysis_md/20260926_self_play_comparison.md；Notion 0927 10×20 page；configs/experiments/0929/fixed_opponent_10x20_control.yaml.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Meeting/20261001/analysis_md/20260928_self_play_10x10_vs_5x20.md；Notion 0926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Notion 0926–0927 pages；Meeting/20261001/analysis_md/20260928_self_play_10x10_vs_5x20.md.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Notion 0926–0927 Self-play runs.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configs/experiments/0929/README.md; self_play_5x40_semantic_tiebreak.yaml.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configs/experiments/0929/self_play_5x40_semantic_tiebreak.yaml；對照 configs/experiments/0926_self_play_sent/self_play_10x20.yaml.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資料截點：2026-09-29</a:t>
            </a:r>
          </a:p>
          <a:p xmlns:a="http://schemas.openxmlformats.org/drawingml/2006/main">
            <a:r>
              <a:t>Notion database MicroRTS EAGLE; Meeting/20261001/README.md and analysis_md/*.md.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 type="title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2F34C9E6-C370-4CE6-8C49-57861F01F24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476500" y="2762250"/>
            <a:ext cx="10972800" cy="1333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7A0C5AD2-9560-46CF-A557-9D96775B73B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857500" y="4429125"/>
            <a:ext cx="10210800" cy="952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4FF8C53-65A6-4BE2-B1C3-0860FCD540B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2.xml><?xml version="1.0" encoding="utf-8"?>
<p:sldLayout xmlns:p="http://schemas.openxmlformats.org/presentationml/2006/main" preserve="1" type="secHead">
  <p:cSld name="章節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E3969E06-0C81-48D2-BB37-515771E13DC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476500" y="3238500"/>
            <a:ext cx="10972800" cy="12382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2">
            <a:extLst xmlns:a="http://schemas.openxmlformats.org/drawingml/2006/main">
              <a:ext uri="{FF2B5EF4-FFF2-40B4-BE49-F238E27FC236}">
                <a16:creationId xmlns:a16="http://schemas.microsoft.com/office/drawing/2014/main" id="{590865AA-9D35-4748-91A3-B387D561BA4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048000" y="4714875"/>
            <a:ext cx="9829800" cy="8572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按一下以新增章節說明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DC12639-B266-46C5-BCF3-45A4D32AE42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3.xml><?xml version="1.0" encoding="utf-8"?>
<p:sldLayout xmlns:p="http://schemas.openxmlformats.org/presentationml/2006/main" preserve="1" type="obj">
  <p:cSld name="標題及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6EC4DF72-535F-4440-B07D-46BAD5D2A2A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1353937-B2B6-48C4-A2B5-2F27B15E716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92425B3F-3430-4EDE-B5B3-73C027E72E1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ED4EB3D-E8EE-422C-AC16-9B2450B7C42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4.xml><?xml version="1.0" encoding="utf-8"?>
<p:sldLayout xmlns:p="http://schemas.openxmlformats.org/presentationml/2006/main" preserve="1" type="twoObj">
  <p:cSld name="兩項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3A4791D8-472B-4CB1-9BF5-68D6DDA5E08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302C0C6D-C490-4DDF-92D9-E216E08E1CE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0892CF96-6BB8-469E-8C05-16E66270671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6305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00538733-DF1C-4D96-92B6-38724A005A9A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8191500" y="2619375"/>
            <a:ext cx="6305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8176649-BADB-4675-AA89-5F227F3F395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5.xml><?xml version="1.0" encoding="utf-8"?>
<p:sldLayout xmlns:p="http://schemas.openxmlformats.org/presentationml/2006/main" preserve="1" type="twoTxTwoObj">
  <p:cSld name="比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C4DD0E43-2CD7-44D8-A8DE-10D092170A6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076D8F65-D3F7-4349-B3FE-19769F62948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E2F427F0-C955-46A6-9858-9A50C0C635E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571750"/>
            <a:ext cx="6305550" cy="619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5" name="EAGLE_4">
            <a:extLst xmlns:a="http://schemas.openxmlformats.org/drawingml/2006/main">
              <a:ext uri="{FF2B5EF4-FFF2-40B4-BE49-F238E27FC236}">
                <a16:creationId xmlns:a16="http://schemas.microsoft.com/office/drawing/2014/main" id="{3BB99614-5410-42D4-8D56-3C67339DE590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1428750" y="3476625"/>
            <a:ext cx="6305550" cy="4048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3">
            <a:extLst xmlns:a="http://schemas.openxmlformats.org/drawingml/2006/main">
              <a:ext uri="{FF2B5EF4-FFF2-40B4-BE49-F238E27FC236}">
                <a16:creationId xmlns:a16="http://schemas.microsoft.com/office/drawing/2014/main" id="{A31AD1B3-6BB9-4504-B9C5-087515F7D2D4}"/>
              </a:ext>
            </a:extLst>
          </p:cNvPr>
          <p:cNvSpPr>
            <a:spLocks xmlns:a="http://schemas.openxmlformats.org/drawingml/2006/main" noGrp="1"/>
          </p:cNvSpPr>
          <p:nvPr>
            <p:ph idx="5"/>
          </p:nvPr>
        </p:nvSpPr>
        <p:spPr>
          <a:xfrm xmlns:a="http://schemas.openxmlformats.org/drawingml/2006/main">
            <a:off x="8191500" y="2571750"/>
            <a:ext cx="6305550" cy="619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7" name="EAGLE_5">
            <a:extLst xmlns:a="http://schemas.openxmlformats.org/drawingml/2006/main">
              <a:ext uri="{FF2B5EF4-FFF2-40B4-BE49-F238E27FC236}">
                <a16:creationId xmlns:a16="http://schemas.microsoft.com/office/drawing/2014/main" id="{31D81A76-EB56-426E-8AAB-C05D479E14FD}"/>
              </a:ext>
            </a:extLst>
          </p:cNvPr>
          <p:cNvSpPr>
            <a:spLocks xmlns:a="http://schemas.openxmlformats.org/drawingml/2006/main" noGrp="1"/>
          </p:cNvSpPr>
          <p:nvPr>
            <p:ph idx="5"/>
          </p:nvPr>
        </p:nvSpPr>
        <p:spPr>
          <a:xfrm xmlns:a="http://schemas.openxmlformats.org/drawingml/2006/main">
            <a:off x="8191500" y="3476625"/>
            <a:ext cx="6305550" cy="4048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8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DAAEABEC-89D6-436E-9471-497DE5F8CC7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6.xml><?xml version="1.0" encoding="utf-8"?>
<p:sldLayout xmlns:p="http://schemas.openxmlformats.org/presentationml/2006/main" preserve="1" type="cust">
  <p:cSld name="三欄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D22686DD-6022-4F4D-883C-A3A2AE4FE63B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6D6AF434-5A04-42F0-BBFA-BC92C57998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FEB69765-384F-41D2-A24F-900B0409C29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BB259B69-1EC0-4318-8F78-3881E3FD7476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594360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4">
            <a:extLst xmlns:a="http://schemas.openxmlformats.org/drawingml/2006/main">
              <a:ext uri="{FF2B5EF4-FFF2-40B4-BE49-F238E27FC236}">
                <a16:creationId xmlns:a16="http://schemas.microsoft.com/office/drawing/2014/main" id="{86B9ECF8-06DD-4853-A29A-64E7D62F27E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1045845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34CC2CF-DFA1-4FF2-9601-EFC4BA57938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7.xml><?xml version="1.0" encoding="utf-8"?>
<p:sldLayout xmlns:p="http://schemas.openxmlformats.org/presentationml/2006/main" preserve="1" type="picTx">
  <p:cSld name="圖片及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93752F55-AC4A-40BE-B03B-0C040D71840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8B7D0469-A4AB-493F-ACBF-E8CB73C3A6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9089290D-C95F-4404-8DFC-D4901DA1C1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000250" y="2476500"/>
            <a:ext cx="11925300" cy="46196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D1E03D6F-4B50-441D-9B62-7C7CF72080CE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2000250" y="7334250"/>
            <a:ext cx="11925300" cy="6667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按一下以新增圖片說明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C3B0106-61B7-472E-AA5A-C33DCAE7DD6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8.xml><?xml version="1.0" encoding="utf-8"?>
<p:sldLayout xmlns:p="http://schemas.openxmlformats.org/presentationml/2006/main" preserve="1" type="objTx">
  <p:cSld name="內容與圖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4E1AFFBC-8DD7-4858-BE9E-DF7B9E84524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1E591F6-4009-4737-9C0E-3381B92FB0A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6277AB01-EE8D-4317-87D9-BEC820CCC3C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5476875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882ACEB2-431F-4BBF-8F1B-4F07F63851B4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7429500" y="2619375"/>
            <a:ext cx="7067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110DA2E-972D-47CE-8ED2-D648217896E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9.xml><?xml version="1.0" encoding="utf-8"?>
<p:sldLayout xmlns:p="http://schemas.openxmlformats.org/presentationml/2006/main" preserve="1" type="tbl">
  <p:cSld name="標題及表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3F380ADE-E8BD-4361-83D4-34B395C514E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198BEF13-EEB7-4982-8834-382B045AD4B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72D86C95-69D7-4516-97E8-EFF008A8DEC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按一下以新增表格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04A177D9-44BB-4EE7-B2EE-483B651A823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0.xml><?xml version="1.0" encoding="utf-8"?>
<p:sldLayout xmlns:p="http://schemas.openxmlformats.org/presentationml/2006/main" preserve="1" type="chart">
  <p:cSld name="標題及圖表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1A30452A-65F7-44A3-A2FA-1CF1F34140ED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C07D963E-74AF-48B2-8248-0768C947D0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6394422A-37D3-4C97-96C5-AF5AE3C8DC4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按一下以新增圖表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6AA3F53-A20A-43C4-B655-9BABD8BDE39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1.xml><?xml version="1.0" encoding="utf-8"?>
<p:sldLayout xmlns:p="http://schemas.openxmlformats.org/presentationml/2006/main" preserve="1" type="titleOnly">
  <p:cSld name="僅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2F1A0662-494B-4627-BCEA-708F46AE5F7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E4D67E8-1093-453A-AE8D-20B1DE405F8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FA42C01-117D-4BA1-BE6C-78A506A620B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2.xml><?xml version="1.0" encoding="utf-8"?>
<p:sldLayout xmlns:p="http://schemas.openxmlformats.org/presentationml/2006/main" preserve="1" type="blank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28360F44-9DDB-4760-BE5D-FBB78FF4F62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Masters/_rels/slideMaster1.xml.rels><?xml version='1.0' encoding='UTF-8' standalone='yes'?>
<Relationships xmlns="http://schemas.openxmlformats.org/package/2006/relationships"><Relationship Id="rIdLayout1" Type="http://schemas.openxmlformats.org/officeDocument/2006/relationships/slideLayout" Target="../slideLayouts/slideLayout1.xml"/><Relationship Id="rIdLayout2" Type="http://schemas.openxmlformats.org/officeDocument/2006/relationships/slideLayout" Target="../slideLayouts/slideLayout2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Theme" Type="http://schemas.openxmlformats.org/officeDocument/2006/relationships/theme" Target="../theme/theme1.xml"/><Relationship Id="rIdBackground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EAG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AGLE geometric full-slide background"/>
          <p:cNvPicPr>
            <a:picLocks noChangeAspect="1"/>
          </p:cNvPicPr>
          <p:nvPr/>
        </p:nvPicPr>
        <p:blipFill>
          <a:blip r:embed="rIdBackground"/>
          <a:stretch>
            <a:fillRect/>
          </a:stretch>
        </p:blipFill>
        <p:spPr>
          <a:xfrm>
            <a:off x="0" y="0"/>
            <a:ext cx="15925800" cy="8963025"/>
          </a:xfrm>
          <a:prstGeom prst="rect">
            <a:avLst/>
          </a:prstGeom>
        </p:spPr>
      </p:pic>
      <p:sp>
        <p:nvSpPr>
          <p:cNvPr id="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F71BC431-0EC4-43B1-8E1D-CB4D6212917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  <p:sldLayoutId id="2147483656" r:id="rIdLayout8"/>
    <p:sldLayoutId id="2147483657" r:id="rIdLayout9"/>
    <p:sldLayoutId id="2147483658" r:id="rIdLayout10"/>
    <p:sldLayoutId id="2147483659" r:id="rIdLayout11"/>
    <p:sldLayoutId id="2147483660" r:id="rIdLayout12"/>
  </p:sldLayoutIdLst>
  <p:hf sldNum="1" dt="0" hdr="0" ftr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457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914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371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18288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2860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743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200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657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d69042160d424829" /><Relationship Type="http://schemas.openxmlformats.org/officeDocument/2006/relationships/notesSlide" Target="/ppt/notesSlides/notesSlide1.xml" Id="Rba6d2809a5f44057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8110930f56284142" /><Relationship Type="http://schemas.openxmlformats.org/officeDocument/2006/relationships/notesSlide" Target="/ppt/notesSlides/notesSlide2.xml" Id="Rf7005481f981427d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36ffacc3734f42e7" /><Relationship Type="http://schemas.openxmlformats.org/officeDocument/2006/relationships/notesSlide" Target="/ppt/notesSlides/notesSlide3.xml" Id="R8adb0d87221941eb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../slideLayouts/slideLayout3.xml" Id="R6a12c942d55e4dff" /><Relationship Type="http://schemas.openxmlformats.org/officeDocument/2006/relationships/notesSlide" Target="/ppt/notesSlides/notesSlide4.xml" Id="Rbabf6f83776d41f7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777fc9ec447046c7" /><Relationship Type="http://schemas.openxmlformats.org/officeDocument/2006/relationships/notesSlide" Target="/ppt/notesSlides/notesSlide5.xml" Id="Rbab344091251496d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f8e4f116a8d4420f" /><Relationship Type="http://schemas.openxmlformats.org/officeDocument/2006/relationships/notesSlide" Target="/ppt/notesSlides/notesSlide6.xml" Id="Rdd7bf7da867e45d2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8dea63b2de0d4228" /><Relationship Type="http://schemas.openxmlformats.org/officeDocument/2006/relationships/notesSlide" Target="/ppt/notesSlides/notesSlide7.xml" Id="R1e78426967414961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98edc6673c764828" /><Relationship Type="http://schemas.openxmlformats.org/officeDocument/2006/relationships/notesSlide" Target="/ppt/notesSlides/notesSlide8.xml" Id="Rb96334151b7044cb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71133a36f34a4355" /><Relationship Type="http://schemas.openxmlformats.org/officeDocument/2006/relationships/chart" Target="/ppt/slides/charts/chart1.xml" Id="R9dabe66619de4eca" /><Relationship Type="http://schemas.openxmlformats.org/officeDocument/2006/relationships/notesSlide" Target="/ppt/notesSlides/notesSlide9.xml" Id="R4b245db0d28a4b80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../slideLayouts/slideLayout3.xml" Id="R5f42af6567784cdf" /><Relationship Type="http://schemas.openxmlformats.org/officeDocument/2006/relationships/notesSlide" Target="/ppt/notesSlides/notesSlide10.xml" Id="Ra94696a22399424d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5625cb41c6294974" /><Relationship Type="http://schemas.openxmlformats.org/officeDocument/2006/relationships/notesSlide" Target="/ppt/notesSlides/notesSlide11.xml" Id="R394ee8c1341e4735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e3905c5077e64c41" /><Relationship Type="http://schemas.openxmlformats.org/officeDocument/2006/relationships/notesSlide" Target="/ppt/notesSlides/notesSlide12.xml" Id="R5ce032da8a984fe6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../slideLayouts/slideLayout3.xml" Id="R2823d0e4db8441d9" /><Relationship Type="http://schemas.openxmlformats.org/officeDocument/2006/relationships/notesSlide" Target="/ppt/notesSlides/notesSlide13.xml" Id="R735731bdb7874823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397836c93cc9483d" /><Relationship Type="http://schemas.openxmlformats.org/officeDocument/2006/relationships/notesSlide" Target="/ppt/notesSlides/notesSlide14.xml" Id="R4e107eb211d24705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7d44dce6fac64422" /><Relationship Type="http://schemas.openxmlformats.org/officeDocument/2006/relationships/chart" Target="/ppt/slides/charts/chart2.xml" Id="R531f9fb61b474019" /><Relationship Type="http://schemas.openxmlformats.org/officeDocument/2006/relationships/notesSlide" Target="/ppt/notesSlides/notesSlide15.xml" Id="Rf75ad00294d041d7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../slideLayouts/slideLayout9.xml" Id="Rcc8d716216944c66" /><Relationship Type="http://schemas.openxmlformats.org/officeDocument/2006/relationships/notesSlide" Target="/ppt/notesSlides/notesSlide16.xml" Id="R0f08da7d2f3f472f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a5fc431bcc19423f" /><Relationship Type="http://schemas.openxmlformats.org/officeDocument/2006/relationships/notesSlide" Target="/ppt/notesSlides/notesSlide17.xml" Id="R05c7f5a014b3489b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../slideLayouts/slideLayout10.xml" Id="R875c65f1abc2444f" /><Relationship Type="http://schemas.openxmlformats.org/officeDocument/2006/relationships/notesSlide" Target="/ppt/notesSlides/notesSlide18.xml" Id="R00c6e131ec934d9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ns0:chartSpace xmlns:a="http://schemas.openxmlformats.org/drawingml/2006/main" xmlns:ns0="http://schemas.openxmlformats.org/drawingml/2006/chart" xmlns:r="http://schemas.openxmlformats.org/officeDocument/2006/relationships">
  <ns0:lang val="en-US"/>
  <ns0:chart>
    <ns0:plotArea>
      <ns0:barChart>
        <ns0:barDir val="col"/>
        <ns0:grouping val="stacked"/>
        <ns0:varyColors val="0"/>
        <ns0:ser>
          <ns0:idx val="0"/>
          <ns0:order val="0"/>
          <ns0:tx>
            <ns0:v>Wins</ns0:v>
          </ns0:tx>
          <ns0:spPr>
            <a:solidFill>
              <a:srgbClr val="CF8792"/>
            </a:solidFill>
          </ns0:spPr>
          <ns0:cat>
            <ns0:strRef>
              <ns0:f>'Chart Data'!$A$2:$A$3</ns0:f>
              <ns0:strCache>
                <ns0:ptCount val="2"/>
                <ns0:pt idx="0">
                  <ns0:v>10×10</ns0:v>
                </ns0:pt>
                <ns0:pt idx="1">
                  <ns0:v>5×20</ns0:v>
                </ns0:pt>
              </ns0:strCache>
            </ns0:strRef>
          </ns0:cat>
          <ns0:val>
            <ns0:numRef>
              <ns0:f>'Chart Data'!$B$2:$B$3</ns0:f>
              <ns0:numCache>
                <ns0:formatCode>General</ns0:formatCode>
                <ns0:ptCount val="2"/>
                <ns0:pt idx="0">
                  <ns0:v>257</ns0:v>
                </ns0:pt>
                <ns0:pt idx="1">
                  <ns0:v>0</ns0:v>
                </ns0:pt>
              </ns0:numCache>
            </ns0:numRef>
          </ns0:val>
        </ns0:ser>
        <ns0:ser>
          <ns0:idx val="1"/>
          <ns0:order val="1"/>
          <ns0:tx>
            <ns0:v>Draws</ns0:v>
          </ns0:tx>
          <ns0:spPr>
            <a:solidFill>
              <a:srgbClr val="FAEDC6"/>
            </a:solidFill>
          </ns0:spPr>
          <ns0:cat>
            <ns0:strRef>
              <ns0:f>'Chart Data'!$C$2:$C$3</ns0:f>
              <ns0:strCache>
                <ns0:ptCount val="2"/>
                <ns0:pt idx="0">
                  <ns0:v>10×10</ns0:v>
                </ns0:pt>
                <ns0:pt idx="1">
                  <ns0:v>5×20</ns0:v>
                </ns0:pt>
              </ns0:strCache>
            </ns0:strRef>
          </ns0:cat>
          <ns0:val>
            <ns0:numRef>
              <ns0:f>'Chart Data'!$D$2:$D$3</ns0:f>
              <ns0:numCache>
                <ns0:formatCode>General</ns0:formatCode>
                <ns0:ptCount val="2"/>
                <ns0:pt idx="0">
                  <ns0:v>22</ns0:v>
                </ns0:pt>
                <ns0:pt idx="1">
                  <ns0:v>212</ns0:v>
                </ns0:pt>
              </ns0:numCache>
            </ns0:numRef>
          </ns0:val>
        </ns0:ser>
        <ns0:ser>
          <ns0:idx val="2"/>
          <ns0:order val="2"/>
          <ns0:tx>
            <ns0:v>Losses</ns0:v>
          </ns0:tx>
          <ns0:spPr>
            <a:solidFill>
              <a:srgbClr val="DEB4BA"/>
            </a:solidFill>
          </ns0:spPr>
          <ns0:cat>
            <ns0:strRef>
              <ns0:f>'Chart Data'!$E$2:$E$3</ns0:f>
              <ns0:strCache>
                <ns0:ptCount val="2"/>
                <ns0:pt idx="0">
                  <ns0:v>10×10</ns0:v>
                </ns0:pt>
                <ns0:pt idx="1">
                  <ns0:v>5×20</ns0:v>
                </ns0:pt>
              </ns0:strCache>
            </ns0:strRef>
          </ns0:cat>
          <ns0:val>
            <ns0:numRef>
              <ns0:f>'Chart Data'!$F$2:$F$3</ns0:f>
              <ns0:numCache>
                <ns0:formatCode>General</ns0:formatCode>
                <ns0:ptCount val="2"/>
                <ns0:pt idx="0">
                  <ns0:v>321</ns0:v>
                </ns0:pt>
                <ns0:pt idx="1">
                  <ns0:v>388</ns0:v>
                </ns0:pt>
              </ns0:numCache>
            </ns0:numRef>
          </ns0:val>
        </ns0:ser>
        <ns0:dLbls>
          <ns0:txPr>
            <a:bodyPr anchorCtr="1"/>
            <a:lstStyle/>
            <a:p>
              <a:pPr>
                <a:defRPr sz="1552">
                  <a:latin typeface="Source Han Serif TW"/>
                  <a:ea typeface="Source Han Serif TW"/>
                  <a:cs typeface="Source Han Serif TW"/>
                </a:defRPr>
              </a:pPr>
            </a:p>
          </ns0:txPr>
          <ns0:dLblPos val="ctr"/>
          <ns0:showLegendKey val="0"/>
          <ns0:showVal val="1"/>
          <ns0:showCatName val="0"/>
          <ns0:showSerName val="0"/>
          <ns0:showPercent val="0"/>
          <ns0:showBubbleSize val="0"/>
          <ns0:showLeaderLines val="0"/>
        </ns0:dLbls>
        <ns0:gapWidth val="100"/>
        <ns0:overlap val="100"/>
        <ns0:axId val="48650112"/>
        <ns0:axId val="48672768"/>
      </ns0:barChart>
      <ns0:catAx>
        <ns0:axId val="48650112"/>
        <ns0:scaling>
          <ns0:orientation val="minMax"/>
        </ns0:scaling>
        <ns0:delete val="0"/>
        <ns0:axPos val="b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466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72768"/>
      </ns0:catAx>
      <ns0:valAx>
        <ns0:axId val="48672768"/>
        <ns0:scaling>
          <ns0:orientation val="minMax"/>
          <ns0:max val="600"/>
          <ns0:min val="0"/>
        </ns0:scaling>
        <ns0:delete val="0"/>
        <ns0:axPos val="l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380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50112"/>
        <ns0:crossBetween val="between"/>
        <ns0:majorUnit val="100"/>
      </ns0:valAx>
      <ns0:spPr>
        <a:solidFill>
          <a:srgbClr val="FCF8F5"/>
        </a:solidFill>
      </ns0:spPr>
    </ns0:plotArea>
    <ns0:legend>
      <ns0:legendPos val="b"/>
      <ns0:overlay val="0"/>
      <ns0:txPr>
        <a:bodyPr anchorCtr="1"/>
        <a:lstStyle/>
        <a:p>
          <a:pPr>
            <a:defRPr sz="1552">
              <a:latin typeface="Source Han Serif TW"/>
              <a:ea typeface="Source Han Serif TW"/>
              <a:cs typeface="Source Han Serif TW"/>
            </a:defRPr>
          </a:pPr>
        </a:p>
      </ns0:txPr>
    </ns0:legend>
    <ns0:plotVisOnly val="1"/>
  </ns0:chart>
  <ns0:spPr>
    <a:solidFill>
      <a:srgbClr val="FCF8F5"/>
    </a:solidFill>
  </ns0:spPr>
  <ns0:externalData r:id="rIdChartSnapshot1">
    <ns0:autoUpdate val="0"/>
  </ns0:externalData>
</ns0:chartSpace>
</file>

<file path=ppt/slides/charts/chart2.xml><?xml version="1.0" encoding="utf-8"?>
<ns0:chartSpace xmlns:a="http://schemas.openxmlformats.org/drawingml/2006/main" xmlns:ns0="http://schemas.openxmlformats.org/drawingml/2006/chart" xmlns:r="http://schemas.openxmlformats.org/officeDocument/2006/relationships">
  <ns0:lang val="en-US"/>
  <ns0:chart>
    <ns0:plotArea>
      <ns0:barChart>
        <ns0:barDir val="col"/>
        <ns0:grouping val="stacked"/>
        <ns0:varyColors val="0"/>
        <ns0:ser>
          <ns0:idx val="0"/>
          <ns0:order val="0"/>
          <ns0:tx>
            <ns0:v>Wins</ns0:v>
          </ns0:tx>
          <ns0:spPr>
            <a:solidFill>
              <a:srgbClr val="CF8792"/>
            </a:solidFill>
          </ns0:spPr>
          <ns0:cat>
            <ns0:strRef>
              <ns0:f>'Chart Data'!$A$2:$A$4</ns0:f>
              <ns0:strCache>
                <ns0:ptCount val="3"/>
                <ns0:pt idx="0">
                  <ns0:v>0926 10×10</ns0:v>
                </ns0:pt>
                <ns0:pt idx="1">
                  <ns0:v>0926 5×20</ns0:v>
                </ns0:pt>
                <ns0:pt idx="2">
                  <ns0:v>0927 10×20</ns0:v>
                </ns0:pt>
              </ns0:strCache>
            </ns0:strRef>
          </ns0:cat>
          <ns0:val>
            <ns0:numRef>
              <ns0:f>'Chart Data'!$B$2:$B$4</ns0:f>
              <ns0:numCache>
                <ns0:formatCode>General</ns0:formatCode>
                <ns0:ptCount val="3"/>
                <ns0:pt idx="0">
                  <ns0:v>257</ns0:v>
                </ns0:pt>
                <ns0:pt idx="1">
                  <ns0:v>0</ns0:v>
                </ns0:pt>
                <ns0:pt idx="2">
                  <ns0:v>0</ns0:v>
                </ns0:pt>
              </ns0:numCache>
            </ns0:numRef>
          </ns0:val>
        </ns0:ser>
        <ns0:ser>
          <ns0:idx val="1"/>
          <ns0:order val="1"/>
          <ns0:tx>
            <ns0:v>Draws</ns0:v>
          </ns0:tx>
          <ns0:spPr>
            <a:solidFill>
              <a:srgbClr val="FAEDC6"/>
            </a:solidFill>
          </ns0:spPr>
          <ns0:cat>
            <ns0:strRef>
              <ns0:f>'Chart Data'!$C$2:$C$4</ns0:f>
              <ns0:strCache>
                <ns0:ptCount val="3"/>
                <ns0:pt idx="0">
                  <ns0:v>0926 10×10</ns0:v>
                </ns0:pt>
                <ns0:pt idx="1">
                  <ns0:v>0926 5×20</ns0:v>
                </ns0:pt>
                <ns0:pt idx="2">
                  <ns0:v>0927 10×20</ns0:v>
                </ns0:pt>
              </ns0:strCache>
            </ns0:strRef>
          </ns0:cat>
          <ns0:val>
            <ns0:numRef>
              <ns0:f>'Chart Data'!$D$2:$D$4</ns0:f>
              <ns0:numCache>
                <ns0:formatCode>General</ns0:formatCode>
                <ns0:ptCount val="3"/>
                <ns0:pt idx="0">
                  <ns0:v>22</ns0:v>
                </ns0:pt>
                <ns0:pt idx="1">
                  <ns0:v>212</ns0:v>
                </ns0:pt>
                <ns0:pt idx="2">
                  <ns0:v>156</ns0:v>
                </ns0:pt>
              </ns0:numCache>
            </ns0:numRef>
          </ns0:val>
        </ns0:ser>
        <ns0:ser>
          <ns0:idx val="2"/>
          <ns0:order val="2"/>
          <ns0:tx>
            <ns0:v>Losses</ns0:v>
          </ns0:tx>
          <ns0:spPr>
            <a:solidFill>
              <a:srgbClr val="DEB4BA"/>
            </a:solidFill>
          </ns0:spPr>
          <ns0:cat>
            <ns0:strRef>
              <ns0:f>'Chart Data'!$E$2:$E$4</ns0:f>
              <ns0:strCache>
                <ns0:ptCount val="3"/>
                <ns0:pt idx="0">
                  <ns0:v>0926 10×10</ns0:v>
                </ns0:pt>
                <ns0:pt idx="1">
                  <ns0:v>0926 5×20</ns0:v>
                </ns0:pt>
                <ns0:pt idx="2">
                  <ns0:v>0927 10×20</ns0:v>
                </ns0:pt>
              </ns0:strCache>
            </ns0:strRef>
          </ns0:cat>
          <ns0:val>
            <ns0:numRef>
              <ns0:f>'Chart Data'!$F$2:$F$4</ns0:f>
              <ns0:numCache>
                <ns0:formatCode>General</ns0:formatCode>
                <ns0:ptCount val="3"/>
                <ns0:pt idx="0">
                  <ns0:v>321</ns0:v>
                </ns0:pt>
                <ns0:pt idx="1">
                  <ns0:v>388</ns0:v>
                </ns0:pt>
                <ns0:pt idx="2">
                  <ns0:v>444</ns0:v>
                </ns0:pt>
              </ns0:numCache>
            </ns0:numRef>
          </ns0:val>
        </ns0:ser>
        <ns0:dLbls>
          <ns0:txPr>
            <a:bodyPr anchorCtr="1"/>
            <a:lstStyle/>
            <a:p>
              <a:pPr>
                <a:defRPr sz="1552">
                  <a:latin typeface="Source Han Serif TW"/>
                  <a:ea typeface="Source Han Serif TW"/>
                  <a:cs typeface="Source Han Serif TW"/>
                </a:defRPr>
              </a:pPr>
            </a:p>
          </ns0:txPr>
          <ns0:dLblPos val="ctr"/>
          <ns0:showLegendKey val="0"/>
          <ns0:showVal val="1"/>
          <ns0:showCatName val="0"/>
          <ns0:showSerName val="0"/>
          <ns0:showPercent val="0"/>
          <ns0:showBubbleSize val="0"/>
          <ns0:showLeaderLines val="0"/>
        </ns0:dLbls>
        <ns0:gapWidth val="100"/>
        <ns0:overlap val="100"/>
        <ns0:axId val="48650112"/>
        <ns0:axId val="48672768"/>
      </ns0:barChart>
      <ns0:catAx>
        <ns0:axId val="48650112"/>
        <ns0:scaling>
          <ns0:orientation val="minMax"/>
        </ns0:scaling>
        <ns0:delete val="0"/>
        <ns0:axPos val="b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466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72768"/>
      </ns0:catAx>
      <ns0:valAx>
        <ns0:axId val="48672768"/>
        <ns0:scaling>
          <ns0:orientation val="minMax"/>
          <ns0:max val="600"/>
          <ns0:min val="0"/>
        </ns0:scaling>
        <ns0:delete val="0"/>
        <ns0:axPos val="l"/>
        <ns0:numFmt formatCode="General"/>
        <ns0:majorTickMark val="none"/>
        <ns0:minorTickMark val="none"/>
        <ns0:spPr>
          <a:ln w="9525">
            <a:solidFill>
              <a:srgbClr val="D4D4D4"/>
            </a:solidFill>
            <a:prstDash val="solid"/>
          </a:ln>
        </ns0:spPr>
        <ns0:txPr>
          <a:bodyPr anchorCtr="1"/>
          <a:lstStyle/>
          <a:p>
            <a:pPr>
              <a:defRPr sz="1380">
                <a:solidFill>
                  <a:srgbClr val="666666"/>
                </a:solidFill>
                <a:latin typeface="Source Han Serif TW"/>
                <a:ea typeface="Source Han Serif TW"/>
                <a:cs typeface="Source Han Serif TW"/>
              </a:defRPr>
            </a:pPr>
          </a:p>
        </ns0:txPr>
        <ns0:crossAx val="48650112"/>
        <ns0:crossBetween val="between"/>
        <ns0:majorUnit val="100"/>
      </ns0:valAx>
      <ns0:spPr>
        <a:solidFill>
          <a:srgbClr val="FCF8F5"/>
        </a:solidFill>
      </ns0:spPr>
    </ns0:plotArea>
    <ns0:legend>
      <ns0:legendPos val="b"/>
      <ns0:overlay val="0"/>
      <ns0:txPr>
        <a:bodyPr anchorCtr="1"/>
        <a:lstStyle/>
        <a:p>
          <a:pPr>
            <a:defRPr sz="1552">
              <a:latin typeface="Source Han Serif TW"/>
              <a:ea typeface="Source Han Serif TW"/>
              <a:cs typeface="Source Han Serif TW"/>
            </a:defRPr>
          </a:pPr>
        </a:p>
      </ns0:txPr>
    </ns0:legend>
    <ns0:plotVisOnly val="1"/>
  </ns0:chart>
  <ns0:spPr>
    <a:solidFill>
      <a:srgbClr val="FCF8F5"/>
    </a:solidFill>
  </ns0:spPr>
  <ns0:externalData r:id="rIdChartSnapshot1">
    <ns0:autoUpdate val="0"/>
  </ns0:externalData>
</ns0:chartSpace>
</file>

<file path=ppt/slides/slide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8" name="EAGLE_0">
            <a:extLst>
              <a:ext uri="{FF2B5EF4-FFF2-40B4-BE49-F238E27FC236}">
                <ns2:creationId id="{34D8F21E-7DEE-4CC4-A1C9-9C36DE450BCC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實驗比較與結果校核</a:t>
            </a:r>
          </a:p>
        </p:txBody>
      </p:sp>
      <p:sp>
        <p:nvSpPr>
          <p:cNvPr id="9" name="EAGLE_1">
            <a:extLst>
              <a:ext uri="{FF2B5EF4-FFF2-40B4-BE49-F238E27FC236}">
                <ns2:creationId id="{18ADD2BF-42E8-48E0-8A2B-6E3E641F80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研究會議｜實驗資料截至 2026/09/29</a:t>
            </a:r>
          </a:p>
        </p:txBody>
      </p:sp>
      <p:sp>
        <p:nvSpPr>
          <p:cNvPr id="5" name="">
            <a:extLst>
              <a:ext uri="{FF2B5EF4-FFF2-40B4-BE49-F238E27FC236}">
                <ns2:creationId id="{2EA86DFC-4192-482A-A4DF-AC35F70A39E6}"/>
              </a:ext>
            </a:extLst>
          </p:cNvPr>
          <p:cNvSpPr>
            <a:spLocks noGrp="1"/>
          </p:cNvSpPr>
          <p:nvPr/>
        </p:nvSpPr>
        <p:spPr>
          <a:xfrm>
            <a:off x="1451282" y="2821781"/>
            <a:ext cx="12617669" cy="85903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22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622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Self-play 結果、歷史對照與缺漏實驗</a:t>
            </a:r>
          </a:p>
        </p:txBody>
      </p:sp>
      <p:sp>
        <p:nvSpPr>
          <p:cNvPr id="6" name="">
            <a:extLst>
              <a:ext uri="{FF2B5EF4-FFF2-40B4-BE49-F238E27FC236}">
                <ns2:creationId id="{3622F85A-A04F-45E8-9FE3-705EE34132F5}"/>
              </a:ext>
            </a:extLst>
          </p:cNvPr>
          <p:cNvSpPr>
            <a:spLocks noGrp="1"/>
          </p:cNvSpPr>
          <p:nvPr/>
        </p:nvSpPr>
        <p:spPr>
          <a:xfrm>
            <a:off x="1473813" y="3923109"/>
            <a:ext cx="12505011" cy="55066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4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4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所有結果先按 run ID、resolved config 與共同 600 場 final test 校核</a:t>
            </a:r>
          </a:p>
        </p:txBody>
      </p:sp>
      <p:sp>
        <p:nvSpPr>
          <p:cNvPr id="7" name="">
            <a:extLst>
              <a:ext uri="{FF2B5EF4-FFF2-40B4-BE49-F238E27FC236}">
                <ns2:creationId id="{2FD87997-025A-4177-914A-8D6772CA69FD}"/>
              </a:ext>
            </a:extLst>
          </p:cNvPr>
          <p:cNvSpPr>
            <a:spLocks noGrp="1"/>
          </p:cNvSpPr>
          <p:nvPr/>
        </p:nvSpPr>
        <p:spPr>
          <a:xfrm>
            <a:off x="1473813" y="4638973"/>
            <a:ext cx="12505011" cy="4405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涵蓋 09/07–09/29 分析文件與 Notion 0924 後 3 次單一 game_performance 目標 self-play runs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C0A1BA7-4D10-45CE-9C06-6F7FCE73D45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</a:t>
            </a:fld>
          </a:p>
        </p:txBody>
      </p:sp>
    </p:spTree>
    <p:extLst>
      <p:ext uri="{BB962C8B-B14F-4D97-AF65-F5344CB8AC3E}">
        <ns3:creationId val="674567947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82FF10C9-C1D1-40E6-BC3E-D38372AF23B4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原草稿需更新的數字與比較口徑</a:t>
            </a:r>
          </a:p>
        </p:txBody>
      </p:sp>
      <p:sp>
        <p:nvSpPr>
          <p:cNvPr id="13" name="EAGLE_1">
            <a:extLst>
              <a:ext uri="{FF2B5EF4-FFF2-40B4-BE49-F238E27FC236}">
                <ns2:creationId id="{00BAB8A9-065B-426D-A63D-E01FF8059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舊版資料仍有參考價值，但不能當作最新 10×20 結果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491383"/>
          <a:ext cx="13068300" cy="3854648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379733"/>
                <a:gridCol w="9688567"/>
              </a:tblGrid>
              <a:tr h="64244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校核項目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校正後口徑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64244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0923 10×20 與 0927 10×20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不同 run。0927 semantic tie-break 為 0/444/156/0 W/L/D/E；舊 0923 為 0/449/151/0。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4244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0925 5×40 evaluation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舊 lexicase 對 10 個 self-play snapshot opponents；不是單一 game_performance 目標，排除主表。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4244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單一目標範圍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0926–0927 三組只有 game_performance 數值目標；semantic tie-break 有使用、但只在 fitness 差距 ≤1.0 時決勝。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4244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比分順序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全簡報統一使用 W/L/D/E；不得混用 W/D/L。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4244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fitness 比較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Self-play snapshot 每 5 代換對手 context；跨 snapshot/run 不直接比較 GP。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8BA21B76-54FF-41C1-BCE8-F9B7CEB45427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外部泛化統一看共同 600 場 fixed-roster final test 的 W/L/D/E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3E7E6945-CF90-48AB-806F-EE7AECD183F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</a:t>
            </a:fld>
          </a:p>
        </p:txBody>
      </p:sp>
    </p:spTree>
    <p:extLst>
      <p:ext uri="{BB962C8B-B14F-4D97-AF65-F5344CB8AC3E}">
        <ns3:creationId val="1171926029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6A0866E3-73E7-454B-8D0B-6B88B91FDD30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4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4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FFE：先固定 regular offspring 預算</a:t>
            </a:r>
          </a:p>
        </p:txBody>
      </p:sp>
      <p:sp>
        <p:nvSpPr>
          <p:cNvPr id="14" name="EAGLE_1">
            <a:extLst>
              <a:ext uri="{FF2B5EF4-FFF2-40B4-BE49-F238E27FC236}">
                <ns2:creationId id="{54224C64-CD1C-49EE-8EEC-86DC45997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採 generations × population size 作為同預算比較口徑；初始族群與 refresh 評估另計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601516"/>
          <a:ext cx="13068300" cy="3303984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379733"/>
                <a:gridCol w="3717706"/>
                <a:gridCol w="5970861"/>
              </a:tblGrid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配比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Regular offspring FFE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可比較問題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10×10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較大族群、較淺搜尋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較小族群、較深搜尋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10×20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較大族群、較淺搜尋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5×40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984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較小族群、較深搜尋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4A7035BC-9B16-4376-BB92-E073A309079C}"/>
              </a:ext>
            </a:extLst>
          </p:cNvPr>
          <p:cNvSpPr>
            <a:spLocks noGrp="1"/>
          </p:cNvSpPr>
          <p:nvPr/>
        </p:nvSpPr>
        <p:spPr>
          <a:xfrm>
            <a:off x="1451282" y="6268938"/>
            <a:ext cx="12786656" cy="60573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10×20 和 5×40 的 regular offspring 都是 200；總 artifacts 不等於 FFE，因 gen0、snapshot refresh 和 repairs 會增加評估。</a:t>
            </a:r>
          </a:p>
        </p:txBody>
      </p:sp>
      <p:sp>
        <p:nvSpPr>
          <p:cNvPr id="7" name="">
            <a:extLst>
              <a:ext uri="{FF2B5EF4-FFF2-40B4-BE49-F238E27FC236}">
                <ns2:creationId id="{AB31584A-8235-4BA2-BB06-A2EE80751ABB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同預算比較的是「族群規模／搜尋深度配置」，不是單獨改 generations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67B380AF-91E5-4E63-B856-53CE6A1F813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</a:t>
            </a:fld>
          </a:p>
        </p:txBody>
      </p:sp>
    </p:spTree>
    <p:extLst>
      <p:ext uri="{BB962C8B-B14F-4D97-AF65-F5344CB8AC3E}">
        <ns3:creationId val="1385412734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BEFB1342-78DB-4013-B54F-EFFC5F9DCDFF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784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784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生成模型：Ministral-only 與雙模型 pipeline</a:t>
            </a:r>
          </a:p>
        </p:txBody>
      </p:sp>
      <p:sp>
        <p:nvSpPr>
          <p:cNvPr id="14" name="EAGLE_1">
            <a:extLst>
              <a:ext uri="{FF2B5EF4-FFF2-40B4-BE49-F238E27FC236}">
                <ns2:creationId id="{25D8BF36-332D-436A-856A-396A5AE82A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20×10、模型角色是主要配置差異；結果只代表兩次完整 run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91383"/>
          <a:ext cx="13068300" cy="3711476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830364"/>
                <a:gridCol w="4562639"/>
                <a:gridCol w="4675297"/>
              </a:tblGrid>
              <a:tr h="61858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指標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Ministral-only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Ministral → Qwen3.5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61858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Best / mean GP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−47.52 / −58.99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−81.91 / −87.62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1858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population W/L/D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542 / 1,056 / 202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 / 1,284 / 511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1858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Java generation success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186/200 (93.0%)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195/200 (97.5%)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1858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First-attempt success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140/200 (70.0%)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183/200 (91.5%)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1858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Unique Java hashes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F21A828F-1FEB-412E-8A46-62960EDDB948}"/>
              </a:ext>
            </a:extLst>
          </p:cNvPr>
          <p:cNvSpPr>
            <a:spLocks noGrp="1"/>
          </p:cNvSpPr>
          <p:nvPr/>
        </p:nvSpPr>
        <p:spPr>
          <a:xfrm>
            <a:off x="1451282" y="6522244"/>
            <a:ext cx="12842984" cy="52863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雙模型較容易生成可編譯 Java，卻未把成功率轉成對戰表現。兩組獨立抽樣初始 policy，10 個 policy hash 只有 1 個相同。</a:t>
            </a:r>
          </a:p>
        </p:txBody>
      </p:sp>
      <p:sp>
        <p:nvSpPr>
          <p:cNvPr id="7" name="">
            <a:extLst>
              <a:ext uri="{FF2B5EF4-FFF2-40B4-BE49-F238E27FC236}">
                <ns2:creationId id="{4842D059-A6DF-41D5-813E-B16FEED5CCC7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方向明確，模型因果仍需同起始 policies 的重複對照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61A0C9F6-A030-4429-82D8-7A8C5BEE4F3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</a:t>
            </a:fld>
          </a:p>
        </p:txBody>
      </p:sp>
    </p:spTree>
    <p:extLst>
      <p:ext uri="{BB962C8B-B14F-4D97-AF65-F5344CB8AC3E}">
        <ns3:creationId val="800909425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F0E02D47-8A10-4F99-8925-D8081FEF04A6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7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初始族群：全 Worker Rush 與 Mixed policies</a:t>
            </a:r>
          </a:p>
        </p:txBody>
      </p:sp>
      <p:sp>
        <p:nvSpPr>
          <p:cNvPr id="14" name="EAGLE_1">
            <a:extLst>
              <a:ext uri="{FF2B5EF4-FFF2-40B4-BE49-F238E27FC236}">
                <ns2:creationId id="{4A8D6A0D-9287-4E2E-814C-49ED543A6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兩組都是 20×10；此配對比較的是完整初始化方案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513409"/>
          <a:ext cx="13068300" cy="2973586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4393653"/>
                <a:gridCol w="4280995"/>
                <a:gridCol w="4393653"/>
              </a:tblGrid>
              <a:tr h="5947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test / run 狀態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全 Worker Rush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Mixed policies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5947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Wins / 600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24 (4.0%)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256 (42.7%)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947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W/L/D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24 / 435 / 141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256 / 332 / 12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947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Run time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15.21 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16.72 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59471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Candidate failures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3/210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23/210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30C11FC0-8629-4F13-8482-D9DE56FCDA6A}"/>
              </a:ext>
            </a:extLst>
          </p:cNvPr>
          <p:cNvSpPr>
            <a:spLocks noGrp="1"/>
          </p:cNvSpPr>
          <p:nvPr/>
        </p:nvSpPr>
        <p:spPr>
          <a:xfrm>
            <a:off x="1451282" y="5938540"/>
            <a:ext cx="12842984" cy="77093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97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Mixed 將 policy 組成、Java seed 和 gen0 materialization 一起改變；結果支持 Mixed 初始化方案整體較佳，不能單獨歸因於 policy 多樣性。</a:t>
            </a:r>
          </a:p>
        </p:txBody>
      </p:sp>
      <p:sp>
        <p:nvSpPr>
          <p:cNvPr id="7" name="">
            <a:extLst>
              <a:ext uri="{FF2B5EF4-FFF2-40B4-BE49-F238E27FC236}">
                <ns2:creationId id="{6F71B1E1-2608-4F15-9E9D-4FF788EF2419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戰力提高伴隨較多失敗；後續需固定 Java 初始化流程拆出單一因素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A5A8FFC-B84A-4C5E-BE5F-4E781328FB02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5</a:t>
            </a:fld>
          </a:p>
        </p:txBody>
      </p:sp>
    </p:spTree>
    <p:extLst>
      <p:ext uri="{BB962C8B-B14F-4D97-AF65-F5344CB8AC3E}">
        <ns3:creationId val="1287304546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2A5584A0-813D-4AEE-93DD-39FEEA7C9DDF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478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478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父代評估：reuse cached 對 regenerate genotype</a:t>
            </a:r>
          </a:p>
        </p:txBody>
      </p:sp>
      <p:sp>
        <p:nvSpPr>
          <p:cNvPr id="14" name="EAGLE_1">
            <a:extLst>
              <a:ext uri="{FF2B5EF4-FFF2-40B4-BE49-F238E27FC236}">
                <ns2:creationId id="{01B6F3C5-ADB8-4470-96A1-A0CA7734C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此為歷史資料中控制最完整的單變因配對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513409"/>
          <a:ext cx="13068300" cy="3028652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943022"/>
                <a:gridCol w="4562639"/>
                <a:gridCol w="4562639"/>
              </a:tblGrid>
              <a:tr h="6057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指標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reuse_cached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regenerate_same_genotype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6057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Best / mean GP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−50.51 / −65.35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−79.34 / −87.29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057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Search W/L/D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510 / 1,121 / 169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88 / 1,328 / 384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057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Committed time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16.43 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26.25 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0573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Case-wise maxima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9/10 較高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1/10 較高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391EB4F8-149D-444B-90BA-E10E100284C7}"/>
              </a:ext>
            </a:extLst>
          </p:cNvPr>
          <p:cNvSpPr>
            <a:spLocks noGrp="1"/>
          </p:cNvSpPr>
          <p:nvPr/>
        </p:nvSpPr>
        <p:spPr>
          <a:xfrm>
            <a:off x="1451282" y="5949553"/>
            <a:ext cx="12842984" cy="68282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兩組從同一 gen0 checkpoint 出發，實質差異只有 parent evaluation mode。Treatment 未做獨立 final test，比分是搜尋 evaluation matrix。</a:t>
            </a:r>
          </a:p>
        </p:txBody>
      </p:sp>
      <p:sp>
        <p:nvSpPr>
          <p:cNvPr id="7" name="">
            <a:extLst>
              <a:ext uri="{FF2B5EF4-FFF2-40B4-BE49-F238E27FC236}">
                <ns2:creationId id="{A5E7E2C6-A960-4A45-A7E9-177D131DC1B6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單次配對支持保留已驗證 phenotype 與 fitness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44EE84E2-EB35-4199-AA4A-810169245AD5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6</a:t>
            </a:fld>
          </a:p>
        </p:txBody>
      </p:sp>
    </p:spTree>
    <p:extLst>
      <p:ext uri="{BB962C8B-B14F-4D97-AF65-F5344CB8AC3E}">
        <ns3:creationId val="266163929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57B356E1-1DE6-40ED-90D6-8AE53000C480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644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644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Reflection 測試證明流程能運作，未估計一般效果</a:t>
            </a:r>
          </a:p>
        </p:txBody>
      </p:sp>
      <p:sp>
        <p:nvSpPr>
          <p:cNvPr id="14" name="EAGLE_1">
            <a:extLst>
              <a:ext uri="{FF2B5EF4-FFF2-40B4-BE49-F238E27FC236}">
                <ns2:creationId id="{3269C2C8-8879-4B73-9949-6A02DBC16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5×3、5 代、15 個 offspring 的 report 是 pipeline assessment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91383"/>
          <a:ext cx="13068300" cy="3215878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6196177"/>
                <a:gridCol w="6872123"/>
              </a:tblGrid>
              <a:tr h="80397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可確認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仍不能確認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80397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Strategy / Prompt / Code Reflection 均有執行記錄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0.33/0.33/0.34 不是三組 operator 比較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80397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Code revision 多次需要 compile repair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15 個 offspring 樣本不足以估計勝率或 operator 因果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80397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部分 genotype 有實際變化，但不少 Java 差異很小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97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child 的 crossover、mutation 與 match randomness 同時影響 GP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FE1DD4BD-5C1F-4795-98EA-AA1E55D779AD}"/>
              </a:ext>
            </a:extLst>
          </p:cNvPr>
          <p:cNvSpPr>
            <a:spLocks noGrp="1"/>
          </p:cNvSpPr>
          <p:nvPr/>
        </p:nvSpPr>
        <p:spPr>
          <a:xfrm>
            <a:off x="1451282" y="6037659"/>
            <a:ext cx="12786656" cy="60573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09/08 版本加入 generation-wide materialization 與可選 generation_model，模型比較之後才能維持相同 20×10 搜尋條件。</a:t>
            </a:r>
          </a:p>
        </p:txBody>
      </p:sp>
      <p:sp>
        <p:nvSpPr>
          <p:cNvPr id="7" name="">
            <a:extLst>
              <a:ext uri="{FF2B5EF4-FFF2-40B4-BE49-F238E27FC236}">
                <ns2:creationId id="{CD8A6A59-C231-4895-9A8F-D173539D1627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operator schedule 的效果尚無乾淨、足量的單因子對照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1CA52C4-97F8-4AC2-9A96-4D7030F4A1A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7</a:t>
            </a:fld>
          </a:p>
        </p:txBody>
      </p:sp>
    </p:spTree>
    <p:extLst>
      <p:ext uri="{BB962C8B-B14F-4D97-AF65-F5344CB8AC3E}">
        <ns3:creationId val="793562071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52307C25-BE68-4A55-B4D4-26873CFB23BE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553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553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0924 後單一目標 self-play：三組 run</a:t>
            </a:r>
          </a:p>
        </p:txBody>
      </p:sp>
      <p:sp>
        <p:nvSpPr>
          <p:cNvPr id="14" name="EAGLE_1">
            <a:extLst>
              <a:ext uri="{FF2B5EF4-FFF2-40B4-BE49-F238E27FC236}">
                <ns2:creationId id="{7A4DBCEC-5339-47FF-A8C7-D67F9A0BE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semantic tie-break 有使用，但不是第二個目標；只列 game_performance 作 selection objective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69356"/>
          <a:ext cx="13068300" cy="3689449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210746"/>
                <a:gridCol w="1633538"/>
                <a:gridCol w="1013920"/>
                <a:gridCol w="1971511"/>
                <a:gridCol w="5238586"/>
              </a:tblGrid>
              <a:tr h="9223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Run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Gen × pop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FFE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Search best GP¹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固定對手 final test W/L/D/E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9223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0926 10×10（semantic tie-break）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× 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0.666667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257 / 321 / 22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9223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0926 5×20（semantic tie-break）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 × 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1.326067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388 / 212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9223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0927 10×20（semantic tie-break）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 × 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1.263534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444 / 156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DC0E36C7-CD3F-485F-9EF6-89E0FC3D092E}"/>
              </a:ext>
            </a:extLst>
          </p:cNvPr>
          <p:cNvSpPr>
            <a:spLocks noGrp="1"/>
          </p:cNvSpPr>
          <p:nvPr/>
        </p:nvSpPr>
        <p:spPr>
          <a:xfrm>
            <a:off x="1451282" y="6346031"/>
            <a:ext cx="12842984" cy="60573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3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3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三組 final test 都完成 600 場、Integration 7/7、match errors = 0。¹ Search GP 是各 run 當時 self-play snapshot 下的分數；snapshot 不同，分數不可跨 run 當作同尺度排名。</a:t>
            </a:r>
          </a:p>
        </p:txBody>
      </p:sp>
      <p:sp>
        <p:nvSpPr>
          <p:cNvPr id="7" name="">
            <a:extLst>
              <a:ext uri="{FF2B5EF4-FFF2-40B4-BE49-F238E27FC236}">
                <ns2:creationId id="{297D0E50-CD62-4170-B643-5752B91C79FC}"/>
              </a:ext>
            </a:extLst>
          </p:cNvPr>
          <p:cNvSpPr>
            <a:spLocks noGrp="1"/>
          </p:cNvSpPr>
          <p:nvPr/>
        </p:nvSpPr>
        <p:spPr>
          <a:xfrm>
            <a:off x="1428750" y="7227094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同一張表並列 self-play selection 訊號與固定對手實戰結果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BC40875A-8BCA-4F82-BBC1-89566185C32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8</a:t>
            </a:fld>
          </a:p>
        </p:txBody>
      </p:sp>
    </p:spTree>
    <p:extLst>
      <p:ext uri="{BB962C8B-B14F-4D97-AF65-F5344CB8AC3E}">
        <ns3:creationId val="638170892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BBD4F1B4-1EF2-4658-88D5-C25CB2B59D9D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668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668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100 FFE：10×10 明顯優於 5×20，但只有單次觀察</a:t>
            </a:r>
          </a:p>
        </p:txBody>
      </p:sp>
      <p:sp>
        <p:nvSpPr>
          <p:cNvPr id="14" name="EAGLE_1">
            <a:extLst>
              <a:ext uri="{FF2B5EF4-FFF2-40B4-BE49-F238E27FC236}">
                <ns2:creationId id="{45CBFB38-9EC2-4840-B4CE-D27045CE0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兩組使用 semantic tie-break、相同 9 個 semantic probes 與 600 場 final test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="1654066" y="2436316"/>
          <a:ext cx="12167038" cy="4019848"/>
        </p:xfrm>
        <a:graphic>
          <a:graphicData uri="http://schemas.openxmlformats.org/drawingml/2006/chart">
            <ns3:chart r:id="R9dabe66619de4eca"/>
          </a:graphicData>
        </a:graphic>
      </p:graphicFrame>
      <p:sp>
        <p:nvSpPr>
          <p:cNvPr id="6" name="">
            <a:extLst>
              <a:ext uri="{FF2B5EF4-FFF2-40B4-BE49-F238E27FC236}">
                <ns2:creationId id="{C65F7826-47E0-43C8-9F17-D6E2E3D99452}"/>
              </a:ext>
            </a:extLst>
          </p:cNvPr>
          <p:cNvSpPr>
            <a:spLocks noGrp="1"/>
          </p:cNvSpPr>
          <p:nvPr/>
        </p:nvSpPr>
        <p:spPr>
          <a:xfrm>
            <a:off x="1451282" y="6621363"/>
            <a:ext cx="12899313" cy="46255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11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11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10×10：42.83% 勝率；5×20：0% 勝率。5×20 搜尋期 180 場全和，正 GP 來自資源／兵力 shaping。</a:t>
            </a:r>
          </a:p>
        </p:txBody>
      </p:sp>
      <p:sp>
        <p:nvSpPr>
          <p:cNvPr id="7" name="">
            <a:extLst>
              <a:ext uri="{FF2B5EF4-FFF2-40B4-BE49-F238E27FC236}">
                <ns2:creationId id="{23B062EA-8FF5-4B9D-A630-6CF736E2F1D1}"/>
              </a:ext>
            </a:extLst>
          </p:cNvPr>
          <p:cNvSpPr>
            <a:spLocks noGrp="1"/>
          </p:cNvSpPr>
          <p:nvPr/>
        </p:nvSpPr>
        <p:spPr>
          <a:xfrm>
            <a:off x="1428750" y="7337227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同 FFE 的結果差距很大，refresh phenotype 漂移阻止強因果歸因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CB91AE4-501E-4F39-BAAA-8CC2214D6A5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9</a:t>
            </a:fld>
          </a:p>
        </p:txBody>
      </p:sp>
    </p:spTree>
    <p:extLst>
      <p:ext uri="{BB962C8B-B14F-4D97-AF65-F5344CB8AC3E}">
        <ns5:creationId val="1127269012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519073ED-8774-455E-9BBF-550B221127A3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100 FFE：差異涵蓋多數對手，不只單一 matchup</a:t>
            </a:r>
          </a:p>
        </p:txBody>
      </p:sp>
      <p:sp>
        <p:nvSpPr>
          <p:cNvPr id="13" name="EAGLE_1">
            <a:extLst>
              <a:ext uri="{FF2B5EF4-FFF2-40B4-BE49-F238E27FC236}">
                <ns2:creationId id="{9A1D5260-5118-4D9B-98A3-39319C1EB0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每個對手 60 場；列出 wins，來源完整 W/L/D 見分析文件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491383"/>
          <a:ext cx="13068300" cy="3964781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4844284"/>
                <a:gridCol w="4112008"/>
                <a:gridCol w="4112008"/>
              </a:tblGrid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Opponent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10×10 wins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5×20 wins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PassiveAI / RandomAI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 / 60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RandomBiasedAI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46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LightRush / HeavyRush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 / 30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WorkerRush / AllInBot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/ 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Mayari / COAC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11 / 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TMA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9559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Map wins: 8×8 / 16×16 / 24×24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130 / 77 / 50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5C52E5DB-A11C-4A1E-B8E9-F9080FB66C7F}"/>
              </a:ext>
            </a:extLst>
          </p:cNvPr>
          <p:cNvSpPr>
            <a:spLocks noGrp="1"/>
          </p:cNvSpPr>
          <p:nvPr/>
        </p:nvSpPr>
        <p:spPr>
          <a:xfrm>
            <a:off x="1451282" y="6654403"/>
            <a:ext cx="12842984" cy="4405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10×10 勝率隨地圖放大下降：65.0% → 38.5% → 25.0%；5×20 三張圖均無勝場。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A5CA672-F834-4E25-86A4-55DCF532C4E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10</a:t>
            </a:fld>
          </a:p>
        </p:txBody>
      </p:sp>
    </p:spTree>
    <p:extLst>
      <p:ext uri="{BB962C8B-B14F-4D97-AF65-F5344CB8AC3E}">
        <ns3:creationId val="578927247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A85D74C7-82D0-4E0F-A596-1442A3CFDEC6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48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48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200 FFE：5×40 semantic run 尚未執行</a:t>
            </a:r>
          </a:p>
        </p:txBody>
      </p:sp>
      <p:sp>
        <p:nvSpPr>
          <p:cNvPr id="14" name="EAGLE_1">
            <a:extLst>
              <a:ext uri="{FF2B5EF4-FFF2-40B4-BE49-F238E27FC236}">
                <ns2:creationId id="{32A7D7E7-9EDD-47FC-AEDD-F70BB5FDF8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0929 config 補齊單一目標 self-play allocation arm；semantic tie-break 僅為近似同分判定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91383"/>
          <a:ext cx="13068300" cy="3138785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379733"/>
                <a:gridCol w="3717706"/>
                <a:gridCol w="3717706"/>
                <a:gridCol w="2253155"/>
              </a:tblGrid>
              <a:tr h="1046262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比較問題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已有實驗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0929 補缺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目前狀態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1046262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allocation：10×20 vs 5×40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0927 semantic 10×20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single-GP semantic 5×40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5×40 尚無結果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1046262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evaluation context：10×20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0927 single-GP self-play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fixed-opponent control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control config 待跑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FDC1293C-8E31-40BB-A6FD-A381C5280B49}"/>
              </a:ext>
            </a:extLst>
          </p:cNvPr>
          <p:cNvSpPr>
            <a:spLocks noGrp="1"/>
          </p:cNvSpPr>
          <p:nvPr/>
        </p:nvSpPr>
        <p:spPr>
          <a:xfrm>
            <a:off x="1451282" y="6015633"/>
            <a:ext cx="12786656" cy="6387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0925 legacy lexicase 也是 self-play（10 個 snapshot opponents），排除於單一目標主表。兩個 0929 config 分別補 5×40 單一目標 allocation 與 10×20 固定對手 evaluation control。</a:t>
            </a:r>
          </a:p>
        </p:txBody>
      </p:sp>
      <p:sp>
        <p:nvSpPr>
          <p:cNvPr id="7" name="">
            <a:extLst>
              <a:ext uri="{FF2B5EF4-FFF2-40B4-BE49-F238E27FC236}">
                <ns2:creationId id="{288421A1-EC04-48F5-879A-045E8078AA89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兩個缺漏 arm 都已放入 0929 config 資料夾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01314670-E42B-4FA3-9E24-6E03AE3FEB9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11</a:t>
            </a:fld>
          </a:p>
        </p:txBody>
      </p:sp>
    </p:spTree>
    <p:extLst>
      <p:ext uri="{BB962C8B-B14F-4D97-AF65-F5344CB8AC3E}">
        <ns3:creationId val="1734519308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BBC8805B-AA55-4DE2-83AF-DACB4CE332D0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3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30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固定對手組 vs self-play：10×20 歷史對照與待補控制</a:t>
            </a:r>
          </a:p>
        </p:txBody>
      </p:sp>
      <p:sp>
        <p:nvSpPr>
          <p:cNvPr id="14" name="EAGLE_1">
            <a:extLst>
              <a:ext uri="{FF2B5EF4-FFF2-40B4-BE49-F238E27FC236}">
                <ns2:creationId id="{AF172545-103A-4CFD-9397-5720C1951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兩個已完成 run 同為 10×20 / 200 FFE；舊 fixed-roster run 來自較早版本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91383"/>
          <a:ext cx="13068300" cy="2863453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2816444"/>
                <a:gridCol w="2591128"/>
                <a:gridCol w="4055679"/>
                <a:gridCol w="901262"/>
                <a:gridCol w="2703786"/>
              </a:tblGrid>
              <a:tr h="7158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Arm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搜尋期 evaluation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目標口徑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FFE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固定對手 final test W/L/D/E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7158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09/11 固定對手 baseline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個固定 opponents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opponent_cases；較早 repository state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256 / 332 / 12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7158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09/27 self-play run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個 snapshot slots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單一 game_performance；semantic tie-break ≤1.0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444 / 156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7158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0929 matched rerun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固定 opponent cases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opponent_cases；沿用 baseline 參數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66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待跑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362D3F17-8E62-4C1A-9824-1B44232D773D}"/>
              </a:ext>
            </a:extLst>
          </p:cNvPr>
          <p:cNvSpPr>
            <a:spLocks noGrp="1"/>
          </p:cNvSpPr>
          <p:nvPr/>
        </p:nvSpPr>
        <p:spPr>
          <a:xfrm>
            <a:off x="1451282" y="5685234"/>
            <a:ext cx="12786656" cy="72687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3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3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歷史數字可並列，但不是乾淨因果估計。0929 control 固定 10×20、模型、prompt、地圖與 offspring 預算；要做同版本單因子對照，需在同一 source revision 重跑兩種 evaluation。</a:t>
            </a:r>
          </a:p>
        </p:txBody>
      </p:sp>
      <p:sp>
        <p:nvSpPr>
          <p:cNvPr id="7" name="">
            <a:extLst>
              <a:ext uri="{FF2B5EF4-FFF2-40B4-BE49-F238E27FC236}">
                <ns2:creationId id="{37280ACB-5161-4EFA-AAE4-B83B0B0DB9CF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舊版固定對手組勝 256 場；0927 self-play 在共同 final test 勝 0 場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3307F304-2424-4D5F-825C-F08C7A9688AD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12</a:t>
            </a:fld>
          </a:p>
        </p:txBody>
      </p:sp>
    </p:spTree>
    <p:extLst>
      <p:ext uri="{BB962C8B-B14F-4D97-AF65-F5344CB8AC3E}">
        <ns3:creationId val="754492113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FFB1068D-DCD3-40C7-9DEA-832C0A50D18E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0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Semantic tie-break 有界：只保留同 fitness tier 的行為差異</a:t>
            </a:r>
          </a:p>
        </p:txBody>
      </p:sp>
      <p:sp>
        <p:nvSpPr>
          <p:cNvPr id="13" name="EAGLE_1">
            <a:extLst>
              <a:ext uri="{FF2B5EF4-FFF2-40B4-BE49-F238E27FC236}">
                <ns2:creationId id="{A4E00CCD-8B8B-4ADA-A30D-C1D65E4BF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tie-break 無法跨過 fitness 差距補回已消失的語意多樣性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491383"/>
          <a:ext cx="13068300" cy="3138785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4393653"/>
                <a:gridCol w="4337324"/>
                <a:gridCol w="4337324"/>
              </a:tblGrid>
              <a:tr h="62775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觀察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10×10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5×20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62775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unique semantic signatures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/ 10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 / 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2775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最高 tier 的候選池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多代只有 1 種語意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G8 曾有 10 種，末代剩 2 種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2775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self-play W/D/L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60 / 60 / 60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 / 180 / 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2775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Fixed-roster wins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257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517AF826-14AB-4202-97E7-97FE5603DBC7}"/>
              </a:ext>
            </a:extLst>
          </p:cNvPr>
          <p:cNvSpPr>
            <a:spLocks noGrp="1"/>
          </p:cNvSpPr>
          <p:nvPr/>
        </p:nvSpPr>
        <p:spPr>
          <a:xfrm>
            <a:off x="1451282" y="6015633"/>
            <a:ext cx="12786656" cy="55066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11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11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 個 fixed probe states 只描述局部 action semantics，無法單獨保證整場比賽會進攻、追擊或結束。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8C06245-F643-43BC-9237-6CE6C5E6A85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13</a:t>
            </a:fld>
          </a:p>
        </p:txBody>
      </p:sp>
    </p:spTree>
    <p:extLst>
      <p:ext uri="{BB962C8B-B14F-4D97-AF65-F5344CB8AC3E}">
        <ns3:creationId val="1646366034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D7500925-9B13-4B1F-A801-D550430FC8E1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3043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3043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三組單一目標 runs：refresh 漂移與 candidate failures</a:t>
            </a:r>
          </a:p>
        </p:txBody>
      </p:sp>
      <p:sp>
        <p:nvSpPr>
          <p:cNvPr id="14" name="EAGLE_1">
            <a:extLst>
              <a:ext uri="{FF2B5EF4-FFF2-40B4-BE49-F238E27FC236}">
                <ns2:creationId id="{53374EC3-87D1-4FEC-BC47-BE6B34126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無 match errors；演化路徑仍有紀錄完整性 caveat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91383"/>
          <a:ext cx="13068300" cy="3303984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717706"/>
                <a:gridCol w="2703786"/>
                <a:gridCol w="3041759"/>
                <a:gridCol w="3605048"/>
              </a:tblGrid>
              <a:tr h="82599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Run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Refresh records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Java hash 保留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Candidate failures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82599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0926 10×10 semantic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5/20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 / 130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82599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0926 5×20 semantic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8/25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 / 130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82599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0927 10×20 semantic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14/50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11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28 / 260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FABCDE9B-BD36-49A6-87EF-0E345CBB167A}"/>
              </a:ext>
            </a:extLst>
          </p:cNvPr>
          <p:cNvSpPr>
            <a:spLocks noGrp="1"/>
          </p:cNvSpPr>
          <p:nvPr/>
        </p:nvSpPr>
        <p:spPr>
          <a:xfrm>
            <a:off x="1451282" y="6147792"/>
            <a:ext cx="12786656" cy="55066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3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3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0927 的 28 failures：validation 19、generation 7、compilation 2。0926 5×20 多出 generation 4 migration refresh。semantic 只做 tie resolution，非第二 objective。</a:t>
            </a:r>
          </a:p>
        </p:txBody>
      </p:sp>
      <p:sp>
        <p:nvSpPr>
          <p:cNvPr id="7" name="">
            <a:extLst>
              <a:ext uri="{FF2B5EF4-FFF2-40B4-BE49-F238E27FC236}">
                <ns2:creationId id="{BA86B1F3-88D6-49AF-A254-5916A8BC50AD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固定對手 final test 可讀作實際策略結果；演化機制歸因需先修正 refresh invariant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C7CD676-1ACD-412B-81E6-AACD5890D92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14</a:t>
            </a:fld>
          </a:p>
        </p:txBody>
      </p:sp>
    </p:spTree>
    <p:extLst>
      <p:ext uri="{BB962C8B-B14F-4D97-AF65-F5344CB8AC3E}">
        <ns3:creationId val="837850365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4E67E068-9C27-4D16-B7A9-2F39F6DF81B7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48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48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三組單一目標結果：同 FFE 內差距仍很大</a:t>
            </a:r>
          </a:p>
        </p:txBody>
      </p:sp>
      <p:sp>
        <p:nvSpPr>
          <p:cNvPr id="14" name="EAGLE_1">
            <a:extLst>
              <a:ext uri="{FF2B5EF4-FFF2-40B4-BE49-F238E27FC236}">
                <ns2:creationId id="{F64C6E44-4714-4301-8467-B7BC1AA58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只有 10×10 與 5×20 同為 100 FFE；200 FFE 的 5×40 arm 尚待跑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="1541408" y="2381250"/>
          <a:ext cx="12842984" cy="4074914"/>
        </p:xfrm>
        <a:graphic>
          <a:graphicData uri="http://schemas.openxmlformats.org/drawingml/2006/chart">
            <ns3:chart r:id="R531f9fb61b474019"/>
          </a:graphicData>
        </a:graphic>
      </p:graphicFrame>
      <p:sp>
        <p:nvSpPr>
          <p:cNvPr id="6" name="">
            <a:extLst>
              <a:ext uri="{FF2B5EF4-FFF2-40B4-BE49-F238E27FC236}">
                <ns2:creationId id="{DC197EAB-9788-4621-9CA7-1E5D47B17011}"/>
              </a:ext>
            </a:extLst>
          </p:cNvPr>
          <p:cNvSpPr>
            <a:spLocks noGrp="1"/>
          </p:cNvSpPr>
          <p:nvPr/>
        </p:nvSpPr>
        <p:spPr>
          <a:xfrm>
            <a:off x="1451282" y="6731496"/>
            <a:ext cx="12842984" cy="38546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5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52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Fixed-roster results are outcomes against the common opponent group; they do not equal the self-play Game Performance objective. Cross-FFE results are descriptive only.</a:t>
            </a:r>
          </a:p>
        </p:txBody>
      </p:sp>
      <p:sp>
        <p:nvSpPr>
          <p:cNvPr id="7" name="">
            <a:extLst>
              <a:ext uri="{FF2B5EF4-FFF2-40B4-BE49-F238E27FC236}">
                <ns2:creationId id="{10F82B43-B22F-4A58-A723-6928B245003D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10×10 是目前固定對手測試勝場最高的 single-objective run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B4B49AD-FA47-4D42-B7D4-F653245E270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15</a:t>
            </a:fld>
          </a:p>
        </p:txBody>
      </p:sp>
    </p:spTree>
    <p:extLst>
      <p:ext uri="{BB962C8B-B14F-4D97-AF65-F5344CB8AC3E}">
        <ns5:creationId val="540224743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3" name="EAGLE_0">
            <a:extLst>
              <a:ext uri="{FF2B5EF4-FFF2-40B4-BE49-F238E27FC236}">
                <ns2:creationId id="{73F526BB-6B94-4642-983F-C298671A4720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54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541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0929 實驗矩陣：缺漏 arm 與可回答問題</a:t>
            </a:r>
          </a:p>
        </p:txBody>
      </p:sp>
      <p:sp>
        <p:nvSpPr>
          <p:cNvPr id="14" name="EAGLE_1">
            <a:extLst>
              <a:ext uri="{FF2B5EF4-FFF2-40B4-BE49-F238E27FC236}">
                <ns2:creationId id="{02CCF35C-6A2E-4343-8AA2-398A44D49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新增參數只定義待跑條件，尚未聲稱已有實驗結果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="1428750" y="2491383"/>
          <a:ext cx="13068300" cy="2863453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379733"/>
                <a:gridCol w="3830364"/>
                <a:gridCol w="3717706"/>
                <a:gridCol w="2140497"/>
              </a:tblGrid>
              <a:tr h="7158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比較組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已存在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0929 補缺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單一問題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7158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100 FFE allocation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10×10 vs 5×20 semantic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已各跑一次；重跑需修 refresh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族群深度配置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7158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200 FFE allocation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10×20 semantic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5×40 semantic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族群深度配置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715863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evaluation context at 10×20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0927 self-play GP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0929 fixed opponent cases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搜尋期評估方式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A738CB3B-B9F6-4077-9B4D-C8A44C64C410}"/>
              </a:ext>
            </a:extLst>
          </p:cNvPr>
          <p:cNvSpPr>
            <a:spLocks noGrp="1"/>
          </p:cNvSpPr>
          <p:nvPr/>
        </p:nvSpPr>
        <p:spPr>
          <a:xfrm>
            <a:off x="1451282" y="5762327"/>
            <a:ext cx="12842984" cy="77093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每個新 run 固定模型、seed prompt、地圖、mutation、refresh 間隔與 final-test roster；固定同一初始族群 artifact 後再做多個獨立 replicates。</a:t>
            </a:r>
          </a:p>
        </p:txBody>
      </p:sp>
      <p:sp>
        <p:nvSpPr>
          <p:cNvPr id="7" name="">
            <a:extLst>
              <a:ext uri="{FF2B5EF4-FFF2-40B4-BE49-F238E27FC236}">
                <ns2:creationId id="{CDCE966E-0ED9-42DE-85EE-BF6B84B88C23}"/>
              </a:ext>
            </a:extLst>
          </p:cNvPr>
          <p:cNvSpPr>
            <a:spLocks noGrp="1"/>
          </p:cNvSpPr>
          <p:nvPr/>
        </p:nvSpPr>
        <p:spPr>
          <a:xfrm>
            <a:off x="1428750" y="7282160"/>
            <a:ext cx="12955642" cy="57269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7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0929 新增 config 分別補齊 200 FFE allocation 與 fixed-opponent evaluation control</a:t>
            </a:r>
          </a:p>
        </p:txBody>
      </p:sp>
      <p:sp>
        <p:nvSpPr>
          <p:cNvPr id="1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4D676A2F-1938-4902-9269-5C23FA62D61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16</a:t>
            </a:fld>
          </a:p>
        </p:txBody>
      </p:sp>
    </p:spTree>
    <p:extLst>
      <p:ext uri="{BB962C8B-B14F-4D97-AF65-F5344CB8AC3E}">
        <ns3:creationId val="777971432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0ACBA75D-86AF-442A-AC5C-ECE7259AAF49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新增 config 的參數與預期控制條件</a:t>
            </a:r>
          </a:p>
        </p:txBody>
      </p:sp>
      <p:sp>
        <p:nvSpPr>
          <p:cNvPr id="13" name="EAGLE_1">
            <a:extLst>
              <a:ext uri="{FF2B5EF4-FFF2-40B4-BE49-F238E27FC236}">
                <ns2:creationId id="{A1FF8948-21B8-4946-8227-24436CA4BE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config 源自 semantic 10×20；僅更改 experiment name、generations 和 population size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469356"/>
          <a:ext cx="13068300" cy="3689449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4055679"/>
                <a:gridCol w="9012621"/>
              </a:tblGrid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參數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0929 設定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Objective / semantic tie-break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game_performance 單一目標；tie ≤1.0 使用 semantic probes 決勝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Generations × population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 × 5 = 200 regular offspring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Model / EA seed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ministral3_8b / 7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Self-play refresh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每 5 代；10 個 self-play slots 沿用源 config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Semantic probes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 maps × early/mid/late = 9 states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Maps / rounds / sides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8×8、16×16、24×24；3 rounds；swap sides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461181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Mutation / crossover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0.33 / 0.33 / 0.34；0.75 / 1.0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0EAE1F2D-714D-4E83-84F0-E844C6BF9056}"/>
              </a:ext>
            </a:extLst>
          </p:cNvPr>
          <p:cNvSpPr>
            <a:spLocks noGrp="1"/>
          </p:cNvSpPr>
          <p:nvPr/>
        </p:nvSpPr>
        <p:spPr>
          <a:xfrm>
            <a:off x="1451282" y="6544270"/>
            <a:ext cx="12842984" cy="50661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3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39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FFE 同額指 offspring 數；gen0、refresh replicas 和 retries 另計。執行前先確保 refresh 不會重生或改寫 Java phenotype。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484DC8B8-7677-4048-922C-1C5BFD843A1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17</a:t>
            </a:fld>
          </a:p>
        </p:txBody>
      </p:sp>
    </p:spTree>
    <p:extLst>
      <p:ext uri="{BB962C8B-B14F-4D97-AF65-F5344CB8AC3E}">
        <ns3:creationId val="22371854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 showMasterSp="1">
  <p:cSld>
    <p:spTree>
      <p:nvGrpSpPr>
        <p:cNvPr id="1" name=""/>
        <p:cNvGrpSpPr/>
        <p:nvPr/>
      </p:nvGrpSpPr>
      <p:grpSpPr>
        <a:xfrm/>
      </p:grpSpPr>
      <p:sp>
        <p:nvSpPr>
          <p:cNvPr id="12" name="EAGLE_0">
            <a:extLst>
              <a:ext uri="{FF2B5EF4-FFF2-40B4-BE49-F238E27FC236}">
                <ns2:creationId id="{EB0AF600-431A-4665-B6E2-B21450623C9A}"/>
              </a:ext>
            </a:extLst>
          </p:cNvPr>
          <p:cNvSpPr>
            <a:spLocks noGrp="1"/>
          </p:cNvSpPr>
          <p:nvPr>
            <p:ph idx="0"/>
          </p:nvPr>
        </p:nvSpPr>
        <p:spPr>
          <a:xfrm>
            <a:off x="2286000" y="438150"/>
            <a:ext cx="11353800" cy="1047750"/>
          </a:xfrm>
        </p:spPr>
        <p:txBody>
          <a:bodyPr anchor="ctr">
            <a:noAutofit/>
          </a:bodyPr>
          <a:lstStyle/>
          <a:p>
            <a:pPr algn="ctr">
              <a:def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46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來源與數據限制</a:t>
            </a:r>
          </a:p>
        </p:txBody>
      </p:sp>
      <p:sp>
        <p:nvSpPr>
          <p:cNvPr id="13" name="EAGLE_1">
            <a:extLst>
              <a:ext uri="{FF2B5EF4-FFF2-40B4-BE49-F238E27FC236}">
                <ns2:creationId id="{A4EB73EA-09B7-422C-98DA-DA07CD107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0" y="1571625"/>
            <a:ext cx="10972800" cy="457200"/>
          </a:xfrm>
        </p:spPr>
        <p:txBody>
          <a:bodyPr anchor="ctr">
            <a:noAutofit/>
          </a:bodyPr>
          <a:lstStyle/>
          <a:p>
            <a:pPr algn="ctr">
              <a:def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  <a:buNone/>
            </a:pPr>
            <a:r>
              <a:rPr sz="18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 canonical run artifacts 為優先；本次可用的 0924 後彙整為 Notion page + meeting snapshot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="1428750" y="2491383"/>
          <a:ext cx="13068300" cy="3303984"/>
        </p:xfrm>
        <a:graphic>
          <a:graphicData uri="http://schemas.openxmlformats.org/drawingml/2006/table">
            <a:tbl>
              <a:tblPr firstRow="1" bandRow="0">
                <a:tableStyleId>{8497E131-5584-4FF0-9A17-202609170001}</a:tableStyleId>
              </a:tblPr>
              <a:tblGrid>
                <a:gridCol w="3830364"/>
                <a:gridCol w="9237936"/>
              </a:tblGrid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來源組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1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納入文件／記錄</a:t>
                      </a:r>
                    </a:p>
                  </a:txBody>
                  <a:tcPr marL="76200" marR="76200" marT="28575" marB="28575">
                    <a:solidFill>
                      <a:srgbClr val="DEB4BA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Single-objective 主分析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Notion 0926 10×10、0926 5×20、0927 10×20；README.md 與 self-play analysis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evaluation-mode control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09/11 fixed-roster 10×20 歷史 run；0929 同設定重跑 config 待執行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Earlier controlled studies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09/07 reflection、09/10 model、09/12 initialization、09/14 parent regeneration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  <a:tr h="660797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Limit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39" b="0">
                          <a:solidFill>
                            <a:srgbClr val="423C3B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0929 5×40 與 fixed-opponent control configs 尚未執行；無新結果。近期細節以 Notion page 和 analysis_md 為證據。</a:t>
                      </a:r>
                    </a:p>
                  </a:txBody>
                  <a:tcPr marL="76200" marR="76200" marT="28575" marB="28575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2:creationId id="{51ABC6E5-8166-41C9-9659-A5F75305E50A}"/>
              </a:ext>
            </a:extLst>
          </p:cNvPr>
          <p:cNvSpPr>
            <a:spLocks noGrp="1"/>
          </p:cNvSpPr>
          <p:nvPr/>
        </p:nvSpPr>
        <p:spPr>
          <a:xfrm>
            <a:off x="1451282" y="6180832"/>
            <a:ext cx="12955642" cy="68282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8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208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Notion sources: https://app.notion.com/p/3eac9b9735d9810d87b4ce89769bd4b6 ; https://app.notion.com/p/3eac9b9735d981f78c00e9a7706af646 ; https://app.notion.com/p/3eac9b9735d98115b78be874b606a195 ; https://app.notion.com/p/3eac9b9735d981518b7cf0dfe691ade7</a:t>
            </a:r>
          </a:p>
        </p:txBody>
      </p:sp>
      <p:sp>
        <p:nvSpPr>
          <p:cNvPr id="1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76BB165B-A82F-4847-B8F3-06D00334483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18</a:t>
            </a:fld>
          </a:p>
        </p:txBody>
      </p:sp>
    </p:spTree>
    <p:extLst>
      <p:ext uri="{BB962C8B-B14F-4D97-AF65-F5344CB8AC3E}">
        <ns3:creationId val="943265581"/>
      </p:ext>
    </p:extLst>
  </p:cSld>
</p:sld>
</file>

<file path=ppt/theme/theme1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47171C"/>
      </a:accent2>
      <a:accent3>
        <a:srgbClr val="CF9BA5"/>
      </a:accent3>
      <a:accent4>
        <a:srgbClr val="C69B45"/>
      </a:accent4>
      <a:accent5>
        <a:srgbClr val="FAEDC6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14333</Words>
  <Application>Microsoft Office PowerPoint</Application>
  <DocSecurity>0</DocSecurity>
  <PresentationFormat>自訂</PresentationFormat>
  <Paragraphs>1854</Paragraphs>
  <Slides>1</Slides>
  <Notes>33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34</vt:i4>
      </vt:variant>
    </vt:vector>
  </HeadingPairs>
  <TitlesOfParts>
    <vt:vector size="37" baseType="lpstr">
      <vt:lpstr>Source Han Serif TW</vt:lpstr>
      <vt:lpstr>Times New Roman</vt:lpstr>
      <vt:lpstr>ChatGPT</vt:lpstr>
      <vt:lpstr>EAGLE 研究進展</vt:lpstr>
      <vt:lpstr>這段時間改了什麼</vt:lpstr>
      <vt:lpstr>09/04 改版的核心</vt:lpstr>
      <vt:lpstr>EAGLE 目前完整流程</vt:lpstr>
      <vt:lpstr>EAGLE 演化的對象</vt:lpstr>
      <vt:lpstr>初始 Policy 的歷史比較</vt:lpstr>
      <vt:lpstr>本期的初始族群配置</vt:lpstr>
      <vt:lpstr>三種 Operator 選擇模式</vt:lpstr>
      <vt:lpstr>三種 Reflection 的責任邊界</vt:lpstr>
      <vt:lpstr>實驗分成四個階段</vt:lpstr>
      <vt:lpstr>實驗一：同一父代、三種反思</vt:lpstr>
      <vt:lpstr>實驗一：8 / 9 次成功套用</vt:lpstr>
      <vt:lpstr>實驗一：各次 trial 暴露的問題</vt:lpstr>
      <vt:lpstr>實驗二：補規則後仍有錯誤</vt:lpstr>
      <vt:lpstr>實驗二：Strategy 的三個變體</vt:lpstr>
      <vt:lpstr>實驗二：Code 與 Balance 的問題</vt:lpstr>
      <vt:lpstr>實驗三：用上游子代驗證 Compliance</vt:lpstr>
      <vt:lpstr>實驗三：10 / 12 次安全套用</vt:lpstr>
      <vt:lpstr>實驗三：兩次拒絕與後續修補</vt:lpstr>
      <vt:lpstr>實驗四：三種固定比例</vt:lpstr>
      <vt:lpstr>比例實驗的整體結果</vt:lpstr>
      <vt:lpstr>每代生存者的平均 GP</vt:lpstr>
      <vt:lpstr>600 場 Final Test 的 champion 結果</vt:lpstr>
      <vt:lpstr>可靠度與 LLM 成本</vt:lpstr>
      <vt:lpstr>09/07 的 AOS 設定與比較限制</vt:lpstr>
      <vt:lpstr>本次總結</vt:lpstr>
      <vt:lpstr>0907 後更新：版本時間軸</vt:lpstr>
      <vt:lpstr>V1–V3：評估設定與執行索引</vt:lpstr>
      <vt:lpstr>V4：每代分成三個階段</vt:lpstr>
      <vt:lpstr>V4：模型職責可以分開</vt:lpstr>
      <vt:lpstr>V4：反思與修碼可分開追蹤</vt:lpstr>
      <vt:lpstr>V4：單模型與雙模型比較設定</vt:lpstr>
      <vt:lpstr>V5 整合與本次更新重點</vt:lpstr>
      <vt:lpstr>Evolutionary Agent Generation through LLM-guided Exploration: A Case Study on MicroRTS  大型語言模型引導探索的演化式代理生成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EAGLE</dc:title>
  <dc:creator>Walnut Exporter</dc:creator>
  <cp:lastModifiedBy>Sophie Lien</cp:lastModifiedBy>
  <cp:revision>2</cp:revision>
  <dcterms:created xsi:type="dcterms:W3CDTF">2026-09-09T05:14:55Z</dcterms:created>
  <dcterms:modified xsi:type="dcterms:W3CDTF">2026-09-09T05:21:08Z</dcterms:modified>
</cp:coreProperties>
</file>