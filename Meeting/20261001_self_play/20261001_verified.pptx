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2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Default Extension="xlsx" ContentType="application/vnd.openxmlformats-officedocument.spreadsheetml.sheet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36"/>
  </p:notesMasterIdLst>
  <p:sldIdLst>
    <p:sldId id="256" r:id="rIdReportSlide1"/>
    <p:sldId id="257" r:id="rIdReportSlide2"/>
    <p:sldId id="258" r:id="rIdReportSlide3"/>
    <p:sldId id="259" r:id="rIdReportSlide4"/>
    <p:sldId id="260" r:id="rIdReportSlide5"/>
    <p:sldId id="261" r:id="rIdReportSlide6"/>
    <p:sldId id="262" r:id="rIdReportSlide7"/>
    <p:sldId id="263" r:id="rIdReportSlide8"/>
    <p:sldId id="264" r:id="rIdReportSlide9"/>
    <p:sldId id="265" r:id="rIdReportSlide10"/>
    <p:sldId id="266" r:id="rIdReportSlide11"/>
    <p:sldId id="267" r:id="rIdReportSlide12"/>
    <p:sldId id="268" r:id="rIdReportSlide13"/>
    <p:sldId id="269" r:id="rIdReportSlide14"/>
    <p:sldId id="270" r:id="rIdReportSlide15"/>
    <p:sldId id="271" r:id="rIdReportSlide16"/>
    <p:sldId id="272" r:id="rIdReportSlide17"/>
    <p:sldId id="273" r:id="rIdReportSlide18"/>
    <p:sldId id="274" r:id="rIdReportSlide19"/>
    <p:sldId id="275" r:id="rIdReportSlide20"/>
  </p:sldIdLst>
  <p:sldSz cx="15925800" cy="8963025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497E131-5584-4FF0-9A17-202609170001}">
  <a:tblStyle styleId="{8497E131-5584-4FF0-9A17-202609170001}" styleName="EAGLE 0917 Rose">
    <a:wholeTbl>
      <a:tcTxStyle b="off">
        <a:fontRef idx="minor">
          <a:srgbClr val="423C3B"/>
        </a:fontRef>
        <a:srgbClr val="423C3B"/>
      </a:tcTxStyle>
      <a:tcStyle>
        <a:tcBdr>
          <a:left>
            <a:ln w="6350">
              <a:solidFill>
                <a:srgbClr val="423C3B"/>
              </a:solidFill>
              <a:prstDash val="solid"/>
            </a:ln>
          </a:left>
          <a:right>
            <a:ln w="6350">
              <a:solidFill>
                <a:srgbClr val="423C3B"/>
              </a:solidFill>
              <a:prstDash val="solid"/>
            </a:ln>
          </a:right>
          <a:top>
            <a:ln w="6350">
              <a:solidFill>
                <a:srgbClr val="423C3B"/>
              </a:solidFill>
              <a:prstDash val="solid"/>
            </a:ln>
          </a:top>
          <a:bottom>
            <a:ln w="6350">
              <a:solidFill>
                <a:srgbClr val="423C3B"/>
              </a:solidFill>
              <a:prstDash val="solid"/>
            </a:ln>
          </a:bottom>
          <a:insideH>
            <a:ln w="6350">
              <a:solidFill>
                <a:srgbClr val="423C3B"/>
              </a:solidFill>
              <a:prstDash val="solid"/>
            </a:ln>
          </a:insideH>
          <a:insideV>
            <a:ln w="6350">
              <a:solidFill>
                <a:srgbClr val="423C3B"/>
              </a:solidFill>
              <a:prstDash val="solid"/>
            </a:ln>
          </a:insideV>
        </a:tcBdr>
        <a:fill>
          <a:solidFill>
            <a:srgbClr val="FCF8F5"/>
          </a:solidFill>
        </a:fill>
      </a:tcStyle>
    </a:wholeTbl>
    <a:firstRow>
      <a:tcTxStyle b="on">
        <a:fontRef idx="minor">
          <a:srgbClr val="423C3B"/>
        </a:fontRef>
        <a:srgbClr val="423C3B"/>
      </a:tcTxStyle>
      <a:tcStyle>
        <a:tcBdr>
          <a:left>
            <a:ln w="6350">
              <a:solidFill>
                <a:srgbClr val="423C3B"/>
              </a:solidFill>
              <a:prstDash val="solid"/>
            </a:ln>
          </a:left>
          <a:right>
            <a:ln w="6350">
              <a:solidFill>
                <a:srgbClr val="423C3B"/>
              </a:solidFill>
              <a:prstDash val="solid"/>
            </a:ln>
          </a:right>
          <a:top>
            <a:ln w="6350">
              <a:solidFill>
                <a:srgbClr val="423C3B"/>
              </a:solidFill>
              <a:prstDash val="solid"/>
            </a:ln>
          </a:top>
          <a:bottom>
            <a:ln w="6350">
              <a:solidFill>
                <a:srgbClr val="423C3B"/>
              </a:solidFill>
              <a:prstDash val="solid"/>
            </a:ln>
          </a:bottom>
          <a:insideH>
            <a:ln w="6350">
              <a:solidFill>
                <a:srgbClr val="423C3B"/>
              </a:solidFill>
              <a:prstDash val="solid"/>
            </a:ln>
          </a:insideH>
          <a:insideV>
            <a:ln w="6350">
              <a:solidFill>
                <a:srgbClr val="423C3B"/>
              </a:solidFill>
              <a:prstDash val="solid"/>
            </a:ln>
          </a:insideV>
        </a:tcBdr>
        <a:fill>
          <a:solidFill>
            <a:srgbClr val="DEB4BA"/>
          </a:solidFill>
        </a:fill>
      </a:tcStyle>
    </a:firstRow>
    <a:lastRow>
      <a:tcTxStyle b="on">
        <a:fontRef idx="minor">
          <a:srgbClr val="423C3B"/>
        </a:fontRef>
        <a:srgbClr val="423C3B"/>
      </a:tcTxStyle>
      <a:tcStyle>
        <a:tcBdr>
          <a:left>
            <a:ln w="6350">
              <a:solidFill>
                <a:srgbClr val="423C3B"/>
              </a:solidFill>
              <a:prstDash val="solid"/>
            </a:ln>
          </a:left>
          <a:right>
            <a:ln w="6350">
              <a:solidFill>
                <a:srgbClr val="423C3B"/>
              </a:solidFill>
              <a:prstDash val="solid"/>
            </a:ln>
          </a:right>
          <a:top>
            <a:ln w="6350">
              <a:solidFill>
                <a:srgbClr val="423C3B"/>
              </a:solidFill>
              <a:prstDash val="solid"/>
            </a:ln>
          </a:top>
          <a:bottom>
            <a:ln w="6350">
              <a:solidFill>
                <a:srgbClr val="423C3B"/>
              </a:solidFill>
              <a:prstDash val="solid"/>
            </a:ln>
          </a:bottom>
          <a:insideH>
            <a:ln w="6350">
              <a:solidFill>
                <a:srgbClr val="423C3B"/>
              </a:solidFill>
              <a:prstDash val="solid"/>
            </a:ln>
          </a:insideH>
          <a:insideV>
            <a:ln w="6350">
              <a:solidFill>
                <a:srgbClr val="423C3B"/>
              </a:solidFill>
              <a:prstDash val="solid"/>
            </a:ln>
          </a:insideV>
        </a:tcBdr>
        <a:fill>
          <a:solidFill>
            <a:srgbClr val="FAEDC6"/>
          </a:solidFill>
        </a:fill>
      </a:tcStyle>
    </a:la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6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39" Type="http://schemas.openxmlformats.org/officeDocument/2006/relationships/theme" Target="theme/theme1.xml" /><Relationship Id="rId38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37" Type="http://schemas.openxmlformats.org/officeDocument/2006/relationships/presProps" Target="presProps.xml" /><Relationship Id="rId40" Type="http://schemas.openxmlformats.org/officeDocument/2006/relationships/tableStyles" Target="tableStyles.xml" /><Relationship Id="rId36" Type="http://schemas.openxmlformats.org/officeDocument/2006/relationships/notesMaster" Target="notesMasters/notesMaster1.xml" /><Relationship Type="http://schemas.openxmlformats.org/officeDocument/2006/relationships/slide" Target="/ppt/slides/slide1.xml" Id="rIdReportSlide1" /><Relationship Type="http://schemas.openxmlformats.org/officeDocument/2006/relationships/slide" Target="/ppt/slides/slide2.xml" Id="rIdReportSlide2" /><Relationship Type="http://schemas.openxmlformats.org/officeDocument/2006/relationships/slide" Target="/ppt/slides/slide3.xml" Id="rIdReportSlide3" /><Relationship Type="http://schemas.openxmlformats.org/officeDocument/2006/relationships/slide" Target="/ppt/slides/slide4.xml" Id="rIdReportSlide4" /><Relationship Type="http://schemas.openxmlformats.org/officeDocument/2006/relationships/slide" Target="/ppt/slides/slide5.xml" Id="rIdReportSlide5" /><Relationship Type="http://schemas.openxmlformats.org/officeDocument/2006/relationships/slide" Target="/ppt/slides/slide6.xml" Id="rIdReportSlide6" /><Relationship Type="http://schemas.openxmlformats.org/officeDocument/2006/relationships/slide" Target="/ppt/slides/slide7.xml" Id="rIdReportSlide7" /><Relationship Type="http://schemas.openxmlformats.org/officeDocument/2006/relationships/slide" Target="/ppt/slides/slide8.xml" Id="rIdReportSlide8" /><Relationship Type="http://schemas.openxmlformats.org/officeDocument/2006/relationships/slide" Target="/ppt/slides/slide9.xml" Id="rIdReportSlide9" /><Relationship Type="http://schemas.openxmlformats.org/officeDocument/2006/relationships/slide" Target="/ppt/slides/slide10.xml" Id="rIdReportSlide10" /><Relationship Type="http://schemas.openxmlformats.org/officeDocument/2006/relationships/slide" Target="/ppt/slides/slide11.xml" Id="rIdReportSlide11" /><Relationship Type="http://schemas.openxmlformats.org/officeDocument/2006/relationships/slide" Target="/ppt/slides/slide12.xml" Id="rIdReportSlide12" /><Relationship Type="http://schemas.openxmlformats.org/officeDocument/2006/relationships/slide" Target="/ppt/slides/slide13.xml" Id="rIdReportSlide13" /><Relationship Type="http://schemas.openxmlformats.org/officeDocument/2006/relationships/slide" Target="/ppt/slides/slide14.xml" Id="rIdReportSlide14" /><Relationship Type="http://schemas.openxmlformats.org/officeDocument/2006/relationships/slide" Target="/ppt/slides/slide15.xml" Id="rIdReportSlide15" /><Relationship Type="http://schemas.openxmlformats.org/officeDocument/2006/relationships/slide" Target="/ppt/slides/slide16.xml" Id="rIdReportSlide16" /><Relationship Type="http://schemas.openxmlformats.org/officeDocument/2006/relationships/slide" Target="/ppt/slides/slide17.xml" Id="rIdReportSlide17" /><Relationship Type="http://schemas.openxmlformats.org/officeDocument/2006/relationships/slide" Target="/ppt/slides/slide18.xml" Id="rIdReportSlide18" /><Relationship Type="http://schemas.openxmlformats.org/officeDocument/2006/relationships/slide" Target="/ppt/slides/slide19.xml" Id="rIdReportSlide19" /><Relationship Type="http://schemas.openxmlformats.org/officeDocument/2006/relationships/slide" Target="/ppt/slides/slide20.xml" Id="rIdReportSlide20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8af4f3f7844e74" /><Relationship Type="http://schemas.openxmlformats.org/officeDocument/2006/relationships/notesMaster" Target="/ppt/notesMasters/notesMaster1.xml" Id="Ra1969e104fbc4b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2242ff55be842a3" /><Relationship Type="http://schemas.openxmlformats.org/officeDocument/2006/relationships/notesMaster" Target="/ppt/notesMasters/notesMaster1.xml" Id="R7c65a9cf445c45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b209c5395c4b5b" /><Relationship Type="http://schemas.openxmlformats.org/officeDocument/2006/relationships/notesMaster" Target="/ppt/notesMasters/notesMaster1.xml" Id="R08594eb382bb47b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219ad29c7d4a8e" /><Relationship Type="http://schemas.openxmlformats.org/officeDocument/2006/relationships/notesMaster" Target="/ppt/notesMasters/notesMaster1.xml" Id="R8f5d3ad2fbd446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346a8fcf0e4b68" /><Relationship Type="http://schemas.openxmlformats.org/officeDocument/2006/relationships/notesMaster" Target="/ppt/notesMasters/notesMaster1.xml" Id="Rf4efd558cbc54c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fe8bdb29554ed3" /><Relationship Type="http://schemas.openxmlformats.org/officeDocument/2006/relationships/notesMaster" Target="/ppt/notesMasters/notesMaster1.xml" Id="Rba1c6f50bba94b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eff71129ec84800" /><Relationship Type="http://schemas.openxmlformats.org/officeDocument/2006/relationships/notesMaster" Target="/ppt/notesMasters/notesMaster1.xml" Id="R0bf21d0499c348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8aa3e017e6488c" /><Relationship Type="http://schemas.openxmlformats.org/officeDocument/2006/relationships/notesMaster" Target="/ppt/notesMasters/notesMaster1.xml" Id="R7791625ce47d477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d3dae10d54a42d7" /><Relationship Type="http://schemas.openxmlformats.org/officeDocument/2006/relationships/notesMaster" Target="/ppt/notesMasters/notesMaster1.xml" Id="R40ade39ca373406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207fb78941045a9" /><Relationship Type="http://schemas.openxmlformats.org/officeDocument/2006/relationships/notesMaster" Target="/ppt/notesMasters/notesMaster1.xml" Id="Rf01e5f391f52458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bbe5d798aca4deb" /><Relationship Type="http://schemas.openxmlformats.org/officeDocument/2006/relationships/notesMaster" Target="/ppt/notesMasters/notesMaster1.xml" Id="Rf45bb59c4fb442a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e21069887184745" /><Relationship Type="http://schemas.openxmlformats.org/officeDocument/2006/relationships/notesMaster" Target="/ppt/notesMasters/notesMaster1.xml" Id="Racb329f8000846a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9f7b26cbe75484f" /><Relationship Type="http://schemas.openxmlformats.org/officeDocument/2006/relationships/notesMaster" Target="/ppt/notesMasters/notesMaster1.xml" Id="R73dbd2e5788f4a8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c757633036f4a4f" /><Relationship Type="http://schemas.openxmlformats.org/officeDocument/2006/relationships/notesMaster" Target="/ppt/notesMasters/notesMaster1.xml" Id="R54ee87c6726b419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79a1ad2ffdd444f" /><Relationship Type="http://schemas.openxmlformats.org/officeDocument/2006/relationships/notesMaster" Target="/ppt/notesMasters/notesMaster1.xml" Id="Rf2758c8efb504ad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7430307f23b4ecd" /><Relationship Type="http://schemas.openxmlformats.org/officeDocument/2006/relationships/notesMaster" Target="/ppt/notesMasters/notesMaster1.xml" Id="Rabcf6ff9993b4df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a53b66d10944712" /><Relationship Type="http://schemas.openxmlformats.org/officeDocument/2006/relationships/notesMaster" Target="/ppt/notesMasters/notesMaster1.xml" Id="Rab1c6e86f3594a7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64c2936fe9a49a6" /><Relationship Type="http://schemas.openxmlformats.org/officeDocument/2006/relationships/notesMaster" Target="/ppt/notesMasters/notesMaster1.xml" Id="Rbefd8d52a1734c2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3a54cbbd3ea44c1" /><Relationship Type="http://schemas.openxmlformats.org/officeDocument/2006/relationships/notesMaster" Target="/ppt/notesMasters/notesMaster1.xml" Id="R476f98503755426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b98a40a2670424c" /><Relationship Type="http://schemas.openxmlformats.org/officeDocument/2006/relationships/notesMaster" Target="/ppt/notesMasters/notesMaster1.xml" Id="R74a70755c8bd4f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資料截點：2026-09-29</a:t>
            </a:r>
          </a:p>
          <a:p xmlns:a="http://schemas.openxmlformats.org/drawingml/2006/main">
            <a:r>
              <a:t>來源：Meeting/20261001/README.md；Notion MicroRTS EAGLE 實驗資料庫。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資料截點：2026-09-29</a:t>
            </a:r>
          </a:p>
          <a:p xmlns:a="http://schemas.openxmlformats.org/drawingml/2006/main">
            <a:r>
              <a:t>Meeting/20261001_self_play/20261001_palette.pptx；Meeting/20261001/README.md；Notion 0925–0927 pages.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資料截點：2026-09-29</a:t>
            </a:r>
          </a:p>
          <a:p xmlns:a="http://schemas.openxmlformats.org/drawingml/2006/main">
            <a:r>
              <a:t>本地 configs/experiments/0925_self_play/*.yaml、0926_self_play_sent/self_play_10x20.yaml；Notion run pages.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資料截點：2026-09-29</a:t>
            </a:r>
          </a:p>
          <a:p xmlns:a="http://schemas.openxmlformats.org/drawingml/2006/main">
            <a:r>
              <a:t>Meeting/20261001/analysis_md/20260910_generation_model_comparison.md；runs 20260908_121222_306081、20260909_032729_611766.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資料截點：2026-09-29</a:t>
            </a:r>
          </a:p>
          <a:p xmlns:a="http://schemas.openxmlformats.org/drawingml/2006/main">
            <a:r>
              <a:t>Meeting/20261001/analysis_md/20260912_initial_population_comparison.md；runs 20260910_160655_907573、20260911_072610_382082.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資料截點：2026-09-29</a:t>
            </a:r>
          </a:p>
          <a:p xmlns:a="http://schemas.openxmlformats.org/drawingml/2006/main">
            <a:r>
              <a:t>Meeting/20261001/analysis_md/20260914_parent_regeneration_comparison.md；common gen0 fork；20×10.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資料截點：2026-09-29</a:t>
            </a:r>
          </a:p>
          <a:p xmlns:a="http://schemas.openxmlformats.org/drawingml/2006/main">
            <a:r>
              <a:t>Meeting/20261001/analysis_md/20260907_reflection_ratio_full_report.md；configs/experiments/0914_reflection_ablation_20x10/; experiment_results_after_0907.md.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資料截點：2026-09-29</a:t>
            </a:r>
          </a:p>
          <a:p xmlns:a="http://schemas.openxmlformats.org/drawingml/2006/main">
            <a:r>
              <a:t>本地 Meeting/20261001/README.md；Notion 0926 10×10、0926 5×20、0927 10×20 pages；EAGLE 實驗整理 2026-09-29：https://app.notion.com/p/3eac9b9735d981d08651cdb192122d79.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資料截點：2026-09-29</a:t>
            </a:r>
          </a:p>
          <a:p xmlns:a="http://schemas.openxmlformats.org/drawingml/2006/main">
            <a:r>
              <a:t>Notion EAGLE 實驗整理｜2026-09-29：https://app.notion.com/p/3eac9b9735d981d08651cdb192122d79；configs/experiments/0927/self_play_10x20.yaml.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資料截點：2026-09-29</a:t>
            </a:r>
          </a:p>
          <a:p xmlns:a="http://schemas.openxmlformats.org/drawingml/2006/main">
            <a:r>
              <a:t>Notion EAGLE 實驗整理｜2026-09-29：https://app.notion.com/p/3eac9b9735d981d08651cdb192122d79；run 20260928_115653_334420.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資料截點：2026-09-29</a:t>
            </a:r>
          </a:p>
          <a:p xmlns:a="http://schemas.openxmlformats.org/drawingml/2006/main">
            <a:r>
              <a:t>Meeting/20261001/analysis_md/20260928_self_play_10x10_vs_5x20.md；Notion 0926 pages.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資料截點：2026-09-29</a:t>
            </a:r>
          </a:p>
          <a:p xmlns:a="http://schemas.openxmlformats.org/drawingml/2006/main">
            <a:r>
              <a:t>Notion 0926 Self-play 10×10 與 5×20 pages；Meeting/20261001/analysis_md/20260928_self_play_10x10_vs_5x20.md.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資料截點：2026-09-29</a:t>
            </a:r>
          </a:p>
          <a:p xmlns:a="http://schemas.openxmlformats.org/drawingml/2006/main">
            <a:r>
              <a:t>Notion 0927 page；configs/experiments/0929/README.md.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資料截點：2026-09-29</a:t>
            </a:r>
          </a:p>
          <a:p xmlns:a="http://schemas.openxmlformats.org/drawingml/2006/main">
            <a:r>
              <a:t>Meeting/20261001/analysis_md/20260926_self_play_comparison.md；Notion 0927 10×20 page；configs/experiments/0929/fixed_opponent_10x20_control.yaml.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資料截點：2026-09-29</a:t>
            </a:r>
          </a:p>
          <a:p xmlns:a="http://schemas.openxmlformats.org/drawingml/2006/main">
            <a:r>
              <a:t>Meeting/20261001/analysis_md/20260928_self_play_10x10_vs_5x20.md；Notion 0926 pages.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資料截點：2026-09-29</a:t>
            </a:r>
          </a:p>
          <a:p xmlns:a="http://schemas.openxmlformats.org/drawingml/2006/main">
            <a:r>
              <a:t>Notion 0926–0927 pages；Meeting/20261001/analysis_md/20260928_self_play_10x10_vs_5x20.md.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資料截點：2026-09-29</a:t>
            </a:r>
          </a:p>
          <a:p xmlns:a="http://schemas.openxmlformats.org/drawingml/2006/main">
            <a:r>
              <a:t>Notion 0926–0927 Self-play runs.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資料截點：2026-09-29</a:t>
            </a:r>
          </a:p>
          <a:p xmlns:a="http://schemas.openxmlformats.org/drawingml/2006/main">
            <a:r>
              <a:t>configs/experiments/0929/README.md; self_play_5x40_semantic_tiebreak.yaml.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資料截點：2026-09-29</a:t>
            </a:r>
          </a:p>
          <a:p xmlns:a="http://schemas.openxmlformats.org/drawingml/2006/main">
            <a:r>
              <a:t>configs/experiments/0929/self_play_5x40_semantic_tiebreak.yaml；對照 configs/experiments/0926_self_play_sent/self_play_10x20.yaml.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資料截點：2026-09-29</a:t>
            </a:r>
          </a:p>
          <a:p xmlns:a="http://schemas.openxmlformats.org/drawingml/2006/main">
            <a:r>
              <a:t>Notion database MicroRTS EAGLE; Meeting/20261001/README.md and analysis_md/*.md.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preserve="1" type="title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2F34C9E6-C370-4CE6-8C49-57861F01F240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476500" y="2762250"/>
            <a:ext cx="10972800" cy="13335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7A0C5AD2-9560-46CF-A557-9D96775B73B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857500" y="4429125"/>
            <a:ext cx="10210800" cy="9525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 xmlns:a="http://schemas.openxmlformats.org/drawingml/2006/main">
        <p:nvSpPr>
          <p:cNvPr id="4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94FF8C53-65A6-4BE2-B1C3-0860FCD540B7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dt="0" hdr="0" ftr="0"/>
</p:sldLayout>
</file>

<file path=ppt/slideLayouts/slideLayout2.xml><?xml version="1.0" encoding="utf-8"?>
<p:sldLayout xmlns:p="http://schemas.openxmlformats.org/presentationml/2006/main" preserve="1" type="secHead">
  <p:cSld name="章節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E3969E06-0C81-48D2-BB37-515771E13DCE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476500" y="3238500"/>
            <a:ext cx="10972800" cy="12382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2">
            <a:extLst xmlns:a="http://schemas.openxmlformats.org/drawingml/2006/main">
              <a:ext uri="{FF2B5EF4-FFF2-40B4-BE49-F238E27FC236}">
                <a16:creationId xmlns:a16="http://schemas.microsoft.com/office/drawing/2014/main" id="{590865AA-9D35-4748-91A3-B387D561BA4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048000" y="4714875"/>
            <a:ext cx="9829800" cy="8572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按一下以新增章節說明</a:t>
            </a:r>
          </a:p>
        </p:txBody>
      </p:sp>
      <p:sp xmlns:a="http://schemas.openxmlformats.org/drawingml/2006/main">
        <p:nvSpPr>
          <p:cNvPr id="4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1DC12639-B266-46C5-BCF3-45A4D32AE42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dt="0" hdr="0" ftr="0"/>
</p:sldLayout>
</file>

<file path=ppt/slideLayouts/slideLayout3.xml><?xml version="1.0" encoding="utf-8"?>
<p:sldLayout xmlns:p="http://schemas.openxmlformats.org/presentationml/2006/main" preserve="1" type="obj">
  <p:cSld name="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6EC4DF72-535F-4440-B07D-46BAD5D2A2AE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51353937-B2B6-48C4-A2B5-2F27B15E716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92425B3F-3430-4EDE-B5B3-73C027E72E1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130683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 xmlns:a="http://schemas.openxmlformats.org/drawingml/2006/main">
        <p:nvSpPr>
          <p:cNvPr id="5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1ED4EB3D-E8EE-422C-AC16-9B2450B7C42F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dt="0" hdr="0" ftr="0"/>
</p:sldLayout>
</file>

<file path=ppt/slideLayouts/slideLayout4.xml><?xml version="1.0" encoding="utf-8"?>
<p:sldLayout xmlns:p="http://schemas.openxmlformats.org/presentationml/2006/main" preserve="1" type="twoObj">
  <p:cSld name="兩項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3A4791D8-472B-4CB1-9BF5-68D6DDA5E08C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302C0C6D-C490-4DDF-92D9-E216E08E1CE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0892CF96-6BB8-469E-8C05-16E66270671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630555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5" name="EAGLE_3">
            <a:extLst xmlns:a="http://schemas.openxmlformats.org/drawingml/2006/main">
              <a:ext uri="{FF2B5EF4-FFF2-40B4-BE49-F238E27FC236}">
                <a16:creationId xmlns:a16="http://schemas.microsoft.com/office/drawing/2014/main" id="{00538733-DF1C-4D96-92B6-38724A005A9A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8191500" y="2619375"/>
            <a:ext cx="630555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 xmlns:a="http://schemas.openxmlformats.org/drawingml/2006/main">
        <p:nvSpPr>
          <p:cNvPr id="6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58176649-BADB-4675-AA89-5F227F3F3954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dt="0" hdr="0" ftr="0"/>
</p:sldLayout>
</file>

<file path=ppt/slideLayouts/slideLayout5.xml><?xml version="1.0" encoding="utf-8"?>
<p:sldLayout xmlns:p="http://schemas.openxmlformats.org/presentationml/2006/main" preserve="1" type="twoTxTwoObj">
  <p:cSld name="比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C4DD0E43-2CD7-44D8-A8DE-10D092170A60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076D8F65-D3F7-4349-B3FE-19769F62948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E2F427F0-C955-46A6-9858-9A50C0C635E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571750"/>
            <a:ext cx="6305550" cy="619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按一下以新增欄位標題</a:t>
            </a:r>
          </a:p>
        </p:txBody>
      </p:sp>
      <p:sp>
        <p:nvSpPr>
          <p:cNvPr id="5" name="EAGLE_4">
            <a:extLst xmlns:a="http://schemas.openxmlformats.org/drawingml/2006/main">
              <a:ext uri="{FF2B5EF4-FFF2-40B4-BE49-F238E27FC236}">
                <a16:creationId xmlns:a16="http://schemas.microsoft.com/office/drawing/2014/main" id="{3BB99614-5410-42D4-8D56-3C67339DE590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1428750" y="3476625"/>
            <a:ext cx="6305550" cy="4048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6" name="EAGLE_3">
            <a:extLst xmlns:a="http://schemas.openxmlformats.org/drawingml/2006/main">
              <a:ext uri="{FF2B5EF4-FFF2-40B4-BE49-F238E27FC236}">
                <a16:creationId xmlns:a16="http://schemas.microsoft.com/office/drawing/2014/main" id="{A31AD1B3-6BB9-4504-B9C5-087515F7D2D4}"/>
              </a:ext>
            </a:extLst>
          </p:cNvPr>
          <p:cNvSpPr>
            <a:spLocks xmlns:a="http://schemas.openxmlformats.org/drawingml/2006/main" noGrp="1"/>
          </p:cNvSpPr>
          <p:nvPr>
            <p:ph idx="5"/>
          </p:nvPr>
        </p:nvSpPr>
        <p:spPr>
          <a:xfrm xmlns:a="http://schemas.openxmlformats.org/drawingml/2006/main">
            <a:off x="8191500" y="2571750"/>
            <a:ext cx="6305550" cy="619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按一下以新增欄位標題</a:t>
            </a:r>
          </a:p>
        </p:txBody>
      </p:sp>
      <p:sp>
        <p:nvSpPr>
          <p:cNvPr id="7" name="EAGLE_5">
            <a:extLst xmlns:a="http://schemas.openxmlformats.org/drawingml/2006/main">
              <a:ext uri="{FF2B5EF4-FFF2-40B4-BE49-F238E27FC236}">
                <a16:creationId xmlns:a16="http://schemas.microsoft.com/office/drawing/2014/main" id="{31D81A76-EB56-426E-8AAB-C05D479E14FD}"/>
              </a:ext>
            </a:extLst>
          </p:cNvPr>
          <p:cNvSpPr>
            <a:spLocks xmlns:a="http://schemas.openxmlformats.org/drawingml/2006/main" noGrp="1"/>
          </p:cNvSpPr>
          <p:nvPr>
            <p:ph idx="5"/>
          </p:nvPr>
        </p:nvSpPr>
        <p:spPr>
          <a:xfrm xmlns:a="http://schemas.openxmlformats.org/drawingml/2006/main">
            <a:off x="8191500" y="3476625"/>
            <a:ext cx="6305550" cy="4048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 xmlns:a="http://schemas.openxmlformats.org/drawingml/2006/main">
        <p:nvSpPr>
          <p:cNvPr id="8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DAAEABEC-89D6-436E-9471-497DE5F8CC71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dt="0" hdr="0" ftr="0"/>
</p:sldLayout>
</file>

<file path=ppt/slideLayouts/slideLayout6.xml><?xml version="1.0" encoding="utf-8"?>
<p:sldLayout xmlns:p="http://schemas.openxmlformats.org/presentationml/2006/main" preserve="1" type="cust">
  <p:cSld name="三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D22686DD-6022-4F4D-883C-A3A2AE4FE63B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6D6AF434-5A04-42F0-BBFA-BC92C579986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FEB69765-384F-41D2-A24F-900B0409C29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40386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5" name="EAGLE_3">
            <a:extLst xmlns:a="http://schemas.openxmlformats.org/drawingml/2006/main">
              <a:ext uri="{FF2B5EF4-FFF2-40B4-BE49-F238E27FC236}">
                <a16:creationId xmlns:a16="http://schemas.microsoft.com/office/drawing/2014/main" id="{BB259B69-1EC0-4318-8F78-3881E3FD7476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5943600" y="2619375"/>
            <a:ext cx="40386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6" name="EAGLE_4">
            <a:extLst xmlns:a="http://schemas.openxmlformats.org/drawingml/2006/main">
              <a:ext uri="{FF2B5EF4-FFF2-40B4-BE49-F238E27FC236}">
                <a16:creationId xmlns:a16="http://schemas.microsoft.com/office/drawing/2014/main" id="{86B9ECF8-06DD-4853-A29A-64E7D62F27E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10458450" y="2619375"/>
            <a:ext cx="40386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 xmlns:a="http://schemas.openxmlformats.org/drawingml/2006/main">
        <p:nvSpPr>
          <p:cNvPr id="7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534CC2CF-DFA1-4FF2-9601-EFC4BA57938F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dt="0" hdr="0" ftr="0"/>
</p:sldLayout>
</file>

<file path=ppt/slideLayouts/slideLayout7.xml><?xml version="1.0" encoding="utf-8"?>
<p:sldLayout xmlns:p="http://schemas.openxmlformats.org/presentationml/2006/main" preserve="1" type="picTx">
  <p:cSld name="圖片及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93752F55-AC4A-40BE-B03B-0C040D71840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8B7D0469-A4AB-493F-ACBF-E8CB73C3A60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9089290D-C95F-4404-8DFC-D4901DA1C1B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2000250" y="2476500"/>
            <a:ext cx="11925300" cy="46196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按一下以新增圖片</a:t>
            </a:r>
          </a:p>
        </p:txBody>
      </p:sp>
      <p:sp>
        <p:nvSpPr>
          <p:cNvPr id="5" name="EAGLE_3">
            <a:extLst xmlns:a="http://schemas.openxmlformats.org/drawingml/2006/main">
              <a:ext uri="{FF2B5EF4-FFF2-40B4-BE49-F238E27FC236}">
                <a16:creationId xmlns:a16="http://schemas.microsoft.com/office/drawing/2014/main" id="{D1E03D6F-4B50-441D-9B62-7C7CF72080CE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2000250" y="7334250"/>
            <a:ext cx="11925300" cy="6667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按一下以新增圖片說明</a:t>
            </a:r>
          </a:p>
        </p:txBody>
      </p:sp>
      <p:sp xmlns:a="http://schemas.openxmlformats.org/drawingml/2006/main">
        <p:nvSpPr>
          <p:cNvPr id="6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5C3B0106-61B7-472E-AA5A-C33DCAE7DD66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dt="0" hdr="0" ftr="0"/>
</p:sldLayout>
</file>

<file path=ppt/slideLayouts/slideLayout8.xml><?xml version="1.0" encoding="utf-8"?>
<p:sldLayout xmlns:p="http://schemas.openxmlformats.org/presentationml/2006/main" preserve="1" type="objTx">
  <p:cSld name="內容與圖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4E1AFFBC-8DD7-4858-BE9E-DF7B9E845243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51E591F6-4009-4737-9C0E-3381B92FB0A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6277AB01-EE8D-4317-87D9-BEC820CCC3C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5476875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5" name="EAGLE_3">
            <a:extLst xmlns:a="http://schemas.openxmlformats.org/drawingml/2006/main">
              <a:ext uri="{FF2B5EF4-FFF2-40B4-BE49-F238E27FC236}">
                <a16:creationId xmlns:a16="http://schemas.microsoft.com/office/drawing/2014/main" id="{882ACEB2-431F-4BBF-8F1B-4F07F63851B4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7429500" y="2619375"/>
            <a:ext cx="706755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按一下以新增圖片</a:t>
            </a:r>
          </a:p>
        </p:txBody>
      </p:sp>
      <p:sp xmlns:a="http://schemas.openxmlformats.org/drawingml/2006/main">
        <p:nvSpPr>
          <p:cNvPr id="6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C110DA2E-972D-47CE-8ED2-D648217896E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dt="0" hdr="0" ftr="0"/>
</p:sldLayout>
</file>

<file path=ppt/slideLayouts/slideLayout9.xml><?xml version="1.0" encoding="utf-8"?>
<p:sldLayout xmlns:p="http://schemas.openxmlformats.org/presentationml/2006/main" preserve="1" type="tbl">
  <p:cSld name="標題及表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3F380ADE-E8BD-4361-83D4-34B395C514E3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198BEF13-EEB7-4982-8834-382B045AD4B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72D86C95-69D7-4516-97E8-EFF008A8DEC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130683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按一下以新增表格</a:t>
            </a:r>
          </a:p>
        </p:txBody>
      </p:sp>
      <p:sp xmlns:a="http://schemas.openxmlformats.org/drawingml/2006/main">
        <p:nvSpPr>
          <p:cNvPr id="5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04A177D9-44BB-4EE7-B2EE-483B651A8234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dt="0" hdr="0" ftr="0"/>
</p:sldLayout>
</file>

<file path=ppt/slideLayouts/slideLayout10.xml><?xml version="1.0" encoding="utf-8"?>
<p:sldLayout xmlns:p="http://schemas.openxmlformats.org/presentationml/2006/main" preserve="1" type="chart">
  <p:cSld name="標題及圖表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1A30452A-65F7-44A3-A2FA-1CF1F34140ED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C07D963E-74AF-48B2-8248-0768C947D07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6394422A-37D3-4C97-96C5-AF5AE3C8DC4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130683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按一下以新增圖表</a:t>
            </a:r>
          </a:p>
        </p:txBody>
      </p:sp>
      <p:sp xmlns:a="http://schemas.openxmlformats.org/drawingml/2006/main">
        <p:nvSpPr>
          <p:cNvPr id="5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86AA3F53-A20A-43C4-B655-9BABD8BDE394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dt="0" hdr="0" ftr="0"/>
</p:sldLayout>
</file>

<file path=ppt/slideLayouts/slideLayout11.xml><?xml version="1.0" encoding="utf-8"?>
<p:sldLayout xmlns:p="http://schemas.openxmlformats.org/presentationml/2006/main" preserve="1" type="titleOnly">
  <p:cSld name="僅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2F1A0662-494B-4627-BCEA-708F46AE5F74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5E4D67E8-1093-453A-AE8D-20B1DE405F8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 xmlns:a="http://schemas.openxmlformats.org/drawingml/2006/main">
        <p:nvSpPr>
          <p:cNvPr id="4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EFA42C01-117D-4BA1-BE6C-78A506A620BB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dt="0" hdr="0" ftr="0"/>
</p:sldLayout>
</file>

<file path=ppt/slideLayouts/slideLayout12.xml><?xml version="1.0" encoding="utf-8"?>
<p:sldLayout xmlns:p="http://schemas.openxmlformats.org/presentationml/2006/main" preserve="1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28360F44-9DDB-4760-BE5D-FBB78FF4F621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dt="0" hdr="0" ftr="0"/>
</p:sldLayout>
</file>

<file path=ppt/slideMasters/_rels/slideMaster1.xml.rels><?xml version='1.0' encoding='UTF-8' standalone='yes'?>
<Relationships xmlns="http://schemas.openxmlformats.org/package/2006/relationships"><Relationship Id="rIdLayout1" Type="http://schemas.openxmlformats.org/officeDocument/2006/relationships/slideLayout" Target="../slideLayouts/slideLayout1.xml"/><Relationship Id="rIdLayout2" Type="http://schemas.openxmlformats.org/officeDocument/2006/relationships/slideLayout" Target="../slideLayouts/slideLayout2.xml"/><Relationship Id="rIdLayout3" Type="http://schemas.openxmlformats.org/officeDocument/2006/relationships/slideLayout" Target="../slideLayouts/slideLayout3.xml"/><Relationship Id="rIdLayout4" Type="http://schemas.openxmlformats.org/officeDocument/2006/relationships/slideLayout" Target="../slideLayouts/slideLayout4.xml"/><Relationship Id="rIdLayout5" Type="http://schemas.openxmlformats.org/officeDocument/2006/relationships/slideLayout" Target="../slideLayouts/slideLayout5.xml"/><Relationship Id="rIdLayout6" Type="http://schemas.openxmlformats.org/officeDocument/2006/relationships/slideLayout" Target="../slideLayouts/slideLayout6.xml"/><Relationship Id="rIdLayout7" Type="http://schemas.openxmlformats.org/officeDocument/2006/relationships/slideLayout" Target="../slideLayouts/slideLayout7.xml"/><Relationship Id="rIdLayout8" Type="http://schemas.openxmlformats.org/officeDocument/2006/relationships/slideLayout" Target="../slideLayouts/slideLayout8.xml"/><Relationship Id="rIdLayout9" Type="http://schemas.openxmlformats.org/officeDocument/2006/relationships/slideLayout" Target="../slideLayouts/slideLayout9.xml"/><Relationship Id="rIdLayout10" Type="http://schemas.openxmlformats.org/officeDocument/2006/relationships/slideLayout" Target="../slideLayouts/slideLayout10.xml"/><Relationship Id="rIdLayout11" Type="http://schemas.openxmlformats.org/officeDocument/2006/relationships/slideLayout" Target="../slideLayouts/slideLayout11.xml"/><Relationship Id="rIdLayout12" Type="http://schemas.openxmlformats.org/officeDocument/2006/relationships/slideLayout" Target="../slideLayouts/slideLayout12.xml"/><Relationship Id="rIdTheme" Type="http://schemas.openxmlformats.org/officeDocument/2006/relationships/theme" Target="../theme/theme1.xml"/><Relationship Id="rIdBackground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EAG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AGLE geometric full-slide background"/>
          <p:cNvPicPr>
            <a:picLocks noChangeAspect="1"/>
          </p:cNvPicPr>
          <p:nvPr/>
        </p:nvPicPr>
        <p:blipFill>
          <a:blip r:embed="rIdBackground"/>
          <a:stretch>
            <a:fillRect/>
          </a:stretch>
        </p:blipFill>
        <p:spPr>
          <a:xfrm>
            <a:off x="0" y="0"/>
            <a:ext cx="15925800" cy="8963025"/>
          </a:xfrm>
          <a:prstGeom prst="rect">
            <a:avLst/>
          </a:prstGeom>
        </p:spPr>
      </p:pic>
      <p:sp>
        <p:nvSpPr>
          <p:cNvPr id="3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  <p:sldLayoutId id="2147483650" r:id="rIdLayout2"/>
    <p:sldLayoutId id="2147483651" r:id="rIdLayout3"/>
    <p:sldLayoutId id="2147483652" r:id="rIdLayout4"/>
    <p:sldLayoutId id="2147483653" r:id="rIdLayout5"/>
    <p:sldLayoutId id="2147483654" r:id="rIdLayout6"/>
    <p:sldLayoutId id="2147483655" r:id="rIdLayout7"/>
    <p:sldLayoutId id="2147483656" r:id="rIdLayout8"/>
    <p:sldLayoutId id="2147483657" r:id="rIdLayout9"/>
    <p:sldLayoutId id="2147483658" r:id="rIdLayout10"/>
    <p:sldLayoutId id="2147483659" r:id="rIdLayout11"/>
    <p:sldLayoutId id="2147483660" r:id="rIdLayout12"/>
  </p:sldLayoutIdLst>
  <p:hf sldNum="1" dt="0" hdr="0" ftr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Source Han Serif TW"/>
          <a:ea typeface="Source Han Serif TW"/>
          <a:cs typeface="Source Han Serif TW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Source Han Serif TW"/>
          <a:ea typeface="Source Han Serif TW"/>
          <a:cs typeface="Source Han Serif TW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Source Han Serif TW"/>
          <a:ea typeface="Source Han Serif TW"/>
          <a:cs typeface="Source Han Serif TW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Source Han Serif TW"/>
          <a:ea typeface="Source Han Serif TW"/>
          <a:cs typeface="Source Han Serif TW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1pPr>
      <a:lvl2pPr marL="4572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2pPr>
      <a:lvl3pPr marL="9144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3pPr>
      <a:lvl4pPr marL="13716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4pPr>
      <a:lvl5pPr marL="18288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5pPr>
      <a:lvl6pPr marL="22860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6pPr>
      <a:lvl7pPr marL="27432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7pPr>
      <a:lvl8pPr marL="32004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8pPr>
      <a:lvl9pPr marL="36576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../slideLayouts/slideLayout9.xml" Id="R59a5dde246814a9c" /><Relationship Type="http://schemas.openxmlformats.org/officeDocument/2006/relationships/notesSlide" Target="/ppt/notesSlides/notesSlide1.xml" Id="R71765d38d5f4478a" 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../slideLayouts/slideLayout9.xml" Id="Rc6728d5662564837" /><Relationship Type="http://schemas.openxmlformats.org/officeDocument/2006/relationships/notesSlide" Target="/ppt/notesSlides/notesSlide2.xml" Id="Rf0473fb9e74f43e2" 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slideLayout" Target="../slideLayouts/slideLayout10.xml" Id="R0bad6d349e4a4859" /><Relationship Type="http://schemas.openxmlformats.org/officeDocument/2006/relationships/notesSlide" Target="/ppt/notesSlides/notesSlide3.xml" Id="Re53c8181507d4883" />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slideLayout" Target="../slideLayouts/slideLayout3.xml" Id="Rc46aa9aaca754fc0" /><Relationship Type="http://schemas.openxmlformats.org/officeDocument/2006/relationships/notesSlide" Target="/ppt/notesSlides/notesSlide4.xml" Id="R79ad7d2aab60496c" /></Relationships>
</file>

<file path=ppt/slides/_rels/slide5.xml.rels><?xml version='1.0' encoding='utf-8'?>
<Relationships xmlns="http://schemas.openxmlformats.org/package/2006/relationships"><Relationship Type="http://schemas.openxmlformats.org/officeDocument/2006/relationships/slideLayout" Target="../slideLayouts/slideLayout10.xml" Id="Rb8c14c672e694534" /><Relationship Type="http://schemas.openxmlformats.org/officeDocument/2006/relationships/notesSlide" Target="/ppt/notesSlides/notesSlide5.xml" Id="R7c9cc3e452e74aa5" /></Relationships>
</file>

<file path=ppt/slides/_rels/slide6.xml.rels><?xml version='1.0' encoding='utf-8'?>
<Relationships xmlns="http://schemas.openxmlformats.org/package/2006/relationships"><Relationship Type="http://schemas.openxmlformats.org/officeDocument/2006/relationships/slideLayout" Target="../slideLayouts/slideLayout10.xml" Id="Rc4995f4519c44a3b" /><Relationship Type="http://schemas.openxmlformats.org/officeDocument/2006/relationships/notesSlide" Target="/ppt/notesSlides/notesSlide6.xml" Id="R7b247bede0fb4cd7" /></Relationships>
</file>

<file path=ppt/slides/_rels/slide7.xml.rels><?xml version='1.0' encoding='utf-8'?>
<Relationships xmlns="http://schemas.openxmlformats.org/package/2006/relationships"><Relationship Type="http://schemas.openxmlformats.org/officeDocument/2006/relationships/slideLayout" Target="../slideLayouts/slideLayout9.xml" Id="Rde4b3750a7724ef7" /><Relationship Type="http://schemas.openxmlformats.org/officeDocument/2006/relationships/notesSlide" Target="/ppt/notesSlides/notesSlide7.xml" Id="R255dd5cad46d4a9c" /></Relationships>
</file>

<file path=ppt/slides/_rels/slide8.xml.rels><?xml version='1.0' encoding='utf-8'?>
<Relationships xmlns="http://schemas.openxmlformats.org/package/2006/relationships"><Relationship Type="http://schemas.openxmlformats.org/officeDocument/2006/relationships/slideLayout" Target="../slideLayouts/slideLayout10.xml" Id="Rc4db22967ceb4bc5" /><Relationship Type="http://schemas.openxmlformats.org/officeDocument/2006/relationships/notesSlide" Target="/ppt/notesSlides/notesSlide8.xml" Id="R6ec6a3c8d3154d02" /></Relationships>
</file>

<file path=ppt/slides/_rels/slide9.xml.rels><?xml version='1.0' encoding='utf-8'?>
<Relationships xmlns="http://schemas.openxmlformats.org/package/2006/relationships"><Relationship Type="http://schemas.openxmlformats.org/officeDocument/2006/relationships/slideLayout" Target="../slideLayouts/slideLayout10.xml" Id="R90789828ff6d42c1" /><Relationship Type="http://schemas.openxmlformats.org/officeDocument/2006/relationships/notesSlide" Target="/ppt/notesSlides/notesSlide9.xml" Id="Re76d1a136dec4dd3" /></Relationships>
</file>

<file path=ppt/slides/_rels/slide10.xml.rels><?xml version='1.0' encoding='utf-8'?>
<Relationships xmlns="http://schemas.openxmlformats.org/package/2006/relationships"><Relationship Type="http://schemas.openxmlformats.org/officeDocument/2006/relationships/slideLayout" Target="../slideLayouts/slideLayout3.xml" Id="R0acc8e4ad1cd4568" /><Relationship Type="http://schemas.openxmlformats.org/officeDocument/2006/relationships/notesSlide" Target="/ppt/notesSlides/notesSlide10.xml" Id="Rbf0b47e024ed4d36" /></Relationships>
</file>

<file path=ppt/slides/_rels/slide11.xml.rels><?xml version='1.0' encoding='utf-8'?>
<Relationships xmlns="http://schemas.openxmlformats.org/package/2006/relationships"><Relationship Type="http://schemas.openxmlformats.org/officeDocument/2006/relationships/slideLayout" Target="../slideLayouts/slideLayout10.xml" Id="R39911e0c323d4deb" /><Relationship Type="http://schemas.openxmlformats.org/officeDocument/2006/relationships/chart" Target="/ppt/slides/charts/chart1.xml" Id="Rf1f557d0abc84b19" /><Relationship Type="http://schemas.openxmlformats.org/officeDocument/2006/relationships/notesSlide" Target="/ppt/notesSlides/notesSlide11.xml" Id="R9793b906fbfb4a8e" /></Relationships>
</file>

<file path=ppt/slides/_rels/slide12.xml.rels><?xml version='1.0' encoding='utf-8'?>
<Relationships xmlns="http://schemas.openxmlformats.org/package/2006/relationships"><Relationship Type="http://schemas.openxmlformats.org/officeDocument/2006/relationships/slideLayout" Target="../slideLayouts/slideLayout10.xml" Id="R8fc98c663bf04aae" /><Relationship Type="http://schemas.openxmlformats.org/officeDocument/2006/relationships/notesSlide" Target="/ppt/notesSlides/notesSlide12.xml" Id="Rc094f3f714b0490e" /></Relationships>
</file>

<file path=ppt/slides/_rels/slide13.xml.rels><?xml version='1.0' encoding='utf-8'?>
<Relationships xmlns="http://schemas.openxmlformats.org/package/2006/relationships"><Relationship Type="http://schemas.openxmlformats.org/officeDocument/2006/relationships/slideLayout" Target="../slideLayouts/slideLayout3.xml" Id="R8595c39f1f27453b" /><Relationship Type="http://schemas.openxmlformats.org/officeDocument/2006/relationships/notesSlide" Target="/ppt/notesSlides/notesSlide13.xml" Id="Rf9b6ca42f4494182" /></Relationships>
</file>

<file path=ppt/slides/_rels/slide14.xml.rels><?xml version='1.0' encoding='utf-8'?>
<Relationships xmlns="http://schemas.openxmlformats.org/package/2006/relationships"><Relationship Type="http://schemas.openxmlformats.org/officeDocument/2006/relationships/slideLayout" Target="../slideLayouts/slideLayout10.xml" Id="Rf8c2a149846f4846" /><Relationship Type="http://schemas.openxmlformats.org/officeDocument/2006/relationships/notesSlide" Target="/ppt/notesSlides/notesSlide14.xml" Id="Rdd09895c6e9a479a" /></Relationships>
</file>

<file path=ppt/slides/_rels/slide15.xml.rels><?xml version='1.0' encoding='utf-8'?>
<Relationships xmlns="http://schemas.openxmlformats.org/package/2006/relationships"><Relationship Type="http://schemas.openxmlformats.org/officeDocument/2006/relationships/slideLayout" Target="../slideLayouts/slideLayout10.xml" Id="R18efc8490dc343b1" /><Relationship Type="http://schemas.openxmlformats.org/officeDocument/2006/relationships/notesSlide" Target="/ppt/notesSlides/notesSlide15.xml" Id="R647be7d73a8043cb" /></Relationships>
</file>

<file path=ppt/slides/_rels/slide16.xml.rels><?xml version='1.0' encoding='utf-8'?>
<Relationships xmlns="http://schemas.openxmlformats.org/package/2006/relationships"><Relationship Type="http://schemas.openxmlformats.org/officeDocument/2006/relationships/slideLayout" Target="../slideLayouts/slideLayout9.xml" Id="R7c2d7540d20e456d" /><Relationship Type="http://schemas.openxmlformats.org/officeDocument/2006/relationships/notesSlide" Target="/ppt/notesSlides/notesSlide16.xml" Id="R7a3b68cc682848fe" /></Relationships>
</file>

<file path=ppt/slides/_rels/slide17.xml.rels><?xml version='1.0' encoding='utf-8'?>
<Relationships xmlns="http://schemas.openxmlformats.org/package/2006/relationships"><Relationship Type="http://schemas.openxmlformats.org/officeDocument/2006/relationships/slideLayout" Target="../slideLayouts/slideLayout10.xml" Id="R9433c8accb0f4e13" /><Relationship Type="http://schemas.openxmlformats.org/officeDocument/2006/relationships/chart" Target="/ppt/slides/charts/chart2.xml" Id="R0ef0fe7f43da4d29" /><Relationship Type="http://schemas.openxmlformats.org/officeDocument/2006/relationships/notesSlide" Target="/ppt/notesSlides/notesSlide17.xml" Id="R6487faad78e34f74" /></Relationships>
</file>

<file path=ppt/slides/_rels/slide18.xml.rels><?xml version='1.0' encoding='utf-8'?>
<Relationships xmlns="http://schemas.openxmlformats.org/package/2006/relationships"><Relationship Type="http://schemas.openxmlformats.org/officeDocument/2006/relationships/slideLayout" Target="../slideLayouts/slideLayout10.xml" Id="Ree84f844a8454444" /><Relationship Type="http://schemas.openxmlformats.org/officeDocument/2006/relationships/notesSlide" Target="/ppt/notesSlides/notesSlide18.xml" Id="R1c457849df3e4353" /></Relationships>
</file>

<file path=ppt/slides/_rels/slide19.xml.rels><?xml version='1.0' encoding='utf-8'?>
<Relationships xmlns="http://schemas.openxmlformats.org/package/2006/relationships"><Relationship Type="http://schemas.openxmlformats.org/officeDocument/2006/relationships/slideLayout" Target="../slideLayouts/slideLayout10.xml" Id="R2f59797083c0496f" /><Relationship Type="http://schemas.openxmlformats.org/officeDocument/2006/relationships/notesSlide" Target="/ppt/notesSlides/notesSlide19.xml" Id="R05b73646e9c4425f" /></Relationships>
</file>

<file path=ppt/slides/_rels/slide20.xml.rels><?xml version='1.0' encoding='utf-8'?>
<Relationships xmlns="http://schemas.openxmlformats.org/package/2006/relationships"><Relationship Type="http://schemas.openxmlformats.org/officeDocument/2006/relationships/slideLayout" Target="../slideLayouts/slideLayout10.xml" Id="R8e7bdac7c5e64f4e" /><Relationship Type="http://schemas.openxmlformats.org/officeDocument/2006/relationships/notesSlide" Target="/ppt/notesSlides/notesSlide20.xml" Id="Re6241fb1aaf744d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ns0:chartSpace xmlns:a="http://schemas.openxmlformats.org/drawingml/2006/main" xmlns:ns0="http://schemas.openxmlformats.org/drawingml/2006/chart" xmlns:r="http://schemas.openxmlformats.org/officeDocument/2006/relationships">
  <ns0:lang val="en-US"/>
  <ns0:chart>
    <ns0:plotArea>
      <ns0:barChart>
        <ns0:barDir val="col"/>
        <ns0:grouping val="stacked"/>
        <ns0:varyColors val="0"/>
        <ns0:ser>
          <ns0:idx val="0"/>
          <ns0:order val="0"/>
          <ns0:tx>
            <ns0:v>Wins</ns0:v>
          </ns0:tx>
          <ns0:spPr>
            <a:solidFill>
              <a:srgbClr val="CF8792"/>
            </a:solidFill>
          </ns0:spPr>
          <ns0:cat>
            <ns0:strRef>
              <ns0:f>'Chart Data'!$A$2:$A$3</ns0:f>
              <ns0:strCache>
                <ns0:ptCount val="2"/>
                <ns0:pt idx="0">
                  <ns0:v>10×10</ns0:v>
                </ns0:pt>
                <ns0:pt idx="1">
                  <ns0:v>5×20</ns0:v>
                </ns0:pt>
              </ns0:strCache>
            </ns0:strRef>
          </ns0:cat>
          <ns0:val>
            <ns0:numRef>
              <ns0:f>'Chart Data'!$B$2:$B$3</ns0:f>
              <ns0:numCache>
                <ns0:formatCode>General</ns0:formatCode>
                <ns0:ptCount val="2"/>
                <ns0:pt idx="0">
                  <ns0:v>257</ns0:v>
                </ns0:pt>
                <ns0:pt idx="1">
                  <ns0:v>0</ns0:v>
                </ns0:pt>
              </ns0:numCache>
            </ns0:numRef>
          </ns0:val>
        </ns0:ser>
        <ns0:ser>
          <ns0:idx val="1"/>
          <ns0:order val="1"/>
          <ns0:tx>
            <ns0:v>Draws</ns0:v>
          </ns0:tx>
          <ns0:spPr>
            <a:solidFill>
              <a:srgbClr val="FAEDC6"/>
            </a:solidFill>
          </ns0:spPr>
          <ns0:cat>
            <ns0:strRef>
              <ns0:f>'Chart Data'!$C$2:$C$3</ns0:f>
              <ns0:strCache>
                <ns0:ptCount val="2"/>
                <ns0:pt idx="0">
                  <ns0:v>10×10</ns0:v>
                </ns0:pt>
                <ns0:pt idx="1">
                  <ns0:v>5×20</ns0:v>
                </ns0:pt>
              </ns0:strCache>
            </ns0:strRef>
          </ns0:cat>
          <ns0:val>
            <ns0:numRef>
              <ns0:f>'Chart Data'!$D$2:$D$3</ns0:f>
              <ns0:numCache>
                <ns0:formatCode>General</ns0:formatCode>
                <ns0:ptCount val="2"/>
                <ns0:pt idx="0">
                  <ns0:v>22</ns0:v>
                </ns0:pt>
                <ns0:pt idx="1">
                  <ns0:v>212</ns0:v>
                </ns0:pt>
              </ns0:numCache>
            </ns0:numRef>
          </ns0:val>
        </ns0:ser>
        <ns0:ser>
          <ns0:idx val="2"/>
          <ns0:order val="2"/>
          <ns0:tx>
            <ns0:v>Losses</ns0:v>
          </ns0:tx>
          <ns0:spPr>
            <a:solidFill>
              <a:srgbClr val="DEB4BA"/>
            </a:solidFill>
          </ns0:spPr>
          <ns0:cat>
            <ns0:strRef>
              <ns0:f>'Chart Data'!$E$2:$E$3</ns0:f>
              <ns0:strCache>
                <ns0:ptCount val="2"/>
                <ns0:pt idx="0">
                  <ns0:v>10×10</ns0:v>
                </ns0:pt>
                <ns0:pt idx="1">
                  <ns0:v>5×20</ns0:v>
                </ns0:pt>
              </ns0:strCache>
            </ns0:strRef>
          </ns0:cat>
          <ns0:val>
            <ns0:numRef>
              <ns0:f>'Chart Data'!$F$2:$F$3</ns0:f>
              <ns0:numCache>
                <ns0:formatCode>General</ns0:formatCode>
                <ns0:ptCount val="2"/>
                <ns0:pt idx="0">
                  <ns0:v>321</ns0:v>
                </ns0:pt>
                <ns0:pt idx="1">
                  <ns0:v>388</ns0:v>
                </ns0:pt>
              </ns0:numCache>
            </ns0:numRef>
          </ns0:val>
        </ns0:ser>
        <ns0:dLbls>
          <ns0:txPr>
            <a:bodyPr anchorCtr="1"/>
            <a:lstStyle/>
            <a:p>
              <a:pPr>
                <a:defRPr sz="1552">
                  <a:latin typeface="Source Han Serif TW"/>
                  <a:ea typeface="Source Han Serif TW"/>
                  <a:cs typeface="Source Han Serif TW"/>
                </a:defRPr>
              </a:pPr>
            </a:p>
          </ns0:txPr>
          <ns0:dLblPos val="ctr"/>
          <ns0:showLegendKey val="0"/>
          <ns0:showVal val="1"/>
          <ns0:showCatName val="0"/>
          <ns0:showSerName val="0"/>
          <ns0:showPercent val="0"/>
          <ns0:showBubbleSize val="0"/>
          <ns0:showLeaderLines val="0"/>
        </ns0:dLbls>
        <ns0:gapWidth val="100"/>
        <ns0:overlap val="100"/>
        <ns0:axId val="48650112"/>
        <ns0:axId val="48672768"/>
      </ns0:barChart>
      <ns0:catAx>
        <ns0:axId val="48650112"/>
        <ns0:scaling>
          <ns0:orientation val="minMax"/>
        </ns0:scaling>
        <ns0:delete val="0"/>
        <ns0:axPos val="b"/>
        <ns0:numFmt formatCode="General"/>
        <ns0:majorTickMark val="none"/>
        <ns0:minorTickMark val="none"/>
        <ns0:spPr>
          <a:ln w="9525">
            <a:solidFill>
              <a:srgbClr val="D4D4D4"/>
            </a:solidFill>
            <a:prstDash val="solid"/>
          </a:ln>
        </ns0:spPr>
        <ns0:txPr>
          <a:bodyPr anchorCtr="1"/>
          <a:lstStyle/>
          <a:p>
            <a:pPr>
              <a:defRPr sz="1466">
                <a:solidFill>
                  <a:srgbClr val="666666"/>
                </a:solidFill>
                <a:latin typeface="Source Han Serif TW"/>
                <a:ea typeface="Source Han Serif TW"/>
                <a:cs typeface="Source Han Serif TW"/>
              </a:defRPr>
            </a:pPr>
          </a:p>
        </ns0:txPr>
        <ns0:crossAx val="48672768"/>
      </ns0:catAx>
      <ns0:valAx>
        <ns0:axId val="48672768"/>
        <ns0:scaling>
          <ns0:orientation val="minMax"/>
          <ns0:max val="600"/>
          <ns0:min val="0"/>
        </ns0:scaling>
        <ns0:delete val="0"/>
        <ns0:axPos val="l"/>
        <ns0:numFmt formatCode="General"/>
        <ns0:majorTickMark val="none"/>
        <ns0:minorTickMark val="none"/>
        <ns0:spPr>
          <a:ln w="9525">
            <a:solidFill>
              <a:srgbClr val="D4D4D4"/>
            </a:solidFill>
            <a:prstDash val="solid"/>
          </a:ln>
        </ns0:spPr>
        <ns0:txPr>
          <a:bodyPr anchorCtr="1"/>
          <a:lstStyle/>
          <a:p>
            <a:pPr>
              <a:defRPr sz="1380">
                <a:solidFill>
                  <a:srgbClr val="666666"/>
                </a:solidFill>
                <a:latin typeface="Source Han Serif TW"/>
                <a:ea typeface="Source Han Serif TW"/>
                <a:cs typeface="Source Han Serif TW"/>
              </a:defRPr>
            </a:pPr>
          </a:p>
        </ns0:txPr>
        <ns0:crossAx val="48650112"/>
        <ns0:crossBetween val="between"/>
        <ns0:majorUnit val="100"/>
      </ns0:valAx>
      <ns0:spPr>
        <a:solidFill>
          <a:srgbClr val="FCF8F5"/>
        </a:solidFill>
      </ns0:spPr>
    </ns0:plotArea>
    <ns0:legend>
      <ns0:legendPos val="b"/>
      <ns0:overlay val="0"/>
      <ns0:txPr>
        <a:bodyPr anchorCtr="1"/>
        <a:lstStyle/>
        <a:p>
          <a:pPr>
            <a:defRPr sz="1552">
              <a:latin typeface="Source Han Serif TW"/>
              <a:ea typeface="Source Han Serif TW"/>
              <a:cs typeface="Source Han Serif TW"/>
            </a:defRPr>
          </a:pPr>
        </a:p>
      </ns0:txPr>
    </ns0:legend>
    <ns0:plotVisOnly val="1"/>
  </ns0:chart>
  <ns0:spPr>
    <a:solidFill>
      <a:srgbClr val="FCF8F5"/>
    </a:solidFill>
  </ns0:spPr>
  <ns0:externalData r:id="rIdChartSnapshot1">
    <ns0:autoUpdate val="0"/>
  </ns0:externalData>
</ns0:chartSpace>
</file>

<file path=ppt/slides/charts/chart2.xml><?xml version="1.0" encoding="utf-8"?>
<ns0:chartSpace xmlns:a="http://schemas.openxmlformats.org/drawingml/2006/main" xmlns:ns0="http://schemas.openxmlformats.org/drawingml/2006/chart" xmlns:r="http://schemas.openxmlformats.org/officeDocument/2006/relationships">
  <ns0:lang val="en-US"/>
  <ns0:chart>
    <ns0:plotArea>
      <ns0:barChart>
        <ns0:barDir val="col"/>
        <ns0:grouping val="stacked"/>
        <ns0:varyColors val="0"/>
        <ns0:ser>
          <ns0:idx val="0"/>
          <ns0:order val="0"/>
          <ns0:tx>
            <ns0:v>Wins</ns0:v>
          </ns0:tx>
          <ns0:spPr>
            <a:solidFill>
              <a:srgbClr val="CF8792"/>
            </a:solidFill>
          </ns0:spPr>
          <ns0:cat>
            <ns0:strRef>
              <ns0:f>'Chart Data'!$A$2:$A$4</ns0:f>
              <ns0:strCache>
                <ns0:ptCount val="3"/>
                <ns0:pt idx="0">
                  <ns0:v>0926 10×10</ns0:v>
                </ns0:pt>
                <ns0:pt idx="1">
                  <ns0:v>0926 5×20</ns0:v>
                </ns0:pt>
                <ns0:pt idx="2">
                  <ns0:v>0927 10×20</ns0:v>
                </ns0:pt>
              </ns0:strCache>
            </ns0:strRef>
          </ns0:cat>
          <ns0:val>
            <ns0:numRef>
              <ns0:f>'Chart Data'!$B$2:$B$4</ns0:f>
              <ns0:numCache>
                <ns0:formatCode>General</ns0:formatCode>
                <ns0:ptCount val="3"/>
                <ns0:pt idx="0">
                  <ns0:v>257</ns0:v>
                </ns0:pt>
                <ns0:pt idx="1">
                  <ns0:v>0</ns0:v>
                </ns0:pt>
                <ns0:pt idx="2">
                  <ns0:v>0</ns0:v>
                </ns0:pt>
              </ns0:numCache>
            </ns0:numRef>
          </ns0:val>
        </ns0:ser>
        <ns0:ser>
          <ns0:idx val="1"/>
          <ns0:order val="1"/>
          <ns0:tx>
            <ns0:v>Draws</ns0:v>
          </ns0:tx>
          <ns0:spPr>
            <a:solidFill>
              <a:srgbClr val="FAEDC6"/>
            </a:solidFill>
          </ns0:spPr>
          <ns0:cat>
            <ns0:strRef>
              <ns0:f>'Chart Data'!$C$2:$C$4</ns0:f>
              <ns0:strCache>
                <ns0:ptCount val="3"/>
                <ns0:pt idx="0">
                  <ns0:v>0926 10×10</ns0:v>
                </ns0:pt>
                <ns0:pt idx="1">
                  <ns0:v>0926 5×20</ns0:v>
                </ns0:pt>
                <ns0:pt idx="2">
                  <ns0:v>0927 10×20</ns0:v>
                </ns0:pt>
              </ns0:strCache>
            </ns0:strRef>
          </ns0:cat>
          <ns0:val>
            <ns0:numRef>
              <ns0:f>'Chart Data'!$D$2:$D$4</ns0:f>
              <ns0:numCache>
                <ns0:formatCode>General</ns0:formatCode>
                <ns0:ptCount val="3"/>
                <ns0:pt idx="0">
                  <ns0:v>22</ns0:v>
                </ns0:pt>
                <ns0:pt idx="1">
                  <ns0:v>212</ns0:v>
                </ns0:pt>
                <ns0:pt idx="2">
                  <ns0:v>156</ns0:v>
                </ns0:pt>
              </ns0:numCache>
            </ns0:numRef>
          </ns0:val>
        </ns0:ser>
        <ns0:ser>
          <ns0:idx val="2"/>
          <ns0:order val="2"/>
          <ns0:tx>
            <ns0:v>Losses</ns0:v>
          </ns0:tx>
          <ns0:spPr>
            <a:solidFill>
              <a:srgbClr val="DEB4BA"/>
            </a:solidFill>
          </ns0:spPr>
          <ns0:cat>
            <ns0:strRef>
              <ns0:f>'Chart Data'!$E$2:$E$4</ns0:f>
              <ns0:strCache>
                <ns0:ptCount val="3"/>
                <ns0:pt idx="0">
                  <ns0:v>0926 10×10</ns0:v>
                </ns0:pt>
                <ns0:pt idx="1">
                  <ns0:v>0926 5×20</ns0:v>
                </ns0:pt>
                <ns0:pt idx="2">
                  <ns0:v>0927 10×20</ns0:v>
                </ns0:pt>
              </ns0:strCache>
            </ns0:strRef>
          </ns0:cat>
          <ns0:val>
            <ns0:numRef>
              <ns0:f>'Chart Data'!$F$2:$F$4</ns0:f>
              <ns0:numCache>
                <ns0:formatCode>General</ns0:formatCode>
                <ns0:ptCount val="3"/>
                <ns0:pt idx="0">
                  <ns0:v>321</ns0:v>
                </ns0:pt>
                <ns0:pt idx="1">
                  <ns0:v>388</ns0:v>
                </ns0:pt>
                <ns0:pt idx="2">
                  <ns0:v>444</ns0:v>
                </ns0:pt>
              </ns0:numCache>
            </ns0:numRef>
          </ns0:val>
        </ns0:ser>
        <ns0:dLbls>
          <ns0:txPr>
            <a:bodyPr anchorCtr="1"/>
            <a:lstStyle/>
            <a:p>
              <a:pPr>
                <a:defRPr sz="1552">
                  <a:latin typeface="Source Han Serif TW"/>
                  <a:ea typeface="Source Han Serif TW"/>
                  <a:cs typeface="Source Han Serif TW"/>
                </a:defRPr>
              </a:pPr>
            </a:p>
          </ns0:txPr>
          <ns0:dLblPos val="ctr"/>
          <ns0:showLegendKey val="0"/>
          <ns0:showVal val="1"/>
          <ns0:showCatName val="0"/>
          <ns0:showSerName val="0"/>
          <ns0:showPercent val="0"/>
          <ns0:showBubbleSize val="0"/>
          <ns0:showLeaderLines val="0"/>
        </ns0:dLbls>
        <ns0:gapWidth val="100"/>
        <ns0:overlap val="100"/>
        <ns0:axId val="48650112"/>
        <ns0:axId val="48672768"/>
      </ns0:barChart>
      <ns0:catAx>
        <ns0:axId val="48650112"/>
        <ns0:scaling>
          <ns0:orientation val="minMax"/>
        </ns0:scaling>
        <ns0:delete val="0"/>
        <ns0:axPos val="b"/>
        <ns0:numFmt formatCode="General"/>
        <ns0:majorTickMark val="none"/>
        <ns0:minorTickMark val="none"/>
        <ns0:spPr>
          <a:ln w="9525">
            <a:solidFill>
              <a:srgbClr val="D4D4D4"/>
            </a:solidFill>
            <a:prstDash val="solid"/>
          </a:ln>
        </ns0:spPr>
        <ns0:txPr>
          <a:bodyPr anchorCtr="1"/>
          <a:lstStyle/>
          <a:p>
            <a:pPr>
              <a:defRPr sz="1466">
                <a:solidFill>
                  <a:srgbClr val="666666"/>
                </a:solidFill>
                <a:latin typeface="Source Han Serif TW"/>
                <a:ea typeface="Source Han Serif TW"/>
                <a:cs typeface="Source Han Serif TW"/>
              </a:defRPr>
            </a:pPr>
          </a:p>
        </ns0:txPr>
        <ns0:crossAx val="48672768"/>
      </ns0:catAx>
      <ns0:valAx>
        <ns0:axId val="48672768"/>
        <ns0:scaling>
          <ns0:orientation val="minMax"/>
          <ns0:max val="600"/>
          <ns0:min val="0"/>
        </ns0:scaling>
        <ns0:delete val="0"/>
        <ns0:axPos val="l"/>
        <ns0:numFmt formatCode="General"/>
        <ns0:majorTickMark val="none"/>
        <ns0:minorTickMark val="none"/>
        <ns0:spPr>
          <a:ln w="9525">
            <a:solidFill>
              <a:srgbClr val="D4D4D4"/>
            </a:solidFill>
            <a:prstDash val="solid"/>
          </a:ln>
        </ns0:spPr>
        <ns0:txPr>
          <a:bodyPr anchorCtr="1"/>
          <a:lstStyle/>
          <a:p>
            <a:pPr>
              <a:defRPr sz="1380">
                <a:solidFill>
                  <a:srgbClr val="666666"/>
                </a:solidFill>
                <a:latin typeface="Source Han Serif TW"/>
                <a:ea typeface="Source Han Serif TW"/>
                <a:cs typeface="Source Han Serif TW"/>
              </a:defRPr>
            </a:pPr>
          </a:p>
        </ns0:txPr>
        <ns0:crossAx val="48650112"/>
        <ns0:crossBetween val="between"/>
        <ns0:majorUnit val="100"/>
      </ns0:valAx>
      <ns0:spPr>
        <a:solidFill>
          <a:srgbClr val="FCF8F5"/>
        </a:solidFill>
      </ns0:spPr>
    </ns0:plotArea>
    <ns0:legend>
      <ns0:legendPos val="b"/>
      <ns0:overlay val="0"/>
      <ns0:txPr>
        <a:bodyPr anchorCtr="1"/>
        <a:lstStyle/>
        <a:p>
          <a:pPr>
            <a:defRPr sz="1552">
              <a:latin typeface="Source Han Serif TW"/>
              <a:ea typeface="Source Han Serif TW"/>
              <a:cs typeface="Source Han Serif TW"/>
            </a:defRPr>
          </a:pPr>
        </a:p>
      </ns0:txPr>
    </ns0:legend>
    <ns0:plotVisOnly val="1"/>
  </ns0:chart>
  <ns0:spPr>
    <a:solidFill>
      <a:srgbClr val="FCF8F5"/>
    </a:solidFill>
  </ns0:spPr>
  <ns0:externalData r:id="rIdChartSnapshot1">
    <ns0:autoUpdate val="0"/>
  </ns0:externalData>
</ns0:chartSpace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8" name="EAGLE_0">
            <a:extLst>
              <a:ext uri="{FF2B5EF4-FFF2-40B4-BE49-F238E27FC236}">
                <ns2:creationId id="{D987E8C0-4C20-4933-B84B-42119ABCDBD6}"/>
              </a:ext>
            </a:extLst>
          </p:cNvPr>
          <p:cNvSpPr>
            <a:spLocks noGrp="1"/>
          </p:cNvSpPr>
          <p:nvPr>
            <p:ph idx="0"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defRPr sz="46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46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EAGLE 實驗比較與結果校核</a:t>
            </a:r>
          </a:p>
        </p:txBody>
      </p:sp>
      <p:sp>
        <p:nvSpPr>
          <p:cNvPr id="9" name="EAGLE_1">
            <a:extLst>
              <a:ext uri="{FF2B5EF4-FFF2-40B4-BE49-F238E27FC236}">
                <ns2:creationId id="{570531A9-E435-49E5-A182-B61F60A51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研究會議｜實驗資料截至 2026/09/29</a:t>
            </a:r>
          </a:p>
        </p:txBody>
      </p:sp>
      <p:sp>
        <p:nvSpPr>
          <p:cNvPr id="5" name="">
            <a:extLst>
              <a:ext uri="{FF2B5EF4-FFF2-40B4-BE49-F238E27FC236}">
                <ns2:creationId id="{8597F8BD-D4CC-4D68-A749-E8F759E69DB6}"/>
              </a:ext>
            </a:extLst>
          </p:cNvPr>
          <p:cNvSpPr>
            <a:spLocks noGrp="1"/>
          </p:cNvSpPr>
          <p:nvPr/>
        </p:nvSpPr>
        <p:spPr>
          <a:xfrm>
            <a:off x="1451282" y="2821781"/>
            <a:ext cx="12617669" cy="859036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22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22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Self-play 結果、歷史對照與缺漏實驗</a:t>
            </a:r>
          </a:p>
        </p:txBody>
      </p:sp>
      <p:sp>
        <p:nvSpPr>
          <p:cNvPr id="6" name="">
            <a:extLst>
              <a:ext uri="{FF2B5EF4-FFF2-40B4-BE49-F238E27FC236}">
                <ns2:creationId id="{02D67923-0521-4B8B-80A5-89E3FF0986DD}"/>
              </a:ext>
            </a:extLst>
          </p:cNvPr>
          <p:cNvSpPr>
            <a:spLocks noGrp="1"/>
          </p:cNvSpPr>
          <p:nvPr/>
        </p:nvSpPr>
        <p:spPr>
          <a:xfrm>
            <a:off x="1473813" y="3923109"/>
            <a:ext cx="12505011" cy="55066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42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42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所有結果先按 run ID、resolved config 與共同 600 場 final test 校核</a:t>
            </a:r>
          </a:p>
        </p:txBody>
      </p:sp>
      <p:sp>
        <p:nvSpPr>
          <p:cNvPr id="7" name="">
            <a:extLst>
              <a:ext uri="{FF2B5EF4-FFF2-40B4-BE49-F238E27FC236}">
                <ns2:creationId id="{025AF41E-9656-4761-9223-18A74E2B3061}"/>
              </a:ext>
            </a:extLst>
          </p:cNvPr>
          <p:cNvSpPr>
            <a:spLocks noGrp="1"/>
          </p:cNvSpPr>
          <p:nvPr/>
        </p:nvSpPr>
        <p:spPr>
          <a:xfrm>
            <a:off x="1473813" y="4638973"/>
            <a:ext cx="12505011" cy="440531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97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97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涵蓋 09/07–09/29 分析文件與 Notion 0924 後 3 次單一 game_performance 目標 self-play runs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7CDBC5AA-15D4-440B-80DD-1902C2DC9B36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</a:t>
            </a:fld>
          </a:p>
        </p:txBody>
      </p:sp>
    </p:spTree>
    <p:extLst>
      <p:ext uri="{BB962C8B-B14F-4D97-AF65-F5344CB8AC3E}">
        <ns3:creationId val="363733803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12" name="EAGLE_0">
            <a:extLst>
              <a:ext uri="{FF2B5EF4-FFF2-40B4-BE49-F238E27FC236}">
                <ns2:creationId id="{763C505E-A699-4D77-B84C-43A3DB65E6A3}"/>
              </a:ext>
            </a:extLst>
          </p:cNvPr>
          <p:cNvSpPr>
            <a:spLocks noGrp="1"/>
          </p:cNvSpPr>
          <p:nvPr>
            <p:ph idx="0"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defRPr sz="46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46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原草稿需更新的數字與比較口徑</a:t>
            </a:r>
          </a:p>
        </p:txBody>
      </p:sp>
      <p:sp>
        <p:nvSpPr>
          <p:cNvPr id="13" name="EAGLE_1">
            <a:extLst>
              <a:ext uri="{FF2B5EF4-FFF2-40B4-BE49-F238E27FC236}">
                <ns2:creationId id="{F31D48B2-94AC-4E13-A1AB-C01D01CC9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舊版資料仍有參考價值，但不能當作最新 10×20 結果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="1428750" y="2491383"/>
          <a:ext cx="13068300" cy="3854648"/>
        </p:xfrm>
        <a:graphic>
          <a:graphicData uri="http://schemas.openxmlformats.org/drawingml/2006/table">
            <a:tbl>
              <a:tblPr firstRow="1" bandRow="0">
                <a:tableStyleId>{8497E131-5584-4FF0-9A17-202609170001}</a:tableStyleId>
              </a:tblPr>
              <a:tblGrid>
                <a:gridCol w="3379733"/>
                <a:gridCol w="9688567"/>
              </a:tblGrid>
              <a:tr h="64244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校核項目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校正後口徑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</a:tr>
              <a:tr h="64244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0923 10×20 與 0927 10×20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不同 run。0927 semantic tie-break 為 0/444/156/0 W/L/D/E；舊 0923 為 0/449/151/0。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64244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0925 5×40 evaluation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舊 lexicase 對 10 個 self-play snapshot opponents；不是單一 game_performance 目標，排除主表。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64244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單一目標範圍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0926–0927 三組只有 game_performance 數值目標；semantic tie-break 有使用、但只在 fitness 差距 ≤1.0 時決勝。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64244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比分順序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全簡報統一使用 W/L/D/E；不得混用 W/D/L。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64244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fitness 比較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Self-play snapshot 每 5 代換對手 context；跨 snapshot/run 不直接比較 GP。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>
              <a:ext uri="{FF2B5EF4-FFF2-40B4-BE49-F238E27FC236}">
                <ns2:creationId id="{FD69D6F4-3102-44A3-A6E9-BE9116442979}"/>
              </a:ext>
            </a:extLst>
          </p:cNvPr>
          <p:cNvSpPr>
            <a:spLocks noGrp="1"/>
          </p:cNvSpPr>
          <p:nvPr/>
        </p:nvSpPr>
        <p:spPr>
          <a:xfrm>
            <a:off x="1428750" y="7282160"/>
            <a:ext cx="12955642" cy="572691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7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7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外部泛化統一看共同 600 場 fixed-roster final test 的 W/L/D/E</a:t>
            </a:r>
          </a:p>
        </p:txBody>
      </p:sp>
      <p:sp>
        <p:nvSpPr>
          <p:cNvPr id="14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7FCAA458-BF19-4FE1-8284-FE773A5CB6A4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</a:t>
            </a:fld>
          </a:p>
        </p:txBody>
      </p:sp>
    </p:spTree>
    <p:extLst>
      <p:ext uri="{BB962C8B-B14F-4D97-AF65-F5344CB8AC3E}">
        <ns3:creationId val="1197658639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13" name="EAGLE_0">
            <a:extLst>
              <a:ext uri="{FF2B5EF4-FFF2-40B4-BE49-F238E27FC236}">
                <ns2:creationId id="{381A7667-6AB0-49B8-BC4C-32F7883F2B94}"/>
              </a:ext>
            </a:extLst>
          </p:cNvPr>
          <p:cNvSpPr>
            <a:spLocks noGrp="1"/>
          </p:cNvSpPr>
          <p:nvPr>
            <p:ph idx="0"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defRPr sz="4641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4641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FFE：先固定 regular offspring 預算</a:t>
            </a:r>
          </a:p>
        </p:txBody>
      </p:sp>
      <p:sp>
        <p:nvSpPr>
          <p:cNvPr id="14" name="EAGLE_1">
            <a:extLst>
              <a:ext uri="{FF2B5EF4-FFF2-40B4-BE49-F238E27FC236}">
                <ns2:creationId id="{72CF0B8C-A78B-488A-99F0-3416A0ECA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採 generations × population size 作為同預算比較口徑；初始族群與 refresh 評估另計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="1428750" y="2601516"/>
          <a:ext cx="13068300" cy="3303984"/>
        </p:xfrm>
        <a:graphic>
          <a:graphicData uri="http://schemas.openxmlformats.org/drawingml/2006/table">
            <a:tbl>
              <a:tblPr firstRow="1" bandRow="0">
                <a:tableStyleId>{8497E131-5584-4FF0-9A17-202609170001}</a:tableStyleId>
              </a:tblPr>
              <a:tblGrid>
                <a:gridCol w="3379733"/>
                <a:gridCol w="3717706"/>
                <a:gridCol w="5970861"/>
              </a:tblGrid>
              <a:tr h="66079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配比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Regular offspring FFE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可比較問題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</a:tr>
              <a:tr h="66079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10×10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較大族群、較淺搜尋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66079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5×20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較小族群、較深搜尋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66079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10×20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200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較大族群、較淺搜尋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66079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5×40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200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84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較小族群、較深搜尋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>
              <a:ext uri="{FF2B5EF4-FFF2-40B4-BE49-F238E27FC236}">
                <ns2:creationId id="{91FEB417-EB89-430A-A6E7-0125116993A5}"/>
              </a:ext>
            </a:extLst>
          </p:cNvPr>
          <p:cNvSpPr>
            <a:spLocks noGrp="1"/>
          </p:cNvSpPr>
          <p:nvPr/>
        </p:nvSpPr>
        <p:spPr>
          <a:xfrm>
            <a:off x="1451282" y="6268938"/>
            <a:ext cx="12786656" cy="60573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97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97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10×20 和 5×40 的 regular offspring 都是 200；總 artifacts 不等於 FFE，因 gen0、snapshot refresh 和 repairs 會增加評估。</a:t>
            </a:r>
          </a:p>
        </p:txBody>
      </p:sp>
      <p:sp>
        <p:nvSpPr>
          <p:cNvPr id="7" name="">
            <a:extLst>
              <a:ext uri="{FF2B5EF4-FFF2-40B4-BE49-F238E27FC236}">
                <ns2:creationId id="{9223310D-76A2-4D63-B5AB-F00A1C215903}"/>
              </a:ext>
            </a:extLst>
          </p:cNvPr>
          <p:cNvSpPr>
            <a:spLocks noGrp="1"/>
          </p:cNvSpPr>
          <p:nvPr/>
        </p:nvSpPr>
        <p:spPr>
          <a:xfrm>
            <a:off x="1428750" y="7282160"/>
            <a:ext cx="12955642" cy="572691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7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7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同預算比較的是「族群規模／搜尋深度配置」，不是單獨改 generations</a:t>
            </a:r>
          </a:p>
        </p:txBody>
      </p:sp>
      <p:sp>
        <p:nvSpPr>
          <p:cNvPr id="15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C31744E4-EAA5-4157-B37A-F6220FF92768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</a:t>
            </a:fld>
          </a:p>
        </p:txBody>
      </p:sp>
    </p:spTree>
    <p:extLst>
      <p:ext uri="{BB962C8B-B14F-4D97-AF65-F5344CB8AC3E}">
        <ns3:creationId val="1294459967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13" name="EAGLE_0">
            <a:extLst>
              <a:ext uri="{FF2B5EF4-FFF2-40B4-BE49-F238E27FC236}">
                <ns2:creationId id="{9065A990-E636-4E36-A9C2-5F64EC014AAD}"/>
              </a:ext>
            </a:extLst>
          </p:cNvPr>
          <p:cNvSpPr>
            <a:spLocks noGrp="1"/>
          </p:cNvSpPr>
          <p:nvPr>
            <p:ph idx="0"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defRPr sz="3784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3784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生成模型：Ministral-only 與雙模型 pipeline</a:t>
            </a:r>
          </a:p>
        </p:txBody>
      </p:sp>
      <p:sp>
        <p:nvSpPr>
          <p:cNvPr id="14" name="EAGLE_1">
            <a:extLst>
              <a:ext uri="{FF2B5EF4-FFF2-40B4-BE49-F238E27FC236}">
                <ns2:creationId id="{1C0578DA-93CC-4E98-8F02-3D8A3C956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20×10、模型角色是主要配置差異；結果只代表兩次完整 run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="1428750" y="2491383"/>
          <a:ext cx="13068300" cy="3711476"/>
        </p:xfrm>
        <a:graphic>
          <a:graphicData uri="http://schemas.openxmlformats.org/drawingml/2006/table">
            <a:tbl>
              <a:tblPr firstRow="1" bandRow="0">
                <a:tableStyleId>{8497E131-5584-4FF0-9A17-202609170001}</a:tableStyleId>
              </a:tblPr>
              <a:tblGrid>
                <a:gridCol w="3830364"/>
                <a:gridCol w="4562639"/>
                <a:gridCol w="4675297"/>
              </a:tblGrid>
              <a:tr h="6185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指標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Ministral-only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Ministral → Qwen3.5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</a:tr>
              <a:tr h="6185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Best / mean GP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−47.52 / −58.99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−81.91 / −87.62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6185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Final population W/L/D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542 / 1,056 / 202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 / 1,284 / 511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6185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Java generation success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186/200 (93.0%)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195/200 (97.5%)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6185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First-attempt success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140/200 (70.0%)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183/200 (91.5%)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61858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Unique Java hashes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>
              <a:ext uri="{FF2B5EF4-FFF2-40B4-BE49-F238E27FC236}">
                <ns2:creationId id="{9DEEB057-619D-4D1D-840F-C93A325FA585}"/>
              </a:ext>
            </a:extLst>
          </p:cNvPr>
          <p:cNvSpPr>
            <a:spLocks noGrp="1"/>
          </p:cNvSpPr>
          <p:nvPr/>
        </p:nvSpPr>
        <p:spPr>
          <a:xfrm>
            <a:off x="1451282" y="6522244"/>
            <a:ext cx="12842984" cy="52863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雙模型較容易生成可編譯 Java，卻未把成功率轉成對戰表現。兩組獨立抽樣初始 policy，10 個 policy hash 只有 1 個相同。</a:t>
            </a:r>
          </a:p>
        </p:txBody>
      </p:sp>
      <p:sp>
        <p:nvSpPr>
          <p:cNvPr id="7" name="">
            <a:extLst>
              <a:ext uri="{FF2B5EF4-FFF2-40B4-BE49-F238E27FC236}">
                <ns2:creationId id="{EB998351-F665-40E0-8E1E-5854C5E302B2}"/>
              </a:ext>
            </a:extLst>
          </p:cNvPr>
          <p:cNvSpPr>
            <a:spLocks noGrp="1"/>
          </p:cNvSpPr>
          <p:nvPr/>
        </p:nvSpPr>
        <p:spPr>
          <a:xfrm>
            <a:off x="1428750" y="7282160"/>
            <a:ext cx="12955642" cy="572691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7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7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方向明確，模型因果仍需同起始 policies 的重複對照</a:t>
            </a:r>
          </a:p>
        </p:txBody>
      </p:sp>
      <p:sp>
        <p:nvSpPr>
          <p:cNvPr id="15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5B4DF481-E62C-43AE-A85C-FE139D573547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4</a:t>
            </a:fld>
          </a:p>
        </p:txBody>
      </p:sp>
    </p:spTree>
    <p:extLst>
      <p:ext uri="{BB962C8B-B14F-4D97-AF65-F5344CB8AC3E}">
        <ns3:creationId val="1187093144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13" name="EAGLE_0">
            <a:extLst>
              <a:ext uri="{FF2B5EF4-FFF2-40B4-BE49-F238E27FC236}">
                <ns2:creationId id="{441C0B83-25E2-4BC0-AA13-10EEAF9469B6}"/>
              </a:ext>
            </a:extLst>
          </p:cNvPr>
          <p:cNvSpPr>
            <a:spLocks noGrp="1"/>
          </p:cNvSpPr>
          <p:nvPr>
            <p:ph idx="0"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defRPr sz="3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3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初始族群：全 Worker Rush 與 Mixed policies</a:t>
            </a:r>
          </a:p>
        </p:txBody>
      </p:sp>
      <p:sp>
        <p:nvSpPr>
          <p:cNvPr id="14" name="EAGLE_1">
            <a:extLst>
              <a:ext uri="{FF2B5EF4-FFF2-40B4-BE49-F238E27FC236}">
                <ns2:creationId id="{CFA66C50-7967-4789-9832-508E5723F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兩組都是 20×10；此配對比較的是完整初始化方案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="1428750" y="2513409"/>
          <a:ext cx="13068300" cy="2973586"/>
        </p:xfrm>
        <a:graphic>
          <a:graphicData uri="http://schemas.openxmlformats.org/drawingml/2006/table">
            <a:tbl>
              <a:tblPr firstRow="1" bandRow="0">
                <a:tableStyleId>{8497E131-5584-4FF0-9A17-202609170001}</a:tableStyleId>
              </a:tblPr>
              <a:tblGrid>
                <a:gridCol w="4393653"/>
                <a:gridCol w="4280995"/>
                <a:gridCol w="4393653"/>
              </a:tblGrid>
              <a:tr h="59471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97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Final test / run 狀態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97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全 Worker Rush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97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Mixed policies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</a:tr>
              <a:tr h="59471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97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Wins / 600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97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24 (4.0%)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97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256 (42.7%)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59471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97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W/L/D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97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24 / 435 / 141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97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256 / 332 / 12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59471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97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Run time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97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15.21 h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97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16.72 h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59471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97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Candidate failures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97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3/210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97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23/210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>
              <a:ext uri="{FF2B5EF4-FFF2-40B4-BE49-F238E27FC236}">
                <ns2:creationId id="{DDF8DFF1-30A9-43A4-89BF-B5A15337850D}"/>
              </a:ext>
            </a:extLst>
          </p:cNvPr>
          <p:cNvSpPr>
            <a:spLocks noGrp="1"/>
          </p:cNvSpPr>
          <p:nvPr/>
        </p:nvSpPr>
        <p:spPr>
          <a:xfrm>
            <a:off x="1451282" y="5938540"/>
            <a:ext cx="12842984" cy="77093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97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97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Mixed 將 policy 組成、Java seed 和 gen0 materialization 一起改變；結果支持 Mixed 初始化方案整體較佳，不能單獨歸因於 policy 多樣性。</a:t>
            </a:r>
          </a:p>
        </p:txBody>
      </p:sp>
      <p:sp>
        <p:nvSpPr>
          <p:cNvPr id="7" name="">
            <a:extLst>
              <a:ext uri="{FF2B5EF4-FFF2-40B4-BE49-F238E27FC236}">
                <ns2:creationId id="{A1892286-3512-449C-BFE9-28BABC234F40}"/>
              </a:ext>
            </a:extLst>
          </p:cNvPr>
          <p:cNvSpPr>
            <a:spLocks noGrp="1"/>
          </p:cNvSpPr>
          <p:nvPr/>
        </p:nvSpPr>
        <p:spPr>
          <a:xfrm>
            <a:off x="1428750" y="7282160"/>
            <a:ext cx="12955642" cy="572691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7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7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戰力提高伴隨較多失敗；後續需固定 Java 初始化流程拆出單一因素</a:t>
            </a:r>
          </a:p>
        </p:txBody>
      </p:sp>
      <p:sp>
        <p:nvSpPr>
          <p:cNvPr id="15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0E7D07A-E2BE-40AF-BBDD-C38670F12563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5</a:t>
            </a:fld>
          </a:p>
        </p:txBody>
      </p:sp>
    </p:spTree>
    <p:extLst>
      <p:ext uri="{BB962C8B-B14F-4D97-AF65-F5344CB8AC3E}">
        <ns3:creationId val="1884146934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13" name="EAGLE_0">
            <a:extLst>
              <a:ext uri="{FF2B5EF4-FFF2-40B4-BE49-F238E27FC236}">
                <ns2:creationId id="{92192B96-CDA4-4110-9AA6-F64D302AED46}"/>
              </a:ext>
            </a:extLst>
          </p:cNvPr>
          <p:cNvSpPr>
            <a:spLocks noGrp="1"/>
          </p:cNvSpPr>
          <p:nvPr>
            <p:ph idx="0"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defRPr sz="3478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3478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父代評估：reuse cached 對 regenerate genotype</a:t>
            </a:r>
          </a:p>
        </p:txBody>
      </p:sp>
      <p:sp>
        <p:nvSpPr>
          <p:cNvPr id="14" name="EAGLE_1">
            <a:extLst>
              <a:ext uri="{FF2B5EF4-FFF2-40B4-BE49-F238E27FC236}">
                <ns2:creationId id="{F0ED12C8-9D3E-4D75-8C5C-062F825C6D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此為歷史資料中控制最完整的單變因配對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="1428750" y="2513409"/>
          <a:ext cx="13068300" cy="3028652"/>
        </p:xfrm>
        <a:graphic>
          <a:graphicData uri="http://schemas.openxmlformats.org/drawingml/2006/table">
            <a:tbl>
              <a:tblPr firstRow="1" bandRow="0">
                <a:tableStyleId>{8497E131-5584-4FF0-9A17-202609170001}</a:tableStyleId>
              </a:tblPr>
              <a:tblGrid>
                <a:gridCol w="3943022"/>
                <a:gridCol w="4562639"/>
                <a:gridCol w="4562639"/>
              </a:tblGrid>
              <a:tr h="60573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指標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reuse_cached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regenerate_same_genotype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</a:tr>
              <a:tr h="60573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Best / mean GP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−50.51 / −65.35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−79.34 / −87.29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60573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Search W/L/D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510 / 1,121 / 169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88 / 1,328 / 384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60573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Committed time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16.43 h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26.25 h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60573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Case-wise maxima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9/10 較高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1/10 較高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>
              <a:ext uri="{FF2B5EF4-FFF2-40B4-BE49-F238E27FC236}">
                <ns2:creationId id="{F1057295-1961-40B9-81AE-DD420B908BC7}"/>
              </a:ext>
            </a:extLst>
          </p:cNvPr>
          <p:cNvSpPr>
            <a:spLocks noGrp="1"/>
          </p:cNvSpPr>
          <p:nvPr/>
        </p:nvSpPr>
        <p:spPr>
          <a:xfrm>
            <a:off x="1451282" y="5949553"/>
            <a:ext cx="12842984" cy="682823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兩組從同一 gen0 checkpoint 出發，實質差異只有 parent evaluation mode。Treatment 未做獨立 final test，比分是搜尋 evaluation matrix。</a:t>
            </a:r>
          </a:p>
        </p:txBody>
      </p:sp>
      <p:sp>
        <p:nvSpPr>
          <p:cNvPr id="7" name="">
            <a:extLst>
              <a:ext uri="{FF2B5EF4-FFF2-40B4-BE49-F238E27FC236}">
                <ns2:creationId id="{94944C27-8F02-42D1-AC4C-2532C6749B63}"/>
              </a:ext>
            </a:extLst>
          </p:cNvPr>
          <p:cNvSpPr>
            <a:spLocks noGrp="1"/>
          </p:cNvSpPr>
          <p:nvPr/>
        </p:nvSpPr>
        <p:spPr>
          <a:xfrm>
            <a:off x="1428750" y="7282160"/>
            <a:ext cx="12955642" cy="572691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7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7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單次配對支持保留已驗證 phenotype 與 fitness</a:t>
            </a:r>
          </a:p>
        </p:txBody>
      </p:sp>
      <p:sp>
        <p:nvSpPr>
          <p:cNvPr id="15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47189480-CF32-4787-9D48-C6F2167B3612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6</a:t>
            </a:fld>
          </a:p>
        </p:txBody>
      </p:sp>
    </p:spTree>
    <p:extLst>
      <p:ext uri="{BB962C8B-B14F-4D97-AF65-F5344CB8AC3E}">
        <ns3:creationId val="1955104643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13" name="EAGLE_0">
            <a:extLst>
              <a:ext uri="{FF2B5EF4-FFF2-40B4-BE49-F238E27FC236}">
                <ns2:creationId id="{2BD947C2-70B7-450E-A040-01DC3A6A9F65}"/>
              </a:ext>
            </a:extLst>
          </p:cNvPr>
          <p:cNvSpPr>
            <a:spLocks noGrp="1"/>
          </p:cNvSpPr>
          <p:nvPr>
            <p:ph idx="0"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defRPr sz="3644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3644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Reflection 測試證明流程能運作，未估計一般效果</a:t>
            </a:r>
          </a:p>
        </p:txBody>
      </p:sp>
      <p:sp>
        <p:nvSpPr>
          <p:cNvPr id="14" name="EAGLE_1">
            <a:extLst>
              <a:ext uri="{FF2B5EF4-FFF2-40B4-BE49-F238E27FC236}">
                <ns2:creationId id="{83689BD7-709E-4E11-A26C-A2DE45823A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5×3、5 代、15 個 offspring 的 report 是 pipeline assessment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="1428750" y="2491383"/>
          <a:ext cx="13068300" cy="3215878"/>
        </p:xfrm>
        <a:graphic>
          <a:graphicData uri="http://schemas.openxmlformats.org/drawingml/2006/table">
            <a:tbl>
              <a:tblPr firstRow="1" bandRow="0">
                <a:tableStyleId>{8497E131-5584-4FF0-9A17-202609170001}</a:tableStyleId>
              </a:tblPr>
              <a:tblGrid>
                <a:gridCol w="6196177"/>
                <a:gridCol w="6872123"/>
              </a:tblGrid>
              <a:tr h="80397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97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可確認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97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仍不能確認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</a:tr>
              <a:tr h="80397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97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Strategy / Prompt / Code Reflection 均有執行記錄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97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0.33/0.33/0.34 不是三組 operator 比較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80397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97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Code revision 多次需要 compile repair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97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15 個 offspring 樣本不足以估計勝率或 operator 因果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80397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97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部分 genotype 有實際變化，但不少 Java 差異很小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97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child 的 crossover、mutation 與 match randomness 同時影響 GP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>
              <a:ext uri="{FF2B5EF4-FFF2-40B4-BE49-F238E27FC236}">
                <ns2:creationId id="{FA1FE105-8DE3-4052-94C0-6976E18ED637}"/>
              </a:ext>
            </a:extLst>
          </p:cNvPr>
          <p:cNvSpPr>
            <a:spLocks noGrp="1"/>
          </p:cNvSpPr>
          <p:nvPr/>
        </p:nvSpPr>
        <p:spPr>
          <a:xfrm>
            <a:off x="1451282" y="6037659"/>
            <a:ext cx="12786656" cy="60573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09/08 版本加入 generation-wide materialization 與可選 generation_model，模型比較之後才能維持相同 20×10 搜尋條件。</a:t>
            </a:r>
          </a:p>
        </p:txBody>
      </p:sp>
      <p:sp>
        <p:nvSpPr>
          <p:cNvPr id="7" name="">
            <a:extLst>
              <a:ext uri="{FF2B5EF4-FFF2-40B4-BE49-F238E27FC236}">
                <ns2:creationId id="{8222CF7E-2F54-4504-82A0-74E3A61A0C4A}"/>
              </a:ext>
            </a:extLst>
          </p:cNvPr>
          <p:cNvSpPr>
            <a:spLocks noGrp="1"/>
          </p:cNvSpPr>
          <p:nvPr/>
        </p:nvSpPr>
        <p:spPr>
          <a:xfrm>
            <a:off x="1428750" y="7282160"/>
            <a:ext cx="12955642" cy="572691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7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7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operator schedule 的效果尚無乾淨、足量的單因子對照</a:t>
            </a:r>
          </a:p>
        </p:txBody>
      </p:sp>
      <p:sp>
        <p:nvSpPr>
          <p:cNvPr id="15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558F135F-A780-410E-9BAA-4C4920203A79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7</a:t>
            </a:fld>
          </a:p>
        </p:txBody>
      </p:sp>
    </p:spTree>
    <p:extLst>
      <p:ext uri="{BB962C8B-B14F-4D97-AF65-F5344CB8AC3E}">
        <ns3:creationId val="1615964104"/>
      </p:ext>
    </p:extLst>
  </p:cSld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13" name="EAGLE_0">
            <a:extLst>
              <a:ext uri="{FF2B5EF4-FFF2-40B4-BE49-F238E27FC236}">
                <ns2:creationId id="{37F9B17B-9BF9-45B3-9E8E-DE0159B34F0D}"/>
              </a:ext>
            </a:extLst>
          </p:cNvPr>
          <p:cNvSpPr>
            <a:spLocks noGrp="1"/>
          </p:cNvSpPr>
          <p:nvPr>
            <p:ph idx="0"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defRPr sz="4553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4553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0924 後單一目標 self-play：三組 run</a:t>
            </a:r>
          </a:p>
        </p:txBody>
      </p:sp>
      <p:sp>
        <p:nvSpPr>
          <p:cNvPr id="14" name="EAGLE_1">
            <a:extLst>
              <a:ext uri="{FF2B5EF4-FFF2-40B4-BE49-F238E27FC236}">
                <ns2:creationId id="{BEC07F08-B68A-43FE-891D-820F505B9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semantic tie-break 有使用，但不是第二個目標；只列 game_performance 作 selection objective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="1428750" y="2469356"/>
          <a:ext cx="13068300" cy="3689449"/>
        </p:xfrm>
        <a:graphic>
          <a:graphicData uri="http://schemas.openxmlformats.org/drawingml/2006/table">
            <a:tbl>
              <a:tblPr firstRow="1" bandRow="0">
                <a:tableStyleId>{8497E131-5584-4FF0-9A17-202609170001}</a:tableStyleId>
              </a:tblPr>
              <a:tblGrid>
                <a:gridCol w="3210746"/>
                <a:gridCol w="1633538"/>
                <a:gridCol w="1013920"/>
                <a:gridCol w="1971511"/>
                <a:gridCol w="5238586"/>
              </a:tblGrid>
              <a:tr h="9223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Run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Gen × pop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FFE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Search best GP¹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固定對手 final test W/L/D/E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</a:tr>
              <a:tr h="9223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0926 10×10（semantic tie-break）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 × 10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0.666667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257 / 321 / 22 / 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9223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0926 5×20（semantic tie-break）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20 × 5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1.326067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 / 388 / 212 / 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9223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0927 10×20（semantic tie-break）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20 × 10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200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1.263534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 / 444 / 156 / 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>
              <a:ext uri="{FF2B5EF4-FFF2-40B4-BE49-F238E27FC236}">
                <ns2:creationId id="{CEAB2866-7069-40A6-881C-61878C6D3690}"/>
              </a:ext>
            </a:extLst>
          </p:cNvPr>
          <p:cNvSpPr>
            <a:spLocks noGrp="1"/>
          </p:cNvSpPr>
          <p:nvPr/>
        </p:nvSpPr>
        <p:spPr>
          <a:xfrm>
            <a:off x="1451282" y="6346031"/>
            <a:ext cx="12842984" cy="60573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39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39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三組 final test 都完成 600 場、Integration 7/7、match errors = 0。¹ Search GP 是各 run 當時 self-play snapshot 下的分數；snapshot 不同，分數不可跨 run 當作同尺度排名。</a:t>
            </a:r>
          </a:p>
        </p:txBody>
      </p:sp>
      <p:sp>
        <p:nvSpPr>
          <p:cNvPr id="7" name="">
            <a:extLst>
              <a:ext uri="{FF2B5EF4-FFF2-40B4-BE49-F238E27FC236}">
                <ns2:creationId id="{B5AA9FFB-575C-4E70-8C66-7395FD74E226}"/>
              </a:ext>
            </a:extLst>
          </p:cNvPr>
          <p:cNvSpPr>
            <a:spLocks noGrp="1"/>
          </p:cNvSpPr>
          <p:nvPr/>
        </p:nvSpPr>
        <p:spPr>
          <a:xfrm>
            <a:off x="1428750" y="7227094"/>
            <a:ext cx="12955642" cy="572691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7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7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同一張表並列 self-play selection 訊號與固定對手實戰結果</a:t>
            </a:r>
          </a:p>
        </p:txBody>
      </p:sp>
      <p:sp>
        <p:nvSpPr>
          <p:cNvPr id="15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00043A06-76BF-438F-9D7E-EE234BB36223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8</a:t>
            </a:fld>
          </a:p>
        </p:txBody>
      </p:sp>
    </p:spTree>
    <p:extLst>
      <p:ext uri="{BB962C8B-B14F-4D97-AF65-F5344CB8AC3E}">
        <ns3:creationId val="2054517980"/>
      </p:ext>
    </p:extLst>
  </p:cSld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13" name="EAGLE_0">
            <a:extLst>
              <a:ext uri="{FF2B5EF4-FFF2-40B4-BE49-F238E27FC236}">
                <ns2:creationId id="{A7FDE948-8CE2-452E-83D0-ACB79349BA0E}"/>
              </a:ext>
            </a:extLst>
          </p:cNvPr>
          <p:cNvSpPr>
            <a:spLocks noGrp="1"/>
          </p:cNvSpPr>
          <p:nvPr>
            <p:ph idx="0"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defRPr sz="3827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3827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0927 10×20：semantic tie-break 的實際變更</a:t>
            </a:r>
          </a:p>
        </p:txBody>
      </p:sp>
      <p:sp>
        <p:nvSpPr>
          <p:cNvPr id="14" name="EAGLE_1">
            <a:extLst>
              <a:ext uri="{FF2B5EF4-FFF2-40B4-BE49-F238E27FC236}">
                <ns2:creationId id="{172F5681-47E4-43B5-9EFD-60B6D34C0D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相對 0923 legacy self-play；保留主要搜尋條件，只更改 evaluation selection protocol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="1428750" y="2436316"/>
          <a:ext cx="13068300" cy="4019848"/>
        </p:xfrm>
        <a:graphic>
          <a:graphicData uri="http://schemas.openxmlformats.org/drawingml/2006/table">
            <a:tbl>
              <a:tblPr firstRow="1" bandRow="0">
                <a:tableStyleId>{8497E131-5584-4FF0-9A17-202609170001}</a:tableStyleId>
              </a:tblPr>
              <a:tblGrid>
                <a:gridCol w="3379733"/>
                <a:gridCol w="4731626"/>
                <a:gridCol w="4956941"/>
              </a:tblGrid>
              <a:tr h="57426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52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項目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52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0923 legacy self-play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52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0927 run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</a:tr>
              <a:tr h="57426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52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保留條件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52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20×10、模型、refresh 間隔、初始化、inherited genotype、static reflection、seed、地圖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52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同左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57426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52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Selection algorithm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52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lexicase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52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game_performance_semantic_tiebreak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57426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52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唯一數值目標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52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 個 opponent_cases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52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game_performance scalar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57426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52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語意資訊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52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無 probes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52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 張地圖 × early/mid/late，共 9 個 states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57426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52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Tie handling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52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無 semantic tie-break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52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fitness 差距 ≤1.0 的 inclusive tier 內依 semantic signature 決勝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57426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52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Parent evaluation mode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52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歷史 run 設定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52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resolved config 記錄 reuse_cached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>
              <a:ext uri="{FF2B5EF4-FFF2-40B4-BE49-F238E27FC236}">
                <ns2:creationId id="{EC64631D-AF32-4F9B-B8C1-C0B299098B66}"/>
              </a:ext>
            </a:extLst>
          </p:cNvPr>
          <p:cNvSpPr>
            <a:spLocks noGrp="1"/>
          </p:cNvSpPr>
          <p:nvPr/>
        </p:nvSpPr>
        <p:spPr>
          <a:xfrm>
            <a:off x="1451282" y="6676430"/>
            <a:ext cx="12820453" cy="49559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39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39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0927 best search Game Performance = 1.263534；該 best candidate 的 180 場 self-play 全為和局，正 fitness 來自 shaping，而非勝局。</a:t>
            </a:r>
          </a:p>
        </p:txBody>
      </p:sp>
      <p:sp>
        <p:nvSpPr>
          <p:cNvPr id="7" name="">
            <a:extLst>
              <a:ext uri="{FF2B5EF4-FFF2-40B4-BE49-F238E27FC236}">
                <ns2:creationId id="{B58DD732-9EBA-432C-A6D7-3CCD83A9D7EA}"/>
              </a:ext>
            </a:extLst>
          </p:cNvPr>
          <p:cNvSpPr>
            <a:spLocks noGrp="1"/>
          </p:cNvSpPr>
          <p:nvPr/>
        </p:nvSpPr>
        <p:spPr>
          <a:xfrm>
            <a:off x="1428750" y="7249120"/>
            <a:ext cx="12955642" cy="572691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7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7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semantic signature 是平手規則；selection objective 只有 game_performance</a:t>
            </a:r>
          </a:p>
        </p:txBody>
      </p:sp>
      <p:sp>
        <p:nvSpPr>
          <p:cNvPr id="15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BF108302-955E-4258-A196-E053534246EB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9</a:t>
            </a:fld>
          </a:p>
        </p:txBody>
      </p:sp>
    </p:spTree>
    <p:extLst>
      <p:ext uri="{BB962C8B-B14F-4D97-AF65-F5344CB8AC3E}">
        <ns3:creationId val="1532159618"/>
      </p:ext>
    </p:extLst>
  </p:cSld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13" name="EAGLE_0">
            <a:extLst>
              <a:ext uri="{FF2B5EF4-FFF2-40B4-BE49-F238E27FC236}">
                <ns2:creationId id="{817282F0-DFBA-42E4-ADCE-0E7EA133FA95}"/>
              </a:ext>
            </a:extLst>
          </p:cNvPr>
          <p:cNvSpPr>
            <a:spLocks noGrp="1"/>
          </p:cNvSpPr>
          <p:nvPr>
            <p:ph idx="0"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defRPr sz="4128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4128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0927 run 診斷：失敗、refresh 與對手結果</a:t>
            </a:r>
          </a:p>
        </p:txBody>
      </p:sp>
      <p:sp>
        <p:nvSpPr>
          <p:cNvPr id="14" name="EAGLE_1">
            <a:extLst>
              <a:ext uri="{FF2B5EF4-FFF2-40B4-BE49-F238E27FC236}">
                <ns2:creationId id="{847F88FF-32B5-4E40-81CA-637C3B3BF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600 場 fixed-roster final test：0 勝、444 敗、156 和；Integration 7/7，match errors = 0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="1428750" y="2436316"/>
          <a:ext cx="13068300" cy="3854648"/>
        </p:xfrm>
        <a:graphic>
          <a:graphicData uri="http://schemas.openxmlformats.org/drawingml/2006/table">
            <a:tbl>
              <a:tblPr firstRow="1" bandRow="0">
                <a:tableStyleId>{8497E131-5584-4FF0-9A17-202609170001}</a:tableStyleId>
              </a:tblPr>
              <a:tblGrid>
                <a:gridCol w="3717706"/>
                <a:gridCol w="9350594"/>
              </a:tblGrid>
              <a:tr h="64244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診斷面向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結果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</a:tr>
              <a:tr h="64244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Candidate records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260 筆：evaluated 232、failed 28（validation 19、generation 7、compilation 2）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64244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Refresh Java preservation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 個 boundary 共 50 筆；14/50 保留相同 Java hash，36 筆 generated_java_preserved=false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64244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Semantic diversity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Final 4/10 signatures；G5、G10、G15 各 1/10，G20 回升至 4/10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64244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Generation timing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約 23.106 小時（generation timing records 加總）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64244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Self-play 對手別 W/L/D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PassiveAI 0/0/60；RandomAI 0/2/58；RandomBiasedAI 0/22/38；其餘 7 個對手各 0/60/0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>
              <a:ext uri="{FF2B5EF4-FFF2-40B4-BE49-F238E27FC236}">
                <ns2:creationId id="{E6BD98A8-7324-4162-AC28-9F179111FE6B}"/>
              </a:ext>
            </a:extLst>
          </p:cNvPr>
          <p:cNvSpPr>
            <a:spLocks noGrp="1"/>
          </p:cNvSpPr>
          <p:nvPr/>
        </p:nvSpPr>
        <p:spPr>
          <a:xfrm>
            <a:off x="1451282" y="6544270"/>
            <a:ext cx="12786656" cy="48458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Refresh contract caveat 會影響演化路徑解讀；final-test 結果仍是共同固定對手組的實際對戰結果。</a:t>
            </a:r>
          </a:p>
        </p:txBody>
      </p:sp>
      <p:sp>
        <p:nvSpPr>
          <p:cNvPr id="7" name="">
            <a:extLst>
              <a:ext uri="{FF2B5EF4-FFF2-40B4-BE49-F238E27FC236}">
                <ns2:creationId id="{E986BE4C-D60A-4EED-958F-5A1B351AA10C}"/>
              </a:ext>
            </a:extLst>
          </p:cNvPr>
          <p:cNvSpPr>
            <a:spLocks noGrp="1"/>
          </p:cNvSpPr>
          <p:nvPr/>
        </p:nvSpPr>
        <p:spPr>
          <a:xfrm>
            <a:off x="1428750" y="7249120"/>
            <a:ext cx="12955642" cy="572691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7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7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高 search GP 沒有轉成固定對手勝局；refresh 尚有 36/50 次 Java 漂移</a:t>
            </a:r>
          </a:p>
        </p:txBody>
      </p:sp>
      <p:sp>
        <p:nvSpPr>
          <p:cNvPr id="15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190013B4-C754-404D-8672-FF9D872B13AD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10</a:t>
            </a:fld>
          </a:p>
        </p:txBody>
      </p:sp>
    </p:spTree>
    <p:extLst>
      <p:ext uri="{BB962C8B-B14F-4D97-AF65-F5344CB8AC3E}">
        <ns3:creationId val="1328656091"/>
      </p:ext>
    </p:extLst>
  </p:cSld>
</p:sld>
</file>

<file path=ppt/slides/slide11.xml><?xml version="1.0" encoding="utf-8"?>
<p:sld xmlns:a="http://schemas.openxmlformats.org/drawingml/2006/main" xmlns:ns2="http://schemas.microsoft.com/office/drawing/2014/main" xmlns:ns3="http://schemas.openxmlformats.org/drawingml/2006/chart" xmlns:ns5="http://schemas.microsoft.com/office/powerpoint/2010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/>
      </p:grpSpPr>
      <p:sp>
        <p:nvSpPr>
          <p:cNvPr id="13" name="EAGLE_0">
            <a:extLst>
              <a:ext uri="{FF2B5EF4-FFF2-40B4-BE49-F238E27FC236}">
                <ns2:creationId id="{CF3E0503-8A12-4C35-B8A7-3B7B65A661AB}"/>
              </a:ext>
            </a:extLst>
          </p:cNvPr>
          <p:cNvSpPr>
            <a:spLocks noGrp="1"/>
          </p:cNvSpPr>
          <p:nvPr>
            <p:ph idx="0"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defRPr sz="3668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3668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100 FFE：10×10 明顯優於 5×20，但只有單次觀察</a:t>
            </a:r>
          </a:p>
        </p:txBody>
      </p:sp>
      <p:sp>
        <p:nvSpPr>
          <p:cNvPr id="14" name="EAGLE_1">
            <a:extLst>
              <a:ext uri="{FF2B5EF4-FFF2-40B4-BE49-F238E27FC236}">
                <ns2:creationId id="{3A26E587-99C4-434B-94A5-0AAB266AB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兩組使用 semantic tie-break、相同 9 個 semantic probes 與 600 場 final test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="1654066" y="2436316"/>
          <a:ext cx="12167038" cy="4019848"/>
        </p:xfrm>
        <a:graphic>
          <a:graphicData uri="http://schemas.openxmlformats.org/drawingml/2006/chart">
            <ns3:chart r:id="Rf1f557d0abc84b19"/>
          </a:graphicData>
        </a:graphic>
      </p:graphicFrame>
      <p:sp>
        <p:nvSpPr>
          <p:cNvPr id="6" name="">
            <a:extLst>
              <a:ext uri="{FF2B5EF4-FFF2-40B4-BE49-F238E27FC236}">
                <ns2:creationId id="{9A18CD3C-D117-4B6F-8A50-675B319DCACC}"/>
              </a:ext>
            </a:extLst>
          </p:cNvPr>
          <p:cNvSpPr>
            <a:spLocks noGrp="1"/>
          </p:cNvSpPr>
          <p:nvPr/>
        </p:nvSpPr>
        <p:spPr>
          <a:xfrm>
            <a:off x="1451282" y="6621363"/>
            <a:ext cx="12899313" cy="462558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11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11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10×10：42.83% 勝率；5×20：0% 勝率。5×20 搜尋期 180 場全和，正 GP 來自資源／兵力 shaping。</a:t>
            </a:r>
          </a:p>
        </p:txBody>
      </p:sp>
      <p:sp>
        <p:nvSpPr>
          <p:cNvPr id="7" name="">
            <a:extLst>
              <a:ext uri="{FF2B5EF4-FFF2-40B4-BE49-F238E27FC236}">
                <ns2:creationId id="{2002ECEB-9823-4F44-8B30-79669EAFF638}"/>
              </a:ext>
            </a:extLst>
          </p:cNvPr>
          <p:cNvSpPr>
            <a:spLocks noGrp="1"/>
          </p:cNvSpPr>
          <p:nvPr/>
        </p:nvSpPr>
        <p:spPr>
          <a:xfrm>
            <a:off x="1428750" y="7337227"/>
            <a:ext cx="12955642" cy="572691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7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7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同 FFE 的結果差距很大，refresh phenotype 漂移阻止強因果歸因</a:t>
            </a:r>
          </a:p>
        </p:txBody>
      </p:sp>
      <p:sp>
        <p:nvSpPr>
          <p:cNvPr id="15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4A12C83F-5BA0-47FA-AC5B-337E93A10079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11</a:t>
            </a:fld>
          </a:p>
        </p:txBody>
      </p:sp>
    </p:spTree>
    <p:extLst>
      <p:ext uri="{BB962C8B-B14F-4D97-AF65-F5344CB8AC3E}">
        <ns5:creationId val="472497168"/>
      </p:ext>
    </p:extLst>
  </p:cSld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12" name="EAGLE_0">
            <a:extLst>
              <a:ext uri="{FF2B5EF4-FFF2-40B4-BE49-F238E27FC236}">
                <ns2:creationId id="{BEE5579D-42D9-4CE3-8CAA-C426DD697628}"/>
              </a:ext>
            </a:extLst>
          </p:cNvPr>
          <p:cNvSpPr>
            <a:spLocks noGrp="1"/>
          </p:cNvSpPr>
          <p:nvPr>
            <p:ph idx="0"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defRPr sz="3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3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100 FFE：差異涵蓋多數對手，不只單一 matchup</a:t>
            </a:r>
          </a:p>
        </p:txBody>
      </p:sp>
      <p:sp>
        <p:nvSpPr>
          <p:cNvPr id="13" name="EAGLE_1">
            <a:extLst>
              <a:ext uri="{FF2B5EF4-FFF2-40B4-BE49-F238E27FC236}">
                <ns2:creationId id="{84FB2273-5E9B-47A9-871D-5C1815923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每個對手 60 場；列出 wins，來源完整 W/L/D 見分析文件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="1428750" y="2491383"/>
          <a:ext cx="13068300" cy="3964781"/>
        </p:xfrm>
        <a:graphic>
          <a:graphicData uri="http://schemas.openxmlformats.org/drawingml/2006/table">
            <a:tbl>
              <a:tblPr firstRow="1" bandRow="0">
                <a:tableStyleId>{8497E131-5584-4FF0-9A17-202609170001}</a:tableStyleId>
              </a:tblPr>
              <a:tblGrid>
                <a:gridCol w="4844284"/>
                <a:gridCol w="4112008"/>
                <a:gridCol w="4112008"/>
              </a:tblGrid>
              <a:tr h="49559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Opponent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10×10 wins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5×20 wins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</a:tr>
              <a:tr h="49559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PassiveAI / RandomAI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60 / 60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 / 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49559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RandomBiasedAI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46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49559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LightRush / HeavyRush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20 / 30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 / 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49559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WorkerRush / AllInBot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 / 10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 / 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49559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Mayari / COAC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11 / 10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 / 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49559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TMA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49559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Map wins: 8×8 / 16×16 / 24×24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130 / 77 / 50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 / 0 / 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>
              <a:ext uri="{FF2B5EF4-FFF2-40B4-BE49-F238E27FC236}">
                <ns2:creationId id="{BE4B6A8A-756D-464D-B2C7-FE0698FB1FF0}"/>
              </a:ext>
            </a:extLst>
          </p:cNvPr>
          <p:cNvSpPr>
            <a:spLocks noGrp="1"/>
          </p:cNvSpPr>
          <p:nvPr/>
        </p:nvSpPr>
        <p:spPr>
          <a:xfrm>
            <a:off x="1451282" y="6654403"/>
            <a:ext cx="12842984" cy="440531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10×10 勝率隨地圖放大下降：65.0% → 38.5% → 25.0%；5×20 三張圖均無勝場。</a:t>
            </a:r>
          </a:p>
        </p:txBody>
      </p:sp>
      <p:sp>
        <p:nvSpPr>
          <p:cNvPr id="14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1C39EA54-3278-4536-A1B7-E0F482C3A157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12</a:t>
            </a:fld>
          </a:p>
        </p:txBody>
      </p:sp>
    </p:spTree>
    <p:extLst>
      <p:ext uri="{BB962C8B-B14F-4D97-AF65-F5344CB8AC3E}">
        <ns3:creationId val="1901178691"/>
      </p:ext>
    </p:extLst>
  </p:cSld>
</p:sld>
</file>

<file path=ppt/slides/slide1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13" name="EAGLE_0">
            <a:extLst>
              <a:ext uri="{FF2B5EF4-FFF2-40B4-BE49-F238E27FC236}">
                <ns2:creationId id="{4CCCE3E1-9BBF-49DE-B2BF-A78F5180B89D}"/>
              </a:ext>
            </a:extLst>
          </p:cNvPr>
          <p:cNvSpPr>
            <a:spLocks noGrp="1"/>
          </p:cNvSpPr>
          <p:nvPr>
            <p:ph idx="0"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defRPr sz="448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448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200 FFE：5×40 semantic run 尚未執行</a:t>
            </a:r>
          </a:p>
        </p:txBody>
      </p:sp>
      <p:sp>
        <p:nvSpPr>
          <p:cNvPr id="14" name="EAGLE_1">
            <a:extLst>
              <a:ext uri="{FF2B5EF4-FFF2-40B4-BE49-F238E27FC236}">
                <ns2:creationId id="{A2BBC6EF-4026-41D1-A86A-7EA8127C2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0929 config 補齊單一目標 self-play allocation arm；semantic tie-break 僅為近似同分判定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="1428750" y="2491383"/>
          <a:ext cx="13068300" cy="3138785"/>
        </p:xfrm>
        <a:graphic>
          <a:graphicData uri="http://schemas.openxmlformats.org/drawingml/2006/table">
            <a:tbl>
              <a:tblPr firstRow="1" bandRow="0">
                <a:tableStyleId>{8497E131-5584-4FF0-9A17-202609170001}</a:tableStyleId>
              </a:tblPr>
              <a:tblGrid>
                <a:gridCol w="3379733"/>
                <a:gridCol w="3717706"/>
                <a:gridCol w="3717706"/>
                <a:gridCol w="2253155"/>
              </a:tblGrid>
              <a:tr h="1046262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比較問題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已有實驗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0929 補缺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目前狀態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</a:tr>
              <a:tr h="1046262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allocation：10×20 vs 5×40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0927 semantic 10×20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single-GP semantic 5×40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5×40 尚無結果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1046262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evaluation context：10×20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0927 single-GP self-play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fixed-opponent control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control config 待跑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>
              <a:ext uri="{FF2B5EF4-FFF2-40B4-BE49-F238E27FC236}">
                <ns2:creationId id="{A8B0FF08-68C2-4BF3-9B91-CA0F721BB1FE}"/>
              </a:ext>
            </a:extLst>
          </p:cNvPr>
          <p:cNvSpPr>
            <a:spLocks noGrp="1"/>
          </p:cNvSpPr>
          <p:nvPr/>
        </p:nvSpPr>
        <p:spPr>
          <a:xfrm>
            <a:off x="1451282" y="6015633"/>
            <a:ext cx="12786656" cy="63877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0925 legacy lexicase 也是 self-play（10 個 snapshot opponents），排除於單一目標主表。兩個 0929 config 分別補 5×40 單一目標 allocation 與 10×20 固定對手 evaluation control。</a:t>
            </a:r>
          </a:p>
        </p:txBody>
      </p:sp>
      <p:sp>
        <p:nvSpPr>
          <p:cNvPr id="7" name="">
            <a:extLst>
              <a:ext uri="{FF2B5EF4-FFF2-40B4-BE49-F238E27FC236}">
                <ns2:creationId id="{A0A53C5A-6506-4261-B973-C990070D5FCE}"/>
              </a:ext>
            </a:extLst>
          </p:cNvPr>
          <p:cNvSpPr>
            <a:spLocks noGrp="1"/>
          </p:cNvSpPr>
          <p:nvPr/>
        </p:nvSpPr>
        <p:spPr>
          <a:xfrm>
            <a:off x="1428750" y="7282160"/>
            <a:ext cx="12955642" cy="572691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7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7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兩個缺漏 arm 都已放入 0929 config 資料夾</a:t>
            </a:r>
          </a:p>
        </p:txBody>
      </p:sp>
      <p:sp>
        <p:nvSpPr>
          <p:cNvPr id="15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1E8A4604-E603-4D4A-A7C9-62027B2BCBBF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13</a:t>
            </a:fld>
          </a:p>
        </p:txBody>
      </p:sp>
    </p:spTree>
    <p:extLst>
      <p:ext uri="{BB962C8B-B14F-4D97-AF65-F5344CB8AC3E}">
        <ns3:creationId val="1553688419"/>
      </p:ext>
    </p:extLst>
  </p:cSld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13" name="EAGLE_0">
            <a:extLst>
              <a:ext uri="{FF2B5EF4-FFF2-40B4-BE49-F238E27FC236}">
                <ns2:creationId id="{0D3B49C8-F6F1-445C-B15A-C2D4D5E2EF0C}"/>
              </a:ext>
            </a:extLst>
          </p:cNvPr>
          <p:cNvSpPr>
            <a:spLocks noGrp="1"/>
          </p:cNvSpPr>
          <p:nvPr>
            <p:ph idx="0"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defRPr sz="3301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3301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固定對手組 vs self-play：10×20 歷史對照與待補控制</a:t>
            </a:r>
          </a:p>
        </p:txBody>
      </p:sp>
      <p:sp>
        <p:nvSpPr>
          <p:cNvPr id="14" name="EAGLE_1">
            <a:extLst>
              <a:ext uri="{FF2B5EF4-FFF2-40B4-BE49-F238E27FC236}">
                <ns2:creationId id="{0C00FCA1-E032-4920-9726-415EDB01C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兩個已完成 run 同為 10×20 / 200 FFE；舊 fixed-roster run 來自較早版本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="1428750" y="2491383"/>
          <a:ext cx="13068300" cy="2863453"/>
        </p:xfrm>
        <a:graphic>
          <a:graphicData uri="http://schemas.openxmlformats.org/drawingml/2006/table">
            <a:tbl>
              <a:tblPr firstRow="1" bandRow="0">
                <a:tableStyleId>{8497E131-5584-4FF0-9A17-202609170001}</a:tableStyleId>
              </a:tblPr>
              <a:tblGrid>
                <a:gridCol w="2816444"/>
                <a:gridCol w="2591128"/>
                <a:gridCol w="4055679"/>
                <a:gridCol w="901262"/>
                <a:gridCol w="2703786"/>
              </a:tblGrid>
              <a:tr h="7158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66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Arm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66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搜尋期 evaluation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66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目標口徑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66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FFE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66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固定對手 final test W/L/D/E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</a:tr>
              <a:tr h="7158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66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09/11 固定對手 baseline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66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 個固定 opponents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66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opponent_cases；較早 repository state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66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200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66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256 / 332 / 12 / 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7158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66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09/27 self-play run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66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 個 snapshot slots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66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單一 game_performance；semantic tie-break ≤1.0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66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200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66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 / 444 / 156 / 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7158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466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0929 matched rerun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66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固定 opponent cases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66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opponent_cases；沿用 baseline 參數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66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200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466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待跑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>
              <a:ext uri="{FF2B5EF4-FFF2-40B4-BE49-F238E27FC236}">
                <ns2:creationId id="{C4739567-9090-49AE-BB06-8DDF0B2156B3}"/>
              </a:ext>
            </a:extLst>
          </p:cNvPr>
          <p:cNvSpPr>
            <a:spLocks noGrp="1"/>
          </p:cNvSpPr>
          <p:nvPr/>
        </p:nvSpPr>
        <p:spPr>
          <a:xfrm>
            <a:off x="1451282" y="5685234"/>
            <a:ext cx="12786656" cy="726877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39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39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歷史數字可並列，但不是乾淨因果估計。0929 control 固定 10×20、模型、prompt、地圖與 offspring 預算；要做同版本單因子對照，需在同一 source revision 重跑兩種 evaluation。</a:t>
            </a:r>
          </a:p>
        </p:txBody>
      </p:sp>
      <p:sp>
        <p:nvSpPr>
          <p:cNvPr id="7" name="">
            <a:extLst>
              <a:ext uri="{FF2B5EF4-FFF2-40B4-BE49-F238E27FC236}">
                <ns2:creationId id="{7DA93D94-0965-495E-9E4E-A78AF16BD443}"/>
              </a:ext>
            </a:extLst>
          </p:cNvPr>
          <p:cNvSpPr>
            <a:spLocks noGrp="1"/>
          </p:cNvSpPr>
          <p:nvPr/>
        </p:nvSpPr>
        <p:spPr>
          <a:xfrm>
            <a:off x="1428750" y="7282160"/>
            <a:ext cx="12955642" cy="572691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7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7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舊版固定對手組勝 256 場；0927 self-play 在共同 final test 勝 0 場</a:t>
            </a:r>
          </a:p>
        </p:txBody>
      </p:sp>
      <p:sp>
        <p:nvSpPr>
          <p:cNvPr id="15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0C18B98E-253C-4ED6-B95A-4D9894F535F3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14</a:t>
            </a:fld>
          </a:p>
        </p:txBody>
      </p:sp>
    </p:spTree>
    <p:extLst>
      <p:ext uri="{BB962C8B-B14F-4D97-AF65-F5344CB8AC3E}">
        <ns3:creationId val="1487319530"/>
      </p:ext>
    </p:extLst>
  </p:cSld>
</p:sld>
</file>

<file path=ppt/slides/slide1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12" name="EAGLE_0">
            <a:extLst>
              <a:ext uri="{FF2B5EF4-FFF2-40B4-BE49-F238E27FC236}">
                <ns2:creationId id="{EB25EF4A-D8C1-48BE-8EB9-991576D4536E}"/>
              </a:ext>
            </a:extLst>
          </p:cNvPr>
          <p:cNvSpPr>
            <a:spLocks noGrp="1"/>
          </p:cNvSpPr>
          <p:nvPr>
            <p:ph idx="0"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Semantic tie-break 有界：只保留同 fitness tier 的行為差異</a:t>
            </a:r>
          </a:p>
        </p:txBody>
      </p:sp>
      <p:sp>
        <p:nvSpPr>
          <p:cNvPr id="13" name="EAGLE_1">
            <a:extLst>
              <a:ext uri="{FF2B5EF4-FFF2-40B4-BE49-F238E27FC236}">
                <ns2:creationId id="{8C2F2B5C-8564-457B-BFEA-E7459FA20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tie-break 無法跨過 fitness 差距補回已消失的語意多樣性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="1428750" y="2491383"/>
          <a:ext cx="13068300" cy="3138785"/>
        </p:xfrm>
        <a:graphic>
          <a:graphicData uri="http://schemas.openxmlformats.org/drawingml/2006/table">
            <a:tbl>
              <a:tblPr firstRow="1" bandRow="0">
                <a:tableStyleId>{8497E131-5584-4FF0-9A17-202609170001}</a:tableStyleId>
              </a:tblPr>
              <a:tblGrid>
                <a:gridCol w="4393653"/>
                <a:gridCol w="4337324"/>
                <a:gridCol w="4337324"/>
              </a:tblGrid>
              <a:tr h="6277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觀察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10×10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5×20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</a:tr>
              <a:tr h="6277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Final unique semantic signatures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 / 10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 / 5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6277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最高 tier 的候選池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多代只有 1 種語意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G8 曾有 10 種，末代剩 2 種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6277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Final self-play W/D/L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60 / 60 / 60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 / 180 / 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627757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Fixed-roster wins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257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>
              <a:ext uri="{FF2B5EF4-FFF2-40B4-BE49-F238E27FC236}">
                <ns2:creationId id="{3648B466-A5CC-4713-8AB1-7EAD094B8CB5}"/>
              </a:ext>
            </a:extLst>
          </p:cNvPr>
          <p:cNvSpPr>
            <a:spLocks noGrp="1"/>
          </p:cNvSpPr>
          <p:nvPr/>
        </p:nvSpPr>
        <p:spPr>
          <a:xfrm>
            <a:off x="1451282" y="6015633"/>
            <a:ext cx="12786656" cy="55066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11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11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9 個 fixed probe states 只描述局部 action semantics，無法單獨保證整場比賽會進攻、追擊或結束。</a:t>
            </a:r>
          </a:p>
        </p:txBody>
      </p:sp>
      <p:sp>
        <p:nvSpPr>
          <p:cNvPr id="14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2CBE9B53-23FB-49A7-A4A7-5FC14AF0934C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15</a:t>
            </a:fld>
          </a:p>
        </p:txBody>
      </p:sp>
    </p:spTree>
    <p:extLst>
      <p:ext uri="{BB962C8B-B14F-4D97-AF65-F5344CB8AC3E}">
        <ns3:creationId val="904490851"/>
      </p:ext>
    </p:extLst>
  </p:cSld>
</p:sld>
</file>

<file path=ppt/slides/slide1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13" name="EAGLE_0">
            <a:extLst>
              <a:ext uri="{FF2B5EF4-FFF2-40B4-BE49-F238E27FC236}">
                <ns2:creationId id="{C7920685-8A0A-499E-99B1-A429CDE09966}"/>
              </a:ext>
            </a:extLst>
          </p:cNvPr>
          <p:cNvSpPr>
            <a:spLocks noGrp="1"/>
          </p:cNvSpPr>
          <p:nvPr>
            <p:ph idx="0"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defRPr sz="3043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3043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三組單一目標 runs：refresh 漂移與 candidate failures</a:t>
            </a:r>
          </a:p>
        </p:txBody>
      </p:sp>
      <p:sp>
        <p:nvSpPr>
          <p:cNvPr id="14" name="EAGLE_1">
            <a:extLst>
              <a:ext uri="{FF2B5EF4-FFF2-40B4-BE49-F238E27FC236}">
                <ns2:creationId id="{C9D58F81-BDD6-4594-A88D-6AE4D84E9F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final test 無 match errors；演化路徑仍有紀錄完整性 caveat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="1428750" y="2491383"/>
          <a:ext cx="13068300" cy="3303984"/>
        </p:xfrm>
        <a:graphic>
          <a:graphicData uri="http://schemas.openxmlformats.org/drawingml/2006/table">
            <a:tbl>
              <a:tblPr firstRow="1" bandRow="0">
                <a:tableStyleId>{8497E131-5584-4FF0-9A17-202609170001}</a:tableStyleId>
              </a:tblPr>
              <a:tblGrid>
                <a:gridCol w="3717706"/>
                <a:gridCol w="2703786"/>
                <a:gridCol w="3041759"/>
                <a:gridCol w="3605048"/>
              </a:tblGrid>
              <a:tr h="82599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Run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Refresh records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Java hash 保留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Candidate failures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</a:tr>
              <a:tr h="82599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0926 10×10 semantic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5/20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 / 130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82599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0926 5×20 semantic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25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8/25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 / 130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825996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0927 10×20 semantic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14/50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11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28 / 260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>
              <a:ext uri="{FF2B5EF4-FFF2-40B4-BE49-F238E27FC236}">
                <ns2:creationId id="{4E22F855-2715-46E6-8CD1-7177BEE7AA4E}"/>
              </a:ext>
            </a:extLst>
          </p:cNvPr>
          <p:cNvSpPr>
            <a:spLocks noGrp="1"/>
          </p:cNvSpPr>
          <p:nvPr/>
        </p:nvSpPr>
        <p:spPr>
          <a:xfrm>
            <a:off x="1451282" y="6147792"/>
            <a:ext cx="12786656" cy="550664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39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39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0927 的 28 failures：validation 19、generation 7、compilation 2。0926 5×20 多出 generation 4 migration refresh。semantic 只做 tie resolution，非第二 objective。</a:t>
            </a:r>
          </a:p>
        </p:txBody>
      </p:sp>
      <p:sp>
        <p:nvSpPr>
          <p:cNvPr id="7" name="">
            <a:extLst>
              <a:ext uri="{FF2B5EF4-FFF2-40B4-BE49-F238E27FC236}">
                <ns2:creationId id="{F50B0222-17CE-47E5-953D-56055E894198}"/>
              </a:ext>
            </a:extLst>
          </p:cNvPr>
          <p:cNvSpPr>
            <a:spLocks noGrp="1"/>
          </p:cNvSpPr>
          <p:nvPr/>
        </p:nvSpPr>
        <p:spPr>
          <a:xfrm>
            <a:off x="1428750" y="7282160"/>
            <a:ext cx="12955642" cy="572691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7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7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固定對手 final test 可讀作實際策略結果；演化機制歸因需先修正 refresh invariant</a:t>
            </a:r>
          </a:p>
        </p:txBody>
      </p:sp>
      <p:sp>
        <p:nvSpPr>
          <p:cNvPr id="15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7B0F0F41-4753-4918-9FAE-7B758AC5587B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16</a:t>
            </a:fld>
          </a:p>
        </p:txBody>
      </p:sp>
    </p:spTree>
    <p:extLst>
      <p:ext uri="{BB962C8B-B14F-4D97-AF65-F5344CB8AC3E}">
        <ns3:creationId val="1581070900"/>
      </p:ext>
    </p:extLst>
  </p:cSld>
</p:sld>
</file>

<file path=ppt/slides/slide17.xml><?xml version="1.0" encoding="utf-8"?>
<p:sld xmlns:a="http://schemas.openxmlformats.org/drawingml/2006/main" xmlns:ns2="http://schemas.microsoft.com/office/drawing/2014/main" xmlns:ns3="http://schemas.openxmlformats.org/drawingml/2006/chart" xmlns:ns5="http://schemas.microsoft.com/office/powerpoint/2010/main" xmlns:p="http://schemas.openxmlformats.org/presentationml/2006/main" xmlns:r="http://schemas.openxmlformats.org/officeDocument/2006/relationships" showMasterSp="1">
  <p:cSld>
    <p:spTree>
      <p:nvGrpSpPr>
        <p:cNvPr id="1" name=""/>
        <p:cNvGrpSpPr/>
        <p:nvPr/>
      </p:nvGrpSpPr>
      <p:grpSpPr>
        <a:xfrm/>
      </p:grpSpPr>
      <p:sp>
        <p:nvSpPr>
          <p:cNvPr id="13" name="EAGLE_0">
            <a:extLst>
              <a:ext uri="{FF2B5EF4-FFF2-40B4-BE49-F238E27FC236}">
                <ns2:creationId id="{D2B45EE0-DE70-4F78-BFA0-7018054E5CF3}"/>
              </a:ext>
            </a:extLst>
          </p:cNvPr>
          <p:cNvSpPr>
            <a:spLocks noGrp="1"/>
          </p:cNvSpPr>
          <p:nvPr>
            <p:ph idx="0"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defRPr sz="448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448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三組單一目標結果：同 FFE 內差距仍很大</a:t>
            </a:r>
          </a:p>
        </p:txBody>
      </p:sp>
      <p:sp>
        <p:nvSpPr>
          <p:cNvPr id="14" name="EAGLE_1">
            <a:extLst>
              <a:ext uri="{FF2B5EF4-FFF2-40B4-BE49-F238E27FC236}">
                <ns2:creationId id="{D8F44511-91A2-4D46-B4F6-81B8A43E9A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只有 10×10 與 5×20 同為 100 FFE；200 FFE 的 5×40 arm 尚待跑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="1541408" y="2381250"/>
          <a:ext cx="12842984" cy="4074914"/>
        </p:xfrm>
        <a:graphic>
          <a:graphicData uri="http://schemas.openxmlformats.org/drawingml/2006/chart">
            <ns3:chart r:id="R0ef0fe7f43da4d29"/>
          </a:graphicData>
        </a:graphic>
      </p:graphicFrame>
      <p:sp>
        <p:nvSpPr>
          <p:cNvPr id="6" name="">
            <a:extLst>
              <a:ext uri="{FF2B5EF4-FFF2-40B4-BE49-F238E27FC236}">
                <ns2:creationId id="{5381E505-A25C-45FB-B4AB-9AEB6B39E9A0}"/>
              </a:ext>
            </a:extLst>
          </p:cNvPr>
          <p:cNvSpPr>
            <a:spLocks noGrp="1"/>
          </p:cNvSpPr>
          <p:nvPr/>
        </p:nvSpPr>
        <p:spPr>
          <a:xfrm>
            <a:off x="1451282" y="6731496"/>
            <a:ext cx="12842984" cy="38546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52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552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Fixed-roster results are outcomes against the common opponent group; they do not equal the self-play Game Performance objective. Cross-FFE results are descriptive only.</a:t>
            </a:r>
          </a:p>
        </p:txBody>
      </p:sp>
      <p:sp>
        <p:nvSpPr>
          <p:cNvPr id="7" name="">
            <a:extLst>
              <a:ext uri="{FF2B5EF4-FFF2-40B4-BE49-F238E27FC236}">
                <ns2:creationId id="{AEFBCE4D-A790-4251-B85E-FBE5A3341479}"/>
              </a:ext>
            </a:extLst>
          </p:cNvPr>
          <p:cNvSpPr>
            <a:spLocks noGrp="1"/>
          </p:cNvSpPr>
          <p:nvPr/>
        </p:nvSpPr>
        <p:spPr>
          <a:xfrm>
            <a:off x="1428750" y="7282160"/>
            <a:ext cx="12955642" cy="572691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7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7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10×10 是目前固定對手測試勝場最高的 single-objective run</a:t>
            </a:r>
          </a:p>
        </p:txBody>
      </p:sp>
      <p:sp>
        <p:nvSpPr>
          <p:cNvPr id="15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B14298A2-A7D8-4114-9551-A0264EC70F86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17</a:t>
            </a:fld>
          </a:p>
        </p:txBody>
      </p:sp>
    </p:spTree>
    <p:extLst>
      <p:ext uri="{BB962C8B-B14F-4D97-AF65-F5344CB8AC3E}">
        <ns5:creationId val="777585848"/>
      </p:ext>
    </p:extLst>
  </p:cSld>
</p:sld>
</file>

<file path=ppt/slides/slide1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13" name="EAGLE_0">
            <a:extLst>
              <a:ext uri="{FF2B5EF4-FFF2-40B4-BE49-F238E27FC236}">
                <ns2:creationId id="{E01B563B-7DF2-48C3-9BD5-4044A7127D0B}"/>
              </a:ext>
            </a:extLst>
          </p:cNvPr>
          <p:cNvSpPr>
            <a:spLocks noGrp="1"/>
          </p:cNvSpPr>
          <p:nvPr>
            <p:ph idx="0"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defRPr sz="4541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4541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0929 實驗矩陣：缺漏 arm 與可回答問題</a:t>
            </a:r>
          </a:p>
        </p:txBody>
      </p:sp>
      <p:sp>
        <p:nvSpPr>
          <p:cNvPr id="14" name="EAGLE_1">
            <a:extLst>
              <a:ext uri="{FF2B5EF4-FFF2-40B4-BE49-F238E27FC236}">
                <ns2:creationId id="{B040FB3A-3788-4FA7-9A9B-147A14DA9F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新增參數只定義待跑條件，尚未聲稱已有實驗結果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="1428750" y="2491383"/>
          <a:ext cx="13068300" cy="2863453"/>
        </p:xfrm>
        <a:graphic>
          <a:graphicData uri="http://schemas.openxmlformats.org/drawingml/2006/table">
            <a:tbl>
              <a:tblPr firstRow="1" bandRow="0">
                <a:tableStyleId>{8497E131-5584-4FF0-9A17-202609170001}</a:tableStyleId>
              </a:tblPr>
              <a:tblGrid>
                <a:gridCol w="3379733"/>
                <a:gridCol w="3830364"/>
                <a:gridCol w="3717706"/>
                <a:gridCol w="2140497"/>
              </a:tblGrid>
              <a:tr h="7158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比較組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已存在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0929 補缺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單一問題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</a:tr>
              <a:tr h="7158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100 FFE allocation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10×10 vs 5×20 semantic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已各跑一次；重跑需修 refresh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族群深度配置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7158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200 FFE allocation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10×20 semantic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5×40 semantic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族群深度配置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7158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evaluation context at 10×20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0927 self-play GP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0929 fixed opponent cases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搜尋期評估方式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>
              <a:ext uri="{FF2B5EF4-FFF2-40B4-BE49-F238E27FC236}">
                <ns2:creationId id="{31E2BFB4-7774-4DB0-AAFC-F23700EAC4CA}"/>
              </a:ext>
            </a:extLst>
          </p:cNvPr>
          <p:cNvSpPr>
            <a:spLocks noGrp="1"/>
          </p:cNvSpPr>
          <p:nvPr/>
        </p:nvSpPr>
        <p:spPr>
          <a:xfrm>
            <a:off x="1451282" y="5762327"/>
            <a:ext cx="12842984" cy="77093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每個新 run 固定模型、seed prompt、地圖、mutation、refresh 間隔與 final-test roster；固定同一初始族群 artifact 後再做多個獨立 replicates。</a:t>
            </a:r>
          </a:p>
        </p:txBody>
      </p:sp>
      <p:sp>
        <p:nvSpPr>
          <p:cNvPr id="7" name="">
            <a:extLst>
              <a:ext uri="{FF2B5EF4-FFF2-40B4-BE49-F238E27FC236}">
                <ns2:creationId id="{6E7B71B1-CBE6-499E-B8AA-EBAFCEB2C77A}"/>
              </a:ext>
            </a:extLst>
          </p:cNvPr>
          <p:cNvSpPr>
            <a:spLocks noGrp="1"/>
          </p:cNvSpPr>
          <p:nvPr/>
        </p:nvSpPr>
        <p:spPr>
          <a:xfrm>
            <a:off x="1428750" y="7282160"/>
            <a:ext cx="12955642" cy="572691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7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7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0929 新增 config 分別補齊 200 FFE allocation 與 fixed-opponent evaluation control</a:t>
            </a:r>
          </a:p>
        </p:txBody>
      </p:sp>
      <p:sp>
        <p:nvSpPr>
          <p:cNvPr id="15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AB1F3808-7835-4B89-A665-5FA648B64953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18</a:t>
            </a:fld>
          </a:p>
        </p:txBody>
      </p:sp>
    </p:spTree>
    <p:extLst>
      <p:ext uri="{BB962C8B-B14F-4D97-AF65-F5344CB8AC3E}">
        <ns3:creationId val="1916477955"/>
      </p:ext>
    </p:extLst>
  </p:cSld>
</p:sld>
</file>

<file path=ppt/slides/slide1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12" name="EAGLE_0">
            <a:extLst>
              <a:ext uri="{FF2B5EF4-FFF2-40B4-BE49-F238E27FC236}">
                <ns2:creationId id="{8DB38851-F606-4330-9224-B5349636C4E9}"/>
              </a:ext>
            </a:extLst>
          </p:cNvPr>
          <p:cNvSpPr>
            <a:spLocks noGrp="1"/>
          </p:cNvSpPr>
          <p:nvPr>
            <p:ph idx="0"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defRPr sz="46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46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新增 config 的參數與預期控制條件</a:t>
            </a:r>
          </a:p>
        </p:txBody>
      </p:sp>
      <p:sp>
        <p:nvSpPr>
          <p:cNvPr id="13" name="EAGLE_1">
            <a:extLst>
              <a:ext uri="{FF2B5EF4-FFF2-40B4-BE49-F238E27FC236}">
                <ns2:creationId id="{11DA9853-B17A-4696-9641-74482FADAC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config 源自 semantic 10×20；僅更改 experiment name、generations 和 population size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="1428750" y="2469356"/>
          <a:ext cx="13068300" cy="3689449"/>
        </p:xfrm>
        <a:graphic>
          <a:graphicData uri="http://schemas.openxmlformats.org/drawingml/2006/table">
            <a:tbl>
              <a:tblPr firstRow="1" bandRow="0">
                <a:tableStyleId>{8497E131-5584-4FF0-9A17-202609170001}</a:tableStyleId>
              </a:tblPr>
              <a:tblGrid>
                <a:gridCol w="4055679"/>
                <a:gridCol w="9012621"/>
              </a:tblGrid>
              <a:tr h="46118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參數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0929 設定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</a:tr>
              <a:tr h="46118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Objective / semantic tie-break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game_performance 單一目標；tie ≤1.0 使用 semantic probes 決勝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46118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Generations × population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40 × 5 = 200 regular offspring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46118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Model / EA seed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ministral3_8b / 7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46118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Self-play refresh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每 5 代；10 個 self-play slots 沿用源 config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46118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Semantic probes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 maps × early/mid/late = 9 states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46118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Maps / rounds / sides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8×8、16×16、24×24；3 rounds；swap sides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46118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Mutation / crossover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0.33 / 0.33 / 0.34；0.75 / 1.0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>
              <a:ext uri="{FF2B5EF4-FFF2-40B4-BE49-F238E27FC236}">
                <ns2:creationId id="{C61479E8-BAFA-427D-B501-61B2F4BA3EAE}"/>
              </a:ext>
            </a:extLst>
          </p:cNvPr>
          <p:cNvSpPr>
            <a:spLocks noGrp="1"/>
          </p:cNvSpPr>
          <p:nvPr/>
        </p:nvSpPr>
        <p:spPr>
          <a:xfrm>
            <a:off x="1451282" y="6544270"/>
            <a:ext cx="12842984" cy="506611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39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39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FFE 同額指 offspring 數；gen0、refresh replicas 和 retries 另計。執行前先確保 refresh 不會重生或改寫 Java phenotype。</a:t>
            </a:r>
          </a:p>
        </p:txBody>
      </p:sp>
      <p:sp>
        <p:nvSpPr>
          <p:cNvPr id="14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00C7EB9-3203-4A71-92B7-2BBAFA1BCBA7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19</a:t>
            </a:fld>
          </a:p>
        </p:txBody>
      </p:sp>
    </p:spTree>
    <p:extLst>
      <p:ext uri="{BB962C8B-B14F-4D97-AF65-F5344CB8AC3E}">
        <ns3:creationId val="1651810427"/>
      </p:ext>
    </p:extLst>
  </p:cSld>
</p:sld>
</file>

<file path=ppt/slides/slide2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 showMasterSp="1">
  <p:cSld>
    <p:spTree>
      <p:nvGrpSpPr>
        <p:cNvPr id="1" name=""/>
        <p:cNvGrpSpPr/>
        <p:nvPr/>
      </p:nvGrpSpPr>
      <p:grpSpPr>
        <a:xfrm/>
      </p:grpSpPr>
      <p:sp>
        <p:nvSpPr>
          <p:cNvPr id="12" name="EAGLE_0">
            <a:extLst>
              <a:ext uri="{FF2B5EF4-FFF2-40B4-BE49-F238E27FC236}">
                <ns2:creationId id="{D82F1BA5-8726-4305-A369-2124B8795E48}"/>
              </a:ext>
            </a:extLst>
          </p:cNvPr>
          <p:cNvSpPr>
            <a:spLocks noGrp="1"/>
          </p:cNvSpPr>
          <p:nvPr>
            <p:ph idx="0"/>
          </p:nvPr>
        </p:nvSpPr>
        <p:spPr>
          <a:xfrm>
            <a:off x="2286000" y="438150"/>
            <a:ext cx="11353800" cy="1047750"/>
          </a:xfrm>
        </p:spPr>
        <p:txBody>
          <a:bodyPr anchor="ctr">
            <a:noAutofit/>
          </a:bodyPr>
          <a:lstStyle/>
          <a:p>
            <a:pPr algn="ctr">
              <a:defRPr sz="46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46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來源與數據限制</a:t>
            </a:r>
          </a:p>
        </p:txBody>
      </p:sp>
      <p:sp>
        <p:nvSpPr>
          <p:cNvPr id="13" name="EAGLE_1">
            <a:extLst>
              <a:ext uri="{FF2B5EF4-FFF2-40B4-BE49-F238E27FC236}">
                <ns2:creationId id="{B82AE40D-0197-4D13-A3B3-7E2716755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0" y="1571625"/>
            <a:ext cx="10972800" cy="457200"/>
          </a:xfrm>
        </p:spPr>
        <p:txBody>
          <a:bodyPr anchor="ctr">
            <a:noAutofit/>
          </a:bodyPr>
          <a:lstStyle/>
          <a:p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  <a:buNone/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以 canonical run artifacts 為優先；本次可用的 0924 後彙整為 Notion page + meeting snapshot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="1428750" y="2491383"/>
          <a:ext cx="13068300" cy="3303984"/>
        </p:xfrm>
        <a:graphic>
          <a:graphicData uri="http://schemas.openxmlformats.org/drawingml/2006/table">
            <a:tbl>
              <a:tblPr firstRow="1" bandRow="0">
                <a:tableStyleId>{8497E131-5584-4FF0-9A17-202609170001}</a:tableStyleId>
              </a:tblPr>
              <a:tblGrid>
                <a:gridCol w="3830364"/>
                <a:gridCol w="9237936"/>
              </a:tblGrid>
              <a:tr h="55066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來源組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納入文件／記錄</a:t>
                      </a:r>
                    </a:p>
                  </a:txBody>
                  <a:tcPr marL="76200" marR="76200" marT="28575" marB="28575">
                    <a:solidFill>
                      <a:srgbClr val="DEB4BA"/>
                    </a:solidFill>
                  </a:tcPr>
                </a:tc>
              </a:tr>
              <a:tr h="55066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Single-objective 主分析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Notion 0926 10×10、0926 5×20、0927 10×20；09/29 整理頁補充 run delta、candidate、refresh 與 opponent evidence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55066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evaluation-mode control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09/11 fixed-roster 10×20 歷史 run；0929 同設定重跑 config 待執行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55066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Earlier controlled studies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09/07 reflection、09/10 model、09/12 initialization、09/14 parent regeneration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55066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Pre-0924 artifact cleanup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依確認刪除 21 個未引用且非 control 的 raw runs（約 70 GB）；control、baseline、seed/model audit 與現行比較資料保留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  <a:tr h="550664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Limit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39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0929 5×40 與 fixed-opponent control configs 尚未執行；近期細節以 Notion 09/29 page 和 analysis_md 為證據。</a:t>
                      </a:r>
                    </a:p>
                  </a:txBody>
                  <a:tcPr marL="76200" marR="76200" marT="28575" marB="28575"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>
              <a:ext uri="{FF2B5EF4-FFF2-40B4-BE49-F238E27FC236}">
                <ns2:creationId id="{07ED2067-951A-474B-8E40-F48EDCEAE8D6}"/>
              </a:ext>
            </a:extLst>
          </p:cNvPr>
          <p:cNvSpPr>
            <a:spLocks noGrp="1"/>
          </p:cNvSpPr>
          <p:nvPr/>
        </p:nvSpPr>
        <p:spPr>
          <a:xfrm>
            <a:off x="1451282" y="6180832"/>
            <a:ext cx="12955642" cy="682823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8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208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Notion sources: https://app.notion.com/p/3eac9b9735d9810d87b4ce89769bd4b6 ; https://app.notion.com/p/3eac9b9735d981f78c00e9a7706af646 ; https://app.notion.com/p/3eac9b9735d98115b78be874b606a195 ; https://app.notion.com/p/3eac9b9735d981518b7cf0dfe691ade7</a:t>
            </a:r>
          </a:p>
        </p:txBody>
      </p:sp>
      <p:sp>
        <p:nvSpPr>
          <p:cNvPr id="14" name="Slide Number"/>
          <p:cNvSpPr>
            <a:spLocks noGrp="1"/>
          </p:cNvSpPr>
          <p:nvPr>
            <p:ph type="sldNum" sz="quarter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C679EEAB-AB37-46BB-8C1F-364870C7686F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20</a:t>
            </a:fld>
          </a:p>
        </p:txBody>
      </p:sp>
    </p:spTree>
    <p:extLst>
      <p:ext uri="{BB962C8B-B14F-4D97-AF65-F5344CB8AC3E}">
        <ns3:creationId val="1674290150"/>
      </p:ext>
    </p:extLst>
  </p:cSld>
</p:sld>
</file>

<file path=ppt/theme/theme1.xml><?xml version="1.0" encoding="utf-8"?>
<a:theme xmlns:a="http://schemas.openxmlformats.org/drawingml/2006/main" name="EAGLE">
  <a:themeElements>
    <a:clrScheme name="Meeting 0830 Rose &amp; Gold">
      <a:dk1>
        <a:srgbClr val="47171C"/>
      </a:dk1>
      <a:lt1>
        <a:srgbClr val="FCF8F5"/>
      </a:lt1>
      <a:dk2>
        <a:srgbClr val="423C3B"/>
      </a:dk2>
      <a:lt2>
        <a:srgbClr val="FFFFFF"/>
      </a:lt2>
      <a:accent1>
        <a:srgbClr val="CF8792"/>
      </a:accent1>
      <a:accent2>
        <a:srgbClr val="47171C"/>
      </a:accent2>
      <a:accent3>
        <a:srgbClr val="CF9BA5"/>
      </a:accent3>
      <a:accent4>
        <a:srgbClr val="C69B45"/>
      </a:accent4>
      <a:accent5>
        <a:srgbClr val="FAEDC6"/>
      </a:accent5>
      <a:accent6>
        <a:srgbClr val="423C3B"/>
      </a:accent6>
      <a:hlink>
        <a:srgbClr val="CF8792"/>
      </a:hlink>
      <a:folHlink>
        <a:srgbClr val="C69B45"/>
      </a:folHlink>
    </a:clrScheme>
    <a:fontScheme name="Office">
      <a:majorFont>
        <a:latin typeface="Source Han Serif TW"/>
        <a:ea typeface="Source Han Serif TW"/>
        <a:cs typeface="Source Han Serif TW"/>
      </a:majorFont>
      <a:minorFont>
        <a:latin typeface="Source Han Serif TW"/>
        <a:ea typeface="Source Han Serif TW"/>
        <a:cs typeface="Source Han Serif TW"/>
      </a:minorFont>
    </a:fontScheme>
    <a:fmtScheme name="Meeting 0830 Rose &amp; Gol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EAGLE">
  <a:themeElements>
    <a:clrScheme name="Meeting 0830 Rose &amp; Gold">
      <a:dk1>
        <a:srgbClr val="47171C"/>
      </a:dk1>
      <a:lt1>
        <a:srgbClr val="FCF8F5"/>
      </a:lt1>
      <a:dk2>
        <a:srgbClr val="423C3B"/>
      </a:dk2>
      <a:lt2>
        <a:srgbClr val="FFFFFF"/>
      </a:lt2>
      <a:accent1>
        <a:srgbClr val="CF8792"/>
      </a:accent1>
      <a:accent2>
        <a:srgbClr val="C69B45"/>
      </a:accent2>
      <a:accent3>
        <a:srgbClr val="DEB4BA"/>
      </a:accent3>
      <a:accent4>
        <a:srgbClr val="47171C"/>
      </a:accent4>
      <a:accent5>
        <a:srgbClr val="F4DEA0"/>
      </a:accent5>
      <a:accent6>
        <a:srgbClr val="423C3B"/>
      </a:accent6>
      <a:hlink>
        <a:srgbClr val="CF8792"/>
      </a:hlink>
      <a:folHlink>
        <a:srgbClr val="C69B45"/>
      </a:folHlink>
    </a:clrScheme>
    <a:fontScheme name="Office">
      <a:majorFont>
        <a:latin typeface="Source Han Serif TW"/>
        <a:ea typeface="Source Han Serif TW"/>
        <a:cs typeface="Source Han Serif TW"/>
      </a:majorFont>
      <a:minorFont>
        <a:latin typeface="Source Han Serif TW"/>
        <a:ea typeface="Source Han Serif TW"/>
        <a:cs typeface="Source Han Serif TW"/>
      </a:minorFont>
    </a:fontScheme>
    <a:fmtScheme name="Meeting 0830 Rose &amp; Gol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14333</Words>
  <Application>Microsoft Office PowerPoint</Application>
  <DocSecurity>0</DocSecurity>
  <PresentationFormat>自訂</PresentationFormat>
  <Paragraphs>1854</Paragraphs>
  <Slides>1</Slides>
  <Notes>33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34</vt:i4>
      </vt:variant>
    </vt:vector>
  </HeadingPairs>
  <TitlesOfParts>
    <vt:vector size="37" baseType="lpstr">
      <vt:lpstr>Source Han Serif TW</vt:lpstr>
      <vt:lpstr>Times New Roman</vt:lpstr>
      <vt:lpstr>ChatGPT</vt:lpstr>
      <vt:lpstr>EAGLE 研究進展</vt:lpstr>
      <vt:lpstr>這段時間改了什麼</vt:lpstr>
      <vt:lpstr>09/04 改版的核心</vt:lpstr>
      <vt:lpstr>EAGLE 目前完整流程</vt:lpstr>
      <vt:lpstr>EAGLE 演化的對象</vt:lpstr>
      <vt:lpstr>初始 Policy 的歷史比較</vt:lpstr>
      <vt:lpstr>本期的初始族群配置</vt:lpstr>
      <vt:lpstr>三種 Operator 選擇模式</vt:lpstr>
      <vt:lpstr>三種 Reflection 的責任邊界</vt:lpstr>
      <vt:lpstr>實驗分成四個階段</vt:lpstr>
      <vt:lpstr>實驗一：同一父代、三種反思</vt:lpstr>
      <vt:lpstr>實驗一：8 / 9 次成功套用</vt:lpstr>
      <vt:lpstr>實驗一：各次 trial 暴露的問題</vt:lpstr>
      <vt:lpstr>實驗二：補規則後仍有錯誤</vt:lpstr>
      <vt:lpstr>實驗二：Strategy 的三個變體</vt:lpstr>
      <vt:lpstr>實驗二：Code 與 Balance 的問題</vt:lpstr>
      <vt:lpstr>實驗三：用上游子代驗證 Compliance</vt:lpstr>
      <vt:lpstr>實驗三：10 / 12 次安全套用</vt:lpstr>
      <vt:lpstr>實驗三：兩次拒絕與後續修補</vt:lpstr>
      <vt:lpstr>實驗四：三種固定比例</vt:lpstr>
      <vt:lpstr>比例實驗的整體結果</vt:lpstr>
      <vt:lpstr>每代生存者的平均 GP</vt:lpstr>
      <vt:lpstr>600 場 Final Test 的 champion 結果</vt:lpstr>
      <vt:lpstr>可靠度與 LLM 成本</vt:lpstr>
      <vt:lpstr>09/07 的 AOS 設定與比較限制</vt:lpstr>
      <vt:lpstr>本次總結</vt:lpstr>
      <vt:lpstr>0907 後更新：版本時間軸</vt:lpstr>
      <vt:lpstr>V1–V3：評估設定與執行索引</vt:lpstr>
      <vt:lpstr>V4：每代分成三個階段</vt:lpstr>
      <vt:lpstr>V4：模型職責可以分開</vt:lpstr>
      <vt:lpstr>V4：反思與修碼可分開追蹤</vt:lpstr>
      <vt:lpstr>V4：單模型與雙模型比較設定</vt:lpstr>
      <vt:lpstr>V5 整合與本次更新重點</vt:lpstr>
      <vt:lpstr>Evolutionary Agent Generation through LLM-guided Exploration: A Case Study on MicroRTS  大型語言模型引導探索的演化式代理生成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EAGLE</dc:title>
  <dc:creator>Walnut Exporter</dc:creator>
  <cp:lastModifiedBy>Sophie Lien</cp:lastModifiedBy>
  <cp:revision>2</cp:revision>
  <dcterms:created xsi:type="dcterms:W3CDTF">2026-09-09T05:14:55Z</dcterms:created>
  <dcterms:modified xsi:type="dcterms:W3CDTF">2026-09-09T05:21:08Z</dcterms:modified>
</cp:coreProperties>
</file>