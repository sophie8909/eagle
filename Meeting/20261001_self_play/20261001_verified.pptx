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36"/>
  </p:notesMasterIdLst>
  <p:sldIdLst>
    <p:sldId id="256" r:id="rIdReportSlide1"/>
    <p:sldId id="257" r:id="rIdReportSlide2"/>
    <p:sldId id="258" r:id="rIdReportSlide3"/>
    <p:sldId id="259" r:id="rIdReportSlide4"/>
    <p:sldId id="260" r:id="rIdReportSlide5"/>
    <p:sldId id="261" r:id="rIdReportSlide6"/>
    <p:sldId id="262" r:id="rIdReportSlide7"/>
    <p:sldId id="263" r:id="rIdReportSlide8"/>
    <p:sldId id="264" r:id="rIdReportSlide9"/>
    <p:sldId id="265" r:id="rIdReportSlide10"/>
    <p:sldId id="266" r:id="rIdReportSlide11"/>
    <p:sldId id="267" r:id="rIdReportSlide12"/>
    <p:sldId id="268" r:id="rIdReportSlide13"/>
    <p:sldId id="269" r:id="rIdReportSlide14"/>
    <p:sldId id="270" r:id="rIdReportSlide15"/>
    <p:sldId id="271" r:id="rIdReportSlide16"/>
    <p:sldId id="272" r:id="rIdReportSlide17"/>
    <p:sldId id="273" r:id="rIdReportSlide18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497E131-5584-4FF0-9A17-202609170001}">
  <a:tblStyle styleId="{8497E131-5584-4FF0-9A17-202609170001}" styleName="EAGLE 0917 Rose">
    <a:wholeTbl>
      <a:tcTxStyle b="off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FCF8F5"/>
          </a:solidFill>
        </a:fill>
      </a:tcStyle>
    </a:wholeTbl>
    <a:firstRow>
      <a:tcTxStyle b="on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DEB4BA"/>
          </a:solidFill>
        </a:fill>
      </a:tcStyle>
    </a:firstRow>
    <a:lastRow>
      <a:tcTxStyle b="on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FAEDC6"/>
          </a:solidFill>
        </a:fill>
      </a:tcStyle>
    </a:la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39" Type="http://schemas.openxmlformats.org/officeDocument/2006/relationships/theme" Target="theme/theme1.xml" /><Relationship Id="rId3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7" Type="http://schemas.openxmlformats.org/officeDocument/2006/relationships/presProps" Target="presProps.xml" /><Relationship Id="rId40" Type="http://schemas.openxmlformats.org/officeDocument/2006/relationships/tableStyles" Target="tableStyles.xml" /><Relationship Id="rId36" Type="http://schemas.openxmlformats.org/officeDocument/2006/relationships/notesMaster" Target="notesMasters/notesMaster1.xml" /><Relationship Type="http://schemas.openxmlformats.org/officeDocument/2006/relationships/slide" Target="/ppt/slides/slide1.xml" Id="rIdReportSlide1" /><Relationship Type="http://schemas.openxmlformats.org/officeDocument/2006/relationships/slide" Target="/ppt/slides/slide2.xml" Id="rIdReportSlide2" /><Relationship Type="http://schemas.openxmlformats.org/officeDocument/2006/relationships/slide" Target="/ppt/slides/slide3.xml" Id="rIdReportSlide3" /><Relationship Type="http://schemas.openxmlformats.org/officeDocument/2006/relationships/slide" Target="/ppt/slides/slide4.xml" Id="rIdReportSlide4" /><Relationship Type="http://schemas.openxmlformats.org/officeDocument/2006/relationships/slide" Target="/ppt/slides/slide5.xml" Id="rIdReportSlide5" /><Relationship Type="http://schemas.openxmlformats.org/officeDocument/2006/relationships/slide" Target="/ppt/slides/slide6.xml" Id="rIdReportSlide6" /><Relationship Type="http://schemas.openxmlformats.org/officeDocument/2006/relationships/slide" Target="/ppt/slides/slide7.xml" Id="rIdReportSlide7" /><Relationship Type="http://schemas.openxmlformats.org/officeDocument/2006/relationships/slide" Target="/ppt/slides/slide8.xml" Id="rIdReportSlide8" /><Relationship Type="http://schemas.openxmlformats.org/officeDocument/2006/relationships/slide" Target="/ppt/slides/slide9.xml" Id="rIdReportSlide9" /><Relationship Type="http://schemas.openxmlformats.org/officeDocument/2006/relationships/slide" Target="/ppt/slides/slide10.xml" Id="rIdReportSlide10" /><Relationship Type="http://schemas.openxmlformats.org/officeDocument/2006/relationships/slide" Target="/ppt/slides/slide11.xml" Id="rIdReportSlide11" /><Relationship Type="http://schemas.openxmlformats.org/officeDocument/2006/relationships/slide" Target="/ppt/slides/slide12.xml" Id="rIdReportSlide12" /><Relationship Type="http://schemas.openxmlformats.org/officeDocument/2006/relationships/slide" Target="/ppt/slides/slide13.xml" Id="rIdReportSlide13" /><Relationship Type="http://schemas.openxmlformats.org/officeDocument/2006/relationships/slide" Target="/ppt/slides/slide14.xml" Id="rIdReportSlide14" /><Relationship Type="http://schemas.openxmlformats.org/officeDocument/2006/relationships/slide" Target="/ppt/slides/slide15.xml" Id="rIdReportSlide15" /><Relationship Type="http://schemas.openxmlformats.org/officeDocument/2006/relationships/slide" Target="/ppt/slides/slide16.xml" Id="rIdReportSlide16" /><Relationship Type="http://schemas.openxmlformats.org/officeDocument/2006/relationships/slide" Target="/ppt/slides/slide17.xml" Id="rIdReportSlide17" /><Relationship Type="http://schemas.openxmlformats.org/officeDocument/2006/relationships/slide" Target="/ppt/slides/slide18.xml" Id="rIdReportSlide18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f631b0c9d9466f" /><Relationship Type="http://schemas.openxmlformats.org/officeDocument/2006/relationships/notesMaster" Target="/ppt/notesMasters/notesMaster1.xml" Id="R7a38383ba2754d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19404578214bb0" /><Relationship Type="http://schemas.openxmlformats.org/officeDocument/2006/relationships/notesMaster" Target="/ppt/notesMasters/notesMaster1.xml" Id="Re6dec918a2a74a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ba1a7b0c8340aa" /><Relationship Type="http://schemas.openxmlformats.org/officeDocument/2006/relationships/notesMaster" Target="/ppt/notesMasters/notesMaster1.xml" Id="Rb78da057942e4b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25c6b385934eb5" /><Relationship Type="http://schemas.openxmlformats.org/officeDocument/2006/relationships/notesMaster" Target="/ppt/notesMasters/notesMaster1.xml" Id="R853f523a0ba446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e9eef878ee4a6a" /><Relationship Type="http://schemas.openxmlformats.org/officeDocument/2006/relationships/notesMaster" Target="/ppt/notesMasters/notesMaster1.xml" Id="R43513448203045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80a6f78f5149e6" /><Relationship Type="http://schemas.openxmlformats.org/officeDocument/2006/relationships/notesMaster" Target="/ppt/notesMasters/notesMaster1.xml" Id="R8aad1f498fbb43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2502a91f7742cf" /><Relationship Type="http://schemas.openxmlformats.org/officeDocument/2006/relationships/notesMaster" Target="/ppt/notesMasters/notesMaster1.xml" Id="R8d475d3cf17841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3ac89642e94a08" /><Relationship Type="http://schemas.openxmlformats.org/officeDocument/2006/relationships/notesMaster" Target="/ppt/notesMasters/notesMaster1.xml" Id="Rc75074b0992c4d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42965778a041c6" /><Relationship Type="http://schemas.openxmlformats.org/officeDocument/2006/relationships/notesMaster" Target="/ppt/notesMasters/notesMaster1.xml" Id="R14cfb20b54d04d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028e80a70e4b08" /><Relationship Type="http://schemas.openxmlformats.org/officeDocument/2006/relationships/notesMaster" Target="/ppt/notesMasters/notesMaster1.xml" Id="Rcb1c8c59068041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65cbe187b44507" /><Relationship Type="http://schemas.openxmlformats.org/officeDocument/2006/relationships/notesMaster" Target="/ppt/notesMasters/notesMaster1.xml" Id="Rc747de7e25b04b9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15d282ce7c40af" /><Relationship Type="http://schemas.openxmlformats.org/officeDocument/2006/relationships/notesMaster" Target="/ppt/notesMasters/notesMaster1.xml" Id="R530c6f8d7ca842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d71a93b3254aa4" /><Relationship Type="http://schemas.openxmlformats.org/officeDocument/2006/relationships/notesMaster" Target="/ppt/notesMasters/notesMaster1.xml" Id="R7d16e54f0cd040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af96e18dc64e6a" /><Relationship Type="http://schemas.openxmlformats.org/officeDocument/2006/relationships/notesMaster" Target="/ppt/notesMasters/notesMaster1.xml" Id="Reed08959d3154c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d198cab7da45ba" /><Relationship Type="http://schemas.openxmlformats.org/officeDocument/2006/relationships/notesMaster" Target="/ppt/notesMasters/notesMaster1.xml" Id="Ree804ed125ea4c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30f18781a34a09" /><Relationship Type="http://schemas.openxmlformats.org/officeDocument/2006/relationships/notesMaster" Target="/ppt/notesMasters/notesMaster1.xml" Id="R7044d967676240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bd5fd1f37244d30" /><Relationship Type="http://schemas.openxmlformats.org/officeDocument/2006/relationships/notesMaster" Target="/ppt/notesMasters/notesMaster1.xml" Id="R6f1b6aceec3a456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7c450c1680e47e7" /><Relationship Type="http://schemas.openxmlformats.org/officeDocument/2006/relationships/notesMaster" Target="/ppt/notesMasters/notesMaster1.xml" Id="R59d6f5ccc1ab40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來源：Meeting/20261001/README.md；Notion MicroRTS EAGLE 實驗資料庫。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Meeting/20261001_self_play/20261001_palette.pptx；Meeting/20261001/README.md；Notion 0925–0927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本地 configs/experiments/0925_self_play/*.yaml、0926_self_play_sent/self_play_10x20.yaml；Notion run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Meeting/20261001/analysis_md/20260910_generation_model_comparison.md；runs 20260908_121222_306081、20260909_032729_611766.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Meeting/20261001/analysis_md/20260912_initial_population_comparison.md；runs 20260910_160655_907573、20260911_072610_382082.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Meeting/20261001/analysis_md/20260914_parent_regeneration_comparison.md；common gen0 fork；20×10.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Meeting/20261001/analysis_md/20260907_reflection_ratio_full_report.md；configs/experiments/0914_reflection_ablation_20x10/; experiment_results_after_0907.md.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本地 Meeting/20261001/README.md；Notion：0925 5×40、0926 10×10、0926 5×20、0927 10×20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Meeting/20261001/analysis_md/20260928_self_play_10x10_vs_5x20.md；Notion 0926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0926 Self-play 10×10 與 5×20 pages；Meeting/20261001/analysis_md/20260928_self_play_10x10_vs_5x20.md.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0925 / 0927 pages；configs/experiments/0929/README.md.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Meeting/20261001/analysis_md/20260923_self_play_20x10.md；Notion 0927 Self-play 10×20 page.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Meeting/20261001/analysis_md/20260928_self_play_10x10_vs_5x20.md；Notion 0926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0925–0927 pages；Meeting/20261001/analysis_md/20260928_self_play_10x10_vs_5x20.md.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MicroRTS EAGLE runs dated 2026-09-25 to 2026-09-28.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configs/experiments/0929/README.md; self_play_5x40_semantic_tiebreak.yaml.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configs/experiments/0929/self_play_5x40_semantic_tiebreak.yaml；對照 configs/experiments/0926_self_play_sent/self_play_10x20.yaml.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database MicroRTS EAGLE; Meeting/20261001/README.md and analysis_md/*.md.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4FF8C53-65A6-4BE2-B1C3-0860FCD540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DC12639-B266-46C5-BCF3-45A4D32AE42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ED4EB3D-E8EE-422C-AC16-9B2450B7C42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176649-BADB-4675-AA89-5F227F3F39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AAEABEC-89D6-436E-9471-497DE5F8CC7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4CC2CF-DFA1-4FF2-9601-EFC4BA57938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C3B0106-61B7-472E-AA5A-C33DCAE7DD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110DA2E-972D-47CE-8ED2-D648217896E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4A177D9-44BB-4EE7-B2EE-483B651A823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6AA3F53-A20A-43C4-B655-9BABD8BDE39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FA42C01-117D-4BA1-BE6C-78A506A620B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8360F44-9DDB-4760-BE5D-FBB78FF4F62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71BC431-0EC4-43B1-8E1D-CB4D6212917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hf sldNum="1" dt="0"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0f9917209a9e4b6c" /><Relationship Type="http://schemas.openxmlformats.org/officeDocument/2006/relationships/notesSlide" Target="/ppt/notesSlides/notesSlide1.xml" Id="R54b3ca1bdfc54163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48845f229d44434f" /><Relationship Type="http://schemas.openxmlformats.org/officeDocument/2006/relationships/notesSlide" Target="/ppt/notesSlides/notesSlide2.xml" Id="Rc5f2fb9422e44cbe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5051bc9b513549bf" /><Relationship Type="http://schemas.openxmlformats.org/officeDocument/2006/relationships/notesSlide" Target="/ppt/notesSlides/notesSlide3.xml" Id="Rc20aaf35dd234ff7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45b393903f1f4ea5" /><Relationship Type="http://schemas.openxmlformats.org/officeDocument/2006/relationships/notesSlide" Target="/ppt/notesSlides/notesSlide4.xml" Id="R3de93ba913e34c1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f635afebeb394d27" /><Relationship Type="http://schemas.openxmlformats.org/officeDocument/2006/relationships/notesSlide" Target="/ppt/notesSlides/notesSlide5.xml" Id="R0b5762ad041e4136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61208f266a5141d9" /><Relationship Type="http://schemas.openxmlformats.org/officeDocument/2006/relationships/notesSlide" Target="/ppt/notesSlides/notesSlide6.xml" Id="Rcadba0a23016446b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a7e8e7cc4eef4f3e" /><Relationship Type="http://schemas.openxmlformats.org/officeDocument/2006/relationships/notesSlide" Target="/ppt/notesSlides/notesSlide7.xml" Id="R1f81dcd0537d4d15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e682af3d14ef46bd" /><Relationship Type="http://schemas.openxmlformats.org/officeDocument/2006/relationships/notesSlide" Target="/ppt/notesSlides/notesSlide8.xml" Id="Rfeb8b2d99f0a48bc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906f9a6b61ae4186" /><Relationship Type="http://schemas.openxmlformats.org/officeDocument/2006/relationships/chart" Target="/ppt/slides/charts/chart1.xml" Id="Rcfba2d4628e04401" /><Relationship Type="http://schemas.openxmlformats.org/officeDocument/2006/relationships/notesSlide" Target="/ppt/notesSlides/notesSlide9.xml" Id="R93add9f3ff6142c7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5ab9b7bf75ba48c8" /><Relationship Type="http://schemas.openxmlformats.org/officeDocument/2006/relationships/notesSlide" Target="/ppt/notesSlides/notesSlide10.xml" Id="R08b37193f974445a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b22480a50fcb42cc" /><Relationship Type="http://schemas.openxmlformats.org/officeDocument/2006/relationships/notesSlide" Target="/ppt/notesSlides/notesSlide11.xml" Id="Ree29a4b2862e4755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609eac025eed46e8" /><Relationship Type="http://schemas.openxmlformats.org/officeDocument/2006/relationships/notesSlide" Target="/ppt/notesSlides/notesSlide12.xml" Id="Rb473a4a505254856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b01cce84cb974a79" /><Relationship Type="http://schemas.openxmlformats.org/officeDocument/2006/relationships/notesSlide" Target="/ppt/notesSlides/notesSlide13.xml" Id="R66e45ccb60cd4299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d1e0c4afb4fc4406" /><Relationship Type="http://schemas.openxmlformats.org/officeDocument/2006/relationships/notesSlide" Target="/ppt/notesSlides/notesSlide14.xml" Id="Rac0f393633f04a02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91a917bf0ab24829" /><Relationship Type="http://schemas.openxmlformats.org/officeDocument/2006/relationships/chart" Target="/ppt/slides/charts/chart2.xml" Id="R0d1f434d7c9446a2" /><Relationship Type="http://schemas.openxmlformats.org/officeDocument/2006/relationships/notesSlide" Target="/ppt/notesSlides/notesSlide15.xml" Id="Ra045c2d7848d4ed0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27087e1ff8f6424f" /><Relationship Type="http://schemas.openxmlformats.org/officeDocument/2006/relationships/notesSlide" Target="/ppt/notesSlides/notesSlide16.xml" Id="Red6208f1baf1448f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db8a993b50c845e4" /><Relationship Type="http://schemas.openxmlformats.org/officeDocument/2006/relationships/notesSlide" Target="/ppt/notesSlides/notesSlide17.xml" Id="R53c7a9f1f3954bca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0521e267a46b4e83" /><Relationship Type="http://schemas.openxmlformats.org/officeDocument/2006/relationships/notesSlide" Target="/ppt/notesSlides/notesSlide18.xml" Id="R15476bf538c447f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stacked"/>
        <ns0:varyColors val="0"/>
        <ns0:ser>
          <ns0:idx val="0"/>
          <ns0:order val="0"/>
          <ns0:tx>
            <ns0:v>Wins</ns0:v>
          </ns0:tx>
          <ns0:spPr>
            <a:solidFill>
              <a:srgbClr val="CF8792"/>
            </a:solidFill>
          </ns0:spPr>
          <ns0:cat>
            <ns0:strRef>
              <ns0:f>'Chart Data'!$A$2:$A$3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Data'!$B$2:$B$3</ns0:f>
              <ns0:numCache>
                <ns0:formatCode>General</ns0:formatCode>
                <ns0:ptCount val="2"/>
                <ns0:pt idx="0">
                  <ns0:v>257</ns0:v>
                </ns0:pt>
                <ns0:pt idx="1">
                  <ns0:v>0</ns0:v>
                </ns0:pt>
              </ns0:numCache>
            </ns0:numRef>
          </ns0:val>
        </ns0:ser>
        <ns0:ser>
          <ns0:idx val="1"/>
          <ns0:order val="1"/>
          <ns0:tx>
            <ns0:v>Draws</ns0:v>
          </ns0:tx>
          <ns0:spPr>
            <a:solidFill>
              <a:srgbClr val="FAEDC6"/>
            </a:solidFill>
          </ns0:spPr>
          <ns0:cat>
            <ns0:strRef>
              <ns0:f>'Chart Data'!$C$2:$C$3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Data'!$D$2:$D$3</ns0:f>
              <ns0:numCache>
                <ns0:formatCode>General</ns0:formatCode>
                <ns0:ptCount val="2"/>
                <ns0:pt idx="0">
                  <ns0:v>22</ns0:v>
                </ns0:pt>
                <ns0:pt idx="1">
                  <ns0:v>212</ns0:v>
                </ns0:pt>
              </ns0:numCache>
            </ns0:numRef>
          </ns0:val>
        </ns0:ser>
        <ns0:ser>
          <ns0:idx val="2"/>
          <ns0:order val="2"/>
          <ns0:tx>
            <ns0:v>Losses</ns0:v>
          </ns0:tx>
          <ns0:spPr>
            <a:solidFill>
              <a:srgbClr val="DEB4BA"/>
            </a:solidFill>
          </ns0:spPr>
          <ns0:cat>
            <ns0:strRef>
              <ns0:f>'Chart Data'!$E$2:$E$3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Data'!$F$2:$F$3</ns0:f>
              <ns0:numCache>
                <ns0:formatCode>General</ns0:formatCode>
                <ns0:ptCount val="2"/>
                <ns0:pt idx="0">
                  <ns0:v>321</ns0:v>
                </ns0:pt>
                <ns0:pt idx="1">
                  <ns0:v>388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552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ctr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overlap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466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38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  <ns0:majorUnit val="100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552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charts/chart2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stacked"/>
        <ns0:varyColors val="0"/>
        <ns0:ser>
          <ns0:idx val="0"/>
          <ns0:order val="0"/>
          <ns0:tx>
            <ns0:v>Wins</ns0:v>
          </ns0:tx>
          <ns0:spPr>
            <a:solidFill>
              <a:srgbClr val="CF8792"/>
            </a:solidFill>
          </ns0:spPr>
          <ns0:cat>
            <ns0:strRef>
              <ns0:f>'Chart Data'!$A$2:$A$5</ns0:f>
              <ns0:strCache>
                <ns0:ptCount val="4"/>
                <ns0:pt idx="0">
                  <ns0:v>0925 5×40 legacy</ns0:v>
                </ns0:pt>
                <ns0:pt idx="1">
                  <ns0:v>0926 10×10 sem.</ns0:v>
                </ns0:pt>
                <ns0:pt idx="2">
                  <ns0:v>0926 5×20 sem.</ns0:v>
                </ns0:pt>
                <ns0:pt idx="3">
                  <ns0:v>0927 10×20 sem.</ns0:v>
                </ns0:pt>
              </ns0:strCache>
            </ns0:strRef>
          </ns0:cat>
          <ns0:val>
            <ns0:numRef>
              <ns0:f>'Chart Data'!$B$2:$B$5</ns0:f>
              <ns0:numCache>
                <ns0:formatCode>General</ns0:formatCode>
                <ns0:ptCount val="4"/>
                <ns0:pt idx="0">
                  <ns0:v>197</ns0:v>
                </ns0:pt>
                <ns0:pt idx="1">
                  <ns0:v>257</ns0:v>
                </ns0:pt>
                <ns0:pt idx="2">
                  <ns0:v>0</ns0:v>
                </ns0:pt>
                <ns0:pt idx="3">
                  <ns0:v>0</ns0:v>
                </ns0:pt>
              </ns0:numCache>
            </ns0:numRef>
          </ns0:val>
        </ns0:ser>
        <ns0:ser>
          <ns0:idx val="1"/>
          <ns0:order val="1"/>
          <ns0:tx>
            <ns0:v>Draws</ns0:v>
          </ns0:tx>
          <ns0:spPr>
            <a:solidFill>
              <a:srgbClr val="FAEDC6"/>
            </a:solidFill>
          </ns0:spPr>
          <ns0:cat>
            <ns0:strRef>
              <ns0:f>'Chart Data'!$C$2:$C$5</ns0:f>
              <ns0:strCache>
                <ns0:ptCount val="4"/>
                <ns0:pt idx="0">
                  <ns0:v>0925 5×40 legacy</ns0:v>
                </ns0:pt>
                <ns0:pt idx="1">
                  <ns0:v>0926 10×10 sem.</ns0:v>
                </ns0:pt>
                <ns0:pt idx="2">
                  <ns0:v>0926 5×20 sem.</ns0:v>
                </ns0:pt>
                <ns0:pt idx="3">
                  <ns0:v>0927 10×20 sem.</ns0:v>
                </ns0:pt>
              </ns0:strCache>
            </ns0:strRef>
          </ns0:cat>
          <ns0:val>
            <ns0:numRef>
              <ns0:f>'Chart Data'!$D$2:$D$5</ns0:f>
              <ns0:numCache>
                <ns0:formatCode>General</ns0:formatCode>
                <ns0:ptCount val="4"/>
                <ns0:pt idx="0">
                  <ns0:v>11</ns0:v>
                </ns0:pt>
                <ns0:pt idx="1">
                  <ns0:v>22</ns0:v>
                </ns0:pt>
                <ns0:pt idx="2">
                  <ns0:v>212</ns0:v>
                </ns0:pt>
                <ns0:pt idx="3">
                  <ns0:v>156</ns0:v>
                </ns0:pt>
              </ns0:numCache>
            </ns0:numRef>
          </ns0:val>
        </ns0:ser>
        <ns0:ser>
          <ns0:idx val="2"/>
          <ns0:order val="2"/>
          <ns0:tx>
            <ns0:v>Losses</ns0:v>
          </ns0:tx>
          <ns0:spPr>
            <a:solidFill>
              <a:srgbClr val="DEB4BA"/>
            </a:solidFill>
          </ns0:spPr>
          <ns0:cat>
            <ns0:strRef>
              <ns0:f>'Chart Data'!$E$2:$E$5</ns0:f>
              <ns0:strCache>
                <ns0:ptCount val="4"/>
                <ns0:pt idx="0">
                  <ns0:v>0925 5×40 legacy</ns0:v>
                </ns0:pt>
                <ns0:pt idx="1">
                  <ns0:v>0926 10×10 sem.</ns0:v>
                </ns0:pt>
                <ns0:pt idx="2">
                  <ns0:v>0926 5×20 sem.</ns0:v>
                </ns0:pt>
                <ns0:pt idx="3">
                  <ns0:v>0927 10×20 sem.</ns0:v>
                </ns0:pt>
              </ns0:strCache>
            </ns0:strRef>
          </ns0:cat>
          <ns0:val>
            <ns0:numRef>
              <ns0:f>'Chart Data'!$F$2:$F$5</ns0:f>
              <ns0:numCache>
                <ns0:formatCode>General</ns0:formatCode>
                <ns0:ptCount val="4"/>
                <ns0:pt idx="0">
                  <ns0:v>392</ns0:v>
                </ns0:pt>
                <ns0:pt idx="1">
                  <ns0:v>321</ns0:v>
                </ns0:pt>
                <ns0:pt idx="2">
                  <ns0:v>388</ns0:v>
                </ns0:pt>
                <ns0:pt idx="3">
                  <ns0:v>444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552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ctr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overlap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466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38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  <ns0:majorUnit val="100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552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8" name="EAGLE_0">
            <a:extLst>
              <a:ext uri="{FF2B5EF4-FFF2-40B4-BE49-F238E27FC236}">
                <ns2:creationId id="{5C91CF13-7C0B-4AB0-BFF4-799E08044C0E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實驗比較與結果校核</a:t>
            </a:r>
          </a:p>
        </p:txBody>
      </p:sp>
      <p:sp>
        <p:nvSpPr>
          <p:cNvPr id="9" name="EAGLE_1">
            <a:extLst>
              <a:ext uri="{FF2B5EF4-FFF2-40B4-BE49-F238E27FC236}">
                <ns2:creationId id="{C540BB75-679C-4982-9801-6E1574222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研究會議｜實驗資料截至 2026/09/29</a:t>
            </a:r>
          </a:p>
        </p:txBody>
      </p:sp>
      <p:sp>
        <p:nvSpPr>
          <p:cNvPr id="5" name="">
            <a:extLst>
              <a:ext uri="{FF2B5EF4-FFF2-40B4-BE49-F238E27FC236}">
                <ns2:creationId id="{B4048967-3050-40FC-B9B2-E5BBF3261542}"/>
              </a:ext>
            </a:extLst>
          </p:cNvPr>
          <p:cNvSpPr>
            <a:spLocks noGrp="1"/>
          </p:cNvSpPr>
          <p:nvPr/>
        </p:nvSpPr>
        <p:spPr>
          <a:xfrm>
            <a:off x="1451282" y="2821781"/>
            <a:ext cx="12617669" cy="85903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2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2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Self-play 結果、歷史對照與缺漏實驗</a:t>
            </a:r>
          </a:p>
        </p:txBody>
      </p:sp>
      <p:sp>
        <p:nvSpPr>
          <p:cNvPr id="6" name="">
            <a:extLst>
              <a:ext uri="{FF2B5EF4-FFF2-40B4-BE49-F238E27FC236}">
                <ns2:creationId id="{82BA1826-7BFC-4F29-A9CA-0EC639D77277}"/>
              </a:ext>
            </a:extLst>
          </p:cNvPr>
          <p:cNvSpPr>
            <a:spLocks noGrp="1"/>
          </p:cNvSpPr>
          <p:nvPr/>
        </p:nvSpPr>
        <p:spPr>
          <a:xfrm>
            <a:off x="1473813" y="3923109"/>
            <a:ext cx="12505011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所有結果先按 run ID、resolved config 與共同 600 場 final test 校核</a:t>
            </a:r>
          </a:p>
        </p:txBody>
      </p:sp>
      <p:sp>
        <p:nvSpPr>
          <p:cNvPr id="7" name="">
            <a:extLst>
              <a:ext uri="{FF2B5EF4-FFF2-40B4-BE49-F238E27FC236}">
                <ns2:creationId id="{46C1983C-1F23-468A-A52C-34BF254FAB56}"/>
              </a:ext>
            </a:extLst>
          </p:cNvPr>
          <p:cNvSpPr>
            <a:spLocks noGrp="1"/>
          </p:cNvSpPr>
          <p:nvPr/>
        </p:nvSpPr>
        <p:spPr>
          <a:xfrm>
            <a:off x="1473813" y="4638973"/>
            <a:ext cx="12505011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涵蓋 09/07–09/29 分析文件與 Notion 0924 後 4 次 self-play runs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B25A5C0-B0E7-4557-A034-8F8EB00C637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ns3:creationId val="447218493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CE428A28-FB4A-4E5A-A01A-1200F632FCD1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原草稿需更新的數字與比較口徑</a:t>
            </a:r>
          </a:p>
        </p:txBody>
      </p:sp>
      <p:sp>
        <p:nvSpPr>
          <p:cNvPr id="13" name="EAGLE_1">
            <a:extLst>
              <a:ext uri="{FF2B5EF4-FFF2-40B4-BE49-F238E27FC236}">
                <ns2:creationId id="{51787E14-71F1-4FFF-B49F-000D82E7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舊版資料仍有參考價值，但不能當作最新 10×20 結果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854648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9688567"/>
              </a:tblGrid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校核項目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校正後口徑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0923 10×20 與 0927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不同 run。0927 semantic tie-break 為 0/444/156/0 W/L/D/E；舊 0923 為 0/449/151/0。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0925 5×40 identity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以 config 與 run ID 判斷；manifest experiment_name 誤寫為 self_play_10x20。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比分順序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全簡報統一使用 W/L/D/E；不得混用 W/D/L。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fitness 比較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snapshot 每 5 代換對手 context；跨 snapshot/run 不直接比較 GP。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因果結論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舊草稿的 5×40 優勢是觀察結果；selection 版本、refresh hash 漂移與 repository revision 仍是混淆因子。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E4F81B94-FF37-40D2-80A5-01CF1492C878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外部泛化統一看共同 600 場 fixed-roster final test 的 W/L/D/E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D288CBD-D7AA-4E46-9121-51CFB085BD8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ns3:creationId val="1729219368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2A5C8C15-E7F9-4922-A3CF-7A4C73122038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FFE：先固定 regular offspring 預算</a:t>
            </a:r>
          </a:p>
        </p:txBody>
      </p:sp>
      <p:sp>
        <p:nvSpPr>
          <p:cNvPr id="14" name="EAGLE_1">
            <a:extLst>
              <a:ext uri="{FF2B5EF4-FFF2-40B4-BE49-F238E27FC236}">
                <ns2:creationId id="{CC2F1445-4B55-4D78-80A2-58CD0C5AC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採 generations × population size 作為同預算比較口徑；初始族群與 refresh 評估另計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601516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3717706"/>
                <a:gridCol w="5970861"/>
              </a:tblGrid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配比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Regular offspring FFE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可比較問題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較大族群、較淺搜尋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較小族群、較深搜尋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較大族群、較淺搜尋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較小族群、較深搜尋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6DC2FAB4-5B42-4809-9A55-09C2687B036F}"/>
              </a:ext>
            </a:extLst>
          </p:cNvPr>
          <p:cNvSpPr>
            <a:spLocks noGrp="1"/>
          </p:cNvSpPr>
          <p:nvPr/>
        </p:nvSpPr>
        <p:spPr>
          <a:xfrm>
            <a:off x="1451282" y="6268938"/>
            <a:ext cx="12786656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10×20 和 5×40 的 regular offspring 都是 200；總 artifacts 不等於 FFE，因 gen0、snapshot refresh 和 repairs 會增加評估。</a:t>
            </a:r>
          </a:p>
        </p:txBody>
      </p:sp>
      <p:sp>
        <p:nvSpPr>
          <p:cNvPr id="7" name="">
            <a:extLst>
              <a:ext uri="{FF2B5EF4-FFF2-40B4-BE49-F238E27FC236}">
                <ns2:creationId id="{EABCFD88-9F5D-432B-92FB-14E5B12BA373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同預算比較的是「族群規模／搜尋深度配置」，不是單獨改 generations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1C5C17E-96CB-44F4-A937-D6DD6796E9B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ns3:creationId val="856149661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FB31B9DA-17FB-435F-8326-AEBB895F107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8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8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生成模型：Ministral-only 與雙模型 pipeline</a:t>
            </a:r>
          </a:p>
        </p:txBody>
      </p:sp>
      <p:sp>
        <p:nvSpPr>
          <p:cNvPr id="14" name="EAGLE_1">
            <a:extLst>
              <a:ext uri="{FF2B5EF4-FFF2-40B4-BE49-F238E27FC236}">
                <ns2:creationId id="{315093D0-C163-43BD-96A6-8CD2862DC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20×10、模型角色是主要配置差異；結果只代表兩次完整 run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711476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830364"/>
                <a:gridCol w="4562639"/>
                <a:gridCol w="4675297"/>
              </a:tblGrid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Ministral-only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→ Qwen3.5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Best / mean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−47.52 / −58.99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−81.91 / −87.62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population 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542 / 1,056 / 202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1,284 / 511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generation success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186/200 (93.0%)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195/200 (97.5%)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First-attempt success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140/200 (70.0%)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183/200 (91.5%)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Unique Java hashes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425FF7F6-6D21-4ECC-A42E-9CEABCA78701}"/>
              </a:ext>
            </a:extLst>
          </p:cNvPr>
          <p:cNvSpPr>
            <a:spLocks noGrp="1"/>
          </p:cNvSpPr>
          <p:nvPr/>
        </p:nvSpPr>
        <p:spPr>
          <a:xfrm>
            <a:off x="1451282" y="6522244"/>
            <a:ext cx="12842984" cy="52863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雙模型較容易生成可編譯 Java，卻未把成功率轉成對戰表現。兩組獨立抽樣初始 policy，10 個 policy hash 只有 1 個相同。</a:t>
            </a:r>
          </a:p>
        </p:txBody>
      </p:sp>
      <p:sp>
        <p:nvSpPr>
          <p:cNvPr id="7" name="">
            <a:extLst>
              <a:ext uri="{FF2B5EF4-FFF2-40B4-BE49-F238E27FC236}">
                <ns2:creationId id="{BE047FB6-351A-4E82-8D4D-B3BCDAE3F25B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方向明確，模型因果仍需同起始 policies 的重複對照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9494553-2D64-432A-8622-FD6342CFA8F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ns3:creationId val="1883973959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88341815-6FCC-4AE2-A69D-0FBDAD88965E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初始族群：全 Worker Rush 與 Mixed policies</a:t>
            </a:r>
          </a:p>
        </p:txBody>
      </p:sp>
      <p:sp>
        <p:nvSpPr>
          <p:cNvPr id="14" name="EAGLE_1">
            <a:extLst>
              <a:ext uri="{FF2B5EF4-FFF2-40B4-BE49-F238E27FC236}">
                <ns2:creationId id="{A7531CE9-0859-48D3-8BCC-3DFC661AC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兩組都是 20×10；此配對比較的是完整初始化方案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513409"/>
          <a:ext cx="13068300" cy="2973586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393653"/>
                <a:gridCol w="4280995"/>
                <a:gridCol w="4393653"/>
              </a:tblGrid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 / run 狀態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 policies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Wins / 600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24 (4.0%)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(42.7%)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24 / 435 / 141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/ 332 / 12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 time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15.21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16.72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failures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3/210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23/210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D0A4E5BE-511B-4C18-83CD-88209AC59E49}"/>
              </a:ext>
            </a:extLst>
          </p:cNvPr>
          <p:cNvSpPr>
            <a:spLocks noGrp="1"/>
          </p:cNvSpPr>
          <p:nvPr/>
        </p:nvSpPr>
        <p:spPr>
          <a:xfrm>
            <a:off x="1451282" y="5938540"/>
            <a:ext cx="12842984" cy="7709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 將 policy 組成、Java seed 和 gen0 materialization 一起改變；結果支持 Mixed 初始化方案整體較佳，不能單獨歸因於 policy 多樣性。</a:t>
            </a:r>
          </a:p>
        </p:txBody>
      </p:sp>
      <p:sp>
        <p:nvSpPr>
          <p:cNvPr id="7" name="">
            <a:extLst>
              <a:ext uri="{FF2B5EF4-FFF2-40B4-BE49-F238E27FC236}">
                <ns2:creationId id="{6B69FC0F-97C0-4C8D-A755-5E9885575561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戰力提高伴隨較多失敗；後續需固定 Java 初始化流程拆出單一因素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022676C-50D6-47EF-B353-62E89F6B9AB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ns3:creationId val="1292830235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77079A85-D6FD-4401-AA4C-8A69BCF0FED6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47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47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父代評估：reuse cached 對 regenerate genotype</a:t>
            </a:r>
          </a:p>
        </p:txBody>
      </p:sp>
      <p:sp>
        <p:nvSpPr>
          <p:cNvPr id="14" name="EAGLE_1">
            <a:extLst>
              <a:ext uri="{FF2B5EF4-FFF2-40B4-BE49-F238E27FC236}">
                <ns2:creationId id="{28B28EE8-E32C-45AA-BD3A-8EFC1F282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此為歷史資料中控制最完整的單變因配對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513409"/>
          <a:ext cx="13068300" cy="3028652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943022"/>
                <a:gridCol w="4562639"/>
                <a:gridCol w="4562639"/>
              </a:tblGrid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reuse_cached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regenerate_same_genotype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Best / mean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−50.51 / −65.35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−79.34 / −87.29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Search 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510 / 1,121 / 169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88 / 1,328 / 384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Committed time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16.43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26.25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Case-wise maxima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9/10 較高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1/10 較高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ECFFE9E-9B9F-495B-9AD4-8F0BEC4D1D80}"/>
              </a:ext>
            </a:extLst>
          </p:cNvPr>
          <p:cNvSpPr>
            <a:spLocks noGrp="1"/>
          </p:cNvSpPr>
          <p:nvPr/>
        </p:nvSpPr>
        <p:spPr>
          <a:xfrm>
            <a:off x="1451282" y="5949553"/>
            <a:ext cx="12842984" cy="68282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兩組從同一 gen0 checkpoint 出發，實質差異只有 parent evaluation mode。Treatment 未做獨立 final test，比分是搜尋 evaluation matrix。</a:t>
            </a:r>
          </a:p>
        </p:txBody>
      </p:sp>
      <p:sp>
        <p:nvSpPr>
          <p:cNvPr id="7" name="">
            <a:extLst>
              <a:ext uri="{FF2B5EF4-FFF2-40B4-BE49-F238E27FC236}">
                <ns2:creationId id="{FAC4190F-F48F-4B99-B63F-0CEA261C1721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單次配對支持保留已驗證 phenotype 與 fitness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647B584-F30D-4E47-8BB5-012394031999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ns3:creationId val="1175252726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8ACB9658-17B3-491E-AE00-FCF65DF4DDED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64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64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測試證明流程能運作，未估計一般效果</a:t>
            </a:r>
          </a:p>
        </p:txBody>
      </p:sp>
      <p:sp>
        <p:nvSpPr>
          <p:cNvPr id="14" name="EAGLE_1">
            <a:extLst>
              <a:ext uri="{FF2B5EF4-FFF2-40B4-BE49-F238E27FC236}">
                <ns2:creationId id="{2F4C4C63-BEFF-4804-AEB7-B5E6CCAF7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5×3、5 代、15 個 offspring 的 report 是 pipeline assessment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215878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6196177"/>
                <a:gridCol w="6872123"/>
              </a:tblGrid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可確認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仍不能確認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 / Prompt / Code Reflection 均有執行記錄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0.33/0.33/0.34 不是三組 operator 比較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 revision 多次需要 compile repair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 個 offspring 樣本不足以估計勝率或 operator 因果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部分 genotype 有實際變化，但不少 Java 差異很小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child 的 crossover、mutation 與 match randomness 同時影響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3AF85D76-5688-4413-BB6D-B088D89793B4}"/>
              </a:ext>
            </a:extLst>
          </p:cNvPr>
          <p:cNvSpPr>
            <a:spLocks noGrp="1"/>
          </p:cNvSpPr>
          <p:nvPr/>
        </p:nvSpPr>
        <p:spPr>
          <a:xfrm>
            <a:off x="1451282" y="6037659"/>
            <a:ext cx="12786656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09/08 版本加入 generation-wide materialization 與可選 generation_model，模型比較之後才能維持相同 20×10 搜尋條件。</a:t>
            </a:r>
          </a:p>
        </p:txBody>
      </p:sp>
      <p:sp>
        <p:nvSpPr>
          <p:cNvPr id="7" name="">
            <a:extLst>
              <a:ext uri="{FF2B5EF4-FFF2-40B4-BE49-F238E27FC236}">
                <ns2:creationId id="{FCEEF4FE-F4B5-4E4F-AB4A-8E5C19003256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operator schedule 的效果尚無乾淨、足量的單因子對照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F36C5EB-CB37-4376-9875-235E3E59697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ns3:creationId val="62597974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9CB13A83-18EA-4FE3-B3D5-AFB58B7B5EAF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0924 後 self-play 四組 run</a:t>
            </a:r>
          </a:p>
        </p:txBody>
      </p:sp>
      <p:sp>
        <p:nvSpPr>
          <p:cNvPr id="13" name="EAGLE_1">
            <a:extLst>
              <a:ext uri="{FF2B5EF4-FFF2-40B4-BE49-F238E27FC236}">
                <ns2:creationId id="{3742BB71-6A4A-47B5-93CC-59449492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Notion 記錄與本地 README 的 run ID、配置和 final test 相符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69356"/>
          <a:ext cx="13068300" cy="3744516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393653"/>
                <a:gridCol w="2478471"/>
                <a:gridCol w="1689866"/>
                <a:gridCol w="4506310"/>
              </a:tblGrid>
              <a:tr h="74890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 / protocol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 × pop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FFE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 W/L/D/E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74890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0925 5×40 legacy lexicase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 ×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197 / 392 / 11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4890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10×10 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257 / 321 / 22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4890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5×20 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388 / 212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4890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10×20 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444 / 156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507CD5B8-572F-4595-AEF5-E9A9BE6C70F4}"/>
              </a:ext>
            </a:extLst>
          </p:cNvPr>
          <p:cNvSpPr>
            <a:spLocks noGrp="1"/>
          </p:cNvSpPr>
          <p:nvPr/>
        </p:nvSpPr>
        <p:spPr>
          <a:xfrm>
            <a:off x="1451282" y="6478191"/>
            <a:ext cx="12842984" cy="4625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四組都完成 600 場 final test，Integration 7/7，match errors = 0。10×10 的 final test wins 最高：257/600（42.83%）。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74156BE-B9BF-4CFC-A6A0-49BEF07B316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ns3:creationId val="818379686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8B49A6E6-DDC2-4BF3-BB75-BBA3E4E92CB7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66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66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100 FFE：10×10 明顯優於 5×20，但只有單次觀察</a:t>
            </a:r>
          </a:p>
        </p:txBody>
      </p:sp>
      <p:sp>
        <p:nvSpPr>
          <p:cNvPr id="14" name="EAGLE_1">
            <a:extLst>
              <a:ext uri="{FF2B5EF4-FFF2-40B4-BE49-F238E27FC236}">
                <ns2:creationId id="{6E2FD095-3EB7-4BCE-AFCB-C15E399D1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兩組使用 semantic tie-break、相同 9 個 semantic probes 與 600 場 final test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654066" y="2436316"/>
          <a:ext cx="12167038" cy="4019848"/>
        </p:xfrm>
        <a:graphic>
          <a:graphicData uri="http://schemas.openxmlformats.org/drawingml/2006/chart">
            <ns3:chart r:id="Rcfba2d4628e04401"/>
          </a:graphicData>
        </a:graphic>
      </p:graphicFrame>
      <p:sp>
        <p:nvSpPr>
          <p:cNvPr id="6" name="">
            <a:extLst>
              <a:ext uri="{FF2B5EF4-FFF2-40B4-BE49-F238E27FC236}">
                <ns2:creationId id="{19D96649-F137-4CE9-BEF7-750744825361}"/>
              </a:ext>
            </a:extLst>
          </p:cNvPr>
          <p:cNvSpPr>
            <a:spLocks noGrp="1"/>
          </p:cNvSpPr>
          <p:nvPr/>
        </p:nvSpPr>
        <p:spPr>
          <a:xfrm>
            <a:off x="1451282" y="6621363"/>
            <a:ext cx="12899313" cy="4625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10×10：42.83% 勝率；5×20：0% 勝率。5×20 搜尋期 180 場全和，正 GP 來自資源／兵力 shaping。</a:t>
            </a:r>
          </a:p>
        </p:txBody>
      </p:sp>
      <p:sp>
        <p:nvSpPr>
          <p:cNvPr id="7" name="">
            <a:extLst>
              <a:ext uri="{FF2B5EF4-FFF2-40B4-BE49-F238E27FC236}">
                <ns2:creationId id="{CEB71915-5D28-4120-B994-C183249B4158}"/>
              </a:ext>
            </a:extLst>
          </p:cNvPr>
          <p:cNvSpPr>
            <a:spLocks noGrp="1"/>
          </p:cNvSpPr>
          <p:nvPr/>
        </p:nvSpPr>
        <p:spPr>
          <a:xfrm>
            <a:off x="1428750" y="7337227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 FFE 的結果差距很大，refresh phenotype 漂移阻止強因果歸因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655BF45-5FA7-4540-8610-E78BD847B9B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ns5:creationId val="264047156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07827917-F322-4A57-A1D5-A6276B3FB2DA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100 FFE：差異涵蓋多數對手，不只單一 matchup</a:t>
            </a:r>
          </a:p>
        </p:txBody>
      </p:sp>
      <p:sp>
        <p:nvSpPr>
          <p:cNvPr id="13" name="EAGLE_1">
            <a:extLst>
              <a:ext uri="{FF2B5EF4-FFF2-40B4-BE49-F238E27FC236}">
                <ns2:creationId id="{9D6671F7-79D7-4315-B432-C737BD9E8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每個對手 60 場；列出 wins，來源完整 W/L/D 見分析文件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964781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844284"/>
                <a:gridCol w="4112008"/>
                <a:gridCol w="4112008"/>
              </a:tblGrid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 wins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 wins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PassiveAI / RandomAI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 / 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RandomBiasedAI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 / HeavyRush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/ 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 / AllInBot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 / COAC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Map wins: 8×8 / 16×16 / 24×24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130 / 77 / 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76932022-CD52-474D-AB0A-7E61F1FC100D}"/>
              </a:ext>
            </a:extLst>
          </p:cNvPr>
          <p:cNvSpPr>
            <a:spLocks noGrp="1"/>
          </p:cNvSpPr>
          <p:nvPr/>
        </p:nvSpPr>
        <p:spPr>
          <a:xfrm>
            <a:off x="1451282" y="6654403"/>
            <a:ext cx="12842984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10×10 勝率隨地圖放大下降：65.0% → 38.5% → 25.0%；5×20 三張圖均無勝場。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C9D21B6-CAA3-4ED5-8EBB-EECD28F54F3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ns3:creationId val="1824250790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F2A0D5AB-7549-4CD7-9E26-5EAFE049AA98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200 FFE：缺少 5×40 semantic-tie-break run</a:t>
            </a:r>
          </a:p>
        </p:txBody>
      </p:sp>
      <p:sp>
        <p:nvSpPr>
          <p:cNvPr id="14" name="EAGLE_1">
            <a:extLst>
              <a:ext uri="{FF2B5EF4-FFF2-40B4-BE49-F238E27FC236}">
                <ns2:creationId id="{16C0B5BA-0094-4E0A-BA70-95196224B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這組缺漏讓 10×20 vs 5×40 的配置比較暫時不成立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193852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548719"/>
                <a:gridCol w="2309484"/>
                <a:gridCol w="3717706"/>
                <a:gridCol w="3492391"/>
              </a:tblGrid>
              <a:tr h="7984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已有實驗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配置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協定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W/L/D/E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7984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run 20260928_115653_334420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10×20, 200 FFE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444 / 156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984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0925 run 20260925_134245_911171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5×40, 200 FFE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legacy lexicase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197 / 392 / 11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984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待跑 config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5×40, 200 FFE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待測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7BB82624-08E6-4C74-B781-E14A7E03F7B9}"/>
              </a:ext>
            </a:extLst>
          </p:cNvPr>
          <p:cNvSpPr>
            <a:spLocks noGrp="1"/>
          </p:cNvSpPr>
          <p:nvPr/>
        </p:nvSpPr>
        <p:spPr>
          <a:xfrm>
            <a:off x="1451282" y="6059686"/>
            <a:ext cx="12786656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0925 legacy 5×40 和 0927 semantic 10×20 不能當作只改人口／世代的對照，selection protocol 不同。</a:t>
            </a:r>
          </a:p>
        </p:txBody>
      </p:sp>
      <p:sp>
        <p:nvSpPr>
          <p:cNvPr id="7" name="">
            <a:extLst>
              <a:ext uri="{FF2B5EF4-FFF2-40B4-BE49-F238E27FC236}">
                <ns2:creationId id="{AB82FC17-731A-4BBD-943F-A9C33E38074C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新增的 5×40 semantic config 同時補齊 FFE allocation 與 selection-method 配對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D98928C-8459-4CC5-9476-58D193B250F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ns3:creationId val="1823303198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6803AE60-D810-422F-84D0-215C1B3FB491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019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019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同為 10×20 的兩次 self-play 結果不能合併</a:t>
            </a:r>
          </a:p>
        </p:txBody>
      </p:sp>
      <p:sp>
        <p:nvSpPr>
          <p:cNvPr id="14" name="EAGLE_1">
            <a:extLst>
              <a:ext uri="{FF2B5EF4-FFF2-40B4-BE49-F238E27FC236}">
                <ns2:creationId id="{E3526FC8-4BD1-4684-911C-866CB995A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舊草稿 0/151/449 是 0923 run，不是 0927 semantic-tie-break run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2643188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830364"/>
                <a:gridCol w="3717706"/>
                <a:gridCol w="3379733"/>
                <a:gridCol w="2140497"/>
              </a:tblGrid>
              <a:tr h="8810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Search protocol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 W/L/D/E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Refresh audit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8810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0923 20260923_134743_200030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較早 self-play protocol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449 / 151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舊版分析資料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810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20260928_115653_334420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444 / 156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14/50 Java hashes preserved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C9656939-0805-47E9-AAE3-DAA108601499}"/>
              </a:ext>
            </a:extLst>
          </p:cNvPr>
          <p:cNvSpPr>
            <a:spLocks noGrp="1"/>
          </p:cNvSpPr>
          <p:nvPr/>
        </p:nvSpPr>
        <p:spPr>
          <a:xfrm>
            <a:off x="1451282" y="5707261"/>
            <a:ext cx="12786656" cy="66079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表現差異可描述，不能只歸因於 semantic tie-break：source revision、refresh Java 漂移、候選 failures 和 initial population 都不同。</a:t>
            </a:r>
          </a:p>
        </p:txBody>
      </p:sp>
      <p:sp>
        <p:nvSpPr>
          <p:cNvPr id="7" name="">
            <a:extLst>
              <a:ext uri="{FF2B5EF4-FFF2-40B4-BE49-F238E27FC236}">
                <ns2:creationId id="{BA483F48-C6EC-434F-B913-5573333AE7E4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保留 run ID，避免以相同 10×20 標籤覆蓋不同協定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6687BC8-1034-4928-BCD0-12685D7BB20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ns3:creationId val="1860348125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D9890FCD-0CE9-41E6-BC84-1D9C339B1557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Semantic tie-break 有界：只保留同 fitness tier 的行為差異</a:t>
            </a:r>
          </a:p>
        </p:txBody>
      </p:sp>
      <p:sp>
        <p:nvSpPr>
          <p:cNvPr id="13" name="EAGLE_1">
            <a:extLst>
              <a:ext uri="{FF2B5EF4-FFF2-40B4-BE49-F238E27FC236}">
                <ns2:creationId id="{B9CBE650-2465-4190-930B-1A66CE60F3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tie-break 無法跨過 fitness 差距補回已消失的語意多樣性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138785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393653"/>
                <a:gridCol w="4337324"/>
                <a:gridCol w="4337324"/>
              </a:tblGrid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觀察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unique semantic signatures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 /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最高 tier 的候選池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多代只有 1 種語意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G8 曾有 10 種，末代剩 2 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self-play W/D/L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 / 60 / 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 wins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A789A50B-8DB1-4ECD-ACD1-E288C1EAB205}"/>
              </a:ext>
            </a:extLst>
          </p:cNvPr>
          <p:cNvSpPr>
            <a:spLocks noGrp="1"/>
          </p:cNvSpPr>
          <p:nvPr/>
        </p:nvSpPr>
        <p:spPr>
          <a:xfrm>
            <a:off x="1451282" y="6015633"/>
            <a:ext cx="12786656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fixed probe states 只描述局部 action semantics，無法單獨保證整場比賽會進攻、追擊或結束。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2404C3F-BF5A-4468-A9D1-B86336D84C6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ns3:creationId val="473658940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D32A0468-E0DD-4B5C-8068-744CE7E1A53B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Refresh Java 漂移與 candidate failures 是主要有效性風險</a:t>
            </a:r>
          </a:p>
        </p:txBody>
      </p:sp>
      <p:sp>
        <p:nvSpPr>
          <p:cNvPr id="14" name="EAGLE_1">
            <a:extLst>
              <a:ext uri="{FF2B5EF4-FFF2-40B4-BE49-F238E27FC236}">
                <ns2:creationId id="{20E4498C-03D4-4F89-B01F-A75B8C7EAA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所有 4 個 Notion runs 的 final tests 無 match errors；演化路徑仍有紀錄完整性 caveat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717706"/>
                <a:gridCol w="2703786"/>
                <a:gridCol w="3041759"/>
                <a:gridCol w="3605048"/>
              </a:tblGrid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Refresh records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hash 保留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failures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0925 5×40 legacy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14/40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 / 245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10×10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5/20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5×20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8/25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 / 130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10×20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14/50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28 / 260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D460FB62-C0B6-43A8-8C04-23AB1647EA30}"/>
              </a:ext>
            </a:extLst>
          </p:cNvPr>
          <p:cNvSpPr>
            <a:spLocks noGrp="1"/>
          </p:cNvSpPr>
          <p:nvPr/>
        </p:nvSpPr>
        <p:spPr>
          <a:xfrm>
            <a:off x="1451282" y="6147792"/>
            <a:ext cx="12786656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0927 的 28 failures：validation 19、generation 7、compilation 2。0926 5×20 多出 generation 4 migration refresh。</a:t>
            </a:r>
          </a:p>
        </p:txBody>
      </p:sp>
      <p:sp>
        <p:nvSpPr>
          <p:cNvPr id="7" name="">
            <a:extLst>
              <a:ext uri="{FF2B5EF4-FFF2-40B4-BE49-F238E27FC236}">
                <ns2:creationId id="{2FE47664-74AC-4340-B7CE-B5E8F2B41FD1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固定對手 final test 可讀作實際策略結果；演化機制歸因需先修正 refresh invariant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3504977-488F-4812-8386-F00E479780B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ns3:creationId val="1346438980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09ED2FDD-441F-4091-8FF1-6DBA04961A31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25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25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整體結果：高 FFE 或較多世代沒有保證更強</a:t>
            </a:r>
          </a:p>
        </p:txBody>
      </p:sp>
      <p:sp>
        <p:nvSpPr>
          <p:cNvPr id="14" name="EAGLE_1">
            <a:extLst>
              <a:ext uri="{FF2B5EF4-FFF2-40B4-BE49-F238E27FC236}">
                <ns2:creationId id="{5781F8A9-63B3-41F0-9ED3-AD5AF4DC5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本批四組單次 runs 中，10×10 的共同外部測試勝場最多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541408" y="2381250"/>
          <a:ext cx="12842984" cy="4074914"/>
        </p:xfrm>
        <a:graphic>
          <a:graphicData uri="http://schemas.openxmlformats.org/drawingml/2006/chart">
            <ns3:chart r:id="R0d1f434d7c9446a2"/>
          </a:graphicData>
        </a:graphic>
      </p:graphicFrame>
      <p:sp>
        <p:nvSpPr>
          <p:cNvPr id="6" name="">
            <a:extLst>
              <a:ext uri="{FF2B5EF4-FFF2-40B4-BE49-F238E27FC236}">
                <ns2:creationId id="{D4C641B2-BB8B-4990-9AE6-A85B0FA6EA25}"/>
              </a:ext>
            </a:extLst>
          </p:cNvPr>
          <p:cNvSpPr>
            <a:spLocks noGrp="1"/>
          </p:cNvSpPr>
          <p:nvPr/>
        </p:nvSpPr>
        <p:spPr>
          <a:xfrm>
            <a:off x="1451282" y="6731496"/>
            <a:ext cx="12842984" cy="3854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5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5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Observed ordering: 10×10 &gt; legacy 5×40 &gt; semantic 5×20 ≈ semantic 10×20 by wins. Protocol and refresh differences prevent ranking config effects.</a:t>
            </a:r>
          </a:p>
        </p:txBody>
      </p:sp>
      <p:sp>
        <p:nvSpPr>
          <p:cNvPr id="7" name="">
            <a:extLst>
              <a:ext uri="{FF2B5EF4-FFF2-40B4-BE49-F238E27FC236}">
                <ns2:creationId id="{983445A2-227A-4828-9331-73FD04E5C331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優先以 10×10 作可重現的近期戰力基準，先釐清 phenotype-preserving refresh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75C0996-FBBB-45CC-BA03-31C48F4A5F9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ns5:creationId val="181525133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105D2B58-0C9A-485E-864C-37B41B031625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5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5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0929 實驗矩陣：缺漏 arm 與可回答問題</a:t>
            </a:r>
          </a:p>
        </p:txBody>
      </p:sp>
      <p:sp>
        <p:nvSpPr>
          <p:cNvPr id="14" name="EAGLE_1">
            <a:extLst>
              <a:ext uri="{FF2B5EF4-FFF2-40B4-BE49-F238E27FC236}">
                <ns2:creationId id="{C528F301-49D1-46B3-947A-70ABABD41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新增參數只定義待跑條件，尚未聲稱已有實驗結果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2863453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3830364"/>
                <a:gridCol w="3717706"/>
                <a:gridCol w="2140497"/>
              </a:tblGrid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比較組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已存在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補缺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單一問題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 FFE allocation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 vs 5×20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已各跑一次；重跑需修 refresh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族群深度配置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 FFE allocation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族群深度配置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 selection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legacy lexicase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selection protocol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B9D52BA7-F1FD-45D8-A5B5-749EF801E5C6}"/>
              </a:ext>
            </a:extLst>
          </p:cNvPr>
          <p:cNvSpPr>
            <a:spLocks noGrp="1"/>
          </p:cNvSpPr>
          <p:nvPr/>
        </p:nvSpPr>
        <p:spPr>
          <a:xfrm>
            <a:off x="1451282" y="5762327"/>
            <a:ext cx="12842984" cy="7709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每個新 run 固定模型、seed prompt、地圖、mutation、refresh 間隔與 final-test roster；固定同一初始族群 artifact 後再做多個獨立 replicates。</a:t>
            </a:r>
          </a:p>
        </p:txBody>
      </p:sp>
      <p:sp>
        <p:nvSpPr>
          <p:cNvPr id="7" name="">
            <a:extLst>
              <a:ext uri="{FF2B5EF4-FFF2-40B4-BE49-F238E27FC236}">
                <ns2:creationId id="{9CDBD7B6-1625-44E3-9448-5FB22E7589FF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0929 新增 config 可同時作為兩個 200 FFE 配對的共用對照組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24D6412-EC39-42D9-9646-166080DC3BF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</a:p>
        </p:txBody>
      </p:sp>
    </p:spTree>
    <p:extLst>
      <p:ext uri="{BB962C8B-B14F-4D97-AF65-F5344CB8AC3E}">
        <ns3:creationId val="177108152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509C2F82-07AA-4E17-90DD-A49EBE912FE8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新增 config 的參數與預期控制條件</a:t>
            </a:r>
          </a:p>
        </p:txBody>
      </p:sp>
      <p:sp>
        <p:nvSpPr>
          <p:cNvPr id="13" name="EAGLE_1">
            <a:extLst>
              <a:ext uri="{FF2B5EF4-FFF2-40B4-BE49-F238E27FC236}">
                <ns2:creationId id="{3D2B4BBB-2F56-464A-B65C-B5B9BDF39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config 源自 semantic 10×20；僅更改 experiment name、generations 和 population size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69356"/>
          <a:ext cx="13068300" cy="3689449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055679"/>
                <a:gridCol w="9012621"/>
              </a:tblGrid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參數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設定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Algorithm /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game_performance_semantic_tiebreak；fitness tie tolerance 1.0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Generations × population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 × 5 = 200 regular offspring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Model / EA seed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ministral3_8b / 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refresh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每 5 代；10 個 self-play slots 沿用源 config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probes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 maps × early/mid/late = 9 states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Maps / rounds / sides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8×8、16×16、24×24；3 rounds；swap sides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Mutation / crossover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0.33 / 0.33 / 0.34；0.75 / 1.0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91E28E69-1D8A-48C3-9662-ACC169D43C9C}"/>
              </a:ext>
            </a:extLst>
          </p:cNvPr>
          <p:cNvSpPr>
            <a:spLocks noGrp="1"/>
          </p:cNvSpPr>
          <p:nvPr/>
        </p:nvSpPr>
        <p:spPr>
          <a:xfrm>
            <a:off x="1451282" y="6544270"/>
            <a:ext cx="12842984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FFE 同額指 offspring 數；gen0、refresh replicas 和 retries 另計。執行前先確保 refresh 不會重生或改寫 Java phenotype。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FD4CD73-D1BA-4B6A-8D66-323C24E9843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</a:p>
        </p:txBody>
      </p:sp>
    </p:spTree>
    <p:extLst>
      <p:ext uri="{BB962C8B-B14F-4D97-AF65-F5344CB8AC3E}">
        <ns3:creationId val="494037841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936B5EAF-C717-4A93-8BC7-7B9659E51416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來源與數據限制</a:t>
            </a:r>
          </a:p>
        </p:txBody>
      </p:sp>
      <p:sp>
        <p:nvSpPr>
          <p:cNvPr id="13" name="EAGLE_1">
            <a:extLst>
              <a:ext uri="{FF2B5EF4-FFF2-40B4-BE49-F238E27FC236}">
                <ns2:creationId id="{86FE358F-F6E8-450B-97D7-9DFC22203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canonical run artifacts 為優先；本次可用的 0924 後彙整為 Notion page + meeting snapshot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830364"/>
                <a:gridCol w="9237936"/>
              </a:tblGrid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來源組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納入文件／記錄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Notion 0925、0926 10×10、0926 5×20、0927 10×20；README.md 與 3 份 self-play analysis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Earlier controlled studies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09/07 reflection、09/10 model、09/12 initialization、09/14 parent regeneration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Cross-cutting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experiment_results_after_0907.md；version_summary_after_0907.md；model_parameter_audit.md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Limit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本地 runs 資料夾未提供 0925–0927 原始 run artifacts；近期細節以 Notion page 和同步的 analysis_md 為證據。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B32C412A-1B1B-413A-A0FC-5340C1B49087}"/>
              </a:ext>
            </a:extLst>
          </p:cNvPr>
          <p:cNvSpPr>
            <a:spLocks noGrp="1"/>
          </p:cNvSpPr>
          <p:nvPr/>
        </p:nvSpPr>
        <p:spPr>
          <a:xfrm>
            <a:off x="1451282" y="6180832"/>
            <a:ext cx="12955642" cy="68282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8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8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Notion sources: https://app.notion.com/p/3eac9b9735d9810d87b4ce89769bd4b6 ; https://app.notion.com/p/3eac9b9735d981f78c00e9a7706af646 ; https://app.notion.com/p/3eac9b9735d98115b78be874b606a195 ; https://app.notion.com/p/3eac9b9735d981518b7cf0dfe691ade7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CBFB90C-8F1F-4727-8359-BA1B0640361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</a:p>
        </p:txBody>
      </p:sp>
    </p:spTree>
    <p:extLst>
      <p:ext uri="{BB962C8B-B14F-4D97-AF65-F5344CB8AC3E}">
        <ns3:creationId val="1011307094"/>
      </p:ext>
    </p:extLst>
  </p:cSld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47171C"/>
      </a:accent2>
      <a:accent3>
        <a:srgbClr val="CF9BA5"/>
      </a:accent3>
      <a:accent4>
        <a:srgbClr val="C69B45"/>
      </a:accent4>
      <a:accent5>
        <a:srgbClr val="FAEDC6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1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