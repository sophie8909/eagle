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1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2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3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4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Default Extension="xlsx" ContentType="application/vnd.openxmlformats-officedocument.spreadsheetml.sheet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3648" r:id="rId1"/>
  </p:sldMasterIdLst>
  <p:notesMasterIdLst>
    <p:notesMasterId r:id="rId36"/>
  </p:notesMasterIdLst>
  <p:sldIdLst>
    <p:sldId id="256" r:id="rIdReportSlide1"/>
    <p:sldId id="257" r:id="rIdReportSlide2"/>
    <p:sldId id="258" r:id="rIdReportSlide3"/>
    <p:sldId id="259" r:id="rIdReportSlide4"/>
    <p:sldId id="260" r:id="rIdReportSlide5"/>
    <p:sldId id="261" r:id="rIdReportSlide6"/>
    <p:sldId id="262" r:id="rIdReportSlide7"/>
    <p:sldId id="263" r:id="rIdReportSlide8"/>
    <p:sldId id="264" r:id="rIdReportSlide9"/>
    <p:sldId id="265" r:id="rIdReportSlide10"/>
    <p:sldId id="266" r:id="rIdReportSlide11"/>
    <p:sldId id="267" r:id="rIdReportSlide12"/>
    <p:sldId id="268" r:id="rIdReportSlide13"/>
    <p:sldId id="269" r:id="rIdReportSlide14"/>
    <p:sldId id="270" r:id="rIdReportSlide15"/>
  </p:sldIdLst>
  <p:sldSz cx="15925800" cy="8963025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66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?>
<Relationships xmlns="http://schemas.openxmlformats.org/package/2006/relationships"><Relationship Id="rId39" Type="http://schemas.openxmlformats.org/officeDocument/2006/relationships/theme" Target="theme/theme1.xml" /><Relationship Id="rId38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37" Type="http://schemas.openxmlformats.org/officeDocument/2006/relationships/presProps" Target="presProps.xml" /><Relationship Id="rId40" Type="http://schemas.openxmlformats.org/officeDocument/2006/relationships/tableStyles" Target="tableStyles.xml" /><Relationship Id="rId36" Type="http://schemas.openxmlformats.org/officeDocument/2006/relationships/notesMaster" Target="notesMasters/notesMaster1.xml" /><Relationship Type="http://schemas.openxmlformats.org/officeDocument/2006/relationships/slide" Target="/ppt/slides/slide1.xml" Id="rIdReportSlide1" /><Relationship Type="http://schemas.openxmlformats.org/officeDocument/2006/relationships/slide" Target="/ppt/slides/slide2.xml" Id="rIdReportSlide2" /><Relationship Type="http://schemas.openxmlformats.org/officeDocument/2006/relationships/slide" Target="/ppt/slides/slide3.xml" Id="rIdReportSlide3" /><Relationship Type="http://schemas.openxmlformats.org/officeDocument/2006/relationships/slide" Target="/ppt/slides/slide4.xml" Id="rIdReportSlide4" /><Relationship Type="http://schemas.openxmlformats.org/officeDocument/2006/relationships/slide" Target="/ppt/slides/slide5.xml" Id="rIdReportSlide5" /><Relationship Type="http://schemas.openxmlformats.org/officeDocument/2006/relationships/slide" Target="/ppt/slides/slide6.xml" Id="rIdReportSlide6" /><Relationship Type="http://schemas.openxmlformats.org/officeDocument/2006/relationships/slide" Target="/ppt/slides/slide7.xml" Id="rIdReportSlide7" /><Relationship Type="http://schemas.openxmlformats.org/officeDocument/2006/relationships/slide" Target="/ppt/slides/slide8.xml" Id="rIdReportSlide8" /><Relationship Type="http://schemas.openxmlformats.org/officeDocument/2006/relationships/slide" Target="/ppt/slides/slide9.xml" Id="rIdReportSlide9" /><Relationship Type="http://schemas.openxmlformats.org/officeDocument/2006/relationships/slide" Target="/ppt/slides/slide10.xml" Id="rIdReportSlide10" /><Relationship Type="http://schemas.openxmlformats.org/officeDocument/2006/relationships/slide" Target="/ppt/slides/slide11.xml" Id="rIdReportSlide11" /><Relationship Type="http://schemas.openxmlformats.org/officeDocument/2006/relationships/slide" Target="/ppt/slides/slide12.xml" Id="rIdReportSlide12" /><Relationship Type="http://schemas.openxmlformats.org/officeDocument/2006/relationships/slide" Target="/ppt/slides/slide13.xml" Id="rIdReportSlide13" /><Relationship Type="http://schemas.openxmlformats.org/officeDocument/2006/relationships/slide" Target="/ppt/slides/slide14.xml" Id="rIdReportSlide14" /><Relationship Type="http://schemas.openxmlformats.org/officeDocument/2006/relationships/slide" Target="/ppt/slides/slide15.xml" Id="rIdReportSlide15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253c29cbecc4605" /><Relationship Type="http://schemas.openxmlformats.org/officeDocument/2006/relationships/notesMaster" Target="/ppt/notesMasters/notesMaster1.xml" Id="R18f1f76073b747d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f75fc9c9d42464d" /><Relationship Type="http://schemas.openxmlformats.org/officeDocument/2006/relationships/notesMaster" Target="/ppt/notesMasters/notesMaster1.xml" Id="R1392843b293f446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6b80e41fafb4a65" /><Relationship Type="http://schemas.openxmlformats.org/officeDocument/2006/relationships/notesMaster" Target="/ppt/notesMasters/notesMaster1.xml" Id="Rc7d7f964cf774c8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f7c394e44934c5c" /><Relationship Type="http://schemas.openxmlformats.org/officeDocument/2006/relationships/notesMaster" Target="/ppt/notesMasters/notesMaster1.xml" Id="R20b0c60274af4d3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e25c36a1f124a51" /><Relationship Type="http://schemas.openxmlformats.org/officeDocument/2006/relationships/notesMaster" Target="/ppt/notesMasters/notesMaster1.xml" Id="R38e05e236669469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8920fe59e234a41" /><Relationship Type="http://schemas.openxmlformats.org/officeDocument/2006/relationships/notesMaster" Target="/ppt/notesMasters/notesMaster1.xml" Id="Rf65f2eed8621419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fb54bcf727549e8" /><Relationship Type="http://schemas.openxmlformats.org/officeDocument/2006/relationships/notesMaster" Target="/ppt/notesMasters/notesMaster1.xml" Id="R796399ef7bf341e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0e8d2f62ff941da" /><Relationship Type="http://schemas.openxmlformats.org/officeDocument/2006/relationships/notesMaster" Target="/ppt/notesMasters/notesMaster1.xml" Id="R977497b3ec0a4e3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ffd6cdc2dfb4133" /><Relationship Type="http://schemas.openxmlformats.org/officeDocument/2006/relationships/notesMaster" Target="/ppt/notesMasters/notesMaster1.xml" Id="R5ac9523dd0ed4fa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b3cc9af74e1465c" /><Relationship Type="http://schemas.openxmlformats.org/officeDocument/2006/relationships/notesMaster" Target="/ppt/notesMasters/notesMaster1.xml" Id="Rf965848e5423418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bd434ce6df84d2a" /><Relationship Type="http://schemas.openxmlformats.org/officeDocument/2006/relationships/notesMaster" Target="/ppt/notesMasters/notesMaster1.xml" Id="Rb2c9788149b646f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505d830cfd74af2" /><Relationship Type="http://schemas.openxmlformats.org/officeDocument/2006/relationships/notesMaster" Target="/ppt/notesMasters/notesMaster1.xml" Id="R14e9eaaef9e946d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f97ff5d516040aa" /><Relationship Type="http://schemas.openxmlformats.org/officeDocument/2006/relationships/notesMaster" Target="/ppt/notesMasters/notesMaster1.xml" Id="R522bb3c9972642a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39e3633fd6d4f05" /><Relationship Type="http://schemas.openxmlformats.org/officeDocument/2006/relationships/notesMaster" Target="/ppt/notesMasters/notesMaster1.xml" Id="R9546b650f3fd469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e646643e5ae48ac" /><Relationship Type="http://schemas.openxmlformats.org/officeDocument/2006/relationships/notesMaster" Target="/ppt/notesMasters/notesMaster1.xml" Id="Rd510e574f6de4a9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來源：Meeting/20260926_self_play_comparison/self_play_comparison_presentation_content.md</a:t>
            </a:r>
          </a:p>
          <a:p xmlns:a="http://schemas.openxmlformats.org/drawingml/2006/main">
            <a:r>
              <a:t>資料截至 2026/09/26。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Self-play 有明顯進步，但仍未超越固定對手基準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標題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5×40 self-play 將外部勝率從 0% 提升到 32.8%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副標題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與 fixed-roster 10×20 基準的搜尋結果、泛化能力與成本比較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投影片文字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實驗 | Final-test 勝率 | W / D / L |</a:t>
            </a:r>
          </a:p>
          <a:p xmlns:a="http://schemas.openxmlformats.org/drawingml/2006/main">
            <a:r>
              <a:t>|---|---:|---:|</a:t>
            </a:r>
          </a:p>
          <a:p xmlns:a="http://schemas.openxmlformats.org/drawingml/2006/main">
            <a:r>
              <a:t>| Fixed-roster 10×20 基準 | **42.7%** | 256 / 12 / 332 |</a:t>
            </a:r>
          </a:p>
          <a:p xmlns:a="http://schemas.openxmlformats.org/drawingml/2006/main">
            <a:r>
              <a:t>| Self-play 5×40 | **32.8%** | 197 / 11 / 392 |</a:t>
            </a:r>
          </a:p>
          <a:p xmlns:a="http://schemas.openxmlformats.org/drawingml/2006/main">
            <a:r>
              <a:t>| Self-play 10×20 | **0%** | 0 / 151 / 449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頁面結論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新版 5×40 self-play 修復了舊版「只會和局、不會取勝」的主要問題，但仍落後固定對手基準 **9.8 個百分點**。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講者備註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本簡報的「基準」依本次指定，採用搜尋期間對多個固定 opponent 評估的 10×20 run。三個 run 的 final test 都是同一套 600 場測試，因此外部勝率是最可靠的橫向比較指標。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資料來源：[baseline final test](../../runs/20260911_072610_382082/final_test/final_test_results.md)、[self-play 10×20 final test](../../runs/20260923_134743_200030/final_test/final_test_results.md)、[self-play 5×40 final test](../../runs/20260925_134245_911171/final_test/final_test_results.md)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來源：Meeting/20260926_self_play_comparison/self_play_comparison_presentation_content.md</a:t>
            </a:r>
          </a:p>
          <a:p xmlns:a="http://schemas.openxmlformats.org/drawingml/2006/main">
            <a:r>
              <a:t>資料截至 2026/09/26。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三組實驗的比較口徑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投影片文字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項目 | Fixed-roster 基準 | Self-play 10×20 | Self-play 5×40 |</a:t>
            </a:r>
          </a:p>
          <a:p xmlns:a="http://schemas.openxmlformats.org/drawingml/2006/main">
            <a:r>
              <a:t>|---|---:|---:|---:|</a:t>
            </a:r>
          </a:p>
          <a:p xmlns:a="http://schemas.openxmlformats.org/drawingml/2006/main">
            <a:r>
              <a:t>| Run | `20260911...` | `20260923...` | `20260925...` |</a:t>
            </a:r>
          </a:p>
          <a:p xmlns:a="http://schemas.openxmlformats.org/drawingml/2006/main">
            <a:r>
              <a:t>| Generations | 20 | 20 | 40 |</a:t>
            </a:r>
          </a:p>
          <a:p xmlns:a="http://schemas.openxmlformats.org/drawingml/2006/main">
            <a:r>
              <a:t>| Population size | 10 | 10 | 5 |</a:t>
            </a:r>
          </a:p>
          <a:p xmlns:a="http://schemas.openxmlformats.org/drawingml/2006/main">
            <a:r>
              <a:t>| 搜尋評估對手 | 多個固定對手 | 10-slot snapshot | 5-slot snapshot |</a:t>
            </a:r>
          </a:p>
          <a:p xmlns:a="http://schemas.openxmlformats.org/drawingml/2006/main">
            <a:r>
              <a:t>| Snapshot refresh | 不適用 | 每 5 代 | 每 5 代 |</a:t>
            </a:r>
          </a:p>
          <a:p xmlns:a="http://schemas.openxmlformats.org/drawingml/2006/main">
            <a:r>
              <a:t>| 約略 regular candidate budget | 210 | 210 | 205 |</a:t>
            </a:r>
          </a:p>
          <a:p xmlns:a="http://schemas.openxmlformats.org/drawingml/2006/main">
            <a:r>
              <a:t>| Final test | 10 opponents × 3 maps × 2 sides × 10 games | 相同 | 相同 |</a:t>
            </a:r>
          </a:p>
          <a:p xmlns:a="http://schemas.openxmlformats.org/drawingml/2006/main">
            <a:r>
              <a:t>| Final-test 場數 | 600 | 600 | 600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三組實驗使用相同的 Ministral 3 8B、三張地圖、mutation 機率與 final-test opponent roster。兩版 self-play 只改變 generations 與 population size。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頁面結論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5×40 不是單純增加總 candidate 數，而是把相近的搜尋預算分配到更多代、更小族群，並經歷更多次 snapshot 更新。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講者備註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5×40 有 40 次 refresh candidate records，故磁碟上的 candidate 目錄數會高於 regular candidate budget。此處用 regular births 說明搜尋規模，而不是直接拿 artifact 數量當作計算預算。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資料來源：[baseline config](../../runs/20260911_072610_382082/config.yaml)、[self-play 10×20 config](../../runs/20260923_134743_200030/config.yaml)、[self-play 5×40 config](../../runs/20260925_134245_911171/config.yaml)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來源：Meeting/20260926_self_play_comparison/self_play_comparison_presentation_content.md</a:t>
            </a:r>
          </a:p>
          <a:p xmlns:a="http://schemas.openxmlformats.org/drawingml/2006/main">
            <a:r>
              <a:t>資料截至 2026/09/26。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結論摘要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投影片文字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**Fixed-roster 基準仍然最好**：256 勝，勝率 42.7%。</a:t>
            </a:r>
          </a:p>
          <a:p xmlns:a="http://schemas.openxmlformats.org/drawingml/2006/main">
            <a:r>
              <a:t>2. **5×40 self-play 大幅改善**：197 勝，勝率 32.8%，比 10×20 增加 197 勝。</a:t>
            </a:r>
          </a:p>
          <a:p xmlns:a="http://schemas.openxmlformats.org/drawingml/2006/main">
            <a:r>
              <a:t>3. **改善來自真正的取勝能力**：5×40 不再靠 timeout draws 撐住結果。</a:t>
            </a:r>
          </a:p>
          <a:p xmlns:a="http://schemas.openxmlformats.org/drawingml/2006/main">
            <a:r>
              <a:t>4. **能力仍偏窄**：勝場主要來自 Passive、Random、RandomBiased，對五個強對手仍是 60 場全敗。</a:t>
            </a:r>
          </a:p>
          <a:p xmlns:a="http://schemas.openxmlformats.org/drawingml/2006/main">
            <a:r>
              <a:t>5. **關鍵轉折可追溯到 G17**：Code Reflection 讓單位從「只攻擊射程內敵人」變成會尋找並追擊最近敵人。</a:t>
            </a:r>
          </a:p>
          <a:p xmlns:a="http://schemas.openxmlformats.org/drawingml/2006/main">
            <a:r>
              <a:t>6. **比較限制**：fixed-roster 基準來自較早的 repository state，不是完全同 commit 的 controlled ablation。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頁面結論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Self-play 機制已證明能找到可泛化的攻擊行為；下一步應補上固定 anchors 或 holdout probes，避免能力只對當期 snapshot 成立。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來源：Meeting/20260926_self_play_comparison/self_play_comparison_presentation_content.md</a:t>
            </a:r>
          </a:p>
          <a:p xmlns:a="http://schemas.openxmlformats.org/drawingml/2006/main">
            <a:r>
              <a:t>資料截至 2026/09/26。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總體 final-test 結果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投影片文字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指標 | Fixed-roster 10×20 | Self-play 10×20 | Self-play 5×40 |</a:t>
            </a:r>
          </a:p>
          <a:p xmlns:a="http://schemas.openxmlformats.org/drawingml/2006/main">
            <a:r>
              <a:t>|---|---:|---:|---:|</a:t>
            </a:r>
          </a:p>
          <a:p xmlns:a="http://schemas.openxmlformats.org/drawingml/2006/main">
            <a:r>
              <a:t>| Wins | **256** | 0 | 197 |</a:t>
            </a:r>
          </a:p>
          <a:p xmlns:a="http://schemas.openxmlformats.org/drawingml/2006/main">
            <a:r>
              <a:t>| Draws | 12 | **151** | 11 |</a:t>
            </a:r>
          </a:p>
          <a:p xmlns:a="http://schemas.openxmlformats.org/drawingml/2006/main">
            <a:r>
              <a:t>| Losses | **332** | 449 | 392 |</a:t>
            </a:r>
          </a:p>
          <a:p xmlns:a="http://schemas.openxmlformats.org/drawingml/2006/main">
            <a:r>
              <a:t>| Errors | 0 | 0 | 0 |</a:t>
            </a:r>
          </a:p>
          <a:p xmlns:a="http://schemas.openxmlformats.org/drawingml/2006/main">
            <a:r>
              <a:t>| Win rate | **42.67%** | 0% | 32.83% |</a:t>
            </a:r>
          </a:p>
          <a:p xmlns:a="http://schemas.openxmlformats.org/drawingml/2006/main">
            <a:r>
              <a:t>| Non-loss rate | **44.67%** | 25.17% | 34.67%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5×40 相對 10×20：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勝場增加 **197** 場</a:t>
            </a:r>
          </a:p>
          <a:p xmlns:a="http://schemas.openxmlformats.org/drawingml/2006/main">
            <a:r>
              <a:t>- 和局減少 **140** 場</a:t>
            </a:r>
          </a:p>
          <a:p xmlns:a="http://schemas.openxmlformats.org/drawingml/2006/main">
            <a:r>
              <a:t>- 敗場減少 **57** 場</a:t>
            </a:r>
          </a:p>
          <a:p xmlns:a="http://schemas.openxmlformats.org/drawingml/2006/main">
            <a:r>
              <a:t>- 勝率增加 **32.83 個百分點**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5×40 相對 fixed-roster 基準：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少 **59** 勝</a:t>
            </a:r>
          </a:p>
          <a:p xmlns:a="http://schemas.openxmlformats.org/drawingml/2006/main">
            <a:r>
              <a:t>- 多 **60** 敗</a:t>
            </a:r>
          </a:p>
          <a:p xmlns:a="http://schemas.openxmlformats.org/drawingml/2006/main">
            <a:r>
              <a:t>- 勝率少 **9.83 個百分點**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頁面結論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5×40 的進步不是把敗場換成和局，而是把舊版的和局與敗場轉成 197 個真實勝場。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講者備註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三組 final test 都沒有 candidate error，因此差異是策略能力差異，不是測試失敗或缺失資料造成。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資料來源：[baseline summary](../../runs/20260911_072610_382082/final_test/final_test_summary.json)、[self-play 10×20 summary](../../runs/20260923_134743_200030/final_test/final_test_summary.json)、[self-play 5×40 summary](../../runs/20260925_134245_911171/final_test/final_test_summary.json)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來源：Meeting/20260926_self_play_comparison/self_play_comparison_presentation_content.md</a:t>
            </a:r>
          </a:p>
          <a:p xmlns:a="http://schemas.openxmlformats.org/drawingml/2006/main">
            <a:r>
              <a:t>資料截至 2026/09/26。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5×40 恢復基礎對手能力，但 rush 與強對手仍是缺口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投影片文字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每個 opponent 共 60 場，數字為 W / D / L。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Opponent | Fixed-roster 10×20 | Self-play 10×20 | Self-play 5×40 |</a:t>
            </a:r>
          </a:p>
          <a:p xmlns:a="http://schemas.openxmlformats.org/drawingml/2006/main">
            <a:r>
              <a:t>|---|---:|---:|---:|</a:t>
            </a:r>
          </a:p>
          <a:p xmlns:a="http://schemas.openxmlformats.org/drawingml/2006/main">
            <a:r>
              <a:t>| PassiveAI | 60 / 0 / 0 | 0 / 60 / 0 | 60 / 0 / 0 |</a:t>
            </a:r>
          </a:p>
          <a:p xmlns:a="http://schemas.openxmlformats.org/drawingml/2006/main">
            <a:r>
              <a:t>| RandomAI | 59 / 1 / 0 | 0 / 53 / 7 | **60 / 0 / 0** |</a:t>
            </a:r>
          </a:p>
          <a:p xmlns:a="http://schemas.openxmlformats.org/drawingml/2006/main">
            <a:r>
              <a:t>| RandomBiasedAI | 57 / 1 / 2 | 0 / 38 / 22 | 57 / 1 / 2 |</a:t>
            </a:r>
          </a:p>
          <a:p xmlns:a="http://schemas.openxmlformats.org/drawingml/2006/main">
            <a:r>
              <a:t>| LightRush | **30 / 10 / 20** | 0 / 0 / 60 | 10 / 0 / 50 |</a:t>
            </a:r>
          </a:p>
          <a:p xmlns:a="http://schemas.openxmlformats.org/drawingml/2006/main">
            <a:r>
              <a:t>| HeavyRush | **40 / 0 / 20** | 0 / 0 / 60 | 10 / 10 / 40 |</a:t>
            </a:r>
          </a:p>
          <a:p xmlns:a="http://schemas.openxmlformats.org/drawingml/2006/main">
            <a:r>
              <a:t>| WorkerRush | 0 / 0 / 60 | 0 / 0 / 60 | 0 / 0 / 60 |</a:t>
            </a:r>
          </a:p>
          <a:p xmlns:a="http://schemas.openxmlformats.org/drawingml/2006/main">
            <a:r>
              <a:t>| AllInBot | 0 / 0 / 60 | 0 / 0 / 60 | 0 / 0 / 60 |</a:t>
            </a:r>
          </a:p>
          <a:p xmlns:a="http://schemas.openxmlformats.org/drawingml/2006/main">
            <a:r>
              <a:t>| Mayari | 0 / 0 / 60 | 0 / 0 / 60 | 0 / 0 / 60 |</a:t>
            </a:r>
          </a:p>
          <a:p xmlns:a="http://schemas.openxmlformats.org/drawingml/2006/main">
            <a:r>
              <a:t>| COAC | **10 / 0 / 50** | 0 / 0 / 60 | 0 / 0 / 60 |</a:t>
            </a:r>
          </a:p>
          <a:p xmlns:a="http://schemas.openxmlformats.org/drawingml/2006/main">
            <a:r>
              <a:t>| TMA | 0 / 0 / 60 | 0 / 0 / 60 | 0 / 0 / 60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頁面結論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5×40 幾乎完全追回三個基礎對手的能力，也開始擊敗 LightRush 與 HeavyRush；與基準的 59 勝差距，主要就是 LightRush、HeavyRush 與 COAC。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講者備註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與基準相比，5×40 在 RandomAI 多 1 勝，但在 LightRush 少 20 勝、HeavyRush 少 30 勝、COAC 少 10 勝，合計淨少 59 勝。這讓後續改進目標非常具體。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資料來源：[baseline final test](../../runs/20260911_072610_382082/final_test/final_test_results.md)、[self-play 10×20 final test](../../runs/20260923_134743_200030/final_test/final_test_results.md)、[self-play 5×40 final test](../../runs/20260925_134245_911171/final_test/final_test_results.md)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來源：Meeting/20260926_self_play_comparison/self_play_comparison_presentation_content.md</a:t>
            </a:r>
          </a:p>
          <a:p xmlns:a="http://schemas.openxmlformats.org/drawingml/2006/main">
            <a:r>
              <a:t>資料截至 2026/09/26。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5×40 的勝場能跨地圖與雙方位出現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投影片文字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按地圖：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地圖 | Fixed-roster W / D / L | Self-play 10×20 | Self-play 5×40 |</a:t>
            </a:r>
          </a:p>
          <a:p xmlns:a="http://schemas.openxmlformats.org/drawingml/2006/main">
            <a:r>
              <a:t>|---|---:|---:|---:|</a:t>
            </a:r>
          </a:p>
          <a:p xmlns:a="http://schemas.openxmlformats.org/drawingml/2006/main">
            <a:r>
              <a:t>| 8×8 | 98 / 0 / 102 | 0 / 35 / 165 | 67 / 11 / 122 |</a:t>
            </a:r>
          </a:p>
          <a:p xmlns:a="http://schemas.openxmlformats.org/drawingml/2006/main">
            <a:r>
              <a:t>| 16×16 | 90 / 10 / 100 | 0 / 57 / 143 | 60 / 0 / 140 |</a:t>
            </a:r>
          </a:p>
          <a:p xmlns:a="http://schemas.openxmlformats.org/drawingml/2006/main">
            <a:r>
              <a:t>| 24×24 | 68 / 2 / 130 | 0 / 59 / 141 | 70 / 0 / 130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按 player side：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Side | Fixed-roster W / D / L | Self-play 10×20 | Self-play 5×40 |</a:t>
            </a:r>
          </a:p>
          <a:p xmlns:a="http://schemas.openxmlformats.org/drawingml/2006/main">
            <a:r>
              <a:t>|---|---:|---:|---:|</a:t>
            </a:r>
          </a:p>
          <a:p xmlns:a="http://schemas.openxmlformats.org/drawingml/2006/main">
            <a:r>
              <a:t>| p0 | 128 / 1 / 171 | 0 / 78 / 222 | 97 / 11 / 192 |</a:t>
            </a:r>
          </a:p>
          <a:p xmlns:a="http://schemas.openxmlformats.org/drawingml/2006/main">
            <a:r>
              <a:t>| p1 | 128 / 11 / 161 | 0 / 73 / 227 | 100 / 0 / 200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頁面結論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5×40 在三張地圖與兩個 player side 都有勝場，改善不是單一地圖或先後手偏差；24×24 的勝場甚至略高於基準。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講者備註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24×24 的 70 勝高於基準的 68 勝，但不能解讀為整體已超越基準，因為差距集中在 8×8 與 16×16。5×40 的 side 差只有 3 勝，沒有明顯單側依賴。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來源：Meeting/20260926_self_play_comparison/self_play_comparison_presentation_content.md</a:t>
            </a:r>
          </a:p>
          <a:p xmlns:a="http://schemas.openxmlformats.org/drawingml/2006/main">
            <a:r>
              <a:t>資料截至 2026/09/26。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10×20 self-play 的失敗模式是「穩定和局」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投影片文字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證據 | Self-play 10×20 結果 |</a:t>
            </a:r>
          </a:p>
          <a:p xmlns:a="http://schemas.openxmlformats.org/drawingml/2006/main">
            <a:r>
              <a:t>|---|---:|</a:t>
            </a:r>
          </a:p>
          <a:p xmlns:a="http://schemas.openxmlformats.org/drawingml/2006/main">
            <a:r>
              <a:t>| Final snapshot search evaluation | **0 勝 / 180 和 / 0 敗** |</a:t>
            </a:r>
          </a:p>
          <a:p xmlns:a="http://schemas.openxmlformats.org/drawingml/2006/main">
            <a:r>
              <a:t>| Fixed-roster final test | **0 勝 / 151 和 / 449 敗** |</a:t>
            </a:r>
          </a:p>
          <a:p xmlns:a="http://schemas.openxmlformats.org/drawingml/2006/main">
            <a:r>
              <a:t>| Final population 最高 fitness 同分 | 7 / 10 |</a:t>
            </a:r>
          </a:p>
          <a:p xmlns:a="http://schemas.openxmlformats.org/drawingml/2006/main">
            <a:r>
              <a:t>| Unique objective vectors | 4 |</a:t>
            </a:r>
          </a:p>
          <a:p xmlns:a="http://schemas.openxmlformats.org/drawingml/2006/main">
            <a:r>
              <a:t>| Strategy niches | 4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最終 Java 行為的主要限制：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只攻擊附近的 enemy Workers</a:t>
            </a:r>
          </a:p>
          <a:p xmlns:a="http://schemas.openxmlformats.org/drawingml/2006/main">
            <a:r>
              <a:t>- 沒有一般化的敵人追擊邏輯</a:t>
            </a:r>
          </a:p>
          <a:p xmlns:a="http://schemas.openxmlformats.org/drawingml/2006/main">
            <a:r>
              <a:t>- 沒有有效控制 Heavy units</a:t>
            </a:r>
          </a:p>
          <a:p xmlns:a="http://schemas.openxmlformats.org/drawingml/2006/main">
            <a:r>
              <a:t>- 找不到目標時大量單位維持 idle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頁面結論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搜尋成功適應當期 snapshot，卻把「不輸給相似對手」當成主要訊號，最終收斂到無法終結比賽的和局策略。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講者備註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Final snapshot 的正 fitness 來自 material 與 resource shaping，不代表任何勝場。跨 run 比較時不能把這個 self-play GP 與 fixed-roster GP 直接放在同一條尺度上。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資料來源：[self-play 10×20 tested candidate evaluation](../../runs/20260923_134743_200030/candidates/gen_0020_ee9b19ad3dc8/evaluation/game_performance.json)、[self-play 10×20 candidate Java](../../runs/20260923_134743_200030/candidates/gen_0020_ee9b19ad3dc8/phenotype/CandidateAgent.java)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來源：Meeting/20260926_self_play_comparison/self_play_comparison_presentation_content.md</a:t>
            </a:r>
          </a:p>
          <a:p xmlns:a="http://schemas.openxmlformats.org/drawingml/2006/main">
            <a:r>
              <a:t>資料截至 2026/09/26。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5×40 的關鍵轉折發生在 Generation 17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投影片文字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Generation | 當期 best W / D / L | Best GP | 解讀 |</a:t>
            </a:r>
          </a:p>
          <a:p xmlns:a="http://schemas.openxmlformats.org/drawingml/2006/main">
            <a:r>
              <a:t>|---:|---:|---:|---|</a:t>
            </a:r>
          </a:p>
          <a:p xmlns:a="http://schemas.openxmlformats.org/drawingml/2006/main">
            <a:r>
              <a:t>| G0 至 G2 | 0 / 180 / 0 | 0.000 | 初期全部和局 |</a:t>
            </a:r>
          </a:p>
          <a:p xmlns:a="http://schemas.openxmlformats.org/drawingml/2006/main">
            <a:r>
              <a:t>| G5 | 0 / 174 / 6 | 1.243 | 尚無勝場 |</a:t>
            </a:r>
          </a:p>
          <a:p xmlns:a="http://schemas.openxmlformats.org/drawingml/2006/main">
            <a:r>
              <a:t>| G10 至 G14 | 0 / 180 / 0 | 0.424 | 新 snapshot 後回到和局 |</a:t>
            </a:r>
          </a:p>
          <a:p xmlns:a="http://schemas.openxmlformats.org/drawingml/2006/main">
            <a:r>
              <a:t>| G16 | 0 / 180 / 0 | 0.161 | 突破前一代 |</a:t>
            </a:r>
          </a:p>
          <a:p xmlns:a="http://schemas.openxmlformats.org/drawingml/2006/main">
            <a:r>
              <a:t>| **G17** | **180 / 0 / 0** | **102.804** | Code Reflection 產生決定性突破 |</a:t>
            </a:r>
          </a:p>
          <a:p xmlns:a="http://schemas.openxmlformats.org/drawingml/2006/main">
            <a:r>
              <a:t>| G20 | 120 / 0 / 60 | 35.040 | Refresh 後仍保留勝場能力 |</a:t>
            </a:r>
          </a:p>
          <a:p xmlns:a="http://schemas.openxmlformats.org/drawingml/2006/main">
            <a:r>
              <a:t>| G40 | 114 / 24 / 42 | 40.523 | 最終 snapshot 仍可取勝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頁面結論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G17 首次讓搜尋訊號從「和局 shaping」變成真正的 win/loss 訊號，而且能力跨過後續 snapshot refresh 保留下來。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講者備註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GP 只能在同一 opponent snapshot 內比較。這張投影片的重點是每個 generation 的 W/D/L 狀態，以及 G17 後在新 snapshot 仍能產生勝場，不是宣稱 GP 跨 snapshot 單調上升。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資料來源：[self-play 5×40 generation artifacts](../../runs/20260925_134245_911171/generations/)、[G17 evaluation](../../runs/20260925_134245_911171/candidates/gen_0017_a4bee4778e92/evaluation/game_performance.json)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來源：Meeting/20260926_self_play_comparison/self_play_comparison_presentation_content.md</a:t>
            </a:r>
          </a:p>
          <a:p xmlns:a="http://schemas.openxmlformats.org/drawingml/2006/main">
            <a:r>
              <a:t>資料截至 2026/09/26。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Code Reflection 補上了「主動找敵人」的能力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投影片文字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G17 candidate：`gen_0017_a4bee4778e92`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Mutation：`crossover+mutation`，Code Reflection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核心行為改變：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修改前 | 修改後 |</a:t>
            </a:r>
          </a:p>
          <a:p xmlns:a="http://schemas.openxmlformats.org/drawingml/2006/main">
            <a:r>
              <a:t>|---|---|</a:t>
            </a:r>
          </a:p>
          <a:p xmlns:a="http://schemas.openxmlformats.org/drawingml/2006/main">
            <a:r>
              <a:t>| 只尋找目前攻擊範圍內的敵人 | 尋找全地圖最近的敵人 |</a:t>
            </a:r>
          </a:p>
          <a:p xmlns:a="http://schemas.openxmlformats.org/drawingml/2006/main">
            <a:r>
              <a:t>| 沒有射程內目標時容易 idle | 對最近敵人下達 `commandAttack` |</a:t>
            </a:r>
          </a:p>
          <a:p xmlns:a="http://schemas.openxmlformats.org/drawingml/2006/main">
            <a:r>
              <a:t>| 難以終結對稱或被動局面 | 單位會追擊並建立實際勝負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這條 lineage 延續到 final-test candidate `gen_0040_c02a137db168`。最終 Java 也保留「若攻擊單位仍 idle，攻擊最近敵人」的 fallback。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頁面結論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新版成功的核心不是更多 timeout，而是一個可解釋、可追溯、會主動完成戰鬥的 phenotype 改變。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講者備註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這是從 mutation artifact 與 Java diff 得到的機制解釋，與 final-test 的 197 勝方向一致。不過單一 mutation 與最終外部勝率之間仍不是嚴格因果實驗；更嚴謹的作法是做 mutation rollback 或同 seed 重跑。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資料來源：[Code Reflection metadata](../../runs/20260925_134245_911171/candidates/gen_0017_a4bee4778e92/mutation/code_reflection/metadata.json)、[parent Java](../../runs/20260925_134245_911171/candidates/gen_0017_a4bee4778e92/mutation/code_reflection/parent_candidate.java)、[reflected Java](../../runs/20260925_134245_911171/candidates/gen_0017_a4bee4778e92/mutation/code_reflection/reflected_candidate.java)、[final candidate Java](../../runs/20260925_134245_911171/candidates/gen_0040_c02a137db168/phenotype/CandidateAgent.java)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來源：Meeting/20260926_self_play_comparison/self_play_comparison_presentation_content.md</a:t>
            </a:r>
          </a:p>
          <a:p xmlns:a="http://schemas.openxmlformats.org/drawingml/2006/main">
            <a:r>
              <a:t>資料截至 2026/09/26。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最終族群：5×40 有改善，但仍出現平台化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投影片文字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指標 | Fixed-roster 10×20 | Self-play 10×20 | Self-play 5×40 |</a:t>
            </a:r>
          </a:p>
          <a:p xmlns:a="http://schemas.openxmlformats.org/drawingml/2006/main">
            <a:r>
              <a:t>|---|---:|---:|---:|</a:t>
            </a:r>
          </a:p>
          <a:p xmlns:a="http://schemas.openxmlformats.org/drawingml/2006/main">
            <a:r>
              <a:t>| Final population size | 10 | 10 | 5 |</a:t>
            </a:r>
          </a:p>
          <a:p xmlns:a="http://schemas.openxmlformats.org/drawingml/2006/main">
            <a:r>
              <a:t>| 最高 fitness 同分 candidates | 1 | **7** | **4** |</a:t>
            </a:r>
          </a:p>
          <a:p xmlns:a="http://schemas.openxmlformats.org/drawingml/2006/main">
            <a:r>
              <a:t>| Unique objective vectors | 10 | 4 | 2 |</a:t>
            </a:r>
          </a:p>
          <a:p xmlns:a="http://schemas.openxmlformats.org/drawingml/2006/main">
            <a:r>
              <a:t>| Strategy niches | 3 | 4 | 3 |</a:t>
            </a:r>
          </a:p>
          <a:p xmlns:a="http://schemas.openxmlformats.org/drawingml/2006/main">
            <a:r>
              <a:t>| Unique Java hashes | 9 | 7 | 4 |</a:t>
            </a:r>
          </a:p>
          <a:p xmlns:a="http://schemas.openxmlformats.org/drawingml/2006/main">
            <a:r>
              <a:t>| 最高同分群的 Java hashes | 1 | 4 | 3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頁面結論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5×40 雖然找到能取勝的行為，但最終仍有 4/5 candidates 同列最高 fitness，objective 訊號只剩兩種，代表 selection resolution 仍然不足。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講者備註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同 fitness 不代表完全相同程式。5×40 的最高同分群仍有 3 個 Java hashes，顯示 phenotype 尚有差異，只是目前 snapshot 無法進一步排序。這正是加入固定 anchors 或外部 probe 的理由。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資料來源：[baseline generation metrics](../../runs/20260911_072610_382082/analysis/generation_metrics.csv)、[self-play 10×20 generation metrics](../../runs/20260923_134743_200030/analysis/generation_metrics.csv)、[self-play 5×40 generations](../../runs/20260925_134245_911171/generations/)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來源：Meeting/20260926_self_play_comparison/self_play_comparison_presentation_content.md</a:t>
            </a:r>
          </a:p>
          <a:p xmlns:a="http://schemas.openxmlformats.org/drawingml/2006/main">
            <a:r>
              <a:t>資料截至 2026/09/26。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5×40 的時間成本接近基準，低於舊 self-play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投影片文字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指標 | Fixed-roster 10×20 | Self-play 10×20 | Self-play 5×40 |</a:t>
            </a:r>
          </a:p>
          <a:p xmlns:a="http://schemas.openxmlformats.org/drawingml/2006/main">
            <a:r>
              <a:t>|---|---:|---:|---:|</a:t>
            </a:r>
          </a:p>
          <a:p xmlns:a="http://schemas.openxmlformats.org/drawingml/2006/main">
            <a:r>
              <a:t>| Generation wall time | **16.72 h** | 25.30 h | 17.99 h |</a:t>
            </a:r>
          </a:p>
          <a:p xmlns:a="http://schemas.openxmlformats.org/drawingml/2006/main">
            <a:r>
              <a:t>| LLM requests | 1,659 | 1,839 | **1,626** |</a:t>
            </a:r>
          </a:p>
          <a:p xmlns:a="http://schemas.openxmlformats.org/drawingml/2006/main">
            <a:r>
              <a:t>| LLM cumulative time | 10.98 h | 13.36 h | **9.49 h** |</a:t>
            </a:r>
          </a:p>
          <a:p xmlns:a="http://schemas.openxmlformats.org/drawingml/2006/main">
            <a:r>
              <a:t>| Persisted match events | 舊 schema，無可比數字 | 47,520 | 43,740 |</a:t>
            </a:r>
          </a:p>
          <a:p xmlns:a="http://schemas.openxmlformats.org/drawingml/2006/main">
            <a:r>
              <a:t>| Match cumulative time | 舊 schema，無可比數字 | 8.63 h | 5.40 h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5×40 相對 10×20：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Wall time 少 **7.31 小時**，約降低 28.9%</a:t>
            </a:r>
          </a:p>
          <a:p xmlns:a="http://schemas.openxmlformats.org/drawingml/2006/main">
            <a:r>
              <a:t>- LLM requests 少 **213** 次</a:t>
            </a:r>
          </a:p>
          <a:p xmlns:a="http://schemas.openxmlformats.org/drawingml/2006/main">
            <a:r>
              <a:t>- LLM cumulative time 少 **3.87 小時**</a:t>
            </a:r>
          </a:p>
          <a:p xmlns:a="http://schemas.openxmlformats.org/drawingml/2006/main">
            <a:r>
              <a:t>- Match cumulative time 少 **3.23 小時**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頁面結論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在相近 regular candidate budget 下，5×40 同時得到更好的外部結果與較低的實際成本，是兩版 self-play 中明顯較好的配置。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講者備註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10×20 run 曾中斷並恢復，manifest 雖為 complete，仍保留 snapshot mismatch failure 資訊，candidate artifacts 與成本包含 recovery overhead。因此 25.30 小時不能完全歸因於 10×20 配置。基準使用舊 timing schema，不能直接比較 persisted match event 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資料來源：[baseline timing](../../runs/20260911_072610_382082/timing.jsonl)、[self-play 10×20 timing](../../runs/20260923_134743_200030/timing.jsonl)、[self-play 5×40 timing](../../runs/20260925_134245_911171/timing.jsonl)、[self-play 10×20 manifest](../../runs/20260923_134743_200030/manifest.json)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來源：Meeting/20260926_self_play_comparison/self_play_comparison_presentation_content.md</a:t>
            </a:r>
          </a:p>
          <a:p xmlns:a="http://schemas.openxmlformats.org/drawingml/2006/main">
            <a:r>
              <a:t>資料截至 2026/09/26。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結論與下一步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投影片文字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結論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Fixed-roster 10×20 仍是最佳結果：**42.7%**。</a:t>
            </a:r>
          </a:p>
          <a:p xmlns:a="http://schemas.openxmlformats.org/drawingml/2006/main">
            <a:r>
              <a:t>- Self-play 5×40 已從 0% 提升到 **32.8%**，證明 self-play 可以產生外部勝場。</a:t>
            </a:r>
          </a:p>
          <a:p xmlns:a="http://schemas.openxmlformats.org/drawingml/2006/main">
            <a:r>
              <a:t>- 5×40 的改善可追溯到主動追擊敵人的 Code Reflection。</a:t>
            </a:r>
          </a:p>
          <a:p xmlns:a="http://schemas.openxmlformats.org/drawingml/2006/main">
            <a:r>
              <a:t>- 目前差距集中在 LightRush、HeavyRush 與 COAC。</a:t>
            </a:r>
          </a:p>
          <a:p xmlns:a="http://schemas.openxmlformats.org/drawingml/2006/main">
            <a:r>
              <a:t>- 最終族群仍有 4/5 最高同分，selection pressure 還不夠細。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建議下一個實驗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**先做 current-code fixed-roster 10×20 rerun**，建立同 commit、同 pipeline 的公平基準。</a:t>
            </a:r>
          </a:p>
          <a:p xmlns:a="http://schemas.openxmlformats.org/drawingml/2006/main">
            <a:r>
              <a:t>2. **Self-play snapshot 加入固定 anchors**，至少保留 LightRush、HeavyRush、WorkerRush 或 COAC。</a:t>
            </a:r>
          </a:p>
          <a:p xmlns:a="http://schemas.openxmlformats.org/drawingml/2006/main">
            <a:r>
              <a:t>3. **每次 snapshot refresh 加一個固定 holdout probe**，只監控、不參與 selection，及早發現外部能力退化。</a:t>
            </a:r>
          </a:p>
          <a:p xmlns:a="http://schemas.openxmlformats.org/drawingml/2006/main">
            <a:r>
              <a:t>4. **保留 5×40 搜尋規模**，因為成本與結果都優於 10×20 self-play。</a:t>
            </a:r>
          </a:p>
          <a:p xmlns:a="http://schemas.openxmlformats.org/drawingml/2006/main">
            <a:r>
              <a:t>5. **把 winless plateau 設為診斷條件**，若連續多代只有 draws，觸發攻擊能力檢查或 mutation bias。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頁面結論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下一階段不需要放棄 self-play；應保留 5×40 的探索深度，再用 fixed anchors 與 holdout probes 補上外部能力約束。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來源：Meeting/20260926_self_play_comparison/self_play_comparison_presentation_content.md</a:t>
            </a:r>
          </a:p>
          <a:p xmlns:a="http://schemas.openxmlformats.org/drawingml/2006/main">
            <a:r>
              <a:t>資料截至 2026/09/26。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完整 opponent 勝率比較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投影片文字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Opponent | Fixed-roster wins | Self-play 10×20 wins | Self-play 5×40 wins | 5×40 與基準差 |</a:t>
            </a:r>
          </a:p>
          <a:p xmlns:a="http://schemas.openxmlformats.org/drawingml/2006/main">
            <a:r>
              <a:t>|---|---:|---:|---:|---:|</a:t>
            </a:r>
          </a:p>
          <a:p xmlns:a="http://schemas.openxmlformats.org/drawingml/2006/main">
            <a:r>
              <a:t>| PassiveAI | 60 | 0 | 60 | 0 |</a:t>
            </a:r>
          </a:p>
          <a:p xmlns:a="http://schemas.openxmlformats.org/drawingml/2006/main">
            <a:r>
              <a:t>| RandomAI | 59 | 0 | 60 | +1 |</a:t>
            </a:r>
          </a:p>
          <a:p xmlns:a="http://schemas.openxmlformats.org/drawingml/2006/main">
            <a:r>
              <a:t>| RandomBiasedAI | 57 | 0 | 57 | 0 |</a:t>
            </a:r>
          </a:p>
          <a:p xmlns:a="http://schemas.openxmlformats.org/drawingml/2006/main">
            <a:r>
              <a:t>| LightRush | 30 | 0 | 10 | -20 |</a:t>
            </a:r>
          </a:p>
          <a:p xmlns:a="http://schemas.openxmlformats.org/drawingml/2006/main">
            <a:r>
              <a:t>| HeavyRush | 40 | 0 | 10 | -30 |</a:t>
            </a:r>
          </a:p>
          <a:p xmlns:a="http://schemas.openxmlformats.org/drawingml/2006/main">
            <a:r>
              <a:t>| WorkerRush | 0 | 0 | 0 | 0 |</a:t>
            </a:r>
          </a:p>
          <a:p xmlns:a="http://schemas.openxmlformats.org/drawingml/2006/main">
            <a:r>
              <a:t>| AllInBot | 0 | 0 | 0 | 0 |</a:t>
            </a:r>
          </a:p>
          <a:p xmlns:a="http://schemas.openxmlformats.org/drawingml/2006/main">
            <a:r>
              <a:t>| Mayari | 0 | 0 | 0 | 0 |</a:t>
            </a:r>
          </a:p>
          <a:p xmlns:a="http://schemas.openxmlformats.org/drawingml/2006/main">
            <a:r>
              <a:t>| COAC | 10 | 0 | 0 | -10 |</a:t>
            </a:r>
          </a:p>
          <a:p xmlns:a="http://schemas.openxmlformats.org/drawingml/2006/main">
            <a:r>
              <a:t>| TMA | 0 | 0 | 0 | 0 |</a:t>
            </a:r>
          </a:p>
          <a:p xmlns:a="http://schemas.openxmlformats.org/drawingml/2006/main">
            <a:r>
              <a:t>| **Total** | **256** | **0** | **197** | **-59**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解讀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5×40 與基準的總差為 59 勝，完全可由 RandomAI `+1`、LightRush `-20`、HeavyRush `-30`、COAC `-10` 解釋。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來源：Meeting/20260926_self_play_comparison/self_play_comparison_presentation_content.md</a:t>
            </a:r>
          </a:p>
          <a:p xmlns:a="http://schemas.openxmlformats.org/drawingml/2006/main">
            <a:r>
              <a:t>資料截至 2026/09/26。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Run identity 與資料品質注意事項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投影片文字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項目 | 說明 |</a:t>
            </a:r>
          </a:p>
          <a:p xmlns:a="http://schemas.openxmlformats.org/drawingml/2006/main">
            <a:r>
              <a:t>|---|---|</a:t>
            </a:r>
          </a:p>
          <a:p xmlns:a="http://schemas.openxmlformats.org/drawingml/2006/main">
            <a:r>
              <a:t>| 基準選擇 | 依指定採 `20260911_072610_382082`，其搜尋 eval 使用多個固定 opponents，規模為 10×20 |</a:t>
            </a:r>
          </a:p>
          <a:p xmlns:a="http://schemas.openxmlformats.org/drawingml/2006/main">
            <a:r>
              <a:t>| 歷史版本限制 | 基準來自較早 repository state，不是與兩版 self-play 完全同 commit 的受控比較 |</a:t>
            </a:r>
          </a:p>
          <a:p xmlns:a="http://schemas.openxmlformats.org/drawingml/2006/main">
            <a:r>
              <a:t>| 5×40 命名 | source config 檔名為 `self_play_5x40.yaml`，resolved `experiment_name` 卻保留 `self_play_10x20` |</a:t>
            </a:r>
          </a:p>
          <a:p xmlns:a="http://schemas.openxmlformats.org/drawingml/2006/main">
            <a:r>
              <a:t>| 10×20 命名 | source config 檔名為 `self_play_10x20.yaml`，resolved `experiment_name` 卻保留 `self_play_5x40` |</a:t>
            </a:r>
          </a:p>
          <a:p xmlns:a="http://schemas.openxmlformats.org/drawingml/2006/main">
            <a:r>
              <a:t>| 判讀規則 | 本文件以 run ID 與 resolved generations/population 為準，不以 `experiment_name` 判斷 |</a:t>
            </a:r>
          </a:p>
          <a:p xmlns:a="http://schemas.openxmlformats.org/drawingml/2006/main">
            <a:r>
              <a:t>| 10×20 recovery | run 已完成，但 manifest 保留中斷時的 snapshot mismatch failure；成本含 recovery overhead |</a:t>
            </a:r>
          </a:p>
          <a:p xmlns:a="http://schemas.openxmlformats.org/drawingml/2006/main">
            <a:r>
              <a:t>| GP 比較 | Self-play GP 只可在相同 snapshot 內比較，不能與 fixed-roster GP 或不同 snapshot 直接比較 |</a:t>
            </a:r>
          </a:p>
          <a:p xmlns:a="http://schemas.openxmlformats.org/drawingml/2006/main">
            <a:r>
              <a:t>| 最安全比較 | 三組相同 600 場 fixed-roster final test 的 W/D/L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頁面結論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本比較足以判斷最終外部表現，但若要把差距嚴格歸因於 evaluation mode，仍需在 current code 上重跑 fixed-roster control。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資料來源：[baseline manifest](../../runs/20260911_072610_382082/manifest.json)、[self-play 10×20 manifest](../../runs/20260923_134743_200030/manifest.json)、[self-play 5×40 manifest](../../runs/20260925_134245_911171/manifest.json)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來源：Meeting/20260926_self_play_comparison/self_play_comparison_presentation_content.md</a:t>
            </a:r>
          </a:p>
          <a:p xmlns:a="http://schemas.openxmlformats.org/drawingml/2006/main">
            <a:r>
              <a:t>資料截至 2026/09/26。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一句話版本與 Q&amp;A 備答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一句話版本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把 self-play 從 10×20 改成 5×40 後，外部勝率從 0% 提升到 32.8%，成本也下降，但仍未追上多固定對手 eval 基準的 42.7%。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Q1：為什麼 5×40 比 10×20 好？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現有 artifact 顯示，關鍵差異是 G17 的 Code Reflection 補上了主動追擊與攻擊最近敵人的能力；更多 generations 讓這個 mutation 有機會出現並在後續 snapshot 中被保留。這是有證據支持的機制解釋，但尚未經同 seed ablation 證明唯一因果。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Q2：為什麼 fixed-roster 還是更好？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固定 opponents 持續提供 LightRush、HeavyRush、COAC 等外部能力壓力。純 self-play 的 selection 只需要超越當期 snapshot，容易失去對外部策略的 coverage。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Q3：可以直接比較三個 run 的 GP 嗎？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不可以。Fixed-roster 與 self-play 使用不同 evaluation context，self-play 每次 snapshot refresh 又會改變 fitness 語境。跨 run 應以共同的 600 場 final test 比較。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Q4：下一個最重要的實驗是什麼？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先用 current code 重跑 fixed-roster 10×20 control，再測試「5×40 self-play 加固定 anchors」。這能把版本差異與 evaluation-mode 差異拆開。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preserve="1" type="title">
  <p:cSld name="封面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EAGLE_0">
            <a:extLst xmlns:a="http://schemas.openxmlformats.org/drawingml/2006/main">
              <a:ext uri="{FF2B5EF4-FFF2-40B4-BE49-F238E27FC236}">
                <a16:creationId xmlns:a16="http://schemas.microsoft.com/office/drawing/2014/main" id="{2F34C9E6-C370-4CE6-8C49-57861F01F240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2476500" y="2762250"/>
            <a:ext cx="10972800" cy="13335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5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按一下以新增標題</a:t>
            </a:r>
          </a:p>
        </p:txBody>
      </p:sp>
      <p:sp>
        <p:nvSpPr>
          <p:cNvPr id="3" name="EAGLE_1">
            <a:extLst xmlns:a="http://schemas.openxmlformats.org/drawingml/2006/main">
              <a:ext uri="{FF2B5EF4-FFF2-40B4-BE49-F238E27FC236}">
                <a16:creationId xmlns:a16="http://schemas.microsoft.com/office/drawing/2014/main" id="{7A0C5AD2-9560-46CF-A557-9D96775B73B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2857500" y="4429125"/>
            <a:ext cx="10210800" cy="9525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按一下以新增副標題</a:t>
            </a:r>
          </a:p>
        </p:txBody>
      </p:sp>
      <p:sp xmlns:a="http://schemas.openxmlformats.org/drawingml/2006/main">
        <p:nvSpPr>
          <p:cNvPr id="4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94FF8C53-65A6-4BE2-B1C3-0860FCD540B7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&lt;#&gt;</a:t>
            </a:fld>
          </a:p>
        </p:txBody>
      </p:sp>
    </p:spTree>
  </p:cSld>
  <p:hf sldNum="1" dt="0" hdr="0" ftr="0"/>
</p:sldLayout>
</file>

<file path=ppt/slideLayouts/slideLayout2.xml><?xml version="1.0" encoding="utf-8"?>
<p:sldLayout xmlns:p="http://schemas.openxmlformats.org/presentationml/2006/main" preserve="1" type="secHead">
  <p:cSld name="章節標題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EAGLE_0">
            <a:extLst xmlns:a="http://schemas.openxmlformats.org/drawingml/2006/main">
              <a:ext uri="{FF2B5EF4-FFF2-40B4-BE49-F238E27FC236}">
                <a16:creationId xmlns:a16="http://schemas.microsoft.com/office/drawing/2014/main" id="{E3969E06-0C81-48D2-BB37-515771E13DCE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2476500" y="3238500"/>
            <a:ext cx="10972800" cy="123825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5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按一下以新增標題</a:t>
            </a:r>
          </a:p>
        </p:txBody>
      </p:sp>
      <p:sp>
        <p:nvSpPr>
          <p:cNvPr id="3" name="EAGLE_2">
            <a:extLst xmlns:a="http://schemas.openxmlformats.org/drawingml/2006/main">
              <a:ext uri="{FF2B5EF4-FFF2-40B4-BE49-F238E27FC236}">
                <a16:creationId xmlns:a16="http://schemas.microsoft.com/office/drawing/2014/main" id="{590865AA-9D35-4748-91A3-B387D561BA4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048000" y="4714875"/>
            <a:ext cx="9829800" cy="857250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按一下以新增章節說明</a:t>
            </a:r>
          </a:p>
        </p:txBody>
      </p:sp>
      <p:sp xmlns:a="http://schemas.openxmlformats.org/drawingml/2006/main">
        <p:nvSpPr>
          <p:cNvPr id="4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1DC12639-B266-46C5-BCF3-45A4D32AE42A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&lt;#&gt;</a:t>
            </a:fld>
          </a:p>
        </p:txBody>
      </p:sp>
    </p:spTree>
  </p:cSld>
  <p:hf sldNum="1" dt="0" hdr="0" ftr="0"/>
</p:sldLayout>
</file>

<file path=ppt/slideLayouts/slideLayout3.xml><?xml version="1.0" encoding="utf-8"?>
<p:sldLayout xmlns:p="http://schemas.openxmlformats.org/presentationml/2006/main" preserve="1" type="obj">
  <p:cSld name="標題及內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EAGLE_0">
            <a:extLst xmlns:a="http://schemas.openxmlformats.org/drawingml/2006/main">
              <a:ext uri="{FF2B5EF4-FFF2-40B4-BE49-F238E27FC236}">
                <a16:creationId xmlns:a16="http://schemas.microsoft.com/office/drawing/2014/main" id="{6EC4DF72-535F-4440-B07D-46BAD5D2A2AE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2286000" y="438150"/>
            <a:ext cx="11353800" cy="104775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按一下以新增標題</a:t>
            </a:r>
          </a:p>
        </p:txBody>
      </p:sp>
      <p:sp>
        <p:nvSpPr>
          <p:cNvPr id="3" name="EAGLE_1">
            <a:extLst xmlns:a="http://schemas.openxmlformats.org/drawingml/2006/main">
              <a:ext uri="{FF2B5EF4-FFF2-40B4-BE49-F238E27FC236}">
                <a16:creationId xmlns:a16="http://schemas.microsoft.com/office/drawing/2014/main" id="{51353937-B2B6-48C4-A2B5-2F27B15E716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2476500" y="1571625"/>
            <a:ext cx="10972800" cy="4572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按一下以新增副標題</a:t>
            </a:r>
          </a:p>
        </p:txBody>
      </p:sp>
      <p:sp>
        <p:nvSpPr>
          <p:cNvPr id="4" name="EAGLE_2">
            <a:extLst xmlns:a="http://schemas.openxmlformats.org/drawingml/2006/main">
              <a:ext uri="{FF2B5EF4-FFF2-40B4-BE49-F238E27FC236}">
                <a16:creationId xmlns:a16="http://schemas.microsoft.com/office/drawing/2014/main" id="{92425B3F-3430-4EDE-B5B3-73C027E72E1D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1428750" y="2619375"/>
            <a:ext cx="13068300" cy="490537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按一下以新增內容</a:t>
            </a:r>
          </a:p>
        </p:txBody>
      </p:sp>
      <p:sp xmlns:a="http://schemas.openxmlformats.org/drawingml/2006/main">
        <p:nvSpPr>
          <p:cNvPr id="5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1ED4EB3D-E8EE-422C-AC16-9B2450B7C42F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&lt;#&gt;</a:t>
            </a:fld>
          </a:p>
        </p:txBody>
      </p:sp>
    </p:spTree>
  </p:cSld>
  <p:hf sldNum="1" dt="0" hdr="0" ftr="0"/>
</p:sldLayout>
</file>

<file path=ppt/slideLayouts/slideLayout4.xml><?xml version="1.0" encoding="utf-8"?>
<p:sldLayout xmlns:p="http://schemas.openxmlformats.org/presentationml/2006/main" preserve="1" type="twoObj">
  <p:cSld name="兩項內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EAGLE_0">
            <a:extLst xmlns:a="http://schemas.openxmlformats.org/drawingml/2006/main">
              <a:ext uri="{FF2B5EF4-FFF2-40B4-BE49-F238E27FC236}">
                <a16:creationId xmlns:a16="http://schemas.microsoft.com/office/drawing/2014/main" id="{3A4791D8-472B-4CB1-9BF5-68D6DDA5E08C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2286000" y="438150"/>
            <a:ext cx="11353800" cy="104775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按一下以新增標題</a:t>
            </a:r>
          </a:p>
        </p:txBody>
      </p:sp>
      <p:sp>
        <p:nvSpPr>
          <p:cNvPr id="3" name="EAGLE_1">
            <a:extLst xmlns:a="http://schemas.openxmlformats.org/drawingml/2006/main">
              <a:ext uri="{FF2B5EF4-FFF2-40B4-BE49-F238E27FC236}">
                <a16:creationId xmlns:a16="http://schemas.microsoft.com/office/drawing/2014/main" id="{302C0C6D-C490-4DDF-92D9-E216E08E1CE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2476500" y="1571625"/>
            <a:ext cx="10972800" cy="4572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按一下以新增副標題</a:t>
            </a:r>
          </a:p>
        </p:txBody>
      </p:sp>
      <p:sp>
        <p:nvSpPr>
          <p:cNvPr id="4" name="EAGLE_2">
            <a:extLst xmlns:a="http://schemas.openxmlformats.org/drawingml/2006/main">
              <a:ext uri="{FF2B5EF4-FFF2-40B4-BE49-F238E27FC236}">
                <a16:creationId xmlns:a16="http://schemas.microsoft.com/office/drawing/2014/main" id="{0892CF96-6BB8-469E-8C05-16E66270671E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1428750" y="2619375"/>
            <a:ext cx="6305550" cy="490537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按一下以新增內容</a:t>
            </a:r>
          </a:p>
        </p:txBody>
      </p:sp>
      <p:sp>
        <p:nvSpPr>
          <p:cNvPr id="5" name="EAGLE_3">
            <a:extLst xmlns:a="http://schemas.openxmlformats.org/drawingml/2006/main">
              <a:ext uri="{FF2B5EF4-FFF2-40B4-BE49-F238E27FC236}">
                <a16:creationId xmlns:a16="http://schemas.microsoft.com/office/drawing/2014/main" id="{00538733-DF1C-4D96-92B6-38724A005A9A}"/>
              </a:ext>
            </a:extLst>
          </p:cNvPr>
          <p:cNvSpPr>
            <a:spLocks xmlns:a="http://schemas.openxmlformats.org/drawingml/2006/main" noGrp="1"/>
          </p:cNvSpPr>
          <p:nvPr>
            <p:ph idx="3"/>
          </p:nvPr>
        </p:nvSpPr>
        <p:spPr>
          <a:xfrm xmlns:a="http://schemas.openxmlformats.org/drawingml/2006/main">
            <a:off x="8191500" y="2619375"/>
            <a:ext cx="6305550" cy="490537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按一下以新增內容</a:t>
            </a:r>
          </a:p>
        </p:txBody>
      </p:sp>
      <p:sp xmlns:a="http://schemas.openxmlformats.org/drawingml/2006/main">
        <p:nvSpPr>
          <p:cNvPr id="6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58176649-BADB-4675-AA89-5F227F3F3954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&lt;#&gt;</a:t>
            </a:fld>
          </a:p>
        </p:txBody>
      </p:sp>
    </p:spTree>
  </p:cSld>
  <p:hf sldNum="1" dt="0" hdr="0" ftr="0"/>
</p:sldLayout>
</file>

<file path=ppt/slideLayouts/slideLayout5.xml><?xml version="1.0" encoding="utf-8"?>
<p:sldLayout xmlns:p="http://schemas.openxmlformats.org/presentationml/2006/main" preserve="1" type="twoTxTwoObj">
  <p:cSld name="比較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EAGLE_0">
            <a:extLst xmlns:a="http://schemas.openxmlformats.org/drawingml/2006/main">
              <a:ext uri="{FF2B5EF4-FFF2-40B4-BE49-F238E27FC236}">
                <a16:creationId xmlns:a16="http://schemas.microsoft.com/office/drawing/2014/main" id="{C4DD0E43-2CD7-44D8-A8DE-10D092170A60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2286000" y="438150"/>
            <a:ext cx="11353800" cy="104775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按一下以新增標題</a:t>
            </a:r>
          </a:p>
        </p:txBody>
      </p:sp>
      <p:sp>
        <p:nvSpPr>
          <p:cNvPr id="3" name="EAGLE_1">
            <a:extLst xmlns:a="http://schemas.openxmlformats.org/drawingml/2006/main">
              <a:ext uri="{FF2B5EF4-FFF2-40B4-BE49-F238E27FC236}">
                <a16:creationId xmlns:a16="http://schemas.microsoft.com/office/drawing/2014/main" id="{076D8F65-D3F7-4349-B3FE-19769F62948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2476500" y="1571625"/>
            <a:ext cx="10972800" cy="4572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按一下以新增副標題</a:t>
            </a:r>
          </a:p>
        </p:txBody>
      </p:sp>
      <p:sp>
        <p:nvSpPr>
          <p:cNvPr id="4" name="EAGLE_2">
            <a:extLst xmlns:a="http://schemas.openxmlformats.org/drawingml/2006/main">
              <a:ext uri="{FF2B5EF4-FFF2-40B4-BE49-F238E27FC236}">
                <a16:creationId xmlns:a16="http://schemas.microsoft.com/office/drawing/2014/main" id="{E2F427F0-C955-46A6-9858-9A50C0C635E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1428750" y="2571750"/>
            <a:ext cx="6305550" cy="61912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按一下以新增欄位標題</a:t>
            </a:r>
          </a:p>
        </p:txBody>
      </p:sp>
      <p:sp>
        <p:nvSpPr>
          <p:cNvPr id="5" name="EAGLE_4">
            <a:extLst xmlns:a="http://schemas.openxmlformats.org/drawingml/2006/main">
              <a:ext uri="{FF2B5EF4-FFF2-40B4-BE49-F238E27FC236}">
                <a16:creationId xmlns:a16="http://schemas.microsoft.com/office/drawing/2014/main" id="{3BB99614-5410-42D4-8D56-3C67339DE590}"/>
              </a:ext>
            </a:extLst>
          </p:cNvPr>
          <p:cNvSpPr>
            <a:spLocks xmlns:a="http://schemas.openxmlformats.org/drawingml/2006/main" noGrp="1"/>
          </p:cNvSpPr>
          <p:nvPr>
            <p:ph idx="3"/>
          </p:nvPr>
        </p:nvSpPr>
        <p:spPr>
          <a:xfrm xmlns:a="http://schemas.openxmlformats.org/drawingml/2006/main">
            <a:off x="1428750" y="3476625"/>
            <a:ext cx="6305550" cy="404812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按一下以新增內容</a:t>
            </a:r>
          </a:p>
        </p:txBody>
      </p:sp>
      <p:sp>
        <p:nvSpPr>
          <p:cNvPr id="6" name="EAGLE_3">
            <a:extLst xmlns:a="http://schemas.openxmlformats.org/drawingml/2006/main">
              <a:ext uri="{FF2B5EF4-FFF2-40B4-BE49-F238E27FC236}">
                <a16:creationId xmlns:a16="http://schemas.microsoft.com/office/drawing/2014/main" id="{A31AD1B3-6BB9-4504-B9C5-087515F7D2D4}"/>
              </a:ext>
            </a:extLst>
          </p:cNvPr>
          <p:cNvSpPr>
            <a:spLocks xmlns:a="http://schemas.openxmlformats.org/drawingml/2006/main" noGrp="1"/>
          </p:cNvSpPr>
          <p:nvPr>
            <p:ph idx="5"/>
          </p:nvPr>
        </p:nvSpPr>
        <p:spPr>
          <a:xfrm xmlns:a="http://schemas.openxmlformats.org/drawingml/2006/main">
            <a:off x="8191500" y="2571750"/>
            <a:ext cx="6305550" cy="61912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按一下以新增欄位標題</a:t>
            </a:r>
          </a:p>
        </p:txBody>
      </p:sp>
      <p:sp>
        <p:nvSpPr>
          <p:cNvPr id="7" name="EAGLE_5">
            <a:extLst xmlns:a="http://schemas.openxmlformats.org/drawingml/2006/main">
              <a:ext uri="{FF2B5EF4-FFF2-40B4-BE49-F238E27FC236}">
                <a16:creationId xmlns:a16="http://schemas.microsoft.com/office/drawing/2014/main" id="{31D81A76-EB56-426E-8AAB-C05D479E14FD}"/>
              </a:ext>
            </a:extLst>
          </p:cNvPr>
          <p:cNvSpPr>
            <a:spLocks xmlns:a="http://schemas.openxmlformats.org/drawingml/2006/main" noGrp="1"/>
          </p:cNvSpPr>
          <p:nvPr>
            <p:ph idx="5"/>
          </p:nvPr>
        </p:nvSpPr>
        <p:spPr>
          <a:xfrm xmlns:a="http://schemas.openxmlformats.org/drawingml/2006/main">
            <a:off x="8191500" y="3476625"/>
            <a:ext cx="6305550" cy="404812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按一下以新增內容</a:t>
            </a:r>
          </a:p>
        </p:txBody>
      </p:sp>
      <p:sp xmlns:a="http://schemas.openxmlformats.org/drawingml/2006/main">
        <p:nvSpPr>
          <p:cNvPr id="8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DAAEABEC-89D6-436E-9471-497DE5F8CC71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&lt;#&gt;</a:t>
            </a:fld>
          </a:p>
        </p:txBody>
      </p:sp>
    </p:spTree>
  </p:cSld>
  <p:hf sldNum="1" dt="0" hdr="0" ftr="0"/>
</p:sldLayout>
</file>

<file path=ppt/slideLayouts/slideLayout6.xml><?xml version="1.0" encoding="utf-8"?>
<p:sldLayout xmlns:p="http://schemas.openxmlformats.org/presentationml/2006/main" preserve="1" type="cust">
  <p:cSld name="三欄內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EAGLE_0">
            <a:extLst xmlns:a="http://schemas.openxmlformats.org/drawingml/2006/main">
              <a:ext uri="{FF2B5EF4-FFF2-40B4-BE49-F238E27FC236}">
                <a16:creationId xmlns:a16="http://schemas.microsoft.com/office/drawing/2014/main" id="{D22686DD-6022-4F4D-883C-A3A2AE4FE63B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2286000" y="438150"/>
            <a:ext cx="11353800" cy="104775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按一下以新增標題</a:t>
            </a:r>
          </a:p>
        </p:txBody>
      </p:sp>
      <p:sp>
        <p:nvSpPr>
          <p:cNvPr id="3" name="EAGLE_1">
            <a:extLst xmlns:a="http://schemas.openxmlformats.org/drawingml/2006/main">
              <a:ext uri="{FF2B5EF4-FFF2-40B4-BE49-F238E27FC236}">
                <a16:creationId xmlns:a16="http://schemas.microsoft.com/office/drawing/2014/main" id="{6D6AF434-5A04-42F0-BBFA-BC92C579986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2476500" y="1571625"/>
            <a:ext cx="10972800" cy="4572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按一下以新增副標題</a:t>
            </a:r>
          </a:p>
        </p:txBody>
      </p:sp>
      <p:sp>
        <p:nvSpPr>
          <p:cNvPr id="4" name="EAGLE_2">
            <a:extLst xmlns:a="http://schemas.openxmlformats.org/drawingml/2006/main">
              <a:ext uri="{FF2B5EF4-FFF2-40B4-BE49-F238E27FC236}">
                <a16:creationId xmlns:a16="http://schemas.microsoft.com/office/drawing/2014/main" id="{FEB69765-384F-41D2-A24F-900B0409C29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1428750" y="2619375"/>
            <a:ext cx="4038600" cy="490537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按一下以新增內容</a:t>
            </a:r>
          </a:p>
        </p:txBody>
      </p:sp>
      <p:sp>
        <p:nvSpPr>
          <p:cNvPr id="5" name="EAGLE_3">
            <a:extLst xmlns:a="http://schemas.openxmlformats.org/drawingml/2006/main">
              <a:ext uri="{FF2B5EF4-FFF2-40B4-BE49-F238E27FC236}">
                <a16:creationId xmlns:a16="http://schemas.microsoft.com/office/drawing/2014/main" id="{BB259B69-1EC0-4318-8F78-3881E3FD7476}"/>
              </a:ext>
            </a:extLst>
          </p:cNvPr>
          <p:cNvSpPr>
            <a:spLocks xmlns:a="http://schemas.openxmlformats.org/drawingml/2006/main" noGrp="1"/>
          </p:cNvSpPr>
          <p:nvPr>
            <p:ph idx="3"/>
          </p:nvPr>
        </p:nvSpPr>
        <p:spPr>
          <a:xfrm xmlns:a="http://schemas.openxmlformats.org/drawingml/2006/main">
            <a:off x="5943600" y="2619375"/>
            <a:ext cx="4038600" cy="490537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按一下以新增內容</a:t>
            </a:r>
          </a:p>
        </p:txBody>
      </p:sp>
      <p:sp>
        <p:nvSpPr>
          <p:cNvPr id="6" name="EAGLE_4">
            <a:extLst xmlns:a="http://schemas.openxmlformats.org/drawingml/2006/main">
              <a:ext uri="{FF2B5EF4-FFF2-40B4-BE49-F238E27FC236}">
                <a16:creationId xmlns:a16="http://schemas.microsoft.com/office/drawing/2014/main" id="{86B9ECF8-06DD-4853-A29A-64E7D62F27ED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10458450" y="2619375"/>
            <a:ext cx="4038600" cy="490537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按一下以新增內容</a:t>
            </a:r>
          </a:p>
        </p:txBody>
      </p:sp>
      <p:sp xmlns:a="http://schemas.openxmlformats.org/drawingml/2006/main">
        <p:nvSpPr>
          <p:cNvPr id="7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534CC2CF-DFA1-4FF2-9601-EFC4BA57938F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&lt;#&gt;</a:t>
            </a:fld>
          </a:p>
        </p:txBody>
      </p:sp>
    </p:spTree>
  </p:cSld>
  <p:hf sldNum="1" dt="0" hdr="0" ftr="0"/>
</p:sldLayout>
</file>

<file path=ppt/slideLayouts/slideLayout7.xml><?xml version="1.0" encoding="utf-8"?>
<p:sldLayout xmlns:p="http://schemas.openxmlformats.org/presentationml/2006/main" preserve="1" type="picTx">
  <p:cSld name="圖片及標題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EAGLE_0">
            <a:extLst xmlns:a="http://schemas.openxmlformats.org/drawingml/2006/main">
              <a:ext uri="{FF2B5EF4-FFF2-40B4-BE49-F238E27FC236}">
                <a16:creationId xmlns:a16="http://schemas.microsoft.com/office/drawing/2014/main" id="{93752F55-AC4A-40BE-B03B-0C040D718409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2286000" y="438150"/>
            <a:ext cx="11353800" cy="104775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按一下以新增標題</a:t>
            </a:r>
          </a:p>
        </p:txBody>
      </p:sp>
      <p:sp>
        <p:nvSpPr>
          <p:cNvPr id="3" name="EAGLE_1">
            <a:extLst xmlns:a="http://schemas.openxmlformats.org/drawingml/2006/main">
              <a:ext uri="{FF2B5EF4-FFF2-40B4-BE49-F238E27FC236}">
                <a16:creationId xmlns:a16="http://schemas.microsoft.com/office/drawing/2014/main" id="{8B7D0469-A4AB-493F-ACBF-E8CB73C3A60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2476500" y="1571625"/>
            <a:ext cx="10972800" cy="4572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按一下以新增副標題</a:t>
            </a:r>
          </a:p>
        </p:txBody>
      </p:sp>
      <p:sp>
        <p:nvSpPr>
          <p:cNvPr id="4" name="EAGLE_2">
            <a:extLst xmlns:a="http://schemas.openxmlformats.org/drawingml/2006/main">
              <a:ext uri="{FF2B5EF4-FFF2-40B4-BE49-F238E27FC236}">
                <a16:creationId xmlns:a16="http://schemas.microsoft.com/office/drawing/2014/main" id="{9089290D-C95F-4404-8DFC-D4901DA1C1BE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2000250" y="2476500"/>
            <a:ext cx="11925300" cy="461962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按一下以新增圖片</a:t>
            </a:r>
          </a:p>
        </p:txBody>
      </p:sp>
      <p:sp>
        <p:nvSpPr>
          <p:cNvPr id="5" name="EAGLE_3">
            <a:extLst xmlns:a="http://schemas.openxmlformats.org/drawingml/2006/main">
              <a:ext uri="{FF2B5EF4-FFF2-40B4-BE49-F238E27FC236}">
                <a16:creationId xmlns:a16="http://schemas.microsoft.com/office/drawing/2014/main" id="{D1E03D6F-4B50-441D-9B62-7C7CF72080CE}"/>
              </a:ext>
            </a:extLst>
          </p:cNvPr>
          <p:cNvSpPr>
            <a:spLocks xmlns:a="http://schemas.openxmlformats.org/drawingml/2006/main" noGrp="1"/>
          </p:cNvSpPr>
          <p:nvPr>
            <p:ph idx="3"/>
          </p:nvPr>
        </p:nvSpPr>
        <p:spPr>
          <a:xfrm xmlns:a="http://schemas.openxmlformats.org/drawingml/2006/main">
            <a:off x="2000250" y="7334250"/>
            <a:ext cx="11925300" cy="666750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按一下以新增圖片說明</a:t>
            </a:r>
          </a:p>
        </p:txBody>
      </p:sp>
      <p:sp xmlns:a="http://schemas.openxmlformats.org/drawingml/2006/main">
        <p:nvSpPr>
          <p:cNvPr id="6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5C3B0106-61B7-472E-AA5A-C33DCAE7DD66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&lt;#&gt;</a:t>
            </a:fld>
          </a:p>
        </p:txBody>
      </p:sp>
    </p:spTree>
  </p:cSld>
  <p:hf sldNum="1" dt="0" hdr="0" ftr="0"/>
</p:sldLayout>
</file>

<file path=ppt/slideLayouts/slideLayout8.xml><?xml version="1.0" encoding="utf-8"?>
<p:sldLayout xmlns:p="http://schemas.openxmlformats.org/presentationml/2006/main" preserve="1" type="objTx">
  <p:cSld name="內容與圖片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EAGLE_0">
            <a:extLst xmlns:a="http://schemas.openxmlformats.org/drawingml/2006/main">
              <a:ext uri="{FF2B5EF4-FFF2-40B4-BE49-F238E27FC236}">
                <a16:creationId xmlns:a16="http://schemas.microsoft.com/office/drawing/2014/main" id="{4E1AFFBC-8DD7-4858-BE9E-DF7B9E845243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2286000" y="438150"/>
            <a:ext cx="11353800" cy="104775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按一下以新增標題</a:t>
            </a:r>
          </a:p>
        </p:txBody>
      </p:sp>
      <p:sp>
        <p:nvSpPr>
          <p:cNvPr id="3" name="EAGLE_1">
            <a:extLst xmlns:a="http://schemas.openxmlformats.org/drawingml/2006/main">
              <a:ext uri="{FF2B5EF4-FFF2-40B4-BE49-F238E27FC236}">
                <a16:creationId xmlns:a16="http://schemas.microsoft.com/office/drawing/2014/main" id="{51E591F6-4009-4737-9C0E-3381B92FB0A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2476500" y="1571625"/>
            <a:ext cx="10972800" cy="4572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按一下以新增副標題</a:t>
            </a:r>
          </a:p>
        </p:txBody>
      </p:sp>
      <p:sp>
        <p:nvSpPr>
          <p:cNvPr id="4" name="EAGLE_2">
            <a:extLst xmlns:a="http://schemas.openxmlformats.org/drawingml/2006/main">
              <a:ext uri="{FF2B5EF4-FFF2-40B4-BE49-F238E27FC236}">
                <a16:creationId xmlns:a16="http://schemas.microsoft.com/office/drawing/2014/main" id="{6277AB01-EE8D-4317-87D9-BEC820CCC3C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1428750" y="2619375"/>
            <a:ext cx="5476875" cy="490537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按一下以新增內容</a:t>
            </a:r>
          </a:p>
        </p:txBody>
      </p:sp>
      <p:sp>
        <p:nvSpPr>
          <p:cNvPr id="5" name="EAGLE_3">
            <a:extLst xmlns:a="http://schemas.openxmlformats.org/drawingml/2006/main">
              <a:ext uri="{FF2B5EF4-FFF2-40B4-BE49-F238E27FC236}">
                <a16:creationId xmlns:a16="http://schemas.microsoft.com/office/drawing/2014/main" id="{882ACEB2-431F-4BBF-8F1B-4F07F63851B4}"/>
              </a:ext>
            </a:extLst>
          </p:cNvPr>
          <p:cNvSpPr>
            <a:spLocks xmlns:a="http://schemas.openxmlformats.org/drawingml/2006/main" noGrp="1"/>
          </p:cNvSpPr>
          <p:nvPr>
            <p:ph idx="3"/>
          </p:nvPr>
        </p:nvSpPr>
        <p:spPr>
          <a:xfrm xmlns:a="http://schemas.openxmlformats.org/drawingml/2006/main">
            <a:off x="7429500" y="2619375"/>
            <a:ext cx="7067550" cy="490537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按一下以新增圖片</a:t>
            </a:r>
          </a:p>
        </p:txBody>
      </p:sp>
      <p:sp xmlns:a="http://schemas.openxmlformats.org/drawingml/2006/main">
        <p:nvSpPr>
          <p:cNvPr id="6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C110DA2E-972D-47CE-8ED2-D648217896EA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&lt;#&gt;</a:t>
            </a:fld>
          </a:p>
        </p:txBody>
      </p:sp>
    </p:spTree>
  </p:cSld>
  <p:hf sldNum="1" dt="0" hdr="0" ftr="0"/>
</p:sldLayout>
</file>

<file path=ppt/slideLayouts/slideLayout9.xml><?xml version="1.0" encoding="utf-8"?>
<p:sldLayout xmlns:p="http://schemas.openxmlformats.org/presentationml/2006/main" preserve="1" type="tbl">
  <p:cSld name="標題及表格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EAGLE_0">
            <a:extLst xmlns:a="http://schemas.openxmlformats.org/drawingml/2006/main">
              <a:ext uri="{FF2B5EF4-FFF2-40B4-BE49-F238E27FC236}">
                <a16:creationId xmlns:a16="http://schemas.microsoft.com/office/drawing/2014/main" id="{3F380ADE-E8BD-4361-83D4-34B395C514E3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2286000" y="438150"/>
            <a:ext cx="11353800" cy="104775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按一下以新增標題</a:t>
            </a:r>
          </a:p>
        </p:txBody>
      </p:sp>
      <p:sp>
        <p:nvSpPr>
          <p:cNvPr id="3" name="EAGLE_1">
            <a:extLst xmlns:a="http://schemas.openxmlformats.org/drawingml/2006/main">
              <a:ext uri="{FF2B5EF4-FFF2-40B4-BE49-F238E27FC236}">
                <a16:creationId xmlns:a16="http://schemas.microsoft.com/office/drawing/2014/main" id="{198BEF13-EEB7-4982-8834-382B045AD4B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2476500" y="1571625"/>
            <a:ext cx="10972800" cy="4572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按一下以新增副標題</a:t>
            </a:r>
          </a:p>
        </p:txBody>
      </p:sp>
      <p:sp>
        <p:nvSpPr>
          <p:cNvPr id="4" name="EAGLE_2">
            <a:extLst xmlns:a="http://schemas.openxmlformats.org/drawingml/2006/main">
              <a:ext uri="{FF2B5EF4-FFF2-40B4-BE49-F238E27FC236}">
                <a16:creationId xmlns:a16="http://schemas.microsoft.com/office/drawing/2014/main" id="{72D86C95-69D7-4516-97E8-EFF008A8DEC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1428750" y="2619375"/>
            <a:ext cx="13068300" cy="490537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按一下以新增表格</a:t>
            </a:r>
          </a:p>
        </p:txBody>
      </p:sp>
      <p:sp xmlns:a="http://schemas.openxmlformats.org/drawingml/2006/main">
        <p:nvSpPr>
          <p:cNvPr id="5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04A177D9-44BB-4EE7-B2EE-483B651A8234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&lt;#&gt;</a:t>
            </a:fld>
          </a:p>
        </p:txBody>
      </p:sp>
    </p:spTree>
  </p:cSld>
  <p:hf sldNum="1" dt="0" hdr="0" ftr="0"/>
</p:sldLayout>
</file>

<file path=ppt/slideLayouts/slideLayout10.xml><?xml version="1.0" encoding="utf-8"?>
<p:sldLayout xmlns:p="http://schemas.openxmlformats.org/presentationml/2006/main" preserve="1" type="chart">
  <p:cSld name="標題及圖表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EAGLE_0">
            <a:extLst xmlns:a="http://schemas.openxmlformats.org/drawingml/2006/main">
              <a:ext uri="{FF2B5EF4-FFF2-40B4-BE49-F238E27FC236}">
                <a16:creationId xmlns:a16="http://schemas.microsoft.com/office/drawing/2014/main" id="{1A30452A-65F7-44A3-A2FA-1CF1F34140ED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2286000" y="438150"/>
            <a:ext cx="11353800" cy="104775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按一下以新增標題</a:t>
            </a:r>
          </a:p>
        </p:txBody>
      </p:sp>
      <p:sp>
        <p:nvSpPr>
          <p:cNvPr id="3" name="EAGLE_1">
            <a:extLst xmlns:a="http://schemas.openxmlformats.org/drawingml/2006/main">
              <a:ext uri="{FF2B5EF4-FFF2-40B4-BE49-F238E27FC236}">
                <a16:creationId xmlns:a16="http://schemas.microsoft.com/office/drawing/2014/main" id="{C07D963E-74AF-48B2-8248-0768C947D07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2476500" y="1571625"/>
            <a:ext cx="10972800" cy="4572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按一下以新增副標題</a:t>
            </a:r>
          </a:p>
        </p:txBody>
      </p:sp>
      <p:sp>
        <p:nvSpPr>
          <p:cNvPr id="4" name="EAGLE_2">
            <a:extLst xmlns:a="http://schemas.openxmlformats.org/drawingml/2006/main">
              <a:ext uri="{FF2B5EF4-FFF2-40B4-BE49-F238E27FC236}">
                <a16:creationId xmlns:a16="http://schemas.microsoft.com/office/drawing/2014/main" id="{6394422A-37D3-4C97-96C5-AF5AE3C8DC4D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1428750" y="2619375"/>
            <a:ext cx="13068300" cy="490537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按一下以新增圖表</a:t>
            </a:r>
          </a:p>
        </p:txBody>
      </p:sp>
      <p:sp xmlns:a="http://schemas.openxmlformats.org/drawingml/2006/main">
        <p:nvSpPr>
          <p:cNvPr id="5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86AA3F53-A20A-43C4-B655-9BABD8BDE394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&lt;#&gt;</a:t>
            </a:fld>
          </a:p>
        </p:txBody>
      </p:sp>
    </p:spTree>
  </p:cSld>
  <p:hf sldNum="1" dt="0" hdr="0" ftr="0"/>
</p:sldLayout>
</file>

<file path=ppt/slideLayouts/slideLayout11.xml><?xml version="1.0" encoding="utf-8"?>
<p:sldLayout xmlns:p="http://schemas.openxmlformats.org/presentationml/2006/main" preserve="1" type="titleOnly">
  <p:cSld name="僅標題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EAGLE_0">
            <a:extLst xmlns:a="http://schemas.openxmlformats.org/drawingml/2006/main">
              <a:ext uri="{FF2B5EF4-FFF2-40B4-BE49-F238E27FC236}">
                <a16:creationId xmlns:a16="http://schemas.microsoft.com/office/drawing/2014/main" id="{2F1A0662-494B-4627-BCEA-708F46AE5F74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2286000" y="438150"/>
            <a:ext cx="11353800" cy="104775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按一下以新增標題</a:t>
            </a:r>
          </a:p>
        </p:txBody>
      </p:sp>
      <p:sp>
        <p:nvSpPr>
          <p:cNvPr id="3" name="EAGLE_1">
            <a:extLst xmlns:a="http://schemas.openxmlformats.org/drawingml/2006/main">
              <a:ext uri="{FF2B5EF4-FFF2-40B4-BE49-F238E27FC236}">
                <a16:creationId xmlns:a16="http://schemas.microsoft.com/office/drawing/2014/main" id="{5E4D67E8-1093-453A-AE8D-20B1DE405F8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2476500" y="1571625"/>
            <a:ext cx="10972800" cy="4572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按一下以新增副標題</a:t>
            </a:r>
          </a:p>
        </p:txBody>
      </p:sp>
      <p:sp xmlns:a="http://schemas.openxmlformats.org/drawingml/2006/main">
        <p:nvSpPr>
          <p:cNvPr id="4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EFA42C01-117D-4BA1-BE6C-78A506A620BB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&lt;#&gt;</a:t>
            </a:fld>
          </a:p>
        </p:txBody>
      </p:sp>
    </p:spTree>
  </p:cSld>
  <p:hf sldNum="1" dt="0" hdr="0" ftr="0"/>
</p:sldLayout>
</file>

<file path=ppt/slideLayouts/slideLayout12.xml><?xml version="1.0" encoding="utf-8"?>
<p:sldLayout xmlns:p="http://schemas.openxmlformats.org/presentationml/2006/main" preserve="1" type="blank">
  <p:cSld name="空白"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2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28360F44-9DDB-4760-BE5D-FBB78FF4F621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&lt;#&gt;</a:t>
            </a:fld>
          </a:p>
        </p:txBody>
      </p:sp>
    </p:spTree>
  </p:cSld>
  <p:hf sldNum="1" dt="0" hdr="0" ftr="0"/>
</p:sldLayout>
</file>

<file path=ppt/slideMasters/_rels/slideMaster1.xml.rels><?xml version='1.0' encoding='UTF-8' standalone='yes'?>
<Relationships xmlns="http://schemas.openxmlformats.org/package/2006/relationships"><Relationship Id="rIdLayout1" Type="http://schemas.openxmlformats.org/officeDocument/2006/relationships/slideLayout" Target="../slideLayouts/slideLayout1.xml"/><Relationship Id="rIdLayout2" Type="http://schemas.openxmlformats.org/officeDocument/2006/relationships/slideLayout" Target="../slideLayouts/slideLayout2.xml"/><Relationship Id="rIdLayout3" Type="http://schemas.openxmlformats.org/officeDocument/2006/relationships/slideLayout" Target="../slideLayouts/slideLayout3.xml"/><Relationship Id="rIdLayout4" Type="http://schemas.openxmlformats.org/officeDocument/2006/relationships/slideLayout" Target="../slideLayouts/slideLayout4.xml"/><Relationship Id="rIdLayout5" Type="http://schemas.openxmlformats.org/officeDocument/2006/relationships/slideLayout" Target="../slideLayouts/slideLayout5.xml"/><Relationship Id="rIdLayout6" Type="http://schemas.openxmlformats.org/officeDocument/2006/relationships/slideLayout" Target="../slideLayouts/slideLayout6.xml"/><Relationship Id="rIdLayout7" Type="http://schemas.openxmlformats.org/officeDocument/2006/relationships/slideLayout" Target="../slideLayouts/slideLayout7.xml"/><Relationship Id="rIdLayout8" Type="http://schemas.openxmlformats.org/officeDocument/2006/relationships/slideLayout" Target="../slideLayouts/slideLayout8.xml"/><Relationship Id="rIdLayout9" Type="http://schemas.openxmlformats.org/officeDocument/2006/relationships/slideLayout" Target="../slideLayouts/slideLayout9.xml"/><Relationship Id="rIdLayout10" Type="http://schemas.openxmlformats.org/officeDocument/2006/relationships/slideLayout" Target="../slideLayouts/slideLayout10.xml"/><Relationship Id="rIdLayout11" Type="http://schemas.openxmlformats.org/officeDocument/2006/relationships/slideLayout" Target="../slideLayouts/slideLayout11.xml"/><Relationship Id="rIdLayout12" Type="http://schemas.openxmlformats.org/officeDocument/2006/relationships/slideLayout" Target="../slideLayouts/slideLayout12.xml"/><Relationship Id="rIdTheme" Type="http://schemas.openxmlformats.org/officeDocument/2006/relationships/theme" Target="../theme/theme1.xml"/><Relationship Id="rIdBackground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EAG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EAGLE geometric full-slide background"/>
          <p:cNvPicPr>
            <a:picLocks noChangeAspect="1"/>
          </p:cNvPicPr>
          <p:nvPr/>
        </p:nvPicPr>
        <p:blipFill>
          <a:blip r:embed="rIdBackground"/>
          <a:stretch>
            <a:fillRect/>
          </a:stretch>
        </p:blipFill>
        <p:spPr>
          <a:xfrm>
            <a:off x="0" y="0"/>
            <a:ext cx="15925800" cy="8963025"/>
          </a:xfrm>
          <a:prstGeom prst="rect">
            <a:avLst/>
          </a:prstGeom>
        </p:spPr>
      </p:pic>
      <p:sp>
        <p:nvSpPr>
          <p:cNvPr id="3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F71BC431-0EC4-43B1-8E1D-CB4D6212917A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&lt;#&gt;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Layout1"/>
    <p:sldLayoutId id="2147483650" r:id="rIdLayout2"/>
    <p:sldLayoutId id="2147483651" r:id="rIdLayout3"/>
    <p:sldLayoutId id="2147483652" r:id="rIdLayout4"/>
    <p:sldLayoutId id="2147483653" r:id="rIdLayout5"/>
    <p:sldLayoutId id="2147483654" r:id="rIdLayout6"/>
    <p:sldLayoutId id="2147483655" r:id="rIdLayout7"/>
    <p:sldLayoutId id="2147483656" r:id="rIdLayout8"/>
    <p:sldLayoutId id="2147483657" r:id="rIdLayout9"/>
    <p:sldLayoutId id="2147483658" r:id="rIdLayout10"/>
    <p:sldLayoutId id="2147483659" r:id="rIdLayout11"/>
    <p:sldLayoutId id="2147483660" r:id="rIdLayout12"/>
  </p:sldLayoutIdLst>
  <p:hf sldNum="1" dt="0" hdr="0" ftr="0"/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Source Han Serif TW"/>
          <a:ea typeface="Source Han Serif TW"/>
          <a:cs typeface="Source Han Serif TW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Source Han Serif TW"/>
          <a:ea typeface="Source Han Serif TW"/>
          <a:cs typeface="Source Han Serif TW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Source Han Serif TW"/>
          <a:ea typeface="Source Han Serif TW"/>
          <a:cs typeface="Source Han Serif TW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Source Han Serif TW"/>
          <a:ea typeface="Source Han Serif TW"/>
          <a:cs typeface="Source Han Serif TW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1pPr>
      <a:lvl2pPr marL="457200" algn="l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2pPr>
      <a:lvl3pPr marL="914400" algn="l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3pPr>
      <a:lvl4pPr marL="1371600" algn="l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4pPr>
      <a:lvl5pPr marL="1828800" algn="l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5pPr>
      <a:lvl6pPr marL="2286000" algn="l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6pPr>
      <a:lvl7pPr marL="2743200" algn="l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7pPr>
      <a:lvl8pPr marL="3200400" algn="l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8pPr>
      <a:lvl9pPr marL="3657600" algn="l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9pPr>
    </p:otherStyle>
  </p:txStyles>
</p:sldMaster>
</file>

<file path=ppt/slides/_rels/slide1.xml.rels><?xml version='1.0' encoding='utf-8'?>
<Relationships xmlns="http://schemas.openxmlformats.org/package/2006/relationships"><Relationship Type="http://schemas.openxmlformats.org/officeDocument/2006/relationships/slideLayout" Target="../slideLayouts/slideLayout9.xml" Id="R4bb4a1d5a1c94613" /><Relationship Type="http://schemas.openxmlformats.org/officeDocument/2006/relationships/notesSlide" Target="/ppt/notesSlides/notesSlide1.xml" Id="R29b691fd54e34368" /></Relationships>
</file>

<file path=ppt/slides/_rels/slide2.xml.rels><?xml version='1.0' encoding='utf-8'?>
<Relationships xmlns="http://schemas.openxmlformats.org/package/2006/relationships"><Relationship Type="http://schemas.openxmlformats.org/officeDocument/2006/relationships/slideLayout" Target="../slideLayouts/slideLayout9.xml" Id="R4f94c59316fc4443" /><Relationship Type="http://schemas.openxmlformats.org/officeDocument/2006/relationships/notesSlide" Target="/ppt/notesSlides/notesSlide2.xml" Id="R27b14b45d3684d4b" /></Relationships>
</file>

<file path=ppt/slides/_rels/slide3.xml.rels><?xml version='1.0' encoding='utf-8'?>
<Relationships xmlns="http://schemas.openxmlformats.org/package/2006/relationships"><Relationship Type="http://schemas.openxmlformats.org/officeDocument/2006/relationships/slideLayout" Target="../slideLayouts/slideLayout3.xml" Id="Ra9090f9363a14652" /><Relationship Type="http://schemas.openxmlformats.org/officeDocument/2006/relationships/notesSlide" Target="/ppt/notesSlides/notesSlide3.xml" Id="R8d476b7cf96e4cce" /></Relationships>
</file>

<file path=ppt/slides/_rels/slide4.xml.rels><?xml version='1.0' encoding='utf-8'?>
<Relationships xmlns="http://schemas.openxmlformats.org/package/2006/relationships"><Relationship Type="http://schemas.openxmlformats.org/officeDocument/2006/relationships/slideLayout" Target="../slideLayouts/slideLayout10.xml" Id="Rf312bce98a944201" /><Relationship Type="http://schemas.openxmlformats.org/officeDocument/2006/relationships/chart" Target="/ppt/slides/charts/chart1.xml" Id="Re380e6d888234991" /><Relationship Type="http://schemas.openxmlformats.org/officeDocument/2006/relationships/notesSlide" Target="/ppt/notesSlides/notesSlide4.xml" Id="Ra6e2c7f049834bfe" /></Relationships>
</file>

<file path=ppt/slides/_rels/slide5.xml.rels><?xml version='1.0' encoding='utf-8'?>
<Relationships xmlns="http://schemas.openxmlformats.org/package/2006/relationships"><Relationship Type="http://schemas.openxmlformats.org/officeDocument/2006/relationships/slideLayout" Target="../slideLayouts/slideLayout10.xml" Id="Rbb7f303f3dc14aa9" /><Relationship Type="http://schemas.openxmlformats.org/officeDocument/2006/relationships/chart" Target="/ppt/slides/charts/chart2.xml" Id="Rd36684355b7a4c4e" /><Relationship Type="http://schemas.openxmlformats.org/officeDocument/2006/relationships/notesSlide" Target="/ppt/notesSlides/notesSlide5.xml" Id="R1807d240b8b9494a" /></Relationships>
</file>

<file path=ppt/slides/_rels/slide6.xml.rels><?xml version='1.0' encoding='utf-8'?>
<Relationships xmlns="http://schemas.openxmlformats.org/package/2006/relationships"><Relationship Type="http://schemas.openxmlformats.org/officeDocument/2006/relationships/slideLayout" Target="../slideLayouts/slideLayout10.xml" Id="Refda5668ff2a47c8" /><Relationship Type="http://schemas.openxmlformats.org/officeDocument/2006/relationships/chart" Target="/ppt/slides/charts/chart3.xml" Id="R71f149f42f92436d" /><Relationship Type="http://schemas.openxmlformats.org/officeDocument/2006/relationships/notesSlide" Target="/ppt/notesSlides/notesSlide6.xml" Id="R66760920728e4aeb" /></Relationships>
</file>

<file path=ppt/slides/_rels/slide7.xml.rels><?xml version='1.0' encoding='utf-8'?>
<Relationships xmlns="http://schemas.openxmlformats.org/package/2006/relationships"><Relationship Type="http://schemas.openxmlformats.org/officeDocument/2006/relationships/slideLayout" Target="../slideLayouts/slideLayout9.xml" Id="R3622d4b3b8614216" /><Relationship Type="http://schemas.openxmlformats.org/officeDocument/2006/relationships/notesSlide" Target="/ppt/notesSlides/notesSlide7.xml" Id="R4e905ee244b4416b" /></Relationships>
</file>

<file path=ppt/slides/_rels/slide8.xml.rels><?xml version='1.0' encoding='utf-8'?>
<Relationships xmlns="http://schemas.openxmlformats.org/package/2006/relationships"><Relationship Type="http://schemas.openxmlformats.org/officeDocument/2006/relationships/slideLayout" Target="../slideLayouts/slideLayout9.xml" Id="R4e06a595de2c400f" /><Relationship Type="http://schemas.openxmlformats.org/officeDocument/2006/relationships/notesSlide" Target="/ppt/notesSlides/notesSlide8.xml" Id="Rd25dbe716bec4e97" /></Relationships>
</file>

<file path=ppt/slides/_rels/slide9.xml.rels><?xml version='1.0' encoding='utf-8'?>
<Relationships xmlns="http://schemas.openxmlformats.org/package/2006/relationships"><Relationship Type="http://schemas.openxmlformats.org/officeDocument/2006/relationships/slideLayout" Target="../slideLayouts/slideLayout9.xml" Id="Rbb6866573ed74647" /><Relationship Type="http://schemas.openxmlformats.org/officeDocument/2006/relationships/notesSlide" Target="/ppt/notesSlides/notesSlide9.xml" Id="Rad9e8a7eaa154e05" /></Relationships>
</file>

<file path=ppt/slides/_rels/slide10.xml.rels><?xml version='1.0' encoding='utf-8'?>
<Relationships xmlns="http://schemas.openxmlformats.org/package/2006/relationships"><Relationship Type="http://schemas.openxmlformats.org/officeDocument/2006/relationships/slideLayout" Target="../slideLayouts/slideLayout9.xml" Id="R18a93f6bd7884ce1" /><Relationship Type="http://schemas.openxmlformats.org/officeDocument/2006/relationships/notesSlide" Target="/ppt/notesSlides/notesSlide10.xml" Id="R3d35a74f97d3424d" /></Relationships>
</file>

<file path=ppt/slides/_rels/slide11.xml.rels><?xml version='1.0' encoding='utf-8'?>
<Relationships xmlns="http://schemas.openxmlformats.org/package/2006/relationships"><Relationship Type="http://schemas.openxmlformats.org/officeDocument/2006/relationships/slideLayout" Target="../slideLayouts/slideLayout10.xml" Id="R1ad7d897ff9f437e" /><Relationship Type="http://schemas.openxmlformats.org/officeDocument/2006/relationships/chart" Target="/ppt/slides/charts/chart4.xml" Id="R444356c7549b49f4" /><Relationship Type="http://schemas.openxmlformats.org/officeDocument/2006/relationships/notesSlide" Target="/ppt/notesSlides/notesSlide11.xml" Id="R0797b55ec50a412a" /></Relationships>
</file>

<file path=ppt/slides/_rels/slide12.xml.rels><?xml version='1.0' encoding='utf-8'?>
<Relationships xmlns="http://schemas.openxmlformats.org/package/2006/relationships"><Relationship Type="http://schemas.openxmlformats.org/officeDocument/2006/relationships/slideLayout" Target="../slideLayouts/slideLayout3.xml" Id="R97aa2e1361524fe0" /><Relationship Type="http://schemas.openxmlformats.org/officeDocument/2006/relationships/notesSlide" Target="/ppt/notesSlides/notesSlide12.xml" Id="Rd13ca8507da746d0" /></Relationships>
</file>

<file path=ppt/slides/_rels/slide13.xml.rels><?xml version='1.0' encoding='utf-8'?>
<Relationships xmlns="http://schemas.openxmlformats.org/package/2006/relationships"><Relationship Type="http://schemas.openxmlformats.org/officeDocument/2006/relationships/slideLayout" Target="../slideLayouts/slideLayout9.xml" Id="R5d91cc9a47534145" /><Relationship Type="http://schemas.openxmlformats.org/officeDocument/2006/relationships/notesSlide" Target="/ppt/notesSlides/notesSlide13.xml" Id="R2fed80f4a92d48db" /></Relationships>
</file>

<file path=ppt/slides/_rels/slide14.xml.rels><?xml version='1.0' encoding='utf-8'?>
<Relationships xmlns="http://schemas.openxmlformats.org/package/2006/relationships"><Relationship Type="http://schemas.openxmlformats.org/officeDocument/2006/relationships/slideLayout" Target="../slideLayouts/slideLayout9.xml" Id="Rd5501ba08ab64d27" /><Relationship Type="http://schemas.openxmlformats.org/officeDocument/2006/relationships/notesSlide" Target="/ppt/notesSlides/notesSlide14.xml" Id="Rafe17bd0038f4a70" /></Relationships>
</file>

<file path=ppt/slides/_rels/slide15.xml.rels><?xml version='1.0' encoding='utf-8'?>
<Relationships xmlns="http://schemas.openxmlformats.org/package/2006/relationships"><Relationship Type="http://schemas.openxmlformats.org/officeDocument/2006/relationships/slideLayout" Target="../slideLayouts/slideLayout3.xml" Id="R75bbc90ccf0a4ec0" /><Relationship Type="http://schemas.openxmlformats.org/officeDocument/2006/relationships/notesSlide" Target="/ppt/notesSlides/notesSlide15.xml" Id="R06b2d200babf47d4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chart1.xml><?xml version="1.0" encoding="utf-8"?>
<ns0:chartSpace xmlns:a="http://schemas.openxmlformats.org/drawingml/2006/main" xmlns:ns0="http://schemas.openxmlformats.org/drawingml/2006/chart" xmlns:r="http://schemas.openxmlformats.org/officeDocument/2006/relationships">
  <ns0:lang val="en-US"/>
  <ns0:chart>
    <ns0:plotArea>
      <ns0:barChart>
        <ns0:barDir val="bar"/>
        <ns0:grouping val="stacked"/>
        <ns0:varyColors val="0"/>
        <ns0:ser>
          <ns0:idx val="0"/>
          <ns0:order val="0"/>
          <ns0:tx>
            <ns0:v>Win</ns0:v>
          </ns0:tx>
          <ns0:spPr>
            <a:solidFill>
              <a:srgbClr val="C69B45"/>
            </a:solidFill>
          </ns0:spPr>
          <ns0:cat>
            <ns0:strRef>
              <ns0:f>'Chart Data'!$A$2:$A$4</ns0:f>
              <ns0:strCache>
                <ns0:ptCount val="3"/>
                <ns0:pt idx="0">
                  <ns0:v>Fixed-roster 10×20</ns0:v>
                </ns0:pt>
                <ns0:pt idx="1">
                  <ns0:v>Self-play 10×20</ns0:v>
                </ns0:pt>
                <ns0:pt idx="2">
                  <ns0:v>Self-play 5×40</ns0:v>
                </ns0:pt>
              </ns0:strCache>
            </ns0:strRef>
          </ns0:cat>
          <ns0:val>
            <ns0:numRef>
              <ns0:f>'Chart Data'!$B$2:$B$4</ns0:f>
              <ns0:numCache>
                <ns0:formatCode>General</ns0:formatCode>
                <ns0:ptCount val="3"/>
                <ns0:pt idx="0">
                  <ns0:v>256</ns0:v>
                </ns0:pt>
                <ns0:pt idx="1">
                  <ns0:v>0</ns0:v>
                </ns0:pt>
                <ns0:pt idx="2">
                  <ns0:v>197</ns0:v>
                </ns0:pt>
              </ns0:numCache>
            </ns0:numRef>
          </ns0:val>
        </ns0:ser>
        <ns0:ser>
          <ns0:idx val="1"/>
          <ns0:order val="1"/>
          <ns0:tx>
            <ns0:v>Draw</ns0:v>
          </ns0:tx>
          <ns0:spPr>
            <a:solidFill>
              <a:srgbClr val="CF8792"/>
            </a:solidFill>
          </ns0:spPr>
          <ns0:cat>
            <ns0:strRef>
              <ns0:f>'Chart Data'!$C$2:$C$4</ns0:f>
              <ns0:strCache>
                <ns0:ptCount val="3"/>
                <ns0:pt idx="0">
                  <ns0:v>Fixed-roster 10×20</ns0:v>
                </ns0:pt>
                <ns0:pt idx="1">
                  <ns0:v>Self-play 10×20</ns0:v>
                </ns0:pt>
                <ns0:pt idx="2">
                  <ns0:v>Self-play 5×40</ns0:v>
                </ns0:pt>
              </ns0:strCache>
            </ns0:strRef>
          </ns0:cat>
          <ns0:val>
            <ns0:numRef>
              <ns0:f>'Chart Data'!$D$2:$D$4</ns0:f>
              <ns0:numCache>
                <ns0:formatCode>General</ns0:formatCode>
                <ns0:ptCount val="3"/>
                <ns0:pt idx="0">
                  <ns0:v>12</ns0:v>
                </ns0:pt>
                <ns0:pt idx="1">
                  <ns0:v>151</ns0:v>
                </ns0:pt>
                <ns0:pt idx="2">
                  <ns0:v>11</ns0:v>
                </ns0:pt>
              </ns0:numCache>
            </ns0:numRef>
          </ns0:val>
        </ns0:ser>
        <ns0:ser>
          <ns0:idx val="2"/>
          <ns0:order val="2"/>
          <ns0:tx>
            <ns0:v>Loss</ns0:v>
          </ns0:tx>
          <ns0:spPr>
            <a:solidFill>
              <a:srgbClr val="E9DADB"/>
            </a:solidFill>
          </ns0:spPr>
          <ns0:cat>
            <ns0:strRef>
              <ns0:f>'Chart Data'!$E$2:$E$4</ns0:f>
              <ns0:strCache>
                <ns0:ptCount val="3"/>
                <ns0:pt idx="0">
                  <ns0:v>Fixed-roster 10×20</ns0:v>
                </ns0:pt>
                <ns0:pt idx="1">
                  <ns0:v>Self-play 10×20</ns0:v>
                </ns0:pt>
                <ns0:pt idx="2">
                  <ns0:v>Self-play 5×40</ns0:v>
                </ns0:pt>
              </ns0:strCache>
            </ns0:strRef>
          </ns0:cat>
          <ns0:val>
            <ns0:numRef>
              <ns0:f>'Chart Data'!$F$2:$F$4</ns0:f>
              <ns0:numCache>
                <ns0:formatCode>General</ns0:formatCode>
                <ns0:ptCount val="3"/>
                <ns0:pt idx="0">
                  <ns0:v>332</ns0:v>
                </ns0:pt>
                <ns0:pt idx="1">
                  <ns0:v>449</ns0:v>
                </ns0:pt>
                <ns0:pt idx="2">
                  <ns0:v>392</ns0:v>
                </ns0:pt>
              </ns0:numCache>
            </ns0:numRef>
          </ns0:val>
        </ns0:ser>
        <ns0:dLbls>
          <ns0:txPr>
            <a:bodyPr anchorCtr="1"/>
            <a:lstStyle/>
            <a:p>
              <a:pPr>
                <a:defRPr sz="1725">
                  <a:latin typeface="Source Han Serif TW"/>
                  <a:ea typeface="Source Han Serif TW"/>
                  <a:cs typeface="Source Han Serif TW"/>
                </a:defRPr>
              </a:pPr>
            </a:p>
          </ns0:txPr>
          <ns0:dLblPos val="ctr"/>
          <ns0:showLegendKey val="0"/>
          <ns0:showVal val="1"/>
          <ns0:showCatName val="0"/>
          <ns0:showSerName val="0"/>
          <ns0:showPercent val="0"/>
          <ns0:showBubbleSize val="0"/>
          <ns0:showLeaderLines val="0"/>
        </ns0:dLbls>
        <ns0:gapWidth val="100"/>
        <ns0:overlap val="100"/>
        <ns0:axId val="48650112"/>
        <ns0:axId val="48672768"/>
      </ns0:barChart>
      <ns0:catAx>
        <ns0:axId val="48650112"/>
        <ns0:scaling>
          <ns0:orientation val="minMax"/>
        </ns0:scaling>
        <ns0:delete val="0"/>
        <ns0:axPos val="l"/>
        <ns0:numFmt formatCode="General"/>
        <ns0:majorTickMark val="none"/>
        <ns0:minorTickMark val="none"/>
        <ns0:spPr>
          <a:ln w="9525">
            <a:solidFill>
              <a:srgbClr val="D4D4D4"/>
            </a:solidFill>
            <a:prstDash val="solid"/>
          </a:ln>
        </ns0:spPr>
        <ns0:txPr>
          <a:bodyPr anchorCtr="1"/>
          <a:lstStyle/>
          <a:p>
            <a:pPr>
              <a:defRPr sz="1639">
                <a:solidFill>
                  <a:srgbClr val="666666"/>
                </a:solidFill>
                <a:latin typeface="Source Han Serif TW"/>
                <a:ea typeface="Source Han Serif TW"/>
                <a:cs typeface="Source Han Serif TW"/>
              </a:defRPr>
            </a:pPr>
          </a:p>
        </ns0:txPr>
        <ns0:crossAx val="48672768"/>
      </ns0:catAx>
      <ns0:valAx>
        <ns0:axId val="48672768"/>
        <ns0:scaling>
          <ns0:orientation val="minMax"/>
          <ns0:max val="600"/>
          <ns0:min val="0"/>
        </ns0:scaling>
        <ns0:delete val="0"/>
        <ns0:axPos val="b"/>
        <ns0:numFmt formatCode="General"/>
        <ns0:majorTickMark val="none"/>
        <ns0:minorTickMark val="none"/>
        <ns0:spPr>
          <a:ln w="9525">
            <a:solidFill>
              <a:srgbClr val="D4D4D4"/>
            </a:solidFill>
            <a:prstDash val="solid"/>
          </a:ln>
        </ns0:spPr>
        <ns0:txPr>
          <a:bodyPr anchorCtr="1"/>
          <a:lstStyle/>
          <a:p>
            <a:pPr>
              <a:defRPr sz="1552">
                <a:solidFill>
                  <a:srgbClr val="666666"/>
                </a:solidFill>
                <a:latin typeface="Source Han Serif TW"/>
                <a:ea typeface="Source Han Serif TW"/>
                <a:cs typeface="Source Han Serif TW"/>
              </a:defRPr>
            </a:pPr>
          </a:p>
        </ns0:txPr>
        <ns0:crossAx val="48650112"/>
        <ns0:crossBetween val="between"/>
        <ns0:majorUnit val="100"/>
      </ns0:valAx>
      <ns0:spPr>
        <a:solidFill>
          <a:srgbClr val="FCF8F5"/>
        </a:solidFill>
      </ns0:spPr>
    </ns0:plotArea>
    <ns0:legend>
      <ns0:legendPos val="b"/>
      <ns0:overlay val="0"/>
      <ns0:txPr>
        <a:bodyPr anchorCtr="1"/>
        <a:lstStyle/>
        <a:p>
          <a:pPr>
            <a:defRPr sz="1639">
              <a:latin typeface="Source Han Serif TW"/>
              <a:ea typeface="Source Han Serif TW"/>
              <a:cs typeface="Source Han Serif TW"/>
            </a:defRPr>
          </a:pPr>
        </a:p>
      </ns0:txPr>
    </ns0:legend>
    <ns0:plotVisOnly val="1"/>
  </ns0:chart>
  <ns0:spPr>
    <a:solidFill>
      <a:srgbClr val="FCF8F5"/>
    </a:solidFill>
  </ns0:spPr>
  <ns0:externalData r:id="rIdChartSnapshot1">
    <ns0:autoUpdate val="0"/>
  </ns0:externalData>
</ns0:chartSpace>
</file>

<file path=ppt/slides/charts/chart2.xml><?xml version="1.0" encoding="utf-8"?>
<ns0:chartSpace xmlns:a="http://schemas.openxmlformats.org/drawingml/2006/main" xmlns:ns0="http://schemas.openxmlformats.org/drawingml/2006/chart" xmlns:r="http://schemas.openxmlformats.org/officeDocument/2006/relationships">
  <ns0:lang val="en-US"/>
  <ns0:chart>
    <ns0:plotArea>
      <ns0:barChart>
        <ns0:barDir val="col"/>
        <ns0:grouping val="clustered"/>
        <ns0:varyColors val="0"/>
        <ns0:ser>
          <ns0:idx val="0"/>
          <ns0:order val="0"/>
          <ns0:tx>
            <ns0:v>Fixed-roster 10×20</ns0:v>
          </ns0:tx>
          <ns0:spPr>
            <a:solidFill>
              <a:srgbClr val="47171C"/>
            </a:solidFill>
          </ns0:spPr>
          <ns0:cat>
            <ns0:strRef>
              <ns0:f>'Chart Data'!$A$2:$A$7</ns0:f>
              <ns0:strCache>
                <ns0:ptCount val="6"/>
                <ns0:pt idx="0">
                  <ns0:v>Passive</ns0:v>
                </ns0:pt>
                <ns0:pt idx="1">
                  <ns0:v>Random</ns0:v>
                </ns0:pt>
                <ns0:pt idx="2">
                  <ns0:v>RandomBiased</ns0:v>
                </ns0:pt>
                <ns0:pt idx="3">
                  <ns0:v>LightRush</ns0:v>
                </ns0:pt>
                <ns0:pt idx="4">
                  <ns0:v>HeavyRush</ns0:v>
                </ns0:pt>
                <ns0:pt idx="5">
                  <ns0:v>COAC</ns0:v>
                </ns0:pt>
              </ns0:strCache>
            </ns0:strRef>
          </ns0:cat>
          <ns0:val>
            <ns0:numRef>
              <ns0:f>'Chart Data'!$B$2:$B$7</ns0:f>
              <ns0:numCache>
                <ns0:formatCode>General</ns0:formatCode>
                <ns0:ptCount val="6"/>
                <ns0:pt idx="0">
                  <ns0:v>60</ns0:v>
                </ns0:pt>
                <ns0:pt idx="1">
                  <ns0:v>59</ns0:v>
                </ns0:pt>
                <ns0:pt idx="2">
                  <ns0:v>57</ns0:v>
                </ns0:pt>
                <ns0:pt idx="3">
                  <ns0:v>30</ns0:v>
                </ns0:pt>
                <ns0:pt idx="4">
                  <ns0:v>40</ns0:v>
                </ns0:pt>
                <ns0:pt idx="5">
                  <ns0:v>10</ns0:v>
                </ns0:pt>
              </ns0:numCache>
            </ns0:numRef>
          </ns0:val>
        </ns0:ser>
        <ns0:ser>
          <ns0:idx val="1"/>
          <ns0:order val="1"/>
          <ns0:tx>
            <ns0:v>Self-play 5×40</ns0:v>
          </ns0:tx>
          <ns0:spPr>
            <a:solidFill>
              <a:srgbClr val="9B7131"/>
            </a:solidFill>
          </ns0:spPr>
          <ns0:cat>
            <ns0:strRef>
              <ns0:f>'Chart Data'!$C$2:$C$7</ns0:f>
              <ns0:strCache>
                <ns0:ptCount val="6"/>
                <ns0:pt idx="0">
                  <ns0:v>Passive</ns0:v>
                </ns0:pt>
                <ns0:pt idx="1">
                  <ns0:v>Random</ns0:v>
                </ns0:pt>
                <ns0:pt idx="2">
                  <ns0:v>RandomBiased</ns0:v>
                </ns0:pt>
                <ns0:pt idx="3">
                  <ns0:v>LightRush</ns0:v>
                </ns0:pt>
                <ns0:pt idx="4">
                  <ns0:v>HeavyRush</ns0:v>
                </ns0:pt>
                <ns0:pt idx="5">
                  <ns0:v>COAC</ns0:v>
                </ns0:pt>
              </ns0:strCache>
            </ns0:strRef>
          </ns0:cat>
          <ns0:val>
            <ns0:numRef>
              <ns0:f>'Chart Data'!$D$2:$D$7</ns0:f>
              <ns0:numCache>
                <ns0:formatCode>General</ns0:formatCode>
                <ns0:ptCount val="6"/>
                <ns0:pt idx="0">
                  <ns0:v>60</ns0:v>
                </ns0:pt>
                <ns0:pt idx="1">
                  <ns0:v>60</ns0:v>
                </ns0:pt>
                <ns0:pt idx="2">
                  <ns0:v>57</ns0:v>
                </ns0:pt>
                <ns0:pt idx="3">
                  <ns0:v>10</ns0:v>
                </ns0:pt>
                <ns0:pt idx="4">
                  <ns0:v>10</ns0:v>
                </ns0:pt>
                <ns0:pt idx="5">
                  <ns0:v>0</ns0:v>
                </ns0:pt>
              </ns0:numCache>
            </ns0:numRef>
          </ns0:val>
        </ns0:ser>
        <ns0:dLbls>
          <ns0:txPr>
            <a:bodyPr anchorCtr="1"/>
            <a:lstStyle/>
            <a:p>
              <a:pPr>
                <a:defRPr sz="1725">
                  <a:latin typeface="Source Han Serif TW"/>
                  <a:ea typeface="Source Han Serif TW"/>
                  <a:cs typeface="Source Han Serif TW"/>
                </a:defRPr>
              </a:pPr>
            </a:p>
          </ns0:txPr>
          <ns0:dLblPos val="outEnd"/>
          <ns0:showLegendKey val="0"/>
          <ns0:showVal val="1"/>
          <ns0:showCatName val="0"/>
          <ns0:showSerName val="0"/>
          <ns0:showPercent val="0"/>
          <ns0:showBubbleSize val="0"/>
          <ns0:showLeaderLines val="0"/>
        </ns0:dLbls>
        <ns0:gapWidth val="100"/>
        <ns0:axId val="48650112"/>
        <ns0:axId val="48672768"/>
      </ns0:barChart>
      <ns0:catAx>
        <ns0:axId val="48650112"/>
        <ns0:scaling>
          <ns0:orientation val="minMax"/>
        </ns0:scaling>
        <ns0:delete val="0"/>
        <ns0:axPos val="b"/>
        <ns0:numFmt formatCode="General"/>
        <ns0:majorTickMark val="none"/>
        <ns0:minorTickMark val="none"/>
        <ns0:spPr>
          <a:ln w="9525">
            <a:solidFill>
              <a:srgbClr val="D4D4D4"/>
            </a:solidFill>
            <a:prstDash val="solid"/>
          </a:ln>
        </ns0:spPr>
        <ns0:txPr>
          <a:bodyPr anchorCtr="1"/>
          <a:lstStyle/>
          <a:p>
            <a:pPr>
              <a:defRPr sz="1639">
                <a:solidFill>
                  <a:srgbClr val="666666"/>
                </a:solidFill>
                <a:latin typeface="Source Han Serif TW"/>
                <a:ea typeface="Source Han Serif TW"/>
                <a:cs typeface="Source Han Serif TW"/>
              </a:defRPr>
            </a:pPr>
          </a:p>
        </ns0:txPr>
        <ns0:crossAx val="48672768"/>
      </ns0:catAx>
      <ns0:valAx>
        <ns0:axId val="48672768"/>
        <ns0:scaling>
          <ns0:orientation val="minMax"/>
          <ns0:max val="60"/>
          <ns0:min val="0"/>
        </ns0:scaling>
        <ns0:delete val="0"/>
        <ns0:axPos val="l"/>
        <ns0:numFmt formatCode="General"/>
        <ns0:majorTickMark val="none"/>
        <ns0:minorTickMark val="none"/>
        <ns0:spPr>
          <a:ln w="9525">
            <a:solidFill>
              <a:srgbClr val="D4D4D4"/>
            </a:solidFill>
            <a:prstDash val="solid"/>
          </a:ln>
        </ns0:spPr>
        <ns0:txPr>
          <a:bodyPr anchorCtr="1"/>
          <a:lstStyle/>
          <a:p>
            <a:pPr>
              <a:defRPr sz="1552">
                <a:solidFill>
                  <a:srgbClr val="666666"/>
                </a:solidFill>
                <a:latin typeface="Source Han Serif TW"/>
                <a:ea typeface="Source Han Serif TW"/>
                <a:cs typeface="Source Han Serif TW"/>
              </a:defRPr>
            </a:pPr>
          </a:p>
        </ns0:txPr>
        <ns0:crossAx val="48650112"/>
        <ns0:crossBetween val="between"/>
      </ns0:valAx>
      <ns0:spPr>
        <a:solidFill>
          <a:srgbClr val="FCF8F5"/>
        </a:solidFill>
      </ns0:spPr>
    </ns0:plotArea>
    <ns0:legend>
      <ns0:legendPos val="b"/>
      <ns0:overlay val="0"/>
      <ns0:txPr>
        <a:bodyPr anchorCtr="1"/>
        <a:lstStyle/>
        <a:p>
          <a:pPr>
            <a:defRPr sz="1639">
              <a:latin typeface="Source Han Serif TW"/>
              <a:ea typeface="Source Han Serif TW"/>
              <a:cs typeface="Source Han Serif TW"/>
            </a:defRPr>
          </a:pPr>
        </a:p>
      </ns0:txPr>
    </ns0:legend>
    <ns0:plotVisOnly val="1"/>
  </ns0:chart>
  <ns0:spPr>
    <a:solidFill>
      <a:srgbClr val="FCF8F5"/>
    </a:solidFill>
  </ns0:spPr>
  <ns0:externalData r:id="rIdChartSnapshot1">
    <ns0:autoUpdate val="0"/>
  </ns0:externalData>
</ns0:chartSpace>
</file>

<file path=ppt/slides/charts/chart3.xml><?xml version="1.0" encoding="utf-8"?>
<ns0:chartSpace xmlns:a="http://schemas.openxmlformats.org/drawingml/2006/main" xmlns:ns0="http://schemas.openxmlformats.org/drawingml/2006/chart" xmlns:r="http://schemas.openxmlformats.org/officeDocument/2006/relationships">
  <ns0:lang val="en-US"/>
  <ns0:chart>
    <ns0:plotArea>
      <ns0:barChart>
        <ns0:barDir val="col"/>
        <ns0:grouping val="clustered"/>
        <ns0:varyColors val="0"/>
        <ns0:ser>
          <ns0:idx val="0"/>
          <ns0:order val="0"/>
          <ns0:tx>
            <ns0:v>Fixed-roster 10×20</ns0:v>
          </ns0:tx>
          <ns0:spPr>
            <a:solidFill>
              <a:srgbClr val="47171C"/>
            </a:solidFill>
          </ns0:spPr>
          <ns0:cat>
            <ns0:strRef>
              <ns0:f>'Chart Data'!$A$2:$A$4</ns0:f>
              <ns0:strCache>
                <ns0:ptCount val="3"/>
                <ns0:pt idx="0">
                  <ns0:v>8×8</ns0:v>
                </ns0:pt>
                <ns0:pt idx="1">
                  <ns0:v>16×16</ns0:v>
                </ns0:pt>
                <ns0:pt idx="2">
                  <ns0:v>24×24</ns0:v>
                </ns0:pt>
              </ns0:strCache>
            </ns0:strRef>
          </ns0:cat>
          <ns0:val>
            <ns0:numRef>
              <ns0:f>'Chart Data'!$B$2:$B$4</ns0:f>
              <ns0:numCache>
                <ns0:formatCode>General</ns0:formatCode>
                <ns0:ptCount val="3"/>
                <ns0:pt idx="0">
                  <ns0:v>98</ns0:v>
                </ns0:pt>
                <ns0:pt idx="1">
                  <ns0:v>90</ns0:v>
                </ns0:pt>
                <ns0:pt idx="2">
                  <ns0:v>68</ns0:v>
                </ns0:pt>
              </ns0:numCache>
            </ns0:numRef>
          </ns0:val>
        </ns0:ser>
        <ns0:ser>
          <ns0:idx val="1"/>
          <ns0:order val="1"/>
          <ns0:tx>
            <ns0:v>Self-play 10×20</ns0:v>
          </ns0:tx>
          <ns0:spPr>
            <a:solidFill>
              <a:srgbClr val="CF8792"/>
            </a:solidFill>
          </ns0:spPr>
          <ns0:cat>
            <ns0:strRef>
              <ns0:f>'Chart Data'!$C$2:$C$4</ns0:f>
              <ns0:strCache>
                <ns0:ptCount val="3"/>
                <ns0:pt idx="0">
                  <ns0:v>8×8</ns0:v>
                </ns0:pt>
                <ns0:pt idx="1">
                  <ns0:v>16×16</ns0:v>
                </ns0:pt>
                <ns0:pt idx="2">
                  <ns0:v>24×24</ns0:v>
                </ns0:pt>
              </ns0:strCache>
            </ns0:strRef>
          </ns0:cat>
          <ns0:val>
            <ns0:numRef>
              <ns0:f>'Chart Data'!$D$2:$D$4</ns0:f>
              <ns0:numCache>
                <ns0:formatCode>General</ns0:formatCode>
                <ns0:ptCount val="3"/>
                <ns0:pt idx="0">
                  <ns0:v>0</ns0:v>
                </ns0:pt>
                <ns0:pt idx="1">
                  <ns0:v>0</ns0:v>
                </ns0:pt>
                <ns0:pt idx="2">
                  <ns0:v>0</ns0:v>
                </ns0:pt>
              </ns0:numCache>
            </ns0:numRef>
          </ns0:val>
        </ns0:ser>
        <ns0:ser>
          <ns0:idx val="2"/>
          <ns0:order val="2"/>
          <ns0:tx>
            <ns0:v>Self-play 5×40</ns0:v>
          </ns0:tx>
          <ns0:spPr>
            <a:solidFill>
              <a:srgbClr val="9B7131"/>
            </a:solidFill>
          </ns0:spPr>
          <ns0:cat>
            <ns0:strRef>
              <ns0:f>'Chart Data'!$E$2:$E$4</ns0:f>
              <ns0:strCache>
                <ns0:ptCount val="3"/>
                <ns0:pt idx="0">
                  <ns0:v>8×8</ns0:v>
                </ns0:pt>
                <ns0:pt idx="1">
                  <ns0:v>16×16</ns0:v>
                </ns0:pt>
                <ns0:pt idx="2">
                  <ns0:v>24×24</ns0:v>
                </ns0:pt>
              </ns0:strCache>
            </ns0:strRef>
          </ns0:cat>
          <ns0:val>
            <ns0:numRef>
              <ns0:f>'Chart Data'!$F$2:$F$4</ns0:f>
              <ns0:numCache>
                <ns0:formatCode>General</ns0:formatCode>
                <ns0:ptCount val="3"/>
                <ns0:pt idx="0">
                  <ns0:v>67</ns0:v>
                </ns0:pt>
                <ns0:pt idx="1">
                  <ns0:v>60</ns0:v>
                </ns0:pt>
                <ns0:pt idx="2">
                  <ns0:v>70</ns0:v>
                </ns0:pt>
              </ns0:numCache>
            </ns0:numRef>
          </ns0:val>
        </ns0:ser>
        <ns0:dLbls>
          <ns0:txPr>
            <a:bodyPr anchorCtr="1"/>
            <a:lstStyle/>
            <a:p>
              <a:pPr>
                <a:defRPr sz="1725">
                  <a:latin typeface="Source Han Serif TW"/>
                  <a:ea typeface="Source Han Serif TW"/>
                  <a:cs typeface="Source Han Serif TW"/>
                </a:defRPr>
              </a:pPr>
            </a:p>
          </ns0:txPr>
          <ns0:dLblPos val="outEnd"/>
          <ns0:showLegendKey val="0"/>
          <ns0:showVal val="1"/>
          <ns0:showCatName val="0"/>
          <ns0:showSerName val="0"/>
          <ns0:showPercent val="0"/>
          <ns0:showBubbleSize val="0"/>
          <ns0:showLeaderLines val="0"/>
        </ns0:dLbls>
        <ns0:gapWidth val="100"/>
        <ns0:axId val="48650112"/>
        <ns0:axId val="48672768"/>
      </ns0:barChart>
      <ns0:catAx>
        <ns0:axId val="48650112"/>
        <ns0:scaling>
          <ns0:orientation val="minMax"/>
        </ns0:scaling>
        <ns0:delete val="0"/>
        <ns0:axPos val="b"/>
        <ns0:numFmt formatCode="General"/>
        <ns0:majorTickMark val="none"/>
        <ns0:minorTickMark val="none"/>
        <ns0:spPr>
          <a:ln w="9525">
            <a:solidFill>
              <a:srgbClr val="D4D4D4"/>
            </a:solidFill>
            <a:prstDash val="solid"/>
          </a:ln>
        </ns0:spPr>
        <ns0:txPr>
          <a:bodyPr anchorCtr="1"/>
          <a:lstStyle/>
          <a:p>
            <a:pPr>
              <a:defRPr sz="1639">
                <a:solidFill>
                  <a:srgbClr val="666666"/>
                </a:solidFill>
                <a:latin typeface="Source Han Serif TW"/>
                <a:ea typeface="Source Han Serif TW"/>
                <a:cs typeface="Source Han Serif TW"/>
              </a:defRPr>
            </a:pPr>
          </a:p>
        </ns0:txPr>
        <ns0:crossAx val="48672768"/>
      </ns0:catAx>
      <ns0:valAx>
        <ns0:axId val="48672768"/>
        <ns0:scaling>
          <ns0:orientation val="minMax"/>
          <ns0:max val="110"/>
          <ns0:min val="0"/>
        </ns0:scaling>
        <ns0:delete val="0"/>
        <ns0:axPos val="l"/>
        <ns0:numFmt formatCode="General"/>
        <ns0:majorTickMark val="none"/>
        <ns0:minorTickMark val="none"/>
        <ns0:spPr>
          <a:ln w="9525">
            <a:solidFill>
              <a:srgbClr val="D4D4D4"/>
            </a:solidFill>
            <a:prstDash val="solid"/>
          </a:ln>
        </ns0:spPr>
        <ns0:txPr>
          <a:bodyPr anchorCtr="1"/>
          <a:lstStyle/>
          <a:p>
            <a:pPr>
              <a:defRPr sz="1552">
                <a:solidFill>
                  <a:srgbClr val="666666"/>
                </a:solidFill>
                <a:latin typeface="Source Han Serif TW"/>
                <a:ea typeface="Source Han Serif TW"/>
                <a:cs typeface="Source Han Serif TW"/>
              </a:defRPr>
            </a:pPr>
          </a:p>
        </ns0:txPr>
        <ns0:crossAx val="48650112"/>
        <ns0:crossBetween val="between"/>
      </ns0:valAx>
      <ns0:spPr>
        <a:solidFill>
          <a:srgbClr val="FCF8F5"/>
        </a:solidFill>
      </ns0:spPr>
    </ns0:plotArea>
    <ns0:legend>
      <ns0:legendPos val="b"/>
      <ns0:overlay val="0"/>
      <ns0:txPr>
        <a:bodyPr anchorCtr="1"/>
        <a:lstStyle/>
        <a:p>
          <a:pPr>
            <a:defRPr sz="1639">
              <a:latin typeface="Source Han Serif TW"/>
              <a:ea typeface="Source Han Serif TW"/>
              <a:cs typeface="Source Han Serif TW"/>
            </a:defRPr>
          </a:pPr>
        </a:p>
      </ns0:txPr>
    </ns0:legend>
    <ns0:plotVisOnly val="1"/>
  </ns0:chart>
  <ns0:spPr>
    <a:solidFill>
      <a:srgbClr val="FCF8F5"/>
    </a:solidFill>
  </ns0:spPr>
  <ns0:externalData r:id="rIdChartSnapshot1">
    <ns0:autoUpdate val="0"/>
  </ns0:externalData>
</ns0:chartSpace>
</file>

<file path=ppt/slides/charts/chart4.xml><?xml version="1.0" encoding="utf-8"?>
<ns0:chartSpace xmlns:a="http://schemas.openxmlformats.org/drawingml/2006/main" xmlns:ns0="http://schemas.openxmlformats.org/drawingml/2006/chart" xmlns:r="http://schemas.openxmlformats.org/officeDocument/2006/relationships">
  <ns0:lang val="en-US"/>
  <ns0:chart>
    <ns0:plotArea>
      <ns0:barChart>
        <ns0:barDir val="col"/>
        <ns0:grouping val="clustered"/>
        <ns0:varyColors val="0"/>
        <ns0:ser>
          <ns0:idx val="0"/>
          <ns0:order val="0"/>
          <ns0:tx>
            <ns0:v>Generation wall time (h)</ns0:v>
          </ns0:tx>
          <ns0:spPr>
            <a:solidFill>
              <a:srgbClr val="9B7131"/>
            </a:solidFill>
          </ns0:spPr>
          <ns0:cat>
            <ns0:strRef>
              <ns0:f>'Chart Data'!$A$2:$A$4</ns0:f>
              <ns0:strCache>
                <ns0:ptCount val="3"/>
                <ns0:pt idx="0">
                  <ns0:v>Fixed-roster</ns0:v>
                </ns0:pt>
                <ns0:pt idx="1">
                  <ns0:v>SP 10×20</ns0:v>
                </ns0:pt>
                <ns0:pt idx="2">
                  <ns0:v>SP 5×40</ns0:v>
                </ns0:pt>
              </ns0:strCache>
            </ns0:strRef>
          </ns0:cat>
          <ns0:val>
            <ns0:numRef>
              <ns0:f>'Chart Data'!$B$2:$B$4</ns0:f>
              <ns0:numCache>
                <ns0:formatCode>General</ns0:formatCode>
                <ns0:ptCount val="3"/>
                <ns0:pt idx="0">
                  <ns0:v>16.72</ns0:v>
                </ns0:pt>
                <ns0:pt idx="1">
                  <ns0:v>25.3</ns0:v>
                </ns0:pt>
                <ns0:pt idx="2">
                  <ns0:v>17.99</ns0:v>
                </ns0:pt>
              </ns0:numCache>
            </ns0:numRef>
          </ns0:val>
        </ns0:ser>
        <ns0:dLbls>
          <ns0:txPr>
            <a:bodyPr anchorCtr="1"/>
            <a:lstStyle/>
            <a:p>
              <a:pPr>
                <a:defRPr sz="1725">
                  <a:latin typeface="Source Han Serif TW"/>
                  <a:ea typeface="Source Han Serif TW"/>
                  <a:cs typeface="Source Han Serif TW"/>
                </a:defRPr>
              </a:pPr>
            </a:p>
          </ns0:txPr>
          <ns0:dLblPos val="outEnd"/>
          <ns0:showLegendKey val="0"/>
          <ns0:showVal val="1"/>
          <ns0:showCatName val="0"/>
          <ns0:showSerName val="0"/>
          <ns0:showPercent val="0"/>
          <ns0:showBubbleSize val="0"/>
          <ns0:showLeaderLines val="0"/>
        </ns0:dLbls>
        <ns0:gapWidth val="100"/>
        <ns0:axId val="48650112"/>
        <ns0:axId val="48672768"/>
      </ns0:barChart>
      <ns0:catAx>
        <ns0:axId val="48650112"/>
        <ns0:scaling>
          <ns0:orientation val="minMax"/>
        </ns0:scaling>
        <ns0:delete val="0"/>
        <ns0:axPos val="b"/>
        <ns0:numFmt formatCode="General"/>
        <ns0:majorTickMark val="none"/>
        <ns0:minorTickMark val="none"/>
        <ns0:spPr>
          <a:ln w="9525">
            <a:solidFill>
              <a:srgbClr val="D4D4D4"/>
            </a:solidFill>
            <a:prstDash val="solid"/>
          </a:ln>
        </ns0:spPr>
        <ns0:txPr>
          <a:bodyPr anchorCtr="1"/>
          <a:lstStyle/>
          <a:p>
            <a:pPr>
              <a:defRPr sz="1639">
                <a:solidFill>
                  <a:srgbClr val="666666"/>
                </a:solidFill>
                <a:latin typeface="Source Han Serif TW"/>
                <a:ea typeface="Source Han Serif TW"/>
                <a:cs typeface="Source Han Serif TW"/>
              </a:defRPr>
            </a:pPr>
          </a:p>
        </ns0:txPr>
        <ns0:crossAx val="48672768"/>
      </ns0:catAx>
      <ns0:valAx>
        <ns0:axId val="48672768"/>
        <ns0:scaling>
          <ns0:orientation val="minMax"/>
          <ns0:max val="30"/>
          <ns0:min val="0"/>
        </ns0:scaling>
        <ns0:delete val="0"/>
        <ns0:axPos val="l"/>
        <ns0:numFmt formatCode="General"/>
        <ns0:majorTickMark val="none"/>
        <ns0:minorTickMark val="none"/>
        <ns0:spPr>
          <a:ln w="9525">
            <a:solidFill>
              <a:srgbClr val="D4D4D4"/>
            </a:solidFill>
            <a:prstDash val="solid"/>
          </a:ln>
        </ns0:spPr>
        <ns0:txPr>
          <a:bodyPr anchorCtr="1"/>
          <a:lstStyle/>
          <a:p>
            <a:pPr>
              <a:defRPr sz="1552">
                <a:solidFill>
                  <a:srgbClr val="666666"/>
                </a:solidFill>
                <a:latin typeface="Source Han Serif TW"/>
                <a:ea typeface="Source Han Serif TW"/>
                <a:cs typeface="Source Han Serif TW"/>
              </a:defRPr>
            </a:pPr>
          </a:p>
        </ns0:txPr>
        <ns0:crossAx val="48650112"/>
        <ns0:crossBetween val="between"/>
      </ns0:valAx>
      <ns0:spPr>
        <a:solidFill>
          <a:srgbClr val="FCF8F5"/>
        </a:solidFill>
      </ns0:spPr>
    </ns0:plotArea>
    <ns0:plotVisOnly val="1"/>
  </ns0:chart>
  <ns0:spPr>
    <a:solidFill>
      <a:srgbClr val="FCF8F5"/>
    </a:solidFill>
  </ns0:spPr>
  <ns0:externalData r:id="rIdChartSnapshot1">
    <ns0:autoUpdate val="0"/>
  </ns0:externalData>
</ns0:chartSpace>
</file>

<file path=ppt/slides/slide1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 showMasterSp="1">
  <p:cSld>
    <p:spTree>
      <p:nvGrpSpPr>
        <p:cNvPr id="1" name=""/>
        <p:cNvGrpSpPr/>
        <p:nvPr/>
      </p:nvGrpSpPr>
      <p:grpSpPr>
        <a:xfrm/>
      </p:grpSpPr>
      <p:sp>
        <p:nvSpPr>
          <p:cNvPr id="16" name="EAGLE_0">
            <a:extLst>
              <a:ext uri="{FF2B5EF4-FFF2-40B4-BE49-F238E27FC236}">
                <ns2:creationId id="{8BEC198E-575D-4CAD-A5B2-81F640416921}"/>
              </a:ext>
            </a:extLst>
          </p:cNvPr>
          <p:cNvSpPr>
            <a:spLocks noGrp="1"/>
          </p:cNvSpPr>
          <p:nvPr>
            <p:ph idx="0"/>
          </p:nvPr>
        </p:nvSpPr>
        <p:spPr>
          <a:xfrm>
            <a:off x="2286000" y="438150"/>
            <a:ext cx="11353800" cy="1047750"/>
          </a:xfrm>
        </p:spPr>
        <p:txBody>
          <a:bodyPr anchor="ctr">
            <a:noAutofit/>
          </a:bodyPr>
          <a:lstStyle/>
          <a:p>
            <a:pPr algn="ctr">
              <a:defRPr sz="46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46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Self-play 兩版與固定對手基準比較</a:t>
            </a:r>
          </a:p>
        </p:txBody>
      </p:sp>
      <p:sp>
        <p:nvSpPr>
          <p:cNvPr id="17" name="EAGLE_1">
            <a:extLst>
              <a:ext uri="{FF2B5EF4-FFF2-40B4-BE49-F238E27FC236}">
                <ns2:creationId id="{819B1ED8-1874-475F-A611-AC1AF9EB3A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0" y="1571625"/>
            <a:ext cx="10972800" cy="457200"/>
          </a:xfrm>
        </p:spPr>
        <p:txBody>
          <a:bodyPr anchor="ctr">
            <a:noAutofit/>
          </a:bodyPr>
          <a:lstStyle/>
          <a:p>
            <a: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10 月 1 日研究進度報告　　資料截至 2026/09/26</a:t>
            </a:r>
          </a:p>
        </p:txBody>
      </p:sp>
      <p:sp>
        <p:nvSpPr>
          <p:cNvPr id="5" name="">
            <a:extLst>
              <a:ext uri="{FF2B5EF4-FFF2-40B4-BE49-F238E27FC236}">
                <ns2:creationId id="{B21910DA-F4F2-4324-AE41-6B5C7AC75AFB}"/>
              </a:ext>
            </a:extLst>
          </p:cNvPr>
          <p:cNvSpPr>
            <a:spLocks noGrp="1"/>
          </p:cNvSpPr>
          <p:nvPr/>
        </p:nvSpPr>
        <p:spPr>
          <a:xfrm>
            <a:off x="1428750" y="2557462"/>
            <a:ext cx="12842984" cy="99119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4571" b="1">
                <a:solidFill>
                  <a:srgbClr val="9B7131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571" b="1">
                <a:solidFill>
                  <a:srgbClr val="9B7131"/>
                </a:solidFill>
                <a:latin typeface="Source Han Serif TW"/>
                <a:ea typeface="Source Han Serif TW"/>
                <a:cs typeface="Source Han Serif TW"/>
              </a:rPr>
              <a:t>5×40 外部勝率達 32.8%</a:t>
            </a:r>
          </a:p>
        </p:txBody>
      </p:sp>
      <p:sp>
        <p:nvSpPr>
          <p:cNvPr id="6" name="">
            <a:extLst>
              <a:ext uri="{FF2B5EF4-FFF2-40B4-BE49-F238E27FC236}">
                <ns2:creationId id="{050D8B98-5B19-4770-AA42-578E3BD72626}"/>
              </a:ext>
            </a:extLst>
          </p:cNvPr>
          <p:cNvSpPr>
            <a:spLocks noGrp="1"/>
          </p:cNvSpPr>
          <p:nvPr/>
        </p:nvSpPr>
        <p:spPr>
          <a:xfrm>
            <a:off x="1462547" y="3702844"/>
            <a:ext cx="12392353" cy="63877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76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6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仍落後 fixed-roster 基準 9.8 個百分點</a:t>
            </a:r>
          </a:p>
        </p:txBody>
      </p:sp>
      <p:graphicFrame>
        <p:nvGraphicFramePr>
          <p:cNvPr id="15" name=""/>
          <p:cNvGraphicFramePr/>
          <p:nvPr/>
        </p:nvGraphicFramePr>
        <p:xfrm>
          <a:off x="1428750" y="4716066"/>
          <a:ext cx="13068300" cy="2268736"/>
        </p:xfrm>
        <a:graphic>
          <a:graphicData uri="http://schemas.openxmlformats.org/drawingml/2006/table">
            <a:tbl>
              <a:tblPr/>
              <a:tblGrid>
                <a:gridCol w="5745546"/>
                <a:gridCol w="3267075"/>
                <a:gridCol w="4055679"/>
              </a:tblGrid>
              <a:tr h="56718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56" b="1">
                          <a:solidFill>
                            <a:srgbClr val="FCF8F5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實驗</a:t>
                      </a:r>
                    </a:p>
                  </a:txBody>
                  <a:tcPr marL="76200" marR="76200" marT="28575" marB="28575">
                    <a:solidFill>
                      <a:srgbClr val="47171C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56" b="1">
                          <a:solidFill>
                            <a:srgbClr val="FCF8F5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Final-test 勝率</a:t>
                      </a:r>
                    </a:p>
                  </a:txBody>
                  <a:tcPr marL="76200" marR="76200" marT="28575" marB="28575">
                    <a:solidFill>
                      <a:srgbClr val="47171C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56" b="1">
                          <a:solidFill>
                            <a:srgbClr val="FCF8F5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W / D / L</a:t>
                      </a:r>
                    </a:p>
                  </a:txBody>
                  <a:tcPr marL="76200" marR="76200" marT="28575" marB="28575">
                    <a:solidFill>
                      <a:srgbClr val="47171C"/>
                    </a:solidFill>
                  </a:tcPr>
                </a:tc>
              </a:tr>
              <a:tr h="56718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56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Fixed-roster 10×20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56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42.7%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56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256 / 12 / 332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56718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56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Self-play 5×40</a:t>
                      </a:r>
                    </a:p>
                  </a:txBody>
                  <a:tcPr marL="76200" marR="76200" marT="28575" marB="28575">
                    <a:solidFill>
                      <a:srgbClr val="F8EEE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56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32.8%</a:t>
                      </a:r>
                    </a:p>
                  </a:txBody>
                  <a:tcPr marL="76200" marR="76200" marT="28575" marB="28575">
                    <a:solidFill>
                      <a:srgbClr val="F8EEE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56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197 / 11 / 392</a:t>
                      </a:r>
                    </a:p>
                  </a:txBody>
                  <a:tcPr marL="76200" marR="76200" marT="28575" marB="28575">
                    <a:solidFill>
                      <a:srgbClr val="F8EEEB"/>
                    </a:solidFill>
                  </a:tcPr>
                </a:tc>
              </a:tr>
              <a:tr h="56718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56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Self-play 10×20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56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0%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56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 / 151 / 449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>
              <a:ext uri="{FF2B5EF4-FFF2-40B4-BE49-F238E27FC236}">
                <ns2:creationId id="{02D818CD-DD68-4873-BFAC-C9361B7043F9}"/>
              </a:ext>
            </a:extLst>
          </p:cNvPr>
          <p:cNvSpPr>
            <a:spLocks noGrp="1"/>
          </p:cNvSpPr>
          <p:nvPr/>
        </p:nvSpPr>
        <p:spPr>
          <a:xfrm>
            <a:off x="1462547" y="7249120"/>
            <a:ext cx="12392353" cy="38546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97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97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共同測試：600 場固定對手 final test</a:t>
            </a:r>
          </a:p>
        </p:txBody>
      </p:sp>
      <p:sp>
        <p:nvSpPr>
          <p:cNvPr id="18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7EC45F77-B9B3-42FA-AD3C-F4A710D3616B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</a:t>
            </a:fld>
          </a:p>
        </p:txBody>
      </p:sp>
    </p:spTree>
    <p:extLst>
      <p:ext uri="{BB962C8B-B14F-4D97-AF65-F5344CB8AC3E}">
        <ns3:creationId val="818754027"/>
      </p:ext>
    </p:extLst>
  </p:cSld>
</p:sld>
</file>

<file path=ppt/slides/slide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 showMasterSp="1">
  <p:cSld>
    <p:spTree>
      <p:nvGrpSpPr>
        <p:cNvPr id="1" name=""/>
        <p:cNvGrpSpPr/>
        <p:nvPr/>
      </p:nvGrpSpPr>
      <p:grpSpPr>
        <a:xfrm/>
      </p:grpSpPr>
      <p:sp>
        <p:nvSpPr>
          <p:cNvPr id="13" name="EAGLE_0">
            <a:extLst>
              <a:ext uri="{FF2B5EF4-FFF2-40B4-BE49-F238E27FC236}">
                <ns2:creationId id="{FA713658-485E-46BA-BF2C-AE6A9347B029}"/>
              </a:ext>
            </a:extLst>
          </p:cNvPr>
          <p:cNvSpPr>
            <a:spLocks noGrp="1"/>
          </p:cNvSpPr>
          <p:nvPr>
            <p:ph idx="0"/>
          </p:nvPr>
        </p:nvSpPr>
        <p:spPr>
          <a:xfrm>
            <a:off x="2286000" y="438150"/>
            <a:ext cx="11353800" cy="1047750"/>
          </a:xfrm>
        </p:spPr>
        <p:txBody>
          <a:bodyPr anchor="ctr">
            <a:noAutofit/>
          </a:bodyPr>
          <a:lstStyle/>
          <a:p>
            <a:pPr algn="ctr">
              <a:defRPr sz="46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46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三組實驗的比較口徑</a:t>
            </a:r>
          </a:p>
        </p:txBody>
      </p:sp>
      <p:sp>
        <p:nvSpPr>
          <p:cNvPr id="14" name="EAGLE_1">
            <a:extLst>
              <a:ext uri="{FF2B5EF4-FFF2-40B4-BE49-F238E27FC236}">
                <ns2:creationId id="{3B18D925-8688-4680-80FF-4BAA2DDDF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0" y="1571625"/>
            <a:ext cx="10972800" cy="457200"/>
          </a:xfrm>
        </p:spPr>
        <p:txBody>
          <a:bodyPr anchor="ctr">
            <a:noAutofit/>
          </a:bodyPr>
          <a:lstStyle/>
          <a:p>
            <a: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共同 final test：10 opponents × 3 maps × 2 sides × 10 games = 600 場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="1428750" y="2458343"/>
          <a:ext cx="13068300" cy="3788569"/>
        </p:xfrm>
        <a:graphic>
          <a:graphicData uri="http://schemas.openxmlformats.org/drawingml/2006/table">
            <a:tbl>
              <a:tblPr/>
              <a:tblGrid>
                <a:gridCol w="3943022"/>
                <a:gridCol w="3041759"/>
                <a:gridCol w="3041759"/>
                <a:gridCol w="3041759"/>
              </a:tblGrid>
              <a:tr h="63142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1">
                          <a:solidFill>
                            <a:srgbClr val="FCF8F5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項目</a:t>
                      </a:r>
                    </a:p>
                  </a:txBody>
                  <a:tcPr marL="76200" marR="76200" marT="28575" marB="28575">
                    <a:solidFill>
                      <a:srgbClr val="47171C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1">
                          <a:solidFill>
                            <a:srgbClr val="FCF8F5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Fixed-roster</a:t>
                      </a:r>
                    </a:p>
                  </a:txBody>
                  <a:tcPr marL="76200" marR="76200" marT="28575" marB="28575">
                    <a:solidFill>
                      <a:srgbClr val="47171C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1">
                          <a:solidFill>
                            <a:srgbClr val="FCF8F5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Self-play 10×20</a:t>
                      </a:r>
                    </a:p>
                  </a:txBody>
                  <a:tcPr marL="76200" marR="76200" marT="28575" marB="28575">
                    <a:solidFill>
                      <a:srgbClr val="47171C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1">
                          <a:solidFill>
                            <a:srgbClr val="FCF8F5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Self-play 5×40</a:t>
                      </a:r>
                    </a:p>
                  </a:txBody>
                  <a:tcPr marL="76200" marR="76200" marT="28575" marB="28575">
                    <a:solidFill>
                      <a:srgbClr val="47171C"/>
                    </a:solidFill>
                  </a:tcPr>
                </a:tc>
              </a:tr>
              <a:tr h="63142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世代 × 族群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20 × 10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20 × 10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40 × 5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63142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搜尋評估對手</a:t>
                      </a:r>
                    </a:p>
                  </a:txBody>
                  <a:tcPr marL="76200" marR="76200" marT="28575" marB="28575">
                    <a:solidFill>
                      <a:srgbClr val="F8EEE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多個固定對手</a:t>
                      </a:r>
                    </a:p>
                  </a:txBody>
                  <a:tcPr marL="76200" marR="76200" marT="28575" marB="28575">
                    <a:solidFill>
                      <a:srgbClr val="F8EEE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10-slot snapshot</a:t>
                      </a:r>
                    </a:p>
                  </a:txBody>
                  <a:tcPr marL="76200" marR="76200" marT="28575" marB="28575">
                    <a:solidFill>
                      <a:srgbClr val="F8EEE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5-slot snapshot</a:t>
                      </a:r>
                    </a:p>
                  </a:txBody>
                  <a:tcPr marL="76200" marR="76200" marT="28575" marB="28575">
                    <a:solidFill>
                      <a:srgbClr val="F8EEEB"/>
                    </a:solidFill>
                  </a:tcPr>
                </a:tc>
              </a:tr>
              <a:tr h="63142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Snapshot refresh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不適用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每 5 代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每 5 代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63142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Regular candidates 約數</a:t>
                      </a:r>
                    </a:p>
                  </a:txBody>
                  <a:tcPr marL="76200" marR="76200" marT="28575" marB="28575">
                    <a:solidFill>
                      <a:srgbClr val="F8EEE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210</a:t>
                      </a:r>
                    </a:p>
                  </a:txBody>
                  <a:tcPr marL="76200" marR="76200" marT="28575" marB="28575">
                    <a:solidFill>
                      <a:srgbClr val="F8EEE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210</a:t>
                      </a:r>
                    </a:p>
                  </a:txBody>
                  <a:tcPr marL="76200" marR="76200" marT="28575" marB="28575">
                    <a:solidFill>
                      <a:srgbClr val="F8EEE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205</a:t>
                      </a:r>
                    </a:p>
                  </a:txBody>
                  <a:tcPr marL="76200" marR="76200" marT="28575" marB="28575">
                    <a:solidFill>
                      <a:srgbClr val="F8EEEB"/>
                    </a:solidFill>
                  </a:tcPr>
                </a:tc>
              </a:tr>
              <a:tr h="63142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LLM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Ministral 3 8B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Ministral 3 8B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Ministral 3 8B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2:creationId id="{37B7B87B-0556-4DA6-A423-A858C93DA1CD}"/>
              </a:ext>
            </a:extLst>
          </p:cNvPr>
          <p:cNvSpPr>
            <a:spLocks noGrp="1"/>
          </p:cNvSpPr>
          <p:nvPr/>
        </p:nvSpPr>
        <p:spPr>
          <a:xfrm>
            <a:off x="1451282" y="6478191"/>
            <a:ext cx="12955642" cy="52863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97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97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相同地圖、mutation 機率與 final-test roster；regular births 不含 refresh records。</a:t>
            </a:r>
          </a:p>
        </p:txBody>
      </p:sp>
      <p:sp>
        <p:nvSpPr>
          <p:cNvPr id="7" name="">
            <a:extLst>
              <a:ext uri="{FF2B5EF4-FFF2-40B4-BE49-F238E27FC236}">
                <ns2:creationId id="{15EE8B8F-5B75-45E5-A2BE-E9B5E25D5DC5}"/>
              </a:ext>
            </a:extLst>
          </p:cNvPr>
          <p:cNvSpPr>
            <a:spLocks noGrp="1"/>
          </p:cNvSpPr>
          <p:nvPr/>
        </p:nvSpPr>
        <p:spPr>
          <a:xfrm>
            <a:off x="1428750" y="7194054"/>
            <a:ext cx="12955642" cy="63877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56" b="1">
                <a:solidFill>
                  <a:srgbClr val="9B7131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56" b="1">
                <a:solidFill>
                  <a:srgbClr val="9B7131"/>
                </a:solidFill>
                <a:latin typeface="Source Han Serif TW"/>
                <a:ea typeface="Source Han Serif TW"/>
                <a:cs typeface="Source Han Serif TW"/>
              </a:rPr>
              <a:t>5×40 將相近的 regular candidate 數分配到更多代與更多次 snapshot 更新</a:t>
            </a:r>
          </a:p>
        </p:txBody>
      </p:sp>
      <p:sp>
        <p:nvSpPr>
          <p:cNvPr id="15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3EBC9978-F90C-4F67-B024-3994F1C386B8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2</a:t>
            </a:fld>
          </a:p>
        </p:txBody>
      </p:sp>
    </p:spTree>
    <p:extLst>
      <p:ext uri="{BB962C8B-B14F-4D97-AF65-F5344CB8AC3E}">
        <ns3:creationId val="300730133"/>
      </p:ext>
    </p:extLst>
  </p:cSld>
</p:sld>
</file>

<file path=ppt/slides/slide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 showMasterSp="1">
  <p:cSld>
    <p:spTree>
      <p:nvGrpSpPr>
        <p:cNvPr id="1" name=""/>
        <p:cNvGrpSpPr/>
        <p:nvPr/>
      </p:nvGrpSpPr>
      <p:grpSpPr>
        <a:xfrm/>
      </p:grpSpPr>
      <p:sp>
        <p:nvSpPr>
          <p:cNvPr id="13" name="EAGLE_0">
            <a:extLst>
              <a:ext uri="{FF2B5EF4-FFF2-40B4-BE49-F238E27FC236}">
                <ns2:creationId id="{DE94F348-2AB0-4465-9526-006D28FCA082}"/>
              </a:ext>
            </a:extLst>
          </p:cNvPr>
          <p:cNvSpPr>
            <a:spLocks noGrp="1"/>
          </p:cNvSpPr>
          <p:nvPr>
            <p:ph idx="0"/>
          </p:nvPr>
        </p:nvSpPr>
        <p:spPr>
          <a:xfrm>
            <a:off x="2286000" y="438150"/>
            <a:ext cx="11353800" cy="1047750"/>
          </a:xfrm>
        </p:spPr>
        <p:txBody>
          <a:bodyPr anchor="ctr">
            <a:noAutofit/>
          </a:bodyPr>
          <a:lstStyle/>
          <a:p>
            <a:pPr algn="ctr">
              <a:defRPr sz="46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46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主要發現</a:t>
            </a:r>
          </a:p>
        </p:txBody>
      </p:sp>
      <p:sp>
        <p:nvSpPr>
          <p:cNvPr id="14" name="EAGLE_1">
            <a:extLst>
              <a:ext uri="{FF2B5EF4-FFF2-40B4-BE49-F238E27FC236}">
                <ns2:creationId id="{51C4B974-322C-4C06-9957-2B06EB33DE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0" y="1571625"/>
            <a:ext cx="10972800" cy="457200"/>
          </a:xfrm>
        </p:spPr>
        <p:txBody>
          <a:bodyPr anchor="ctr">
            <a:noAutofit/>
          </a:bodyPr>
          <a:lstStyle/>
          <a:p>
            <a: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本次觀察支持行為機制解釋，尚非同 commit、同 seed 的受控比較</a:t>
            </a:r>
          </a:p>
        </p:txBody>
      </p:sp>
      <p:sp>
        <p:nvSpPr>
          <p:cNvPr id="5" name="">
            <a:extLst>
              <a:ext uri="{FF2B5EF4-FFF2-40B4-BE49-F238E27FC236}">
                <ns2:creationId id="{BA72D70E-9228-4F8A-AA93-FE287B541D0F}"/>
              </a:ext>
            </a:extLst>
          </p:cNvPr>
          <p:cNvSpPr>
            <a:spLocks noGrp="1"/>
          </p:cNvSpPr>
          <p:nvPr/>
        </p:nvSpPr>
        <p:spPr>
          <a:xfrm>
            <a:off x="1428750" y="2546449"/>
            <a:ext cx="3886693" cy="1046262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5779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779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42.7%</a:t>
            </a:r>
          </a:p>
        </p:txBody>
      </p:sp>
      <p:sp>
        <p:nvSpPr>
          <p:cNvPr id="6" name="">
            <a:extLst>
              <a:ext uri="{FF2B5EF4-FFF2-40B4-BE49-F238E27FC236}">
                <ns2:creationId id="{05FAC905-6435-48C7-BF4E-147298AF42F8}"/>
              </a:ext>
            </a:extLst>
          </p:cNvPr>
          <p:cNvSpPr>
            <a:spLocks noGrp="1"/>
          </p:cNvSpPr>
          <p:nvPr/>
        </p:nvSpPr>
        <p:spPr>
          <a:xfrm>
            <a:off x="1451282" y="3603724"/>
            <a:ext cx="3943022" cy="550664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42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42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固定對手基準仍最佳</a:t>
            </a:r>
          </a:p>
        </p:txBody>
      </p:sp>
      <p:sp>
        <p:nvSpPr>
          <p:cNvPr id="7" name="">
            <a:extLst>
              <a:ext uri="{FF2B5EF4-FFF2-40B4-BE49-F238E27FC236}">
                <ns2:creationId id="{1922F47E-D01F-408A-A6C3-583C5E7196E7}"/>
              </a:ext>
            </a:extLst>
          </p:cNvPr>
          <p:cNvSpPr>
            <a:spLocks noGrp="1"/>
          </p:cNvSpPr>
          <p:nvPr/>
        </p:nvSpPr>
        <p:spPr>
          <a:xfrm>
            <a:off x="5878731" y="2546449"/>
            <a:ext cx="3886693" cy="1046262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5779" b="1">
                <a:solidFill>
                  <a:srgbClr val="9B7131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779" b="1">
                <a:solidFill>
                  <a:srgbClr val="9B7131"/>
                </a:solidFill>
                <a:latin typeface="Source Han Serif TW"/>
                <a:ea typeface="Source Han Serif TW"/>
                <a:cs typeface="Source Han Serif TW"/>
              </a:rPr>
              <a:t>32.8%</a:t>
            </a:r>
          </a:p>
        </p:txBody>
      </p:sp>
      <p:sp>
        <p:nvSpPr>
          <p:cNvPr id="8" name="">
            <a:extLst>
              <a:ext uri="{FF2B5EF4-FFF2-40B4-BE49-F238E27FC236}">
                <ns2:creationId id="{D74DD6DE-A37D-4F8F-8AD9-135CF06D7512}"/>
              </a:ext>
            </a:extLst>
          </p:cNvPr>
          <p:cNvSpPr>
            <a:spLocks noGrp="1"/>
          </p:cNvSpPr>
          <p:nvPr/>
        </p:nvSpPr>
        <p:spPr>
          <a:xfrm>
            <a:off x="5901263" y="3603724"/>
            <a:ext cx="3943022" cy="550664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42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42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5×40 產生外部勝場</a:t>
            </a:r>
          </a:p>
        </p:txBody>
      </p:sp>
      <p:sp>
        <p:nvSpPr>
          <p:cNvPr id="9" name="">
            <a:extLst>
              <a:ext uri="{FF2B5EF4-FFF2-40B4-BE49-F238E27FC236}">
                <ns2:creationId id="{D60ED217-BCA6-4ECB-BB08-C365B4B35AA8}"/>
              </a:ext>
            </a:extLst>
          </p:cNvPr>
          <p:cNvSpPr>
            <a:spLocks noGrp="1"/>
          </p:cNvSpPr>
          <p:nvPr/>
        </p:nvSpPr>
        <p:spPr>
          <a:xfrm>
            <a:off x="10328713" y="2546449"/>
            <a:ext cx="3886693" cy="1046262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5779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779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0%</a:t>
            </a:r>
          </a:p>
        </p:txBody>
      </p:sp>
      <p:sp>
        <p:nvSpPr>
          <p:cNvPr id="10" name="">
            <a:extLst>
              <a:ext uri="{FF2B5EF4-FFF2-40B4-BE49-F238E27FC236}">
                <ns2:creationId id="{74A07208-7D9F-4DD8-B0C9-9AE7C44990C1}"/>
              </a:ext>
            </a:extLst>
          </p:cNvPr>
          <p:cNvSpPr>
            <a:spLocks noGrp="1"/>
          </p:cNvSpPr>
          <p:nvPr/>
        </p:nvSpPr>
        <p:spPr>
          <a:xfrm>
            <a:off x="10351244" y="3603724"/>
            <a:ext cx="3943022" cy="550664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42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42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10×20 未取得勝場</a:t>
            </a:r>
          </a:p>
        </p:txBody>
      </p:sp>
      <p:sp>
        <p:nvSpPr>
          <p:cNvPr id="11" name="">
            <a:extLst>
              <a:ext uri="{FF2B5EF4-FFF2-40B4-BE49-F238E27FC236}">
                <ns2:creationId id="{FFF0425C-042A-4CF4-81C1-2A8AF882D714}"/>
              </a:ext>
            </a:extLst>
          </p:cNvPr>
          <p:cNvSpPr>
            <a:spLocks noGrp="1"/>
          </p:cNvSpPr>
          <p:nvPr/>
        </p:nvSpPr>
        <p:spPr>
          <a:xfrm>
            <a:off x="1451282" y="4760119"/>
            <a:ext cx="12955642" cy="187225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41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1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G17 的 Code Reflection 補上主動追擊敵人的行為。</a:t>
            </a:r>
          </a:p>
          <a:p>
            <a:pPr>
              <a:defRPr sz="241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1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勝場集中在基礎對手，rush 與強對手仍是主要缺口。</a:t>
            </a:r>
          </a:p>
          <a:p>
            <a:pPr>
              <a:defRPr sz="241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1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最終 4/5 candidates 同列最高 fitness，評估仍難區分策略。</a:t>
            </a:r>
          </a:p>
        </p:txBody>
      </p:sp>
      <p:sp>
        <p:nvSpPr>
          <p:cNvPr id="12" name="">
            <a:extLst>
              <a:ext uri="{FF2B5EF4-FFF2-40B4-BE49-F238E27FC236}">
                <ns2:creationId id="{B20D84DD-B821-47D6-86AB-800A9126B3EE}"/>
              </a:ext>
            </a:extLst>
          </p:cNvPr>
          <p:cNvSpPr>
            <a:spLocks noGrp="1"/>
          </p:cNvSpPr>
          <p:nvPr/>
        </p:nvSpPr>
        <p:spPr>
          <a:xfrm>
            <a:off x="1428750" y="7194054"/>
            <a:ext cx="12955642" cy="63877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56" b="1">
                <a:solidFill>
                  <a:srgbClr val="9B7131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56" b="1">
                <a:solidFill>
                  <a:srgbClr val="9B7131"/>
                </a:solidFill>
                <a:latin typeface="Source Han Serif TW"/>
                <a:ea typeface="Source Han Serif TW"/>
                <a:cs typeface="Source Han Serif TW"/>
              </a:rPr>
              <a:t>後續先建立 current-code control，再測試 fixed anchors 與獨立 holdout probes</a:t>
            </a:r>
          </a:p>
        </p:txBody>
      </p:sp>
      <p:sp>
        <p:nvSpPr>
          <p:cNvPr id="15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15B77A81-86C2-4223-9849-CEF7C5CC72F8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3</a:t>
            </a:fld>
          </a:p>
        </p:txBody>
      </p:sp>
    </p:spTree>
    <p:extLst>
      <p:ext uri="{BB962C8B-B14F-4D97-AF65-F5344CB8AC3E}">
        <ns3:creationId val="2046625200"/>
      </p:ext>
    </p:extLst>
  </p:cSld>
</p:sld>
</file>

<file path=ppt/slides/slide4.xml><?xml version="1.0" encoding="utf-8"?>
<p:sld xmlns:a="http://schemas.openxmlformats.org/drawingml/2006/main" xmlns:ns2="http://schemas.microsoft.com/office/drawing/2014/main" xmlns:ns3="http://schemas.openxmlformats.org/drawingml/2006/chart" xmlns:ns5="http://schemas.microsoft.com/office/powerpoint/2010/main" xmlns:p="http://schemas.openxmlformats.org/presentationml/2006/main" xmlns:r="http://schemas.openxmlformats.org/officeDocument/2006/relationships" showMasterSp="1">
  <p:cSld>
    <p:spTree>
      <p:nvGrpSpPr>
        <p:cNvPr id="1" name=""/>
        <p:cNvGrpSpPr/>
        <p:nvPr/>
      </p:nvGrpSpPr>
      <p:grpSpPr>
        <a:xfrm/>
      </p:grpSpPr>
      <p:sp>
        <p:nvSpPr>
          <p:cNvPr id="13" name="EAGLE_0">
            <a:extLst>
              <a:ext uri="{FF2B5EF4-FFF2-40B4-BE49-F238E27FC236}">
                <ns2:creationId id="{EB3BB82D-D6FA-4BB0-ACEB-E15C08C77AA4}"/>
              </a:ext>
            </a:extLst>
          </p:cNvPr>
          <p:cNvSpPr>
            <a:spLocks noGrp="1"/>
          </p:cNvSpPr>
          <p:nvPr>
            <p:ph idx="0"/>
          </p:nvPr>
        </p:nvSpPr>
        <p:spPr>
          <a:xfrm>
            <a:off x="2286000" y="438150"/>
            <a:ext cx="11353800" cy="1047750"/>
          </a:xfrm>
        </p:spPr>
        <p:txBody>
          <a:bodyPr anchor="ctr">
            <a:noAutofit/>
          </a:bodyPr>
          <a:lstStyle/>
          <a:p>
            <a:pPr algn="ctr">
              <a:defRPr sz="46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46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5×40 的改善包含 197 個實際勝場</a:t>
            </a:r>
          </a:p>
        </p:txBody>
      </p:sp>
      <p:sp>
        <p:nvSpPr>
          <p:cNvPr id="14" name="EAGLE_1">
            <a:extLst>
              <a:ext uri="{FF2B5EF4-FFF2-40B4-BE49-F238E27FC236}">
                <ns2:creationId id="{6A741A0E-EA2D-405C-BFD7-5E90096C60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0" y="1571625"/>
            <a:ext cx="10972800" cy="457200"/>
          </a:xfrm>
        </p:spPr>
        <p:txBody>
          <a:bodyPr anchor="ctr">
            <a:noAutofit/>
          </a:bodyPr>
          <a:lstStyle/>
          <a:p>
            <a: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三組 final test 均為 600 場，errors 均為 0</a:t>
            </a:r>
          </a:p>
        </p:txBody>
      </p:sp>
      <p:graphicFrame>
        <p:nvGraphicFramePr>
          <p:cNvPr id="12" name="Chart"/>
          <p:cNvGraphicFramePr/>
          <p:nvPr/>
        </p:nvGraphicFramePr>
        <p:xfrm>
          <a:off x="1541408" y="2326184"/>
          <a:ext cx="12730327" cy="4185047"/>
        </p:xfrm>
        <a:graphic>
          <a:graphicData uri="http://schemas.openxmlformats.org/drawingml/2006/chart">
            <ns3:chart r:id="Re380e6d888234991"/>
          </a:graphicData>
        </a:graphic>
      </p:graphicFrame>
      <p:sp>
        <p:nvSpPr>
          <p:cNvPr id="6" name="">
            <a:extLst>
              <a:ext uri="{FF2B5EF4-FFF2-40B4-BE49-F238E27FC236}">
                <ns2:creationId id="{90CFD01E-AB8C-40AA-B54A-5322C94836D7}"/>
              </a:ext>
            </a:extLst>
          </p:cNvPr>
          <p:cNvSpPr>
            <a:spLocks noGrp="1"/>
          </p:cNvSpPr>
          <p:nvPr/>
        </p:nvSpPr>
        <p:spPr>
          <a:xfrm>
            <a:off x="1451282" y="6544270"/>
            <a:ext cx="12955642" cy="46255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9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9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相對 self-play 10×20：+197 勝、−140 和、−57 敗</a:t>
            </a:r>
          </a:p>
        </p:txBody>
      </p:sp>
      <p:sp>
        <p:nvSpPr>
          <p:cNvPr id="7" name="">
            <a:extLst>
              <a:ext uri="{FF2B5EF4-FFF2-40B4-BE49-F238E27FC236}">
                <ns2:creationId id="{F975FA1C-0430-4FBD-A6D6-BD5CD183DB22}"/>
              </a:ext>
            </a:extLst>
          </p:cNvPr>
          <p:cNvSpPr>
            <a:spLocks noGrp="1"/>
          </p:cNvSpPr>
          <p:nvPr/>
        </p:nvSpPr>
        <p:spPr>
          <a:xfrm>
            <a:off x="1428750" y="7194054"/>
            <a:ext cx="12955642" cy="63877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56" b="1">
                <a:solidFill>
                  <a:srgbClr val="9B7131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56" b="1">
                <a:solidFill>
                  <a:srgbClr val="9B7131"/>
                </a:solidFill>
                <a:latin typeface="Source Han Serif TW"/>
                <a:ea typeface="Source Han Serif TW"/>
                <a:cs typeface="Source Han Serif TW"/>
              </a:rPr>
              <a:t>相對 fixed-roster：少 59 勝，勝率差 9.83 個百分點</a:t>
            </a:r>
          </a:p>
        </p:txBody>
      </p:sp>
      <p:sp>
        <p:nvSpPr>
          <p:cNvPr id="15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404DFE51-98B3-409F-AACF-EFDD9D57F097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4</a:t>
            </a:fld>
          </a:p>
        </p:txBody>
      </p:sp>
    </p:spTree>
    <p:extLst>
      <p:ext uri="{BB962C8B-B14F-4D97-AF65-F5344CB8AC3E}">
        <ns5:creationId val="379440124"/>
      </p:ext>
    </p:extLst>
  </p:cSld>
</p:sld>
</file>

<file path=ppt/slides/slide5.xml><?xml version="1.0" encoding="utf-8"?>
<p:sld xmlns:a="http://schemas.openxmlformats.org/drawingml/2006/main" xmlns:ns2="http://schemas.microsoft.com/office/drawing/2014/main" xmlns:ns3="http://schemas.openxmlformats.org/drawingml/2006/chart" xmlns:ns5="http://schemas.microsoft.com/office/powerpoint/2010/main" xmlns:p="http://schemas.openxmlformats.org/presentationml/2006/main" xmlns:r="http://schemas.openxmlformats.org/officeDocument/2006/relationships" showMasterSp="1">
  <p:cSld>
    <p:spTree>
      <p:nvGrpSpPr>
        <p:cNvPr id="1" name=""/>
        <p:cNvGrpSpPr/>
        <p:nvPr/>
      </p:nvGrpSpPr>
      <p:grpSpPr>
        <a:xfrm/>
      </p:grpSpPr>
      <p:sp>
        <p:nvSpPr>
          <p:cNvPr id="13" name="EAGLE_0">
            <a:extLst>
              <a:ext uri="{FF2B5EF4-FFF2-40B4-BE49-F238E27FC236}">
                <ns2:creationId id="{95663A6E-DF50-4103-BB68-20E4F7A57772}"/>
              </a:ext>
            </a:extLst>
          </p:cNvPr>
          <p:cNvSpPr>
            <a:spLocks noGrp="1"/>
          </p:cNvSpPr>
          <p:nvPr>
            <p:ph idx="0"/>
          </p:nvPr>
        </p:nvSpPr>
        <p:spPr>
          <a:xfrm>
            <a:off x="2286000" y="438150"/>
            <a:ext cx="11353800" cy="1047750"/>
          </a:xfrm>
        </p:spPr>
        <p:txBody>
          <a:bodyPr anchor="ctr">
            <a:noAutofit/>
          </a:bodyPr>
          <a:lstStyle/>
          <a:p>
            <a:pPr algn="ctr">
              <a:defRPr sz="3692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3692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勝場差距集中在 LightRush、HeavyRush 與 COAC</a:t>
            </a:r>
          </a:p>
        </p:txBody>
      </p:sp>
      <p:sp>
        <p:nvSpPr>
          <p:cNvPr id="14" name="EAGLE_1">
            <a:extLst>
              <a:ext uri="{FF2B5EF4-FFF2-40B4-BE49-F238E27FC236}">
                <ns2:creationId id="{EAC3EF34-8251-4740-AB1D-430C49FB48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0" y="1571625"/>
            <a:ext cx="10972800" cy="457200"/>
          </a:xfrm>
        </p:spPr>
        <p:txBody>
          <a:bodyPr anchor="ctr">
            <a:noAutofit/>
          </a:bodyPr>
          <a:lstStyle/>
          <a:p>
            <a: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每個 opponent 共 60 場；完整 W / D / L 保留於講者備註</a:t>
            </a:r>
          </a:p>
        </p:txBody>
      </p:sp>
      <p:graphicFrame>
        <p:nvGraphicFramePr>
          <p:cNvPr id="12" name="Chart"/>
          <p:cNvGraphicFramePr/>
          <p:nvPr/>
        </p:nvGraphicFramePr>
        <p:xfrm>
          <a:off x="1485079" y="2414290"/>
          <a:ext cx="12899313" cy="3887688"/>
        </p:xfrm>
        <a:graphic>
          <a:graphicData uri="http://schemas.openxmlformats.org/drawingml/2006/chart">
            <ns3:chart r:id="Rd36684355b7a4c4e"/>
          </a:graphicData>
        </a:graphic>
      </p:graphicFrame>
      <p:sp>
        <p:nvSpPr>
          <p:cNvPr id="6" name="">
            <a:extLst>
              <a:ext uri="{FF2B5EF4-FFF2-40B4-BE49-F238E27FC236}">
                <ns2:creationId id="{3D3A51B7-4781-44B9-A61D-2A746BBD6264}"/>
              </a:ext>
            </a:extLst>
          </p:cNvPr>
          <p:cNvSpPr>
            <a:spLocks noGrp="1"/>
          </p:cNvSpPr>
          <p:nvPr/>
        </p:nvSpPr>
        <p:spPr>
          <a:xfrm>
            <a:off x="1451282" y="6478191"/>
            <a:ext cx="12955642" cy="726877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97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97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Self-play 10×20 對全部 10 個 opponents 均為 0 勝。</a:t>
            </a:r>
          </a:p>
          <a:p>
            <a:pPr>
              <a:defRPr sz="1897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97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WorkerRush、AllInBot、Mayari、TMA：三組均為 0 勝。</a:t>
            </a:r>
          </a:p>
        </p:txBody>
      </p:sp>
      <p:sp>
        <p:nvSpPr>
          <p:cNvPr id="7" name="">
            <a:extLst>
              <a:ext uri="{FF2B5EF4-FFF2-40B4-BE49-F238E27FC236}">
                <ns2:creationId id="{1EF3A971-670E-4A6B-AC76-2D22936D2AD6}"/>
              </a:ext>
            </a:extLst>
          </p:cNvPr>
          <p:cNvSpPr>
            <a:spLocks noGrp="1"/>
          </p:cNvSpPr>
          <p:nvPr/>
        </p:nvSpPr>
        <p:spPr>
          <a:xfrm>
            <a:off x="1428750" y="7359253"/>
            <a:ext cx="12955642" cy="63877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56" b="1">
                <a:solidFill>
                  <a:srgbClr val="9B7131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56" b="1">
                <a:solidFill>
                  <a:srgbClr val="9B7131"/>
                </a:solidFill>
                <a:latin typeface="Source Han Serif TW"/>
                <a:ea typeface="Source Han Serif TW"/>
                <a:cs typeface="Source Han Serif TW"/>
              </a:rPr>
              <a:t>5×40 的 197 勝中，177 勝來自三個基礎對手</a:t>
            </a:r>
          </a:p>
        </p:txBody>
      </p:sp>
      <p:sp>
        <p:nvSpPr>
          <p:cNvPr id="15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C3BEF5A2-CEC7-49F9-9D13-82D0788BC2A3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5</a:t>
            </a:fld>
          </a:p>
        </p:txBody>
      </p:sp>
    </p:spTree>
    <p:extLst>
      <p:ext uri="{BB962C8B-B14F-4D97-AF65-F5344CB8AC3E}">
        <ns5:creationId val="1227341899"/>
      </p:ext>
    </p:extLst>
  </p:cSld>
</p:sld>
</file>

<file path=ppt/slides/slide6.xml><?xml version="1.0" encoding="utf-8"?>
<p:sld xmlns:a="http://schemas.openxmlformats.org/drawingml/2006/main" xmlns:ns2="http://schemas.microsoft.com/office/drawing/2014/main" xmlns:ns3="http://schemas.openxmlformats.org/drawingml/2006/chart" xmlns:ns5="http://schemas.microsoft.com/office/powerpoint/2010/main" xmlns:p="http://schemas.openxmlformats.org/presentationml/2006/main" xmlns:r="http://schemas.openxmlformats.org/officeDocument/2006/relationships" showMasterSp="1">
  <p:cSld>
    <p:spTree>
      <p:nvGrpSpPr>
        <p:cNvPr id="1" name=""/>
        <p:cNvGrpSpPr/>
        <p:nvPr/>
      </p:nvGrpSpPr>
      <p:grpSpPr>
        <a:xfrm/>
      </p:grpSpPr>
      <p:sp>
        <p:nvSpPr>
          <p:cNvPr id="15" name="EAGLE_0">
            <a:extLst>
              <a:ext uri="{FF2B5EF4-FFF2-40B4-BE49-F238E27FC236}">
                <ns2:creationId id="{04D33596-63D9-4D74-9B1E-66964945C330}"/>
              </a:ext>
            </a:extLst>
          </p:cNvPr>
          <p:cNvSpPr>
            <a:spLocks noGrp="1"/>
          </p:cNvSpPr>
          <p:nvPr>
            <p:ph idx="0"/>
          </p:nvPr>
        </p:nvSpPr>
        <p:spPr>
          <a:xfrm>
            <a:off x="2286000" y="438150"/>
            <a:ext cx="11353800" cy="1047750"/>
          </a:xfrm>
        </p:spPr>
        <p:txBody>
          <a:bodyPr anchor="ctr">
            <a:noAutofit/>
          </a:bodyPr>
          <a:lstStyle/>
          <a:p>
            <a:pPr algn="ctr">
              <a:defRPr sz="46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46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5×40 的勝場分布涵蓋三張地圖與雙方位</a:t>
            </a:r>
          </a:p>
        </p:txBody>
      </p:sp>
      <p:sp>
        <p:nvSpPr>
          <p:cNvPr id="16" name="EAGLE_1">
            <a:extLst>
              <a:ext uri="{FF2B5EF4-FFF2-40B4-BE49-F238E27FC236}">
                <ns2:creationId id="{770E94CF-78A7-460F-9575-874D938240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0" y="1571625"/>
            <a:ext cx="10972800" cy="457200"/>
          </a:xfrm>
        </p:spPr>
        <p:txBody>
          <a:bodyPr anchor="ctr">
            <a:noAutofit/>
          </a:bodyPr>
          <a:lstStyle/>
          <a:p>
            <a: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各地圖 200 場；各 player side 300 場</a:t>
            </a:r>
          </a:p>
        </p:txBody>
      </p:sp>
      <p:graphicFrame>
        <p:nvGraphicFramePr>
          <p:cNvPr id="14" name="Chart"/>
          <p:cNvGraphicFramePr/>
          <p:nvPr/>
        </p:nvGraphicFramePr>
        <p:xfrm>
          <a:off x="1485079" y="2337197"/>
          <a:ext cx="8505661" cy="4229100"/>
        </p:xfrm>
        <a:graphic>
          <a:graphicData uri="http://schemas.openxmlformats.org/drawingml/2006/chart">
            <ns3:chart r:id="R71f149f42f92436d"/>
          </a:graphicData>
        </a:graphic>
      </p:graphicFrame>
      <p:sp>
        <p:nvSpPr>
          <p:cNvPr id="6" name="">
            <a:extLst>
              <a:ext uri="{FF2B5EF4-FFF2-40B4-BE49-F238E27FC236}">
                <ns2:creationId id="{1BCF08C6-2A82-4E91-94C8-A56C23BC3050}"/>
              </a:ext>
            </a:extLst>
          </p:cNvPr>
          <p:cNvSpPr>
            <a:spLocks noGrp="1"/>
          </p:cNvSpPr>
          <p:nvPr/>
        </p:nvSpPr>
        <p:spPr>
          <a:xfrm>
            <a:off x="10599092" y="2766715"/>
            <a:ext cx="3886693" cy="550664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9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9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5×40 雙方位勝場</a:t>
            </a:r>
          </a:p>
        </p:txBody>
      </p:sp>
      <p:sp>
        <p:nvSpPr>
          <p:cNvPr id="7" name="">
            <a:extLst>
              <a:ext uri="{FF2B5EF4-FFF2-40B4-BE49-F238E27FC236}">
                <ns2:creationId id="{F0F67A20-B778-4558-9F62-077EEBE426F1}"/>
              </a:ext>
            </a:extLst>
          </p:cNvPr>
          <p:cNvSpPr>
            <a:spLocks noGrp="1"/>
          </p:cNvSpPr>
          <p:nvPr/>
        </p:nvSpPr>
        <p:spPr>
          <a:xfrm>
            <a:off x="10599092" y="3625751"/>
            <a:ext cx="3886693" cy="1596926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91" b="1">
                <a:solidFill>
                  <a:srgbClr val="9B7131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191" b="1">
                <a:solidFill>
                  <a:srgbClr val="9B7131"/>
                </a:solidFill>
                <a:latin typeface="Source Han Serif TW"/>
                <a:ea typeface="Source Han Serif TW"/>
                <a:cs typeface="Source Han Serif TW"/>
              </a:rPr>
              <a:t>p0　97 勝</a:t>
            </a:r>
          </a:p>
          <a:p>
            <a:pPr>
              <a:defRPr sz="3191" b="1">
                <a:solidFill>
                  <a:srgbClr val="9B7131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191" b="1">
                <a:solidFill>
                  <a:srgbClr val="9B7131"/>
                </a:solidFill>
                <a:latin typeface="Source Han Serif TW"/>
                <a:ea typeface="Source Han Serif TW"/>
                <a:cs typeface="Source Han Serif TW"/>
              </a:rPr>
              <a:t>p1　100 勝</a:t>
            </a:r>
          </a:p>
        </p:txBody>
      </p:sp>
      <p:sp>
        <p:nvSpPr>
          <p:cNvPr id="8" name="">
            <a:extLst>
              <a:ext uri="{FF2B5EF4-FFF2-40B4-BE49-F238E27FC236}">
                <ns2:creationId id="{017C5934-85DE-4A87-94E4-9A1107D169D9}"/>
              </a:ext>
            </a:extLst>
          </p:cNvPr>
          <p:cNvSpPr>
            <a:spLocks noGrp="1"/>
          </p:cNvSpPr>
          <p:nvPr/>
        </p:nvSpPr>
        <p:spPr>
          <a:xfrm>
            <a:off x="10599092" y="5464969"/>
            <a:ext cx="3886693" cy="99119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84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84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24×24：70 vs. 68 勝</a:t>
            </a:r>
          </a:p>
          <a:p>
            <a:pPr>
              <a:defRPr sz="1984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84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僅高於基準 2 勝</a:t>
            </a:r>
          </a:p>
        </p:txBody>
      </p:sp>
      <p:sp>
        <p:nvSpPr>
          <p:cNvPr id="9" name="">
            <a:extLst>
              <a:ext uri="{FF2B5EF4-FFF2-40B4-BE49-F238E27FC236}">
                <ns2:creationId id="{A01BF501-C775-4CF2-B183-15ACC1E47B31}"/>
              </a:ext>
            </a:extLst>
          </p:cNvPr>
          <p:cNvSpPr>
            <a:spLocks noGrp="1"/>
          </p:cNvSpPr>
          <p:nvPr/>
        </p:nvSpPr>
        <p:spPr>
          <a:xfrm>
            <a:off x="1428750" y="7194054"/>
            <a:ext cx="12955642" cy="63877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56" b="1">
                <a:solidFill>
                  <a:srgbClr val="9B7131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56" b="1">
                <a:solidFill>
                  <a:srgbClr val="9B7131"/>
                </a:solidFill>
                <a:latin typeface="Source Han Serif TW"/>
                <a:ea typeface="Source Han Serif TW"/>
                <a:cs typeface="Source Han Serif TW"/>
              </a:rPr>
              <a:t>改善分布於所有測試地圖與雙方位；整體差距仍集中在 8×8 與 16×16</a:t>
            </a:r>
          </a:p>
        </p:txBody>
      </p:sp>
      <p:sp>
        <p:nvSpPr>
          <p:cNvPr id="17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5DF75BEC-6C68-4D7C-A8C6-BED5780A2A95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6</a:t>
            </a:fld>
          </a:p>
        </p:txBody>
      </p:sp>
    </p:spTree>
    <p:extLst>
      <p:ext uri="{BB962C8B-B14F-4D97-AF65-F5344CB8AC3E}">
        <ns5:creationId val="1085622077"/>
      </p:ext>
    </p:extLst>
  </p:cSld>
</p:sld>
</file>

<file path=ppt/slides/slide7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 showMasterSp="1">
  <p:cSld>
    <p:spTree>
      <p:nvGrpSpPr>
        <p:cNvPr id="1" name=""/>
        <p:cNvGrpSpPr/>
        <p:nvPr/>
      </p:nvGrpSpPr>
      <p:grpSpPr>
        <a:xfrm/>
      </p:grpSpPr>
      <p:sp>
        <p:nvSpPr>
          <p:cNvPr id="14" name="EAGLE_0">
            <a:extLst>
              <a:ext uri="{FF2B5EF4-FFF2-40B4-BE49-F238E27FC236}">
                <ns2:creationId id="{A1B4ABC3-7CF4-4074-AEC0-9EA4920F6CE2}"/>
              </a:ext>
            </a:extLst>
          </p:cNvPr>
          <p:cNvSpPr>
            <a:spLocks noGrp="1"/>
          </p:cNvSpPr>
          <p:nvPr>
            <p:ph idx="0"/>
          </p:nvPr>
        </p:nvSpPr>
        <p:spPr>
          <a:xfrm>
            <a:off x="2286000" y="438150"/>
            <a:ext cx="11353800" cy="1047750"/>
          </a:xfrm>
        </p:spPr>
        <p:txBody>
          <a:bodyPr anchor="ctr">
            <a:noAutofit/>
          </a:bodyPr>
          <a:lstStyle/>
          <a:p>
            <a:pPr algn="ctr">
              <a:defRPr sz="46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46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10×20 self-play 搜尋收斂到穩定和局</a:t>
            </a:r>
          </a:p>
        </p:txBody>
      </p:sp>
      <p:sp>
        <p:nvSpPr>
          <p:cNvPr id="15" name="EAGLE_1">
            <a:extLst>
              <a:ext uri="{FF2B5EF4-FFF2-40B4-BE49-F238E27FC236}">
                <ns2:creationId id="{3FA4DE50-C1DB-4167-82AB-A2B1F3A5F7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0" y="1571625"/>
            <a:ext cx="10972800" cy="457200"/>
          </a:xfrm>
        </p:spPr>
        <p:txBody>
          <a:bodyPr anchor="ctr">
            <a:noAutofit/>
          </a:bodyPr>
          <a:lstStyle/>
          <a:p>
            <a: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Final snapshot 的正 fitness 來自 material / resource shaping，不代表勝場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="1428750" y="2414290"/>
          <a:ext cx="13068300" cy="2037457"/>
        </p:xfrm>
        <a:graphic>
          <a:graphicData uri="http://schemas.openxmlformats.org/drawingml/2006/table">
            <a:tbl>
              <a:tblPr/>
              <a:tblGrid>
                <a:gridCol w="7097439"/>
                <a:gridCol w="5970861"/>
              </a:tblGrid>
              <a:tr h="679152">
                <a:tc>
                  <a:txBody>
                    <a:bodyPr>
                      <a:noAutofit/>
                    </a:bodyPr>
                    <a:lstStyle/>
                    <a:p>
                      <a:r>
                        <a:rPr sz="2501" b="1">
                          <a:solidFill>
                            <a:srgbClr val="FCF8F5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評估情境</a:t>
                      </a:r>
                    </a:p>
                  </a:txBody>
                  <a:tcPr marL="76200" marR="76200" marT="28575" marB="28575">
                    <a:solidFill>
                      <a:srgbClr val="47171C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501" b="1">
                          <a:solidFill>
                            <a:srgbClr val="FCF8F5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W / D / L</a:t>
                      </a:r>
                    </a:p>
                  </a:txBody>
                  <a:tcPr marL="76200" marR="76200" marT="28575" marB="28575">
                    <a:solidFill>
                      <a:srgbClr val="47171C"/>
                    </a:solidFill>
                  </a:tcPr>
                </a:tc>
              </a:tr>
              <a:tr h="679152">
                <a:tc>
                  <a:txBody>
                    <a:bodyPr>
                      <a:noAutofit/>
                    </a:bodyPr>
                    <a:lstStyle/>
                    <a:p>
                      <a:r>
                        <a:rPr sz="250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Final snapshot 搜尋評估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50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 / 180 / 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679152">
                <a:tc>
                  <a:txBody>
                    <a:bodyPr>
                      <a:noAutofit/>
                    </a:bodyPr>
                    <a:lstStyle/>
                    <a:p>
                      <a:r>
                        <a:rPr sz="250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固定對手 final test</a:t>
                      </a:r>
                    </a:p>
                  </a:txBody>
                  <a:tcPr marL="76200" marR="76200" marT="28575" marB="28575">
                    <a:solidFill>
                      <a:srgbClr val="F8EEE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50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 / 151 / 449</a:t>
                      </a:r>
                    </a:p>
                  </a:txBody>
                  <a:tcPr marL="76200" marR="76200" marT="28575" marB="28575">
                    <a:solidFill>
                      <a:srgbClr val="F8EEEB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2:creationId id="{8D45FF4E-3B05-4CD9-A702-6B3FEA46DBA3}"/>
              </a:ext>
            </a:extLst>
          </p:cNvPr>
          <p:cNvSpPr>
            <a:spLocks noGrp="1"/>
          </p:cNvSpPr>
          <p:nvPr/>
        </p:nvSpPr>
        <p:spPr>
          <a:xfrm>
            <a:off x="1451282" y="4848225"/>
            <a:ext cx="12392353" cy="49559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88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88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最終 Java 的行為限制</a:t>
            </a:r>
          </a:p>
        </p:txBody>
      </p:sp>
      <p:sp>
        <p:nvSpPr>
          <p:cNvPr id="7" name="">
            <a:extLst>
              <a:ext uri="{FF2B5EF4-FFF2-40B4-BE49-F238E27FC236}">
                <ns2:creationId id="{FA4CC5B8-28D2-4B95-A085-11C16E46AAD8}"/>
              </a:ext>
            </a:extLst>
          </p:cNvPr>
          <p:cNvSpPr>
            <a:spLocks noGrp="1"/>
          </p:cNvSpPr>
          <p:nvPr/>
        </p:nvSpPr>
        <p:spPr>
          <a:xfrm>
            <a:off x="1451282" y="5486995"/>
            <a:ext cx="12730327" cy="110132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41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1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僅攻擊附近 enemy Workers，缺少一般化追擊邏輯。</a:t>
            </a:r>
          </a:p>
          <a:p>
            <a:pPr>
              <a:defRPr sz="241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1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Heavy units 控制不足，找不到目標時大量單位 idle。</a:t>
            </a:r>
          </a:p>
        </p:txBody>
      </p:sp>
      <p:sp>
        <p:nvSpPr>
          <p:cNvPr id="8" name="">
            <a:extLst>
              <a:ext uri="{FF2B5EF4-FFF2-40B4-BE49-F238E27FC236}">
                <ns2:creationId id="{21DDB9F7-0995-45C0-B0D9-4BCD60A81F26}"/>
              </a:ext>
            </a:extLst>
          </p:cNvPr>
          <p:cNvSpPr>
            <a:spLocks noGrp="1"/>
          </p:cNvSpPr>
          <p:nvPr/>
        </p:nvSpPr>
        <p:spPr>
          <a:xfrm>
            <a:off x="1428750" y="7194054"/>
            <a:ext cx="12955642" cy="63877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56" b="1">
                <a:solidFill>
                  <a:srgbClr val="9B7131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56" b="1">
                <a:solidFill>
                  <a:srgbClr val="9B7131"/>
                </a:solidFill>
                <a:latin typeface="Source Han Serif TW"/>
                <a:ea typeface="Source Han Serif TW"/>
                <a:cs typeface="Source Han Serif TW"/>
              </a:rPr>
              <a:t>最終 7/10 candidates 最高 fitness 同分，只有 4 種 objective vectors</a:t>
            </a:r>
          </a:p>
        </p:txBody>
      </p:sp>
      <p:sp>
        <p:nvSpPr>
          <p:cNvPr id="16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BFC24578-5BC0-440D-872B-3DD1B502C58B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7</a:t>
            </a:fld>
          </a:p>
        </p:txBody>
      </p:sp>
    </p:spTree>
    <p:extLst>
      <p:ext uri="{BB962C8B-B14F-4D97-AF65-F5344CB8AC3E}">
        <ns3:creationId val="714668869"/>
      </p:ext>
    </p:extLst>
  </p:cSld>
</p:sld>
</file>

<file path=ppt/slides/slide8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 showMasterSp="1">
  <p:cSld>
    <p:spTree>
      <p:nvGrpSpPr>
        <p:cNvPr id="1" name=""/>
        <p:cNvGrpSpPr/>
        <p:nvPr/>
      </p:nvGrpSpPr>
      <p:grpSpPr>
        <a:xfrm/>
      </p:grpSpPr>
      <p:sp>
        <p:nvSpPr>
          <p:cNvPr id="12" name="EAGLE_0">
            <a:extLst>
              <a:ext uri="{FF2B5EF4-FFF2-40B4-BE49-F238E27FC236}">
                <ns2:creationId id="{BE95F80E-AB8F-45CB-8161-BD936E3A9F39}"/>
              </a:ext>
            </a:extLst>
          </p:cNvPr>
          <p:cNvSpPr>
            <a:spLocks noGrp="1"/>
          </p:cNvSpPr>
          <p:nvPr>
            <p:ph idx="0"/>
          </p:nvPr>
        </p:nvSpPr>
        <p:spPr>
          <a:xfrm>
            <a:off x="2286000" y="438150"/>
            <a:ext cx="11353800" cy="1047750"/>
          </a:xfrm>
        </p:spPr>
        <p:txBody>
          <a:bodyPr anchor="ctr">
            <a:noAutofit/>
          </a:bodyPr>
          <a:lstStyle/>
          <a:p>
            <a:pPr algn="ctr">
              <a:defRPr sz="46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46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Generation 17 出現明確的取勝轉折</a:t>
            </a:r>
          </a:p>
        </p:txBody>
      </p:sp>
      <p:sp>
        <p:nvSpPr>
          <p:cNvPr id="13" name="EAGLE_1">
            <a:extLst>
              <a:ext uri="{FF2B5EF4-FFF2-40B4-BE49-F238E27FC236}">
                <ns2:creationId id="{E8832C04-11F1-48E1-A010-5D2241049D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0" y="1571625"/>
            <a:ext cx="10972800" cy="457200"/>
          </a:xfrm>
        </p:spPr>
        <p:txBody>
          <a:bodyPr anchor="ctr">
            <a:noAutofit/>
          </a:bodyPr>
          <a:lstStyle/>
          <a:p>
            <a: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各列對手 snapshot 不同，GP 僅能在同一 snapshot 內比較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="1428750" y="2381250"/>
          <a:ext cx="13068300" cy="4427339"/>
        </p:xfrm>
        <a:graphic>
          <a:graphicData uri="http://schemas.openxmlformats.org/drawingml/2006/table">
            <a:tbl>
              <a:tblPr/>
              <a:tblGrid>
                <a:gridCol w="2591128"/>
                <a:gridCol w="4055679"/>
                <a:gridCol w="2140497"/>
                <a:gridCol w="4280995"/>
              </a:tblGrid>
              <a:tr h="553417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1">
                          <a:solidFill>
                            <a:srgbClr val="FCF8F5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Generation</a:t>
                      </a:r>
                    </a:p>
                  </a:txBody>
                  <a:tcPr marL="76200" marR="76200" marT="28575" marB="28575">
                    <a:solidFill>
                      <a:srgbClr val="47171C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1">
                          <a:solidFill>
                            <a:srgbClr val="FCF8F5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當期 best W / D / L</a:t>
                      </a:r>
                    </a:p>
                  </a:txBody>
                  <a:tcPr marL="76200" marR="76200" marT="28575" marB="28575">
                    <a:solidFill>
                      <a:srgbClr val="47171C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1">
                          <a:solidFill>
                            <a:srgbClr val="FCF8F5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Best GP</a:t>
                      </a:r>
                    </a:p>
                  </a:txBody>
                  <a:tcPr marL="76200" marR="76200" marT="28575" marB="28575">
                    <a:solidFill>
                      <a:srgbClr val="47171C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1">
                          <a:solidFill>
                            <a:srgbClr val="FCF8F5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觀察</a:t>
                      </a:r>
                    </a:p>
                  </a:txBody>
                  <a:tcPr marL="76200" marR="76200" marT="28575" marB="28575">
                    <a:solidFill>
                      <a:srgbClr val="47171C"/>
                    </a:solidFill>
                  </a:tcPr>
                </a:tc>
              </a:tr>
              <a:tr h="553417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G0–G2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 / 180 / 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0.000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初期全和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553417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G5</a:t>
                      </a:r>
                    </a:p>
                  </a:txBody>
                  <a:tcPr marL="76200" marR="76200" marT="28575" marB="28575">
                    <a:solidFill>
                      <a:srgbClr val="F8EEE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 / 174 / 6</a:t>
                      </a:r>
                    </a:p>
                  </a:txBody>
                  <a:tcPr marL="76200" marR="76200" marT="28575" marB="28575">
                    <a:solidFill>
                      <a:srgbClr val="F8EEE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1.243</a:t>
                      </a:r>
                    </a:p>
                  </a:txBody>
                  <a:tcPr marL="76200" marR="76200" marT="28575" marB="28575">
                    <a:solidFill>
                      <a:srgbClr val="F8EEE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尚無勝場</a:t>
                      </a:r>
                    </a:p>
                  </a:txBody>
                  <a:tcPr marL="76200" marR="76200" marT="28575" marB="28575">
                    <a:solidFill>
                      <a:srgbClr val="F8EEEB"/>
                    </a:solidFill>
                  </a:tcPr>
                </a:tc>
              </a:tr>
              <a:tr h="553417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G10–G14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 / 180 / 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0.424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Refresh 後全和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553417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G16</a:t>
                      </a:r>
                    </a:p>
                  </a:txBody>
                  <a:tcPr marL="76200" marR="76200" marT="28575" marB="28575">
                    <a:solidFill>
                      <a:srgbClr val="F8EEE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 / 180 / 0</a:t>
                      </a:r>
                    </a:p>
                  </a:txBody>
                  <a:tcPr marL="76200" marR="76200" marT="28575" marB="28575">
                    <a:solidFill>
                      <a:srgbClr val="F8EEE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0.161</a:t>
                      </a:r>
                    </a:p>
                  </a:txBody>
                  <a:tcPr marL="76200" marR="76200" marT="28575" marB="28575">
                    <a:solidFill>
                      <a:srgbClr val="F8EEE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突破前一代</a:t>
                      </a:r>
                    </a:p>
                  </a:txBody>
                  <a:tcPr marL="76200" marR="76200" marT="28575" marB="28575">
                    <a:solidFill>
                      <a:srgbClr val="F8EEEB"/>
                    </a:solidFill>
                  </a:tcPr>
                </a:tc>
              </a:tr>
              <a:tr h="553417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G17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180 / 0 / 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102.804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Code Reflection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553417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G20</a:t>
                      </a:r>
                    </a:p>
                  </a:txBody>
                  <a:tcPr marL="76200" marR="76200" marT="28575" marB="28575">
                    <a:solidFill>
                      <a:srgbClr val="F8EEE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120 / 0 / 60</a:t>
                      </a:r>
                    </a:p>
                  </a:txBody>
                  <a:tcPr marL="76200" marR="76200" marT="28575" marB="28575">
                    <a:solidFill>
                      <a:srgbClr val="F8EEE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35.040</a:t>
                      </a:r>
                    </a:p>
                  </a:txBody>
                  <a:tcPr marL="76200" marR="76200" marT="28575" marB="28575">
                    <a:solidFill>
                      <a:srgbClr val="F8EEE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新 snapshot 仍有勝場</a:t>
                      </a:r>
                    </a:p>
                  </a:txBody>
                  <a:tcPr marL="76200" marR="76200" marT="28575" marB="28575">
                    <a:solidFill>
                      <a:srgbClr val="F8EEEB"/>
                    </a:solidFill>
                  </a:tcPr>
                </a:tc>
              </a:tr>
              <a:tr h="553417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G40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114 / 24 / 42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40.523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最終仍可取勝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2:creationId id="{18ABDBF1-6DED-4809-8AD8-794E6F8B8219}"/>
              </a:ext>
            </a:extLst>
          </p:cNvPr>
          <p:cNvSpPr>
            <a:spLocks noGrp="1"/>
          </p:cNvSpPr>
          <p:nvPr/>
        </p:nvSpPr>
        <p:spPr>
          <a:xfrm>
            <a:off x="1428750" y="7194054"/>
            <a:ext cx="12955642" cy="63877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56" b="1">
                <a:solidFill>
                  <a:srgbClr val="9B7131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56" b="1">
                <a:solidFill>
                  <a:srgbClr val="9B7131"/>
                </a:solidFill>
                <a:latin typeface="Source Han Serif TW"/>
                <a:ea typeface="Source Han Serif TW"/>
                <a:cs typeface="Source Han Serif TW"/>
              </a:rPr>
              <a:t>G17 後的取勝能力跨過後續 snapshot refresh 保留下來</a:t>
            </a:r>
          </a:p>
        </p:txBody>
      </p:sp>
      <p:sp>
        <p:nvSpPr>
          <p:cNvPr id="14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C3762433-AD03-41FB-B53E-315B48CA52FB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8</a:t>
            </a:fld>
          </a:p>
        </p:txBody>
      </p:sp>
    </p:spTree>
    <p:extLst>
      <p:ext uri="{BB962C8B-B14F-4D97-AF65-F5344CB8AC3E}">
        <ns3:creationId val="938611899"/>
      </p:ext>
    </p:extLst>
  </p:cSld>
</p:sld>
</file>

<file path=ppt/slides/slide9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 showMasterSp="1">
  <p:cSld>
    <p:spTree>
      <p:nvGrpSpPr>
        <p:cNvPr id="1" name=""/>
        <p:cNvGrpSpPr/>
        <p:nvPr/>
      </p:nvGrpSpPr>
      <p:grpSpPr>
        <a:xfrm/>
      </p:grpSpPr>
      <p:sp>
        <p:nvSpPr>
          <p:cNvPr id="13" name="EAGLE_0">
            <a:extLst>
              <a:ext uri="{FF2B5EF4-FFF2-40B4-BE49-F238E27FC236}">
                <ns2:creationId id="{7B34BD6C-FBC0-4425-BB5C-6B3108211884}"/>
              </a:ext>
            </a:extLst>
          </p:cNvPr>
          <p:cNvSpPr>
            <a:spLocks noGrp="1"/>
          </p:cNvSpPr>
          <p:nvPr>
            <p:ph idx="0"/>
          </p:nvPr>
        </p:nvSpPr>
        <p:spPr>
          <a:xfrm>
            <a:off x="2286000" y="438150"/>
            <a:ext cx="11353800" cy="1047750"/>
          </a:xfrm>
        </p:spPr>
        <p:txBody>
          <a:bodyPr anchor="ctr">
            <a:noAutofit/>
          </a:bodyPr>
          <a:lstStyle/>
          <a:p>
            <a:pPr algn="ctr">
              <a:defRPr sz="46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46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Code Reflection 補上主動尋敵與追擊</a:t>
            </a:r>
          </a:p>
        </p:txBody>
      </p:sp>
      <p:sp>
        <p:nvSpPr>
          <p:cNvPr id="14" name="EAGLE_1">
            <a:extLst>
              <a:ext uri="{FF2B5EF4-FFF2-40B4-BE49-F238E27FC236}">
                <ns2:creationId id="{C3294638-104C-4180-8CFA-0BBA7FD350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0" y="1571625"/>
            <a:ext cx="10972800" cy="457200"/>
          </a:xfrm>
        </p:spPr>
        <p:txBody>
          <a:bodyPr anchor="ctr">
            <a:noAutofit/>
          </a:bodyPr>
          <a:lstStyle/>
          <a:p>
            <a: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G17：gen_0017_a4bee4778e92　　Mutation：crossover+mutation，Code Reflection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="1428750" y="2447330"/>
          <a:ext cx="13068300" cy="3127772"/>
        </p:xfrm>
        <a:graphic>
          <a:graphicData uri="http://schemas.openxmlformats.org/drawingml/2006/table">
            <a:tbl>
              <a:tblPr/>
              <a:tblGrid>
                <a:gridCol w="6534150"/>
                <a:gridCol w="6534150"/>
              </a:tblGrid>
              <a:tr h="781943">
                <a:tc>
                  <a:txBody>
                    <a:bodyPr>
                      <a:noAutofit/>
                    </a:bodyPr>
                    <a:lstStyle/>
                    <a:p>
                      <a:r>
                        <a:rPr sz="2501" b="1">
                          <a:solidFill>
                            <a:srgbClr val="FCF8F5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修改前</a:t>
                      </a:r>
                    </a:p>
                  </a:txBody>
                  <a:tcPr marL="76200" marR="76200" marT="28575" marB="28575">
                    <a:solidFill>
                      <a:srgbClr val="47171C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501" b="1">
                          <a:solidFill>
                            <a:srgbClr val="FCF8F5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修改後</a:t>
                      </a:r>
                    </a:p>
                  </a:txBody>
                  <a:tcPr marL="76200" marR="76200" marT="28575" marB="28575">
                    <a:solidFill>
                      <a:srgbClr val="47171C"/>
                    </a:solidFill>
                  </a:tcPr>
                </a:tc>
              </a:tr>
              <a:tr h="781943">
                <a:tc>
                  <a:txBody>
                    <a:bodyPr>
                      <a:noAutofit/>
                    </a:bodyPr>
                    <a:lstStyle/>
                    <a:p>
                      <a:r>
                        <a:rPr sz="250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只找攻擊範圍內的敵人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50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尋找全地圖最近的敵人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781943">
                <a:tc>
                  <a:txBody>
                    <a:bodyPr>
                      <a:noAutofit/>
                    </a:bodyPr>
                    <a:lstStyle/>
                    <a:p>
                      <a:r>
                        <a:rPr sz="250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無射程內目標時容易 idle</a:t>
                      </a:r>
                    </a:p>
                  </a:txBody>
                  <a:tcPr marL="76200" marR="76200" marT="28575" marB="28575">
                    <a:solidFill>
                      <a:srgbClr val="F8EEE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50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對最近敵人下達 commandAttack</a:t>
                      </a:r>
                    </a:p>
                  </a:txBody>
                  <a:tcPr marL="76200" marR="76200" marT="28575" marB="28575">
                    <a:solidFill>
                      <a:srgbClr val="F8EEEB"/>
                    </a:solidFill>
                  </a:tcPr>
                </a:tc>
              </a:tr>
              <a:tr h="781943">
                <a:tc>
                  <a:txBody>
                    <a:bodyPr>
                      <a:noAutofit/>
                    </a:bodyPr>
                    <a:lstStyle/>
                    <a:p>
                      <a:r>
                        <a:rPr sz="250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難以終結對稱或被動局面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50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主動追擊並形成實際勝負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2:creationId id="{12E1D231-FFEB-4E96-8BC8-3C7952C1C171}"/>
              </a:ext>
            </a:extLst>
          </p:cNvPr>
          <p:cNvSpPr>
            <a:spLocks noGrp="1"/>
          </p:cNvSpPr>
          <p:nvPr/>
        </p:nvSpPr>
        <p:spPr>
          <a:xfrm>
            <a:off x="1451282" y="5850434"/>
            <a:ext cx="12955642" cy="892076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7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7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此 lineage 延續至 gen_0040_c02a137db168。</a:t>
            </a:r>
          </a:p>
          <a:p>
            <a:pPr>
              <a:defRPr sz="207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7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最終 Java 保留「攻擊單位仍 idle 時，攻擊最近敵人」的 fallback。</a:t>
            </a:r>
          </a:p>
        </p:txBody>
      </p:sp>
      <p:sp>
        <p:nvSpPr>
          <p:cNvPr id="7" name="">
            <a:extLst>
              <a:ext uri="{FF2B5EF4-FFF2-40B4-BE49-F238E27FC236}">
                <ns2:creationId id="{C038EED7-391D-4B5F-BD3C-F7AD97359C3C}"/>
              </a:ext>
            </a:extLst>
          </p:cNvPr>
          <p:cNvSpPr>
            <a:spLocks noGrp="1"/>
          </p:cNvSpPr>
          <p:nvPr/>
        </p:nvSpPr>
        <p:spPr>
          <a:xfrm>
            <a:off x="1428750" y="7194054"/>
            <a:ext cx="12955642" cy="63877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56" b="1">
                <a:solidFill>
                  <a:srgbClr val="9B7131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56" b="1">
                <a:solidFill>
                  <a:srgbClr val="9B7131"/>
                </a:solidFill>
                <a:latin typeface="Source Han Serif TW"/>
                <a:ea typeface="Source Han Serif TW"/>
                <a:cs typeface="Source Han Serif TW"/>
              </a:rPr>
              <a:t>這是 artifact 與 Java diff 支持的機制解釋；因果仍需 rollback 或同 seed ablation</a:t>
            </a:r>
          </a:p>
        </p:txBody>
      </p:sp>
      <p:sp>
        <p:nvSpPr>
          <p:cNvPr id="15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7A26A2A4-583E-458E-A0DC-B09A657468D0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9</a:t>
            </a:fld>
          </a:p>
        </p:txBody>
      </p:sp>
    </p:spTree>
    <p:extLst>
      <p:ext uri="{BB962C8B-B14F-4D97-AF65-F5344CB8AC3E}">
        <ns3:creationId val="1235285929"/>
      </p:ext>
    </p:extLst>
  </p:cSld>
</p:sld>
</file>

<file path=ppt/slides/slide10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 showMasterSp="1">
  <p:cSld>
    <p:spTree>
      <p:nvGrpSpPr>
        <p:cNvPr id="1" name=""/>
        <p:cNvGrpSpPr/>
        <p:nvPr/>
      </p:nvGrpSpPr>
      <p:grpSpPr>
        <a:xfrm/>
      </p:grpSpPr>
      <p:sp>
        <p:nvSpPr>
          <p:cNvPr id="12" name="EAGLE_0">
            <a:extLst>
              <a:ext uri="{FF2B5EF4-FFF2-40B4-BE49-F238E27FC236}">
                <ns2:creationId id="{12630BFB-072F-43E4-9719-3BAB344B72CA}"/>
              </a:ext>
            </a:extLst>
          </p:cNvPr>
          <p:cNvSpPr>
            <a:spLocks noGrp="1"/>
          </p:cNvSpPr>
          <p:nvPr>
            <p:ph idx="0"/>
          </p:nvPr>
        </p:nvSpPr>
        <p:spPr>
          <a:xfrm>
            <a:off x="2286000" y="438150"/>
            <a:ext cx="11353800" cy="1047750"/>
          </a:xfrm>
        </p:spPr>
        <p:txBody>
          <a:bodyPr anchor="ctr">
            <a:noAutofit/>
          </a:bodyPr>
          <a:lstStyle/>
          <a:p>
            <a:pPr algn="ctr">
              <a:defRPr sz="46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46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最終族群仍出現 fitness 平台</a:t>
            </a:r>
          </a:p>
        </p:txBody>
      </p:sp>
      <p:sp>
        <p:nvSpPr>
          <p:cNvPr id="13" name="EAGLE_1">
            <a:extLst>
              <a:ext uri="{FF2B5EF4-FFF2-40B4-BE49-F238E27FC236}">
                <ns2:creationId id="{EF634D7A-01BA-43FC-AA2C-FC490843DD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0" y="1571625"/>
            <a:ext cx="10972800" cy="457200"/>
          </a:xfrm>
        </p:spPr>
        <p:txBody>
          <a:bodyPr anchor="ctr">
            <a:noAutofit/>
          </a:bodyPr>
          <a:lstStyle/>
          <a:p>
            <a: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相同 fitness 不代表相同程式；目前 snapshot 對策略差異的辨識能力有限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="1428750" y="2469356"/>
          <a:ext cx="13068300" cy="3986808"/>
        </p:xfrm>
        <a:graphic>
          <a:graphicData uri="http://schemas.openxmlformats.org/drawingml/2006/table">
            <a:tbl>
              <a:tblPr/>
              <a:tblGrid>
                <a:gridCol w="4618968"/>
                <a:gridCol w="2816444"/>
                <a:gridCol w="2816444"/>
                <a:gridCol w="2816444"/>
              </a:tblGrid>
              <a:tr h="569544">
                <a:tc>
                  <a:txBody>
                    <a:bodyPr>
                      <a:noAutofit/>
                    </a:bodyPr>
                    <a:lstStyle/>
                    <a:p>
                      <a:r>
                        <a:rPr sz="2070" b="1">
                          <a:solidFill>
                            <a:srgbClr val="FCF8F5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指標</a:t>
                      </a:r>
                    </a:p>
                  </a:txBody>
                  <a:tcPr marL="76200" marR="76200" marT="28575" marB="28575">
                    <a:solidFill>
                      <a:srgbClr val="47171C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70" b="1">
                          <a:solidFill>
                            <a:srgbClr val="FCF8F5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Fixed-roster</a:t>
                      </a:r>
                    </a:p>
                  </a:txBody>
                  <a:tcPr marL="76200" marR="76200" marT="28575" marB="28575">
                    <a:solidFill>
                      <a:srgbClr val="47171C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70" b="1">
                          <a:solidFill>
                            <a:srgbClr val="FCF8F5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Self-play 10×20</a:t>
                      </a:r>
                    </a:p>
                  </a:txBody>
                  <a:tcPr marL="76200" marR="76200" marT="28575" marB="28575">
                    <a:solidFill>
                      <a:srgbClr val="47171C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70" b="1">
                          <a:solidFill>
                            <a:srgbClr val="FCF8F5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Self-play 5×40</a:t>
                      </a:r>
                    </a:p>
                  </a:txBody>
                  <a:tcPr marL="76200" marR="76200" marT="28575" marB="28575">
                    <a:solidFill>
                      <a:srgbClr val="47171C"/>
                    </a:solidFill>
                  </a:tcPr>
                </a:tc>
              </a:tr>
              <a:tr h="569544">
                <a:tc>
                  <a:txBody>
                    <a:bodyPr>
                      <a:noAutofit/>
                    </a:bodyPr>
                    <a:lstStyle/>
                    <a:p>
                      <a:r>
                        <a:rPr sz="207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Final population size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7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7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7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5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569544">
                <a:tc>
                  <a:txBody>
                    <a:bodyPr>
                      <a:noAutofit/>
                    </a:bodyPr>
                    <a:lstStyle/>
                    <a:p>
                      <a:r>
                        <a:rPr sz="207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最高 fitness 同分</a:t>
                      </a:r>
                    </a:p>
                  </a:txBody>
                  <a:tcPr marL="76200" marR="76200" marT="28575" marB="28575">
                    <a:solidFill>
                      <a:srgbClr val="F8EEE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7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</a:t>
                      </a:r>
                    </a:p>
                  </a:txBody>
                  <a:tcPr marL="76200" marR="76200" marT="28575" marB="28575">
                    <a:solidFill>
                      <a:srgbClr val="F8EEE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7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7</a:t>
                      </a:r>
                    </a:p>
                  </a:txBody>
                  <a:tcPr marL="76200" marR="76200" marT="28575" marB="28575">
                    <a:solidFill>
                      <a:srgbClr val="F8EEE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7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4</a:t>
                      </a:r>
                    </a:p>
                  </a:txBody>
                  <a:tcPr marL="76200" marR="76200" marT="28575" marB="28575">
                    <a:solidFill>
                      <a:srgbClr val="F8EEEB"/>
                    </a:solidFill>
                  </a:tcPr>
                </a:tc>
              </a:tr>
              <a:tr h="569544">
                <a:tc>
                  <a:txBody>
                    <a:bodyPr>
                      <a:noAutofit/>
                    </a:bodyPr>
                    <a:lstStyle/>
                    <a:p>
                      <a:r>
                        <a:rPr sz="207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Unique objective vectors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7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7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4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7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569544">
                <a:tc>
                  <a:txBody>
                    <a:bodyPr>
                      <a:noAutofit/>
                    </a:bodyPr>
                    <a:lstStyle/>
                    <a:p>
                      <a:r>
                        <a:rPr sz="207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Strategy niches</a:t>
                      </a:r>
                    </a:p>
                  </a:txBody>
                  <a:tcPr marL="76200" marR="76200" marT="28575" marB="28575">
                    <a:solidFill>
                      <a:srgbClr val="F8EEE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7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3</a:t>
                      </a:r>
                    </a:p>
                  </a:txBody>
                  <a:tcPr marL="76200" marR="76200" marT="28575" marB="28575">
                    <a:solidFill>
                      <a:srgbClr val="F8EEE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7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4</a:t>
                      </a:r>
                    </a:p>
                  </a:txBody>
                  <a:tcPr marL="76200" marR="76200" marT="28575" marB="28575">
                    <a:solidFill>
                      <a:srgbClr val="F8EEE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7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3</a:t>
                      </a:r>
                    </a:p>
                  </a:txBody>
                  <a:tcPr marL="76200" marR="76200" marT="28575" marB="28575">
                    <a:solidFill>
                      <a:srgbClr val="F8EEEB"/>
                    </a:solidFill>
                  </a:tcPr>
                </a:tc>
              </a:tr>
              <a:tr h="569544">
                <a:tc>
                  <a:txBody>
                    <a:bodyPr>
                      <a:noAutofit/>
                    </a:bodyPr>
                    <a:lstStyle/>
                    <a:p>
                      <a:r>
                        <a:rPr sz="207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Unique Java hashes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7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9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7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7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7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4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569544">
                <a:tc>
                  <a:txBody>
                    <a:bodyPr>
                      <a:noAutofit/>
                    </a:bodyPr>
                    <a:lstStyle/>
                    <a:p>
                      <a:r>
                        <a:rPr sz="207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最高同分群 Java hashes</a:t>
                      </a:r>
                    </a:p>
                  </a:txBody>
                  <a:tcPr marL="76200" marR="76200" marT="28575" marB="28575">
                    <a:solidFill>
                      <a:srgbClr val="F8EEE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7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</a:t>
                      </a:r>
                    </a:p>
                  </a:txBody>
                  <a:tcPr marL="76200" marR="76200" marT="28575" marB="28575">
                    <a:solidFill>
                      <a:srgbClr val="F8EEE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7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4</a:t>
                      </a:r>
                    </a:p>
                  </a:txBody>
                  <a:tcPr marL="76200" marR="76200" marT="28575" marB="28575">
                    <a:solidFill>
                      <a:srgbClr val="F8EEE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7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3</a:t>
                      </a:r>
                    </a:p>
                  </a:txBody>
                  <a:tcPr marL="76200" marR="76200" marT="28575" marB="28575">
                    <a:solidFill>
                      <a:srgbClr val="F8EEEB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2:creationId id="{FEB6AAB9-9F51-4699-991C-EFDA4F73F60B}"/>
              </a:ext>
            </a:extLst>
          </p:cNvPr>
          <p:cNvSpPr>
            <a:spLocks noGrp="1"/>
          </p:cNvSpPr>
          <p:nvPr/>
        </p:nvSpPr>
        <p:spPr>
          <a:xfrm>
            <a:off x="1428750" y="7194054"/>
            <a:ext cx="12955642" cy="63877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56" b="1">
                <a:solidFill>
                  <a:srgbClr val="9B7131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56" b="1">
                <a:solidFill>
                  <a:srgbClr val="9B7131"/>
                </a:solidFill>
                <a:latin typeface="Source Han Serif TW"/>
                <a:ea typeface="Source Han Serif TW"/>
                <a:cs typeface="Source Han Serif TW"/>
              </a:rPr>
              <a:t>5×40 仍有 4/5 最高同分，但同分群保留 3 種 Java hashes</a:t>
            </a:r>
          </a:p>
        </p:txBody>
      </p:sp>
      <p:sp>
        <p:nvSpPr>
          <p:cNvPr id="14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817EACBB-437F-4D73-AF75-7073B48A267E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10</a:t>
            </a:fld>
          </a:p>
        </p:txBody>
      </p:sp>
    </p:spTree>
    <p:extLst>
      <p:ext uri="{BB962C8B-B14F-4D97-AF65-F5344CB8AC3E}">
        <ns3:creationId val="742966179"/>
      </p:ext>
    </p:extLst>
  </p:cSld>
</p:sld>
</file>

<file path=ppt/slides/slide11.xml><?xml version="1.0" encoding="utf-8"?>
<p:sld xmlns:a="http://schemas.openxmlformats.org/drawingml/2006/main" xmlns:ns2="http://schemas.microsoft.com/office/drawing/2014/main" xmlns:ns3="http://schemas.openxmlformats.org/drawingml/2006/chart" xmlns:ns5="http://schemas.microsoft.com/office/powerpoint/2010/main" xmlns:p="http://schemas.openxmlformats.org/presentationml/2006/main" xmlns:r="http://schemas.openxmlformats.org/officeDocument/2006/relationships" showMasterSp="1">
  <p:cSld>
    <p:spTree>
      <p:nvGrpSpPr>
        <p:cNvPr id="1" name=""/>
        <p:cNvGrpSpPr/>
        <p:nvPr/>
      </p:nvGrpSpPr>
      <p:grpSpPr>
        <a:xfrm/>
      </p:grpSpPr>
      <p:sp>
        <p:nvSpPr>
          <p:cNvPr id="15" name="EAGLE_0">
            <a:extLst>
              <a:ext uri="{FF2B5EF4-FFF2-40B4-BE49-F238E27FC236}">
                <ns2:creationId id="{AC30AD74-CA15-41B7-8BD8-663B72A6B6D9}"/>
              </a:ext>
            </a:extLst>
          </p:cNvPr>
          <p:cNvSpPr>
            <a:spLocks noGrp="1"/>
          </p:cNvSpPr>
          <p:nvPr>
            <p:ph idx="0"/>
          </p:nvPr>
        </p:nvSpPr>
        <p:spPr>
          <a:xfrm>
            <a:off x="2286000" y="438150"/>
            <a:ext cx="11353800" cy="1047750"/>
          </a:xfrm>
        </p:spPr>
        <p:txBody>
          <a:bodyPr anchor="ctr">
            <a:noAutofit/>
          </a:bodyPr>
          <a:lstStyle/>
          <a:p>
            <a:pPr algn="ctr">
              <a:defRPr sz="4603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4603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5×40 的觀測時間成本低於舊 self-play</a:t>
            </a:r>
          </a:p>
        </p:txBody>
      </p:sp>
      <p:sp>
        <p:nvSpPr>
          <p:cNvPr id="16" name="EAGLE_1">
            <a:extLst>
              <a:ext uri="{FF2B5EF4-FFF2-40B4-BE49-F238E27FC236}">
                <ns2:creationId id="{237D0164-ACEC-40E1-9B9C-252E1FDF55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0" y="1571625"/>
            <a:ext cx="10972800" cy="457200"/>
          </a:xfrm>
        </p:spPr>
        <p:txBody>
          <a:bodyPr anchor="ctr">
            <a:noAutofit/>
          </a:bodyPr>
          <a:lstStyle/>
          <a:p>
            <a: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Generation wall time：基準 16.72 h、10×20 25.30 h、5×40 17.99 h</a:t>
            </a:r>
          </a:p>
        </p:txBody>
      </p:sp>
      <p:graphicFrame>
        <p:nvGraphicFramePr>
          <p:cNvPr id="14" name="Chart"/>
          <p:cNvGraphicFramePr/>
          <p:nvPr/>
        </p:nvGraphicFramePr>
        <p:xfrm>
          <a:off x="1485079" y="2546449"/>
          <a:ext cx="6590479" cy="3722489"/>
        </p:xfrm>
        <a:graphic>
          <a:graphicData uri="http://schemas.openxmlformats.org/drawingml/2006/chart">
            <ns3:chart r:id="R444356c7549b49f4"/>
          </a:graphicData>
        </a:graphic>
      </p:graphicFrame>
      <p:sp>
        <p:nvSpPr>
          <p:cNvPr id="6" name="">
            <a:extLst>
              <a:ext uri="{FF2B5EF4-FFF2-40B4-BE49-F238E27FC236}">
                <ns2:creationId id="{65ECEB77-AC0B-40B5-BD15-EB8C5CCA35EC}"/>
              </a:ext>
            </a:extLst>
          </p:cNvPr>
          <p:cNvSpPr>
            <a:spLocks noGrp="1"/>
          </p:cNvSpPr>
          <p:nvPr/>
        </p:nvSpPr>
        <p:spPr>
          <a:xfrm>
            <a:off x="8548720" y="2689622"/>
            <a:ext cx="5914532" cy="60573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01" b="1">
                <a:solidFill>
                  <a:srgbClr val="9B7131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01" b="1">
                <a:solidFill>
                  <a:srgbClr val="9B7131"/>
                </a:solidFill>
                <a:latin typeface="Source Han Serif TW"/>
                <a:ea typeface="Source Han Serif TW"/>
                <a:cs typeface="Source Han Serif TW"/>
              </a:rPr>
              <a:t>較 SP 10×20 少 7.31 h（28.9%）</a:t>
            </a:r>
          </a:p>
        </p:txBody>
      </p:sp>
      <p:sp>
        <p:nvSpPr>
          <p:cNvPr id="7" name="">
            <a:extLst>
              <a:ext uri="{FF2B5EF4-FFF2-40B4-BE49-F238E27FC236}">
                <ns2:creationId id="{6A8C0098-F5B0-46F0-A874-1705ECA7F8AF}"/>
              </a:ext>
            </a:extLst>
          </p:cNvPr>
          <p:cNvSpPr>
            <a:spLocks noGrp="1"/>
          </p:cNvSpPr>
          <p:nvPr/>
        </p:nvSpPr>
        <p:spPr>
          <a:xfrm>
            <a:off x="8548720" y="3614738"/>
            <a:ext cx="5914532" cy="1927324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56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56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LLM requests　1,839 → 1,626</a:t>
            </a:r>
          </a:p>
          <a:p>
            <a:pPr>
              <a:defRPr sz="2156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56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LLM cumulative　13.36 → 9.49 h</a:t>
            </a:r>
          </a:p>
          <a:p>
            <a:pPr>
              <a:defRPr sz="2156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56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Match cumulative　8.63 → 5.40 h</a:t>
            </a:r>
          </a:p>
        </p:txBody>
      </p:sp>
      <p:sp>
        <p:nvSpPr>
          <p:cNvPr id="8" name="">
            <a:extLst>
              <a:ext uri="{FF2B5EF4-FFF2-40B4-BE49-F238E27FC236}">
                <ns2:creationId id="{C7C6B169-2D1C-49F3-8A05-A75D909FAE1D}"/>
              </a:ext>
            </a:extLst>
          </p:cNvPr>
          <p:cNvSpPr>
            <a:spLocks noGrp="1"/>
          </p:cNvSpPr>
          <p:nvPr/>
        </p:nvSpPr>
        <p:spPr>
          <a:xfrm>
            <a:off x="1451282" y="6588323"/>
            <a:ext cx="12842984" cy="63877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97" b="0">
                <a:solidFill>
                  <a:srgbClr val="9B7131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97" b="0">
                <a:solidFill>
                  <a:srgbClr val="9B7131"/>
                </a:solidFill>
                <a:latin typeface="Source Han Serif TW"/>
                <a:ea typeface="Source Han Serif TW"/>
                <a:cs typeface="Source Han Serif TW"/>
              </a:rPr>
              <a:t>10×20 含中斷恢復開銷。基準使用舊 timing schema，match events 與時間不直接比較。</a:t>
            </a:r>
          </a:p>
        </p:txBody>
      </p:sp>
      <p:sp>
        <p:nvSpPr>
          <p:cNvPr id="9" name="">
            <a:extLst>
              <a:ext uri="{FF2B5EF4-FFF2-40B4-BE49-F238E27FC236}">
                <ns2:creationId id="{B95800EA-09D0-451C-9587-2A55AF3C1E4D}"/>
              </a:ext>
            </a:extLst>
          </p:cNvPr>
          <p:cNvSpPr>
            <a:spLocks noGrp="1"/>
          </p:cNvSpPr>
          <p:nvPr/>
        </p:nvSpPr>
        <p:spPr>
          <a:xfrm>
            <a:off x="1428750" y="7370266"/>
            <a:ext cx="12955642" cy="63877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56" b="1">
                <a:solidFill>
                  <a:srgbClr val="9B7131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56" b="1">
                <a:solidFill>
                  <a:srgbClr val="9B7131"/>
                </a:solidFill>
                <a:latin typeface="Source Han Serif TW"/>
                <a:ea typeface="Source Han Serif TW"/>
                <a:cs typeface="Source Han Serif TW"/>
              </a:rPr>
              <a:t>本次 run 的成本較低；不能將全部時間差歸因於 5×40 配置</a:t>
            </a:r>
          </a:p>
        </p:txBody>
      </p:sp>
      <p:sp>
        <p:nvSpPr>
          <p:cNvPr id="17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C7A1A948-D01F-4833-BE37-709E73B65BCF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11</a:t>
            </a:fld>
          </a:p>
        </p:txBody>
      </p:sp>
    </p:spTree>
    <p:extLst>
      <p:ext uri="{BB962C8B-B14F-4D97-AF65-F5344CB8AC3E}">
        <ns5:creationId val="1074654027"/>
      </p:ext>
    </p:extLst>
  </p:cSld>
</p:sld>
</file>

<file path=ppt/slides/slide1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 showMasterSp="1">
  <p:cSld>
    <p:spTree>
      <p:nvGrpSpPr>
        <p:cNvPr id="1" name=""/>
        <p:cNvGrpSpPr/>
        <p:nvPr/>
      </p:nvGrpSpPr>
      <p:grpSpPr>
        <a:xfrm/>
      </p:grpSpPr>
      <p:sp>
        <p:nvSpPr>
          <p:cNvPr id="18" name="EAGLE_0">
            <a:extLst>
              <a:ext uri="{FF2B5EF4-FFF2-40B4-BE49-F238E27FC236}">
                <ns2:creationId id="{FC1D3BE5-5044-403A-B731-90977DBAF0EC}"/>
              </a:ext>
            </a:extLst>
          </p:cNvPr>
          <p:cNvSpPr>
            <a:spLocks noGrp="1"/>
          </p:cNvSpPr>
          <p:nvPr>
            <p:ph idx="0"/>
          </p:nvPr>
        </p:nvSpPr>
        <p:spPr>
          <a:xfrm>
            <a:off x="2286000" y="438150"/>
            <a:ext cx="11353800" cy="1047750"/>
          </a:xfrm>
        </p:spPr>
        <p:txBody>
          <a:bodyPr anchor="ctr">
            <a:noAutofit/>
          </a:bodyPr>
          <a:lstStyle/>
          <a:p>
            <a:pPr algn="ctr">
              <a:defRPr sz="46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46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下一輪實驗先建立公平基準</a:t>
            </a:r>
          </a:p>
        </p:txBody>
      </p:sp>
      <p:sp>
        <p:nvSpPr>
          <p:cNvPr id="19" name="EAGLE_1">
            <a:extLst>
              <a:ext uri="{FF2B5EF4-FFF2-40B4-BE49-F238E27FC236}">
                <ns2:creationId id="{88D94DF6-D503-4073-AD39-CF4EBBA982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0" y="1571625"/>
            <a:ext cx="10972800" cy="457200"/>
          </a:xfrm>
        </p:spPr>
        <p:txBody>
          <a:bodyPr anchor="ctr">
            <a:noAutofit/>
          </a:bodyPr>
          <a:lstStyle/>
          <a:p>
            <a: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保留 5×40 作為後續候選配置，再補強外部能力約束</a:t>
            </a:r>
          </a:p>
        </p:txBody>
      </p:sp>
      <p:sp>
        <p:nvSpPr>
          <p:cNvPr id="5" name="">
            <a:extLst>
              <a:ext uri="{FF2B5EF4-FFF2-40B4-BE49-F238E27FC236}">
                <ns2:creationId id="{820B567A-86E0-4788-8120-C3EE010CEB40}"/>
              </a:ext>
            </a:extLst>
          </p:cNvPr>
          <p:cNvSpPr>
            <a:spLocks noGrp="1"/>
          </p:cNvSpPr>
          <p:nvPr/>
        </p:nvSpPr>
        <p:spPr>
          <a:xfrm>
            <a:off x="1462547" y="2458343"/>
            <a:ext cx="811136" cy="715863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364" b="1">
                <a:solidFill>
                  <a:srgbClr val="9B7131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64" b="1">
                <a:solidFill>
                  <a:srgbClr val="9B7131"/>
                </a:solidFill>
                <a:latin typeface="Source Han Serif TW"/>
                <a:ea typeface="Source Han Serif TW"/>
                <a:cs typeface="Source Han Serif TW"/>
              </a:rPr>
              <a:t>01</a:t>
            </a:r>
          </a:p>
        </p:txBody>
      </p:sp>
      <p:sp>
        <p:nvSpPr>
          <p:cNvPr id="6" name="">
            <a:extLst>
              <a:ext uri="{FF2B5EF4-FFF2-40B4-BE49-F238E27FC236}">
                <ns2:creationId id="{BA825191-685B-4963-8A00-17E4E2485494}"/>
              </a:ext>
            </a:extLst>
          </p:cNvPr>
          <p:cNvSpPr>
            <a:spLocks noGrp="1"/>
          </p:cNvSpPr>
          <p:nvPr/>
        </p:nvSpPr>
        <p:spPr>
          <a:xfrm>
            <a:off x="2498999" y="2458343"/>
            <a:ext cx="11829065" cy="506611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01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01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Current-code fixed-roster 10×20</a:t>
            </a:r>
          </a:p>
        </p:txBody>
      </p:sp>
      <p:sp>
        <p:nvSpPr>
          <p:cNvPr id="7" name="">
            <a:extLst>
              <a:ext uri="{FF2B5EF4-FFF2-40B4-BE49-F238E27FC236}">
                <ns2:creationId id="{E43B11FC-A7F5-4C17-9C87-F3A5CED958EA}"/>
              </a:ext>
            </a:extLst>
          </p:cNvPr>
          <p:cNvSpPr>
            <a:spLocks noGrp="1"/>
          </p:cNvSpPr>
          <p:nvPr/>
        </p:nvSpPr>
        <p:spPr>
          <a:xfrm>
            <a:off x="2498999" y="2964954"/>
            <a:ext cx="11829065" cy="49559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7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7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建立同 commit、同 pipeline 的 control</a:t>
            </a:r>
          </a:p>
        </p:txBody>
      </p:sp>
      <p:sp>
        <p:nvSpPr>
          <p:cNvPr id="8" name="">
            <a:extLst>
              <a:ext uri="{FF2B5EF4-FFF2-40B4-BE49-F238E27FC236}">
                <ns2:creationId id="{A0CA6334-2059-4720-A033-7D33FA0D4F8F}"/>
              </a:ext>
            </a:extLst>
          </p:cNvPr>
          <p:cNvSpPr>
            <a:spLocks noGrp="1"/>
          </p:cNvSpPr>
          <p:nvPr/>
        </p:nvSpPr>
        <p:spPr>
          <a:xfrm>
            <a:off x="1462547" y="3559671"/>
            <a:ext cx="811136" cy="715863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364" b="1">
                <a:solidFill>
                  <a:srgbClr val="9B7131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64" b="1">
                <a:solidFill>
                  <a:srgbClr val="9B7131"/>
                </a:solidFill>
                <a:latin typeface="Source Han Serif TW"/>
                <a:ea typeface="Source Han Serif TW"/>
                <a:cs typeface="Source Han Serif TW"/>
              </a:rPr>
              <a:t>02</a:t>
            </a:r>
          </a:p>
        </p:txBody>
      </p:sp>
      <p:sp>
        <p:nvSpPr>
          <p:cNvPr id="9" name="">
            <a:extLst>
              <a:ext uri="{FF2B5EF4-FFF2-40B4-BE49-F238E27FC236}">
                <ns2:creationId id="{C485F8B1-FADF-4F51-875B-957AE977BAD7}"/>
              </a:ext>
            </a:extLst>
          </p:cNvPr>
          <p:cNvSpPr>
            <a:spLocks noGrp="1"/>
          </p:cNvSpPr>
          <p:nvPr/>
        </p:nvSpPr>
        <p:spPr>
          <a:xfrm>
            <a:off x="2498999" y="3559671"/>
            <a:ext cx="11829065" cy="506611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01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01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5×40 self-play 加 fixed anchors</a:t>
            </a:r>
          </a:p>
        </p:txBody>
      </p:sp>
      <p:sp>
        <p:nvSpPr>
          <p:cNvPr id="10" name="">
            <a:extLst>
              <a:ext uri="{FF2B5EF4-FFF2-40B4-BE49-F238E27FC236}">
                <ns2:creationId id="{768798E2-BF23-484F-B744-06CC03DA5AF3}"/>
              </a:ext>
            </a:extLst>
          </p:cNvPr>
          <p:cNvSpPr>
            <a:spLocks noGrp="1"/>
          </p:cNvSpPr>
          <p:nvPr/>
        </p:nvSpPr>
        <p:spPr>
          <a:xfrm>
            <a:off x="2498999" y="4066282"/>
            <a:ext cx="11829065" cy="49559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7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7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納入 LightRush、HeavyRush、WorkerRush 或 COAC</a:t>
            </a:r>
          </a:p>
        </p:txBody>
      </p:sp>
      <p:sp>
        <p:nvSpPr>
          <p:cNvPr id="11" name="">
            <a:extLst>
              <a:ext uri="{FF2B5EF4-FFF2-40B4-BE49-F238E27FC236}">
                <ns2:creationId id="{F01D85D2-875C-4D5C-96E8-AE83594B0BB5}"/>
              </a:ext>
            </a:extLst>
          </p:cNvPr>
          <p:cNvSpPr>
            <a:spLocks noGrp="1"/>
          </p:cNvSpPr>
          <p:nvPr/>
        </p:nvSpPr>
        <p:spPr>
          <a:xfrm>
            <a:off x="1462547" y="4660999"/>
            <a:ext cx="811136" cy="715863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364" b="1">
                <a:solidFill>
                  <a:srgbClr val="9B7131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64" b="1">
                <a:solidFill>
                  <a:srgbClr val="9B7131"/>
                </a:solidFill>
                <a:latin typeface="Source Han Serif TW"/>
                <a:ea typeface="Source Han Serif TW"/>
                <a:cs typeface="Source Han Serif TW"/>
              </a:rPr>
              <a:t>03</a:t>
            </a:r>
          </a:p>
        </p:txBody>
      </p:sp>
      <p:sp>
        <p:nvSpPr>
          <p:cNvPr id="12" name="">
            <a:extLst>
              <a:ext uri="{FF2B5EF4-FFF2-40B4-BE49-F238E27FC236}">
                <ns2:creationId id="{A589022A-683C-405F-B6C5-4B22230C8E8C}"/>
              </a:ext>
            </a:extLst>
          </p:cNvPr>
          <p:cNvSpPr>
            <a:spLocks noGrp="1"/>
          </p:cNvSpPr>
          <p:nvPr/>
        </p:nvSpPr>
        <p:spPr>
          <a:xfrm>
            <a:off x="2498999" y="4660999"/>
            <a:ext cx="11829065" cy="506611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01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01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Snapshot refresh 加 holdout probe</a:t>
            </a:r>
          </a:p>
        </p:txBody>
      </p:sp>
      <p:sp>
        <p:nvSpPr>
          <p:cNvPr id="13" name="">
            <a:extLst>
              <a:ext uri="{FF2B5EF4-FFF2-40B4-BE49-F238E27FC236}">
                <ns2:creationId id="{DF20DDFE-3764-41CE-99DA-31F2568AA0CC}"/>
              </a:ext>
            </a:extLst>
          </p:cNvPr>
          <p:cNvSpPr>
            <a:spLocks noGrp="1"/>
          </p:cNvSpPr>
          <p:nvPr/>
        </p:nvSpPr>
        <p:spPr>
          <a:xfrm>
            <a:off x="2498999" y="5167610"/>
            <a:ext cx="11829065" cy="49559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7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7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固定測試對手，只監控、不參與 selection</a:t>
            </a:r>
          </a:p>
        </p:txBody>
      </p:sp>
      <p:sp>
        <p:nvSpPr>
          <p:cNvPr id="14" name="">
            <a:extLst>
              <a:ext uri="{FF2B5EF4-FFF2-40B4-BE49-F238E27FC236}">
                <ns2:creationId id="{88E0484D-7CE5-4204-8B6D-D45AE929DC85}"/>
              </a:ext>
            </a:extLst>
          </p:cNvPr>
          <p:cNvSpPr>
            <a:spLocks noGrp="1"/>
          </p:cNvSpPr>
          <p:nvPr/>
        </p:nvSpPr>
        <p:spPr>
          <a:xfrm>
            <a:off x="1462547" y="5762327"/>
            <a:ext cx="811136" cy="715863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364" b="1">
                <a:solidFill>
                  <a:srgbClr val="9B7131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64" b="1">
                <a:solidFill>
                  <a:srgbClr val="9B7131"/>
                </a:solidFill>
                <a:latin typeface="Source Han Serif TW"/>
                <a:ea typeface="Source Han Serif TW"/>
                <a:cs typeface="Source Han Serif TW"/>
              </a:rPr>
              <a:t>04</a:t>
            </a:r>
          </a:p>
        </p:txBody>
      </p:sp>
      <p:sp>
        <p:nvSpPr>
          <p:cNvPr id="15" name="">
            <a:extLst>
              <a:ext uri="{FF2B5EF4-FFF2-40B4-BE49-F238E27FC236}">
                <ns2:creationId id="{2FCD4A47-D23C-40C3-9D72-89E4C5A728EB}"/>
              </a:ext>
            </a:extLst>
          </p:cNvPr>
          <p:cNvSpPr>
            <a:spLocks noGrp="1"/>
          </p:cNvSpPr>
          <p:nvPr/>
        </p:nvSpPr>
        <p:spPr>
          <a:xfrm>
            <a:off x="2498999" y="5762327"/>
            <a:ext cx="11829065" cy="506611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01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01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Winless plateau 診斷</a:t>
            </a:r>
          </a:p>
        </p:txBody>
      </p:sp>
      <p:sp>
        <p:nvSpPr>
          <p:cNvPr id="16" name="">
            <a:extLst>
              <a:ext uri="{FF2B5EF4-FFF2-40B4-BE49-F238E27FC236}">
                <ns2:creationId id="{6DD411A4-367E-4540-B02C-81DF71544001}"/>
              </a:ext>
            </a:extLst>
          </p:cNvPr>
          <p:cNvSpPr>
            <a:spLocks noGrp="1"/>
          </p:cNvSpPr>
          <p:nvPr/>
        </p:nvSpPr>
        <p:spPr>
          <a:xfrm>
            <a:off x="2498999" y="6268938"/>
            <a:ext cx="11829065" cy="49559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7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7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連續多代僅有和局時，檢查攻擊能力或 mutation bias</a:t>
            </a:r>
          </a:p>
        </p:txBody>
      </p:sp>
      <p:sp>
        <p:nvSpPr>
          <p:cNvPr id="17" name="">
            <a:extLst>
              <a:ext uri="{FF2B5EF4-FFF2-40B4-BE49-F238E27FC236}">
                <ns2:creationId id="{A05B27D0-0221-40AC-BA8E-5918EAC97F6D}"/>
              </a:ext>
            </a:extLst>
          </p:cNvPr>
          <p:cNvSpPr>
            <a:spLocks noGrp="1"/>
          </p:cNvSpPr>
          <p:nvPr/>
        </p:nvSpPr>
        <p:spPr>
          <a:xfrm>
            <a:off x="1428750" y="7194054"/>
            <a:ext cx="12955642" cy="63877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56" b="1">
                <a:solidFill>
                  <a:srgbClr val="9B7131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56" b="1">
                <a:solidFill>
                  <a:srgbClr val="9B7131"/>
                </a:solidFill>
                <a:latin typeface="Source Han Serif TW"/>
                <a:ea typeface="Source Han Serif TW"/>
                <a:cs typeface="Source Han Serif TW"/>
              </a:rPr>
              <a:t>待驗證：fixed anchors 是否能縮小 LightRush、HeavyRush 與 COAC 的差距</a:t>
            </a:r>
          </a:p>
        </p:txBody>
      </p:sp>
      <p:sp>
        <p:nvSpPr>
          <p:cNvPr id="20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0743BFCD-9D4E-4BDD-811F-8736032B2DF7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12</a:t>
            </a:fld>
          </a:p>
        </p:txBody>
      </p:sp>
    </p:spTree>
    <p:extLst>
      <p:ext uri="{BB962C8B-B14F-4D97-AF65-F5344CB8AC3E}">
        <ns3:creationId val="34571996"/>
      </p:ext>
    </p:extLst>
  </p:cSld>
</p:sld>
</file>

<file path=ppt/slides/slide1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 showMasterSp="1">
  <p:cSld>
    <p:spTree>
      <p:nvGrpSpPr>
        <p:cNvPr id="1" name=""/>
        <p:cNvGrpSpPr/>
        <p:nvPr/>
      </p:nvGrpSpPr>
      <p:grpSpPr>
        <a:xfrm/>
      </p:grpSpPr>
      <p:sp>
        <p:nvSpPr>
          <p:cNvPr id="12" name="EAGLE_0">
            <a:extLst>
              <a:ext uri="{FF2B5EF4-FFF2-40B4-BE49-F238E27FC236}">
                <ns2:creationId id="{C4F8478B-759F-43C6-B958-CBB7EC67C2C9}"/>
              </a:ext>
            </a:extLst>
          </p:cNvPr>
          <p:cNvSpPr>
            <a:spLocks noGrp="1"/>
          </p:cNvSpPr>
          <p:nvPr>
            <p:ph idx="0"/>
          </p:nvPr>
        </p:nvSpPr>
        <p:spPr>
          <a:xfrm>
            <a:off x="2286000" y="438150"/>
            <a:ext cx="11353800" cy="1047750"/>
          </a:xfrm>
        </p:spPr>
        <p:txBody>
          <a:bodyPr anchor="ctr">
            <a:noAutofit/>
          </a:bodyPr>
          <a:lstStyle/>
          <a:p>
            <a:pPr algn="ctr">
              <a:defRPr sz="46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46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附錄 A　完整 opponent 勝場比較</a:t>
            </a:r>
          </a:p>
        </p:txBody>
      </p:sp>
      <p:sp>
        <p:nvSpPr>
          <p:cNvPr id="13" name="EAGLE_1">
            <a:extLst>
              <a:ext uri="{FF2B5EF4-FFF2-40B4-BE49-F238E27FC236}">
                <ns2:creationId id="{ACB2FDB4-E0F9-4D68-9839-D56710AC2C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0" y="1571625"/>
            <a:ext cx="10972800" cy="457200"/>
          </a:xfrm>
        </p:spPr>
        <p:txBody>
          <a:bodyPr anchor="ctr">
            <a:noAutofit/>
          </a:bodyPr>
          <a:lstStyle/>
          <a:p>
            <a: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每個 opponent 60 場；差值為 Self-play 5×40 減 Fixed-roster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="1428750" y="2381250"/>
          <a:ext cx="13068300" cy="4867870"/>
        </p:xfrm>
        <a:graphic>
          <a:graphicData uri="http://schemas.openxmlformats.org/drawingml/2006/table">
            <a:tbl>
              <a:tblPr/>
              <a:tblGrid>
                <a:gridCol w="3830364"/>
                <a:gridCol w="2703786"/>
                <a:gridCol w="2365813"/>
                <a:gridCol w="2365813"/>
                <a:gridCol w="1802524"/>
              </a:tblGrid>
              <a:tr h="405656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1">
                          <a:solidFill>
                            <a:srgbClr val="FCF8F5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Opponent</a:t>
                      </a:r>
                    </a:p>
                  </a:txBody>
                  <a:tcPr marL="76200" marR="76200" marT="28575" marB="28575">
                    <a:solidFill>
                      <a:srgbClr val="47171C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1">
                          <a:solidFill>
                            <a:srgbClr val="FCF8F5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Fixed-roster</a:t>
                      </a:r>
                    </a:p>
                  </a:txBody>
                  <a:tcPr marL="76200" marR="76200" marT="28575" marB="28575">
                    <a:solidFill>
                      <a:srgbClr val="47171C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1">
                          <a:solidFill>
                            <a:srgbClr val="FCF8F5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SP 10×20</a:t>
                      </a:r>
                    </a:p>
                  </a:txBody>
                  <a:tcPr marL="76200" marR="76200" marT="28575" marB="28575">
                    <a:solidFill>
                      <a:srgbClr val="47171C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1">
                          <a:solidFill>
                            <a:srgbClr val="FCF8F5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SP 5×40</a:t>
                      </a:r>
                    </a:p>
                  </a:txBody>
                  <a:tcPr marL="76200" marR="76200" marT="28575" marB="28575">
                    <a:solidFill>
                      <a:srgbClr val="47171C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1">
                          <a:solidFill>
                            <a:srgbClr val="FCF8F5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差值</a:t>
                      </a:r>
                    </a:p>
                  </a:txBody>
                  <a:tcPr marL="76200" marR="76200" marT="28575" marB="28575">
                    <a:solidFill>
                      <a:srgbClr val="47171C"/>
                    </a:solidFill>
                  </a:tcPr>
                </a:tc>
              </a:tr>
              <a:tr h="405656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PassiveAI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60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60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405656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RandomAI</a:t>
                      </a:r>
                    </a:p>
                  </a:txBody>
                  <a:tcPr marL="76200" marR="76200" marT="28575" marB="28575">
                    <a:solidFill>
                      <a:srgbClr val="F8EEE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59</a:t>
                      </a:r>
                    </a:p>
                  </a:txBody>
                  <a:tcPr marL="76200" marR="76200" marT="28575" marB="28575">
                    <a:solidFill>
                      <a:srgbClr val="F8EEE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</a:t>
                      </a:r>
                    </a:p>
                  </a:txBody>
                  <a:tcPr marL="76200" marR="76200" marT="28575" marB="28575">
                    <a:solidFill>
                      <a:srgbClr val="F8EEE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60</a:t>
                      </a:r>
                    </a:p>
                  </a:txBody>
                  <a:tcPr marL="76200" marR="76200" marT="28575" marB="28575">
                    <a:solidFill>
                      <a:srgbClr val="F8EEE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+1</a:t>
                      </a:r>
                    </a:p>
                  </a:txBody>
                  <a:tcPr marL="76200" marR="76200" marT="28575" marB="28575">
                    <a:solidFill>
                      <a:srgbClr val="F8EEEB"/>
                    </a:solidFill>
                  </a:tcPr>
                </a:tc>
              </a:tr>
              <a:tr h="405656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RandomBiasedAI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57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57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405656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LightRush</a:t>
                      </a:r>
                    </a:p>
                  </a:txBody>
                  <a:tcPr marL="76200" marR="76200" marT="28575" marB="28575">
                    <a:solidFill>
                      <a:srgbClr val="F8EEE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30</a:t>
                      </a:r>
                    </a:p>
                  </a:txBody>
                  <a:tcPr marL="76200" marR="76200" marT="28575" marB="28575">
                    <a:solidFill>
                      <a:srgbClr val="F8EEE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</a:t>
                      </a:r>
                    </a:p>
                  </a:txBody>
                  <a:tcPr marL="76200" marR="76200" marT="28575" marB="28575">
                    <a:solidFill>
                      <a:srgbClr val="F8EEE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10</a:t>
                      </a:r>
                    </a:p>
                  </a:txBody>
                  <a:tcPr marL="76200" marR="76200" marT="28575" marB="28575">
                    <a:solidFill>
                      <a:srgbClr val="F8EEE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−20</a:t>
                      </a:r>
                    </a:p>
                  </a:txBody>
                  <a:tcPr marL="76200" marR="76200" marT="28575" marB="28575">
                    <a:solidFill>
                      <a:srgbClr val="F8EEEB"/>
                    </a:solidFill>
                  </a:tcPr>
                </a:tc>
              </a:tr>
              <a:tr h="405656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HeavyRush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40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−30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405656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WorkerRush</a:t>
                      </a:r>
                    </a:p>
                  </a:txBody>
                  <a:tcPr marL="76200" marR="76200" marT="28575" marB="28575">
                    <a:solidFill>
                      <a:srgbClr val="F8EEE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</a:t>
                      </a:r>
                    </a:p>
                  </a:txBody>
                  <a:tcPr marL="76200" marR="76200" marT="28575" marB="28575">
                    <a:solidFill>
                      <a:srgbClr val="F8EEE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</a:t>
                      </a:r>
                    </a:p>
                  </a:txBody>
                  <a:tcPr marL="76200" marR="76200" marT="28575" marB="28575">
                    <a:solidFill>
                      <a:srgbClr val="F8EEE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</a:t>
                      </a:r>
                    </a:p>
                  </a:txBody>
                  <a:tcPr marL="76200" marR="76200" marT="28575" marB="28575">
                    <a:solidFill>
                      <a:srgbClr val="F8EEE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</a:t>
                      </a:r>
                    </a:p>
                  </a:txBody>
                  <a:tcPr marL="76200" marR="76200" marT="28575" marB="28575">
                    <a:solidFill>
                      <a:srgbClr val="F8EEEB"/>
                    </a:solidFill>
                  </a:tcPr>
                </a:tc>
              </a:tr>
              <a:tr h="405656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AllInBot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405656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Mayari</a:t>
                      </a:r>
                    </a:p>
                  </a:txBody>
                  <a:tcPr marL="76200" marR="76200" marT="28575" marB="28575">
                    <a:solidFill>
                      <a:srgbClr val="F8EEE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</a:t>
                      </a:r>
                    </a:p>
                  </a:txBody>
                  <a:tcPr marL="76200" marR="76200" marT="28575" marB="28575">
                    <a:solidFill>
                      <a:srgbClr val="F8EEE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</a:t>
                      </a:r>
                    </a:p>
                  </a:txBody>
                  <a:tcPr marL="76200" marR="76200" marT="28575" marB="28575">
                    <a:solidFill>
                      <a:srgbClr val="F8EEE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</a:t>
                      </a:r>
                    </a:p>
                  </a:txBody>
                  <a:tcPr marL="76200" marR="76200" marT="28575" marB="28575">
                    <a:solidFill>
                      <a:srgbClr val="F8EEE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</a:t>
                      </a:r>
                    </a:p>
                  </a:txBody>
                  <a:tcPr marL="76200" marR="76200" marT="28575" marB="28575">
                    <a:solidFill>
                      <a:srgbClr val="F8EEEB"/>
                    </a:solidFill>
                  </a:tcPr>
                </a:tc>
              </a:tr>
              <a:tr h="405656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COAC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−10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405656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TMA</a:t>
                      </a:r>
                    </a:p>
                  </a:txBody>
                  <a:tcPr marL="76200" marR="76200" marT="28575" marB="28575">
                    <a:solidFill>
                      <a:srgbClr val="F8EEE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</a:t>
                      </a:r>
                    </a:p>
                  </a:txBody>
                  <a:tcPr marL="76200" marR="76200" marT="28575" marB="28575">
                    <a:solidFill>
                      <a:srgbClr val="F8EEE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</a:t>
                      </a:r>
                    </a:p>
                  </a:txBody>
                  <a:tcPr marL="76200" marR="76200" marT="28575" marB="28575">
                    <a:solidFill>
                      <a:srgbClr val="F8EEE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</a:t>
                      </a:r>
                    </a:p>
                  </a:txBody>
                  <a:tcPr marL="76200" marR="76200" marT="28575" marB="28575">
                    <a:solidFill>
                      <a:srgbClr val="F8EEE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</a:t>
                      </a:r>
                    </a:p>
                  </a:txBody>
                  <a:tcPr marL="76200" marR="76200" marT="28575" marB="28575">
                    <a:solidFill>
                      <a:srgbClr val="F8EEEB"/>
                    </a:solidFill>
                  </a:tcPr>
                </a:tc>
              </a:tr>
              <a:tr h="405656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Total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256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197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−59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2:creationId id="{BB0FF0EE-821D-4211-94EA-160AA18BF712}"/>
              </a:ext>
            </a:extLst>
          </p:cNvPr>
          <p:cNvSpPr>
            <a:spLocks noGrp="1"/>
          </p:cNvSpPr>
          <p:nvPr/>
        </p:nvSpPr>
        <p:spPr>
          <a:xfrm>
            <a:off x="1451282" y="7425333"/>
            <a:ext cx="12842984" cy="374452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11" b="1">
                <a:solidFill>
                  <a:srgbClr val="9B7131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11" b="1">
                <a:solidFill>
                  <a:srgbClr val="9B7131"/>
                </a:solidFill>
                <a:latin typeface="Source Han Serif TW"/>
                <a:ea typeface="Source Han Serif TW"/>
                <a:cs typeface="Source Han Serif TW"/>
              </a:rPr>
              <a:t>差額：RandomAI +1、LightRush −20、HeavyRush −30、COAC −10，合計 −59 勝。</a:t>
            </a:r>
          </a:p>
        </p:txBody>
      </p:sp>
      <p:sp>
        <p:nvSpPr>
          <p:cNvPr id="14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127DFDD8-317D-4E11-9EFE-2AF5EB0A6095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13</a:t>
            </a:fld>
          </a:p>
        </p:txBody>
      </p:sp>
    </p:spTree>
    <p:extLst>
      <p:ext uri="{BB962C8B-B14F-4D97-AF65-F5344CB8AC3E}">
        <ns3:creationId val="1737534538"/>
      </p:ext>
    </p:extLst>
  </p:cSld>
</p:sld>
</file>

<file path=ppt/slides/slide1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 showMasterSp="1">
  <p:cSld>
    <p:spTree>
      <p:nvGrpSpPr>
        <p:cNvPr id="1" name=""/>
        <p:cNvGrpSpPr/>
        <p:nvPr/>
      </p:nvGrpSpPr>
      <p:grpSpPr>
        <a:xfrm/>
      </p:grpSpPr>
      <p:sp>
        <p:nvSpPr>
          <p:cNvPr id="13" name="EAGLE_0">
            <a:extLst>
              <a:ext uri="{FF2B5EF4-FFF2-40B4-BE49-F238E27FC236}">
                <ns2:creationId id="{3E2D0019-A4F0-431A-A50F-8B9710CA5B5B}"/>
              </a:ext>
            </a:extLst>
          </p:cNvPr>
          <p:cNvSpPr>
            <a:spLocks noGrp="1"/>
          </p:cNvSpPr>
          <p:nvPr>
            <p:ph idx="0"/>
          </p:nvPr>
        </p:nvSpPr>
        <p:spPr>
          <a:xfrm>
            <a:off x="2286000" y="438150"/>
            <a:ext cx="11353800" cy="1047750"/>
          </a:xfrm>
        </p:spPr>
        <p:txBody>
          <a:bodyPr anchor="ctr">
            <a:noAutofit/>
          </a:bodyPr>
          <a:lstStyle/>
          <a:p>
            <a:pPr algn="ctr">
              <a:defRPr sz="46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46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附錄 B　Run identity 與比較限制</a:t>
            </a:r>
          </a:p>
        </p:txBody>
      </p:sp>
      <p:sp>
        <p:nvSpPr>
          <p:cNvPr id="14" name="EAGLE_1">
            <a:extLst>
              <a:ext uri="{FF2B5EF4-FFF2-40B4-BE49-F238E27FC236}">
                <ns2:creationId id="{82D3A4E6-4B2E-4BB6-BACA-9F5E84691D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0" y="1571625"/>
            <a:ext cx="10972800" cy="457200"/>
          </a:xfrm>
        </p:spPr>
        <p:txBody>
          <a:bodyPr anchor="ctr">
            <a:noAutofit/>
          </a:bodyPr>
          <a:lstStyle/>
          <a:p>
            <a: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以 run ID 及 resolved generations / population 為準，避免 experiment_name 誤導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="1428750" y="2315170"/>
          <a:ext cx="13068300" cy="2257723"/>
        </p:xfrm>
        <a:graphic>
          <a:graphicData uri="http://schemas.openxmlformats.org/drawingml/2006/table">
            <a:tbl>
              <a:tblPr/>
              <a:tblGrid>
                <a:gridCol w="5745546"/>
                <a:gridCol w="7322754"/>
              </a:tblGrid>
              <a:tr h="56443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070" b="1">
                          <a:solidFill>
                            <a:srgbClr val="FCF8F5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實驗</a:t>
                      </a:r>
                    </a:p>
                  </a:txBody>
                  <a:tcPr marL="76200" marR="76200" marT="28575" marB="28575">
                    <a:solidFill>
                      <a:srgbClr val="47171C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70" b="1">
                          <a:solidFill>
                            <a:srgbClr val="FCF8F5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Run ID</a:t>
                      </a:r>
                    </a:p>
                  </a:txBody>
                  <a:tcPr marL="76200" marR="76200" marT="28575" marB="28575">
                    <a:solidFill>
                      <a:srgbClr val="47171C"/>
                    </a:solidFill>
                  </a:tcPr>
                </a:tc>
              </a:tr>
              <a:tr h="56443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07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Fixed-roster 10×20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7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20260911_072610_382082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56443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07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Self-play 10×20</a:t>
                      </a:r>
                    </a:p>
                  </a:txBody>
                  <a:tcPr marL="76200" marR="76200" marT="28575" marB="28575">
                    <a:solidFill>
                      <a:srgbClr val="F8EEE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7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20260923_134743_200030</a:t>
                      </a:r>
                    </a:p>
                  </a:txBody>
                  <a:tcPr marL="76200" marR="76200" marT="28575" marB="28575">
                    <a:solidFill>
                      <a:srgbClr val="F8EEEB"/>
                    </a:solidFill>
                  </a:tcPr>
                </a:tc>
              </a:tr>
              <a:tr h="56443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07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Self-play 5×40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7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20260925_134245_911171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2:creationId id="{B8F103D1-0CA9-4881-BAA6-6F3FEC083732}"/>
              </a:ext>
            </a:extLst>
          </p:cNvPr>
          <p:cNvSpPr>
            <a:spLocks noGrp="1"/>
          </p:cNvSpPr>
          <p:nvPr/>
        </p:nvSpPr>
        <p:spPr>
          <a:xfrm>
            <a:off x="1451282" y="4958358"/>
            <a:ext cx="12955642" cy="1993404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7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7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命名：兩版 self-play 的 resolved experiment_name 與配置規模相反。</a:t>
            </a:r>
          </a:p>
          <a:p>
            <a:pPr>
              <a:defRPr sz="207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7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版本：基準來自較早 repository state，尚非同 commit 的 controlled ablation。</a:t>
            </a:r>
          </a:p>
          <a:p>
            <a:pPr>
              <a:defRPr sz="207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7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恢復：10×20 完成後仍保留 snapshot mismatch failure 記錄，成本含 recovery。</a:t>
            </a:r>
          </a:p>
          <a:p>
            <a:pPr>
              <a:defRPr sz="207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7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尺度：GP 僅能在同一 snapshot 比較，跨 run 採共同 600 場 final test。</a:t>
            </a:r>
          </a:p>
        </p:txBody>
      </p:sp>
      <p:sp>
        <p:nvSpPr>
          <p:cNvPr id="7" name="">
            <a:extLst>
              <a:ext uri="{FF2B5EF4-FFF2-40B4-BE49-F238E27FC236}">
                <ns2:creationId id="{7538E559-3D77-4822-9A54-714C36DFA76E}"/>
              </a:ext>
            </a:extLst>
          </p:cNvPr>
          <p:cNvSpPr>
            <a:spLocks noGrp="1"/>
          </p:cNvSpPr>
          <p:nvPr/>
        </p:nvSpPr>
        <p:spPr>
          <a:xfrm>
            <a:off x="1428750" y="7194054"/>
            <a:ext cx="12955642" cy="63877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56" b="1">
                <a:solidFill>
                  <a:srgbClr val="9B7131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56" b="1">
                <a:solidFill>
                  <a:srgbClr val="9B7131"/>
                </a:solidFill>
                <a:latin typeface="Source Han Serif TW"/>
                <a:ea typeface="Source Han Serif TW"/>
                <a:cs typeface="Source Han Serif TW"/>
              </a:rPr>
              <a:t>目前可比較外部測試結果；evaluation mode 的因果差異仍需 current-code control</a:t>
            </a:r>
          </a:p>
        </p:txBody>
      </p:sp>
      <p:sp>
        <p:nvSpPr>
          <p:cNvPr id="15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AD63C294-D7E5-478E-B4A6-FC94C7ABC569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14</a:t>
            </a:fld>
          </a:p>
        </p:txBody>
      </p:sp>
    </p:spTree>
    <p:extLst>
      <p:ext uri="{BB962C8B-B14F-4D97-AF65-F5344CB8AC3E}">
        <ns3:creationId val="1422017890"/>
      </p:ext>
    </p:extLst>
  </p:cSld>
</p:sld>
</file>

<file path=ppt/slides/slide15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 showMasterSp="1">
  <p:cSld>
    <p:spTree>
      <p:nvGrpSpPr>
        <p:cNvPr id="1" name=""/>
        <p:cNvGrpSpPr/>
        <p:nvPr/>
      </p:nvGrpSpPr>
      <p:grpSpPr>
        <a:xfrm/>
      </p:grpSpPr>
      <p:sp>
        <p:nvSpPr>
          <p:cNvPr id="13" name="EAGLE_0">
            <a:extLst>
              <a:ext uri="{FF2B5EF4-FFF2-40B4-BE49-F238E27FC236}">
                <ns2:creationId id="{C9CDB81B-F6F9-49FB-AEFE-B27296C23218}"/>
              </a:ext>
            </a:extLst>
          </p:cNvPr>
          <p:cNvSpPr>
            <a:spLocks noGrp="1"/>
          </p:cNvSpPr>
          <p:nvPr>
            <p:ph idx="0"/>
          </p:nvPr>
        </p:nvSpPr>
        <p:spPr>
          <a:xfrm>
            <a:off x="2286000" y="438150"/>
            <a:ext cx="11353800" cy="1047750"/>
          </a:xfrm>
        </p:spPr>
        <p:txBody>
          <a:bodyPr anchor="ctr">
            <a:noAutofit/>
          </a:bodyPr>
          <a:lstStyle/>
          <a:p>
            <a:pPr algn="ctr">
              <a:defRPr sz="46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46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附錄 C　Q&amp;A 備答</a:t>
            </a:r>
          </a:p>
        </p:txBody>
      </p:sp>
      <p:sp>
        <p:nvSpPr>
          <p:cNvPr id="14" name="EAGLE_1">
            <a:extLst>
              <a:ext uri="{FF2B5EF4-FFF2-40B4-BE49-F238E27FC236}">
                <ns2:creationId id="{8DBFD985-2998-486A-B0DF-BFA2BCA130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0" y="1571625"/>
            <a:ext cx="10972800" cy="457200"/>
          </a:xfrm>
        </p:spPr>
        <p:txBody>
          <a:bodyPr anchor="ctr">
            <a:noAutofit/>
          </a:bodyPr>
          <a:lstStyle/>
          <a:p>
            <a: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外部勝率由 0% 提升至 32.8%，但尚未追上固定對手基準的 42.7%</a:t>
            </a:r>
          </a:p>
        </p:txBody>
      </p:sp>
      <p:sp>
        <p:nvSpPr>
          <p:cNvPr id="5" name="">
            <a:extLst>
              <a:ext uri="{FF2B5EF4-FFF2-40B4-BE49-F238E27FC236}">
                <ns2:creationId id="{BB4C7AA6-843B-4780-8446-FFD478C94A65}"/>
              </a:ext>
            </a:extLst>
          </p:cNvPr>
          <p:cNvSpPr>
            <a:spLocks noGrp="1"/>
          </p:cNvSpPr>
          <p:nvPr/>
        </p:nvSpPr>
        <p:spPr>
          <a:xfrm>
            <a:off x="1451282" y="2458343"/>
            <a:ext cx="12955642" cy="484584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01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01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為什麼 5×40 較好？</a:t>
            </a:r>
          </a:p>
        </p:txBody>
      </p:sp>
      <p:sp>
        <p:nvSpPr>
          <p:cNvPr id="6" name="">
            <a:extLst>
              <a:ext uri="{FF2B5EF4-FFF2-40B4-BE49-F238E27FC236}">
                <ns2:creationId id="{920A1C21-9189-4864-94DF-296B234EB136}"/>
              </a:ext>
            </a:extLst>
          </p:cNvPr>
          <p:cNvSpPr>
            <a:spLocks noGrp="1"/>
          </p:cNvSpPr>
          <p:nvPr/>
        </p:nvSpPr>
        <p:spPr>
          <a:xfrm>
            <a:off x="1451282" y="2953941"/>
            <a:ext cx="12955642" cy="63877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7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7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G17 補上主動追擊，是目前 artifact 支持的機制解釋；尚需同 seed ablation。</a:t>
            </a:r>
          </a:p>
        </p:txBody>
      </p:sp>
      <p:sp>
        <p:nvSpPr>
          <p:cNvPr id="7" name="">
            <a:extLst>
              <a:ext uri="{FF2B5EF4-FFF2-40B4-BE49-F238E27FC236}">
                <ns2:creationId id="{91CDBCDC-ABCE-4FDB-B3EC-C594BF24DFD6}"/>
              </a:ext>
            </a:extLst>
          </p:cNvPr>
          <p:cNvSpPr>
            <a:spLocks noGrp="1"/>
          </p:cNvSpPr>
          <p:nvPr/>
        </p:nvSpPr>
        <p:spPr>
          <a:xfrm>
            <a:off x="1451282" y="3680817"/>
            <a:ext cx="12955642" cy="484584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01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01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為什麼 fixed-roster 仍較好？</a:t>
            </a:r>
          </a:p>
        </p:txBody>
      </p:sp>
      <p:sp>
        <p:nvSpPr>
          <p:cNvPr id="8" name="">
            <a:extLst>
              <a:ext uri="{FF2B5EF4-FFF2-40B4-BE49-F238E27FC236}">
                <ns2:creationId id="{C9E96EE9-C654-4DE5-9639-FCBB36ED9E46}"/>
              </a:ext>
            </a:extLst>
          </p:cNvPr>
          <p:cNvSpPr>
            <a:spLocks noGrp="1"/>
          </p:cNvSpPr>
          <p:nvPr/>
        </p:nvSpPr>
        <p:spPr>
          <a:xfrm>
            <a:off x="1451282" y="4176415"/>
            <a:ext cx="12955642" cy="63877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7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7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固定對手可能提供持續的外部能力壓力；版本差異與此解釋尚未拆開驗證。</a:t>
            </a:r>
          </a:p>
        </p:txBody>
      </p:sp>
      <p:sp>
        <p:nvSpPr>
          <p:cNvPr id="9" name="">
            <a:extLst>
              <a:ext uri="{FF2B5EF4-FFF2-40B4-BE49-F238E27FC236}">
                <ns2:creationId id="{2B5CE8EC-0FB8-4321-8A3A-423CC32754CF}"/>
              </a:ext>
            </a:extLst>
          </p:cNvPr>
          <p:cNvSpPr>
            <a:spLocks noGrp="1"/>
          </p:cNvSpPr>
          <p:nvPr/>
        </p:nvSpPr>
        <p:spPr>
          <a:xfrm>
            <a:off x="1451282" y="4903291"/>
            <a:ext cx="12955642" cy="484584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01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01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可以直接比較三個 run 的 GP 嗎？</a:t>
            </a:r>
          </a:p>
        </p:txBody>
      </p:sp>
      <p:sp>
        <p:nvSpPr>
          <p:cNvPr id="10" name="">
            <a:extLst>
              <a:ext uri="{FF2B5EF4-FFF2-40B4-BE49-F238E27FC236}">
                <ns2:creationId id="{39247361-CF9C-40E8-AC69-FBFB67FB8ED5}"/>
              </a:ext>
            </a:extLst>
          </p:cNvPr>
          <p:cNvSpPr>
            <a:spLocks noGrp="1"/>
          </p:cNvSpPr>
          <p:nvPr/>
        </p:nvSpPr>
        <p:spPr>
          <a:xfrm>
            <a:off x="1451282" y="5398889"/>
            <a:ext cx="12955642" cy="63877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7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7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不可以。Evaluation context 與 snapshot 不同，應使用共同 final test 的 W/D/L。</a:t>
            </a:r>
          </a:p>
        </p:txBody>
      </p:sp>
      <p:sp>
        <p:nvSpPr>
          <p:cNvPr id="11" name="">
            <a:extLst>
              <a:ext uri="{FF2B5EF4-FFF2-40B4-BE49-F238E27FC236}">
                <ns2:creationId id="{AC9DF518-3E8E-49C5-A7E2-4CE1B345947F}"/>
              </a:ext>
            </a:extLst>
          </p:cNvPr>
          <p:cNvSpPr>
            <a:spLocks noGrp="1"/>
          </p:cNvSpPr>
          <p:nvPr/>
        </p:nvSpPr>
        <p:spPr>
          <a:xfrm>
            <a:off x="1451282" y="6125766"/>
            <a:ext cx="12955642" cy="484584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01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01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下一個最重要的實驗？</a:t>
            </a:r>
          </a:p>
        </p:txBody>
      </p:sp>
      <p:sp>
        <p:nvSpPr>
          <p:cNvPr id="12" name="">
            <a:extLst>
              <a:ext uri="{FF2B5EF4-FFF2-40B4-BE49-F238E27FC236}">
                <ns2:creationId id="{37EA85EF-EC73-477E-9AEF-F9B54A002387}"/>
              </a:ext>
            </a:extLst>
          </p:cNvPr>
          <p:cNvSpPr>
            <a:spLocks noGrp="1"/>
          </p:cNvSpPr>
          <p:nvPr/>
        </p:nvSpPr>
        <p:spPr>
          <a:xfrm>
            <a:off x="1451282" y="6621363"/>
            <a:ext cx="12955642" cy="63877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7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7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先跑 current-code fixed-roster control，再測試 5×40 self-play 加 fixed anchors。</a:t>
            </a:r>
          </a:p>
        </p:txBody>
      </p:sp>
      <p:sp>
        <p:nvSpPr>
          <p:cNvPr id="15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D61944BD-A64A-4A76-803A-5A33340749C8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15</a:t>
            </a:fld>
          </a:p>
        </p:txBody>
      </p:sp>
    </p:spTree>
    <p:extLst>
      <p:ext uri="{BB962C8B-B14F-4D97-AF65-F5344CB8AC3E}">
        <ns3:creationId val="1782112433"/>
      </p:ext>
    </p:extLst>
  </p:cSld>
</p:sld>
</file>

<file path=ppt/theme/theme1.xml><?xml version="1.0" encoding="utf-8"?>
<a:theme xmlns:a="http://schemas.openxmlformats.org/drawingml/2006/main" name="EAGLE">
  <a:themeElements>
    <a:clrScheme name="Meeting 0830 Rose &amp; Gold">
      <a:dk1>
        <a:srgbClr val="47171C"/>
      </a:dk1>
      <a:lt1>
        <a:srgbClr val="FCF8F5"/>
      </a:lt1>
      <a:dk2>
        <a:srgbClr val="423C3B"/>
      </a:dk2>
      <a:lt2>
        <a:srgbClr val="FFFFFF"/>
      </a:lt2>
      <a:accent1>
        <a:srgbClr val="CF8792"/>
      </a:accent1>
      <a:accent2>
        <a:srgbClr val="C69B45"/>
      </a:accent2>
      <a:accent3>
        <a:srgbClr val="DEB4BA"/>
      </a:accent3>
      <a:accent4>
        <a:srgbClr val="47171C"/>
      </a:accent4>
      <a:accent5>
        <a:srgbClr val="F4DEA0"/>
      </a:accent5>
      <a:accent6>
        <a:srgbClr val="423C3B"/>
      </a:accent6>
      <a:hlink>
        <a:srgbClr val="CF8792"/>
      </a:hlink>
      <a:folHlink>
        <a:srgbClr val="C69B45"/>
      </a:folHlink>
    </a:clrScheme>
    <a:fontScheme name="Office">
      <a:majorFont>
        <a:latin typeface="Source Han Serif TW"/>
        <a:ea typeface="Source Han Serif TW"/>
        <a:cs typeface="Source Han Serif TW"/>
      </a:majorFont>
      <a:minorFont>
        <a:latin typeface="Source Han Serif TW"/>
        <a:ea typeface="Source Han Serif TW"/>
        <a:cs typeface="Source Han Serif TW"/>
      </a:minorFont>
    </a:fontScheme>
    <a:fmtScheme name="Meeting 0830 Rose &amp; Gold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EAGLE">
  <a:themeElements>
    <a:clrScheme name="Meeting 0830 Rose &amp; Gold">
      <a:dk1>
        <a:srgbClr val="47171C"/>
      </a:dk1>
      <a:lt1>
        <a:srgbClr val="FCF8F5"/>
      </a:lt1>
      <a:dk2>
        <a:srgbClr val="423C3B"/>
      </a:dk2>
      <a:lt2>
        <a:srgbClr val="FFFFFF"/>
      </a:lt2>
      <a:accent1>
        <a:srgbClr val="CF8792"/>
      </a:accent1>
      <a:accent2>
        <a:srgbClr val="C69B45"/>
      </a:accent2>
      <a:accent3>
        <a:srgbClr val="DEB4BA"/>
      </a:accent3>
      <a:accent4>
        <a:srgbClr val="47171C"/>
      </a:accent4>
      <a:accent5>
        <a:srgbClr val="F4DEA0"/>
      </a:accent5>
      <a:accent6>
        <a:srgbClr val="423C3B"/>
      </a:accent6>
      <a:hlink>
        <a:srgbClr val="CF8792"/>
      </a:hlink>
      <a:folHlink>
        <a:srgbClr val="C69B45"/>
      </a:folHlink>
    </a:clrScheme>
    <a:fontScheme name="Office">
      <a:majorFont>
        <a:latin typeface="Source Han Serif TW"/>
        <a:ea typeface="Source Han Serif TW"/>
        <a:cs typeface="Source Han Serif TW"/>
      </a:majorFont>
      <a:minorFont>
        <a:latin typeface="Source Han Serif TW"/>
        <a:ea typeface="Source Han Serif TW"/>
        <a:cs typeface="Source Han Serif TW"/>
      </a:minorFont>
    </a:fontScheme>
    <a:fmtScheme name="Meeting 0830 Rose &amp; Gold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14333</Words>
  <Application>Microsoft Office PowerPoint</Application>
  <DocSecurity>0</DocSecurity>
  <PresentationFormat>自訂</PresentationFormat>
  <Paragraphs>1854</Paragraphs>
  <Slides>1</Slides>
  <Notes>33</Notes>
  <HiddenSlides>0</HiddenSlides>
  <MMClips>0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34</vt:i4>
      </vt:variant>
    </vt:vector>
  </HeadingPairs>
  <TitlesOfParts>
    <vt:vector size="37" baseType="lpstr">
      <vt:lpstr>Source Han Serif TW</vt:lpstr>
      <vt:lpstr>Times New Roman</vt:lpstr>
      <vt:lpstr>ChatGPT</vt:lpstr>
      <vt:lpstr>EAGLE 研究進展</vt:lpstr>
      <vt:lpstr>這段時間改了什麼</vt:lpstr>
      <vt:lpstr>09/04 改版的核心</vt:lpstr>
      <vt:lpstr>EAGLE 目前完整流程</vt:lpstr>
      <vt:lpstr>EAGLE 演化的對象</vt:lpstr>
      <vt:lpstr>初始 Policy 的歷史比較</vt:lpstr>
      <vt:lpstr>本期的初始族群配置</vt:lpstr>
      <vt:lpstr>三種 Operator 選擇模式</vt:lpstr>
      <vt:lpstr>三種 Reflection 的責任邊界</vt:lpstr>
      <vt:lpstr>實驗分成四個階段</vt:lpstr>
      <vt:lpstr>實驗一：同一父代、三種反思</vt:lpstr>
      <vt:lpstr>實驗一：8 / 9 次成功套用</vt:lpstr>
      <vt:lpstr>實驗一：各次 trial 暴露的問題</vt:lpstr>
      <vt:lpstr>實驗二：補規則後仍有錯誤</vt:lpstr>
      <vt:lpstr>實驗二：Strategy 的三個變體</vt:lpstr>
      <vt:lpstr>實驗二：Code 與 Balance 的問題</vt:lpstr>
      <vt:lpstr>實驗三：用上游子代驗證 Compliance</vt:lpstr>
      <vt:lpstr>實驗三：10 / 12 次安全套用</vt:lpstr>
      <vt:lpstr>實驗三：兩次拒絕與後續修補</vt:lpstr>
      <vt:lpstr>實驗四：三種固定比例</vt:lpstr>
      <vt:lpstr>比例實驗的整體結果</vt:lpstr>
      <vt:lpstr>每代生存者的平均 GP</vt:lpstr>
      <vt:lpstr>600 場 Final Test 的 champion 結果</vt:lpstr>
      <vt:lpstr>可靠度與 LLM 成本</vt:lpstr>
      <vt:lpstr>09/07 的 AOS 設定與比較限制</vt:lpstr>
      <vt:lpstr>本次總結</vt:lpstr>
      <vt:lpstr>0907 後更新：版本時間軸</vt:lpstr>
      <vt:lpstr>V1–V3：評估設定與執行索引</vt:lpstr>
      <vt:lpstr>V4：每代分成三個階段</vt:lpstr>
      <vt:lpstr>V4：模型職責可以分開</vt:lpstr>
      <vt:lpstr>V4：反思與修碼可分開追蹤</vt:lpstr>
      <vt:lpstr>V4：單模型與雙模型比較設定</vt:lpstr>
      <vt:lpstr>V5 整合與本次更新重點</vt:lpstr>
      <vt:lpstr>Evolutionary Agent Generation through LLM-guided Exploration: A Case Study on MicroRTS  大型語言模型引導探索的演化式代理生成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EAGLE</dc:title>
  <dc:creator>Walnut Exporter</dc:creator>
  <cp:lastModifiedBy>Sophie Lien</cp:lastModifiedBy>
  <cp:revision>2</cp:revision>
  <dcterms:created xsi:type="dcterms:W3CDTF">2026-09-09T05:14:55Z</dcterms:created>
  <dcterms:modified xsi:type="dcterms:W3CDTF">2026-09-09T05:21:08Z</dcterms:modified>
</cp:coreProperties>
</file>