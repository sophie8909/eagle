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14270ec8634533" /><Relationship Type="http://schemas.openxmlformats.org/officeDocument/2006/relationships/extended-properties" Target="/docProps/app.xml" Id="R502f795acffc4659" /><Relationship Type="http://schemas.openxmlformats.org/officeDocument/2006/relationships/officeDocument" Target="/ppt/presentation.xml" Id="Rfd043455327347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a25a9308aa44cb"/>
  </p:sldMasterIdLst>
  <p:notesMasterIdLst>
    <p:notesMasterId xmlns:r="http://schemas.openxmlformats.org/officeDocument/2006/relationships" r:id="R21242cc1f93f42cf"/>
  </p:notesMasterIdLst>
  <p:sldIdLst>
    <p:sldId xmlns:r="http://schemas.openxmlformats.org/officeDocument/2006/relationships" id="256" r:id="R4a41b8191ff04b6e"/>
    <p:sldId xmlns:r="http://schemas.openxmlformats.org/officeDocument/2006/relationships" id="257" r:id="Rea89844042ae49fe"/>
    <p:sldId xmlns:r="http://schemas.openxmlformats.org/officeDocument/2006/relationships" id="258" r:id="R21b8293717204c2f"/>
    <p:sldId xmlns:r="http://schemas.openxmlformats.org/officeDocument/2006/relationships" id="259" r:id="Rc601f80ca7b64d89"/>
    <p:sldId xmlns:r="http://schemas.openxmlformats.org/officeDocument/2006/relationships" id="260" r:id="R37a8d97eaa014180"/>
    <p:sldId xmlns:r="http://schemas.openxmlformats.org/officeDocument/2006/relationships" id="261" r:id="R2dc51fed5e074db2"/>
    <p:sldId xmlns:r="http://schemas.openxmlformats.org/officeDocument/2006/relationships" id="262" r:id="R6ebf8922fe5f41bf"/>
    <p:sldId xmlns:r="http://schemas.openxmlformats.org/officeDocument/2006/relationships" id="263" r:id="R99735631ba584bb4"/>
    <p:sldId xmlns:r="http://schemas.openxmlformats.org/officeDocument/2006/relationships" id="264" r:id="R064d3797372c46d6"/>
    <p:sldId xmlns:r="http://schemas.openxmlformats.org/officeDocument/2006/relationships" id="265" r:id="R052df6c0cd5f412c"/>
    <p:sldId xmlns:r="http://schemas.openxmlformats.org/officeDocument/2006/relationships" id="266" r:id="R3903b55349ff48ac"/>
    <p:sldId xmlns:r="http://schemas.openxmlformats.org/officeDocument/2006/relationships" id="267" r:id="R58255c00a6c64142"/>
    <p:sldId xmlns:r="http://schemas.openxmlformats.org/officeDocument/2006/relationships" id="268" r:id="Rd124c07bb09f4dc9"/>
    <p:sldId xmlns:r="http://schemas.openxmlformats.org/officeDocument/2006/relationships" id="269" r:id="R2fb92af2a4a1461d"/>
    <p:sldId xmlns:r="http://schemas.openxmlformats.org/officeDocument/2006/relationships" id="270" r:id="Re0272dc673f44a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7d7302f9dc46d9" /><Relationship Type="http://schemas.openxmlformats.org/officeDocument/2006/relationships/slideMaster" Target="/ppt/slideMasters/slideMaster1.xml" Id="Rcfa25a9308aa44cb" /><Relationship Type="http://schemas.openxmlformats.org/officeDocument/2006/relationships/notesMaster" Target="/ppt/notesMasters/notesMaster1.xml" Id="R21242cc1f93f42cf" /><Relationship Type="http://schemas.openxmlformats.org/officeDocument/2006/relationships/presProps" Target="/ppt/presProps.xml" Id="R9a27765553ce4e8e" /><Relationship Type="http://schemas.openxmlformats.org/officeDocument/2006/relationships/tableStyles" Target="/ppt/tableStyles.xml" Id="R80afac89863a40d1" /><Relationship Type="http://schemas.openxmlformats.org/officeDocument/2006/relationships/slide" Target="/ppt/slides/slide1.xml" Id="R4a41b8191ff04b6e" /><Relationship Type="http://schemas.openxmlformats.org/officeDocument/2006/relationships/slide" Target="/ppt/slides/slide2.xml" Id="Rea89844042ae49fe" /><Relationship Type="http://schemas.openxmlformats.org/officeDocument/2006/relationships/slide" Target="/ppt/slides/slide3.xml" Id="R21b8293717204c2f" /><Relationship Type="http://schemas.openxmlformats.org/officeDocument/2006/relationships/slide" Target="/ppt/slides/slide4.xml" Id="Rc601f80ca7b64d89" /><Relationship Type="http://schemas.openxmlformats.org/officeDocument/2006/relationships/slide" Target="/ppt/slides/slide5.xml" Id="R37a8d97eaa014180" /><Relationship Type="http://schemas.openxmlformats.org/officeDocument/2006/relationships/slide" Target="/ppt/slides/slide6.xml" Id="R2dc51fed5e074db2" /><Relationship Type="http://schemas.openxmlformats.org/officeDocument/2006/relationships/slide" Target="/ppt/slides/slide7.xml" Id="R6ebf8922fe5f41bf" /><Relationship Type="http://schemas.openxmlformats.org/officeDocument/2006/relationships/slide" Target="/ppt/slides/slide8.xml" Id="R99735631ba584bb4" /><Relationship Type="http://schemas.openxmlformats.org/officeDocument/2006/relationships/slide" Target="/ppt/slides/slide9.xml" Id="R064d3797372c46d6" /><Relationship Type="http://schemas.openxmlformats.org/officeDocument/2006/relationships/slide" Target="/ppt/slides/slide10.xml" Id="R052df6c0cd5f412c" /><Relationship Type="http://schemas.openxmlformats.org/officeDocument/2006/relationships/slide" Target="/ppt/slides/slide11.xml" Id="R3903b55349ff48ac" /><Relationship Type="http://schemas.openxmlformats.org/officeDocument/2006/relationships/slide" Target="/ppt/slides/slide12.xml" Id="R58255c00a6c64142" /><Relationship Type="http://schemas.openxmlformats.org/officeDocument/2006/relationships/slide" Target="/ppt/slides/slide13.xml" Id="Rd124c07bb09f4dc9" /><Relationship Type="http://schemas.openxmlformats.org/officeDocument/2006/relationships/slide" Target="/ppt/slides/slide14.xml" Id="R2fb92af2a4a1461d" /><Relationship Type="http://schemas.openxmlformats.org/officeDocument/2006/relationships/slide" Target="/ppt/slides/slide15.xml" Id="Re0272dc673f44a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6c1c10e6db41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199312023d424d" /><Relationship Type="http://schemas.openxmlformats.org/officeDocument/2006/relationships/notesMaster" Target="/ppt/notesMasters/notesMaster1.xml" Id="R922dcd378a4f42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0625edc3af40d6" /><Relationship Type="http://schemas.openxmlformats.org/officeDocument/2006/relationships/notesMaster" Target="/ppt/notesMasters/notesMaster1.xml" Id="Rf8e1e587c06640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15029d2345453f" /><Relationship Type="http://schemas.openxmlformats.org/officeDocument/2006/relationships/notesMaster" Target="/ppt/notesMasters/notesMaster1.xml" Id="R9fd9a6b009dc43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97a7b7dc184d97" /><Relationship Type="http://schemas.openxmlformats.org/officeDocument/2006/relationships/notesMaster" Target="/ppt/notesMasters/notesMaster1.xml" Id="R34d938334a6e40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02ffcdabeb4510" /><Relationship Type="http://schemas.openxmlformats.org/officeDocument/2006/relationships/notesMaster" Target="/ppt/notesMasters/notesMaster1.xml" Id="Rfb2cd104ea104d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0f1df20f27474f" /><Relationship Type="http://schemas.openxmlformats.org/officeDocument/2006/relationships/notesMaster" Target="/ppt/notesMasters/notesMaster1.xml" Id="R3200e7d5eb3647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40fb6bdd154563" /><Relationship Type="http://schemas.openxmlformats.org/officeDocument/2006/relationships/notesMaster" Target="/ppt/notesMasters/notesMaster1.xml" Id="R62ada4f905e746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7c081199114852" /><Relationship Type="http://schemas.openxmlformats.org/officeDocument/2006/relationships/notesMaster" Target="/ppt/notesMasters/notesMaster1.xml" Id="R6a3bd5041e4e4d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4551e214de41ac" /><Relationship Type="http://schemas.openxmlformats.org/officeDocument/2006/relationships/notesMaster" Target="/ppt/notesMasters/notesMaster1.xml" Id="R9a9ad11c149546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0a7f3751af475c" /><Relationship Type="http://schemas.openxmlformats.org/officeDocument/2006/relationships/notesMaster" Target="/ppt/notesMasters/notesMaster1.xml" Id="R6e8028a12c6744f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b02033e73b44913" /><Relationship Type="http://schemas.openxmlformats.org/officeDocument/2006/relationships/notesMaster" Target="/ppt/notesMasters/notesMaster1.xml" Id="R4241f739409b4e1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d8f351a23a742f0" /><Relationship Type="http://schemas.openxmlformats.org/officeDocument/2006/relationships/notesMaster" Target="/ppt/notesMasters/notesMaster1.xml" Id="R3606be2d6089466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597e796a3cb4dce" /><Relationship Type="http://schemas.openxmlformats.org/officeDocument/2006/relationships/notesMaster" Target="/ppt/notesMasters/notesMaster1.xml" Id="Re1eb4cad603547e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ccb4ebb9f5846a8" /><Relationship Type="http://schemas.openxmlformats.org/officeDocument/2006/relationships/notesMaster" Target="/ppt/notesMasters/notesMaster1.xml" Id="R4746720addb84fa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6b081677d824544" /><Relationship Type="http://schemas.openxmlformats.org/officeDocument/2006/relationships/notesMaster" Target="/ppt/notesMasters/notesMaster1.xml" Id="Rf9a18cf5741348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來源：Meeting/20260926_self_play_comparison/self_play_comparison_presentation_content.md</a:t>
            </a:r>
          </a:p>
          <a:p xmlns:a="http://schemas.openxmlformats.org/drawingml/2006/main">
            <a:r>
              <a:t>資料截至 2026/09/26。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Self-play 有明顯進步，但仍未超越固定對手基準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標題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5×40 self-play 將外部勝率從 0% 提升到 32.8%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副標題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與 fixed-roster 10×20 基準的搜尋結果、泛化能力與成本比較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投影片文字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實驗 | Final-test 勝率 | W / D / L |</a:t>
            </a:r>
          </a:p>
          <a:p xmlns:a="http://schemas.openxmlformats.org/drawingml/2006/main">
            <a:r>
              <a:t>|---|---:|---:|</a:t>
            </a:r>
          </a:p>
          <a:p xmlns:a="http://schemas.openxmlformats.org/drawingml/2006/main">
            <a:r>
              <a:t>| Fixed-roster 10×20 基準 | **42.7%** | 256 / 12 / 332 |</a:t>
            </a:r>
          </a:p>
          <a:p xmlns:a="http://schemas.openxmlformats.org/drawingml/2006/main">
            <a:r>
              <a:t>| Self-play 5×40 | **32.8%** | 197 / 11 / 392 |</a:t>
            </a:r>
          </a:p>
          <a:p xmlns:a="http://schemas.openxmlformats.org/drawingml/2006/main">
            <a:r>
              <a:t>| Self-play 10×20 | **0%** | 0 / 151 / 449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頁面結論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新版 5×40 self-play 修復了舊版「只會和局、不會取勝」的主要問題，但仍落後固定對手基準 **9.8 個百分點**。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講者備註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本簡報的「基準」依本次指定，採用搜尋期間對多個固定 opponent 評估的 10×20 run。三個 run 的 final test 都是同一套 600 場測試，因此外部勝率是最可靠的橫向比較指標。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資料來源：[baseline final test](../../runs/20260911_072610_382082/final_test/final_test_results.md)、[self-play 10×20 final test](../../runs/20260923_134743_200030/final_test/final_test_results.md)、[self-play 5×40 final test](../../runs/20260925_134245_911171/final_test/final_test_results.md)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來源：Meeting/20260926_self_play_comparison/self_play_comparison_presentation_content.md</a:t>
            </a:r>
          </a:p>
          <a:p xmlns:a="http://schemas.openxmlformats.org/drawingml/2006/main">
            <a:r>
              <a:t>資料截至 2026/09/26。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三組實驗的比較口徑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投影片文字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項目 | Fixed-roster 基準 | Self-play 10×20 | Self-play 5×40 |</a:t>
            </a:r>
          </a:p>
          <a:p xmlns:a="http://schemas.openxmlformats.org/drawingml/2006/main">
            <a:r>
              <a:t>|---|---:|---:|---:|</a:t>
            </a:r>
          </a:p>
          <a:p xmlns:a="http://schemas.openxmlformats.org/drawingml/2006/main">
            <a:r>
              <a:t>| Run | `20260911...` | `20260923...` | `20260925...` |</a:t>
            </a:r>
          </a:p>
          <a:p xmlns:a="http://schemas.openxmlformats.org/drawingml/2006/main">
            <a:r>
              <a:t>| Generations | 20 | 20 | 40 |</a:t>
            </a:r>
          </a:p>
          <a:p xmlns:a="http://schemas.openxmlformats.org/drawingml/2006/main">
            <a:r>
              <a:t>| Population size | 10 | 10 | 5 |</a:t>
            </a:r>
          </a:p>
          <a:p xmlns:a="http://schemas.openxmlformats.org/drawingml/2006/main">
            <a:r>
              <a:t>| 搜尋評估對手 | 多個固定對手 | 10-slot snapshot | 5-slot snapshot |</a:t>
            </a:r>
          </a:p>
          <a:p xmlns:a="http://schemas.openxmlformats.org/drawingml/2006/main">
            <a:r>
              <a:t>| Snapshot refresh | 不適用 | 每 5 代 | 每 5 代 |</a:t>
            </a:r>
          </a:p>
          <a:p xmlns:a="http://schemas.openxmlformats.org/drawingml/2006/main">
            <a:r>
              <a:t>| 約略 regular candidate budget | 210 | 210 | 205 |</a:t>
            </a:r>
          </a:p>
          <a:p xmlns:a="http://schemas.openxmlformats.org/drawingml/2006/main">
            <a:r>
              <a:t>| Final test | 10 opponents × 3 maps × 2 sides × 10 games | 相同 | 相同 |</a:t>
            </a:r>
          </a:p>
          <a:p xmlns:a="http://schemas.openxmlformats.org/drawingml/2006/main">
            <a:r>
              <a:t>| Final-test 場數 | 600 | 600 | 600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三組實驗使用相同的 Ministral 3 8B、三張地圖、mutation 機率與 final-test opponent roster。兩版 self-play 只改變 generations 與 population size。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頁面結論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5×40 不是單純增加總 candidate 數，而是把相近的搜尋預算分配到更多代、更小族群，並經歷更多次 snapshot 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講者備註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5×40 有 40 次 refresh candidate records，故磁碟上的 candidate 目錄數會高於 regular candidate budget。此處用 regular births 說明搜尋規模，而不是直接拿 artifact 數量當作計算預算。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資料來源：[baseline config](../../runs/20260911_072610_382082/config.yaml)、[self-play 10×20 config](../../runs/20260923_134743_200030/config.yaml)、[self-play 5×40 config](../../runs/20260925_134245_911171/config.yaml)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來源：Meeting/20260926_self_play_comparison/self_play_comparison_presentation_content.md</a:t>
            </a:r>
          </a:p>
          <a:p xmlns:a="http://schemas.openxmlformats.org/drawingml/2006/main">
            <a:r>
              <a:t>資料截至 2026/09/26。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結論摘要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投影片文字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**Fixed-roster 基準仍然最好**：256 勝，勝率 42.7%。</a:t>
            </a:r>
          </a:p>
          <a:p xmlns:a="http://schemas.openxmlformats.org/drawingml/2006/main">
            <a:r>
              <a:t>2. **5×40 self-play 大幅改善**：197 勝，勝率 32.8%，比 10×20 增加 197 勝。</a:t>
            </a:r>
          </a:p>
          <a:p xmlns:a="http://schemas.openxmlformats.org/drawingml/2006/main">
            <a:r>
              <a:t>3. **改善來自真正的取勝能力**：5×40 不再靠 timeout draws 撐住結果。</a:t>
            </a:r>
          </a:p>
          <a:p xmlns:a="http://schemas.openxmlformats.org/drawingml/2006/main">
            <a:r>
              <a:t>4. **能力仍偏窄**：勝場主要來自 Passive、Random、RandomBiased，對五個強對手仍是 60 場全敗。</a:t>
            </a:r>
          </a:p>
          <a:p xmlns:a="http://schemas.openxmlformats.org/drawingml/2006/main">
            <a:r>
              <a:t>5. **關鍵轉折可追溯到 G17**：Code Reflection 讓單位從「只攻擊射程內敵人」變成會尋找並追擊最近敵人。</a:t>
            </a:r>
          </a:p>
          <a:p xmlns:a="http://schemas.openxmlformats.org/drawingml/2006/main">
            <a:r>
              <a:t>6. **比較限制**：fixed-roster 基準來自較早的 repository state，不是完全同 commit 的 controlled ablation。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頁面結論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Self-play 機制已證明能找到可泛化的攻擊行為；下一步應補上固定 anchors 或 holdout probes，避免能力只對當期 snapshot 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來源：Meeting/20260926_self_play_comparison/self_play_comparison_presentation_content.md</a:t>
            </a:r>
          </a:p>
          <a:p xmlns:a="http://schemas.openxmlformats.org/drawingml/2006/main">
            <a:r>
              <a:t>資料截至 2026/09/26。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總體 final-test 結果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投影片文字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指標 | Fixed-roster 10×20 | Self-play 10×20 | Self-play 5×40 |</a:t>
            </a:r>
          </a:p>
          <a:p xmlns:a="http://schemas.openxmlformats.org/drawingml/2006/main">
            <a:r>
              <a:t>|---|---:|---:|---:|</a:t>
            </a:r>
          </a:p>
          <a:p xmlns:a="http://schemas.openxmlformats.org/drawingml/2006/main">
            <a:r>
              <a:t>| Wins | **256** | 0 | 197 |</a:t>
            </a:r>
          </a:p>
          <a:p xmlns:a="http://schemas.openxmlformats.org/drawingml/2006/main">
            <a:r>
              <a:t>| Draws | 12 | **151** | 11 |</a:t>
            </a:r>
          </a:p>
          <a:p xmlns:a="http://schemas.openxmlformats.org/drawingml/2006/main">
            <a:r>
              <a:t>| Losses | **332** | 449 | 392 |</a:t>
            </a:r>
          </a:p>
          <a:p xmlns:a="http://schemas.openxmlformats.org/drawingml/2006/main">
            <a:r>
              <a:t>| Errors | 0 | 0 | 0 |</a:t>
            </a:r>
          </a:p>
          <a:p xmlns:a="http://schemas.openxmlformats.org/drawingml/2006/main">
            <a:r>
              <a:t>| Win rate | **42.67%** | 0% | 32.83% |</a:t>
            </a:r>
          </a:p>
          <a:p xmlns:a="http://schemas.openxmlformats.org/drawingml/2006/main">
            <a:r>
              <a:t>| Non-loss rate | **44.67%** | 25.17% | 34.67%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5×40 相對 10×20：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勝場增加 **197** 場</a:t>
            </a:r>
          </a:p>
          <a:p xmlns:a="http://schemas.openxmlformats.org/drawingml/2006/main">
            <a:r>
              <a:t>- 和局減少 **140** 場</a:t>
            </a:r>
          </a:p>
          <a:p xmlns:a="http://schemas.openxmlformats.org/drawingml/2006/main">
            <a:r>
              <a:t>- 敗場減少 **57** 場</a:t>
            </a:r>
          </a:p>
          <a:p xmlns:a="http://schemas.openxmlformats.org/drawingml/2006/main">
            <a:r>
              <a:t>- 勝率增加 **32.83 個百分點**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5×40 相對 fixed-roster 基準：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少 **59** 勝</a:t>
            </a:r>
          </a:p>
          <a:p xmlns:a="http://schemas.openxmlformats.org/drawingml/2006/main">
            <a:r>
              <a:t>- 多 **60** 敗</a:t>
            </a:r>
          </a:p>
          <a:p xmlns:a="http://schemas.openxmlformats.org/drawingml/2006/main">
            <a:r>
              <a:t>- 勝率少 **9.83 個百分點**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頁面結論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5×40 的進步不是把敗場換成和局，而是把舊版的和局與敗場轉成 197 個真實勝場。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講者備註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三組 final test 都沒有 candidate error，因此差異是策略能力差異，不是測試失敗或缺失資料造成。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資料來源：[baseline summary](../../runs/20260911_072610_382082/final_test/final_test_summary.json)、[self-play 10×20 summary](../../runs/20260923_134743_200030/final_test/final_test_summary.json)、[self-play 5×40 summary](../../runs/20260925_134245_911171/final_test/final_test_summary.json)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來源：Meeting/20260926_self_play_comparison/self_play_comparison_presentation_content.md</a:t>
            </a:r>
          </a:p>
          <a:p xmlns:a="http://schemas.openxmlformats.org/drawingml/2006/main">
            <a:r>
              <a:t>資料截至 2026/09/26。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5×40 恢復基礎對手能力，但 rush 與強對手仍是缺口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投影片文字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每個 opponent 共 60 場，數字為 W / D / 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Opponent | Fixed-roster 10×20 | Self-play 10×20 | Self-play 5×40 |</a:t>
            </a:r>
          </a:p>
          <a:p xmlns:a="http://schemas.openxmlformats.org/drawingml/2006/main">
            <a:r>
              <a:t>|---|---:|---:|---:|</a:t>
            </a:r>
          </a:p>
          <a:p xmlns:a="http://schemas.openxmlformats.org/drawingml/2006/main">
            <a:r>
              <a:t>| PassiveAI | 60 / 0 / 0 | 0 / 60 / 0 | 60 / 0 / 0 |</a:t>
            </a:r>
          </a:p>
          <a:p xmlns:a="http://schemas.openxmlformats.org/drawingml/2006/main">
            <a:r>
              <a:t>| RandomAI | 59 / 1 / 0 | 0 / 53 / 7 | **60 / 0 / 0** |</a:t>
            </a:r>
          </a:p>
          <a:p xmlns:a="http://schemas.openxmlformats.org/drawingml/2006/main">
            <a:r>
              <a:t>| RandomBiasedAI | 57 / 1 / 2 | 0 / 38 / 22 | 57 / 1 / 2 |</a:t>
            </a:r>
          </a:p>
          <a:p xmlns:a="http://schemas.openxmlformats.org/drawingml/2006/main">
            <a:r>
              <a:t>| LightRush | **30 / 10 / 20** | 0 / 0 / 60 | 10 / 0 / 50 |</a:t>
            </a:r>
          </a:p>
          <a:p xmlns:a="http://schemas.openxmlformats.org/drawingml/2006/main">
            <a:r>
              <a:t>| HeavyRush | **40 / 0 / 20** | 0 / 0 / 60 | 10 / 10 / 40 |</a:t>
            </a:r>
          </a:p>
          <a:p xmlns:a="http://schemas.openxmlformats.org/drawingml/2006/main">
            <a:r>
              <a:t>| WorkerRush | 0 / 0 / 60 | 0 / 0 / 60 | 0 / 0 / 60 |</a:t>
            </a:r>
          </a:p>
          <a:p xmlns:a="http://schemas.openxmlformats.org/drawingml/2006/main">
            <a:r>
              <a:t>| AllInBot | 0 / 0 / 60 | 0 / 0 / 60 | 0 / 0 / 60 |</a:t>
            </a:r>
          </a:p>
          <a:p xmlns:a="http://schemas.openxmlformats.org/drawingml/2006/main">
            <a:r>
              <a:t>| Mayari | 0 / 0 / 60 | 0 / 0 / 60 | 0 / 0 / 60 |</a:t>
            </a:r>
          </a:p>
          <a:p xmlns:a="http://schemas.openxmlformats.org/drawingml/2006/main">
            <a:r>
              <a:t>| COAC | **10 / 0 / 50** | 0 / 0 / 60 | 0 / 0 / 60 |</a:t>
            </a:r>
          </a:p>
          <a:p xmlns:a="http://schemas.openxmlformats.org/drawingml/2006/main">
            <a:r>
              <a:t>| TMA | 0 / 0 / 60 | 0 / 0 / 60 | 0 / 0 / 60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頁面結論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5×40 幾乎完全追回三個基礎對手的能力，也開始擊敗 LightRush 與 HeavyRush；與基準的 59 勝差距，主要就是 LightRush、HeavyRush 與 COAC。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講者備註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與基準相比，5×40 在 RandomAI 多 1 勝，但在 LightRush 少 20 勝、HeavyRush 少 30 勝、COAC 少 10 勝，合計淨少 59 勝。這讓後續改進目標非常具體。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資料來源：[baseline final test](../../runs/20260911_072610_382082/final_test/final_test_results.md)、[self-play 10×20 final test](../../runs/20260923_134743_200030/final_test/final_test_results.md)、[self-play 5×40 final test](../../runs/20260925_134245_911171/final_test/final_test_results.md)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來源：Meeting/20260926_self_play_comparison/self_play_comparison_presentation_content.md</a:t>
            </a:r>
          </a:p>
          <a:p xmlns:a="http://schemas.openxmlformats.org/drawingml/2006/main">
            <a:r>
              <a:t>資料截至 2026/09/26。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5×40 的勝場能跨地圖與雙方位出現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投影片文字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按地圖：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地圖 | Fixed-roster W / D / L | Self-play 10×20 | Self-play 5×40 |</a:t>
            </a:r>
          </a:p>
          <a:p xmlns:a="http://schemas.openxmlformats.org/drawingml/2006/main">
            <a:r>
              <a:t>|---|---:|---:|---:|</a:t>
            </a:r>
          </a:p>
          <a:p xmlns:a="http://schemas.openxmlformats.org/drawingml/2006/main">
            <a:r>
              <a:t>| 8×8 | 98 / 0 / 102 | 0 / 35 / 165 | 67 / 11 / 122 |</a:t>
            </a:r>
          </a:p>
          <a:p xmlns:a="http://schemas.openxmlformats.org/drawingml/2006/main">
            <a:r>
              <a:t>| 16×16 | 90 / 10 / 100 | 0 / 57 / 143 | 60 / 0 / 140 |</a:t>
            </a:r>
          </a:p>
          <a:p xmlns:a="http://schemas.openxmlformats.org/drawingml/2006/main">
            <a:r>
              <a:t>| 24×24 | 68 / 2 / 130 | 0 / 59 / 141 | 70 / 0 / 130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 player side：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Side | Fixed-roster W / D / L | Self-play 10×20 | Self-play 5×40 |</a:t>
            </a:r>
          </a:p>
          <a:p xmlns:a="http://schemas.openxmlformats.org/drawingml/2006/main">
            <a:r>
              <a:t>|---|---:|---:|---:|</a:t>
            </a:r>
          </a:p>
          <a:p xmlns:a="http://schemas.openxmlformats.org/drawingml/2006/main">
            <a:r>
              <a:t>| p0 | 128 / 1 / 171 | 0 / 78 / 222 | 97 / 11 / 192 |</a:t>
            </a:r>
          </a:p>
          <a:p xmlns:a="http://schemas.openxmlformats.org/drawingml/2006/main">
            <a:r>
              <a:t>| p1 | 128 / 11 / 161 | 0 / 73 / 227 | 100 / 0 / 200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頁面結論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5×40 在三張地圖與兩個 player side 都有勝場，改善不是單一地圖或先後手偏差；24×24 的勝場甚至略高於基準。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講者備註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24×24 的 70 勝高於基準的 68 勝，但不能解讀為整體已超越基準，因為差距集中在 8×8 與 16×16。5×40 的 side 差只有 3 勝，沒有明顯單側依賴。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來源：Meeting/20260926_self_play_comparison/self_play_comparison_presentation_content.md</a:t>
            </a:r>
          </a:p>
          <a:p xmlns:a="http://schemas.openxmlformats.org/drawingml/2006/main">
            <a:r>
              <a:t>資料截至 2026/09/26。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10×20 self-play 的失敗模式是「穩定和局」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投影片文字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證據 | Self-play 10×20 結果 |</a:t>
            </a:r>
          </a:p>
          <a:p xmlns:a="http://schemas.openxmlformats.org/drawingml/2006/main">
            <a:r>
              <a:t>|---|---:|</a:t>
            </a:r>
          </a:p>
          <a:p xmlns:a="http://schemas.openxmlformats.org/drawingml/2006/main">
            <a:r>
              <a:t>| Final snapshot search evaluation | **0 勝 / 180 和 / 0 敗** |</a:t>
            </a:r>
          </a:p>
          <a:p xmlns:a="http://schemas.openxmlformats.org/drawingml/2006/main">
            <a:r>
              <a:t>| Fixed-roster final test | **0 勝 / 151 和 / 449 敗** |</a:t>
            </a:r>
          </a:p>
          <a:p xmlns:a="http://schemas.openxmlformats.org/drawingml/2006/main">
            <a:r>
              <a:t>| Final population 最高 fitness 同分 | 7 / 10 |</a:t>
            </a:r>
          </a:p>
          <a:p xmlns:a="http://schemas.openxmlformats.org/drawingml/2006/main">
            <a:r>
              <a:t>| Unique objective vectors | 4 |</a:t>
            </a:r>
          </a:p>
          <a:p xmlns:a="http://schemas.openxmlformats.org/drawingml/2006/main">
            <a:r>
              <a:t>| Strategy niches | 4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最終 Java 行為的主要限制：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只攻擊附近的 enemy Workers</a:t>
            </a:r>
          </a:p>
          <a:p xmlns:a="http://schemas.openxmlformats.org/drawingml/2006/main">
            <a:r>
              <a:t>- 沒有一般化的敵人追擊邏輯</a:t>
            </a:r>
          </a:p>
          <a:p xmlns:a="http://schemas.openxmlformats.org/drawingml/2006/main">
            <a:r>
              <a:t>- 沒有有效控制 Heavy units</a:t>
            </a:r>
          </a:p>
          <a:p xmlns:a="http://schemas.openxmlformats.org/drawingml/2006/main">
            <a:r>
              <a:t>- 找不到目標時大量單位維持 idle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頁面結論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搜尋成功適應當期 snapshot，卻把「不輸給相似對手」當成主要訊號，最終收斂到無法終結比賽的和局策略。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講者備註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Final snapshot 的正 fitness 來自 material 與 resource shaping，不代表任何勝場。跨 run 比較時不能把這個 self-play GP 與 fixed-roster GP 直接放在同一條尺度上。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資料來源：[self-play 10×20 tested candidate evaluation](../../runs/20260923_134743_200030/candidates/gen_0020_ee9b19ad3dc8/evaluation/game_performance.json)、[self-play 10×20 candidate Java](../../runs/20260923_134743_200030/candidates/gen_0020_ee9b19ad3dc8/phenotype/CandidateAgent.java)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來源：Meeting/20260926_self_play_comparison/self_play_comparison_presentation_content.md</a:t>
            </a:r>
          </a:p>
          <a:p xmlns:a="http://schemas.openxmlformats.org/drawingml/2006/main">
            <a:r>
              <a:t>資料截至 2026/09/26。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5×40 的關鍵轉折發生在 Generation 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投影片文字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Generation | 當期 best W / D / L | Best GP | 解讀 |</a:t>
            </a:r>
          </a:p>
          <a:p xmlns:a="http://schemas.openxmlformats.org/drawingml/2006/main">
            <a:r>
              <a:t>|---:|---:|---:|---|</a:t>
            </a:r>
          </a:p>
          <a:p xmlns:a="http://schemas.openxmlformats.org/drawingml/2006/main">
            <a:r>
              <a:t>| G0 至 G2 | 0 / 180 / 0 | 0.000 | 初期全部和局 |</a:t>
            </a:r>
          </a:p>
          <a:p xmlns:a="http://schemas.openxmlformats.org/drawingml/2006/main">
            <a:r>
              <a:t>| G5 | 0 / 174 / 6 | 1.243 | 尚無勝場 |</a:t>
            </a:r>
          </a:p>
          <a:p xmlns:a="http://schemas.openxmlformats.org/drawingml/2006/main">
            <a:r>
              <a:t>| G10 至 G14 | 0 / 180 / 0 | 0.424 | 新 snapshot 後回到和局 |</a:t>
            </a:r>
          </a:p>
          <a:p xmlns:a="http://schemas.openxmlformats.org/drawingml/2006/main">
            <a:r>
              <a:t>| G16 | 0 / 180 / 0 | 0.161 | 突破前一代 |</a:t>
            </a:r>
          </a:p>
          <a:p xmlns:a="http://schemas.openxmlformats.org/drawingml/2006/main">
            <a:r>
              <a:t>| **G17** | **180 / 0 / 0** | **102.804** | Code Reflection 產生決定性突破 |</a:t>
            </a:r>
          </a:p>
          <a:p xmlns:a="http://schemas.openxmlformats.org/drawingml/2006/main">
            <a:r>
              <a:t>| G20 | 120 / 0 / 60 | 35.040 | Refresh 後仍保留勝場能力 |</a:t>
            </a:r>
          </a:p>
          <a:p xmlns:a="http://schemas.openxmlformats.org/drawingml/2006/main">
            <a:r>
              <a:t>| G40 | 114 / 24 / 42 | 40.523 | 最終 snapshot 仍可取勝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頁面結論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G17 首次讓搜尋訊號從「和局 shaping」變成真正的 win/loss 訊號，而且能力跨過後續 snapshot refresh 保留下來。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講者備註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GP 只能在同一 opponent snapshot 內比較。這張投影片的重點是每個 generation 的 W/D/L 狀態，以及 G17 後在新 snapshot 仍能產生勝場，不是宣稱 GP 跨 snapshot 單調上升。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資料來源：[self-play 5×40 generation artifacts](../../runs/20260925_134245_911171/generations/)、[G17 evaluation](../../runs/20260925_134245_911171/candidates/gen_0017_a4bee4778e92/evaluation/game_performance.json)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來源：Meeting/20260926_self_play_comparison/self_play_comparison_presentation_content.md</a:t>
            </a:r>
          </a:p>
          <a:p xmlns:a="http://schemas.openxmlformats.org/drawingml/2006/main">
            <a:r>
              <a:t>資料截至 2026/09/26。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 Reflection 補上了「主動找敵人」的能力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投影片文字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G17 candidate：`gen_0017_a4bee4778e92`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Mutation：`crossover+mutation`，Code Reflection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核心行為改變：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修改前 | 修改後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只尋找目前攻擊範圍內的敵人 | 尋找全地圖最近的敵人 |</a:t>
            </a:r>
          </a:p>
          <a:p xmlns:a="http://schemas.openxmlformats.org/drawingml/2006/main">
            <a:r>
              <a:t>| 沒有射程內目標時容易 idle | 對最近敵人下達 `commandAttack` |</a:t>
            </a:r>
          </a:p>
          <a:p xmlns:a="http://schemas.openxmlformats.org/drawingml/2006/main">
            <a:r>
              <a:t>| 難以終結對稱或被動局面 | 單位會追擊並建立實際勝負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這條 lineage 延續到 final-test candidate `gen_0040_c02a137db168`。最終 Java 也保留「若攻擊單位仍 idle，攻擊最近敵人」的 fallback。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頁面結論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新版成功的核心不是更多 timeout，而是一個可解釋、可追溯、會主動完成戰鬥的 phenotype 改變。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講者備註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這是從 mutation artifact 與 Java diff 得到的機制解釋，與 final-test 的 197 勝方向一致。不過單一 mutation 與最終外部勝率之間仍不是嚴格因果實驗；更嚴謹的作法是做 mutation rollback 或同 seed 重跑。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資料來源：[Code Reflection metadata](../../runs/20260925_134245_911171/candidates/gen_0017_a4bee4778e92/mutation/code_reflection/metadata.json)、[parent Java](../../runs/20260925_134245_911171/candidates/gen_0017_a4bee4778e92/mutation/code_reflection/parent_candidate.java)、[reflected Java](../../runs/20260925_134245_911171/candidates/gen_0017_a4bee4778e92/mutation/code_reflection/reflected_candidate.java)、[final candidate Java](../../runs/20260925_134245_911171/candidates/gen_0040_c02a137db168/phenotype/CandidateAgent.java)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來源：Meeting/20260926_self_play_comparison/self_play_comparison_presentation_content.md</a:t>
            </a:r>
          </a:p>
          <a:p xmlns:a="http://schemas.openxmlformats.org/drawingml/2006/main">
            <a:r>
              <a:t>資料截至 2026/09/26。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最終族群：5×40 有改善，但仍出現平台化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投影片文字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指標 | Fixed-roster 10×20 | Self-play 10×20 | Self-play 5×40 |</a:t>
            </a:r>
          </a:p>
          <a:p xmlns:a="http://schemas.openxmlformats.org/drawingml/2006/main">
            <a:r>
              <a:t>|---|---:|---:|---:|</a:t>
            </a:r>
          </a:p>
          <a:p xmlns:a="http://schemas.openxmlformats.org/drawingml/2006/main">
            <a:r>
              <a:t>| Final population size | 10 | 10 | 5 |</a:t>
            </a:r>
          </a:p>
          <a:p xmlns:a="http://schemas.openxmlformats.org/drawingml/2006/main">
            <a:r>
              <a:t>| 最高 fitness 同分 candidates | 1 | **7** | **4** |</a:t>
            </a:r>
          </a:p>
          <a:p xmlns:a="http://schemas.openxmlformats.org/drawingml/2006/main">
            <a:r>
              <a:t>| Unique objective vectors | 10 | 4 | 2 |</a:t>
            </a:r>
          </a:p>
          <a:p xmlns:a="http://schemas.openxmlformats.org/drawingml/2006/main">
            <a:r>
              <a:t>| Strategy niches | 3 | 4 | 3 |</a:t>
            </a:r>
          </a:p>
          <a:p xmlns:a="http://schemas.openxmlformats.org/drawingml/2006/main">
            <a:r>
              <a:t>| Unique Java hashes | 9 | 7 | 4 |</a:t>
            </a:r>
          </a:p>
          <a:p xmlns:a="http://schemas.openxmlformats.org/drawingml/2006/main">
            <a:r>
              <a:t>| 最高同分群的 Java hashes | 1 | 4 | 3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頁面結論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5×40 雖然找到能取勝的行為，但最終仍有 4/5 candidates 同列最高 fitness，objective 訊號只剩兩種，代表 selection resolution 仍然不足。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講者備註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 fitness 不代表完全相同程式。5×40 的最高同分群仍有 3 個 Java hashes，顯示 phenotype 尚有差異，只是目前 snapshot 無法進一步排序。這正是加入固定 anchors 或外部 probe 的理由。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資料來源：[baseline generation metrics](../../runs/20260911_072610_382082/analysis/generation_metrics.csv)、[self-play 10×20 generation metrics](../../runs/20260923_134743_200030/analysis/generation_metrics.csv)、[self-play 5×40 generations](../../runs/20260925_134245_911171/generations/)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來源：Meeting/20260926_self_play_comparison/self_play_comparison_presentation_content.md</a:t>
            </a:r>
          </a:p>
          <a:p xmlns:a="http://schemas.openxmlformats.org/drawingml/2006/main">
            <a:r>
              <a:t>資料截至 2026/09/26。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5×40 的時間成本接近基準，低於舊 self-play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投影片文字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指標 | Fixed-roster 10×20 | Self-play 10×20 | Self-play 5×40 |</a:t>
            </a:r>
          </a:p>
          <a:p xmlns:a="http://schemas.openxmlformats.org/drawingml/2006/main">
            <a:r>
              <a:t>|---|---:|---:|---:|</a:t>
            </a:r>
          </a:p>
          <a:p xmlns:a="http://schemas.openxmlformats.org/drawingml/2006/main">
            <a:r>
              <a:t>| Generation wall time | **16.72 h** | 25.30 h | 17.99 h |</a:t>
            </a:r>
          </a:p>
          <a:p xmlns:a="http://schemas.openxmlformats.org/drawingml/2006/main">
            <a:r>
              <a:t>| LLM requests | 1,659 | 1,839 | **1,626** |</a:t>
            </a:r>
          </a:p>
          <a:p xmlns:a="http://schemas.openxmlformats.org/drawingml/2006/main">
            <a:r>
              <a:t>| LLM cumulative time | 10.98 h | 13.36 h | **9.49 h** |</a:t>
            </a:r>
          </a:p>
          <a:p xmlns:a="http://schemas.openxmlformats.org/drawingml/2006/main">
            <a:r>
              <a:t>| Persisted match events | 舊 schema，無可比數字 | 47,520 | 43,740 |</a:t>
            </a:r>
          </a:p>
          <a:p xmlns:a="http://schemas.openxmlformats.org/drawingml/2006/main">
            <a:r>
              <a:t>| Match cumulative time | 舊 schema，無可比數字 | 8.63 h | 5.40 h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5×40 相對 10×20：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Wall time 少 **7.31 小時**，約降低 28.9%</a:t>
            </a:r>
          </a:p>
          <a:p xmlns:a="http://schemas.openxmlformats.org/drawingml/2006/main">
            <a:r>
              <a:t>- LLM requests 少 **213** 次</a:t>
            </a:r>
          </a:p>
          <a:p xmlns:a="http://schemas.openxmlformats.org/drawingml/2006/main">
            <a:r>
              <a:t>- LLM cumulative time 少 **3.87 小時**</a:t>
            </a:r>
          </a:p>
          <a:p xmlns:a="http://schemas.openxmlformats.org/drawingml/2006/main">
            <a:r>
              <a:t>- Match cumulative time 少 **3.23 小時**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頁面結論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在相近 regular candidate budget 下，5×40 同時得到更好的外部結果與較低的實際成本，是兩版 self-play 中明顯較好的配置。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講者備註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10×20 run 曾中斷並恢復，manifest 雖為 complete，仍保留 snapshot mismatch failure 資訊，candidate artifacts 與成本包含 recovery overhead。因此 25.30 小時不能完全歸因於 10×20 配置。基準使用舊 timing schema，不能直接比較 persisted match event 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資料來源：[baseline timing](../../runs/20260911_072610_382082/timing.jsonl)、[self-play 10×20 timing](../../runs/20260923_134743_200030/timing.jsonl)、[self-play 5×40 timing](../../runs/20260925_134245_911171/timing.jsonl)、[self-play 10×20 manifest](../../runs/20260923_134743_200030/manifest.json)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來源：Meeting/20260926_self_play_comparison/self_play_comparison_presentation_content.md</a:t>
            </a:r>
          </a:p>
          <a:p xmlns:a="http://schemas.openxmlformats.org/drawingml/2006/main">
            <a:r>
              <a:t>資料截至 2026/09/26。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結論與下一步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投影片文字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結論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Fixed-roster 10×20 仍是最佳結果：**42.7%**。</a:t>
            </a:r>
          </a:p>
          <a:p xmlns:a="http://schemas.openxmlformats.org/drawingml/2006/main">
            <a:r>
              <a:t>- Self-play 5×40 已從 0% 提升到 **32.8%**，證明 self-play 可以產生外部勝場。</a:t>
            </a:r>
          </a:p>
          <a:p xmlns:a="http://schemas.openxmlformats.org/drawingml/2006/main">
            <a:r>
              <a:t>- 5×40 的改善可追溯到主動追擊敵人的 Code Reflection。</a:t>
            </a:r>
          </a:p>
          <a:p xmlns:a="http://schemas.openxmlformats.org/drawingml/2006/main">
            <a:r>
              <a:t>- 目前差距集中在 LightRush、HeavyRush 與 COAC。</a:t>
            </a:r>
          </a:p>
          <a:p xmlns:a="http://schemas.openxmlformats.org/drawingml/2006/main">
            <a:r>
              <a:t>- 最終族群仍有 4/5 最高同分，selection pressure 還不夠細。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建議下一個實驗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**先做 current-code fixed-roster 10×20 rerun**，建立同 commit、同 pipeline 的公平基準。</a:t>
            </a:r>
          </a:p>
          <a:p xmlns:a="http://schemas.openxmlformats.org/drawingml/2006/main">
            <a:r>
              <a:t>2. **Self-play snapshot 加入固定 anchors**，至少保留 LightRush、HeavyRush、WorkerRush 或 COAC。</a:t>
            </a:r>
          </a:p>
          <a:p xmlns:a="http://schemas.openxmlformats.org/drawingml/2006/main">
            <a:r>
              <a:t>3. **每次 snapshot refresh 加一個固定 holdout probe**，只監控、不參與 selection，及早發現外部能力退化。</a:t>
            </a:r>
          </a:p>
          <a:p xmlns:a="http://schemas.openxmlformats.org/drawingml/2006/main">
            <a:r>
              <a:t>4. **保留 5×40 搜尋規模**，因為成本與結果都優於 10×20 self-play。</a:t>
            </a:r>
          </a:p>
          <a:p xmlns:a="http://schemas.openxmlformats.org/drawingml/2006/main">
            <a:r>
              <a:t>5. **把 winless plateau 設為診斷條件**，若連續多代只有 draws，觸發攻擊能力檢查或 mutation bias。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頁面結論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下一階段不需要放棄 self-play；應保留 5×40 的探索深度，再用 fixed anchors 與 holdout probes 補上外部能力約束。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來源：Meeting/20260926_self_play_comparison/self_play_comparison_presentation_content.md</a:t>
            </a:r>
          </a:p>
          <a:p xmlns:a="http://schemas.openxmlformats.org/drawingml/2006/main">
            <a:r>
              <a:t>資料截至 2026/09/26。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 opponent 勝率比較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投影片文字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Opponent | Fixed-roster wins | Self-play 10×20 wins | Self-play 5×40 wins | 5×40 與基準差 |</a:t>
            </a:r>
          </a:p>
          <a:p xmlns:a="http://schemas.openxmlformats.org/drawingml/2006/main">
            <a:r>
              <a:t>|---|---:|---:|---:|---:|</a:t>
            </a:r>
          </a:p>
          <a:p xmlns:a="http://schemas.openxmlformats.org/drawingml/2006/main">
            <a:r>
              <a:t>| PassiveAI | 60 | 0 | 60 | 0 |</a:t>
            </a:r>
          </a:p>
          <a:p xmlns:a="http://schemas.openxmlformats.org/drawingml/2006/main">
            <a:r>
              <a:t>| RandomAI | 59 | 0 | 60 | +1 |</a:t>
            </a:r>
          </a:p>
          <a:p xmlns:a="http://schemas.openxmlformats.org/drawingml/2006/main">
            <a:r>
              <a:t>| RandomBiasedAI | 57 | 0 | 57 | 0 |</a:t>
            </a:r>
          </a:p>
          <a:p xmlns:a="http://schemas.openxmlformats.org/drawingml/2006/main">
            <a:r>
              <a:t>| LightRush | 30 | 0 | 10 | -20 |</a:t>
            </a:r>
          </a:p>
          <a:p xmlns:a="http://schemas.openxmlformats.org/drawingml/2006/main">
            <a:r>
              <a:t>| HeavyRush | 40 | 0 | 10 | -30 |</a:t>
            </a:r>
          </a:p>
          <a:p xmlns:a="http://schemas.openxmlformats.org/drawingml/2006/main">
            <a:r>
              <a:t>| WorkerRush | 0 | 0 | 0 | 0 |</a:t>
            </a:r>
          </a:p>
          <a:p xmlns:a="http://schemas.openxmlformats.org/drawingml/2006/main">
            <a:r>
              <a:t>| AllInBot | 0 | 0 | 0 | 0 |</a:t>
            </a:r>
          </a:p>
          <a:p xmlns:a="http://schemas.openxmlformats.org/drawingml/2006/main">
            <a:r>
              <a:t>| Mayari | 0 | 0 | 0 | 0 |</a:t>
            </a:r>
          </a:p>
          <a:p xmlns:a="http://schemas.openxmlformats.org/drawingml/2006/main">
            <a:r>
              <a:t>| COAC | 10 | 0 | 0 | -10 |</a:t>
            </a:r>
          </a:p>
          <a:p xmlns:a="http://schemas.openxmlformats.org/drawingml/2006/main">
            <a:r>
              <a:t>| TMA | 0 | 0 | 0 | 0 |</a:t>
            </a:r>
          </a:p>
          <a:p xmlns:a="http://schemas.openxmlformats.org/drawingml/2006/main">
            <a:r>
              <a:t>| **Total** | **256** | **0** | **197** | **-59**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解讀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5×40 與基準的總差為 59 勝，完全可由 RandomAI `+1`、LightRush `-20`、HeavyRush `-30`、COAC `-10` 解釋。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來源：Meeting/20260926_self_play_comparison/self_play_comparison_presentation_content.md</a:t>
            </a:r>
          </a:p>
          <a:p xmlns:a="http://schemas.openxmlformats.org/drawingml/2006/main">
            <a:r>
              <a:t>資料截至 2026/09/26。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identity 與資料品質注意事項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投影片文字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項目 | 說明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基準選擇 | 依指定採 `20260911_072610_382082`，其搜尋 eval 使用多個固定 opponents，規模為 10×20 |</a:t>
            </a:r>
          </a:p>
          <a:p xmlns:a="http://schemas.openxmlformats.org/drawingml/2006/main">
            <a:r>
              <a:t>| 歷史版本限制 | 基準來自較早 repository state，不是與兩版 self-play 完全同 commit 的受控比較 |</a:t>
            </a:r>
          </a:p>
          <a:p xmlns:a="http://schemas.openxmlformats.org/drawingml/2006/main">
            <a:r>
              <a:t>| 5×40 命名 | source config 檔名為 `self_play_5x40.yaml`，resolved `experiment_name` 卻保留 `self_play_10x20` |</a:t>
            </a:r>
          </a:p>
          <a:p xmlns:a="http://schemas.openxmlformats.org/drawingml/2006/main">
            <a:r>
              <a:t>| 10×20 命名 | source config 檔名為 `self_play_10x20.yaml`，resolved `experiment_name` 卻保留 `self_play_5x40` |</a:t>
            </a:r>
          </a:p>
          <a:p xmlns:a="http://schemas.openxmlformats.org/drawingml/2006/main">
            <a:r>
              <a:t>| 判讀規則 | 本文件以 run ID 與 resolved generations/population 為準，不以 `experiment_name` 判斷 |</a:t>
            </a:r>
          </a:p>
          <a:p xmlns:a="http://schemas.openxmlformats.org/drawingml/2006/main">
            <a:r>
              <a:t>| 10×20 recovery | run 已完成，但 manifest 保留中斷時的 snapshot mismatch failure；成本含 recovery overhead |</a:t>
            </a:r>
          </a:p>
          <a:p xmlns:a="http://schemas.openxmlformats.org/drawingml/2006/main">
            <a:r>
              <a:t>| GP 比較 | Self-play GP 只可在相同 snapshot 內比較，不能與 fixed-roster GP 或不同 snapshot 直接比較 |</a:t>
            </a:r>
          </a:p>
          <a:p xmlns:a="http://schemas.openxmlformats.org/drawingml/2006/main">
            <a:r>
              <a:t>| 最安全比較 | 三組相同 600 場 fixed-roster final test 的 W/D/L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頁面結論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本比較足以判斷最終外部表現，但若要把差距嚴格歸因於 evaluation mode，仍需在 current code 上重跑 fixed-roster control。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資料來源：[baseline manifest](../../runs/20260911_072610_382082/manifest.json)、[self-play 10×20 manifest](../../runs/20260923_134743_200030/manifest.json)、[self-play 5×40 manifest](../../runs/20260925_134245_911171/manifest.json)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來源：Meeting/20260926_self_play_comparison/self_play_comparison_presentation_content.md</a:t>
            </a:r>
          </a:p>
          <a:p xmlns:a="http://schemas.openxmlformats.org/drawingml/2006/main">
            <a:r>
              <a:t>資料截至 2026/09/26。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一句話版本與 Q&amp;A 備答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一句話版本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 self-play 從 10×20 改成 5×40 後，外部勝率從 0% 提升到 32.8%，成本也下降，但仍未追上多固定對手 eval 基準的 42.7%。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Q1：為什麼 5×40 比 10×20 好？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現有 artifact 顯示，關鍵差異是 G17 的 Code Reflection 補上了主動追擊與攻擊最近敵人的能力；更多 generations 讓這個 mutation 有機會出現並在後續 snapshot 中被保留。這是有證據支持的機制解釋，但尚未經同 seed ablation 證明唯一因果。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Q2：為什麼 fixed-roster 還是更好？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 opponents 持續提供 LightRush、HeavyRush、COAC 等外部能力壓力。純 self-play 的 selection 只需要超越當期 snapshot，容易失去對外部策略的 coverage。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Q3：可以直接比較三個 run 的 GP 嗎？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不可以。Fixed-roster 與 self-play 使用不同 evaluation context，self-play 每次 snapshot refresh 又會改變 fitness 語境。跨 run 應以共同的 600 場 final test 比較。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Q4：下一個最重要的實驗是什麼？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先用 current code 重跑 fixed-roster 10×20 control，再測試「5×40 self-play 加固定 anchors」。這能把版本差異與 evaluation-mode 差異拆開。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624f91fecd45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8d029809804030" /><Relationship Type="http://schemas.openxmlformats.org/officeDocument/2006/relationships/slideLayout" Target="/ppt/slideLayouts/slideLayout1.xml" Id="R00d0f017020045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d0f017020045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29dc50d1644fb" /><Relationship Type="http://schemas.openxmlformats.org/officeDocument/2006/relationships/notesSlide" Target="/ppt/notesSlides/notesSlide1.xml" Id="Raf9d8a9907ca44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49799b16447ee" /><Relationship Type="http://schemas.openxmlformats.org/officeDocument/2006/relationships/notesSlide" Target="/ppt/notesSlides/notesSlide2.xml" Id="R0ab60fb906a642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08e2631854424" /><Relationship Type="http://schemas.openxmlformats.org/officeDocument/2006/relationships/notesSlide" Target="/ppt/notesSlides/notesSlide3.xml" Id="R48bfcbccfca542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c47c8285c41e8" /><Relationship Type="http://schemas.openxmlformats.org/officeDocument/2006/relationships/chart" Target="/ppt/slides/charts/chart1.xml" Id="R69ee8df84bdc4322" /><Relationship Type="http://schemas.openxmlformats.org/officeDocument/2006/relationships/notesSlide" Target="/ppt/notesSlides/notesSlide4.xml" Id="R1844d689597144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53ecdeacc4735" /><Relationship Type="http://schemas.openxmlformats.org/officeDocument/2006/relationships/chart" Target="/ppt/slides/charts/chart2.xml" Id="R76e3b1f9fef34467" /><Relationship Type="http://schemas.openxmlformats.org/officeDocument/2006/relationships/notesSlide" Target="/ppt/notesSlides/notesSlide5.xml" Id="Rde36aa112be243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ef74bbc7b4038" /><Relationship Type="http://schemas.openxmlformats.org/officeDocument/2006/relationships/chart" Target="/ppt/slides/charts/chart3.xml" Id="R8c4d1b6a48d84aa9" /><Relationship Type="http://schemas.openxmlformats.org/officeDocument/2006/relationships/notesSlide" Target="/ppt/notesSlides/notesSlide6.xml" Id="Rf67fdcf83cfb43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786f283de4de7" /><Relationship Type="http://schemas.openxmlformats.org/officeDocument/2006/relationships/notesSlide" Target="/ppt/notesSlides/notesSlide7.xml" Id="R60d33e9e16a544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349eec274416d" /><Relationship Type="http://schemas.openxmlformats.org/officeDocument/2006/relationships/notesSlide" Target="/ppt/notesSlides/notesSlide8.xml" Id="R827fc82e106a4e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d2e1ddb074339" /><Relationship Type="http://schemas.openxmlformats.org/officeDocument/2006/relationships/notesSlide" Target="/ppt/notesSlides/notesSlide9.xml" Id="Rb2f8ac052c6c42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024ed22674b87" /><Relationship Type="http://schemas.openxmlformats.org/officeDocument/2006/relationships/notesSlide" Target="/ppt/notesSlides/notesSlide10.xml" Id="R699ae1d2bb6d43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e83b62e60419c" /><Relationship Type="http://schemas.openxmlformats.org/officeDocument/2006/relationships/chart" Target="/ppt/slides/charts/chart4.xml" Id="Rbbd9f266f1a34f51" /><Relationship Type="http://schemas.openxmlformats.org/officeDocument/2006/relationships/notesSlide" Target="/ppt/notesSlides/notesSlide11.xml" Id="R094b262942f440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7158180d24b8c" /><Relationship Type="http://schemas.openxmlformats.org/officeDocument/2006/relationships/notesSlide" Target="/ppt/notesSlides/notesSlide12.xml" Id="R1a64ed6742214b2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e75ca17a54353" /><Relationship Type="http://schemas.openxmlformats.org/officeDocument/2006/relationships/notesSlide" Target="/ppt/notesSlides/notesSlide13.xml" Id="R0d77df73f42f4cf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0caec65644d8e" /><Relationship Type="http://schemas.openxmlformats.org/officeDocument/2006/relationships/notesSlide" Target="/ppt/notesSlides/notesSlide14.xml" Id="R65ed8a780a4544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9bfd07c02446f" /><Relationship Type="http://schemas.openxmlformats.org/officeDocument/2006/relationships/notesSlide" Target="/ppt/notesSlides/notesSlide15.xml" Id="Rd9011420280d4dd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Win</c:v>
          </c:tx>
          <c:spPr>
            <a:solidFill xmlns:a="http://schemas.openxmlformats.org/drawingml/2006/main">
              <a:srgbClr val="9EDADD"/>
            </a:solidFill>
          </c:spPr>
          <c:cat>
            <c:strRef>
              <c:f>'Chart Data'!$A$2:$A$4</c:f>
              <c:strCache>
                <c:ptCount val="3"/>
                <c:pt idx="0">
                  <c:v>Fixed-roster 10×20</c:v>
                </c:pt>
                <c:pt idx="1">
                  <c:v>Self-play 10×20</c:v>
                </c:pt>
                <c:pt idx="2">
                  <c:v>Self-play 5×40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256</c:v>
                </c:pt>
                <c:pt idx="1">
                  <c:v>0</c:v>
                </c:pt>
                <c:pt idx="2">
                  <c:v>197</c:v>
                </c:pt>
              </c:numCache>
            </c:numRef>
          </c:val>
        </c:ser>
        <c:ser>
          <c:idx val="1"/>
          <c:order val="1"/>
          <c:tx>
            <c:v>Draw</c:v>
          </c:tx>
          <c:spPr>
            <a:solidFill xmlns:a="http://schemas.openxmlformats.org/drawingml/2006/main">
              <a:srgbClr val="A7B0BB"/>
            </a:solidFill>
          </c:spPr>
          <c:cat>
            <c:strRef>
              <c:f>'Chart Data'!$C$2:$C$4</c:f>
              <c:strCache>
                <c:ptCount val="3"/>
                <c:pt idx="0">
                  <c:v>Fixed-roster 10×20</c:v>
                </c:pt>
                <c:pt idx="1">
                  <c:v>Self-play 10×20</c:v>
                </c:pt>
                <c:pt idx="2">
                  <c:v>Self-play 5×40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12</c:v>
                </c:pt>
                <c:pt idx="1">
                  <c:v>151</c:v>
                </c:pt>
                <c:pt idx="2">
                  <c:v>11</c:v>
                </c:pt>
              </c:numCache>
            </c:numRef>
          </c:val>
        </c:ser>
        <c:ser>
          <c:idx val="2"/>
          <c:order val="2"/>
          <c:tx>
            <c:v>Loss</c:v>
          </c:tx>
          <c:spPr>
            <a:solidFill xmlns:a="http://schemas.openxmlformats.org/drawingml/2006/main">
              <a:srgbClr val="DDE3E9"/>
            </a:solidFill>
          </c:spPr>
          <c:cat>
            <c:strRef>
              <c:f>'Chart Data'!$E$2:$E$4</c:f>
              <c:strCache>
                <c:ptCount val="3"/>
                <c:pt idx="0">
                  <c:v>Fixed-roster 10×20</c:v>
                </c:pt>
                <c:pt idx="1">
                  <c:v>Self-play 10×20</c:v>
                </c:pt>
                <c:pt idx="2">
                  <c:v>Self-play 5×40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332</c:v>
                </c:pt>
                <c:pt idx="1">
                  <c:v>449</c:v>
                </c:pt>
                <c:pt idx="2">
                  <c:v>392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600"/>
          <c:min val="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Fixed-roster 10×20</c:v>
          </c:tx>
          <c:spPr>
            <a:solidFill xmlns:a="http://schemas.openxmlformats.org/drawingml/2006/main">
              <a:srgbClr val="315C91"/>
            </a:solidFill>
          </c:spPr>
          <c:cat>
            <c:strRef>
              <c:f>'Chart Data'!$A$2:$A$7</c:f>
              <c:strCache>
                <c:ptCount val="6"/>
                <c:pt idx="0">
                  <c:v>Passive</c:v>
                </c:pt>
                <c:pt idx="1">
                  <c:v>Random</c:v>
                </c:pt>
                <c:pt idx="2">
                  <c:v>RandomBiased</c:v>
                </c:pt>
                <c:pt idx="3">
                  <c:v>LightRush</c:v>
                </c:pt>
                <c:pt idx="4">
                  <c:v>HeavyRush</c:v>
                </c:pt>
                <c:pt idx="5">
                  <c:v>COAC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60</c:v>
                </c:pt>
                <c:pt idx="1">
                  <c:v>59</c:v>
                </c:pt>
                <c:pt idx="2">
                  <c:v>57</c:v>
                </c:pt>
                <c:pt idx="3">
                  <c:v>30</c:v>
                </c:pt>
                <c:pt idx="4">
                  <c:v>40</c:v>
                </c:pt>
                <c:pt idx="5">
                  <c:v>10</c:v>
                </c:pt>
              </c:numCache>
            </c:numRef>
          </c:val>
        </c:ser>
        <c:ser>
          <c:idx val="1"/>
          <c:order val="1"/>
          <c:tx>
            <c:v>Self-play 5×40</c:v>
          </c:tx>
          <c:spPr>
            <a:solidFill xmlns:a="http://schemas.openxmlformats.org/drawingml/2006/main">
              <a:srgbClr val="087F8C"/>
            </a:solidFill>
          </c:spPr>
          <c:cat>
            <c:strRef>
              <c:f>'Chart Data'!$C$2:$C$7</c:f>
              <c:strCache>
                <c:ptCount val="6"/>
                <c:pt idx="0">
                  <c:v>Passive</c:v>
                </c:pt>
                <c:pt idx="1">
                  <c:v>Random</c:v>
                </c:pt>
                <c:pt idx="2">
                  <c:v>RandomBiased</c:v>
                </c:pt>
                <c:pt idx="3">
                  <c:v>LightRush</c:v>
                </c:pt>
                <c:pt idx="4">
                  <c:v>HeavyRush</c:v>
                </c:pt>
                <c:pt idx="5">
                  <c:v>COAC</c:v>
                </c:pt>
              </c:strCache>
            </c:str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60</c:v>
                </c:pt>
                <c:pt idx="1">
                  <c:v>60</c:v>
                </c:pt>
                <c:pt idx="2">
                  <c:v>57</c:v>
                </c:pt>
                <c:pt idx="3">
                  <c:v>10</c:v>
                </c:pt>
                <c:pt idx="4">
                  <c:v>10</c:v>
                </c:pt>
                <c:pt idx="5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6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Fixed-roster 10×20</c:v>
          </c:tx>
          <c:spPr>
            <a:solidFill xmlns:a="http://schemas.openxmlformats.org/drawingml/2006/main">
              <a:srgbClr val="315C91"/>
            </a:solidFill>
          </c:spPr>
          <c:cat>
            <c:strRef>
              <c:f>'Chart Data'!$A$2:$A$4</c:f>
              <c:strCache>
                <c:ptCount val="3"/>
                <c:pt idx="0">
                  <c:v>8×8</c:v>
                </c:pt>
                <c:pt idx="1">
                  <c:v>16×16</c:v>
                </c:pt>
                <c:pt idx="2">
                  <c:v>24×24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98</c:v>
                </c:pt>
                <c:pt idx="1">
                  <c:v>90</c:v>
                </c:pt>
                <c:pt idx="2">
                  <c:v>68</c:v>
                </c:pt>
              </c:numCache>
            </c:numRef>
          </c:val>
        </c:ser>
        <c:ser>
          <c:idx val="1"/>
          <c:order val="1"/>
          <c:tx>
            <c:v>Self-play 10×20</c:v>
          </c:tx>
          <c:spPr>
            <a:solidFill xmlns:a="http://schemas.openxmlformats.org/drawingml/2006/main">
              <a:srgbClr val="A7B0BB"/>
            </a:solidFill>
          </c:spPr>
          <c:cat>
            <c:strRef>
              <c:f>'Chart Data'!$C$2:$C$4</c:f>
              <c:strCache>
                <c:ptCount val="3"/>
                <c:pt idx="0">
                  <c:v>8×8</c:v>
                </c:pt>
                <c:pt idx="1">
                  <c:v>16×16</c:v>
                </c:pt>
                <c:pt idx="2">
                  <c:v>24×24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v>Self-play 5×40</c:v>
          </c:tx>
          <c:spPr>
            <a:solidFill xmlns:a="http://schemas.openxmlformats.org/drawingml/2006/main">
              <a:srgbClr val="087F8C"/>
            </a:solidFill>
          </c:spPr>
          <c:cat>
            <c:strRef>
              <c:f>'Chart Data'!$E$2:$E$4</c:f>
              <c:strCache>
                <c:ptCount val="3"/>
                <c:pt idx="0">
                  <c:v>8×8</c:v>
                </c:pt>
                <c:pt idx="1">
                  <c:v>16×16</c:v>
                </c:pt>
                <c:pt idx="2">
                  <c:v>24×24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67</c:v>
                </c:pt>
                <c:pt idx="1">
                  <c:v>60</c:v>
                </c:pt>
                <c:pt idx="2">
                  <c:v>70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11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Generation wall time (h)</c:v>
          </c:tx>
          <c:spPr>
            <a:solidFill xmlns:a="http://schemas.openxmlformats.org/drawingml/2006/main">
              <a:srgbClr val="087F8C"/>
            </a:solidFill>
          </c:spPr>
          <c:cat>
            <c:strRef>
              <c:f>'Chart Data'!$A$2:$A$4</c:f>
              <c:strCache>
                <c:ptCount val="3"/>
                <c:pt idx="0">
                  <c:v>Fixed-roster</c:v>
                </c:pt>
                <c:pt idx="1">
                  <c:v>SP 10×20</c:v>
                </c:pt>
                <c:pt idx="2">
                  <c:v>SP 5×40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16.72</c:v>
                </c:pt>
                <c:pt idx="1">
                  <c:v>25.3</c:v>
                </c:pt>
                <c:pt idx="2">
                  <c:v>17.99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E0661-DD9E-4036-9009-A1709604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Self-play 兩版與固定對手基準比較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08CBA-A926-4AFC-A786-C0D08662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10 月 1 日研究進度報告　　資料截至 2026/09/26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44F32-7E49-40FF-9781-3336F04A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EAGLE   2026/10/01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9662D-E4F4-4A75-9866-25F969A9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A2120-B31E-4141-9AB9-198DD2CF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5×40 外部勝率達 32.8%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83340-3E60-474C-839F-612EFFEE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7622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仍落後 fixed-roster 基準 9.8 個百分點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3638550"/>
          <a:ext xmlns:a="http://schemas.openxmlformats.org/drawingml/2006/main" cx="11049000" cy="1962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57750"/>
                <a:gridCol w="2762250"/>
                <a:gridCol w="3429000"/>
              </a:tblGrid>
              <a:tr h="4905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實驗</a:t>
                      </a:r>
                    </a:p>
                  </a:txBody>
                  <a:tcPr marL="76200" marR="76200" marT="28575" marB="28575">
                    <a:solidFill>
                      <a:srgbClr val="172D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Final-test 勝率</a:t>
                      </a:r>
                    </a:p>
                  </a:txBody>
                  <a:tcPr marL="76200" marR="76200" marT="28575" marB="28575">
                    <a:solidFill>
                      <a:srgbClr val="172D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 / D / L</a:t>
                      </a:r>
                    </a:p>
                  </a:txBody>
                  <a:tcPr marL="76200" marR="76200" marT="28575" marB="28575">
                    <a:solidFill>
                      <a:srgbClr val="172D40"/>
                    </a:solidFill>
                  </a:tcPr>
                </a:tc>
              </a:tr>
              <a:tr h="4905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Fixed-roster 10×20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42.7%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256 / 12 / 332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4905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Self-play 5×40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32.8%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197 / 11 / 392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</a:tr>
              <a:tr h="4905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Self-play 10×20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0%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 / 151 / 449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B9612-07E4-4B9A-8A56-DD27CBE1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8293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共同測試：600 場固定對手 final test</a:t>
            </a:r>
          </a:p>
        </p:txBody>
      </p:sp>
    </p:spTree>
    <p:extLst>
      <p:ext uri="{BB962C8B-B14F-4D97-AF65-F5344CB8AC3E}">
        <p14:creationId xmlns:p14="http://schemas.microsoft.com/office/powerpoint/2010/main" val="3689257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9ADD5D-5A33-45BA-823B-BC4B3002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三組實驗的比較口徑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864BAF-3A1D-460A-8D4A-32CD3FE7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共同 final test：10 opponents × 3 maps × 2 sides × 10 games = 600 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A1261-6B12-4AE5-AAF5-A8623ACE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EAGLE   2026/10/01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90CE4-DA9F-420F-914F-4465F236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685925"/>
          <a:ext xmlns:a="http://schemas.openxmlformats.org/drawingml/2006/main" cx="11049000" cy="3276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2571750"/>
                <a:gridCol w="2571750"/>
                <a:gridCol w="2571750"/>
              </a:tblGrid>
              <a:tr h="546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 marL="76200" marR="76200" marT="28575" marB="28575">
                    <a:solidFill>
                      <a:srgbClr val="172D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Fixed-roster</a:t>
                      </a:r>
                    </a:p>
                  </a:txBody>
                  <a:tcPr marL="76200" marR="76200" marT="28575" marB="28575">
                    <a:solidFill>
                      <a:srgbClr val="172D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Self-play 10×20</a:t>
                      </a:r>
                    </a:p>
                  </a:txBody>
                  <a:tcPr marL="76200" marR="76200" marT="28575" marB="28575">
                    <a:solidFill>
                      <a:srgbClr val="172D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Self-play 5×40</a:t>
                      </a:r>
                    </a:p>
                  </a:txBody>
                  <a:tcPr marL="76200" marR="76200" marT="28575" marB="28575">
                    <a:solidFill>
                      <a:srgbClr val="172D40"/>
                    </a:solidFill>
                  </a:tcPr>
                </a:tc>
              </a:tr>
              <a:tr h="546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世代 × 族群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 × 10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 × 10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40 × 5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搜尋評估對手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多個固定對手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10-slot snapshot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5-slot snapshot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</a:tr>
              <a:tr h="546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Snapshot refresh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不適用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 5 代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 5 代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Regular candidates 約數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210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210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205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</a:tr>
              <a:tr h="546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LLM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Ministral 3 8B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Ministral 3 8B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Ministral 3 8B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B544E-857F-4E7F-B3DE-76B6F9C8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62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相同地圖、mutation 機率與 final-test roster；regular births 不含 refresh records。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C0F74-C4E3-48A3-AA09-BA19EEE3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5×40 將相近的 regular candidate 數分配到更多代與更多次 snapshot 更新</a:t>
            </a:r>
          </a:p>
        </p:txBody>
      </p:sp>
    </p:spTree>
    <p:extLst>
      <p:ext uri="{BB962C8B-B14F-4D97-AF65-F5344CB8AC3E}">
        <p14:creationId xmlns:p14="http://schemas.microsoft.com/office/powerpoint/2010/main" val="11932685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E784EA-9576-41A2-8EC3-55726E77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主要發現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2F035-71C4-44CA-B01D-E7AB00B1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本次觀察支持行為機制解釋，尚非同 commit、同 seed 的受控比較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072BF-B470-4F8D-AD57-A81F1E62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EAGLE   2026/10/01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7B118-AB2C-4578-A070-98F18C20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30DA6-DFEA-4DE4-9A1F-B2746860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315C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025" b="1">
                <a:solidFill>
                  <a:srgbClr val="315C91"/>
                </a:solidFill>
                <a:latin typeface="Microsoft JhengHei"/>
                <a:ea typeface="Microsoft JhengHei"/>
                <a:cs typeface="Microsoft JhengHei"/>
              </a:rPr>
              <a:t>42.7%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6C0F69-E351-4C40-A884-8C90629B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7652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固定對手基準仍最佳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EAACA-1771-420E-AC5C-83EF9922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62125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32.8%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59676-760B-4510-B991-74AB7B9D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67652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5×40 產生外部勝場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F5B4A-E139-480D-A936-DFF36D4C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62125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A7B0B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025" b="1">
                <a:solidFill>
                  <a:srgbClr val="A7B0BB"/>
                </a:solidFill>
                <a:latin typeface="Microsoft JhengHei"/>
                <a:ea typeface="Microsoft JhengHei"/>
                <a:cs typeface="Microsoft JhengHei"/>
              </a:rPr>
              <a:t>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E42E59-3608-433C-9EDE-C08A04B4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7652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10×20 未取得勝場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FCD49F-CDDE-46EF-BA4F-7DA0CFA2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1095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G17 的 Code Reflection 補上主動追擊敵人的行為。</a:t>
            </a:r>
          </a:p>
          <a:p xmlns:a="http://schemas.openxmlformats.org/drawingml/2006/main">
            <a:pPr>
              <a:defRPr sz="2100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勝場集中在基礎對手，rush 與強對手仍是主要缺口。</a:t>
            </a:r>
          </a:p>
          <a:p xmlns:a="http://schemas.openxmlformats.org/drawingml/2006/main">
            <a:pPr>
              <a:defRPr sz="2100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最終 4/5 candidates 同列最高 fitness，評估仍難區分策略。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FEFBE1-BA18-4E71-A747-A2E75EB1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後續先建立 current-code control，再測試 fixed anchors 與獨立 holdout probes</a:t>
            </a:r>
          </a:p>
        </p:txBody>
      </p:sp>
    </p:spTree>
    <p:extLst>
      <p:ext uri="{BB962C8B-B14F-4D97-AF65-F5344CB8AC3E}">
        <p14:creationId xmlns:p14="http://schemas.microsoft.com/office/powerpoint/2010/main" val="13253422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0C726-D4B0-4253-8E54-5BA6E8CD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5×40 的改善包含 197 個實際勝場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17AB4-5A13-4D00-B3FE-11C809C7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三組 final test 均為 600 場，errors 均為 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7DA35-3F3C-481A-99AC-7C385F8E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EAGLE   2026/10/01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E1217B-F5D4-4F2A-A71E-FA202874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66750" y="1571625"/>
          <a:ext xmlns:a="http://schemas.openxmlformats.org/drawingml/2006/main" cx="107632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ee8df84bdc432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C15AF6-AAA2-4E55-BE56-A1D377E0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相對 self-play 10×20：+197 勝、−140 和、−57 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6335B-D4AC-4121-B4CC-45428ADB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相對 fixed-roster：少 59 勝，勝率差 9.83 個百分點</a:t>
            </a:r>
          </a:p>
        </p:txBody>
      </p:sp>
    </p:spTree>
    <p:extLst>
      <p:ext uri="{BB962C8B-B14F-4D97-AF65-F5344CB8AC3E}">
        <p14:creationId xmlns:p14="http://schemas.microsoft.com/office/powerpoint/2010/main" val="11447307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D8347-C0B9-4BC1-A33F-31CF42C9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勝場差距集中在 LightRush、HeavyRush 與 COAC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05DA7-FAAA-4F8F-ABFA-3902AAA6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每個 opponent 共 60 場；完整 W / D / L 保留於講者備註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1FF1A-3425-4A29-8EDC-5B1236D2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EAGLE   2026/10/01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8A815-1A3E-44E1-B860-702D4E69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19125" y="1647825"/>
          <a:ext xmlns:a="http://schemas.openxmlformats.org/drawingml/2006/main" cx="10906125" cy="3362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e3b1f9fef3446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2F899-4938-4D3C-BC7E-B76C1F2A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625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Self-play 10×20 對全部 10 個 opponents 均為 0 勝。</a:t>
            </a:r>
          </a:p>
          <a:p xmlns:a="http://schemas.openxmlformats.org/drawingml/2006/main">
            <a:pPr>
              <a:defRPr sz="1650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WorkerRush、AllInBot、Mayari、TMA：三組均為 0 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D46A44-CE11-4C7D-8039-EF82CCD4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5×40 的 197 勝中，177 勝來自三個基礎對手</a:t>
            </a:r>
          </a:p>
        </p:txBody>
      </p:sp>
    </p:spTree>
    <p:extLst>
      <p:ext uri="{BB962C8B-B14F-4D97-AF65-F5344CB8AC3E}">
        <p14:creationId xmlns:p14="http://schemas.microsoft.com/office/powerpoint/2010/main" val="6775993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C0792-F6B5-4091-B73F-71D1E133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5×40 的勝場分布涵蓋三張地圖與雙方位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04126-BAE2-4BA3-8F6D-3D117D6A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各地圖 200 場；各 player side 300 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A80A28-923D-44E9-827F-9E801380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EAGLE   2026/10/01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CB52A6-5D50-4578-A649-A8EA6A67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19125" y="1581150"/>
          <a:ext xmlns:a="http://schemas.openxmlformats.org/drawingml/2006/main" cx="7191375" cy="3657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4d1b6a48d84aa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6796A-26A9-4D61-8979-55227E1D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52625"/>
            <a:ext cx="328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5×40 雙方位勝場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2ED0B-F725-425B-A717-ABF5705A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95575"/>
            <a:ext cx="32861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p0　97 勝</a:t>
            </a:r>
          </a:p>
          <a:p xmlns:a="http://schemas.openxmlformats.org/drawingml/2006/main">
            <a:pPr>
              <a:defRPr sz="27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p1　100 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10C81-B8ED-4137-8595-740C1AAC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86250"/>
            <a:ext cx="328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24×24：70 vs. 68 勝</a:t>
            </a:r>
          </a:p>
          <a:p xmlns:a="http://schemas.openxmlformats.org/drawingml/2006/main">
            <a:pPr>
              <a:defRPr sz="1725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僅高於基準 2 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8247D-7670-4E70-8E55-75BFBD51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改善分布於所有測試地圖與雙方位；整體差距仍集中在 8×8 與 16×16</a:t>
            </a:r>
          </a:p>
        </p:txBody>
      </p:sp>
    </p:spTree>
    <p:extLst>
      <p:ext uri="{BB962C8B-B14F-4D97-AF65-F5344CB8AC3E}">
        <p14:creationId xmlns:p14="http://schemas.microsoft.com/office/powerpoint/2010/main" val="13096476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C31946-4B6B-4B51-91AB-9E5BE1E2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10×20 self-play 搜尋收斂到穩定和局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C33A02-CC52-4F1C-8BFA-4D8974A7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Final snapshot 的正 fitness 來自 material / resource shaping，不代表勝場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F5555-31B3-4EF8-B581-B7689B79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EAGLE   2026/10/01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A2ADB-2DAC-4007-867F-C1C7A60B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647825"/>
          <a:ext xmlns:a="http://schemas.openxmlformats.org/drawingml/2006/main" cx="11049000" cy="1762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000750"/>
                <a:gridCol w="5048250"/>
              </a:tblGrid>
              <a:tr h="587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評估情境</a:t>
                      </a:r>
                    </a:p>
                  </a:txBody>
                  <a:tcPr marL="76200" marR="76200" marT="28575" marB="28575">
                    <a:solidFill>
                      <a:srgbClr val="172D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 / D / L</a:t>
                      </a:r>
                    </a:p>
                  </a:txBody>
                  <a:tcPr marL="76200" marR="76200" marT="28575" marB="28575">
                    <a:solidFill>
                      <a:srgbClr val="172D40"/>
                    </a:solidFill>
                  </a:tcPr>
                </a:tc>
              </a:tr>
              <a:tr h="587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Final snapshot 搜尋評估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 / 180 / 0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固定對手 final test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 / 151 / 449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E8A18-98BA-40CF-A04E-DD81046E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最終 Java 的行為限制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67A06-3152-43F2-8237-197F5FB7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僅攻擊附近 enemy Workers，缺少一般化追擊邏輯。</a:t>
            </a:r>
          </a:p>
          <a:p xmlns:a="http://schemas.openxmlformats.org/drawingml/2006/main">
            <a:pPr>
              <a:defRPr sz="2100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Heavy units 控制不足，找不到目標時大量單位 idle。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5B1D57-D700-4F53-9595-D5D79A43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最終 7/10 candidates 最高 fitness 同分，只有 4 種 objective vectors</a:t>
            </a:r>
          </a:p>
        </p:txBody>
      </p:sp>
    </p:spTree>
    <p:extLst>
      <p:ext uri="{BB962C8B-B14F-4D97-AF65-F5344CB8AC3E}">
        <p14:creationId xmlns:p14="http://schemas.microsoft.com/office/powerpoint/2010/main" val="14117507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C38404-BE11-4CA5-A28D-5BCE73F4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Generation 17 出現明確的取勝轉折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B5EE5B-D5B8-4F74-83ED-A0C40978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各列對手 snapshot 不同，GP 僅能在同一 snapshot 內比較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035F9-4D3D-419B-9660-58A7EF66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EAGLE   2026/10/01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F0B87-F4AE-42DC-982F-F1552BDA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11049000" cy="3829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429000"/>
                <a:gridCol w="1809750"/>
                <a:gridCol w="3619500"/>
              </a:tblGrid>
              <a:tr h="47863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Generation</a:t>
                      </a:r>
                    </a:p>
                  </a:txBody>
                  <a:tcPr marL="76200" marR="76200" marT="28575" marB="28575">
                    <a:solidFill>
                      <a:srgbClr val="172D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當期 best W / D / L</a:t>
                      </a:r>
                    </a:p>
                  </a:txBody>
                  <a:tcPr marL="76200" marR="76200" marT="28575" marB="28575">
                    <a:solidFill>
                      <a:srgbClr val="172D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Best GP</a:t>
                      </a:r>
                    </a:p>
                  </a:txBody>
                  <a:tcPr marL="76200" marR="76200" marT="28575" marB="28575">
                    <a:solidFill>
                      <a:srgbClr val="172D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觀察</a:t>
                      </a:r>
                    </a:p>
                  </a:txBody>
                  <a:tcPr marL="76200" marR="76200" marT="28575" marB="28575">
                    <a:solidFill>
                      <a:srgbClr val="172D40"/>
                    </a:solidFill>
                  </a:tcPr>
                </a:tc>
              </a:tr>
              <a:tr h="47863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G0–G2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 / 180 / 0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0.000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初期全和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47863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G5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 / 174 / 6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1.243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尚無勝場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</a:tr>
              <a:tr h="47863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G10–G14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 / 180 / 0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0.424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Refresh 後全和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47863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G16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 / 180 / 0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0.161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突破前一代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</a:tr>
              <a:tr h="47863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G17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180 / 0 / 0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102.804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Code Reflection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47863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G20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120 / 0 / 60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35.040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 snapshot 仍有勝場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</a:tr>
              <a:tr h="47863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G40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114 / 24 / 42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40.523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最終仍可取勝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5C312D-444A-4582-8EB9-D2F5E9A7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G17 後的取勝能力跨過後續 snapshot refresh 保留下來</a:t>
            </a:r>
          </a:p>
        </p:txBody>
      </p:sp>
    </p:spTree>
    <p:extLst>
      <p:ext uri="{BB962C8B-B14F-4D97-AF65-F5344CB8AC3E}">
        <p14:creationId xmlns:p14="http://schemas.microsoft.com/office/powerpoint/2010/main" val="12055768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0D88D-AD6F-49C4-B227-651E39D0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Code Reflection 補上主動尋敵與追擊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E6BD4-6216-4C5F-AE95-06EA029A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G17：gen_0017_a4bee4778e92　　Mutation：crossover+mutation，Code Reflection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FB690-BF9D-411A-B1EB-8CC2F832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EAGLE   2026/10/01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D695B-6D0F-4C3A-8E5F-E92230AC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676400"/>
          <a:ext xmlns:a="http://schemas.openxmlformats.org/drawingml/2006/main" cx="11049000" cy="2705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5524500"/>
              </a:tblGrid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修改前</a:t>
                      </a:r>
                    </a:p>
                  </a:txBody>
                  <a:tcPr marL="76200" marR="76200" marT="28575" marB="28575">
                    <a:solidFill>
                      <a:srgbClr val="172D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修改後</a:t>
                      </a:r>
                    </a:p>
                  </a:txBody>
                  <a:tcPr marL="76200" marR="76200" marT="28575" marB="28575">
                    <a:solidFill>
                      <a:srgbClr val="172D40"/>
                    </a:solidFill>
                  </a:tcPr>
                </a:tc>
              </a:tr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只找攻擊範圍內的敵人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尋找全地圖最近的敵人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無射程內目標時容易 idle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對最近敵人下達 commandAttack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</a:tr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難以終結對稱或被動局面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主動追擊並形成實際勝負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60B13F-58DE-4ACD-95AD-291EC834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9625"/>
            <a:ext cx="10953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此 lineage 延續至 gen_0040_c02a137db168。</a:t>
            </a:r>
          </a:p>
          <a:p xmlns:a="http://schemas.openxmlformats.org/drawingml/2006/main">
            <a:pPr>
              <a:defRPr sz="1800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最終 Java 保留「攻擊單位仍 idle 時，攻擊最近敵人」的 fallback。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6434A-428F-48AF-8FE3-3A28AD26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這是 artifact 與 Java diff 支持的機制解釋；因果仍需 rollback 或同 seed ablation</a:t>
            </a:r>
          </a:p>
        </p:txBody>
      </p:sp>
    </p:spTree>
    <p:extLst>
      <p:ext uri="{BB962C8B-B14F-4D97-AF65-F5344CB8AC3E}">
        <p14:creationId xmlns:p14="http://schemas.microsoft.com/office/powerpoint/2010/main" val="5146081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853A2E-ADCE-4134-8C3D-7C9CB4E0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最終族群仍出現 fitness 平台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8097C-5DA3-4DF0-BC08-C216D9B9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相同 fitness 不代表相同程式；目前 snapshot 對策略差異的辨識能力有限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449356-36B5-441C-AC63-ABF0398E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EAGLE   2026/10/01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BB6DE-81E0-4FC1-8F77-21809A65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695450"/>
          <a:ext xmlns:a="http://schemas.openxmlformats.org/drawingml/2006/main" cx="11049000" cy="3448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2381250"/>
                <a:gridCol w="2381250"/>
                <a:gridCol w="2381250"/>
              </a:tblGrid>
              <a:tr h="49257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指標</a:t>
                      </a:r>
                    </a:p>
                  </a:txBody>
                  <a:tcPr marL="76200" marR="76200" marT="28575" marB="28575">
                    <a:solidFill>
                      <a:srgbClr val="172D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Fixed-roster</a:t>
                      </a:r>
                    </a:p>
                  </a:txBody>
                  <a:tcPr marL="76200" marR="76200" marT="28575" marB="28575">
                    <a:solidFill>
                      <a:srgbClr val="172D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Self-play 10×20</a:t>
                      </a:r>
                    </a:p>
                  </a:txBody>
                  <a:tcPr marL="76200" marR="76200" marT="28575" marB="28575">
                    <a:solidFill>
                      <a:srgbClr val="172D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Self-play 5×40</a:t>
                      </a:r>
                    </a:p>
                  </a:txBody>
                  <a:tcPr marL="76200" marR="76200" marT="28575" marB="28575">
                    <a:solidFill>
                      <a:srgbClr val="172D40"/>
                    </a:solidFill>
                  </a:tcPr>
                </a:tc>
              </a:tr>
              <a:tr h="49257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Final population size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49257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最高 fitness 同分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</a:tr>
              <a:tr h="49257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Unique objective vectors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49257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Strategy niches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</a:tr>
              <a:tr h="49257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Unique Java hashes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49257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最高同分群 Java hashes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D11CF-9DE6-46AA-9FA7-E2E75B99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5×40 仍有 4/5 最高同分，但同分群保留 3 種 Java hashes</a:t>
            </a:r>
          </a:p>
        </p:txBody>
      </p:sp>
    </p:spTree>
    <p:extLst>
      <p:ext uri="{BB962C8B-B14F-4D97-AF65-F5344CB8AC3E}">
        <p14:creationId xmlns:p14="http://schemas.microsoft.com/office/powerpoint/2010/main" val="18785979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E8A9EB-F229-49D3-A6BC-6DECDEB5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5×40 的觀測時間成本低於舊 self-play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02769-FC6B-41BF-9859-46FCDDCD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Generation wall time：基準 16.72 h、10×20 25.30 h、5×40 17.99 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FA1D4-615F-4A47-A294-321E3503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EAGLE   2026/10/01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9FC61-2C83-4F6B-81B2-74DD5016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5572125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d9f266f1a34f5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D6F3A2-F7FC-48E5-ACD8-541DF074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85950"/>
            <a:ext cx="500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較 SP 10×20 少 7.31 h（28.9%）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DAF61-3E3F-4BEA-A6DC-02012A8E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86050"/>
            <a:ext cx="50006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LLM requests　1,839 → 1,626</a:t>
            </a:r>
          </a:p>
          <a:p xmlns:a="http://schemas.openxmlformats.org/drawingml/2006/main">
            <a:pPr>
              <a:defRPr sz="1875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LLM cumulative　13.36 → 9.49 h</a:t>
            </a:r>
          </a:p>
          <a:p xmlns:a="http://schemas.openxmlformats.org/drawingml/2006/main">
            <a:pPr>
              <a:defRPr sz="1875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Match cumulative　8.63 → 5.40 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9114A-6ABC-4DD9-BCD7-095EB110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7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35F2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A35F24"/>
                </a:solidFill>
                <a:latin typeface="Microsoft JhengHei"/>
                <a:ea typeface="Microsoft JhengHei"/>
                <a:cs typeface="Microsoft JhengHei"/>
              </a:rPr>
              <a:t>10×20 含中斷恢復開銷。基準使用舊 timing schema，match events 與時間不直接比較。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481A8-29EE-43CA-862B-A818EBA4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340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本次 run 的成本較低；不能將全部時間差歸因於 5×40 配置</a:t>
            </a:r>
          </a:p>
        </p:txBody>
      </p:sp>
    </p:spTree>
    <p:extLst>
      <p:ext uri="{BB962C8B-B14F-4D97-AF65-F5344CB8AC3E}">
        <p14:creationId xmlns:p14="http://schemas.microsoft.com/office/powerpoint/2010/main" val="19601323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23CA84-C0C2-4A95-A6AC-A7A67CBE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下一輪實驗先建立公平基準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AD7EF-7857-4A1A-86B6-AEA6E7EA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保留 5×40 作為後續候選配置，再補強外部能力約束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A5559-695C-4A74-B06B-62DCA2D1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EAGLE   2026/10/01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7F5AB-C359-43A0-8055-D254AEB1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4A3CA-5CD7-4D70-A7A3-5DABC4F8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685925"/>
            <a:ext cx="685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A01E4-39E9-41F3-8121-712D68D8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859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Current-code fixed-roster 10×20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59043-5429-4A42-A1AF-3AA92748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24075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建立同 commit、同 pipeline 的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8A3C71-F88F-41E0-A9BD-F8B1BC6B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38425"/>
            <a:ext cx="685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F5E3B-4DE7-41E3-AE77-A836BCA8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384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5×40 self-play 加 fixed anchors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C305B-88DE-44B8-AFA1-727D6593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76575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納入 LightRush、HeavyRush、WorkerRush 或 COAC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B8906A-0878-4EC9-BB30-9CFC2F04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590925"/>
            <a:ext cx="685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F200DC-EB41-4316-8A30-A2B84B3F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5909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Snapshot refresh 加 holdout probe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CAE62-DDC4-4F40-9BCB-C83BB48F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29075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固定測試對手，只監控、不參與 selection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997ABA-EE11-4B90-A31D-65B34146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543425"/>
            <a:ext cx="685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F8AA86-D1D1-4D25-9341-DCB22234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5434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Winless plateau 診斷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0A3925-8055-4D2F-A71C-B76BCE32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81575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連續多代僅有和局時，檢查攻擊能力或 mutation bias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17A6E4-44ED-42F9-B6AA-44726CA8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待驗證：fixed anchors 是否能縮小 LightRush、HeavyRush 與 COAC 的差距</a:t>
            </a:r>
          </a:p>
        </p:txBody>
      </p:sp>
    </p:spTree>
    <p:extLst>
      <p:ext uri="{BB962C8B-B14F-4D97-AF65-F5344CB8AC3E}">
        <p14:creationId xmlns:p14="http://schemas.microsoft.com/office/powerpoint/2010/main" val="17411033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05F1A-771D-4929-8037-6A4D305C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附錄 A　完整 opponent 勝場比較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91A74-D7B5-4F8A-97FA-E1F3353F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每個 opponent 60 場；差值為 Self-play 5×40 減 Fixed-roster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02DB0-79EF-4313-8850-4DAFD180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EAGLE   2026/10/01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DF122-AE36-4E37-9502-A72BA536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11049000" cy="4210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2286000"/>
                <a:gridCol w="2000250"/>
                <a:gridCol w="2000250"/>
                <a:gridCol w="1524000"/>
              </a:tblGrid>
              <a:tr h="3508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Opponent</a:t>
                      </a:r>
                    </a:p>
                  </a:txBody>
                  <a:tcPr marL="76200" marR="76200" marT="28575" marB="28575">
                    <a:solidFill>
                      <a:srgbClr val="172D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Fixed-roster</a:t>
                      </a:r>
                    </a:p>
                  </a:txBody>
                  <a:tcPr marL="76200" marR="76200" marT="28575" marB="28575">
                    <a:solidFill>
                      <a:srgbClr val="172D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SP 10×20</a:t>
                      </a:r>
                    </a:p>
                  </a:txBody>
                  <a:tcPr marL="76200" marR="76200" marT="28575" marB="28575">
                    <a:solidFill>
                      <a:srgbClr val="172D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SP 5×40</a:t>
                      </a:r>
                    </a:p>
                  </a:txBody>
                  <a:tcPr marL="76200" marR="76200" marT="28575" marB="28575">
                    <a:solidFill>
                      <a:srgbClr val="172D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差值</a:t>
                      </a:r>
                    </a:p>
                  </a:txBody>
                  <a:tcPr marL="76200" marR="76200" marT="28575" marB="28575">
                    <a:solidFill>
                      <a:srgbClr val="172D40"/>
                    </a:solidFill>
                  </a:tcPr>
                </a:tc>
              </a:tr>
              <a:tr h="3508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PassiveAI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60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60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3508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RandomAI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59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60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+1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</a:tr>
              <a:tr h="3508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RandomBiasedAI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57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57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3508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LightRush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30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−20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</a:tr>
              <a:tr h="3508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HeavyRush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40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−30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3508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WorkerRush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</a:tr>
              <a:tr h="3508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AllInBot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3508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Mayari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</a:tr>
              <a:tr h="3508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COAC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−10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3508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TMA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</a:tr>
              <a:tr h="3508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Total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256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197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−59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ED279-B91C-4D11-B5AC-E2ECCD8A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817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差額：RandomAI +1、LightRush −20、HeavyRush −30、COAC −10，合計 −59 勝。</a:t>
            </a:r>
          </a:p>
        </p:txBody>
      </p:sp>
    </p:spTree>
    <p:extLst>
      <p:ext uri="{BB962C8B-B14F-4D97-AF65-F5344CB8AC3E}">
        <p14:creationId xmlns:p14="http://schemas.microsoft.com/office/powerpoint/2010/main" val="774193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550F8-08B0-42FC-81C2-BB500601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附錄 B　Run identity 與比較限制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BB859-4356-4388-9F3B-038D5B17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以 run ID 及 resolved generations / population 為準，避免 experiment_name 誤導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448D4-5671-4A5D-8684-E84953CF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EAGLE   2026/10/01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2157D-B4B9-4D49-9F31-7B2DFA13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562100"/>
          <a:ext xmlns:a="http://schemas.openxmlformats.org/drawingml/2006/main" cx="11049000" cy="1952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57750"/>
                <a:gridCol w="6191250"/>
              </a:tblGrid>
              <a:tr h="48815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實驗</a:t>
                      </a:r>
                    </a:p>
                  </a:txBody>
                  <a:tcPr marL="76200" marR="76200" marT="28575" marB="28575">
                    <a:solidFill>
                      <a:srgbClr val="172D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Run ID</a:t>
                      </a:r>
                    </a:p>
                  </a:txBody>
                  <a:tcPr marL="76200" marR="76200" marT="28575" marB="28575">
                    <a:solidFill>
                      <a:srgbClr val="172D40"/>
                    </a:solidFill>
                  </a:tcPr>
                </a:tc>
              </a:tr>
              <a:tr h="48815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Fixed-roster 10×20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20260911_072610_382082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Self-play 10×20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20260923_134743_200030</a:t>
                      </a:r>
                    </a:p>
                  </a:txBody>
                  <a:tcPr marL="76200" marR="76200" marT="28575" marB="28575">
                    <a:solidFill>
                      <a:srgbClr val="F0F4F7"/>
                    </a:solidFill>
                  </a:tcPr>
                </a:tc>
              </a:tr>
              <a:tr h="48815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Self-play 5×40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20260925_134245_911171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CFBE31-949B-41EA-A661-C05FF3EF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48100"/>
            <a:ext cx="1095375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命名：兩版 self-play 的 resolved experiment_name 與配置規模相反。</a:t>
            </a:r>
          </a:p>
          <a:p xmlns:a="http://schemas.openxmlformats.org/drawingml/2006/main">
            <a:pPr>
              <a:defRPr sz="1800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版本：基準來自較早 repository state，尚非同 commit 的 controlled ablation。</a:t>
            </a:r>
          </a:p>
          <a:p xmlns:a="http://schemas.openxmlformats.org/drawingml/2006/main">
            <a:pPr>
              <a:defRPr sz="1800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恢復：10×20 完成後仍保留 snapshot mismatch failure 記錄，成本含 recovery。</a:t>
            </a:r>
          </a:p>
          <a:p xmlns:a="http://schemas.openxmlformats.org/drawingml/2006/main">
            <a:pPr>
              <a:defRPr sz="1800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尺度：GP 僅能在同一 snapshot 比較，跨 run 採共同 600 場 final test。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4BBF5-1B13-4BBD-ACF3-15A09534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目前可比較外部測試結果；evaluation mode 的因果差異仍需 current-code control</a:t>
            </a:r>
          </a:p>
        </p:txBody>
      </p:sp>
    </p:spTree>
    <p:extLst>
      <p:ext uri="{BB962C8B-B14F-4D97-AF65-F5344CB8AC3E}">
        <p14:creationId xmlns:p14="http://schemas.microsoft.com/office/powerpoint/2010/main" val="4361259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70E8D-A4FF-4FD2-944F-B1B78B79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附錄 C　Q&amp;A 備答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91EBA-759F-41CC-BBF1-6B29CCEE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外部勝率由 0% 提升至 32.8%，但尚未追上固定對手基準的 42.7%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3126E-2DA3-494C-914A-807FE776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EAGLE   2026/10/01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725C1-01C3-4E89-B6CB-D1B67F26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2BBBF-7881-4C2E-8DB3-B608D6EA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8592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為什麼 5×40 較好？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39747-057E-4A33-B048-D735DE9E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145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G17 補上主動追擊，是目前 artifact 支持的機制解釋；尚需同 seed ablation。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918891-BDB3-4E2E-A5D9-014BB5F0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為什麼 fixed-roster 仍較好？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89007-DA9E-4A03-B152-D6972D0C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718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固定對手可能提供持續的外部能力壓力；版本差異與此解釋尚未拆開驗證。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F9FF62-F64A-433A-A446-323B285F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可以直接比較三個 run 的 GP 嗎？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480B9-F4C2-4781-A0C9-1044E56B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291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不可以。Evaluation context 與 snapshot 不同，應使用共同 final test 的 W/D/L。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1C8FC1-B8F3-43D8-8BC7-8F3528A3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72D40"/>
                </a:solidFill>
                <a:latin typeface="Microsoft JhengHei"/>
                <a:ea typeface="Microsoft JhengHei"/>
                <a:cs typeface="Microsoft JhengHei"/>
              </a:rPr>
              <a:t>下一個最重要的實驗？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5CA748-93EF-4144-B629-AD145269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863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96B78"/>
                </a:solidFill>
                <a:latin typeface="Microsoft JhengHei"/>
                <a:ea typeface="Microsoft JhengHei"/>
                <a:cs typeface="Microsoft JhengHei"/>
              </a:rPr>
              <a:t>先跑 current-code fixed-roster control，再測試 5×40 self-play 加 fixed anchors。</a:t>
            </a:r>
          </a:p>
        </p:txBody>
      </p:sp>
    </p:spTree>
    <p:extLst>
      <p:ext uri="{BB962C8B-B14F-4D97-AF65-F5344CB8AC3E}">
        <p14:creationId xmlns:p14="http://schemas.microsoft.com/office/powerpoint/2010/main" val="20352762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2026-09-26T15:56:56.9500000Z</dcterms:created>
  <dcterms:modified xsi:type="dcterms:W3CDTF">2026-09-26T15:56:56.9500000Z</dcterms:modified>
</coreProperties>
</file>