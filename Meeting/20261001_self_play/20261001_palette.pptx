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36"/>
  </p:notesMasterIdLst>
  <p:sldIdLst>
    <p:sldId id="256" r:id="rIdReportSlide1"/>
    <p:sldId id="257" r:id="rIdReportSlide2"/>
    <p:sldId id="258" r:id="rIdReportSlide3"/>
    <p:sldId id="259" r:id="rIdReportSlide4"/>
    <p:sldId id="260" r:id="rIdReportSlide5"/>
    <p:sldId id="261" r:id="rIdReportSlide6"/>
    <p:sldId id="262" r:id="rIdReportSlide7"/>
    <p:sldId id="263" r:id="rIdReportSlide8"/>
    <p:sldId id="264" r:id="rIdReportSlide9"/>
    <p:sldId id="265" r:id="rIdReportSlide10"/>
    <p:sldId id="266" r:id="rIdReportSlide11"/>
    <p:sldId id="267" r:id="rIdReportSlide12"/>
    <p:sldId id="268" r:id="rIdReportSlide13"/>
    <p:sldId id="269" r:id="rIdReportSlide14"/>
    <p:sldId id="270" r:id="rIdReportSlide15"/>
  </p:sldIdLst>
  <p:sldSz cx="15925800" cy="8963025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9" Type="http://schemas.openxmlformats.org/officeDocument/2006/relationships/theme" Target="theme/theme1.xml" /><Relationship Id="rId38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37" Type="http://schemas.openxmlformats.org/officeDocument/2006/relationships/presProps" Target="presProps.xml" /><Relationship Id="rId40" Type="http://schemas.openxmlformats.org/officeDocument/2006/relationships/tableStyles" Target="tableStyles.xml" /><Relationship Id="rId36" Type="http://schemas.openxmlformats.org/officeDocument/2006/relationships/notesMaster" Target="notesMasters/notesMaster1.xml" /><Relationship Type="http://schemas.openxmlformats.org/officeDocument/2006/relationships/slide" Target="/ppt/slides/slide1.xml" Id="rIdReportSlide1" /><Relationship Type="http://schemas.openxmlformats.org/officeDocument/2006/relationships/slide" Target="/ppt/slides/slide2.xml" Id="rIdReportSlide2" /><Relationship Type="http://schemas.openxmlformats.org/officeDocument/2006/relationships/slide" Target="/ppt/slides/slide3.xml" Id="rIdReportSlide3" /><Relationship Type="http://schemas.openxmlformats.org/officeDocument/2006/relationships/slide" Target="/ppt/slides/slide4.xml" Id="rIdReportSlide4" /><Relationship Type="http://schemas.openxmlformats.org/officeDocument/2006/relationships/slide" Target="/ppt/slides/slide5.xml" Id="rIdReportSlide5" /><Relationship Type="http://schemas.openxmlformats.org/officeDocument/2006/relationships/slide" Target="/ppt/slides/slide6.xml" Id="rIdReportSlide6" /><Relationship Type="http://schemas.openxmlformats.org/officeDocument/2006/relationships/slide" Target="/ppt/slides/slide7.xml" Id="rIdReportSlide7" /><Relationship Type="http://schemas.openxmlformats.org/officeDocument/2006/relationships/slide" Target="/ppt/slides/slide8.xml" Id="rIdReportSlide8" /><Relationship Type="http://schemas.openxmlformats.org/officeDocument/2006/relationships/slide" Target="/ppt/slides/slide9.xml" Id="rIdReportSlide9" /><Relationship Type="http://schemas.openxmlformats.org/officeDocument/2006/relationships/slide" Target="/ppt/slides/slide10.xml" Id="rIdReportSlide10" /><Relationship Type="http://schemas.openxmlformats.org/officeDocument/2006/relationships/slide" Target="/ppt/slides/slide11.xml" Id="rIdReportSlide11" /><Relationship Type="http://schemas.openxmlformats.org/officeDocument/2006/relationships/slide" Target="/ppt/slides/slide12.xml" Id="rIdReportSlide12" /><Relationship Type="http://schemas.openxmlformats.org/officeDocument/2006/relationships/slide" Target="/ppt/slides/slide13.xml" Id="rIdReportSlide13" /><Relationship Type="http://schemas.openxmlformats.org/officeDocument/2006/relationships/slide" Target="/ppt/slides/slide14.xml" Id="rIdReportSlide14" /><Relationship Type="http://schemas.openxmlformats.org/officeDocument/2006/relationships/slide" Target="/ppt/slides/slide15.xml" Id="rIdReportSlide15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a02de7df464c05" /><Relationship Type="http://schemas.openxmlformats.org/officeDocument/2006/relationships/notesMaster" Target="/ppt/notesMasters/notesMaster1.xml" Id="R0068cc9b586749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825081edcd4e5b" /><Relationship Type="http://schemas.openxmlformats.org/officeDocument/2006/relationships/notesMaster" Target="/ppt/notesMasters/notesMaster1.xml" Id="R18e9286bbf0145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6098957c446b8" /><Relationship Type="http://schemas.openxmlformats.org/officeDocument/2006/relationships/notesMaster" Target="/ppt/notesMasters/notesMaster1.xml" Id="R318dc640bb69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15ff19535a4ef3" /><Relationship Type="http://schemas.openxmlformats.org/officeDocument/2006/relationships/notesMaster" Target="/ppt/notesMasters/notesMaster1.xml" Id="R5386f1d05f4342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a1721d0e0d4432" /><Relationship Type="http://schemas.openxmlformats.org/officeDocument/2006/relationships/notesMaster" Target="/ppt/notesMasters/notesMaster1.xml" Id="R4f8dc801c5954d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d8f74748934d65" /><Relationship Type="http://schemas.openxmlformats.org/officeDocument/2006/relationships/notesMaster" Target="/ppt/notesMasters/notesMaster1.xml" Id="Raee21ce0780b4f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78ed343573494e" /><Relationship Type="http://schemas.openxmlformats.org/officeDocument/2006/relationships/notesMaster" Target="/ppt/notesMasters/notesMaster1.xml" Id="Raa7cc5e5d62b4b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b02e081e8b4ed8" /><Relationship Type="http://schemas.openxmlformats.org/officeDocument/2006/relationships/notesMaster" Target="/ppt/notesMasters/notesMaster1.xml" Id="Rb6ec9ca2b81143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81d519e28844b8" /><Relationship Type="http://schemas.openxmlformats.org/officeDocument/2006/relationships/notesMaster" Target="/ppt/notesMasters/notesMaster1.xml" Id="R043e2fbc5b8949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4b466f1e714a7a" /><Relationship Type="http://schemas.openxmlformats.org/officeDocument/2006/relationships/notesMaster" Target="/ppt/notesMasters/notesMaster1.xml" Id="Reff90d8e5d2c4e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2a16840d22495c" /><Relationship Type="http://schemas.openxmlformats.org/officeDocument/2006/relationships/notesMaster" Target="/ppt/notesMasters/notesMaster1.xml" Id="Rca0bf8889ab041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3b9c934f5b4a9f" /><Relationship Type="http://schemas.openxmlformats.org/officeDocument/2006/relationships/notesMaster" Target="/ppt/notesMasters/notesMaster1.xml" Id="R21729513464741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1efd3a07d4466f" /><Relationship Type="http://schemas.openxmlformats.org/officeDocument/2006/relationships/notesMaster" Target="/ppt/notesMasters/notesMaster1.xml" Id="Rd8796e5e029f45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21e48278c24304" /><Relationship Type="http://schemas.openxmlformats.org/officeDocument/2006/relationships/notesMaster" Target="/ppt/notesMasters/notesMaster1.xml" Id="R33b649550eaa43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c0601048474d3e" /><Relationship Type="http://schemas.openxmlformats.org/officeDocument/2006/relationships/notesMaster" Target="/ppt/notesMasters/notesMaster1.xml" Id="R979efe85c3a74a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Self-play 有明顯進步，但仍未超越固定對手基準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標題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self-play 將外部勝率從 0% 提升到 32.8%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副標題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與 fixed-roster 10×20 基準的搜尋結果、泛化能力與成本比較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實驗 | Final-test 勝率 | W / D / L |</a:t>
            </a:r>
          </a:p>
          <a:p xmlns:a="http://schemas.openxmlformats.org/drawingml/2006/main">
            <a:r>
              <a:t>|---|---:|---:|</a:t>
            </a:r>
          </a:p>
          <a:p xmlns:a="http://schemas.openxmlformats.org/drawingml/2006/main">
            <a:r>
              <a:t>| Fixed-roster 10×20 基準 | **42.7%** | 256 / 12 / 332 |</a:t>
            </a:r>
          </a:p>
          <a:p xmlns:a="http://schemas.openxmlformats.org/drawingml/2006/main">
            <a:r>
              <a:t>| Self-play 5×40 | **32.8%** | 197 / 11 / 392 |</a:t>
            </a:r>
          </a:p>
          <a:p xmlns:a="http://schemas.openxmlformats.org/drawingml/2006/main">
            <a:r>
              <a:t>| Self-play 10×20 | **0%** | 0 / 151 / 449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 5×40 self-play 修復了舊版「只會和局、不會取勝」的主要問題，但仍落後固定對手基準 **9.8 個百分點**。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本簡報的「基準」依本次指定，採用搜尋期間對多個固定 opponent 評估的 10×20 run。三個 run 的 final test 都是同一套 600 場測試，因此外部勝率是最可靠的橫向比較指標。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final test](../../runs/20260911_072610_382082/final_test/final_test_results.md)、[self-play 10×20 final test](../../runs/20260923_134743_200030/final_test/final_test_results.md)、[self-play 5×40 final test](../../runs/20260925_134245_911171/final_test/final_test_results.md)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三組實驗的比較口徑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項目 | Fixed-roster 基準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Run | `20260911...` | `20260923...` | `20260925...` |</a:t>
            </a:r>
          </a:p>
          <a:p xmlns:a="http://schemas.openxmlformats.org/drawingml/2006/main">
            <a:r>
              <a:t>| Generations | 20 | 20 | 40 |</a:t>
            </a:r>
          </a:p>
          <a:p xmlns:a="http://schemas.openxmlformats.org/drawingml/2006/main">
            <a:r>
              <a:t>| Population size | 10 | 10 | 5 |</a:t>
            </a:r>
          </a:p>
          <a:p xmlns:a="http://schemas.openxmlformats.org/drawingml/2006/main">
            <a:r>
              <a:t>| 搜尋評估對手 | 多個固定對手 | 10-slot snapshot | 5-slot snapshot |</a:t>
            </a:r>
          </a:p>
          <a:p xmlns:a="http://schemas.openxmlformats.org/drawingml/2006/main">
            <a:r>
              <a:t>| Snapshot refresh | 不適用 | 每 5 代 | 每 5 代 |</a:t>
            </a:r>
          </a:p>
          <a:p xmlns:a="http://schemas.openxmlformats.org/drawingml/2006/main">
            <a:r>
              <a:t>| 約略 regular candidate budget | 210 | 210 | 205 |</a:t>
            </a:r>
          </a:p>
          <a:p xmlns:a="http://schemas.openxmlformats.org/drawingml/2006/main">
            <a:r>
              <a:t>| Final test | 10 opponents × 3 maps × 2 sides × 10 games | 相同 | 相同 |</a:t>
            </a:r>
          </a:p>
          <a:p xmlns:a="http://schemas.openxmlformats.org/drawingml/2006/main">
            <a:r>
              <a:t>| Final-test 場數 | 600 | 600 | 600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三組實驗使用相同的 Ministral 3 8B、三張地圖、mutation 機率與 final-test opponent roster。兩版 self-play 只改變 generations 與 population size。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不是單純增加總 candidate 數，而是把相近的搜尋預算分配到更多代、更小族群，並經歷更多次 snapshot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有 40 次 refresh candidate records，故磁碟上的 candidate 目錄數會高於 regular candidate budget。此處用 regular births 說明搜尋規模，而不是直接拿 artifact 數量當作計算預算。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config](../../runs/20260911_072610_382082/config.yaml)、[self-play 10×20 config](../../runs/20260923_134743_200030/config.yaml)、[self-play 5×40 config](../../runs/20260925_134245_911171/config.yaml)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結論摘要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**Fixed-roster 基準仍然最好**：256 勝，勝率 42.7%。</a:t>
            </a:r>
          </a:p>
          <a:p xmlns:a="http://schemas.openxmlformats.org/drawingml/2006/main">
            <a:r>
              <a:t>2. **5×40 self-play 大幅改善**：197 勝，勝率 32.8%，比 10×20 增加 197 勝。</a:t>
            </a:r>
          </a:p>
          <a:p xmlns:a="http://schemas.openxmlformats.org/drawingml/2006/main">
            <a:r>
              <a:t>3. **改善來自真正的取勝能力**：5×40 不再靠 timeout draws 撐住結果。</a:t>
            </a:r>
          </a:p>
          <a:p xmlns:a="http://schemas.openxmlformats.org/drawingml/2006/main">
            <a:r>
              <a:t>4. **能力仍偏窄**：勝場主要來自 Passive、Random、RandomBiased，對五個強對手仍是 60 場全敗。</a:t>
            </a:r>
          </a:p>
          <a:p xmlns:a="http://schemas.openxmlformats.org/drawingml/2006/main">
            <a:r>
              <a:t>5. **關鍵轉折可追溯到 G17**：Code Reflection 讓單位從「只攻擊射程內敵人」變成會尋找並追擊最近敵人。</a:t>
            </a:r>
          </a:p>
          <a:p xmlns:a="http://schemas.openxmlformats.org/drawingml/2006/main">
            <a:r>
              <a:t>6. **比較限制**：fixed-roster 基準來自較早的 repository state，不是完全同 commit 的 controlled ablation。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Self-play 機制已證明能找到可泛化的攻擊行為；下一步應補上固定 anchors 或 holdout probes，避免能力只對當期 snapshot 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總體 final-test 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指標 | Fixed-roster 10×20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Wins | **256** | 0 | 197 |</a:t>
            </a:r>
          </a:p>
          <a:p xmlns:a="http://schemas.openxmlformats.org/drawingml/2006/main">
            <a:r>
              <a:t>| Draws | 12 | **151** | 11 |</a:t>
            </a:r>
          </a:p>
          <a:p xmlns:a="http://schemas.openxmlformats.org/drawingml/2006/main">
            <a:r>
              <a:t>| Losses | **332** | 449 | 392 |</a:t>
            </a:r>
          </a:p>
          <a:p xmlns:a="http://schemas.openxmlformats.org/drawingml/2006/main">
            <a:r>
              <a:t>| Errors | 0 | 0 | 0 |</a:t>
            </a:r>
          </a:p>
          <a:p xmlns:a="http://schemas.openxmlformats.org/drawingml/2006/main">
            <a:r>
              <a:t>| Win rate | **42.67%** | 0% | 32.83% |</a:t>
            </a:r>
          </a:p>
          <a:p xmlns:a="http://schemas.openxmlformats.org/drawingml/2006/main">
            <a:r>
              <a:t>| Non-loss rate | **44.67%** | 25.17% | 34.67%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相對 10×20：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勝場增加 **197** 場</a:t>
            </a:r>
          </a:p>
          <a:p xmlns:a="http://schemas.openxmlformats.org/drawingml/2006/main">
            <a:r>
              <a:t>- 和局減少 **140** 場</a:t>
            </a:r>
          </a:p>
          <a:p xmlns:a="http://schemas.openxmlformats.org/drawingml/2006/main">
            <a:r>
              <a:t>- 敗場減少 **57** 場</a:t>
            </a:r>
          </a:p>
          <a:p xmlns:a="http://schemas.openxmlformats.org/drawingml/2006/main">
            <a:r>
              <a:t>- 勝率增加 **32.83 個百分點**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相對 fixed-roster 基準：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少 **59** 勝</a:t>
            </a:r>
          </a:p>
          <a:p xmlns:a="http://schemas.openxmlformats.org/drawingml/2006/main">
            <a:r>
              <a:t>- 多 **60** 敗</a:t>
            </a:r>
          </a:p>
          <a:p xmlns:a="http://schemas.openxmlformats.org/drawingml/2006/main">
            <a:r>
              <a:t>- 勝率少 **9.83 個百分點**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的進步不是把敗場換成和局，而是把舊版的和局與敗場轉成 197 個真實勝場。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三組 final test 都沒有 candidate error，因此差異是策略能力差異，不是測試失敗或缺失資料造成。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summary](../../runs/20260911_072610_382082/final_test/final_test_summary.json)、[self-play 10×20 summary](../../runs/20260923_134743_200030/final_test/final_test_summary.json)、[self-play 5×40 summary](../../runs/20260925_134245_911171/final_test/final_test_summary.json)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恢復基礎對手能力，但 rush 與強對手仍是缺口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每個 opponent 共 60 場，數字為 W / D / 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Opponent | Fixed-roster 10×20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PassiveAI | 60 / 0 / 0 | 0 / 60 / 0 | 60 / 0 / 0 |</a:t>
            </a:r>
          </a:p>
          <a:p xmlns:a="http://schemas.openxmlformats.org/drawingml/2006/main">
            <a:r>
              <a:t>| RandomAI | 59 / 1 / 0 | 0 / 53 / 7 | **60 / 0 / 0** |</a:t>
            </a:r>
          </a:p>
          <a:p xmlns:a="http://schemas.openxmlformats.org/drawingml/2006/main">
            <a:r>
              <a:t>| RandomBiasedAI | 57 / 1 / 2 | 0 / 38 / 22 | 57 / 1 / 2 |</a:t>
            </a:r>
          </a:p>
          <a:p xmlns:a="http://schemas.openxmlformats.org/drawingml/2006/main">
            <a:r>
              <a:t>| LightRush | **30 / 10 / 20** | 0 / 0 / 60 | 10 / 0 / 50 |</a:t>
            </a:r>
          </a:p>
          <a:p xmlns:a="http://schemas.openxmlformats.org/drawingml/2006/main">
            <a:r>
              <a:t>| HeavyRush | **40 / 0 / 20** | 0 / 0 / 60 | 10 / 10 / 40 |</a:t>
            </a:r>
          </a:p>
          <a:p xmlns:a="http://schemas.openxmlformats.org/drawingml/2006/main">
            <a:r>
              <a:t>| WorkerRush | 0 / 0 / 60 | 0 / 0 / 60 | 0 / 0 / 60 |</a:t>
            </a:r>
          </a:p>
          <a:p xmlns:a="http://schemas.openxmlformats.org/drawingml/2006/main">
            <a:r>
              <a:t>| AllInBot | 0 / 0 / 60 | 0 / 0 / 60 | 0 / 0 / 60 |</a:t>
            </a:r>
          </a:p>
          <a:p xmlns:a="http://schemas.openxmlformats.org/drawingml/2006/main">
            <a:r>
              <a:t>| Mayari | 0 / 0 / 60 | 0 / 0 / 60 | 0 / 0 / 60 |</a:t>
            </a:r>
          </a:p>
          <a:p xmlns:a="http://schemas.openxmlformats.org/drawingml/2006/main">
            <a:r>
              <a:t>| COAC | **10 / 0 / 50** | 0 / 0 / 60 | 0 / 0 / 60 |</a:t>
            </a:r>
          </a:p>
          <a:p xmlns:a="http://schemas.openxmlformats.org/drawingml/2006/main">
            <a:r>
              <a:t>| TMA | 0 / 0 / 60 | 0 / 0 / 60 | 0 / 0 / 60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幾乎完全追回三個基礎對手的能力，也開始擊敗 LightRush 與 HeavyRush；與基準的 59 勝差距，主要就是 LightRush、HeavyRush 與 COAC。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與基準相比，5×40 在 RandomAI 多 1 勝，但在 LightRush 少 20 勝、HeavyRush 少 30 勝、COAC 少 10 勝，合計淨少 59 勝。這讓後續改進目標非常具體。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final test](../../runs/20260911_072610_382082/final_test/final_test_results.md)、[self-play 10×20 final test](../../runs/20260923_134743_200030/final_test/final_test_results.md)、[self-play 5×40 final test](../../runs/20260925_134245_911171/final_test/final_test_results.md)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的勝場能跨地圖與雙方位出現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按地圖：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地圖 | Fixed-roster W / D / L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8×8 | 98 / 0 / 102 | 0 / 35 / 165 | 67 / 11 / 122 |</a:t>
            </a:r>
          </a:p>
          <a:p xmlns:a="http://schemas.openxmlformats.org/drawingml/2006/main">
            <a:r>
              <a:t>| 16×16 | 90 / 10 / 100 | 0 / 57 / 143 | 60 / 0 / 140 |</a:t>
            </a:r>
          </a:p>
          <a:p xmlns:a="http://schemas.openxmlformats.org/drawingml/2006/main">
            <a:r>
              <a:t>| 24×24 | 68 / 2 / 130 | 0 / 59 / 141 | 70 / 0 / 130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player side：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Side | Fixed-roster W / D / L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p0 | 128 / 1 / 171 | 0 / 78 / 222 | 97 / 11 / 192 |</a:t>
            </a:r>
          </a:p>
          <a:p xmlns:a="http://schemas.openxmlformats.org/drawingml/2006/main">
            <a:r>
              <a:t>| p1 | 128 / 11 / 161 | 0 / 73 / 227 | 100 / 0 / 200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在三張地圖與兩個 player side 都有勝場，改善不是單一地圖或先後手偏差；24×24 的勝場甚至略高於基準。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24×24 的 70 勝高於基準的 68 勝，但不能解讀為整體已超越基準，因為差距集中在 8×8 與 16×16。5×40 的 side 差只有 3 勝，沒有明顯單側依賴。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10×20 self-play 的失敗模式是「穩定和局」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證據 | Self-play 10×20 結果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Final snapshot search evaluation | **0 勝 / 180 和 / 0 敗** |</a:t>
            </a:r>
          </a:p>
          <a:p xmlns:a="http://schemas.openxmlformats.org/drawingml/2006/main">
            <a:r>
              <a:t>| Fixed-roster final test | **0 勝 / 151 和 / 449 敗** |</a:t>
            </a:r>
          </a:p>
          <a:p xmlns:a="http://schemas.openxmlformats.org/drawingml/2006/main">
            <a:r>
              <a:t>| Final population 最高 fitness 同分 | 7 / 10 |</a:t>
            </a:r>
          </a:p>
          <a:p xmlns:a="http://schemas.openxmlformats.org/drawingml/2006/main">
            <a:r>
              <a:t>| Unique objective vectors | 4 |</a:t>
            </a:r>
          </a:p>
          <a:p xmlns:a="http://schemas.openxmlformats.org/drawingml/2006/main">
            <a:r>
              <a:t>| Strategy niches | 4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 Java 行為的主要限制：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只攻擊附近的 enemy Workers</a:t>
            </a:r>
          </a:p>
          <a:p xmlns:a="http://schemas.openxmlformats.org/drawingml/2006/main">
            <a:r>
              <a:t>- 沒有一般化的敵人追擊邏輯</a:t>
            </a:r>
          </a:p>
          <a:p xmlns:a="http://schemas.openxmlformats.org/drawingml/2006/main">
            <a:r>
              <a:t>- 沒有有效控制 Heavy units</a:t>
            </a:r>
          </a:p>
          <a:p xmlns:a="http://schemas.openxmlformats.org/drawingml/2006/main">
            <a:r>
              <a:t>- 找不到目標時大量單位維持 idle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搜尋成功適應當期 snapshot，卻把「不輸給相似對手」當成主要訊號，最終收斂到無法終結比賽的和局策略。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snapshot 的正 fitness 來自 material 與 resource shaping，不代表任何勝場。跨 run 比較時不能把這個 self-play GP 與 fixed-roster GP 直接放在同一條尺度上。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資料來源：[self-play 10×20 tested candidate evaluation](../../runs/20260923_134743_200030/candidates/gen_0020_ee9b19ad3dc8/evaluation/game_performance.json)、[self-play 10×20 candidate Java](../../runs/20260923_134743_200030/candidates/gen_0020_ee9b19ad3dc8/phenotype/CandidateAgent.java)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的關鍵轉折發生在 Generation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Generation | 當期 best W / D / L | Best GP | 解讀 |</a:t>
            </a:r>
          </a:p>
          <a:p xmlns:a="http://schemas.openxmlformats.org/drawingml/2006/main">
            <a:r>
              <a:t>|---:|---:|---:|---|</a:t>
            </a:r>
          </a:p>
          <a:p xmlns:a="http://schemas.openxmlformats.org/drawingml/2006/main">
            <a:r>
              <a:t>| G0 至 G2 | 0 / 180 / 0 | 0.000 | 初期全部和局 |</a:t>
            </a:r>
          </a:p>
          <a:p xmlns:a="http://schemas.openxmlformats.org/drawingml/2006/main">
            <a:r>
              <a:t>| G5 | 0 / 174 / 6 | 1.243 | 尚無勝場 |</a:t>
            </a:r>
          </a:p>
          <a:p xmlns:a="http://schemas.openxmlformats.org/drawingml/2006/main">
            <a:r>
              <a:t>| G10 至 G14 | 0 / 180 / 0 | 0.424 | 新 snapshot 後回到和局 |</a:t>
            </a:r>
          </a:p>
          <a:p xmlns:a="http://schemas.openxmlformats.org/drawingml/2006/main">
            <a:r>
              <a:t>| G16 | 0 / 180 / 0 | 0.161 | 突破前一代 |</a:t>
            </a:r>
          </a:p>
          <a:p xmlns:a="http://schemas.openxmlformats.org/drawingml/2006/main">
            <a:r>
              <a:t>| **G17** | **180 / 0 / 0** | **102.804** | Code Reflection 產生決定性突破 |</a:t>
            </a:r>
          </a:p>
          <a:p xmlns:a="http://schemas.openxmlformats.org/drawingml/2006/main">
            <a:r>
              <a:t>| G20 | 120 / 0 / 60 | 35.040 | Refresh 後仍保留勝場能力 |</a:t>
            </a:r>
          </a:p>
          <a:p xmlns:a="http://schemas.openxmlformats.org/drawingml/2006/main">
            <a:r>
              <a:t>| G40 | 114 / 24 / 42 | 40.523 | 最終 snapshot 仍可取勝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G17 首次讓搜尋訊號從「和局 shaping」變成真正的 win/loss 訊號，而且能力跨過後續 snapshot refresh 保留下來。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GP 只能在同一 opponent snapshot 內比較。這張投影片的重點是每個 generation 的 W/D/L 狀態，以及 G17 後在新 snapshot 仍能產生勝場，不是宣稱 GP 跨 snapshot 單調上升。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資料來源：[self-play 5×40 generation artifacts](../../runs/20260925_134245_911171/generations/)、[G17 evaluation](../../runs/20260925_134245_911171/candidates/gen_0017_a4bee4778e92/evaluation/game_performance.json)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Reflection 補上了「主動找敵人」的能力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G17 candidate：`gen_0017_a4bee4778e92`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Mutation：`crossover+mutation`，Code Reflection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核心行為改變：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修改前 | 修改後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只尋找目前攻擊範圍內的敵人 | 尋找全地圖最近的敵人 |</a:t>
            </a:r>
          </a:p>
          <a:p xmlns:a="http://schemas.openxmlformats.org/drawingml/2006/main">
            <a:r>
              <a:t>| 沒有射程內目標時容易 idle | 對最近敵人下達 `commandAttack` |</a:t>
            </a:r>
          </a:p>
          <a:p xmlns:a="http://schemas.openxmlformats.org/drawingml/2006/main">
            <a:r>
              <a:t>| 難以終結對稱或被動局面 | 單位會追擊並建立實際勝負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這條 lineage 延續到 final-test candidate `gen_0040_c02a137db168`。最終 Java 也保留「若攻擊單位仍 idle，攻擊最近敵人」的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新版成功的核心不是更多 timeout，而是一個可解釋、可追溯、會主動完成戰鬥的 phenotype 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這是從 mutation artifact 與 Java diff 得到的機制解釋，與 final-test 的 197 勝方向一致。不過單一 mutation 與最終外部勝率之間仍不是嚴格因果實驗；更嚴謹的作法是做 mutation rollback 或同 seed 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資料來源：[Code Reflection metadata](../../runs/20260925_134245_911171/candidates/gen_0017_a4bee4778e92/mutation/code_reflection/metadata.json)、[parent Java](../../runs/20260925_134245_911171/candidates/gen_0017_a4bee4778e92/mutation/code_reflection/parent_candidate.java)、[reflected Java](../../runs/20260925_134245_911171/candidates/gen_0017_a4bee4778e92/mutation/code_reflection/reflected_candidate.java)、[final candidate Java](../../runs/20260925_134245_911171/candidates/gen_0040_c02a137db168/phenotype/CandidateAgent.java)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最終族群：5×40 有改善，但仍出現平台化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指標 | Fixed-roster 10×20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Final population size | 10 | 10 | 5 |</a:t>
            </a:r>
          </a:p>
          <a:p xmlns:a="http://schemas.openxmlformats.org/drawingml/2006/main">
            <a:r>
              <a:t>| 最高 fitness 同分 candidates | 1 | **7** | **4** |</a:t>
            </a:r>
          </a:p>
          <a:p xmlns:a="http://schemas.openxmlformats.org/drawingml/2006/main">
            <a:r>
              <a:t>| Unique objective vectors | 10 | 4 | 2 |</a:t>
            </a:r>
          </a:p>
          <a:p xmlns:a="http://schemas.openxmlformats.org/drawingml/2006/main">
            <a:r>
              <a:t>| Strategy niches | 3 | 4 | 3 |</a:t>
            </a:r>
          </a:p>
          <a:p xmlns:a="http://schemas.openxmlformats.org/drawingml/2006/main">
            <a:r>
              <a:t>| Unique Java hashes | 9 | 7 | 4 |</a:t>
            </a:r>
          </a:p>
          <a:p xmlns:a="http://schemas.openxmlformats.org/drawingml/2006/main">
            <a:r>
              <a:t>| 最高同分群的 Java hashes | 1 | 4 | 3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雖然找到能取勝的行為，但最終仍有 4/5 candidates 同列最高 fitness，objective 訊號只剩兩種，代表 selection resolution 仍然不足。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 fitness 不代表完全相同程式。5×40 的最高同分群仍有 3 個 Java hashes，顯示 phenotype 尚有差異，只是目前 snapshot 無法進一步排序。這正是加入固定 anchors 或外部 probe 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generation metrics](../../runs/20260911_072610_382082/analysis/generation_metrics.csv)、[self-play 10×20 generation metrics](../../runs/20260923_134743_200030/analysis/generation_metrics.csv)、[self-play 5×40 generations](../../runs/20260925_134245_911171/generations/)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的時間成本接近基準，低於舊 self-play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指標 | Fixed-roster 10×20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Generation wall time | **16.72 h** | 25.30 h | 17.99 h |</a:t>
            </a:r>
          </a:p>
          <a:p xmlns:a="http://schemas.openxmlformats.org/drawingml/2006/main">
            <a:r>
              <a:t>| LLM requests | 1,659 | 1,839 | **1,626** |</a:t>
            </a:r>
          </a:p>
          <a:p xmlns:a="http://schemas.openxmlformats.org/drawingml/2006/main">
            <a:r>
              <a:t>| LLM cumulative time | 10.98 h | 13.36 h | **9.49 h** |</a:t>
            </a:r>
          </a:p>
          <a:p xmlns:a="http://schemas.openxmlformats.org/drawingml/2006/main">
            <a:r>
              <a:t>| Persisted match events | 舊 schema，無可比數字 | 47,520 | 43,740 |</a:t>
            </a:r>
          </a:p>
          <a:p xmlns:a="http://schemas.openxmlformats.org/drawingml/2006/main">
            <a:r>
              <a:t>| Match cumulative time | 舊 schema，無可比數字 | 8.63 h | 5.40 h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相對 10×20：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Wall time 少 **7.31 小時**，約降低 28.9%</a:t>
            </a:r>
          </a:p>
          <a:p xmlns:a="http://schemas.openxmlformats.org/drawingml/2006/main">
            <a:r>
              <a:t>- LLM requests 少 **213** 次</a:t>
            </a:r>
          </a:p>
          <a:p xmlns:a="http://schemas.openxmlformats.org/drawingml/2006/main">
            <a:r>
              <a:t>- LLM cumulative time 少 **3.87 小時**</a:t>
            </a:r>
          </a:p>
          <a:p xmlns:a="http://schemas.openxmlformats.org/drawingml/2006/main">
            <a:r>
              <a:t>- Match cumulative time 少 **3.23 小時**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在相近 regular candidate budget 下，5×40 同時得到更好的外部結果與較低的實際成本，是兩版 self-play 中明顯較好的配置。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10×20 run 曾中斷並恢復，manifest 雖為 complete，仍保留 snapshot mismatch failure 資訊，candidate artifacts 與成本包含 recovery overhead。因此 25.30 小時不能完全歸因於 10×20 配置。基準使用舊 timing schema，不能直接比較 persisted match event 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timing](../../runs/20260911_072610_382082/timing.jsonl)、[self-play 10×20 timing](../../runs/20260923_134743_200030/timing.jsonl)、[self-play 5×40 timing](../../runs/20260925_134245_911171/timing.jsonl)、[self-play 10×20 manifest](../../runs/20260923_134743_200030/manifest.json)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結論與下一步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Fixed-roster 10×20 仍是最佳結果：**42.7%**。</a:t>
            </a:r>
          </a:p>
          <a:p xmlns:a="http://schemas.openxmlformats.org/drawingml/2006/main">
            <a:r>
              <a:t>- Self-play 5×40 已從 0% 提升到 **32.8%**，證明 self-play 可以產生外部勝場。</a:t>
            </a:r>
          </a:p>
          <a:p xmlns:a="http://schemas.openxmlformats.org/drawingml/2006/main">
            <a:r>
              <a:t>- 5×40 的改善可追溯到主動追擊敵人的 Code Reflection。</a:t>
            </a:r>
          </a:p>
          <a:p xmlns:a="http://schemas.openxmlformats.org/drawingml/2006/main">
            <a:r>
              <a:t>- 目前差距集中在 LightRush、HeavyRush 與 COAC。</a:t>
            </a:r>
          </a:p>
          <a:p xmlns:a="http://schemas.openxmlformats.org/drawingml/2006/main">
            <a:r>
              <a:t>- 最終族群仍有 4/5 最高同分，selection pressure 還不夠細。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建議下一個實驗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**先做 current-code fixed-roster 10×20 rerun**，建立同 commit、同 pipeline 的公平基準。</a:t>
            </a:r>
          </a:p>
          <a:p xmlns:a="http://schemas.openxmlformats.org/drawingml/2006/main">
            <a:r>
              <a:t>2. **Self-play snapshot 加入固定 anchors**，至少保留 LightRush、HeavyRush、WorkerRush 或 COAC。</a:t>
            </a:r>
          </a:p>
          <a:p xmlns:a="http://schemas.openxmlformats.org/drawingml/2006/main">
            <a:r>
              <a:t>3. **每次 snapshot refresh 加一個固定 holdout probe**，只監控、不參與 selection，及早發現外部能力退化。</a:t>
            </a:r>
          </a:p>
          <a:p xmlns:a="http://schemas.openxmlformats.org/drawingml/2006/main">
            <a:r>
              <a:t>4. **保留 5×40 搜尋規模**，因為成本與結果都優於 10×20 self-play。</a:t>
            </a:r>
          </a:p>
          <a:p xmlns:a="http://schemas.openxmlformats.org/drawingml/2006/main">
            <a:r>
              <a:t>5. **把 winless plateau 設為診斷條件**，若連續多代只有 draws，觸發攻擊能力檢查或 mutation bias。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下一階段不需要放棄 self-play；應保留 5×40 的探索深度，再用 fixed anchors 與 holdout probes 補上外部能力約束。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opponent 勝率比較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Opponent | Fixed-roster wins | Self-play 10×20 wins | Self-play 5×40 wins | 5×40 與基準差 |</a:t>
            </a:r>
          </a:p>
          <a:p xmlns:a="http://schemas.openxmlformats.org/drawingml/2006/main">
            <a:r>
              <a:t>|---|---:|---:|---:|---:|</a:t>
            </a:r>
          </a:p>
          <a:p xmlns:a="http://schemas.openxmlformats.org/drawingml/2006/main">
            <a:r>
              <a:t>| PassiveAI | 60 | 0 | 60 | 0 |</a:t>
            </a:r>
          </a:p>
          <a:p xmlns:a="http://schemas.openxmlformats.org/drawingml/2006/main">
            <a:r>
              <a:t>| RandomAI | 59 | 0 | 60 | +1 |</a:t>
            </a:r>
          </a:p>
          <a:p xmlns:a="http://schemas.openxmlformats.org/drawingml/2006/main">
            <a:r>
              <a:t>| RandomBiasedAI | 57 | 0 | 57 | 0 |</a:t>
            </a:r>
          </a:p>
          <a:p xmlns:a="http://schemas.openxmlformats.org/drawingml/2006/main">
            <a:r>
              <a:t>| LightRush | 30 | 0 | 10 | -20 |</a:t>
            </a:r>
          </a:p>
          <a:p xmlns:a="http://schemas.openxmlformats.org/drawingml/2006/main">
            <a:r>
              <a:t>| HeavyRush | 40 | 0 | 10 | -30 |</a:t>
            </a:r>
          </a:p>
          <a:p xmlns:a="http://schemas.openxmlformats.org/drawingml/2006/main">
            <a:r>
              <a:t>| WorkerRush | 0 | 0 | 0 | 0 |</a:t>
            </a:r>
          </a:p>
          <a:p xmlns:a="http://schemas.openxmlformats.org/drawingml/2006/main">
            <a:r>
              <a:t>| AllInBot | 0 | 0 | 0 | 0 |</a:t>
            </a:r>
          </a:p>
          <a:p xmlns:a="http://schemas.openxmlformats.org/drawingml/2006/main">
            <a:r>
              <a:t>| Mayari | 0 | 0 | 0 | 0 |</a:t>
            </a:r>
          </a:p>
          <a:p xmlns:a="http://schemas.openxmlformats.org/drawingml/2006/main">
            <a:r>
              <a:t>| COAC | 10 | 0 | 0 | -10 |</a:t>
            </a:r>
          </a:p>
          <a:p xmlns:a="http://schemas.openxmlformats.org/drawingml/2006/main">
            <a:r>
              <a:t>| TMA | 0 | 0 | 0 | 0 |</a:t>
            </a:r>
          </a:p>
          <a:p xmlns:a="http://schemas.openxmlformats.org/drawingml/2006/main">
            <a:r>
              <a:t>| **Total** | **256** | **0** | **197** | **-59**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解讀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與基準的總差為 59 勝，完全可由 RandomAI `+1`、LightRush `-20`、HeavyRush `-30`、COAC `-10` 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identity 與資料品質注意事項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項目 | 說明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基準選擇 | 依指定採 `20260911_072610_382082`，其搜尋 eval 使用多個固定 opponents，規模為 10×20 |</a:t>
            </a:r>
          </a:p>
          <a:p xmlns:a="http://schemas.openxmlformats.org/drawingml/2006/main">
            <a:r>
              <a:t>| 歷史版本限制 | 基準來自較早 repository state，不是與兩版 self-play 完全同 commit 的受控比較 |</a:t>
            </a:r>
          </a:p>
          <a:p xmlns:a="http://schemas.openxmlformats.org/drawingml/2006/main">
            <a:r>
              <a:t>| 5×40 命名 | source config 檔名為 `self_play_5x40.yaml`，resolved `experiment_name` 卻保留 `self_play_10x20` |</a:t>
            </a:r>
          </a:p>
          <a:p xmlns:a="http://schemas.openxmlformats.org/drawingml/2006/main">
            <a:r>
              <a:t>| 10×20 命名 | source config 檔名為 `self_play_10x20.yaml`，resolved `experiment_name` 卻保留 `self_play_5x40` |</a:t>
            </a:r>
          </a:p>
          <a:p xmlns:a="http://schemas.openxmlformats.org/drawingml/2006/main">
            <a:r>
              <a:t>| 判讀規則 | 本文件以 run ID 與 resolved generations/population 為準，不以 `experiment_name` 判斷 |</a:t>
            </a:r>
          </a:p>
          <a:p xmlns:a="http://schemas.openxmlformats.org/drawingml/2006/main">
            <a:r>
              <a:t>| 10×20 recovery | run 已完成，但 manifest 保留中斷時的 snapshot mismatch failure；成本含 recovery overhead |</a:t>
            </a:r>
          </a:p>
          <a:p xmlns:a="http://schemas.openxmlformats.org/drawingml/2006/main">
            <a:r>
              <a:t>| GP 比較 | Self-play GP 只可在相同 snapshot 內比較，不能與 fixed-roster GP 或不同 snapshot 直接比較 |</a:t>
            </a:r>
          </a:p>
          <a:p xmlns:a="http://schemas.openxmlformats.org/drawingml/2006/main">
            <a:r>
              <a:t>| 最安全比較 | 三組相同 600 場 fixed-roster final test 的 W/D/L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本比較足以判斷最終外部表現，但若要把差距嚴格歸因於 evaluation mode，仍需在 current code 上重跑 fixed-roster control。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manifest](../../runs/20260911_072610_382082/manifest.json)、[self-play 10×20 manifest](../../runs/20260923_134743_200030/manifest.json)、[self-play 5×40 manifest](../../runs/20260925_134245_911171/manifest.json)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一句話版本與 Q&amp;A 備答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一句話版本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 self-play 從 10×20 改成 5×40 後，外部勝率從 0% 提升到 32.8%，成本也下降，但仍未追上多固定對手 eval 基準的 42.7%。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Q1：為什麼 5×40 比 10×20 好？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現有 artifact 顯示，關鍵差異是 G17 的 Code Reflection 補上了主動追擊與攻擊最近敵人的能力；更多 generations 讓這個 mutation 有機會出現並在後續 snapshot 中被保留。這是有證據支持的機制解釋，但尚未經同 seed ablation 證明唯一因果。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Q2：為什麼 fixed-roster 還是更好？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 opponents 持續提供 LightRush、HeavyRush、COAC 等外部能力壓力。純 self-play 的 selection 只需要超越當期 snapshot，容易失去對外部策略的 coverage。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Q3：可以直接比較三個 run 的 GP 嗎？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不可以。Fixed-roster 與 self-play 使用不同 evaluation context，self-play 每次 snapshot refresh 又會改變 fitness 語境。跨 run 應以共同的 600 場 final test 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Q4：下一個最重要的實驗是什麼？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先用 current code 重跑 fixed-roster 10×20 control，再測試「5×40 self-play 加固定 anchors」。這能把版本差異與 evaluation-mode 差異拆開。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 type="title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2.xml><?xml version="1.0" encoding="utf-8"?>
<p:sldLayout xmlns:p="http://schemas.openxmlformats.org/presentationml/2006/main" preserve="1" type="secHead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3.xml><?xml version="1.0" encoding="utf-8"?>
<p:sldLayout xmlns:p="http://schemas.openxmlformats.org/presentationml/2006/main" preserve="1" type="obj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 xmlns:a="http://schemas.openxmlformats.org/drawingml/2006/main"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4.xml><?xml version="1.0" encoding="utf-8"?>
<p:sldLayout xmlns:p="http://schemas.openxmlformats.org/presentationml/2006/main" preserve="1" type="twoObj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 xmlns:a="http://schemas.openxmlformats.org/drawingml/2006/main"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5.xml><?xml version="1.0" encoding="utf-8"?>
<p:sldLayout xmlns:p="http://schemas.openxmlformats.org/presentationml/2006/main" preserve="1" type="twoTxTwoObj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 xmlns:a="http://schemas.openxmlformats.org/drawingml/2006/main">
        <p:nvSpPr>
          <p:cNvPr id="8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6.xml><?xml version="1.0" encoding="utf-8"?>
<p:sldLayout xmlns:p="http://schemas.openxmlformats.org/presentationml/2006/main" preserve="1" type="cust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 xmlns:a="http://schemas.openxmlformats.org/drawingml/2006/main">
        <p:nvSpPr>
          <p:cNvPr id="7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7.xml><?xml version="1.0" encoding="utf-8"?>
<p:sldLayout xmlns:p="http://schemas.openxmlformats.org/presentationml/2006/main" preserve="1" type="picTx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 xmlns:a="http://schemas.openxmlformats.org/drawingml/2006/main"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8.xml><?xml version="1.0" encoding="utf-8"?>
<p:sldLayout xmlns:p="http://schemas.openxmlformats.org/presentationml/2006/main" preserve="1" type="objTx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 xmlns:a="http://schemas.openxmlformats.org/drawingml/2006/main"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9.xml><?xml version="1.0" encoding="utf-8"?>
<p:sldLayout xmlns:p="http://schemas.openxmlformats.org/presentationml/2006/main" preserve="1" type="tbl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 xmlns:a="http://schemas.openxmlformats.org/drawingml/2006/main"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10.xml><?xml version="1.0" encoding="utf-8"?>
<p:sldLayout xmlns:p="http://schemas.openxmlformats.org/presentationml/2006/main" preserve="1" type="chart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 xmlns:a="http://schemas.openxmlformats.org/drawingml/2006/main"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11.xml><?xml version="1.0" encoding="utf-8"?>
<p:sldLayout xmlns:p="http://schemas.openxmlformats.org/presentationml/2006/main" preserve="1" type="titleOnly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12.xml><?xml version="1.0" encoding="utf-8"?>
<p:sldLayout xmlns:p="http://schemas.openxmlformats.org/presentationml/2006/main" preserve="1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Masters/_rels/slideMaster1.xml.rels><?xml version='1.0' encoding='UTF-8' standalone='yes'?>
<Relationships xmlns="http://schemas.openxmlformats.org/package/2006/relationships"><Relationship Id="rIdLayout1" Type="http://schemas.openxmlformats.org/officeDocument/2006/relationships/slideLayout" Target="../slideLayouts/slideLayout1.xml"/><Relationship Id="rIdLayout2" Type="http://schemas.openxmlformats.org/officeDocument/2006/relationships/slideLayout" Target="../slideLayouts/slideLayout2.xml"/><Relationship Id="rIdLayout3" Type="http://schemas.openxmlformats.org/officeDocument/2006/relationships/slideLayout" Target="../slideLayouts/slideLayout3.xml"/><Relationship Id="rIdLayout4" Type="http://schemas.openxmlformats.org/officeDocument/2006/relationships/slideLayout" Target="../slideLayouts/slideLayout4.xml"/><Relationship Id="rIdLayout5" Type="http://schemas.openxmlformats.org/officeDocument/2006/relationships/slideLayout" Target="../slideLayouts/slideLayout5.xml"/><Relationship Id="rIdLayout6" Type="http://schemas.openxmlformats.org/officeDocument/2006/relationships/slideLayout" Target="../slideLayouts/slideLayout6.xml"/><Relationship Id="rIdLayout7" Type="http://schemas.openxmlformats.org/officeDocument/2006/relationships/slideLayout" Target="../slideLayouts/slideLayout7.xml"/><Relationship Id="rIdLayout8" Type="http://schemas.openxmlformats.org/officeDocument/2006/relationships/slideLayout" Target="../slideLayouts/slideLayout8.xml"/><Relationship Id="rIdLayout9" Type="http://schemas.openxmlformats.org/officeDocument/2006/relationships/slideLayout" Target="../slideLayouts/slideLayout9.xml"/><Relationship Id="rIdLayout10" Type="http://schemas.openxmlformats.org/officeDocument/2006/relationships/slideLayout" Target="../slideLayouts/slideLayout10.xml"/><Relationship Id="rIdLayout11" Type="http://schemas.openxmlformats.org/officeDocument/2006/relationships/slideLayout" Target="../slideLayouts/slideLayout11.xml"/><Relationship Id="rIdLayout12" Type="http://schemas.openxmlformats.org/officeDocument/2006/relationships/slideLayout" Target="../slideLayouts/slideLayout12.xml"/><Relationship Id="rIdTheme" Type="http://schemas.openxmlformats.org/officeDocument/2006/relationships/theme" Target="../theme/theme1.xml"/><Relationship Id="rIdBackground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A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GLE geometric full-slide background"/>
          <p:cNvPicPr>
            <a:picLocks noChangeAspect="1"/>
          </p:cNvPicPr>
          <p:nvPr/>
        </p:nvPicPr>
        <p:blipFill>
          <a:blip r:embed="rIdBackground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  <p:sldLayoutId id="2147483656" r:id="rIdLayout8"/>
    <p:sldLayoutId id="2147483657" r:id="rIdLayout9"/>
    <p:sldLayoutId id="2147483658" r:id="rIdLayout10"/>
    <p:sldLayoutId id="2147483659" r:id="rIdLayout11"/>
    <p:sldLayoutId id="2147483660" r:id="rIdLayout12"/>
  </p:sldLayoutIdLst>
  <p:hf sldNum="1" dt="0" hdr="0" ftr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5fde8527c70a46e1" /><Relationship Type="http://schemas.openxmlformats.org/officeDocument/2006/relationships/notesSlide" Target="/ppt/notesSlides/notesSlide1.xml" Id="Rd7c7760e3d7c48e0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1a2c8947de4d4777" /><Relationship Type="http://schemas.openxmlformats.org/officeDocument/2006/relationships/notesSlide" Target="/ppt/notesSlides/notesSlide2.xml" Id="Rbefd645c325b4fd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../slideLayouts/slideLayout3.xml" Id="R989e38edeb1b4647" /><Relationship Type="http://schemas.openxmlformats.org/officeDocument/2006/relationships/notesSlide" Target="/ppt/notesSlides/notesSlide3.xml" Id="R0a13179706d5460c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654ae71087b243d7" /><Relationship Type="http://schemas.openxmlformats.org/officeDocument/2006/relationships/chart" Target="/ppt/slides/charts/chart1.xml" Id="R176641a6e4df4a9b" /><Relationship Type="http://schemas.openxmlformats.org/officeDocument/2006/relationships/notesSlide" Target="/ppt/notesSlides/notesSlide4.xml" Id="R4117b55edc0c4efb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cf3231a23f754011" /><Relationship Type="http://schemas.openxmlformats.org/officeDocument/2006/relationships/chart" Target="/ppt/slides/charts/chart2.xml" Id="Rcd04f59b0cf24633" /><Relationship Type="http://schemas.openxmlformats.org/officeDocument/2006/relationships/notesSlide" Target="/ppt/notesSlides/notesSlide5.xml" Id="R8ac3f40fbddf4750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cd1b76af97a84775" /><Relationship Type="http://schemas.openxmlformats.org/officeDocument/2006/relationships/chart" Target="/ppt/slides/charts/chart3.xml" Id="Ra164a1217b06488e" /><Relationship Type="http://schemas.openxmlformats.org/officeDocument/2006/relationships/notesSlide" Target="/ppt/notesSlides/notesSlide6.xml" Id="R51a7c51ebd304438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80f0217dba9f4290" /><Relationship Type="http://schemas.openxmlformats.org/officeDocument/2006/relationships/notesSlide" Target="/ppt/notesSlides/notesSlide7.xml" Id="R034460295c044a71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0006b8cf17e4401a" /><Relationship Type="http://schemas.openxmlformats.org/officeDocument/2006/relationships/notesSlide" Target="/ppt/notesSlides/notesSlide8.xml" Id="R6cb808b75ae344d5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a4e342ff28944e2f" /><Relationship Type="http://schemas.openxmlformats.org/officeDocument/2006/relationships/notesSlide" Target="/ppt/notesSlides/notesSlide9.xml" Id="R65f8ab41088e418b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dea3fb5904ab4e2e" /><Relationship Type="http://schemas.openxmlformats.org/officeDocument/2006/relationships/notesSlide" Target="/ppt/notesSlides/notesSlide10.xml" Id="R4d659396744e4963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64df76978d6e4fce" /><Relationship Type="http://schemas.openxmlformats.org/officeDocument/2006/relationships/chart" Target="/ppt/slides/charts/chart4.xml" Id="R73b61ffcc31649bf" /><Relationship Type="http://schemas.openxmlformats.org/officeDocument/2006/relationships/notesSlide" Target="/ppt/notesSlides/notesSlide11.xml" Id="R127f9fe1d04549e1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../slideLayouts/slideLayout3.xml" Id="Ra4fcb7b17cb5495f" /><Relationship Type="http://schemas.openxmlformats.org/officeDocument/2006/relationships/notesSlide" Target="/ppt/notesSlides/notesSlide12.xml" Id="R75591dcef7f74e60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aac1074999da405a" /><Relationship Type="http://schemas.openxmlformats.org/officeDocument/2006/relationships/notesSlide" Target="/ppt/notesSlides/notesSlide13.xml" Id="Rf1d677b4cc304d63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e64421b29d55449a" /><Relationship Type="http://schemas.openxmlformats.org/officeDocument/2006/relationships/notesSlide" Target="/ppt/notesSlides/notesSlide14.xml" Id="R3d15eead814d4b98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../slideLayouts/slideLayout3.xml" Id="Rcfb031d6cd9e42ee" /><Relationship Type="http://schemas.openxmlformats.org/officeDocument/2006/relationships/notesSlide" Target="/ppt/notesSlides/notesSlide15.xml" Id="R03579936672e4b5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ns0:chartSpace xmlns:a="http://schemas.openxmlformats.org/drawingml/2006/main" xmlns:ns0="http://schemas.openxmlformats.org/drawingml/2006/chart" xmlns:r="http://schemas.openxmlformats.org/officeDocument/2006/relationships">
  <ns0:lang val="en-US"/>
  <ns0:chart>
    <ns0:plotArea>
      <ns0:barChart>
        <ns0:barDir val="bar"/>
        <ns0:grouping val="stacked"/>
        <ns0:varyColors val="0"/>
        <ns0:ser>
          <ns0:idx val="0"/>
          <ns0:order val="0"/>
          <ns0:tx>
            <ns0:v>Win</ns0:v>
          </ns0:tx>
          <ns0:spPr>
            <a:solidFill>
              <a:srgbClr val="CF8792"/>
            </a:solidFill>
          </ns0:spPr>
          <ns0:cat>
            <ns0:strRef>
              <ns0:f>'Chart Data'!$A$2:$A$4</ns0:f>
              <ns0:strCache>
                <ns0:ptCount val="3"/>
                <ns0:pt idx="0">
                  <ns0:v>Fixed-roster 10×20</ns0:v>
                </ns0:pt>
                <ns0:pt idx="1">
                  <ns0:v>Self-play 10×20</ns0:v>
                </ns0:pt>
                <ns0:pt idx="2">
                  <ns0:v>Self-play 5×40</ns0:v>
                </ns0:pt>
              </ns0:strCache>
            </ns0:strRef>
          </ns0:cat>
          <ns0:val>
            <ns0:numRef>
              <ns0:f>'Chart Data'!$B$2:$B$4</ns0:f>
              <ns0:numCache>
                <ns0:formatCode>General</ns0:formatCode>
                <ns0:ptCount val="3"/>
                <ns0:pt idx="0">
                  <ns0:v>256</ns0:v>
                </ns0:pt>
                <ns0:pt idx="1">
                  <ns0:v>0</ns0:v>
                </ns0:pt>
                <ns0:pt idx="2">
                  <ns0:v>197</ns0:v>
                </ns0:pt>
              </ns0:numCache>
            </ns0:numRef>
          </ns0:val>
        </ns0:ser>
        <ns0:ser>
          <ns0:idx val="1"/>
          <ns0:order val="1"/>
          <ns0:tx>
            <ns0:v>Draw</ns0:v>
          </ns0:tx>
          <ns0:spPr>
            <a:solidFill>
              <a:srgbClr val="FAEDC6"/>
            </a:solidFill>
          </ns0:spPr>
          <ns0:cat>
            <ns0:strRef>
              <ns0:f>'Chart Data'!$C$2:$C$4</ns0:f>
              <ns0:strCache>
                <ns0:ptCount val="3"/>
                <ns0:pt idx="0">
                  <ns0:v>Fixed-roster 10×20</ns0:v>
                </ns0:pt>
                <ns0:pt idx="1">
                  <ns0:v>Self-play 10×20</ns0:v>
                </ns0:pt>
                <ns0:pt idx="2">
                  <ns0:v>Self-play 5×40</ns0:v>
                </ns0:pt>
              </ns0:strCache>
            </ns0:strRef>
          </ns0:cat>
          <ns0:val>
            <ns0:numRef>
              <ns0:f>'Chart Data'!$D$2:$D$4</ns0:f>
              <ns0:numCache>
                <ns0:formatCode>General</ns0:formatCode>
                <ns0:ptCount val="3"/>
                <ns0:pt idx="0">
                  <ns0:v>12</ns0:v>
                </ns0:pt>
                <ns0:pt idx="1">
                  <ns0:v>151</ns0:v>
                </ns0:pt>
                <ns0:pt idx="2">
                  <ns0:v>11</ns0:v>
                </ns0:pt>
              </ns0:numCache>
            </ns0:numRef>
          </ns0:val>
        </ns0:ser>
        <ns0:ser>
          <ns0:idx val="2"/>
          <ns0:order val="2"/>
          <ns0:tx>
            <ns0:v>Loss</ns0:v>
          </ns0:tx>
          <ns0:spPr>
            <a:solidFill>
              <a:srgbClr val="DEB4BA"/>
            </a:solidFill>
          </ns0:spPr>
          <ns0:cat>
            <ns0:strRef>
              <ns0:f>'Chart Data'!$E$2:$E$4</ns0:f>
              <ns0:strCache>
                <ns0:ptCount val="3"/>
                <ns0:pt idx="0">
                  <ns0:v>Fixed-roster 10×20</ns0:v>
                </ns0:pt>
                <ns0:pt idx="1">
                  <ns0:v>Self-play 10×20</ns0:v>
                </ns0:pt>
                <ns0:pt idx="2">
                  <ns0:v>Self-play 5×40</ns0:v>
                </ns0:pt>
              </ns0:strCache>
            </ns0:strRef>
          </ns0:cat>
          <ns0:val>
            <ns0:numRef>
              <ns0:f>'Chart Data'!$F$2:$F$4</ns0:f>
              <ns0:numCache>
                <ns0:formatCode>General</ns0:formatCode>
                <ns0:ptCount val="3"/>
                <ns0:pt idx="0">
                  <ns0:v>332</ns0:v>
                </ns0:pt>
                <ns0:pt idx="1">
                  <ns0:v>449</ns0:v>
                </ns0:pt>
                <ns0:pt idx="2">
                  <ns0:v>392</ns0:v>
                </ns0:pt>
              </ns0:numCache>
            </ns0:numRef>
          </ns0:val>
        </ns0:ser>
        <ns0:dLbls>
          <ns0:txPr>
            <a:bodyPr anchorCtr="1"/>
            <a:lstStyle/>
            <a:p>
              <a:pPr>
                <a:defRPr sz="1725">
                  <a:latin typeface="Source Han Serif TW"/>
                  <a:ea typeface="Source Han Serif TW"/>
                  <a:cs typeface="Source Han Serif TW"/>
                </a:defRPr>
              </a:pPr>
            </a:p>
          </ns0:txPr>
          <ns0:dLblPos val="ctr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100"/>
        <ns0:overlap val="10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l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639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72768"/>
      </ns0:catAx>
      <ns0:valAx>
        <ns0:axId val="48672768"/>
        <ns0:scaling>
          <ns0:orientation val="minMax"/>
          <ns0:max val="600"/>
          <ns0:min val="0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552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50112"/>
        <ns0:crossBetween val="between"/>
        <ns0:majorUnit val="100"/>
      </ns0:valAx>
      <ns0:spPr>
        <a:solidFill>
          <a:srgbClr val="FCF8F5"/>
        </a:solidFill>
      </ns0:spPr>
    </ns0:plotArea>
    <ns0:legend>
      <ns0:legendPos val="b"/>
      <ns0:overlay val="0"/>
      <ns0:txPr>
        <a:bodyPr anchorCtr="1"/>
        <a:lstStyle/>
        <a:p>
          <a:pPr>
            <a:defRPr sz="1639">
              <a:latin typeface="Source Han Serif TW"/>
              <a:ea typeface="Source Han Serif TW"/>
              <a:cs typeface="Source Han Serif TW"/>
            </a:defRPr>
          </a:pPr>
        </a:p>
      </ns0:txPr>
    </ns0:legend>
    <ns0:plotVisOnly val="1"/>
  </ns0:chart>
  <ns0:spPr>
    <a:solidFill>
      <a:srgbClr val="FCF8F5"/>
    </a:solidFill>
  </ns0:spPr>
  <ns0:externalData r:id="rIdChartSnapshot1">
    <ns0:autoUpdate val="0"/>
  </ns0:externalData>
</ns0:chartSpace>
</file>

<file path=ppt/slides/charts/chart2.xml><?xml version="1.0" encoding="utf-8"?>
<ns0:chartSpace xmlns:a="http://schemas.openxmlformats.org/drawingml/2006/main" xmlns:ns0="http://schemas.openxmlformats.org/drawingml/2006/chart" xmlns:r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Fixed-roster 10×20</ns0:v>
          </ns0:tx>
          <ns0:spPr>
            <a:solidFill>
              <a:srgbClr val="47171C"/>
            </a:solidFill>
          </ns0:spPr>
          <ns0:cat>
            <ns0:strRef>
              <ns0:f>'Chart Data'!$A$2:$A$7</ns0:f>
              <ns0:strCache>
                <ns0:ptCount val="6"/>
                <ns0:pt idx="0">
                  <ns0:v>Passive</ns0:v>
                </ns0:pt>
                <ns0:pt idx="1">
                  <ns0:v>Random</ns0:v>
                </ns0:pt>
                <ns0:pt idx="2">
                  <ns0:v>RandomBiased</ns0:v>
                </ns0:pt>
                <ns0:pt idx="3">
                  <ns0:v>LightRush</ns0:v>
                </ns0:pt>
                <ns0:pt idx="4">
                  <ns0:v>HeavyRush</ns0:v>
                </ns0:pt>
                <ns0:pt idx="5">
                  <ns0:v>COAC</ns0:v>
                </ns0:pt>
              </ns0:strCache>
            </ns0:strRef>
          </ns0:cat>
          <ns0:val>
            <ns0:numRef>
              <ns0:f>'Chart Data'!$B$2:$B$7</ns0:f>
              <ns0:numCache>
                <ns0:formatCode>General</ns0:formatCode>
                <ns0:ptCount val="6"/>
                <ns0:pt idx="0">
                  <ns0:v>60</ns0:v>
                </ns0:pt>
                <ns0:pt idx="1">
                  <ns0:v>59</ns0:v>
                </ns0:pt>
                <ns0:pt idx="2">
                  <ns0:v>57</ns0:v>
                </ns0:pt>
                <ns0:pt idx="3">
                  <ns0:v>30</ns0:v>
                </ns0:pt>
                <ns0:pt idx="4">
                  <ns0:v>40</ns0:v>
                </ns0:pt>
                <ns0:pt idx="5">
                  <ns0:v>10</ns0:v>
                </ns0:pt>
              </ns0:numCache>
            </ns0:numRef>
          </ns0:val>
        </ns0:ser>
        <ns0:ser>
          <ns0:idx val="1"/>
          <ns0:order val="1"/>
          <ns0:tx>
            <ns0:v>Self-play 5×40</ns0:v>
          </ns0:tx>
          <ns0:spPr>
            <a:solidFill>
              <a:srgbClr val="CF8792"/>
            </a:solidFill>
          </ns0:spPr>
          <ns0:cat>
            <ns0:strRef>
              <ns0:f>'Chart Data'!$C$2:$C$7</ns0:f>
              <ns0:strCache>
                <ns0:ptCount val="6"/>
                <ns0:pt idx="0">
                  <ns0:v>Passive</ns0:v>
                </ns0:pt>
                <ns0:pt idx="1">
                  <ns0:v>Random</ns0:v>
                </ns0:pt>
                <ns0:pt idx="2">
                  <ns0:v>RandomBiased</ns0:v>
                </ns0:pt>
                <ns0:pt idx="3">
                  <ns0:v>LightRush</ns0:v>
                </ns0:pt>
                <ns0:pt idx="4">
                  <ns0:v>HeavyRush</ns0:v>
                </ns0:pt>
                <ns0:pt idx="5">
                  <ns0:v>COAC</ns0:v>
                </ns0:pt>
              </ns0:strCache>
            </ns0:strRef>
          </ns0:cat>
          <ns0:val>
            <ns0:numRef>
              <ns0:f>'Chart Data'!$D$2:$D$7</ns0:f>
              <ns0:numCache>
                <ns0:formatCode>General</ns0:formatCode>
                <ns0:ptCount val="6"/>
                <ns0:pt idx="0">
                  <ns0:v>60</ns0:v>
                </ns0:pt>
                <ns0:pt idx="1">
                  <ns0:v>60</ns0:v>
                </ns0:pt>
                <ns0:pt idx="2">
                  <ns0:v>57</ns0:v>
                </ns0:pt>
                <ns0:pt idx="3">
                  <ns0:v>10</ns0:v>
                </ns0:pt>
                <ns0:pt idx="4">
                  <ns0:v>10</ns0:v>
                </ns0:pt>
                <ns0:pt idx="5">
                  <ns0:v>0</ns0:v>
                </ns0:pt>
              </ns0:numCache>
            </ns0:numRef>
          </ns0:val>
        </ns0:ser>
        <ns0:dLbls>
          <ns0:txPr>
            <a:bodyPr anchorCtr="1"/>
            <a:lstStyle/>
            <a:p>
              <a:pPr>
                <a:defRPr sz="1725">
                  <a:latin typeface="Source Han Serif TW"/>
                  <a:ea typeface="Source Han Serif TW"/>
                  <a:cs typeface="Source Han Serif TW"/>
                </a:defRPr>
              </a:pPr>
            </a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10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639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72768"/>
      </ns0:catAx>
      <ns0:valAx>
        <ns0:axId val="48672768"/>
        <ns0:scaling>
          <ns0:orientation val="minMax"/>
          <ns0:max val="60"/>
          <ns0:min val="0"/>
        </ns0:scaling>
        <ns0:delete val="0"/>
        <ns0:axPos val="l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552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50112"/>
        <ns0:crossBetween val="between"/>
      </ns0:valAx>
      <ns0:spPr>
        <a:solidFill>
          <a:srgbClr val="FCF8F5"/>
        </a:solidFill>
      </ns0:spPr>
    </ns0:plotArea>
    <ns0:legend>
      <ns0:legendPos val="b"/>
      <ns0:overlay val="0"/>
      <ns0:txPr>
        <a:bodyPr anchorCtr="1"/>
        <a:lstStyle/>
        <a:p>
          <a:pPr>
            <a:defRPr sz="1639">
              <a:latin typeface="Source Han Serif TW"/>
              <a:ea typeface="Source Han Serif TW"/>
              <a:cs typeface="Source Han Serif TW"/>
            </a:defRPr>
          </a:pPr>
        </a:p>
      </ns0:txPr>
    </ns0:legend>
    <ns0:plotVisOnly val="1"/>
  </ns0:chart>
  <ns0:spPr>
    <a:solidFill>
      <a:srgbClr val="FCF8F5"/>
    </a:solidFill>
  </ns0:spPr>
  <ns0:externalData r:id="rIdChartSnapshot1">
    <ns0:autoUpdate val="0"/>
  </ns0:externalData>
</ns0:chartSpace>
</file>

<file path=ppt/slides/charts/chart3.xml><?xml version="1.0" encoding="utf-8"?>
<ns0:chartSpace xmlns:a="http://schemas.openxmlformats.org/drawingml/2006/main" xmlns:ns0="http://schemas.openxmlformats.org/drawingml/2006/chart" xmlns:r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Fixed-roster 10×20</ns0:v>
          </ns0:tx>
          <ns0:spPr>
            <a:solidFill>
              <a:srgbClr val="47171C"/>
            </a:solidFill>
          </ns0:spPr>
          <ns0:cat>
            <ns0:strRef>
              <ns0:f>'Chart Data'!$A$2:$A$4</ns0:f>
              <ns0:strCache>
                <ns0:ptCount val="3"/>
                <ns0:pt idx="0">
                  <ns0:v>8×8</ns0:v>
                </ns0:pt>
                <ns0:pt idx="1">
                  <ns0:v>16×16</ns0:v>
                </ns0:pt>
                <ns0:pt idx="2">
                  <ns0:v>24×24</ns0:v>
                </ns0:pt>
              </ns0:strCache>
            </ns0:strRef>
          </ns0:cat>
          <ns0:val>
            <ns0:numRef>
              <ns0:f>'Chart Data'!$B$2:$B$4</ns0:f>
              <ns0:numCache>
                <ns0:formatCode>General</ns0:formatCode>
                <ns0:ptCount val="3"/>
                <ns0:pt idx="0">
                  <ns0:v>98</ns0:v>
                </ns0:pt>
                <ns0:pt idx="1">
                  <ns0:v>90</ns0:v>
                </ns0:pt>
                <ns0:pt idx="2">
                  <ns0:v>68</ns0:v>
                </ns0:pt>
              </ns0:numCache>
            </ns0:numRef>
          </ns0:val>
        </ns0:ser>
        <ns0:ser>
          <ns0:idx val="1"/>
          <ns0:order val="1"/>
          <ns0:tx>
            <ns0:v>Self-play 10×20</ns0:v>
          </ns0:tx>
          <ns0:spPr>
            <a:solidFill>
              <a:srgbClr val="CF8792"/>
            </a:solidFill>
          </ns0:spPr>
          <ns0:cat>
            <ns0:strRef>
              <ns0:f>'Chart Data'!$C$2:$C$4</ns0:f>
              <ns0:strCache>
                <ns0:ptCount val="3"/>
                <ns0:pt idx="0">
                  <ns0:v>8×8</ns0:v>
                </ns0:pt>
                <ns0:pt idx="1">
                  <ns0:v>16×16</ns0:v>
                </ns0:pt>
                <ns0:pt idx="2">
                  <ns0:v>24×24</ns0:v>
                </ns0:pt>
              </ns0:strCache>
            </ns0:strRef>
          </ns0:cat>
          <ns0:val>
            <ns0:numRef>
              <ns0:f>'Chart Data'!$D$2:$D$4</ns0:f>
              <ns0:numCache>
                <ns0:formatCode>General</ns0:formatCode>
                <ns0:ptCount val="3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</ns0:numCache>
            </ns0:numRef>
          </ns0:val>
        </ns0:ser>
        <ns0:ser>
          <ns0:idx val="2"/>
          <ns0:order val="2"/>
          <ns0:tx>
            <ns0:v>Self-play 5×40</ns0:v>
          </ns0:tx>
          <ns0:spPr>
            <a:solidFill>
              <a:srgbClr val="CF9BA5"/>
            </a:solidFill>
          </ns0:spPr>
          <ns0:cat>
            <ns0:strRef>
              <ns0:f>'Chart Data'!$E$2:$E$4</ns0:f>
              <ns0:strCache>
                <ns0:ptCount val="3"/>
                <ns0:pt idx="0">
                  <ns0:v>8×8</ns0:v>
                </ns0:pt>
                <ns0:pt idx="1">
                  <ns0:v>16×16</ns0:v>
                </ns0:pt>
                <ns0:pt idx="2">
                  <ns0:v>24×24</ns0:v>
                </ns0:pt>
              </ns0:strCache>
            </ns0:strRef>
          </ns0:cat>
          <ns0:val>
            <ns0:numRef>
              <ns0:f>'Chart Data'!$F$2:$F$4</ns0:f>
              <ns0:numCache>
                <ns0:formatCode>General</ns0:formatCode>
                <ns0:ptCount val="3"/>
                <ns0:pt idx="0">
                  <ns0:v>67</ns0:v>
                </ns0:pt>
                <ns0:pt idx="1">
                  <ns0:v>60</ns0:v>
                </ns0:pt>
                <ns0:pt idx="2">
                  <ns0:v>70</ns0:v>
                </ns0:pt>
              </ns0:numCache>
            </ns0:numRef>
          </ns0:val>
        </ns0:ser>
        <ns0:dLbls>
          <ns0:txPr>
            <a:bodyPr anchorCtr="1"/>
            <a:lstStyle/>
            <a:p>
              <a:pPr>
                <a:defRPr sz="1725">
                  <a:latin typeface="Source Han Serif TW"/>
                  <a:ea typeface="Source Han Serif TW"/>
                  <a:cs typeface="Source Han Serif TW"/>
                </a:defRPr>
              </a:pPr>
            </a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10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639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72768"/>
      </ns0:catAx>
      <ns0:valAx>
        <ns0:axId val="48672768"/>
        <ns0:scaling>
          <ns0:orientation val="minMax"/>
          <ns0:max val="110"/>
          <ns0:min val="0"/>
        </ns0:scaling>
        <ns0:delete val="0"/>
        <ns0:axPos val="l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552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50112"/>
        <ns0:crossBetween val="between"/>
      </ns0:valAx>
      <ns0:spPr>
        <a:solidFill>
          <a:srgbClr val="FCF8F5"/>
        </a:solidFill>
      </ns0:spPr>
    </ns0:plotArea>
    <ns0:legend>
      <ns0:legendPos val="b"/>
      <ns0:overlay val="0"/>
      <ns0:txPr>
        <a:bodyPr anchorCtr="1"/>
        <a:lstStyle/>
        <a:p>
          <a:pPr>
            <a:defRPr sz="1639">
              <a:latin typeface="Source Han Serif TW"/>
              <a:ea typeface="Source Han Serif TW"/>
              <a:cs typeface="Source Han Serif TW"/>
            </a:defRPr>
          </a:pPr>
        </a:p>
      </ns0:txPr>
    </ns0:legend>
    <ns0:plotVisOnly val="1"/>
  </ns0:chart>
  <ns0:spPr>
    <a:solidFill>
      <a:srgbClr val="FCF8F5"/>
    </a:solidFill>
  </ns0:spPr>
  <ns0:externalData r:id="rIdChartSnapshot1">
    <ns0:autoUpdate val="0"/>
  </ns0:externalData>
</ns0:chartSpace>
</file>

<file path=ppt/slides/charts/chart4.xml><?xml version="1.0" encoding="utf-8"?>
<ns0:chartSpace xmlns:a="http://schemas.openxmlformats.org/drawingml/2006/main" xmlns:ns0="http://schemas.openxmlformats.org/drawingml/2006/chart" xmlns:r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Generation wall time (h)</ns0:v>
          </ns0:tx>
          <ns0:spPr>
            <a:solidFill>
              <a:srgbClr val="CF8792"/>
            </a:solidFill>
          </ns0:spPr>
          <ns0:cat>
            <ns0:strRef>
              <ns0:f>'Chart Data'!$A$2:$A$4</ns0:f>
              <ns0:strCache>
                <ns0:ptCount val="3"/>
                <ns0:pt idx="0">
                  <ns0:v>Fixed-roster</ns0:v>
                </ns0:pt>
                <ns0:pt idx="1">
                  <ns0:v>SP 10×20</ns0:v>
                </ns0:pt>
                <ns0:pt idx="2">
                  <ns0:v>SP 5×40</ns0:v>
                </ns0:pt>
              </ns0:strCache>
            </ns0:strRef>
          </ns0:cat>
          <ns0:val>
            <ns0:numRef>
              <ns0:f>'Chart Data'!$B$2:$B$4</ns0:f>
              <ns0:numCache>
                <ns0:formatCode>General</ns0:formatCode>
                <ns0:ptCount val="3"/>
                <ns0:pt idx="0">
                  <ns0:v>16.72</ns0:v>
                </ns0:pt>
                <ns0:pt idx="1">
                  <ns0:v>25.3</ns0:v>
                </ns0:pt>
                <ns0:pt idx="2">
                  <ns0:v>17.99</ns0:v>
                </ns0:pt>
              </ns0:numCache>
            </ns0:numRef>
          </ns0:val>
        </ns0:ser>
        <ns0:dLbls>
          <ns0:txPr>
            <a:bodyPr anchorCtr="1"/>
            <a:lstStyle/>
            <a:p>
              <a:pPr>
                <a:defRPr sz="1725">
                  <a:latin typeface="Source Han Serif TW"/>
                  <a:ea typeface="Source Han Serif TW"/>
                  <a:cs typeface="Source Han Serif TW"/>
                </a:defRPr>
              </a:pPr>
            </a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10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639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72768"/>
      </ns0:catAx>
      <ns0:valAx>
        <ns0:axId val="48672768"/>
        <ns0:scaling>
          <ns0:orientation val="minMax"/>
          <ns0:max val="30"/>
          <ns0:min val="0"/>
        </ns0:scaling>
        <ns0:delete val="0"/>
        <ns0:axPos val="l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552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50112"/>
        <ns0:crossBetween val="between"/>
      </ns0:valAx>
      <ns0:spPr>
        <a:solidFill>
          <a:srgbClr val="FCF8F5"/>
        </a:solidFill>
      </ns0:spPr>
    </ns0:plotArea>
    <ns0:plotVisOnly val="1"/>
  </ns0:chart>
  <ns0:spPr>
    <a:solidFill>
      <a:srgbClr val="FCF8F5"/>
    </a:solidFill>
  </ns0:spPr>
  <ns0:externalData r:id="rIdChartSnapshot1">
    <ns0:autoUpdate val="0"/>
  </ns0:externalData>
</ns0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6" name="EAGLE_0">
            <a:extLst>
              <a:ext uri="{FF2B5EF4-FFF2-40B4-BE49-F238E27FC236}">
                <ns2:creationId id="{EFA8787F-849F-4F56-8B3A-3B474F5D1B17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兩版與固定對手基準比較</a:t>
            </a:r>
          </a:p>
        </p:txBody>
      </p:sp>
      <p:sp>
        <p:nvSpPr>
          <p:cNvPr id="17" name="EAGLE_1">
            <a:extLst>
              <a:ext uri="{FF2B5EF4-FFF2-40B4-BE49-F238E27FC236}">
                <ns2:creationId id="{F614B805-A556-4DF5-8F85-D44FCC7D3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月 1 日研究進度報告　　資料截至 2026/09/26</a:t>
            </a:r>
          </a:p>
        </p:txBody>
      </p:sp>
      <p:sp>
        <p:nvSpPr>
          <p:cNvPr id="5" name="">
            <a:extLst>
              <a:ext uri="{FF2B5EF4-FFF2-40B4-BE49-F238E27FC236}">
                <ns2:creationId id="{D6F5DC72-45DA-40C5-B308-7D9E086478B8}"/>
              </a:ext>
            </a:extLst>
          </p:cNvPr>
          <p:cNvSpPr>
            <a:spLocks noGrp="1"/>
          </p:cNvSpPr>
          <p:nvPr/>
        </p:nvSpPr>
        <p:spPr>
          <a:xfrm>
            <a:off x="1428750" y="2557462"/>
            <a:ext cx="12842984" cy="99119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7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7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5×40 外部勝率達 32.8%</a:t>
            </a:r>
          </a:p>
        </p:txBody>
      </p:sp>
      <p:sp>
        <p:nvSpPr>
          <p:cNvPr id="6" name="">
            <a:extLst>
              <a:ext uri="{FF2B5EF4-FFF2-40B4-BE49-F238E27FC236}">
                <ns2:creationId id="{BD659455-ECB3-40B3-A1CE-72B969DCC7AF}"/>
              </a:ext>
            </a:extLst>
          </p:cNvPr>
          <p:cNvSpPr>
            <a:spLocks noGrp="1"/>
          </p:cNvSpPr>
          <p:nvPr/>
        </p:nvSpPr>
        <p:spPr>
          <a:xfrm>
            <a:off x="1462547" y="3702844"/>
            <a:ext cx="12392353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6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6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仍落後 fixed-roster 基準 9.8 個百分點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="1428750" y="4716066"/>
          <a:ext cx="13068300" cy="2268736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5745546"/>
                <a:gridCol w="3267075"/>
                <a:gridCol w="4055679"/>
              </a:tblGrid>
              <a:tr h="5671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實驗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Final-test 勝率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 / D / L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5671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Fixed-roster 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42.7%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256 / 12 / 332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71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5×40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32.8%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197 / 11 / 392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71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0%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5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151 / 449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>
              <a:ext uri="{FF2B5EF4-FFF2-40B4-BE49-F238E27FC236}">
                <ns2:creationId id="{7054E3CB-83AA-4633-8A1B-4280B8451824}"/>
              </a:ext>
            </a:extLst>
          </p:cNvPr>
          <p:cNvSpPr>
            <a:spLocks noGrp="1"/>
          </p:cNvSpPr>
          <p:nvPr/>
        </p:nvSpPr>
        <p:spPr>
          <a:xfrm>
            <a:off x="1462547" y="7249120"/>
            <a:ext cx="12392353" cy="38546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共同測試：600 場固定對手 final test</a:t>
            </a:r>
          </a:p>
        </p:txBody>
      </p:sp>
      <p:sp>
        <p:nvSpPr>
          <p:cNvPr id="18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76251D1-CB70-4A24-902B-C1C02B45926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  <p:extLst>
      <p:ext uri="{BB962C8B-B14F-4D97-AF65-F5344CB8AC3E}">
        <ns3:creationId val="195160962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5C40972C-787C-4F21-9F1E-9144114E0686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三組實驗的比較口徑</a:t>
            </a:r>
          </a:p>
        </p:txBody>
      </p:sp>
      <p:sp>
        <p:nvSpPr>
          <p:cNvPr id="14" name="EAGLE_1">
            <a:extLst>
              <a:ext uri="{FF2B5EF4-FFF2-40B4-BE49-F238E27FC236}">
                <ns2:creationId id="{FF8716B2-748B-4774-A0BE-87CA5F9EF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共同 final test：10 opponents × 3 maps × 2 sides × 10 games = 600 場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58343"/>
          <a:ext cx="13068300" cy="3788569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943022"/>
                <a:gridCol w="3041759"/>
                <a:gridCol w="3041759"/>
                <a:gridCol w="3041759"/>
              </a:tblGrid>
              <a:tr h="63142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Fixed-roster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10×20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5×40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63142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世代 × 族群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 × 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3142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搜尋評估對手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多個固定對手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10-slot snapshot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5-slot snapshot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3142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Snapshot refresh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不適用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 5 代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 5 代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3142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Regular candidates 約數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3142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Ministral 3 8B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Ministral 3 8B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Ministral 3 8B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CE86945B-614A-4FB8-A78F-E009780252EC}"/>
              </a:ext>
            </a:extLst>
          </p:cNvPr>
          <p:cNvSpPr>
            <a:spLocks noGrp="1"/>
          </p:cNvSpPr>
          <p:nvPr/>
        </p:nvSpPr>
        <p:spPr>
          <a:xfrm>
            <a:off x="1451282" y="6478191"/>
            <a:ext cx="12955642" cy="5286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相同地圖、mutation 機率與 final-test roster；regular births 不含 refresh records。</a:t>
            </a:r>
          </a:p>
        </p:txBody>
      </p:sp>
      <p:sp>
        <p:nvSpPr>
          <p:cNvPr id="7" name="">
            <a:extLst>
              <a:ext uri="{FF2B5EF4-FFF2-40B4-BE49-F238E27FC236}">
                <ns2:creationId id="{2AB5707E-47DE-4DEE-8A8B-EC55F8432B01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5×40 將相近的 regular candidate 數分配到更多代與更多次 snapshot 更新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63A866B-A07B-40FA-B63E-5E2464EC8CCD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</a:p>
        </p:txBody>
      </p:sp>
    </p:spTree>
    <p:extLst>
      <p:ext uri="{BB962C8B-B14F-4D97-AF65-F5344CB8AC3E}">
        <ns3:creationId val="1030151731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57C0AC37-F39C-4DB0-BB19-10C1394575CD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主要發現</a:t>
            </a:r>
          </a:p>
        </p:txBody>
      </p:sp>
      <p:sp>
        <p:nvSpPr>
          <p:cNvPr id="14" name="EAGLE_1">
            <a:extLst>
              <a:ext uri="{FF2B5EF4-FFF2-40B4-BE49-F238E27FC236}">
                <ns2:creationId id="{639079F3-7972-4D89-B46A-2F029C02D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本次觀察支持行為機制解釋，尚非同 commit、同 seed 的受控比較</a:t>
            </a:r>
          </a:p>
        </p:txBody>
      </p:sp>
      <p:sp>
        <p:nvSpPr>
          <p:cNvPr id="5" name="">
            <a:extLst>
              <a:ext uri="{FF2B5EF4-FFF2-40B4-BE49-F238E27FC236}">
                <ns2:creationId id="{D396E64F-4183-4ED2-8966-2141F16D83F6}"/>
              </a:ext>
            </a:extLst>
          </p:cNvPr>
          <p:cNvSpPr>
            <a:spLocks noGrp="1"/>
          </p:cNvSpPr>
          <p:nvPr/>
        </p:nvSpPr>
        <p:spPr>
          <a:xfrm>
            <a:off x="1428750" y="2546449"/>
            <a:ext cx="3886693" cy="104626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79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79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42.7%</a:t>
            </a:r>
          </a:p>
        </p:txBody>
      </p:sp>
      <p:sp>
        <p:nvSpPr>
          <p:cNvPr id="6" name="">
            <a:extLst>
              <a:ext uri="{FF2B5EF4-FFF2-40B4-BE49-F238E27FC236}">
                <ns2:creationId id="{E37729E7-3CCC-4FC5-8DE4-179D4842C2AD}"/>
              </a:ext>
            </a:extLst>
          </p:cNvPr>
          <p:cNvSpPr>
            <a:spLocks noGrp="1"/>
          </p:cNvSpPr>
          <p:nvPr/>
        </p:nvSpPr>
        <p:spPr>
          <a:xfrm>
            <a:off x="1451282" y="3603724"/>
            <a:ext cx="3943022" cy="55066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4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4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固定對手基準仍最佳</a:t>
            </a:r>
          </a:p>
        </p:txBody>
      </p:sp>
      <p:sp>
        <p:nvSpPr>
          <p:cNvPr id="7" name="">
            <a:extLst>
              <a:ext uri="{FF2B5EF4-FFF2-40B4-BE49-F238E27FC236}">
                <ns2:creationId id="{5EA618FA-2EB8-4F29-A983-B81BDFADAE8B}"/>
              </a:ext>
            </a:extLst>
          </p:cNvPr>
          <p:cNvSpPr>
            <a:spLocks noGrp="1"/>
          </p:cNvSpPr>
          <p:nvPr/>
        </p:nvSpPr>
        <p:spPr>
          <a:xfrm>
            <a:off x="5878731" y="2546449"/>
            <a:ext cx="3886693" cy="104626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79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79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32.8%</a:t>
            </a:r>
          </a:p>
        </p:txBody>
      </p:sp>
      <p:sp>
        <p:nvSpPr>
          <p:cNvPr id="8" name="">
            <a:extLst>
              <a:ext uri="{FF2B5EF4-FFF2-40B4-BE49-F238E27FC236}">
                <ns2:creationId id="{E2D899A6-ECBA-4413-B745-76BED562BC5B}"/>
              </a:ext>
            </a:extLst>
          </p:cNvPr>
          <p:cNvSpPr>
            <a:spLocks noGrp="1"/>
          </p:cNvSpPr>
          <p:nvPr/>
        </p:nvSpPr>
        <p:spPr>
          <a:xfrm>
            <a:off x="5901263" y="3603724"/>
            <a:ext cx="3943022" cy="55066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4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4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5×40 產生外部勝場</a:t>
            </a:r>
          </a:p>
        </p:txBody>
      </p:sp>
      <p:sp>
        <p:nvSpPr>
          <p:cNvPr id="9" name="">
            <a:extLst>
              <a:ext uri="{FF2B5EF4-FFF2-40B4-BE49-F238E27FC236}">
                <ns2:creationId id="{C29819C3-6386-4DC0-8863-108948BE0402}"/>
              </a:ext>
            </a:extLst>
          </p:cNvPr>
          <p:cNvSpPr>
            <a:spLocks noGrp="1"/>
          </p:cNvSpPr>
          <p:nvPr/>
        </p:nvSpPr>
        <p:spPr>
          <a:xfrm>
            <a:off x="10328713" y="2546449"/>
            <a:ext cx="3886693" cy="104626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79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79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0%</a:t>
            </a:r>
          </a:p>
        </p:txBody>
      </p:sp>
      <p:sp>
        <p:nvSpPr>
          <p:cNvPr id="10" name="">
            <a:extLst>
              <a:ext uri="{FF2B5EF4-FFF2-40B4-BE49-F238E27FC236}">
                <ns2:creationId id="{AC808509-78F9-4B59-9B6A-09DE585A354B}"/>
              </a:ext>
            </a:extLst>
          </p:cNvPr>
          <p:cNvSpPr>
            <a:spLocks noGrp="1"/>
          </p:cNvSpPr>
          <p:nvPr/>
        </p:nvSpPr>
        <p:spPr>
          <a:xfrm>
            <a:off x="10351244" y="3603724"/>
            <a:ext cx="3943022" cy="55066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4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4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10×20 未取得勝場</a:t>
            </a:r>
          </a:p>
        </p:txBody>
      </p:sp>
      <p:sp>
        <p:nvSpPr>
          <p:cNvPr id="11" name="">
            <a:extLst>
              <a:ext uri="{FF2B5EF4-FFF2-40B4-BE49-F238E27FC236}">
                <ns2:creationId id="{657C59D2-AD32-41A2-B47C-700E597334FC}"/>
              </a:ext>
            </a:extLst>
          </p:cNvPr>
          <p:cNvSpPr>
            <a:spLocks noGrp="1"/>
          </p:cNvSpPr>
          <p:nvPr/>
        </p:nvSpPr>
        <p:spPr>
          <a:xfrm>
            <a:off x="1451282" y="4760119"/>
            <a:ext cx="12955642" cy="18722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G17 的 Code Reflection 補上主動追擊敵人的行為。</a:t>
            </a:r>
          </a:p>
          <a:p>
            <a:pPr>
              <a:def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勝場集中在基礎對手，rush 與強對手仍是主要缺口。</a:t>
            </a:r>
          </a:p>
          <a:p>
            <a:pPr>
              <a:def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最終 4/5 candidates 同列最高 fitness，評估仍難區分策略。</a:t>
            </a:r>
          </a:p>
        </p:txBody>
      </p:sp>
      <p:sp>
        <p:nvSpPr>
          <p:cNvPr id="12" name="">
            <a:extLst>
              <a:ext uri="{FF2B5EF4-FFF2-40B4-BE49-F238E27FC236}">
                <ns2:creationId id="{6A805E45-C985-42CD-98F4-53D390B4E452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後續先建立 current-code control，再測試 fixed anchors 與獨立 holdout probes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C06C9CD-B2A7-4B32-9F20-C3536426D5E0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</a:p>
        </p:txBody>
      </p:sp>
    </p:spTree>
    <p:extLst>
      <p:ext uri="{BB962C8B-B14F-4D97-AF65-F5344CB8AC3E}">
        <ns3:creationId val="563988177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2391547F-67C6-4891-909F-323FC4F40E80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5×40 的改善包含 197 個實際勝場</a:t>
            </a:r>
          </a:p>
        </p:txBody>
      </p:sp>
      <p:sp>
        <p:nvSpPr>
          <p:cNvPr id="14" name="EAGLE_1">
            <a:extLst>
              <a:ext uri="{FF2B5EF4-FFF2-40B4-BE49-F238E27FC236}">
                <ns2:creationId id="{065D18E8-2515-4AE5-ABBA-7EA605231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三組 final test 均為 600 場，errors 均為 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541408" y="2326184"/>
          <a:ext cx="12730327" cy="4185047"/>
        </p:xfrm>
        <a:graphic>
          <a:graphicData uri="http://schemas.openxmlformats.org/drawingml/2006/chart">
            <ns3:chart r:id="R176641a6e4df4a9b"/>
          </a:graphicData>
        </a:graphic>
      </p:graphicFrame>
      <p:sp>
        <p:nvSpPr>
          <p:cNvPr id="6" name="">
            <a:extLst>
              <a:ext uri="{FF2B5EF4-FFF2-40B4-BE49-F238E27FC236}">
                <ns2:creationId id="{F63D36DB-430E-4314-A43B-48300FB9FE51}"/>
              </a:ext>
            </a:extLst>
          </p:cNvPr>
          <p:cNvSpPr>
            <a:spLocks noGrp="1"/>
          </p:cNvSpPr>
          <p:nvPr/>
        </p:nvSpPr>
        <p:spPr>
          <a:xfrm>
            <a:off x="1451282" y="6544270"/>
            <a:ext cx="12955642" cy="4625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相對 self-play 10×20：+197 勝、−140 和、−57 敗</a:t>
            </a:r>
          </a:p>
        </p:txBody>
      </p:sp>
      <p:sp>
        <p:nvSpPr>
          <p:cNvPr id="7" name="">
            <a:extLst>
              <a:ext uri="{FF2B5EF4-FFF2-40B4-BE49-F238E27FC236}">
                <ns2:creationId id="{CE235CF7-FF90-4F39-86DF-90B39A40DC06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相對 fixed-roster：少 59 勝，勝率差 9.83 個百分點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D4FBCC5-889B-48FE-B8B7-AB63C4CDE4D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</a:p>
        </p:txBody>
      </p:sp>
    </p:spTree>
    <p:extLst>
      <p:ext uri="{BB962C8B-B14F-4D97-AF65-F5344CB8AC3E}">
        <ns5:creationId val="412864264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2F18E901-4025-46A6-B0ED-268F6EA3FBF6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692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692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勝場差距集中在 LightRush、HeavyRush 與 COAC</a:t>
            </a:r>
          </a:p>
        </p:txBody>
      </p:sp>
      <p:sp>
        <p:nvSpPr>
          <p:cNvPr id="14" name="EAGLE_1">
            <a:extLst>
              <a:ext uri="{FF2B5EF4-FFF2-40B4-BE49-F238E27FC236}">
                <ns2:creationId id="{BBA27C25-BFD3-43E5-9E7F-F946E8870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 opponent 共 60 場；完整 W / D / L 保留於講者備註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485079" y="2414290"/>
          <a:ext cx="12899313" cy="3887688"/>
        </p:xfrm>
        <a:graphic>
          <a:graphicData uri="http://schemas.openxmlformats.org/drawingml/2006/chart">
            <ns3:chart r:id="Rcd04f59b0cf24633"/>
          </a:graphicData>
        </a:graphic>
      </p:graphicFrame>
      <p:sp>
        <p:nvSpPr>
          <p:cNvPr id="6" name="">
            <a:extLst>
              <a:ext uri="{FF2B5EF4-FFF2-40B4-BE49-F238E27FC236}">
                <ns2:creationId id="{5EDAA945-71AF-431D-B938-659CC2E3A4B1}"/>
              </a:ext>
            </a:extLst>
          </p:cNvPr>
          <p:cNvSpPr>
            <a:spLocks noGrp="1"/>
          </p:cNvSpPr>
          <p:nvPr/>
        </p:nvSpPr>
        <p:spPr>
          <a:xfrm>
            <a:off x="1451282" y="6478191"/>
            <a:ext cx="12955642" cy="72687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 10×20 對全部 10 個 opponents 均為 0 勝。</a:t>
            </a:r>
          </a:p>
          <a:p>
            <a:pPr>
              <a:def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WorkerRush、AllInBot、Mayari、TMA：三組均為 0 勝。</a:t>
            </a:r>
          </a:p>
        </p:txBody>
      </p:sp>
      <p:sp>
        <p:nvSpPr>
          <p:cNvPr id="7" name="">
            <a:extLst>
              <a:ext uri="{FF2B5EF4-FFF2-40B4-BE49-F238E27FC236}">
                <ns2:creationId id="{4E7087DA-B69D-4C71-A013-2D62CE883672}"/>
              </a:ext>
            </a:extLst>
          </p:cNvPr>
          <p:cNvSpPr>
            <a:spLocks noGrp="1"/>
          </p:cNvSpPr>
          <p:nvPr/>
        </p:nvSpPr>
        <p:spPr>
          <a:xfrm>
            <a:off x="1428750" y="7359253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5×40 的 197 勝中，177 勝來自三個基礎對手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2BEB40D-11D6-4D8D-93A9-921B2F922B60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</a:p>
        </p:txBody>
      </p:sp>
    </p:spTree>
    <p:extLst>
      <p:ext uri="{BB962C8B-B14F-4D97-AF65-F5344CB8AC3E}">
        <ns5:creationId val="160542049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/>
      </p:grpSpPr>
      <p:sp>
        <p:nvSpPr>
          <p:cNvPr id="15" name="EAGLE_0">
            <a:extLst>
              <a:ext uri="{FF2B5EF4-FFF2-40B4-BE49-F238E27FC236}">
                <ns2:creationId id="{045E904C-621B-48D0-9072-9135AE1C56D2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5×40 的勝場分布涵蓋三張地圖與雙方位</a:t>
            </a:r>
          </a:p>
        </p:txBody>
      </p:sp>
      <p:sp>
        <p:nvSpPr>
          <p:cNvPr id="16" name="EAGLE_1">
            <a:extLst>
              <a:ext uri="{FF2B5EF4-FFF2-40B4-BE49-F238E27FC236}">
                <ns2:creationId id="{743DDC6E-C55C-416D-B350-ED6617507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各地圖 200 場；各 player side 300 場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1485079" y="2337197"/>
          <a:ext cx="8505661" cy="4229100"/>
        </p:xfrm>
        <a:graphic>
          <a:graphicData uri="http://schemas.openxmlformats.org/drawingml/2006/chart">
            <ns3:chart r:id="Ra164a1217b06488e"/>
          </a:graphicData>
        </a:graphic>
      </p:graphicFrame>
      <p:sp>
        <p:nvSpPr>
          <p:cNvPr id="6" name="">
            <a:extLst>
              <a:ext uri="{FF2B5EF4-FFF2-40B4-BE49-F238E27FC236}">
                <ns2:creationId id="{33A4E2CC-C12D-4278-A887-C93BD4316DBB}"/>
              </a:ext>
            </a:extLst>
          </p:cNvPr>
          <p:cNvSpPr>
            <a:spLocks noGrp="1"/>
          </p:cNvSpPr>
          <p:nvPr/>
        </p:nvSpPr>
        <p:spPr>
          <a:xfrm>
            <a:off x="10599092" y="2766715"/>
            <a:ext cx="3886693" cy="55066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5×40 雙方位勝場</a:t>
            </a:r>
          </a:p>
        </p:txBody>
      </p:sp>
      <p:sp>
        <p:nvSpPr>
          <p:cNvPr id="7" name="">
            <a:extLst>
              <a:ext uri="{FF2B5EF4-FFF2-40B4-BE49-F238E27FC236}">
                <ns2:creationId id="{21F9EEE4-EB83-4382-8D98-DA7278B58B7F}"/>
              </a:ext>
            </a:extLst>
          </p:cNvPr>
          <p:cNvSpPr>
            <a:spLocks noGrp="1"/>
          </p:cNvSpPr>
          <p:nvPr/>
        </p:nvSpPr>
        <p:spPr>
          <a:xfrm>
            <a:off x="10599092" y="3625751"/>
            <a:ext cx="3886693" cy="159692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9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9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p0　97 勝</a:t>
            </a:r>
          </a:p>
          <a:p>
            <a:pPr>
              <a:defRPr sz="319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9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p1　100 勝</a:t>
            </a:r>
          </a:p>
        </p:txBody>
      </p:sp>
      <p:sp>
        <p:nvSpPr>
          <p:cNvPr id="8" name="">
            <a:extLst>
              <a:ext uri="{FF2B5EF4-FFF2-40B4-BE49-F238E27FC236}">
                <ns2:creationId id="{7FAA472C-EE0D-441E-8D1C-44454D9E131B}"/>
              </a:ext>
            </a:extLst>
          </p:cNvPr>
          <p:cNvSpPr>
            <a:spLocks noGrp="1"/>
          </p:cNvSpPr>
          <p:nvPr/>
        </p:nvSpPr>
        <p:spPr>
          <a:xfrm>
            <a:off x="10599092" y="5464969"/>
            <a:ext cx="3886693" cy="99119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84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84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24×24：70 vs. 68 勝</a:t>
            </a:r>
          </a:p>
          <a:p>
            <a:pPr>
              <a:defRPr sz="1984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84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僅高於基準 2 勝</a:t>
            </a:r>
          </a:p>
        </p:txBody>
      </p:sp>
      <p:sp>
        <p:nvSpPr>
          <p:cNvPr id="9" name="">
            <a:extLst>
              <a:ext uri="{FF2B5EF4-FFF2-40B4-BE49-F238E27FC236}">
                <ns2:creationId id="{F3DB65AA-B902-4A65-B655-EDEDF70764A8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改善分布於所有測試地圖與雙方位；整體差距仍集中在 8×8 與 16×16</a:t>
            </a:r>
          </a:p>
        </p:txBody>
      </p:sp>
      <p:sp>
        <p:nvSpPr>
          <p:cNvPr id="17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F7FCBE4-C41D-41A1-8E6A-0CF71756B39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</a:p>
        </p:txBody>
      </p:sp>
    </p:spTree>
    <p:extLst>
      <p:ext uri="{BB962C8B-B14F-4D97-AF65-F5344CB8AC3E}">
        <ns5:creationId val="894035272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4" name="EAGLE_0">
            <a:extLst>
              <a:ext uri="{FF2B5EF4-FFF2-40B4-BE49-F238E27FC236}">
                <ns2:creationId id="{786233B2-0566-48AD-A435-29AC8851B402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10×20 self-play 搜尋收斂到穩定和局</a:t>
            </a:r>
          </a:p>
        </p:txBody>
      </p:sp>
      <p:sp>
        <p:nvSpPr>
          <p:cNvPr id="15" name="EAGLE_1">
            <a:extLst>
              <a:ext uri="{FF2B5EF4-FFF2-40B4-BE49-F238E27FC236}">
                <ns2:creationId id="{BEA65770-D173-4BE9-B633-37B47AEE2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snapshot 的正 fitness 來自 material / resource shaping，不代表勝場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="1428750" y="2414290"/>
          <a:ext cx="13068300" cy="2037457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7097439"/>
                <a:gridCol w="5970861"/>
              </a:tblGrid>
              <a:tr h="679152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評估情境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 / D / L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679152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snapshot 搜尋評估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79152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固定對手 final test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151 / 449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8F437DBE-0A66-44EF-8E2A-D295CE68427A}"/>
              </a:ext>
            </a:extLst>
          </p:cNvPr>
          <p:cNvSpPr>
            <a:spLocks noGrp="1"/>
          </p:cNvSpPr>
          <p:nvPr/>
        </p:nvSpPr>
        <p:spPr>
          <a:xfrm>
            <a:off x="1451282" y="4848225"/>
            <a:ext cx="12392353" cy="49559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88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88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最終 Java 的行為限制</a:t>
            </a:r>
          </a:p>
        </p:txBody>
      </p:sp>
      <p:sp>
        <p:nvSpPr>
          <p:cNvPr id="7" name="">
            <a:extLst>
              <a:ext uri="{FF2B5EF4-FFF2-40B4-BE49-F238E27FC236}">
                <ns2:creationId id="{E3383896-89EA-4E8F-8312-0D2956542494}"/>
              </a:ext>
            </a:extLst>
          </p:cNvPr>
          <p:cNvSpPr>
            <a:spLocks noGrp="1"/>
          </p:cNvSpPr>
          <p:nvPr/>
        </p:nvSpPr>
        <p:spPr>
          <a:xfrm>
            <a:off x="1451282" y="5486995"/>
            <a:ext cx="12730327" cy="110132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僅攻擊附近 enemy Workers，缺少一般化追擊邏輯。</a:t>
            </a:r>
          </a:p>
          <a:p>
            <a:pPr>
              <a:def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1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 units 控制不足，找不到目標時大量單位 idle。</a:t>
            </a:r>
          </a:p>
        </p:txBody>
      </p:sp>
      <p:sp>
        <p:nvSpPr>
          <p:cNvPr id="8" name="">
            <a:extLst>
              <a:ext uri="{FF2B5EF4-FFF2-40B4-BE49-F238E27FC236}">
                <ns2:creationId id="{460134B7-FF44-42F6-8EEF-2A20CADFDB2C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最終 7/10 candidates 最高 fitness 同分，只有 4 種 objective vectors</a:t>
            </a:r>
          </a:p>
        </p:txBody>
      </p:sp>
      <p:sp>
        <p:nvSpPr>
          <p:cNvPr id="1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7836772-AE43-4D2B-AEA2-302B5766302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</a:p>
        </p:txBody>
      </p:sp>
    </p:spTree>
    <p:extLst>
      <p:ext uri="{BB962C8B-B14F-4D97-AF65-F5344CB8AC3E}">
        <ns3:creationId val="466341709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2" name="EAGLE_0">
            <a:extLst>
              <a:ext uri="{FF2B5EF4-FFF2-40B4-BE49-F238E27FC236}">
                <ns2:creationId id="{456D2F84-67BE-42F5-B551-E12B08A38368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17 出現明確的取勝轉折</a:t>
            </a:r>
          </a:p>
        </p:txBody>
      </p:sp>
      <p:sp>
        <p:nvSpPr>
          <p:cNvPr id="13" name="EAGLE_1">
            <a:extLst>
              <a:ext uri="{FF2B5EF4-FFF2-40B4-BE49-F238E27FC236}">
                <ns2:creationId id="{F491E1F4-FB4E-46BA-AE42-F0F1286A7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各列對手 snapshot 不同，GP 僅能在同一 snapshot 內比較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1428750" y="2381250"/>
          <a:ext cx="13068300" cy="4427339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2591128"/>
                <a:gridCol w="4055679"/>
                <a:gridCol w="2140497"/>
                <a:gridCol w="4280995"/>
              </a:tblGrid>
              <a:tr h="5534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當期 best W / D / L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Best GP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觀察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5534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G0–G2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0.000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初期全和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34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174 / 6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1.243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尚無勝場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34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G10–G14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0.424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Refresh 後全和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34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G16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0.161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突破前一代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34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G17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180 / 0 / 0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102.804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Reflection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</a:tr>
              <a:tr h="5534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120 / 0 / 60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35.040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新 snapshot 仍有勝場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34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G40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114 / 24 / 42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40.523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最終仍可取勝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F36F5406-45CF-4182-8056-0E5A1FA97D0D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G17 後的取勝能力跨過後續 snapshot refresh 保留下來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A9A30BF-69AF-4EF6-A347-F73DFE65DC3D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</a:p>
        </p:txBody>
      </p:sp>
    </p:spTree>
    <p:extLst>
      <p:ext uri="{BB962C8B-B14F-4D97-AF65-F5344CB8AC3E}">
        <ns3:creationId val="5339605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216F9220-CA89-404D-A7AB-8F4774F477E2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Reflection 補上主動尋敵與追擊</a:t>
            </a:r>
          </a:p>
        </p:txBody>
      </p:sp>
      <p:sp>
        <p:nvSpPr>
          <p:cNvPr id="14" name="EAGLE_1">
            <a:extLst>
              <a:ext uri="{FF2B5EF4-FFF2-40B4-BE49-F238E27FC236}">
                <ns2:creationId id="{F3597484-29C5-49F4-B3F6-7FFE425CC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G17：gen_0017_a4bee4778e92　　Mutation：crossover+mutation，Code Reflection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47330"/>
          <a:ext cx="13068300" cy="3127772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6534150"/>
                <a:gridCol w="6534150"/>
              </a:tblGrid>
              <a:tr h="7819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修改前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修改後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7819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只找攻擊範圍內的敵人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尋找全地圖最近的敵人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7819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無射程內目標時容易 idle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對最近敵人下達 commandAttack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7819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難以終結對稱或被動局面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主動追擊並形成實際勝負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64F82770-8344-4714-B7FD-70DA3B5E6AB7}"/>
              </a:ext>
            </a:extLst>
          </p:cNvPr>
          <p:cNvSpPr>
            <a:spLocks noGrp="1"/>
          </p:cNvSpPr>
          <p:nvPr/>
        </p:nvSpPr>
        <p:spPr>
          <a:xfrm>
            <a:off x="1451282" y="5850434"/>
            <a:ext cx="12955642" cy="89207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此 lineage 延續至 gen_0040_c02a137db168。</a:t>
            </a:r>
          </a:p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最終 Java 保留「攻擊單位仍 idle 時，攻擊最近敵人」的 fallback。</a:t>
            </a:r>
          </a:p>
        </p:txBody>
      </p:sp>
      <p:sp>
        <p:nvSpPr>
          <p:cNvPr id="7" name="">
            <a:extLst>
              <a:ext uri="{FF2B5EF4-FFF2-40B4-BE49-F238E27FC236}">
                <ns2:creationId id="{5693570B-BCF7-4358-9A62-F8D4BD77AA7C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這是 artifact 與 Java diff 支持的機制解釋；因果仍需 rollback 或同 seed ablation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BC6396F-831A-46E5-B4B8-E6C6BE58A1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</a:p>
        </p:txBody>
      </p:sp>
    </p:spTree>
    <p:extLst>
      <p:ext uri="{BB962C8B-B14F-4D97-AF65-F5344CB8AC3E}">
        <ns3:creationId val="171142527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2" name="EAGLE_0">
            <a:extLst>
              <a:ext uri="{FF2B5EF4-FFF2-40B4-BE49-F238E27FC236}">
                <ns2:creationId id="{2E323286-3970-450C-9122-4C521DABB532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最終族群仍出現 fitness 平台</a:t>
            </a:r>
          </a:p>
        </p:txBody>
      </p:sp>
      <p:sp>
        <p:nvSpPr>
          <p:cNvPr id="13" name="EAGLE_1">
            <a:extLst>
              <a:ext uri="{FF2B5EF4-FFF2-40B4-BE49-F238E27FC236}">
                <ns2:creationId id="{7055BD18-A919-4ED6-B4EC-C8A4B448A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相同 fitness 不代表相同程式；目前 snapshot 對策略差異的辨識能力有限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1428750" y="2469356"/>
          <a:ext cx="13068300" cy="3986808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4618968"/>
                <a:gridCol w="2816444"/>
                <a:gridCol w="2816444"/>
                <a:gridCol w="2816444"/>
              </a:tblGrid>
              <a:tr h="5695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Fixed-roster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10×20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5×40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5695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population size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95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最高 fitness 同分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95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Unique objective vectors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95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niches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95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Unique Java hashes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95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最高同分群 Java hashes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42E3036A-2EB1-4810-9A3C-1FC474FB3669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5×40 仍有 4/5 最高同分，但同分群保留 3 種 Java hashes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A960D7C-B6ED-4850-A10A-FC4DFF8F780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</a:p>
        </p:txBody>
      </p:sp>
    </p:spTree>
    <p:extLst>
      <p:ext uri="{BB962C8B-B14F-4D97-AF65-F5344CB8AC3E}">
        <ns3:creationId val="200905834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/>
      </p:grpSpPr>
      <p:sp>
        <p:nvSpPr>
          <p:cNvPr id="15" name="EAGLE_0">
            <a:extLst>
              <a:ext uri="{FF2B5EF4-FFF2-40B4-BE49-F238E27FC236}">
                <ns2:creationId id="{EB4CE75F-DCD2-4F6A-BFA7-18FE33AC6230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03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03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5×40 的觀測時間成本低於舊 self-play</a:t>
            </a:r>
          </a:p>
        </p:txBody>
      </p:sp>
      <p:sp>
        <p:nvSpPr>
          <p:cNvPr id="16" name="EAGLE_1">
            <a:extLst>
              <a:ext uri="{FF2B5EF4-FFF2-40B4-BE49-F238E27FC236}">
                <ns2:creationId id="{BE59B657-4721-4FCF-B904-4CF0058B6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wall time：基準 16.72 h、10×20 25.30 h、5×40 17.99 h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1485079" y="2546449"/>
          <a:ext cx="6590479" cy="3722489"/>
        </p:xfrm>
        <a:graphic>
          <a:graphicData uri="http://schemas.openxmlformats.org/drawingml/2006/chart">
            <ns3:chart r:id="R73b61ffcc31649bf"/>
          </a:graphicData>
        </a:graphic>
      </p:graphicFrame>
      <p:sp>
        <p:nvSpPr>
          <p:cNvPr id="6" name="">
            <a:extLst>
              <a:ext uri="{FF2B5EF4-FFF2-40B4-BE49-F238E27FC236}">
                <ns2:creationId id="{A8CA5837-B110-4484-9544-796F76FB5106}"/>
              </a:ext>
            </a:extLst>
          </p:cNvPr>
          <p:cNvSpPr>
            <a:spLocks noGrp="1"/>
          </p:cNvSpPr>
          <p:nvPr/>
        </p:nvSpPr>
        <p:spPr>
          <a:xfrm>
            <a:off x="8548720" y="2689622"/>
            <a:ext cx="5914532" cy="6057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較 SP 10×20 少 7.31 h（28.9%）</a:t>
            </a:r>
          </a:p>
        </p:txBody>
      </p:sp>
      <p:sp>
        <p:nvSpPr>
          <p:cNvPr id="7" name="">
            <a:extLst>
              <a:ext uri="{FF2B5EF4-FFF2-40B4-BE49-F238E27FC236}">
                <ns2:creationId id="{A1423F0D-875A-4276-A095-11DF81C6EBE2}"/>
              </a:ext>
            </a:extLst>
          </p:cNvPr>
          <p:cNvSpPr>
            <a:spLocks noGrp="1"/>
          </p:cNvSpPr>
          <p:nvPr/>
        </p:nvSpPr>
        <p:spPr>
          <a:xfrm>
            <a:off x="8548720" y="3614738"/>
            <a:ext cx="5914532" cy="19273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requests　1,839 → 1,626</a:t>
            </a:r>
          </a:p>
          <a:p>
            <a:pPr>
              <a:defRPr sz="2156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cumulative　13.36 → 9.49 h</a:t>
            </a:r>
          </a:p>
          <a:p>
            <a:pPr>
              <a:defRPr sz="2156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cumulative　8.63 → 5.40 h</a:t>
            </a:r>
          </a:p>
        </p:txBody>
      </p:sp>
      <p:sp>
        <p:nvSpPr>
          <p:cNvPr id="8" name="">
            <a:extLst>
              <a:ext uri="{FF2B5EF4-FFF2-40B4-BE49-F238E27FC236}">
                <ns2:creationId id="{AC84249A-6EE9-41D1-93BE-7B60C80E97FE}"/>
              </a:ext>
            </a:extLst>
          </p:cNvPr>
          <p:cNvSpPr>
            <a:spLocks noGrp="1"/>
          </p:cNvSpPr>
          <p:nvPr/>
        </p:nvSpPr>
        <p:spPr>
          <a:xfrm>
            <a:off x="1451282" y="6588323"/>
            <a:ext cx="12842984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97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97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10×20 含中斷恢復開銷。基準使用舊 timing schema，match events 與時間不直接比較。</a:t>
            </a:r>
          </a:p>
        </p:txBody>
      </p:sp>
      <p:sp>
        <p:nvSpPr>
          <p:cNvPr id="9" name="">
            <a:extLst>
              <a:ext uri="{FF2B5EF4-FFF2-40B4-BE49-F238E27FC236}">
                <ns2:creationId id="{5D869AFE-0B04-4725-985F-14366338ABF4}"/>
              </a:ext>
            </a:extLst>
          </p:cNvPr>
          <p:cNvSpPr>
            <a:spLocks noGrp="1"/>
          </p:cNvSpPr>
          <p:nvPr/>
        </p:nvSpPr>
        <p:spPr>
          <a:xfrm>
            <a:off x="1428750" y="7370266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run 的成本較低；不能將全部時間差歸因於 5×40 配置</a:t>
            </a:r>
          </a:p>
        </p:txBody>
      </p:sp>
      <p:sp>
        <p:nvSpPr>
          <p:cNvPr id="17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F0C2398-8AF5-4D0D-B4BA-AF68F9C1AE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</a:p>
        </p:txBody>
      </p:sp>
    </p:spTree>
    <p:extLst>
      <p:ext uri="{BB962C8B-B14F-4D97-AF65-F5344CB8AC3E}">
        <ns5:creationId val="1838457079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8" name="EAGLE_0">
            <a:extLst>
              <a:ext uri="{FF2B5EF4-FFF2-40B4-BE49-F238E27FC236}">
                <ns2:creationId id="{A912E6B3-2B44-421E-ADD6-A55BB83F72FA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下一輪實驗先建立公平基準</a:t>
            </a:r>
          </a:p>
        </p:txBody>
      </p:sp>
      <p:sp>
        <p:nvSpPr>
          <p:cNvPr id="19" name="EAGLE_1">
            <a:extLst>
              <a:ext uri="{FF2B5EF4-FFF2-40B4-BE49-F238E27FC236}">
                <ns2:creationId id="{0A617D2C-8246-460F-A431-636339FD4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 5×40 作為後續候選配置，再補強外部能力約束</a:t>
            </a:r>
          </a:p>
        </p:txBody>
      </p:sp>
      <p:sp>
        <p:nvSpPr>
          <p:cNvPr id="5" name="">
            <a:extLst>
              <a:ext uri="{FF2B5EF4-FFF2-40B4-BE49-F238E27FC236}">
                <ns2:creationId id="{515F5452-D2D5-44F4-861C-D602235CB9B3}"/>
              </a:ext>
            </a:extLst>
          </p:cNvPr>
          <p:cNvSpPr>
            <a:spLocks noGrp="1"/>
          </p:cNvSpPr>
          <p:nvPr/>
        </p:nvSpPr>
        <p:spPr>
          <a:xfrm>
            <a:off x="1462547" y="2458343"/>
            <a:ext cx="811136" cy="7158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6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6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01</a:t>
            </a:r>
          </a:p>
        </p:txBody>
      </p:sp>
      <p:sp>
        <p:nvSpPr>
          <p:cNvPr id="6" name="">
            <a:extLst>
              <a:ext uri="{FF2B5EF4-FFF2-40B4-BE49-F238E27FC236}">
                <ns2:creationId id="{2C74C091-DFB4-47B3-8A37-352B59633894}"/>
              </a:ext>
            </a:extLst>
          </p:cNvPr>
          <p:cNvSpPr>
            <a:spLocks noGrp="1"/>
          </p:cNvSpPr>
          <p:nvPr/>
        </p:nvSpPr>
        <p:spPr>
          <a:xfrm>
            <a:off x="2498999" y="2458343"/>
            <a:ext cx="11829065" cy="5066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Current-code fixed-roster 10×20</a:t>
            </a:r>
          </a:p>
        </p:txBody>
      </p:sp>
      <p:sp>
        <p:nvSpPr>
          <p:cNvPr id="7" name="">
            <a:extLst>
              <a:ext uri="{FF2B5EF4-FFF2-40B4-BE49-F238E27FC236}">
                <ns2:creationId id="{6C65BE57-1664-47D5-84AE-F97672CBC719}"/>
              </a:ext>
            </a:extLst>
          </p:cNvPr>
          <p:cNvSpPr>
            <a:spLocks noGrp="1"/>
          </p:cNvSpPr>
          <p:nvPr/>
        </p:nvSpPr>
        <p:spPr>
          <a:xfrm>
            <a:off x="2498999" y="2964954"/>
            <a:ext cx="11829065" cy="49559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建立同 commit、同 pipeline 的 control</a:t>
            </a:r>
          </a:p>
        </p:txBody>
      </p:sp>
      <p:sp>
        <p:nvSpPr>
          <p:cNvPr id="8" name="">
            <a:extLst>
              <a:ext uri="{FF2B5EF4-FFF2-40B4-BE49-F238E27FC236}">
                <ns2:creationId id="{E3B8CAC0-59C3-49FC-918C-A6D532F23123}"/>
              </a:ext>
            </a:extLst>
          </p:cNvPr>
          <p:cNvSpPr>
            <a:spLocks noGrp="1"/>
          </p:cNvSpPr>
          <p:nvPr/>
        </p:nvSpPr>
        <p:spPr>
          <a:xfrm>
            <a:off x="1462547" y="3559671"/>
            <a:ext cx="811136" cy="7158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6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6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02</a:t>
            </a:r>
          </a:p>
        </p:txBody>
      </p:sp>
      <p:sp>
        <p:nvSpPr>
          <p:cNvPr id="9" name="">
            <a:extLst>
              <a:ext uri="{FF2B5EF4-FFF2-40B4-BE49-F238E27FC236}">
                <ns2:creationId id="{7488CFB7-6B0C-4E16-9B74-789E32BEA9FF}"/>
              </a:ext>
            </a:extLst>
          </p:cNvPr>
          <p:cNvSpPr>
            <a:spLocks noGrp="1"/>
          </p:cNvSpPr>
          <p:nvPr/>
        </p:nvSpPr>
        <p:spPr>
          <a:xfrm>
            <a:off x="2498999" y="3559671"/>
            <a:ext cx="11829065" cy="5066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5×40 self-play 加 fixed anchors</a:t>
            </a:r>
          </a:p>
        </p:txBody>
      </p:sp>
      <p:sp>
        <p:nvSpPr>
          <p:cNvPr id="10" name="">
            <a:extLst>
              <a:ext uri="{FF2B5EF4-FFF2-40B4-BE49-F238E27FC236}">
                <ns2:creationId id="{EC86DEE9-B1B9-4A10-B759-D2D97DACCB12}"/>
              </a:ext>
            </a:extLst>
          </p:cNvPr>
          <p:cNvSpPr>
            <a:spLocks noGrp="1"/>
          </p:cNvSpPr>
          <p:nvPr/>
        </p:nvSpPr>
        <p:spPr>
          <a:xfrm>
            <a:off x="2498999" y="4066282"/>
            <a:ext cx="11829065" cy="49559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納入 LightRush、HeavyRush、WorkerRush 或 COAC</a:t>
            </a:r>
          </a:p>
        </p:txBody>
      </p:sp>
      <p:sp>
        <p:nvSpPr>
          <p:cNvPr id="11" name="">
            <a:extLst>
              <a:ext uri="{FF2B5EF4-FFF2-40B4-BE49-F238E27FC236}">
                <ns2:creationId id="{138EFFA7-ACA8-49D1-AD70-E5F9DB696AB7}"/>
              </a:ext>
            </a:extLst>
          </p:cNvPr>
          <p:cNvSpPr>
            <a:spLocks noGrp="1"/>
          </p:cNvSpPr>
          <p:nvPr/>
        </p:nvSpPr>
        <p:spPr>
          <a:xfrm>
            <a:off x="1462547" y="4660999"/>
            <a:ext cx="811136" cy="7158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6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6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03</a:t>
            </a:r>
          </a:p>
        </p:txBody>
      </p:sp>
      <p:sp>
        <p:nvSpPr>
          <p:cNvPr id="12" name="">
            <a:extLst>
              <a:ext uri="{FF2B5EF4-FFF2-40B4-BE49-F238E27FC236}">
                <ns2:creationId id="{B732F5D9-EC73-40B9-822D-C3156AEBE916}"/>
              </a:ext>
            </a:extLst>
          </p:cNvPr>
          <p:cNvSpPr>
            <a:spLocks noGrp="1"/>
          </p:cNvSpPr>
          <p:nvPr/>
        </p:nvSpPr>
        <p:spPr>
          <a:xfrm>
            <a:off x="2498999" y="4660999"/>
            <a:ext cx="11829065" cy="5066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Snapshot refresh 加 holdout probe</a:t>
            </a:r>
          </a:p>
        </p:txBody>
      </p:sp>
      <p:sp>
        <p:nvSpPr>
          <p:cNvPr id="13" name="">
            <a:extLst>
              <a:ext uri="{FF2B5EF4-FFF2-40B4-BE49-F238E27FC236}">
                <ns2:creationId id="{4C32905F-06F2-4364-8EA4-C74C6856661B}"/>
              </a:ext>
            </a:extLst>
          </p:cNvPr>
          <p:cNvSpPr>
            <a:spLocks noGrp="1"/>
          </p:cNvSpPr>
          <p:nvPr/>
        </p:nvSpPr>
        <p:spPr>
          <a:xfrm>
            <a:off x="2498999" y="5167610"/>
            <a:ext cx="11829065" cy="49559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固定測試對手，只監控、不參與 selection</a:t>
            </a:r>
          </a:p>
        </p:txBody>
      </p:sp>
      <p:sp>
        <p:nvSpPr>
          <p:cNvPr id="14" name="">
            <a:extLst>
              <a:ext uri="{FF2B5EF4-FFF2-40B4-BE49-F238E27FC236}">
                <ns2:creationId id="{55C1E28D-5ECE-41EC-AC4C-FC7B3A7502FD}"/>
              </a:ext>
            </a:extLst>
          </p:cNvPr>
          <p:cNvSpPr>
            <a:spLocks noGrp="1"/>
          </p:cNvSpPr>
          <p:nvPr/>
        </p:nvSpPr>
        <p:spPr>
          <a:xfrm>
            <a:off x="1462547" y="5762327"/>
            <a:ext cx="811136" cy="7158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6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6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04</a:t>
            </a:r>
          </a:p>
        </p:txBody>
      </p:sp>
      <p:sp>
        <p:nvSpPr>
          <p:cNvPr id="15" name="">
            <a:extLst>
              <a:ext uri="{FF2B5EF4-FFF2-40B4-BE49-F238E27FC236}">
                <ns2:creationId id="{D8941595-6374-448A-A3FF-3C9005C59B41}"/>
              </a:ext>
            </a:extLst>
          </p:cNvPr>
          <p:cNvSpPr>
            <a:spLocks noGrp="1"/>
          </p:cNvSpPr>
          <p:nvPr/>
        </p:nvSpPr>
        <p:spPr>
          <a:xfrm>
            <a:off x="2498999" y="5762327"/>
            <a:ext cx="11829065" cy="5066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Winless plateau 診斷</a:t>
            </a:r>
          </a:p>
        </p:txBody>
      </p:sp>
      <p:sp>
        <p:nvSpPr>
          <p:cNvPr id="16" name="">
            <a:extLst>
              <a:ext uri="{FF2B5EF4-FFF2-40B4-BE49-F238E27FC236}">
                <ns2:creationId id="{2AD561F8-E158-452F-8AFD-A2CA88A78AD7}"/>
              </a:ext>
            </a:extLst>
          </p:cNvPr>
          <p:cNvSpPr>
            <a:spLocks noGrp="1"/>
          </p:cNvSpPr>
          <p:nvPr/>
        </p:nvSpPr>
        <p:spPr>
          <a:xfrm>
            <a:off x="2498999" y="6268938"/>
            <a:ext cx="11829065" cy="49559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連續多代僅有和局時，檢查攻擊能力或 mutation bias</a:t>
            </a:r>
          </a:p>
        </p:txBody>
      </p:sp>
      <p:sp>
        <p:nvSpPr>
          <p:cNvPr id="17" name="">
            <a:extLst>
              <a:ext uri="{FF2B5EF4-FFF2-40B4-BE49-F238E27FC236}">
                <ns2:creationId id="{274B5EF3-92ED-44CE-A4FC-1CE7D79E9952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待驗證：fixed anchors 是否能縮小 LightRush、HeavyRush 與 COAC 的差距</a:t>
            </a:r>
          </a:p>
        </p:txBody>
      </p:sp>
      <p:sp>
        <p:nvSpPr>
          <p:cNvPr id="2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E2DCB13-4946-40CD-BC27-8D9B9433822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</a:p>
        </p:txBody>
      </p:sp>
    </p:spTree>
    <p:extLst>
      <p:ext uri="{BB962C8B-B14F-4D97-AF65-F5344CB8AC3E}">
        <ns3:creationId val="214221460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2" name="EAGLE_0">
            <a:extLst>
              <a:ext uri="{FF2B5EF4-FFF2-40B4-BE49-F238E27FC236}">
                <ns2:creationId id="{F36BDA23-27AB-4415-AE76-D219F446A5A3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附錄 A　完整 opponent 勝場比較</a:t>
            </a:r>
          </a:p>
        </p:txBody>
      </p:sp>
      <p:sp>
        <p:nvSpPr>
          <p:cNvPr id="13" name="EAGLE_1">
            <a:extLst>
              <a:ext uri="{FF2B5EF4-FFF2-40B4-BE49-F238E27FC236}">
                <ns2:creationId id="{D3EB3E3F-4934-4B8E-B592-8282B5054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 opponent 60 場；差值為 Self-play 5×40 減 Fixed-roster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1428750" y="2381250"/>
          <a:ext cx="13068300" cy="4867870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830364"/>
                <a:gridCol w="2703786"/>
                <a:gridCol w="2365813"/>
                <a:gridCol w="2365813"/>
                <a:gridCol w="1802524"/>
              </a:tblGrid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Fixed-roster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SP 10×20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SP 5×40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差值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PassiveAI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RandomAI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59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+1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RandomBiasedAI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57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57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−30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05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Total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256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197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−59</a:t>
                      </a:r>
                    </a:p>
                  </a:txBody>
                  <a:tcPr marL="76200" marR="76200" marT="28575" marB="28575">
                    <a:solidFill>
                      <a:srgbClr val="FAEDC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7802C8B2-2854-4E92-848F-105E997F1DF3}"/>
              </a:ext>
            </a:extLst>
          </p:cNvPr>
          <p:cNvSpPr>
            <a:spLocks noGrp="1"/>
          </p:cNvSpPr>
          <p:nvPr/>
        </p:nvSpPr>
        <p:spPr>
          <a:xfrm>
            <a:off x="1451282" y="7425333"/>
            <a:ext cx="12842984" cy="37445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1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1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差額：RandomAI +1、LightRush −20、HeavyRush −30、COAC −10，合計 −59 勝。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0ED0AEA-278E-4CB2-A296-3C5A0638E77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</a:p>
        </p:txBody>
      </p:sp>
    </p:spTree>
    <p:extLst>
      <p:ext uri="{BB962C8B-B14F-4D97-AF65-F5344CB8AC3E}">
        <ns3:creationId val="1317590456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2D7B7292-8DC4-4F5E-A342-1C1294B09990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附錄 B　Run identity 與比較限制</a:t>
            </a:r>
          </a:p>
        </p:txBody>
      </p:sp>
      <p:sp>
        <p:nvSpPr>
          <p:cNvPr id="14" name="EAGLE_1">
            <a:extLst>
              <a:ext uri="{FF2B5EF4-FFF2-40B4-BE49-F238E27FC236}">
                <ns2:creationId id="{D79234BA-3C84-4E53-B9CB-E78DC3D87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 run ID 及 resolved generations / population 為準，避免 experiment_name 誤導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315170"/>
          <a:ext cx="13068300" cy="2257723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5745546"/>
                <a:gridCol w="7322754"/>
              </a:tblGrid>
              <a:tr h="5644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實驗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 ID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5644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Fixed-roster 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20260911_072610_382082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44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20260923_134743_200030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644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5×40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7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20260925_134245_911171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23A86905-7F99-4EC9-8CC6-63FC5E107EC1}"/>
              </a:ext>
            </a:extLst>
          </p:cNvPr>
          <p:cNvSpPr>
            <a:spLocks noGrp="1"/>
          </p:cNvSpPr>
          <p:nvPr/>
        </p:nvSpPr>
        <p:spPr>
          <a:xfrm>
            <a:off x="1451282" y="4958358"/>
            <a:ext cx="12955642" cy="19934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命名：兩版 self-play 的 resolved experiment_name 與配置規模相反。</a:t>
            </a:r>
          </a:p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版本：基準來自較早 repository state，尚非同 commit 的 controlled ablation。</a:t>
            </a:r>
          </a:p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恢復：10×20 完成後仍保留 snapshot mismatch failure 記錄，成本含 recovery。</a:t>
            </a:r>
          </a:p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尺度：GP 僅能在同一 snapshot 比較，跨 run 採共同 600 場 final test。</a:t>
            </a:r>
          </a:p>
        </p:txBody>
      </p:sp>
      <p:sp>
        <p:nvSpPr>
          <p:cNvPr id="7" name="">
            <a:extLst>
              <a:ext uri="{FF2B5EF4-FFF2-40B4-BE49-F238E27FC236}">
                <ns2:creationId id="{01B7765B-C417-4A4A-9946-0ABBB5D15DB9}"/>
              </a:ext>
            </a:extLst>
          </p:cNvPr>
          <p:cNvSpPr>
            <a:spLocks noGrp="1"/>
          </p:cNvSpPr>
          <p:nvPr/>
        </p:nvSpPr>
        <p:spPr>
          <a:xfrm>
            <a:off x="1428750" y="7194054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56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目前可比較外部測試結果；evaluation mode 的因果差異仍需 current-code control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177E9FA-2470-4F92-86DA-D19B6580302D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</a:p>
        </p:txBody>
      </p:sp>
    </p:spTree>
    <p:extLst>
      <p:ext uri="{BB962C8B-B14F-4D97-AF65-F5344CB8AC3E}">
        <ns3:creationId val="390033228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8CADEE8B-0AD6-4286-B263-CDBC5543E335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附錄 C　Q&amp;A 備答</a:t>
            </a:r>
          </a:p>
        </p:txBody>
      </p:sp>
      <p:sp>
        <p:nvSpPr>
          <p:cNvPr id="14" name="EAGLE_1">
            <a:extLst>
              <a:ext uri="{FF2B5EF4-FFF2-40B4-BE49-F238E27FC236}">
                <ns2:creationId id="{4285AD85-8D27-4996-BE15-0FD628D9D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外部勝率由 0% 提升至 32.8%，但尚未追上固定對手基準的 42.7%</a:t>
            </a:r>
          </a:p>
        </p:txBody>
      </p:sp>
      <p:sp>
        <p:nvSpPr>
          <p:cNvPr id="5" name="">
            <a:extLst>
              <a:ext uri="{FF2B5EF4-FFF2-40B4-BE49-F238E27FC236}">
                <ns2:creationId id="{98AA7495-14B0-4BDC-BA43-B93BB8A78C57}"/>
              </a:ext>
            </a:extLst>
          </p:cNvPr>
          <p:cNvSpPr>
            <a:spLocks noGrp="1"/>
          </p:cNvSpPr>
          <p:nvPr/>
        </p:nvSpPr>
        <p:spPr>
          <a:xfrm>
            <a:off x="1451282" y="2458343"/>
            <a:ext cx="12955642" cy="48458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為什麼 5×40 較好？</a:t>
            </a:r>
          </a:p>
        </p:txBody>
      </p:sp>
      <p:sp>
        <p:nvSpPr>
          <p:cNvPr id="6" name="">
            <a:extLst>
              <a:ext uri="{FF2B5EF4-FFF2-40B4-BE49-F238E27FC236}">
                <ns2:creationId id="{A02DEB6E-C0FB-4103-8CCC-E8EE5773A590}"/>
              </a:ext>
            </a:extLst>
          </p:cNvPr>
          <p:cNvSpPr>
            <a:spLocks noGrp="1"/>
          </p:cNvSpPr>
          <p:nvPr/>
        </p:nvSpPr>
        <p:spPr>
          <a:xfrm>
            <a:off x="1451282" y="2953941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G17 補上主動追擊，是目前 artifact 支持的機制解釋；尚需同 seed ablation。</a:t>
            </a:r>
          </a:p>
        </p:txBody>
      </p:sp>
      <p:sp>
        <p:nvSpPr>
          <p:cNvPr id="7" name="">
            <a:extLst>
              <a:ext uri="{FF2B5EF4-FFF2-40B4-BE49-F238E27FC236}">
                <ns2:creationId id="{11BBC827-D179-49B6-A397-D7EF06B48AD0}"/>
              </a:ext>
            </a:extLst>
          </p:cNvPr>
          <p:cNvSpPr>
            <a:spLocks noGrp="1"/>
          </p:cNvSpPr>
          <p:nvPr/>
        </p:nvSpPr>
        <p:spPr>
          <a:xfrm>
            <a:off x="1451282" y="3680817"/>
            <a:ext cx="12955642" cy="48458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為什麼 fixed-roster 仍較好？</a:t>
            </a:r>
          </a:p>
        </p:txBody>
      </p:sp>
      <p:sp>
        <p:nvSpPr>
          <p:cNvPr id="8" name="">
            <a:extLst>
              <a:ext uri="{FF2B5EF4-FFF2-40B4-BE49-F238E27FC236}">
                <ns2:creationId id="{FC89E545-4F47-4D8E-A252-152A5215A2D5}"/>
              </a:ext>
            </a:extLst>
          </p:cNvPr>
          <p:cNvSpPr>
            <a:spLocks noGrp="1"/>
          </p:cNvSpPr>
          <p:nvPr/>
        </p:nvSpPr>
        <p:spPr>
          <a:xfrm>
            <a:off x="1451282" y="4176415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固定對手可能提供持續的外部能力壓力；版本差異與此解釋尚未拆開驗證。</a:t>
            </a:r>
          </a:p>
        </p:txBody>
      </p:sp>
      <p:sp>
        <p:nvSpPr>
          <p:cNvPr id="9" name="">
            <a:extLst>
              <a:ext uri="{FF2B5EF4-FFF2-40B4-BE49-F238E27FC236}">
                <ns2:creationId id="{2AEF3443-4890-4F11-BA59-9C966462020B}"/>
              </a:ext>
            </a:extLst>
          </p:cNvPr>
          <p:cNvSpPr>
            <a:spLocks noGrp="1"/>
          </p:cNvSpPr>
          <p:nvPr/>
        </p:nvSpPr>
        <p:spPr>
          <a:xfrm>
            <a:off x="1451282" y="4903291"/>
            <a:ext cx="12955642" cy="48458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可以直接比較三個 run 的 GP 嗎？</a:t>
            </a:r>
          </a:p>
        </p:txBody>
      </p:sp>
      <p:sp>
        <p:nvSpPr>
          <p:cNvPr id="10" name="">
            <a:extLst>
              <a:ext uri="{FF2B5EF4-FFF2-40B4-BE49-F238E27FC236}">
                <ns2:creationId id="{605F09BF-C2AA-4DB5-856F-F68EE0688D34}"/>
              </a:ext>
            </a:extLst>
          </p:cNvPr>
          <p:cNvSpPr>
            <a:spLocks noGrp="1"/>
          </p:cNvSpPr>
          <p:nvPr/>
        </p:nvSpPr>
        <p:spPr>
          <a:xfrm>
            <a:off x="1451282" y="5398889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不可以。Evaluation context 與 snapshot 不同，應使用共同 final test 的 W/D/L。</a:t>
            </a:r>
          </a:p>
        </p:txBody>
      </p:sp>
      <p:sp>
        <p:nvSpPr>
          <p:cNvPr id="11" name="">
            <a:extLst>
              <a:ext uri="{FF2B5EF4-FFF2-40B4-BE49-F238E27FC236}">
                <ns2:creationId id="{4A8D669C-C2B4-4552-A269-B81AB2953F5C}"/>
              </a:ext>
            </a:extLst>
          </p:cNvPr>
          <p:cNvSpPr>
            <a:spLocks noGrp="1"/>
          </p:cNvSpPr>
          <p:nvPr/>
        </p:nvSpPr>
        <p:spPr>
          <a:xfrm>
            <a:off x="1451282" y="6125766"/>
            <a:ext cx="12955642" cy="48458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下一個最重要的實驗？</a:t>
            </a:r>
          </a:p>
        </p:txBody>
      </p:sp>
      <p:sp>
        <p:nvSpPr>
          <p:cNvPr id="12" name="">
            <a:extLst>
              <a:ext uri="{FF2B5EF4-FFF2-40B4-BE49-F238E27FC236}">
                <ns2:creationId id="{7187A20C-983F-4097-A787-0DD32C21FEC2}"/>
              </a:ext>
            </a:extLst>
          </p:cNvPr>
          <p:cNvSpPr>
            <a:spLocks noGrp="1"/>
          </p:cNvSpPr>
          <p:nvPr/>
        </p:nvSpPr>
        <p:spPr>
          <a:xfrm>
            <a:off x="1451282" y="6621363"/>
            <a:ext cx="12955642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先跑 current-code fixed-roster control，再測試 5×40 self-play 加 fixed anchors。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833A739-95BA-48CA-BF2E-42C849CCDBE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</a:p>
        </p:txBody>
      </p:sp>
    </p:spTree>
    <p:extLst>
      <p:ext uri="{BB962C8B-B14F-4D97-AF65-F5344CB8AC3E}">
        <ns3:creationId val="1237298975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14333</Words>
  <Application>Microsoft Office PowerPoint</Application>
  <DocSecurity>0</DocSecurity>
  <PresentationFormat>自訂</PresentationFormat>
  <Paragraphs>1854</Paragraphs>
  <Slides>1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7" baseType="lpstr">
      <vt:lpstr>Source Han Serif TW</vt:lpstr>
      <vt:lpstr>Times New Roman</vt:lpstr>
      <vt:lpstr>ChatGPT</vt:lpstr>
      <vt:lpstr>EAGLE 研究進展</vt:lpstr>
      <vt:lpstr>這段時間改了什麼</vt:lpstr>
      <vt:lpstr>09/04 改版的核心</vt:lpstr>
      <vt:lpstr>EAGLE 目前完整流程</vt:lpstr>
      <vt:lpstr>EAGLE 演化的對象</vt:lpstr>
      <vt:lpstr>初始 Policy 的歷史比較</vt:lpstr>
      <vt:lpstr>本期的初始族群配置</vt:lpstr>
      <vt:lpstr>三種 Operator 選擇模式</vt:lpstr>
      <vt:lpstr>三種 Reflection 的責任邊界</vt:lpstr>
      <vt:lpstr>實驗分成四個階段</vt:lpstr>
      <vt:lpstr>實驗一：同一父代、三種反思</vt:lpstr>
      <vt:lpstr>實驗一：8 / 9 次成功套用</vt:lpstr>
      <vt:lpstr>實驗一：各次 trial 暴露的問題</vt:lpstr>
      <vt:lpstr>實驗二：補規則後仍有錯誤</vt:lpstr>
      <vt:lpstr>實驗二：Strategy 的三個變體</vt:lpstr>
      <vt:lpstr>實驗二：Code 與 Balance 的問題</vt:lpstr>
      <vt:lpstr>實驗三：用上游子代驗證 Compliance</vt:lpstr>
      <vt:lpstr>實驗三：10 / 12 次安全套用</vt:lpstr>
      <vt:lpstr>實驗三：兩次拒絕與後續修補</vt:lpstr>
      <vt:lpstr>實驗四：三種固定比例</vt:lpstr>
      <vt:lpstr>比例實驗的整體結果</vt:lpstr>
      <vt:lpstr>每代生存者的平均 GP</vt:lpstr>
      <vt:lpstr>600 場 Final Test 的 champion 結果</vt:lpstr>
      <vt:lpstr>可靠度與 LLM 成本</vt:lpstr>
      <vt:lpstr>09/07 的 AOS 設定與比較限制</vt:lpstr>
      <vt:lpstr>本次總結</vt:lpstr>
      <vt:lpstr>0907 後更新：版本時間軸</vt:lpstr>
      <vt:lpstr>V1–V3：評估設定與執行索引</vt:lpstr>
      <vt:lpstr>V4：每代分成三個階段</vt:lpstr>
      <vt:lpstr>V4：模型職責可以分開</vt:lpstr>
      <vt:lpstr>V4：反思與修碼可分開追蹤</vt:lpstr>
      <vt:lpstr>V4：單模型與雙模型比較設定</vt:lpstr>
      <vt:lpstr>V5 整合與本次更新重點</vt:lpstr>
      <vt:lpstr>Evolutionary Agent Generation through LLM-guided Exploration: A Case Study on MicroRTS  大型語言模型引導探索的演化式代理生成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EAGLE</dc:title>
  <dc:creator>Walnut Exporter</dc:creator>
  <cp:lastModifiedBy>Sophie Lien</cp:lastModifiedBy>
  <cp:revision>2</cp:revision>
  <dcterms:created xsi:type="dcterms:W3CDTF">2026-09-09T05:14:55Z</dcterms:created>
  <dcterms:modified xsi:type="dcterms:W3CDTF">2026-09-09T05:21:08Z</dcterms:modified>
</cp:coreProperties>
</file>