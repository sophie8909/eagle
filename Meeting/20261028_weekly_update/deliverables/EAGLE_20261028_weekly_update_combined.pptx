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rts/chart10.xml" ContentType="application/vnd.openxmlformats-officedocument.drawingml.chart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rts/chart11.xml" ContentType="application/vnd.openxmlformats-officedocument.drawingml.chart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60" r:id="rId4"/>
    <p:sldId id="301" r:id="rId5"/>
    <p:sldId id="304" r:id="rId6"/>
    <p:sldId id="30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5" r:id="rId46"/>
    <p:sldId id="306" r:id="rId47"/>
    <p:sldId id="258" r:id="rId48"/>
    <p:sldId id="259" r:id="rId49"/>
    <p:sldId id="307" r:id="rId50"/>
    <p:sldId id="261" r:id="rId51"/>
    <p:sldId id="262" r:id="rId52"/>
    <p:sldId id="308" r:id="rId53"/>
    <p:sldId id="309" r:id="rId54"/>
    <p:sldId id="310" r:id="rId55"/>
    <p:sldId id="311" r:id="rId56"/>
    <p:sldId id="312" r:id="rId57"/>
  </p:sldIdLst>
  <p:sldSz cx="15925800" cy="896302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E-4E42-9C5B-399B6406C530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E-4E42-9C5B-399B6406C5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-1.3601799999999999</c:v>
                </c:pt>
                <c:pt idx="2">
                  <c:v>6.1837340000000003</c:v>
                </c:pt>
                <c:pt idx="3">
                  <c:v>5.1238979999999996</c:v>
                </c:pt>
                <c:pt idx="4">
                  <c:v>5.5920040000000002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B2-41BC-8518-318DA86F8D9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-57.338081000000003</c:v>
                </c:pt>
                <c:pt idx="1">
                  <c:v>-1.1078809999999999</c:v>
                </c:pt>
                <c:pt idx="2">
                  <c:v>5.6429869999999998</c:v>
                </c:pt>
                <c:pt idx="3">
                  <c:v>5.7164869999999999</c:v>
                </c:pt>
                <c:pt idx="4">
                  <c:v>-3.3417479999999999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B2-41BC-8518-318DA86F8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-71.713680999999994</c:v>
                </c:pt>
                <c:pt idx="1">
                  <c:v>-58.546765000000001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CF-4331-9AB4-A580810D3B9F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-71.712625000000003</c:v>
                </c:pt>
                <c:pt idx="1">
                  <c:v>-58.571534999999997</c:v>
                </c:pt>
                <c:pt idx="2">
                  <c:v>-19.243351000000001</c:v>
                </c:pt>
                <c:pt idx="3">
                  <c:v>22.495612000000001</c:v>
                </c:pt>
                <c:pt idx="4">
                  <c:v>22.999510000000001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CF-4331-9AB4-A580810D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-70.591722000000004</c:v>
                </c:pt>
                <c:pt idx="1">
                  <c:v>-49.131152</c:v>
                </c:pt>
                <c:pt idx="2">
                  <c:v>-41.481330999999997</c:v>
                </c:pt>
                <c:pt idx="3">
                  <c:v>-14.999245999999999</c:v>
                </c:pt>
                <c:pt idx="4">
                  <c:v>-32.036904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B-4D56-9F4C-41F72D6C0388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-70.590024999999997</c:v>
                </c:pt>
                <c:pt idx="1">
                  <c:v>-49.136225000000003</c:v>
                </c:pt>
                <c:pt idx="2">
                  <c:v>-41.492792000000001</c:v>
                </c:pt>
                <c:pt idx="3">
                  <c:v>-15.00325</c:v>
                </c:pt>
                <c:pt idx="4">
                  <c:v>-32.033214000000001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7B-4D56-9F4C-41F72D6C0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-69.303635999999997</c:v>
                </c:pt>
                <c:pt idx="1">
                  <c:v>4.5859209999999999</c:v>
                </c:pt>
                <c:pt idx="2">
                  <c:v>24.209648000000001</c:v>
                </c:pt>
                <c:pt idx="3">
                  <c:v>22.449908000000001</c:v>
                </c:pt>
                <c:pt idx="4">
                  <c:v>10.988061999999999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0-48FE-BCFA-48BAD51E510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-69.299691999999993</c:v>
                </c:pt>
                <c:pt idx="1">
                  <c:v>7.34023</c:v>
                </c:pt>
                <c:pt idx="2">
                  <c:v>20.632829999999998</c:v>
                </c:pt>
                <c:pt idx="3">
                  <c:v>24.229255999999999</c:v>
                </c:pt>
                <c:pt idx="4">
                  <c:v>13.117691000000001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0-48FE-BCFA-48BAD51E5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-70.456542999999996</c:v>
                </c:pt>
                <c:pt idx="1">
                  <c:v>9.5429999999999994E-3</c:v>
                </c:pt>
                <c:pt idx="2">
                  <c:v>9.6784199999999991</c:v>
                </c:pt>
                <c:pt idx="3">
                  <c:v>23.497714999999999</c:v>
                </c:pt>
                <c:pt idx="4">
                  <c:v>6.7605069999999996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EB-4BDA-B688-430C79F1C90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-70.450811999999999</c:v>
                </c:pt>
                <c:pt idx="1">
                  <c:v>6.855E-3</c:v>
                </c:pt>
                <c:pt idx="2">
                  <c:v>12.554926999999999</c:v>
                </c:pt>
                <c:pt idx="3">
                  <c:v>24.649235000000001</c:v>
                </c:pt>
                <c:pt idx="4">
                  <c:v>8.5607469999999992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B-4BDA-B688-430C79F1C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-70.967267000000007</c:v>
                </c:pt>
                <c:pt idx="1">
                  <c:v>-11.476352</c:v>
                </c:pt>
                <c:pt idx="2">
                  <c:v>-2.7987700000000002</c:v>
                </c:pt>
                <c:pt idx="3">
                  <c:v>-5.8546240000000003</c:v>
                </c:pt>
                <c:pt idx="4">
                  <c:v>18.267322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B-42AA-AF02-F8F54793138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-70.964789999999994</c:v>
                </c:pt>
                <c:pt idx="1">
                  <c:v>-11.474717999999999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B-42AA-AF02-F8F547931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>
              <a:srgbClr val="CF879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32.333300000000001</c:v>
                </c:pt>
                <c:pt idx="1">
                  <c:v>31.166699999999999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0-46CD-8EDD-457A82A53E0F}"/>
            </c:ext>
          </c:extLst>
        </c:ser>
        <c:ser>
          <c:idx val="1"/>
          <c:order val="1"/>
          <c:tx>
            <c:v>和 D</c:v>
          </c:tx>
          <c:spPr>
            <a:solidFill>
              <a:srgbClr val="FAEDC6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10-46CD-8EDD-457A82A53E0F}"/>
            </c:ext>
          </c:extLst>
        </c:ser>
        <c:ser>
          <c:idx val="2"/>
          <c:order val="2"/>
          <c:tx>
            <c:v>敗 L</c:v>
          </c:tx>
          <c:spPr>
            <a:solidFill>
              <a:srgbClr val="47171C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63.444400000000002</c:v>
                </c:pt>
                <c:pt idx="1">
                  <c:v>64.722200000000001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10-46CD-8EDD-457A82A53E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3-4C2C-9B23-5DD8E251EA03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73-4C2C-9B23-5DD8E251EA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Mean Best Fitness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Seed 8 (2/2)</c:v>
                </c:pt>
                <c:pt idx="1">
                  <c:v>Seed 9 (1/1)</c:v>
                </c:pt>
                <c:pt idx="2">
                  <c:v>Seed 10 (1/1)</c:v>
                </c:pt>
                <c:pt idx="3">
                  <c:v>Seed 11 (1/3)</c:v>
                </c:pt>
                <c:pt idx="4">
                  <c:v>Seed 12 (1/1)</c:v>
                </c:pt>
                <c:pt idx="5">
                  <c:v>Seed 13 (1/1)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1.272</c:v>
                </c:pt>
                <c:pt idx="1">
                  <c:v>25.733000000000001</c:v>
                </c:pt>
                <c:pt idx="2">
                  <c:v>-32.036999999999999</c:v>
                </c:pt>
                <c:pt idx="3">
                  <c:v>10.988</c:v>
                </c:pt>
                <c:pt idx="4">
                  <c:v>6.7610000000000001</c:v>
                </c:pt>
                <c:pt idx="5">
                  <c:v>18.266999999999999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B6-4424-B58A-BFE141FBFDF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Mean Best Fitness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上批 Local</c:v>
          </c:tx>
          <c:spPr>
            <a:solidFill>
              <a:srgbClr val="CF8792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Seed 8</c:v>
                </c:pt>
                <c:pt idx="1">
                  <c:v>Seed 9</c:v>
                </c:pt>
                <c:pt idx="2">
                  <c:v>Seed 10</c:v>
                </c:pt>
                <c:pt idx="3">
                  <c:v>Seed 11</c:v>
                </c:pt>
                <c:pt idx="4">
                  <c:v>Seed 12</c:v>
                </c:pt>
                <c:pt idx="5">
                  <c:v>Seed 13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2.8819439999999998</c:v>
                </c:pt>
                <c:pt idx="1">
                  <c:v>3.4049999999999998</c:v>
                </c:pt>
                <c:pt idx="2">
                  <c:v>4.8227779999999996</c:v>
                </c:pt>
                <c:pt idx="3">
                  <c:v>3.150833</c:v>
                </c:pt>
                <c:pt idx="4">
                  <c:v>2.8636110000000001</c:v>
                </c:pt>
                <c:pt idx="5">
                  <c:v>3.4747219999999999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01-41F1-B326-5E4FDB0883AF}"/>
            </c:ext>
          </c:extLst>
        </c:ser>
        <c:ser>
          <c:idx val="1"/>
          <c:order val="1"/>
          <c:tx>
            <c:v>本批 Local（10/22）</c:v>
          </c:tx>
          <c:spPr>
            <a:solidFill>
              <a:srgbClr val="47171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Seed 8</c:v>
                </c:pt>
                <c:pt idx="1">
                  <c:v>Seed 9</c:v>
                </c:pt>
                <c:pt idx="2">
                  <c:v>Seed 10</c:v>
                </c:pt>
                <c:pt idx="3">
                  <c:v>Seed 11</c:v>
                </c:pt>
                <c:pt idx="4">
                  <c:v>Seed 12</c:v>
                </c:pt>
                <c:pt idx="5">
                  <c:v>Seed 13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3.3077779999999999</c:v>
                </c:pt>
                <c:pt idx="1">
                  <c:v>3.8933330000000002</c:v>
                </c:pt>
                <c:pt idx="2">
                  <c:v>5.431667</c:v>
                </c:pt>
                <c:pt idx="3">
                  <c:v>3.6383329999999998</c:v>
                </c:pt>
                <c:pt idx="4">
                  <c:v>3.3844439999999998</c:v>
                </c:pt>
                <c:pt idx="5">
                  <c:v>3.9375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01-41F1-B326-5E4FDB0883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Search wall time (hours)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</c:plotArea>
    <c:legend>
      <c:legendPos val="b"/>
      <c:overlay val="0"/>
      <c:txPr>
        <a:bodyPr anchorCtr="1"/>
        <a:lstStyle/>
        <a:p>
          <a:pPr>
            <a:defRPr sz="180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>
            <a:endParaRPr/>
          </a:p>
          <a:p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>
            <a:endParaRPr/>
          </a:p>
          <a:p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>
            <a:endParaRPr/>
          </a:p>
          <a:p>
            <a:r>
              <a:t>程式來源：eagle/generation/framework_slots.py:304-340、445-470。worker_target 實例來源：configs/framework_bundles/fixed_worker_combat/bundle.json。</a:t>
            </a:r>
          </a:p>
          <a:p>
            <a:endParaRPr/>
          </a:p>
          <a:p>
            <a:r>
              <a:t>版本截點：2026-10-21。程式版本：fcc8b770。</a:t>
            </a:r>
          </a:p>
          <a:p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docs/architecture/framework_slots.md:24-75</a:t>
            </a:r>
          </a:p>
          <a:p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模式先依凍結 bundle 的合法槽位範圍，為 G0 每位候選採樣完整 control_genome。後續交配對每個槽位獨立選取父代 A 或 B 的值。若指派突變，選一個有替代值的槽位，改成不同的合法值；沒有可變槽位時維持原值。完整基因通過驗證後填入固定 Java 模板，再進行驗證、編譯、Integration、語意探針及 MicroRTS 評估。local 演化不呼叫候選階段 LLM。來源：docs/architecture/framework_slots.md:15-22；eagle/generation/framework_slots.py:267-340；eagle/operators/framework_slots.py:65-200。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9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本頁對應新 config：configs/experiments/1022_framework_coach50_traditional50_20x10_seed8_13_1run/qwen3_5_9b_framework_coach50_traditional50_20x10_seed8_13_1run.yaml。framework.evolution_mode=llm_coach，coach_offspring_probability=0.5。G0 沿用 Coach 模式，為每位候選選完整合法基因並評估。後續每位子代先從當代已評估族群選父代 A，再用獨立 seeded RNG 決定生成路徑。Coach 路徑只複製父代 A 的完整基因，取父代 A 恰好一場最差已完成對戰交給 Match Commentator，Coach 收到賽評與父代全場摘要後回傳完整合法基因。此路徑不選父代 B、不交配、不做 local 突變，且不受 mutation_rate 控制。傳統路徑再選父代 B，保留原有 crossover_rate=0.75 的逐槽交配或複製，並依 mutation_rate=1.0 進行最多一槽的 local 突變。兩路共用固定 Java 渲染、驗證、編譯、Integration、語意探針與對手池對戰、父子代倖存選擇及後續 pool 更新與快照刷新重評。搜尋結束後執行獨立固定基準 Final Test。50/50 是依種子可重現的機率，不保證每代固定五名對五名。Coach 回覆不合法時保留原基因並標記 reflection 失敗，不會改走傳統路徑。既有簡報結果仍為 local，尚未執行此新 config。來源：eagle/evolution/offspring.py 的 _iter_framework_slot_offspring；docs/architecture/framework_slots.md；實作提交 4f37f5f6。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457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 Pool 譯為對手池，保存可供評估候選的對手，不是繁殖族群或繁殖父代集合。初始池包含全部十個內建對手；AllInBot、Mayari、COAC、TMA 為固定保護成員，不能被入池賽替換。G0 評估完的初代及之後各代評估完的子代，經 candidate ID、source 與語意 phenotype 去重後才有資格入池；因此策略來源跨越歷代，並非只保留當代十位。池未滿時加入；本次容量 50 含四個保護成員。滿池時，新策略挑戰一個依種子選出的非保護成員，三地圖、三回合、雙邊共十八場；新策略勝場嚴格多於敗場才替換，平手留原成員。G0 對全部十個內建對手；後續 G1、G6、G11…保留四個固定保護成員，再從池內非保護成員抽六名並凍結成十人對戰名單，每名候選進行 180 場評估。名單在刷新前固定；池更新不會立即改變已凍結名單。對手名單刷新後，繁殖前先重評父代。來源：docs/eagle_architecture_spec.md:460-496；eagle/opponent_pool.py:23-211；eagle/evolution/search.py:158-189；configs/experiments/1021_rich_framework_stability_20x10_seed8_13_1run/qwen3_5_9b_rich_framework_stability_20x10_seed8_13_1run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43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此頁說明演化族群的繁殖父代選擇。父代提供基因，對手池提供對戰對手，兩者來源與用途不同。</a:t>
            </a:r>
          </a:p>
          <a:p>
            <a:endParaRPr lang="zh-TW" altLang="en-US"/>
          </a:p>
          <a:p>
            <a:r>
              <a:rPr lang="zh-TW" altLang="en-US"/>
              <a:t>繁殖父代來自目前 </a:t>
            </a:r>
            <a:r>
              <a:rPr lang="en-US"/>
              <a:t>population，</a:t>
            </a:r>
            <a:r>
              <a:rPr lang="zh-TW" altLang="en-US"/>
              <a:t>與用來提供評估對手的歷史 對手池 分開。使用單一 </a:t>
            </a:r>
            <a:r>
              <a:rPr lang="en-US"/>
              <a:t>Game Performance fitness；</a:t>
            </a:r>
            <a:r>
              <a:rPr lang="zh-TW" altLang="en-US"/>
              <a:t>從目前最高分往下 </a:t>
            </a:r>
            <a:r>
              <a:rPr lang="en-US"/>
              <a:t>tolerance </a:t>
            </a:r>
            <a:r>
              <a:rPr lang="zh-TW" altLang="en-US"/>
              <a:t>以內形成頂層，預設 </a:t>
            </a:r>
            <a:r>
              <a:rPr lang="en-US"/>
              <a:t>tolerance=1.0 </a:t>
            </a:r>
            <a:r>
              <a:rPr lang="zh-TW" altLang="en-US"/>
              <a:t>且包含邊界，不採相鄰分數串連。第一父代以 </a:t>
            </a:r>
            <a:r>
              <a:rPr lang="en-US"/>
              <a:t>seeded RNG </a:t>
            </a:r>
            <a:r>
              <a:rPr lang="zh-TW" altLang="en-US"/>
              <a:t>從有完整語意簽章者抽樣；若沒有完整簽章則從頂層候選抽樣。第二父代以第一父代為參照，優先選相容動作簽章距離最大者，距離相同時 </a:t>
            </a:r>
            <a:r>
              <a:rPr lang="en-US"/>
              <a:t>seeded </a:t>
            </a:r>
            <a:r>
              <a:rPr lang="zh-TW" altLang="en-US"/>
              <a:t>抽樣；沒有可比資料時保留 </a:t>
            </a:r>
            <a:r>
              <a:rPr lang="en-US"/>
              <a:t>fallback。</a:t>
            </a:r>
            <a:r>
              <a:rPr lang="zh-TW" altLang="en-US"/>
              <a:t>兩次選擇沒有強制父代 </a:t>
            </a:r>
            <a:r>
              <a:rPr lang="en-US"/>
              <a:t>ID </a:t>
            </a:r>
            <a:r>
              <a:rPr lang="zh-TW" altLang="en-US"/>
              <a:t>相異。</a:t>
            </a:r>
          </a:p>
          <a:p>
            <a:endParaRPr lang="zh-TW" altLang="en-US"/>
          </a:p>
          <a:p>
            <a:r>
              <a:rPr lang="zh-TW" altLang="en-US"/>
              <a:t>來源：</a:t>
            </a:r>
            <a:r>
              <a:rPr lang="en-US"/>
              <a:t>eagle/operators/selection.py:42-68、200-215、245-282；eagle/evolution/offspring.py:91-119。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>
            <a:endParaRPr/>
          </a:p>
          <a:p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docs/eagle_architecture_spec.md:216-223</a:t>
            </a:r>
          </a:p>
          <a:p>
            <a:r>
              <a:t>eagle/operators/crossover.py:1-170</a:t>
            </a:r>
          </a:p>
          <a:p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docs/eagle_architecture_spec.md:49-78</a:t>
            </a:r>
          </a:p>
          <a:p>
            <a:r>
              <a:t>eagle/operators/code.py:29-180</a:t>
            </a:r>
          </a:p>
          <a:p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eagle/operators/strategy.py:202-447</a:t>
            </a:r>
          </a:p>
          <a:p>
            <a:r>
              <a:t>eagle/operators/strategy.py:576-865</a:t>
            </a:r>
          </a:p>
          <a:p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eagle/operators/strategy.py:1222-1308</a:t>
            </a:r>
          </a:p>
          <a:p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docs/eagle_architecture_spec.md:277-309</a:t>
            </a:r>
          </a:p>
          <a:p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docs/eagle_architecture_spec.md:313-405</a:t>
            </a:r>
          </a:p>
          <a:p>
            <a:r>
              <a:t>docs/eagle_architecture_spec.md:700-820</a:t>
            </a:r>
          </a:p>
          <a:p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docs/eagle_architecture_spec.md:350-405</a:t>
            </a:r>
          </a:p>
          <a:p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docs/eagle_architecture_spec.md:378-424</a:t>
            </a:r>
          </a:p>
          <a:p>
            <a:r>
              <a:t>eagle/generation/java_agent_generator.py:256-329</a:t>
            </a:r>
          </a:p>
          <a:p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>
            <a:endParaRPr/>
          </a:p>
          <a:p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>
            <a:endParaRPr/>
          </a:p>
          <a:p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>
            <a:endParaRPr/>
          </a:p>
          <a:p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docs/eagle_architecture_spec.md:461-481</a:t>
            </a:r>
          </a:p>
          <a:p>
            <a:r>
              <a:t>eagle/opponent_pool.py:22-35</a:t>
            </a:r>
          </a:p>
          <a:p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eagle/evolution/search.py:208-219</a:t>
            </a:r>
          </a:p>
          <a:p>
            <a:r>
              <a:t>eagle/evolution/generation.py:254-262</a:t>
            </a:r>
          </a:p>
          <a:p>
            <a:r>
              <a:t>eagle/opponent_pool.py:162-219</a:t>
            </a:r>
          </a:p>
          <a:p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docs/eagle_architecture_spec.md:482-511</a:t>
            </a:r>
          </a:p>
          <a:p>
            <a:r>
              <a:t>eagle/opponent_pool.py:136-159</a:t>
            </a:r>
          </a:p>
          <a:p>
            <a:r>
              <a:t>eagle/self_play.py:24-79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>
            <a:endParaRPr/>
          </a:p>
          <a:p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>
            <a:endParaRPr/>
          </a:p>
          <a:p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>
            <a:endParaRPr/>
          </a:p>
          <a:p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docs/eagle_architecture_spec.md:350-424</a:t>
            </a:r>
          </a:p>
          <a:p>
            <a:r>
              <a:t>docs/evaluation/game_performance.md:33-40</a:t>
            </a:r>
          </a:p>
          <a:p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eagle/run_artifacts.py:160-197</a:t>
            </a:r>
          </a:p>
          <a:p>
            <a:r>
              <a:t>eagle/run_artifacts.py:363-375</a:t>
            </a:r>
          </a:p>
          <a:p>
            <a:r>
              <a:t>docs/artifacts/artifact_schema.md:37-92</a:t>
            </a:r>
          </a:p>
          <a:p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eagle/evolution/resume.py:1-150</a:t>
            </a:r>
          </a:p>
          <a:p>
            <a:r>
              <a:t>eagle/run_artifacts.py:686-703</a:t>
            </a:r>
          </a:p>
          <a:p>
            <a:r>
              <a:t>docs/eagle_architecture_spec.md:162-215</a:t>
            </a:r>
          </a:p>
          <a:p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eagle/config.py:863-879</a:t>
            </a:r>
          </a:p>
          <a:p>
            <a:r>
              <a:t>eagle/experiment.py:355-540</a:t>
            </a:r>
          </a:p>
          <a:p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docs/eagle_architecture_spec.md:162-215</a:t>
            </a:r>
          </a:p>
          <a:p>
            <a:r>
              <a:t>eagle/evaluation/determinism.py:1-170</a:t>
            </a:r>
          </a:p>
          <a:p>
            <a:r>
              <a:t>eagle/execution.py:14-68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>
            <a:endParaRPr/>
          </a:p>
          <a:p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docs/evaluation/evaluation_pipeline.md:160-166</a:t>
            </a:r>
          </a:p>
          <a:p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docs/evaluation/game_performance.md:42-57</a:t>
            </a:r>
          </a:p>
          <a:p>
            <a:r>
              <a:t>docs/artifacts/timing_schema.md:1-65</a:t>
            </a:r>
          </a:p>
          <a:p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docs/implementation/current_status.md:42-66</a:t>
            </a:r>
          </a:p>
          <a:p>
            <a:r>
              <a:t>docs/architecture/evolutionary_flow.md:169-200</a:t>
            </a:r>
          </a:p>
          <a:p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configs/framework_coach.yaml:1-98</a:t>
            </a:r>
          </a:p>
          <a:p>
            <a:r>
              <a:t>eagle/config.py:580-658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模式：framework_slots / local；population 10；G1–20；self_play / tournament-v1；搜尋 180 場／candidate；Final Test 600 場／run。</a:t>
            </a:r>
          </a:p>
          <a:p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population best、population mean、population sd、semantic unique。</a:t>
            </a:r>
          </a:p>
          <a:p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各世代 population best；世代為 G0、G5、G10、G15、G20。</a:t>
            </a:r>
          </a:p>
          <a:p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Final Test：10 opponents × 3 maps × 10 games/side = 600 matches/run。W=勝、D=和、L=負、E=錯誤；勝率=勝／總場數。</a:t>
            </a:r>
          </a:p>
          <a:p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兩批各 seed 8–13；每個對手為 6 runs × 60 matches = 360 matches。</a:t>
            </a:r>
          </a:p>
          <a:p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semantic unique；population 10；三張地圖 × 三個階段。</a:t>
            </a:r>
          </a:p>
          <a:p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來源：source_report.md，§1–2。2026/10/22–10/28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9254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來源：source_report.md，§1、3、5、7。2026/10/22–10/28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16479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來源：source_report.md，§2.1、2.4–2.5、3.6。2026/10/22–10/28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25232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來源：source_report.md，§2.1。2026/10/22–10/28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6521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來源：source_report.md，§2.2。2026/10/22–10/28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1229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來源：source_report.md，§2.4。2026/10/22–10/28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4044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來源：source_report.md，§2.5、5.3。2026/10/22–10/28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9018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來源：source_report.md，§3.1–3.6。2026/10/22–10/28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89838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來源：source_report.md，§4.1–4.2。2026/10/22–10/28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93971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來源：source_report.md，§4.1–4.2。2026/10/22–10/28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35672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來源：source_report.md，原簡報 p38、p44；附件 §3、4。2026/10/22–10/28 整理；結果為 10/24 歷史索引快照。沿用 EAGLE_20261022_opponent_pool_data_only.pptx 版型。</a:t>
            </a:r>
          </a:p>
          <a:p>
            <a:r>
              <a:t>歷史基準來源：EAGLE_20261022_opponent_pool_data_only.pptx，第 38、44 頁。搜尋 wall（秒）：上批 [10375,12258,17362,11343,10309,12509]；本批 [11908,14016,19554,13098,12184,14175]。原始標籤為上批／本批，未提供精確啟動日。每批完成 6/6 G20 及 6×600 Final Test；兩批均為 frozen local，不是 nearest／reflection。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3161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來源：source_report.md，§6–8。2026/10/22–10/28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166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圖解流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選項與對應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矩陣與規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結果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較與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時間與證據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Pr>
        <a:blipFill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flipV="1">
            <a:off x="7667625" y="2705100"/>
            <a:ext cx="0" cy="33909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flipH="1">
            <a:off x="10810875" y="4895850"/>
            <a:ext cx="2238375" cy="1200150"/>
          </a:xfrm>
          <a:prstGeom prst="bentConnector5">
            <a:avLst>
              <a:gd name="adj1" fmla="val 0"/>
              <a:gd name="adj2" fmla="val 19048"/>
              <a:gd name="adj3" fmla="val 89787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810875" y="2705100"/>
            <a:ext cx="666750" cy="16954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noGrp="1"/>
          </p:cNvSpPr>
          <p:nvPr/>
        </p:nvSpPr>
        <p:spPr>
          <a:xfrm>
            <a:off x="7667625" y="22098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noGrp="1"/>
          </p:cNvSpPr>
          <p:nvPr/>
        </p:nvSpPr>
        <p:spPr>
          <a:xfrm>
            <a:off x="11477625" y="39052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noGrp="1"/>
          </p:cNvSpPr>
          <p:nvPr/>
        </p:nvSpPr>
        <p:spPr>
          <a:xfrm>
            <a:off x="11477625" y="25527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noGrp="1"/>
          </p:cNvSpPr>
          <p:nvPr/>
        </p:nvSpPr>
        <p:spPr>
          <a:xfrm>
            <a:off x="11763375" y="54673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noGrp="1"/>
          </p:cNvSpPr>
          <p:nvPr/>
        </p:nvSpPr>
        <p:spPr>
          <a:xfrm>
            <a:off x="5869811" y="4019550"/>
            <a:ext cx="2571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4000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noGrp="1"/>
          </p:cNvSpPr>
          <p:nvPr/>
        </p:nvSpPr>
        <p:spPr>
          <a:xfrm>
            <a:off x="723900" y="699135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4048125" y="7072313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29625" y="707231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001500" y="533400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466725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048125" y="46672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500313" y="3095625"/>
            <a:ext cx="928688" cy="1095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4668500" cy="1381125"/>
          </a:xfrm>
          <a:prstGeom prst="roundRect">
            <a:avLst>
              <a:gd name="adj" fmla="val 11034"/>
            </a:avLst>
          </a:prstGeom>
          <a:solidFill>
            <a:srgbClr val="FAEDC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7429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95625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noGrp="1"/>
          </p:cNvSpPr>
          <p:nvPr/>
        </p:nvSpPr>
        <p:spPr>
          <a:xfrm>
            <a:off x="5000625" y="4191000"/>
            <a:ext cx="38100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4000500" cy="1333500"/>
          </a:xfrm>
          <a:prstGeom prst="roundRect">
            <a:avLst>
              <a:gd name="adj" fmla="val 11429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到期刷新對戰名單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固定保護＋</a:t>
            </a: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池內抽選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noGrp="1"/>
          </p:cNvSpPr>
          <p:nvPr/>
        </p:nvSpPr>
        <p:spPr>
          <a:xfrm>
            <a:off x="9906000" y="6477000"/>
            <a:ext cx="41910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noGrp="1"/>
          </p:cNvSpPr>
          <p:nvPr/>
        </p:nvSpPr>
        <p:spPr>
          <a:xfrm>
            <a:off x="5000625" y="6572250"/>
            <a:ext cx="342900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3095625" cy="1000125"/>
          </a:xfrm>
          <a:prstGeom prst="roundRect">
            <a:avLst>
              <a:gd name="adj" fmla="val 15238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flipV="1">
            <a:off x="6715125" y="571500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>
            <a:off x="6715125" y="5715000"/>
            <a:ext cx="771525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flipV="1">
            <a:off x="14430375" y="4667250"/>
            <a:ext cx="0" cy="1047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flipH="1">
            <a:off x="14001750" y="4667250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noGrp="1"/>
          </p:cNvSpPr>
          <p:nvPr/>
        </p:nvSpPr>
        <p:spPr>
          <a:xfrm>
            <a:off x="4286250" y="6391275"/>
            <a:ext cx="666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6429375" y="771525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noGrp="1"/>
          </p:cNvSpPr>
          <p:nvPr/>
        </p:nvSpPr>
        <p:spPr>
          <a:xfrm>
            <a:off x="4143375" y="1857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noGrp="1"/>
          </p:cNvSpPr>
          <p:nvPr/>
        </p:nvSpPr>
        <p:spPr>
          <a:xfrm>
            <a:off x="10668000" y="185737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noGrp="1"/>
          </p:cNvSpPr>
          <p:nvPr/>
        </p:nvSpPr>
        <p:spPr>
          <a:xfrm>
            <a:off x="714375" y="3181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noGrp="1"/>
          </p:cNvSpPr>
          <p:nvPr/>
        </p:nvSpPr>
        <p:spPr>
          <a:xfrm>
            <a:off x="41433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noGrp="1"/>
          </p:cNvSpPr>
          <p:nvPr/>
        </p:nvSpPr>
        <p:spPr>
          <a:xfrm>
            <a:off x="57245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noGrp="1"/>
          </p:cNvSpPr>
          <p:nvPr/>
        </p:nvSpPr>
        <p:spPr>
          <a:xfrm>
            <a:off x="73056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noGrp="1"/>
          </p:cNvSpPr>
          <p:nvPr/>
        </p:nvSpPr>
        <p:spPr>
          <a:xfrm>
            <a:off x="88868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noGrp="1"/>
          </p:cNvSpPr>
          <p:nvPr/>
        </p:nvSpPr>
        <p:spPr>
          <a:xfrm>
            <a:off x="4143375" y="34861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>
            <a:off x="9953625" y="31718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noGrp="1"/>
          </p:cNvSpPr>
          <p:nvPr/>
        </p:nvSpPr>
        <p:spPr>
          <a:xfrm>
            <a:off x="10668000" y="27622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noGrp="1"/>
          </p:cNvSpPr>
          <p:nvPr/>
        </p:nvSpPr>
        <p:spPr>
          <a:xfrm>
            <a:off x="714375" y="4800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noGrp="1"/>
          </p:cNvSpPr>
          <p:nvPr/>
        </p:nvSpPr>
        <p:spPr>
          <a:xfrm>
            <a:off x="523875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noGrp="1"/>
          </p:cNvSpPr>
          <p:nvPr/>
        </p:nvSpPr>
        <p:spPr>
          <a:xfrm>
            <a:off x="85248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noGrp="1"/>
          </p:cNvSpPr>
          <p:nvPr/>
        </p:nvSpPr>
        <p:spPr>
          <a:xfrm>
            <a:off x="4143375" y="51054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>
            <a:off x="9953625" y="479107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noGrp="1"/>
          </p:cNvSpPr>
          <p:nvPr/>
        </p:nvSpPr>
        <p:spPr>
          <a:xfrm>
            <a:off x="10668000" y="438150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noGrp="1"/>
          </p:cNvSpPr>
          <p:nvPr/>
        </p:nvSpPr>
        <p:spPr>
          <a:xfrm>
            <a:off x="714375" y="6419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noGrp="1"/>
          </p:cNvSpPr>
          <p:nvPr/>
        </p:nvSpPr>
        <p:spPr>
          <a:xfrm>
            <a:off x="414337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noGrp="1"/>
          </p:cNvSpPr>
          <p:nvPr/>
        </p:nvSpPr>
        <p:spPr>
          <a:xfrm>
            <a:off x="6000750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noGrp="1"/>
          </p:cNvSpPr>
          <p:nvPr/>
        </p:nvSpPr>
        <p:spPr>
          <a:xfrm>
            <a:off x="785812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noGrp="1"/>
          </p:cNvSpPr>
          <p:nvPr/>
        </p:nvSpPr>
        <p:spPr>
          <a:xfrm>
            <a:off x="4143375" y="6762750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>
            <a:off x="9953625" y="64103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noGrp="1"/>
          </p:cNvSpPr>
          <p:nvPr/>
        </p:nvSpPr>
        <p:spPr>
          <a:xfrm>
            <a:off x="10668000" y="60007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noGrp="1"/>
          </p:cNvSpPr>
          <p:nvPr/>
        </p:nvSpPr>
        <p:spPr>
          <a:xfrm>
            <a:off x="714375" y="7419975"/>
            <a:ext cx="5715000" cy="590550"/>
          </a:xfrm>
          <a:prstGeom prst="roundRect">
            <a:avLst>
              <a:gd name="adj" fmla="val 2580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noGrp="1"/>
          </p:cNvSpPr>
          <p:nvPr/>
        </p:nvSpPr>
        <p:spPr>
          <a:xfrm>
            <a:off x="7858125" y="7419975"/>
            <a:ext cx="7286625" cy="590550"/>
          </a:xfrm>
          <a:prstGeom prst="roundRect">
            <a:avLst>
              <a:gd name="adj" fmla="val 25806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A50284CF-B460-45F8-A2F6-D5260C774CA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</a:t>
            </a:r>
            <a:r>
              <a:rPr lang="zh-TW" altLang="en-US"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</a:t>
            </a: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演化流程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9FB7E00-57F1-49C1-8017-36CE8C976D7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演化的是完整 JSON 槽位基因，Java 框架與合法選單保持固定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B31D17-EAEB-49A7-94EF-26F19785CB3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F54F6625-6890-484B-9D26-112A9449C84F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每個槽位從合法範圍抽值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為每位候選組成完整基因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4752482A-9968-479F-BCEE-3B4FAEA99AC0}"/>
              </a:ext>
            </a:extLst>
          </p:cNvPr>
          <p:cNvCxnSpPr/>
          <p:nvPr/>
        </p:nvCxnSpPr>
        <p:spPr>
          <a:xfrm>
            <a:off x="514350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846E234D-F02F-41EE-BCE5-5A14CD406260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</a:t>
            </a:r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FE57690-2A42-4C9C-9D8E-F2BFEB860309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每個槽位各自從兩位父代擇一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組成子代的完整基因</a:t>
            </a: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624BE1CD-5AAB-4E8D-9BCE-34CE7FFD3833}"/>
              </a:ext>
            </a:extLst>
          </p:cNvPr>
          <p:cNvCxnSpPr/>
          <p:nvPr/>
        </p:nvCxnSpPr>
        <p:spPr>
          <a:xfrm>
            <a:off x="1019175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2D8E295B-BF6C-4537-9A74-5103B21E9B78}"/>
              </a:ext>
            </a:extLst>
          </p:cNvPr>
          <p:cNvSpPr>
            <a:spLocks noGrp="1"/>
          </p:cNvSpPr>
          <p:nvPr/>
        </p:nvSpPr>
        <p:spPr>
          <a:xfrm>
            <a:off x="108585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單槽突變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A39A911A-8B81-4B63-8BD4-8F93BCCEDD11}"/>
              </a:ext>
            </a:extLst>
          </p:cNvPr>
          <p:cNvSpPr>
            <a:spLocks noGrp="1"/>
          </p:cNvSpPr>
          <p:nvPr/>
        </p:nvSpPr>
        <p:spPr>
          <a:xfrm>
            <a:off x="108585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若觸發突變，最多改一個槽位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換成另一個合法值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CEF09C7A-AD81-4FE7-BBD0-C3E2C8D8F704}"/>
              </a:ext>
            </a:extLst>
          </p:cNvPr>
          <p:cNvSpPr>
            <a:spLocks noGrp="1"/>
          </p:cNvSpPr>
          <p:nvPr/>
        </p:nvSpPr>
        <p:spPr>
          <a:xfrm>
            <a:off x="1524000" y="6286500"/>
            <a:ext cx="3524250" cy="857250"/>
          </a:xfrm>
          <a:prstGeom prst="roundRect">
            <a:avLst>
              <a:gd name="adj" fmla="val 1777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D479A175-24C9-4997-A1B8-E54CA41DDA3E}"/>
              </a:ext>
            </a:extLst>
          </p:cNvPr>
          <p:cNvCxnSpPr/>
          <p:nvPr/>
        </p:nvCxnSpPr>
        <p:spPr>
          <a:xfrm>
            <a:off x="5238750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A9071D74-BF6D-49B6-AEE6-233286D9DBED}"/>
              </a:ext>
            </a:extLst>
          </p:cNvPr>
          <p:cNvSpPr>
            <a:spLocks noGrp="1"/>
          </p:cNvSpPr>
          <p:nvPr/>
        </p:nvSpPr>
        <p:spPr>
          <a:xfrm>
            <a:off x="6334125" y="628650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填入凍結 Java 模板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F40A9362-CBDE-4367-8975-236B7F0389BD}"/>
              </a:ext>
            </a:extLst>
          </p:cNvPr>
          <p:cNvCxnSpPr/>
          <p:nvPr/>
        </p:nvCxnSpPr>
        <p:spPr>
          <a:xfrm>
            <a:off x="10620375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D5000919-C1F6-4061-9D8C-2AE42E54EB6A}"/>
              </a:ext>
            </a:extLst>
          </p:cNvPr>
          <p:cNvSpPr>
            <a:spLocks noGrp="1"/>
          </p:cNvSpPr>
          <p:nvPr/>
        </p:nvSpPr>
        <p:spPr>
          <a:xfrm>
            <a:off x="11715750" y="628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驗證、編譯與對戰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8318909-ADF5-4E0E-943D-FF03401AFB8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初始化一次。後續世代由選出的父代交配、突變，再評估子代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5BDC02-326B-4A55-B8CE-EFFEA65D59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演化期間不呼叫 LLM。genome 代表一位候選的完整槽位設定</a:t>
            </a:r>
          </a:p>
        </p:txBody>
      </p:sp>
      <p:sp>
        <p:nvSpPr>
          <p:cNvPr id="120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15794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3C19AA17-BD0E-435E-8823-B3286B920C3F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10287000" y="5357813"/>
            <a:ext cx="1619250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725A73E0-06E4-4DB2-9E17-E8FE2B6E2AD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0287000" y="4238625"/>
            <a:ext cx="1619250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13D28DF2-F482-413F-9F7C-0CBCCDB62941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3476625" y="5357813"/>
            <a:ext cx="1095375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DC18C0F-C562-4063-B9A3-559BCBBE4EC8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476625" y="4238625"/>
            <a:ext cx="1095375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9FD6888-C0FE-4208-A8F1-0970864C8C2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01250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1F7C073-EB4A-48BE-9153-2DE14F5BEA5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644B436C-DB2C-4540-805A-29EE7FA8955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50/50 子代生成流程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55C656-D931-46CC-9F81-A81D7E1D7514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新設定：先分流，再由 Coach 或傳統交配各自產生子代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348ED1-290F-4BA7-9E9A-D89070E7DD13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準備並凍結 framework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Java 與合法槽位選單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262D53-7CFC-498D-BDE6-577AC99EF7DC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G0：Coach 為每位候選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選出完整 JSON 基因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2A196F3-8FEE-449A-96B6-2442D933AAA7}"/>
              </a:ext>
            </a:extLst>
          </p:cNvPr>
          <p:cNvSpPr>
            <a:spLocks noGrp="1"/>
          </p:cNvSpPr>
          <p:nvPr/>
        </p:nvSpPr>
        <p:spPr>
          <a:xfrm>
            <a:off x="1119187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 Java、編譯與對戰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建立已評估的初代族群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0E65B9-41D4-4851-90DB-F8F1DACE2198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後續每代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20A576-4116-4822-811A-07E4D1A1667D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2857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選父代 A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當代已評估族群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5D1F5B-D037-45F6-9F69-0AF1025C5CC9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Coach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C4EB71-EAAD-4FD4-A720-3E06725CB10B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最差單場交給 Commentator 賽評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讀賽評與父代全場摘要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直接產生完整 JSON 子代基因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5DF5C-62AF-4551-94A4-319D62C983C7}"/>
              </a:ext>
            </a:extLst>
          </p:cNvPr>
          <p:cNvSpPr>
            <a:spLocks noGrp="1"/>
          </p:cNvSpPr>
          <p:nvPr/>
        </p:nvSpPr>
        <p:spPr>
          <a:xfrm>
            <a:off x="4572000" y="5286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傳統演化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8127465-093C-41E7-8C8E-6699F6A60763}"/>
              </a:ext>
            </a:extLst>
          </p:cNvPr>
          <p:cNvSpPr>
            <a:spLocks noGrp="1"/>
          </p:cNvSpPr>
          <p:nvPr/>
        </p:nvSpPr>
        <p:spPr>
          <a:xfrm>
            <a:off x="4572000" y="595312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再選父代 B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逐槽交配（rate 0.75）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單槽突變（rate 1.0）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ABBEB37-2419-4C24-B944-A0092EE35C76}"/>
              </a:ext>
            </a:extLst>
          </p:cNvPr>
          <p:cNvSpPr>
            <a:spLocks noGrp="1"/>
          </p:cNvSpPr>
          <p:nvPr/>
        </p:nvSpPr>
        <p:spPr>
          <a:xfrm>
            <a:off x="11906250" y="4762500"/>
            <a:ext cx="3381375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驗證完整 JSON 基因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填入固定 Java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編譯、語意探針與對戰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A07744-1B7A-4734-B7F3-D3AFD61C5F24}"/>
              </a:ext>
            </a:extLst>
          </p:cNvPr>
          <p:cNvSpPr>
            <a:spLocks noGrp="1"/>
          </p:cNvSpPr>
          <p:nvPr/>
        </p:nvSpPr>
        <p:spPr>
          <a:xfrm>
            <a:off x="619125" y="749617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父代＋子代選下一代，維護對手池並重複演化。搜尋結束後進行 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D68609-584B-42C4-B89A-5900028C022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既有結果仍為 local，本頁為新設定。50/50 是抽樣機率；Coach 失敗不會轉走傳統路徑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2B8B126C-5EBD-4B8F-83CF-F005C1C6466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70863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6489760-78CD-4367-8196-273BE7B6E6C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對手池（Opponent Pool）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9939F1-C6E5-4981-BF97-D737376FC2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保存可供對戰的內建與歷代策略，再從池中挑出本次評估的 10 名對手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86F061-C448-4AAE-A625-C156BCBBD2BB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策略來源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2A386E5-0F96-4EF2-971C-6D1A5208C99E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3524250" cy="762000"/>
          </a:xfrm>
          <a:prstGeom prst="roundRect">
            <a:avLst>
              <a:gd name="adj" fmla="val 20000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起始：10 個內建對手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9A8D69-9E1B-4417-9085-EC17946C0A5D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已評估的初代候選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之後各代已評估的子代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96D928D-FA1B-4329-90E3-60D112F8CF18}"/>
              </a:ext>
            </a:extLst>
          </p:cNvPr>
          <p:cNvCxnSpPr/>
          <p:nvPr/>
        </p:nvCxnSpPr>
        <p:spPr>
          <a:xfrm>
            <a:off x="4286250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02280EF-757D-43CE-837D-DEA6B204A33E}"/>
              </a:ext>
            </a:extLst>
          </p:cNvPr>
          <p:cNvSpPr>
            <a:spLocks noGrp="1"/>
          </p:cNvSpPr>
          <p:nvPr/>
        </p:nvSpPr>
        <p:spPr>
          <a:xfrm>
            <a:off x="5286375" y="214312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4718819-9EEE-4218-B72D-F1954EAA7CCA}"/>
              </a:ext>
            </a:extLst>
          </p:cNvPr>
          <p:cNvSpPr>
            <a:spLocks noGrp="1"/>
          </p:cNvSpPr>
          <p:nvPr/>
        </p:nvSpPr>
        <p:spPr>
          <a:xfrm>
            <a:off x="5238750" y="2905125"/>
            <a:ext cx="4572000" cy="2714625"/>
          </a:xfrm>
          <a:prstGeom prst="roundRect">
            <a:avLst>
              <a:gd name="adj" fmla="val 561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累積通過入池的歷代策略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也保留池內的內建對手</a:t>
            </a:r>
          </a:p>
          <a:p>
            <a:endParaRPr sz="225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本次容量 50 名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包含 4 個固定保護對手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233985-53E1-4095-BF29-9F4033642871}"/>
              </a:ext>
            </a:extLst>
          </p:cNvPr>
          <p:cNvCxnSpPr/>
          <p:nvPr/>
        </p:nvCxnSpPr>
        <p:spPr>
          <a:xfrm>
            <a:off x="9953625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2F588D2-B4BD-4FA0-B0EA-EF89DDDD7441}"/>
              </a:ext>
            </a:extLst>
          </p:cNvPr>
          <p:cNvSpPr>
            <a:spLocks noGrp="1"/>
          </p:cNvSpPr>
          <p:nvPr/>
        </p:nvSpPr>
        <p:spPr>
          <a:xfrm>
            <a:off x="10906125" y="2143125"/>
            <a:ext cx="4429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本次對戰名單：10 名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1886BD8-D4E3-42B5-AFBD-F8AE9E406618}"/>
              </a:ext>
            </a:extLst>
          </p:cNvPr>
          <p:cNvSpPr>
            <a:spLocks noGrp="1"/>
          </p:cNvSpPr>
          <p:nvPr/>
        </p:nvSpPr>
        <p:spPr>
          <a:xfrm>
            <a:off x="10858500" y="290512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個固定保護對手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AllInBot、Mayari、COAC、TMA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45EF0-9DB4-4FDD-B0C8-64D5099F300E}"/>
              </a:ext>
            </a:extLst>
          </p:cNvPr>
          <p:cNvSpPr>
            <a:spLocks noGrp="1"/>
          </p:cNvSpPr>
          <p:nvPr/>
        </p:nvSpPr>
        <p:spPr>
          <a:xfrm>
            <a:off x="12382500" y="401955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C2DA62-39EF-4E8E-A968-FC0EDD9912A9}"/>
              </a:ext>
            </a:extLst>
          </p:cNvPr>
          <p:cNvSpPr>
            <a:spLocks noGrp="1"/>
          </p:cNvSpPr>
          <p:nvPr/>
        </p:nvSpPr>
        <p:spPr>
          <a:xfrm>
            <a:off x="10858500" y="4572000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名從池內非保護成員抽選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可能是內建或歷代策略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E1517-465A-4457-B663-FB76CE4FE978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使用全部 10 個內建對手。後續在 G1、G6、G11…刷新並凍結名單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52DFA5-1BF9-4910-8FA9-8DAAED51E1AC}"/>
              </a:ext>
            </a:extLst>
          </p:cNvPr>
          <p:cNvSpPr>
            <a:spLocks noGrp="1"/>
          </p:cNvSpPr>
          <p:nvPr/>
        </p:nvSpPr>
        <p:spPr>
          <a:xfrm>
            <a:off x="619125" y="6667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入池與替換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5776B34-FAC3-48CE-9772-0E745EF8545F}"/>
              </a:ext>
            </a:extLst>
          </p:cNvPr>
          <p:cNvSpPr>
            <a:spLocks noGrp="1"/>
          </p:cNvSpPr>
          <p:nvPr/>
        </p:nvSpPr>
        <p:spPr>
          <a:xfrm>
            <a:off x="3714750" y="6619875"/>
            <a:ext cx="4476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完成評估並去重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池未滿時加入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A22F90-0930-47AD-B885-3003F8CA5106}"/>
              </a:ext>
            </a:extLst>
          </p:cNvPr>
          <p:cNvSpPr>
            <a:spLocks noGrp="1"/>
          </p:cNvSpPr>
          <p:nvPr/>
        </p:nvSpPr>
        <p:spPr>
          <a:xfrm>
            <a:off x="8572500" y="6619875"/>
            <a:ext cx="6762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池已滿：挑戰一名非保護對手，共 18 場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勝場多於敗場才替換，平手保留原成員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CE9D14-AA08-41A5-9024-B8889A13229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是當次名單大小。繁殖父代另從當代族群選出；新入池策略需等下次刷新才可能成為對手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906E4AFB-C6B1-4EC2-9A81-126C32B4DA7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0239D834-0D7D-4D10-9A4C-43672E5D553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53744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334625" y="2905125"/>
            <a:ext cx="1381125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3309938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當代族群的繁殖父代選擇</a:t>
            </a:r>
            <a:endParaRPr sz="397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先以對戰分數保留頂層，再從當代族群中選出提供基因的父代</a:t>
            </a:r>
            <a:endParaRPr sz="20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952875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noGrp="1"/>
          </p:cNvSpPr>
          <p:nvPr/>
        </p:nvSpPr>
        <p:spPr>
          <a:xfrm>
            <a:off x="5953125" y="2667000"/>
            <a:ext cx="43815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noGrp="1"/>
          </p:cNvSpPr>
          <p:nvPr/>
        </p:nvSpPr>
        <p:spPr>
          <a:xfrm>
            <a:off x="11715750" y="2381250"/>
            <a:ext cx="3286125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依種子值抽選</a:t>
            </a:r>
            <a:endParaRPr sz="2325" b="1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noGrp="1"/>
          </p:cNvSpPr>
          <p:nvPr/>
        </p:nvSpPr>
        <p:spPr>
          <a:xfrm>
            <a:off x="11715750" y="5619750"/>
            <a:ext cx="3286125" cy="1190625"/>
          </a:xfrm>
          <a:prstGeom prst="roundRect">
            <a:avLst>
              <a:gd name="adj" fmla="val 12800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>
            <a:off x="10334625" y="3714750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>
            <a:off x="10953750" y="3714750"/>
            <a:ext cx="0" cy="24955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>
            <a:off x="10953750" y="6210300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noGrp="1"/>
          </p:cNvSpPr>
          <p:nvPr/>
        </p:nvSpPr>
        <p:spPr>
          <a:xfrm>
            <a:off x="11525250" y="41910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9048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父代來自當代族群，對戰對手來自對手池。缺少相容行為簽章時，依種子值抽選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11477625" y="5667375"/>
            <a:ext cx="0" cy="1000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1477625" y="33909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父代選擇示例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noGrp="1"/>
          </p:cNvSpPr>
          <p:nvPr/>
        </p:nvSpPr>
        <p:spPr>
          <a:xfrm>
            <a:off x="2619375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noGrp="1"/>
          </p:cNvSpPr>
          <p:nvPr/>
        </p:nvSpPr>
        <p:spPr>
          <a:xfrm>
            <a:off x="2619375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noGrp="1"/>
          </p:cNvSpPr>
          <p:nvPr/>
        </p:nvSpPr>
        <p:spPr>
          <a:xfrm>
            <a:off x="2619375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noGrp="1"/>
          </p:cNvSpPr>
          <p:nvPr/>
        </p:nvSpPr>
        <p:spPr>
          <a:xfrm>
            <a:off x="447675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noGrp="1"/>
          </p:cNvSpPr>
          <p:nvPr/>
        </p:nvSpPr>
        <p:spPr>
          <a:xfrm>
            <a:off x="76200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noGrp="1"/>
          </p:cNvSpPr>
          <p:nvPr/>
        </p:nvSpPr>
        <p:spPr>
          <a:xfrm>
            <a:off x="2619375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noGrp="1"/>
          </p:cNvSpPr>
          <p:nvPr/>
        </p:nvSpPr>
        <p:spPr>
          <a:xfrm>
            <a:off x="447675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628650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466725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noGrp="1"/>
          </p:cNvSpPr>
          <p:nvPr/>
        </p:nvSpPr>
        <p:spPr>
          <a:xfrm>
            <a:off x="9144000" y="6667500"/>
            <a:ext cx="4667250" cy="1047750"/>
          </a:xfrm>
          <a:prstGeom prst="roundRect">
            <a:avLst>
              <a:gd name="adj" fmla="val 1454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noGrp="1"/>
          </p:cNvSpPr>
          <p:nvPr/>
        </p:nvSpPr>
        <p:spPr>
          <a:xfrm>
            <a:off x="762000" y="7391400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610100" y="602932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9791700" y="4743450"/>
            <a:ext cx="14478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610100" y="345757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noGrp="1"/>
          </p:cNvSpPr>
          <p:nvPr/>
        </p:nvSpPr>
        <p:spPr>
          <a:xfrm>
            <a:off x="112395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noGrp="1"/>
          </p:cNvSpPr>
          <p:nvPr/>
        </p:nvSpPr>
        <p:spPr>
          <a:xfrm>
            <a:off x="112395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noGrp="1"/>
          </p:cNvSpPr>
          <p:nvPr/>
        </p:nvSpPr>
        <p:spPr>
          <a:xfrm>
            <a:off x="112395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noGrp="1"/>
          </p:cNvSpPr>
          <p:nvPr/>
        </p:nvSpPr>
        <p:spPr>
          <a:xfrm>
            <a:off x="6076950" y="561975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42862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noGrp="1"/>
          </p:cNvSpPr>
          <p:nvPr/>
        </p:nvSpPr>
        <p:spPr>
          <a:xfrm>
            <a:off x="4905375" y="697230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143750" y="4619625"/>
            <a:ext cx="47625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1430000" y="514350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858250" y="3952875"/>
            <a:ext cx="171450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430000" y="276225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8858250" y="2428875"/>
            <a:ext cx="1714500" cy="1524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05250" y="395287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34290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noGrp="1"/>
          </p:cNvSpPr>
          <p:nvPr/>
        </p:nvSpPr>
        <p:spPr>
          <a:xfrm>
            <a:off x="10572750" y="209550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23862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noGrp="1"/>
          </p:cNvSpPr>
          <p:nvPr/>
        </p:nvSpPr>
        <p:spPr>
          <a:xfrm>
            <a:off x="10572750" y="5334000"/>
            <a:ext cx="4238625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noGrp="1"/>
          </p:cNvSpPr>
          <p:nvPr/>
        </p:nvSpPr>
        <p:spPr>
          <a:xfrm>
            <a:off x="3810000" y="7058025"/>
            <a:ext cx="7620000" cy="609600"/>
          </a:xfrm>
          <a:prstGeom prst="roundRect">
            <a:avLst>
              <a:gd name="adj" fmla="val 25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12787313" y="5172075"/>
            <a:ext cx="0" cy="15335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429750" y="3190875"/>
            <a:ext cx="14287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9429750" y="4600575"/>
            <a:ext cx="142875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191000" y="5867400"/>
            <a:ext cx="1333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noGrp="1"/>
          </p:cNvSpPr>
          <p:nvPr/>
        </p:nvSpPr>
        <p:spPr>
          <a:xfrm>
            <a:off x="14001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noGrp="1"/>
          </p:cNvSpPr>
          <p:nvPr/>
        </p:nvSpPr>
        <p:spPr>
          <a:xfrm>
            <a:off x="19907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noGrp="1"/>
          </p:cNvSpPr>
          <p:nvPr/>
        </p:nvSpPr>
        <p:spPr>
          <a:xfrm>
            <a:off x="25812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noGrp="1"/>
          </p:cNvSpPr>
          <p:nvPr/>
        </p:nvSpPr>
        <p:spPr>
          <a:xfrm>
            <a:off x="31718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noGrp="1"/>
          </p:cNvSpPr>
          <p:nvPr/>
        </p:nvSpPr>
        <p:spPr>
          <a:xfrm>
            <a:off x="14001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noGrp="1"/>
          </p:cNvSpPr>
          <p:nvPr/>
        </p:nvSpPr>
        <p:spPr>
          <a:xfrm>
            <a:off x="25812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noGrp="1"/>
          </p:cNvSpPr>
          <p:nvPr/>
        </p:nvSpPr>
        <p:spPr>
          <a:xfrm>
            <a:off x="31718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noGrp="1"/>
          </p:cNvSpPr>
          <p:nvPr/>
        </p:nvSpPr>
        <p:spPr>
          <a:xfrm>
            <a:off x="37623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noGrp="1"/>
          </p:cNvSpPr>
          <p:nvPr/>
        </p:nvSpPr>
        <p:spPr>
          <a:xfrm>
            <a:off x="14001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noGrp="1"/>
          </p:cNvSpPr>
          <p:nvPr/>
        </p:nvSpPr>
        <p:spPr>
          <a:xfrm>
            <a:off x="19907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noGrp="1"/>
          </p:cNvSpPr>
          <p:nvPr/>
        </p:nvSpPr>
        <p:spPr>
          <a:xfrm>
            <a:off x="25812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noGrp="1"/>
          </p:cNvSpPr>
          <p:nvPr/>
        </p:nvSpPr>
        <p:spPr>
          <a:xfrm>
            <a:off x="31718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noGrp="1"/>
          </p:cNvSpPr>
          <p:nvPr/>
        </p:nvSpPr>
        <p:spPr>
          <a:xfrm>
            <a:off x="37623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333375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noGrp="1"/>
          </p:cNvSpPr>
          <p:nvPr/>
        </p:nvSpPr>
        <p:spPr>
          <a:xfrm>
            <a:off x="5524500" y="5429250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noGrp="1"/>
          </p:cNvSpPr>
          <p:nvPr/>
        </p:nvSpPr>
        <p:spPr>
          <a:xfrm>
            <a:off x="5524500" y="2733675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noGrp="1"/>
          </p:cNvSpPr>
          <p:nvPr/>
        </p:nvSpPr>
        <p:spPr>
          <a:xfrm>
            <a:off x="10858500" y="4029075"/>
            <a:ext cx="3857625" cy="1143000"/>
          </a:xfrm>
          <a:prstGeom prst="roundRect">
            <a:avLst>
              <a:gd name="adj" fmla="val 1333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noGrp="1"/>
          </p:cNvSpPr>
          <p:nvPr/>
        </p:nvSpPr>
        <p:spPr>
          <a:xfrm>
            <a:off x="10620375" y="6705600"/>
            <a:ext cx="43338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noGrp="1"/>
          </p:cNvSpPr>
          <p:nvPr/>
        </p:nvSpPr>
        <p:spPr>
          <a:xfrm>
            <a:off x="790575" y="46672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762375" y="40957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noGrp="1"/>
          </p:cNvSpPr>
          <p:nvPr/>
        </p:nvSpPr>
        <p:spPr>
          <a:xfrm>
            <a:off x="8715375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581025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58102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noGrp="1"/>
          </p:cNvSpPr>
          <p:nvPr/>
        </p:nvSpPr>
        <p:spPr>
          <a:xfrm>
            <a:off x="8810625" y="44767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noGrp="1"/>
          </p:cNvSpPr>
          <p:nvPr/>
        </p:nvSpPr>
        <p:spPr>
          <a:xfrm>
            <a:off x="8810625" y="5810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>
            <a:off x="7905750" y="2381250"/>
            <a:ext cx="0" cy="4857750"/>
          </a:xfrm>
          <a:prstGeom prst="straightConnector1">
            <a:avLst/>
          </a:prstGeom>
          <a:ln w="9525">
            <a:solidFill>
              <a:srgbClr val="DEB4BA"/>
            </a:solidFill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4095750" y="6048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9334500" y="6048375"/>
            <a:ext cx="1095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620625" y="4095750"/>
            <a:ext cx="3333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572625" y="3619500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3500" y="361950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381500" cy="2000250"/>
          </a:xfrm>
          <a:prstGeom prst="roundRect">
            <a:avLst>
              <a:gd name="adj" fmla="val 761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noGrp="1"/>
          </p:cNvSpPr>
          <p:nvPr/>
        </p:nvSpPr>
        <p:spPr>
          <a:xfrm>
            <a:off x="11096625" y="3143250"/>
            <a:ext cx="371475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noGrp="1"/>
          </p:cNvSpPr>
          <p:nvPr/>
        </p:nvSpPr>
        <p:spPr>
          <a:xfrm>
            <a:off x="10429875" y="5619750"/>
            <a:ext cx="438150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noGrp="1"/>
          </p:cNvSpPr>
          <p:nvPr/>
        </p:nvSpPr>
        <p:spPr>
          <a:xfrm>
            <a:off x="5238750" y="7105650"/>
            <a:ext cx="4095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8072438" y="6048375"/>
            <a:ext cx="48672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7958138" y="6048375"/>
            <a:ext cx="2414588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976563" y="6048375"/>
            <a:ext cx="50958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1293971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7958138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7656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noGrp="1"/>
          </p:cNvSpPr>
          <p:nvPr/>
        </p:nvSpPr>
        <p:spPr>
          <a:xfrm>
            <a:off x="5667375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noGrp="1"/>
          </p:cNvSpPr>
          <p:nvPr/>
        </p:nvSpPr>
        <p:spPr>
          <a:xfrm>
            <a:off x="6219825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noGrp="1"/>
          </p:cNvSpPr>
          <p:nvPr/>
        </p:nvSpPr>
        <p:spPr>
          <a:xfrm>
            <a:off x="5667375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noGrp="1"/>
          </p:cNvSpPr>
          <p:nvPr/>
        </p:nvSpPr>
        <p:spPr>
          <a:xfrm>
            <a:off x="1064895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noGrp="1"/>
          </p:cNvSpPr>
          <p:nvPr/>
        </p:nvSpPr>
        <p:spPr>
          <a:xfrm>
            <a:off x="1064895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noGrp="1"/>
          </p:cNvSpPr>
          <p:nvPr/>
        </p:nvSpPr>
        <p:spPr>
          <a:xfrm>
            <a:off x="1120140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noGrp="1"/>
          </p:cNvSpPr>
          <p:nvPr/>
        </p:nvSpPr>
        <p:spPr>
          <a:xfrm>
            <a:off x="1064895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noGrp="1"/>
          </p:cNvSpPr>
          <p:nvPr/>
        </p:nvSpPr>
        <p:spPr>
          <a:xfrm>
            <a:off x="3524250" y="7286625"/>
            <a:ext cx="9096375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id="10" idx="1"/>
            <a:endCxn id="16" idx="3"/>
          </p:cNvCxnSpPr>
          <p:nvPr/>
        </p:nvCxnSpPr>
        <p:spPr>
          <a:xfrm flipH="1">
            <a:off x="4048125" y="6405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6553200" y="4000500"/>
            <a:ext cx="1209675" cy="190500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3192125" y="4000500"/>
            <a:ext cx="23813" cy="1905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715500" y="335756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48125" y="3357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3286125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3905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noGrp="1"/>
          </p:cNvSpPr>
          <p:nvPr/>
        </p:nvSpPr>
        <p:spPr>
          <a:xfrm>
            <a:off x="11191875" y="2714625"/>
            <a:ext cx="40005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noGrp="1"/>
          </p:cNvSpPr>
          <p:nvPr/>
        </p:nvSpPr>
        <p:spPr>
          <a:xfrm>
            <a:off x="11334750" y="5905500"/>
            <a:ext cx="3762375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905250" cy="1000125"/>
          </a:xfrm>
          <a:prstGeom prst="roundRect">
            <a:avLst>
              <a:gd name="adj" fmla="val 1523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flipH="1">
            <a:off x="10477500" y="3676650"/>
            <a:ext cx="71437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>
            <a:off x="10477500" y="3676650"/>
            <a:ext cx="0" cy="27527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flipH="1">
            <a:off x="9715500" y="6429375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314325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286125" cy="1000125"/>
          </a:xfrm>
          <a:prstGeom prst="roundRect">
            <a:avLst>
              <a:gd name="adj" fmla="val 15238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98107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50482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3714750" cy="800100"/>
          </a:xfrm>
          <a:prstGeom prst="roundRect">
            <a:avLst>
              <a:gd name="adj" fmla="val 1904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noGrp="1"/>
          </p:cNvSpPr>
          <p:nvPr/>
        </p:nvSpPr>
        <p:spPr>
          <a:xfrm>
            <a:off x="108585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noGrp="1"/>
          </p:cNvSpPr>
          <p:nvPr/>
        </p:nvSpPr>
        <p:spPr>
          <a:xfrm>
            <a:off x="4762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>
            <a:off x="14573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noGrp="1"/>
          </p:cNvSpPr>
          <p:nvPr/>
        </p:nvSpPr>
        <p:spPr>
          <a:xfrm>
            <a:off x="29146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noGrp="1"/>
          </p:cNvSpPr>
          <p:nvPr/>
        </p:nvSpPr>
        <p:spPr>
          <a:xfrm>
            <a:off x="25527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>
            <a:off x="35337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橢圓 15">
            <a:extLst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noGrp="1"/>
          </p:cNvSpPr>
          <p:nvPr/>
        </p:nvSpPr>
        <p:spPr>
          <a:xfrm>
            <a:off x="49911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noGrp="1"/>
          </p:cNvSpPr>
          <p:nvPr/>
        </p:nvSpPr>
        <p:spPr>
          <a:xfrm>
            <a:off x="46291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>
            <a:off x="56102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noGrp="1"/>
          </p:cNvSpPr>
          <p:nvPr/>
        </p:nvSpPr>
        <p:spPr>
          <a:xfrm>
            <a:off x="70675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noGrp="1"/>
          </p:cNvSpPr>
          <p:nvPr/>
        </p:nvSpPr>
        <p:spPr>
          <a:xfrm>
            <a:off x="67056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>
            <a:off x="76866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noGrp="1"/>
          </p:cNvSpPr>
          <p:nvPr/>
        </p:nvSpPr>
        <p:spPr>
          <a:xfrm>
            <a:off x="91440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noGrp="1"/>
          </p:cNvSpPr>
          <p:nvPr/>
        </p:nvSpPr>
        <p:spPr>
          <a:xfrm>
            <a:off x="87820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>
            <a:off x="97631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noGrp="1"/>
          </p:cNvSpPr>
          <p:nvPr/>
        </p:nvSpPr>
        <p:spPr>
          <a:xfrm>
            <a:off x="1122045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>
            <a:off x="118395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noGrp="1"/>
          </p:cNvSpPr>
          <p:nvPr/>
        </p:nvSpPr>
        <p:spPr>
          <a:xfrm>
            <a:off x="1329690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noGrp="1"/>
          </p:cNvSpPr>
          <p:nvPr/>
        </p:nvSpPr>
        <p:spPr>
          <a:xfrm>
            <a:off x="129349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noGrp="1"/>
          </p:cNvSpPr>
          <p:nvPr/>
        </p:nvSpPr>
        <p:spPr>
          <a:xfrm>
            <a:off x="461962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noGrp="1"/>
          </p:cNvSpPr>
          <p:nvPr/>
        </p:nvSpPr>
        <p:spPr>
          <a:xfrm>
            <a:off x="1162050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noGrp="1"/>
          </p:cNvSpPr>
          <p:nvPr/>
        </p:nvSpPr>
        <p:spPr>
          <a:xfrm>
            <a:off x="1233487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noGrp="1"/>
          </p:cNvSpPr>
          <p:nvPr/>
        </p:nvSpPr>
        <p:spPr>
          <a:xfrm>
            <a:off x="1233487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74295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2905125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noGrp="1"/>
          </p:cNvSpPr>
          <p:nvPr/>
        </p:nvSpPr>
        <p:spPr>
          <a:xfrm>
            <a:off x="12192000" y="5848350"/>
            <a:ext cx="290512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096000" y="6858000"/>
            <a:ext cx="2000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noGrp="1"/>
          </p:cNvSpPr>
          <p:nvPr/>
        </p:nvSpPr>
        <p:spPr>
          <a:xfrm>
            <a:off x="11144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noGrp="1"/>
          </p:cNvSpPr>
          <p:nvPr/>
        </p:nvSpPr>
        <p:spPr>
          <a:xfrm>
            <a:off x="11144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noGrp="1"/>
          </p:cNvSpPr>
          <p:nvPr/>
        </p:nvSpPr>
        <p:spPr>
          <a:xfrm>
            <a:off x="857250" y="6238875"/>
            <a:ext cx="5238750" cy="1238250"/>
          </a:xfrm>
          <a:prstGeom prst="roundRect">
            <a:avLst>
              <a:gd name="adj" fmla="val 1230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noGrp="1"/>
          </p:cNvSpPr>
          <p:nvPr/>
        </p:nvSpPr>
        <p:spPr>
          <a:xfrm>
            <a:off x="8096250" y="6238875"/>
            <a:ext cx="6953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noGrp="1"/>
          </p:cNvSpPr>
          <p:nvPr/>
        </p:nvSpPr>
        <p:spPr>
          <a:xfrm>
            <a:off x="97821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noGrp="1"/>
          </p:cNvSpPr>
          <p:nvPr/>
        </p:nvSpPr>
        <p:spPr>
          <a:xfrm>
            <a:off x="43338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noGrp="1"/>
          </p:cNvSpPr>
          <p:nvPr/>
        </p:nvSpPr>
        <p:spPr>
          <a:xfrm>
            <a:off x="705802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noGrp="1"/>
          </p:cNvSpPr>
          <p:nvPr/>
        </p:nvSpPr>
        <p:spPr>
          <a:xfrm>
            <a:off x="97821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noGrp="1"/>
          </p:cNvSpPr>
          <p:nvPr/>
        </p:nvSpPr>
        <p:spPr>
          <a:xfrm>
            <a:off x="43338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noGrp="1"/>
          </p:cNvSpPr>
          <p:nvPr/>
        </p:nvSpPr>
        <p:spPr>
          <a:xfrm>
            <a:off x="70580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noGrp="1"/>
          </p:cNvSpPr>
          <p:nvPr/>
        </p:nvSpPr>
        <p:spPr>
          <a:xfrm>
            <a:off x="97821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noGrp="1"/>
          </p:cNvSpPr>
          <p:nvPr/>
        </p:nvSpPr>
        <p:spPr>
          <a:xfrm>
            <a:off x="125063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noGrp="1"/>
          </p:cNvSpPr>
          <p:nvPr/>
        </p:nvSpPr>
        <p:spPr>
          <a:xfrm>
            <a:off x="1571625" y="7477125"/>
            <a:ext cx="1276350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3830300" cy="5429250"/>
          </a:xfrm>
          <a:prstGeom prst="roundRect">
            <a:avLst>
              <a:gd name="adj" fmla="val 2807"/>
            </a:avLst>
          </a:prstGeom>
          <a:solidFill>
            <a:srgbClr val="FCF8F5"/>
          </a:solidFill>
          <a:ln w="19050">
            <a:solidFill>
              <a:srgbClr val="DEB4BA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noGrp="1"/>
          </p:cNvSpPr>
          <p:nvPr/>
        </p:nvSpPr>
        <p:spPr>
          <a:xfrm>
            <a:off x="2000250" y="5362575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noGrp="1"/>
          </p:cNvSpPr>
          <p:nvPr/>
        </p:nvSpPr>
        <p:spPr>
          <a:xfrm>
            <a:off x="110871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noGrp="1"/>
          </p:cNvSpPr>
          <p:nvPr/>
        </p:nvSpPr>
        <p:spPr>
          <a:xfrm>
            <a:off x="48577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noGrp="1"/>
          </p:cNvSpPr>
          <p:nvPr/>
        </p:nvSpPr>
        <p:spPr>
          <a:xfrm>
            <a:off x="762000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noGrp="1"/>
          </p:cNvSpPr>
          <p:nvPr/>
        </p:nvSpPr>
        <p:spPr>
          <a:xfrm>
            <a:off x="103822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noGrp="1"/>
          </p:cNvSpPr>
          <p:nvPr/>
        </p:nvSpPr>
        <p:spPr>
          <a:xfrm>
            <a:off x="762000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noGrp="1"/>
          </p:cNvSpPr>
          <p:nvPr/>
        </p:nvSpPr>
        <p:spPr>
          <a:xfrm>
            <a:off x="103822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noGrp="1"/>
          </p:cNvSpPr>
          <p:nvPr/>
        </p:nvSpPr>
        <p:spPr>
          <a:xfrm>
            <a:off x="4857750" y="6400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noGrp="1"/>
          </p:cNvSpPr>
          <p:nvPr/>
        </p:nvSpPr>
        <p:spPr>
          <a:xfrm>
            <a:off x="752475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noGrp="1"/>
          </p:cNvSpPr>
          <p:nvPr/>
        </p:nvSpPr>
        <p:spPr>
          <a:xfrm>
            <a:off x="842962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noGrp="1"/>
          </p:cNvSpPr>
          <p:nvPr/>
        </p:nvSpPr>
        <p:spPr>
          <a:xfrm>
            <a:off x="933450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noGrp="1"/>
          </p:cNvSpPr>
          <p:nvPr/>
        </p:nvSpPr>
        <p:spPr>
          <a:xfrm>
            <a:off x="1023937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noGrp="1"/>
          </p:cNvSpPr>
          <p:nvPr/>
        </p:nvSpPr>
        <p:spPr>
          <a:xfrm>
            <a:off x="12049125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noGrp="1"/>
          </p:cNvSpPr>
          <p:nvPr/>
        </p:nvSpPr>
        <p:spPr>
          <a:xfrm>
            <a:off x="2476500" y="7667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714750" y="5524500"/>
            <a:ext cx="809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8001000" y="5524500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381750" y="4248150"/>
            <a:ext cx="4714875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8048625" y="3048000"/>
            <a:ext cx="2238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714750" y="34099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57500" cy="1676400"/>
          </a:xfrm>
          <a:prstGeom prst="roundRect">
            <a:avLst>
              <a:gd name="adj" fmla="val 90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3333750" cy="1676400"/>
          </a:xfrm>
          <a:prstGeom prst="roundRect">
            <a:avLst>
              <a:gd name="adj" fmla="val 90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371475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476625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noGrp="1"/>
          </p:cNvSpPr>
          <p:nvPr/>
        </p:nvSpPr>
        <p:spPr>
          <a:xfrm>
            <a:off x="5095875" y="6496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0906125" y="5372100"/>
            <a:ext cx="1571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191375" y="5372100"/>
            <a:ext cx="1619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238500" y="5372100"/>
            <a:ext cx="1857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3952875" cy="1181100"/>
          </a:xfrm>
          <a:prstGeom prst="roundRect">
            <a:avLst>
              <a:gd name="adj" fmla="val 1290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noGrp="1"/>
          </p:cNvSpPr>
          <p:nvPr/>
        </p:nvSpPr>
        <p:spPr>
          <a:xfrm>
            <a:off x="1019175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noGrp="1"/>
          </p:cNvSpPr>
          <p:nvPr/>
        </p:nvSpPr>
        <p:spPr>
          <a:xfrm>
            <a:off x="98488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noGrp="1"/>
          </p:cNvSpPr>
          <p:nvPr/>
        </p:nvSpPr>
        <p:spPr>
          <a:xfrm>
            <a:off x="107442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noGrp="1"/>
          </p:cNvSpPr>
          <p:nvPr/>
        </p:nvSpPr>
        <p:spPr>
          <a:xfrm>
            <a:off x="116395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noGrp="1"/>
          </p:cNvSpPr>
          <p:nvPr/>
        </p:nvSpPr>
        <p:spPr>
          <a:xfrm>
            <a:off x="125349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noGrp="1"/>
          </p:cNvSpPr>
          <p:nvPr/>
        </p:nvSpPr>
        <p:spPr>
          <a:xfrm>
            <a:off x="134302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noGrp="1"/>
          </p:cNvSpPr>
          <p:nvPr/>
        </p:nvSpPr>
        <p:spPr>
          <a:xfrm>
            <a:off x="8953500" y="4000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15240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noGrp="1"/>
          </p:cNvSpPr>
          <p:nvPr/>
        </p:nvSpPr>
        <p:spPr>
          <a:xfrm>
            <a:off x="881062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noGrp="1"/>
          </p:cNvSpPr>
          <p:nvPr/>
        </p:nvSpPr>
        <p:spPr>
          <a:xfrm>
            <a:off x="12477750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noGrp="1"/>
          </p:cNvSpPr>
          <p:nvPr/>
        </p:nvSpPr>
        <p:spPr>
          <a:xfrm>
            <a:off x="1524000" y="60007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noGrp="1"/>
          </p:cNvSpPr>
          <p:nvPr/>
        </p:nvSpPr>
        <p:spPr>
          <a:xfrm>
            <a:off x="509587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noGrp="1"/>
          </p:cNvSpPr>
          <p:nvPr/>
        </p:nvSpPr>
        <p:spPr>
          <a:xfrm>
            <a:off x="881062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noGrp="1"/>
          </p:cNvSpPr>
          <p:nvPr/>
        </p:nvSpPr>
        <p:spPr>
          <a:xfrm>
            <a:off x="12477750" y="60007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noGrp="1"/>
          </p:cNvSpPr>
          <p:nvPr/>
        </p:nvSpPr>
        <p:spPr>
          <a:xfrm>
            <a:off x="2857500" y="6934200"/>
            <a:ext cx="10287000" cy="552450"/>
          </a:xfrm>
          <a:prstGeom prst="roundRect">
            <a:avLst>
              <a:gd name="adj" fmla="val 2758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7429500" y="6238875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10429875" y="4610100"/>
            <a:ext cx="1571625" cy="1200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58250" y="392430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857625" y="3924300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noGrp="1"/>
          </p:cNvSpPr>
          <p:nvPr/>
        </p:nvSpPr>
        <p:spPr>
          <a:xfrm>
            <a:off x="1609725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noGrp="1"/>
          </p:cNvSpPr>
          <p:nvPr/>
        </p:nvSpPr>
        <p:spPr>
          <a:xfrm>
            <a:off x="622935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857500" cy="1371600"/>
          </a:xfrm>
          <a:prstGeom prst="roundRect">
            <a:avLst>
              <a:gd name="adj" fmla="val 1111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3238500" cy="1371600"/>
          </a:xfrm>
          <a:prstGeom prst="roundRect">
            <a:avLst>
              <a:gd name="adj" fmla="val 1111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3429000" cy="1371600"/>
          </a:xfrm>
          <a:prstGeom prst="roundRect">
            <a:avLst>
              <a:gd name="adj" fmla="val 1111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noGrp="1"/>
          </p:cNvSpPr>
          <p:nvPr/>
        </p:nvSpPr>
        <p:spPr>
          <a:xfrm>
            <a:off x="8763000" y="58102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7147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noGrp="1"/>
          </p:cNvSpPr>
          <p:nvPr/>
        </p:nvSpPr>
        <p:spPr>
          <a:xfrm>
            <a:off x="3524250" y="704850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953375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000500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190625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00050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noGrp="1"/>
          </p:cNvSpPr>
          <p:nvPr/>
        </p:nvSpPr>
        <p:spPr>
          <a:xfrm>
            <a:off x="2571750" y="6953250"/>
            <a:ext cx="1076325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noGrp="1"/>
          </p:cNvSpPr>
          <p:nvPr/>
        </p:nvSpPr>
        <p:spPr>
          <a:xfrm>
            <a:off x="1714500" y="8001000"/>
            <a:ext cx="1247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10906125" y="4076700"/>
            <a:ext cx="2095500" cy="1257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0191750" y="3486150"/>
            <a:ext cx="11430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noGrp="1"/>
          </p:cNvSpPr>
          <p:nvPr/>
        </p:nvSpPr>
        <p:spPr>
          <a:xfrm>
            <a:off x="398145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noGrp="1"/>
          </p:cNvSpPr>
          <p:nvPr/>
        </p:nvSpPr>
        <p:spPr>
          <a:xfrm>
            <a:off x="51054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noGrp="1"/>
          </p:cNvSpPr>
          <p:nvPr/>
        </p:nvSpPr>
        <p:spPr>
          <a:xfrm>
            <a:off x="398145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noGrp="1"/>
          </p:cNvSpPr>
          <p:nvPr/>
        </p:nvSpPr>
        <p:spPr>
          <a:xfrm>
            <a:off x="1476375" y="69532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noGrp="1"/>
          </p:cNvSpPr>
          <p:nvPr/>
        </p:nvSpPr>
        <p:spPr>
          <a:xfrm>
            <a:off x="11334750" y="2952750"/>
            <a:ext cx="3333750" cy="1123950"/>
          </a:xfrm>
          <a:prstGeom prst="roundRect">
            <a:avLst>
              <a:gd name="adj" fmla="val 1355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noGrp="1"/>
          </p:cNvSpPr>
          <p:nvPr/>
        </p:nvSpPr>
        <p:spPr>
          <a:xfrm>
            <a:off x="8524875" y="53340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noGrp="1"/>
          </p:cNvSpPr>
          <p:nvPr/>
        </p:nvSpPr>
        <p:spPr>
          <a:xfrm>
            <a:off x="8239125" y="68199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85825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7200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38100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3048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4572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noGrp="1"/>
          </p:cNvSpPr>
          <p:nvPr/>
        </p:nvSpPr>
        <p:spPr>
          <a:xfrm>
            <a:off x="7239000" y="5762625"/>
            <a:ext cx="74295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>
            <a:off x="12477750" y="3667125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>
            <a:off x="3143250" y="4286250"/>
            <a:ext cx="9334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>
            <a:off x="31432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>
            <a:off x="109537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noGrp="1"/>
          </p:cNvSpPr>
          <p:nvPr/>
        </p:nvSpPr>
        <p:spPr>
          <a:xfrm>
            <a:off x="1524000" y="7858125"/>
            <a:ext cx="1304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906375" y="4048125"/>
            <a:ext cx="0" cy="2143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9334500" y="3405188"/>
            <a:ext cx="14287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00500" y="3619500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1323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4286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428625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>
            <a:off x="7334250" y="4095750"/>
            <a:ext cx="0" cy="2571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>
            <a:off x="7334250" y="6667500"/>
            <a:ext cx="3429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600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noGrp="1"/>
          </p:cNvSpPr>
          <p:nvPr/>
        </p:nvSpPr>
        <p:spPr>
          <a:xfrm>
            <a:off x="1619250" y="78581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flipH="1">
            <a:off x="10929938" y="3162300"/>
            <a:ext cx="2381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8501063" y="3162300"/>
            <a:ext cx="119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flipH="1" flipV="1">
            <a:off x="1619250" y="3162300"/>
            <a:ext cx="3405188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5024438" y="3162300"/>
            <a:ext cx="1262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3952875" y="3162300"/>
            <a:ext cx="10715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9062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57262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3900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90537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5717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noGrp="1"/>
          </p:cNvSpPr>
          <p:nvPr/>
        </p:nvSpPr>
        <p:spPr>
          <a:xfrm>
            <a:off x="12334875" y="2381250"/>
            <a:ext cx="2286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4524375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2047875" cy="914400"/>
          </a:xfrm>
          <a:prstGeom prst="roundRect">
            <a:avLst>
              <a:gd name="adj" fmla="val 1666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2047875" cy="742950"/>
          </a:xfrm>
          <a:prstGeom prst="roundRect">
            <a:avLst>
              <a:gd name="adj" fmla="val 2051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noGrp="1"/>
          </p:cNvSpPr>
          <p:nvPr/>
        </p:nvSpPr>
        <p:spPr>
          <a:xfrm>
            <a:off x="7762875" y="5133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noGrp="1"/>
          </p:cNvSpPr>
          <p:nvPr/>
        </p:nvSpPr>
        <p:spPr>
          <a:xfrm>
            <a:off x="8001000" y="56864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noGrp="1"/>
          </p:cNvSpPr>
          <p:nvPr/>
        </p:nvSpPr>
        <p:spPr>
          <a:xfrm>
            <a:off x="10382250" y="5476875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noGrp="1"/>
          </p:cNvSpPr>
          <p:nvPr/>
        </p:nvSpPr>
        <p:spPr>
          <a:xfrm>
            <a:off x="21431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noGrp="1"/>
          </p:cNvSpPr>
          <p:nvPr/>
        </p:nvSpPr>
        <p:spPr>
          <a:xfrm>
            <a:off x="88106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noGrp="1"/>
          </p:cNvSpPr>
          <p:nvPr/>
        </p:nvSpPr>
        <p:spPr>
          <a:xfrm>
            <a:off x="3143250" y="7572375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flipH="1">
            <a:off x="4524375" y="2762250"/>
            <a:ext cx="3476625" cy="29527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8001000" y="2762250"/>
            <a:ext cx="5810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8001000" y="2762250"/>
            <a:ext cx="2381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6667500" y="2762250"/>
            <a:ext cx="133350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952750" y="2762250"/>
            <a:ext cx="5048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4762500" cy="666750"/>
          </a:xfrm>
          <a:prstGeom prst="roundRect">
            <a:avLst>
              <a:gd name="adj" fmla="val 22857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noGrp="1"/>
          </p:cNvSpPr>
          <p:nvPr/>
        </p:nvSpPr>
        <p:spPr>
          <a:xfrm>
            <a:off x="12382500" y="3571875"/>
            <a:ext cx="28575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noGrp="1"/>
          </p:cNvSpPr>
          <p:nvPr/>
        </p:nvSpPr>
        <p:spPr>
          <a:xfrm>
            <a:off x="2143125" y="57150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noGrp="1"/>
          </p:cNvSpPr>
          <p:nvPr/>
        </p:nvSpPr>
        <p:spPr>
          <a:xfrm>
            <a:off x="12096750" y="5715000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noGrp="1"/>
          </p:cNvSpPr>
          <p:nvPr/>
        </p:nvSpPr>
        <p:spPr>
          <a:xfrm>
            <a:off x="4000500" y="70961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6667500" y="591502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10750" y="3733800"/>
            <a:ext cx="0" cy="16002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71525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00050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noGrp="1"/>
          </p:cNvSpPr>
          <p:nvPr/>
        </p:nvSpPr>
        <p:spPr>
          <a:xfrm>
            <a:off x="81915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noGrp="1"/>
          </p:cNvSpPr>
          <p:nvPr/>
        </p:nvSpPr>
        <p:spPr>
          <a:xfrm>
            <a:off x="2667000" y="7048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noGrp="1"/>
          </p:cNvSpPr>
          <p:nvPr/>
        </p:nvSpPr>
        <p:spPr>
          <a:xfrm>
            <a:off x="10953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noGrp="1"/>
          </p:cNvSpPr>
          <p:nvPr/>
        </p:nvSpPr>
        <p:spPr>
          <a:xfrm>
            <a:off x="10953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noGrp="1"/>
          </p:cNvSpPr>
          <p:nvPr/>
        </p:nvSpPr>
        <p:spPr>
          <a:xfrm>
            <a:off x="12906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noGrp="1"/>
          </p:cNvSpPr>
          <p:nvPr/>
        </p:nvSpPr>
        <p:spPr>
          <a:xfrm>
            <a:off x="1476375" y="53721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noGrp="1"/>
          </p:cNvSpPr>
          <p:nvPr/>
        </p:nvSpPr>
        <p:spPr>
          <a:xfrm>
            <a:off x="45243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>
            <a:off x="58864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>
            <a:off x="74295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noGrp="1"/>
          </p:cNvSpPr>
          <p:nvPr/>
        </p:nvSpPr>
        <p:spPr>
          <a:xfrm>
            <a:off x="76104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>
            <a:off x="89725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>
            <a:off x="105156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noGrp="1"/>
          </p:cNvSpPr>
          <p:nvPr/>
        </p:nvSpPr>
        <p:spPr>
          <a:xfrm>
            <a:off x="106965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>
            <a:off x="120586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noGrp="1"/>
          </p:cNvSpPr>
          <p:nvPr/>
        </p:nvSpPr>
        <p:spPr>
          <a:xfrm>
            <a:off x="122396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noGrp="1"/>
          </p:cNvSpPr>
          <p:nvPr/>
        </p:nvSpPr>
        <p:spPr>
          <a:xfrm>
            <a:off x="2381250" y="7286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191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noGrp="1"/>
          </p:cNvSpPr>
          <p:nvPr/>
        </p:nvSpPr>
        <p:spPr>
          <a:xfrm>
            <a:off x="385762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noGrp="1"/>
          </p:cNvSpPr>
          <p:nvPr/>
        </p:nvSpPr>
        <p:spPr>
          <a:xfrm>
            <a:off x="966787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noGrp="1"/>
          </p:cNvSpPr>
          <p:nvPr/>
        </p:nvSpPr>
        <p:spPr>
          <a:xfrm>
            <a:off x="125730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>
            <a:off x="7905750" y="2971800"/>
            <a:ext cx="0" cy="5048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>
            <a:off x="2095500" y="3476625"/>
            <a:ext cx="11620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>
            <a:off x="20955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>
            <a:off x="500062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>
            <a:off x="790575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>
            <a:off x="1081087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>
            <a:off x="137160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noGrp="1"/>
          </p:cNvSpPr>
          <p:nvPr/>
        </p:nvSpPr>
        <p:spPr>
          <a:xfrm>
            <a:off x="2857500" y="5286375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noGrp="1"/>
          </p:cNvSpPr>
          <p:nvPr/>
        </p:nvSpPr>
        <p:spPr>
          <a:xfrm>
            <a:off x="3143250" y="70104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3049250" y="3448050"/>
            <a:ext cx="95250" cy="2190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382250" y="29146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6858000" y="2914650"/>
            <a:ext cx="6667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1375" y="3076575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noGrp="1"/>
          </p:cNvSpPr>
          <p:nvPr/>
        </p:nvSpPr>
        <p:spPr>
          <a:xfrm>
            <a:off x="904875" y="2667000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2857500" cy="1200150"/>
          </a:xfrm>
          <a:prstGeom prst="roundRect">
            <a:avLst>
              <a:gd name="adj" fmla="val 1269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429000" cy="1066800"/>
          </a:xfrm>
          <a:prstGeom prst="roundRect">
            <a:avLst>
              <a:gd name="adj" fmla="val 1428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noGrp="1"/>
          </p:cNvSpPr>
          <p:nvPr/>
        </p:nvSpPr>
        <p:spPr>
          <a:xfrm>
            <a:off x="11525250" y="3667125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noGrp="1"/>
          </p:cNvSpPr>
          <p:nvPr/>
        </p:nvSpPr>
        <p:spPr>
          <a:xfrm>
            <a:off x="161925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noGrp="1"/>
          </p:cNvSpPr>
          <p:nvPr/>
        </p:nvSpPr>
        <p:spPr>
          <a:xfrm>
            <a:off x="123825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noGrp="1"/>
          </p:cNvSpPr>
          <p:nvPr/>
        </p:nvSpPr>
        <p:spPr>
          <a:xfrm>
            <a:off x="6334125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noGrp="1"/>
          </p:cNvSpPr>
          <p:nvPr/>
        </p:nvSpPr>
        <p:spPr>
          <a:xfrm>
            <a:off x="5953125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noGrp="1"/>
          </p:cNvSpPr>
          <p:nvPr/>
        </p:nvSpPr>
        <p:spPr>
          <a:xfrm>
            <a:off x="1104900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noGrp="1"/>
          </p:cNvSpPr>
          <p:nvPr/>
        </p:nvSpPr>
        <p:spPr>
          <a:xfrm>
            <a:off x="1066800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noGrp="1"/>
          </p:cNvSpPr>
          <p:nvPr/>
        </p:nvSpPr>
        <p:spPr>
          <a:xfrm>
            <a:off x="1714500" y="77438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2573000" y="4219575"/>
            <a:ext cx="4762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8334375" y="4219575"/>
            <a:ext cx="1285875" cy="17526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8334375" y="4219575"/>
            <a:ext cx="1285875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8334375" y="4219575"/>
            <a:ext cx="1285875" cy="3048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8334375" y="3800475"/>
            <a:ext cx="1285875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8334375" y="3076575"/>
            <a:ext cx="1285875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noGrp="1"/>
          </p:cNvSpPr>
          <p:nvPr/>
        </p:nvSpPr>
        <p:spPr>
          <a:xfrm>
            <a:off x="285750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noGrp="1"/>
          </p:cNvSpPr>
          <p:nvPr/>
        </p:nvSpPr>
        <p:spPr>
          <a:xfrm>
            <a:off x="46672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>
            <a:off x="1952625" y="4714875"/>
            <a:ext cx="3619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noGrp="1"/>
          </p:cNvSpPr>
          <p:nvPr/>
        </p:nvSpPr>
        <p:spPr>
          <a:xfrm>
            <a:off x="1285875" y="5143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noGrp="1"/>
          </p:cNvSpPr>
          <p:nvPr/>
        </p:nvSpPr>
        <p:spPr>
          <a:xfrm>
            <a:off x="7239000" y="35337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noGrp="1"/>
          </p:cNvSpPr>
          <p:nvPr/>
        </p:nvSpPr>
        <p:spPr>
          <a:xfrm>
            <a:off x="7239000" y="57054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noGrp="1"/>
          </p:cNvSpPr>
          <p:nvPr/>
        </p:nvSpPr>
        <p:spPr>
          <a:xfrm>
            <a:off x="9620250" y="3638550"/>
            <a:ext cx="295275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209550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noGrp="1"/>
          </p:cNvSpPr>
          <p:nvPr/>
        </p:nvSpPr>
        <p:spPr>
          <a:xfrm>
            <a:off x="3571875" y="685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14625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095500" cy="1028700"/>
          </a:xfrm>
          <a:prstGeom prst="roundRect">
            <a:avLst>
              <a:gd name="adj" fmla="val 148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noGrp="1"/>
          </p:cNvSpPr>
          <p:nvPr/>
        </p:nvSpPr>
        <p:spPr>
          <a:xfrm>
            <a:off x="3476625" y="3095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noGrp="1"/>
          </p:cNvSpPr>
          <p:nvPr/>
        </p:nvSpPr>
        <p:spPr>
          <a:xfrm>
            <a:off x="3476625" y="5000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noGrp="1"/>
          </p:cNvSpPr>
          <p:nvPr/>
        </p:nvSpPr>
        <p:spPr>
          <a:xfrm>
            <a:off x="8620125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noGrp="1"/>
          </p:cNvSpPr>
          <p:nvPr/>
        </p:nvSpPr>
        <p:spPr>
          <a:xfrm>
            <a:off x="1181100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noGrp="1"/>
          </p:cNvSpPr>
          <p:nvPr/>
        </p:nvSpPr>
        <p:spPr>
          <a:xfrm>
            <a:off x="9953625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noGrp="1"/>
          </p:cNvSpPr>
          <p:nvPr/>
        </p:nvSpPr>
        <p:spPr>
          <a:xfrm>
            <a:off x="6810375" y="404812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noGrp="1"/>
          </p:cNvSpPr>
          <p:nvPr/>
        </p:nvSpPr>
        <p:spPr>
          <a:xfrm>
            <a:off x="10001250" y="59531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>
            <a:off x="5429250" y="6762750"/>
            <a:ext cx="8858250" cy="0"/>
          </a:xfrm>
          <a:prstGeom prst="straightConnector1">
            <a:avLst/>
          </a:prstGeom>
          <a:ln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noGrp="1"/>
          </p:cNvSpPr>
          <p:nvPr/>
        </p:nvSpPr>
        <p:spPr>
          <a:xfrm>
            <a:off x="3476625" y="73437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noGrp="1"/>
          </p:cNvSpPr>
          <p:nvPr/>
        </p:nvSpPr>
        <p:spPr>
          <a:xfrm>
            <a:off x="4572000" y="7791450"/>
            <a:ext cx="68580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572625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667250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noGrp="1"/>
          </p:cNvSpPr>
          <p:nvPr/>
        </p:nvSpPr>
        <p:spPr>
          <a:xfrm>
            <a:off x="1123950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noGrp="1"/>
          </p:cNvSpPr>
          <p:nvPr/>
        </p:nvSpPr>
        <p:spPr>
          <a:xfrm>
            <a:off x="6000750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noGrp="1"/>
          </p:cNvSpPr>
          <p:nvPr/>
        </p:nvSpPr>
        <p:spPr>
          <a:xfrm>
            <a:off x="1090612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noGrp="1"/>
          </p:cNvSpPr>
          <p:nvPr/>
        </p:nvSpPr>
        <p:spPr>
          <a:xfrm>
            <a:off x="3714750" y="66675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685800"/>
          </a:xfrm>
          <a:prstGeom prst="roundRect">
            <a:avLst>
              <a:gd name="adj" fmla="val 2222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3810000" cy="685800"/>
          </a:xfrm>
          <a:prstGeom prst="roundRect">
            <a:avLst>
              <a:gd name="adj" fmla="val 2222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noGrp="1"/>
          </p:cNvSpPr>
          <p:nvPr/>
        </p:nvSpPr>
        <p:spPr>
          <a:xfrm>
            <a:off x="11144250" y="2286000"/>
            <a:ext cx="3714750" cy="685800"/>
          </a:xfrm>
          <a:prstGeom prst="roundRect">
            <a:avLst>
              <a:gd name="adj" fmla="val 2222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noGrp="1"/>
          </p:cNvSpPr>
          <p:nvPr/>
        </p:nvSpPr>
        <p:spPr>
          <a:xfrm>
            <a:off x="11144250" y="3143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noGrp="1"/>
          </p:cNvSpPr>
          <p:nvPr/>
        </p:nvSpPr>
        <p:spPr>
          <a:xfrm>
            <a:off x="4857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noGrp="1"/>
          </p:cNvSpPr>
          <p:nvPr/>
        </p:nvSpPr>
        <p:spPr>
          <a:xfrm>
            <a:off x="12096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noGrp="1"/>
          </p:cNvSpPr>
          <p:nvPr/>
        </p:nvSpPr>
        <p:spPr>
          <a:xfrm>
            <a:off x="12096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noGrp="1"/>
          </p:cNvSpPr>
          <p:nvPr/>
        </p:nvSpPr>
        <p:spPr>
          <a:xfrm>
            <a:off x="2762250" y="6191250"/>
            <a:ext cx="10382250" cy="685800"/>
          </a:xfrm>
          <a:prstGeom prst="roundRect">
            <a:avLst>
              <a:gd name="adj" fmla="val 2222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noGrp="1"/>
          </p:cNvSpPr>
          <p:nvPr/>
        </p:nvSpPr>
        <p:spPr>
          <a:xfrm>
            <a:off x="2667000" y="7219950"/>
            <a:ext cx="180975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noGrp="1"/>
          </p:cNvSpPr>
          <p:nvPr/>
        </p:nvSpPr>
        <p:spPr>
          <a:xfrm>
            <a:off x="5238750" y="7219950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noGrp="1"/>
          </p:cNvSpPr>
          <p:nvPr/>
        </p:nvSpPr>
        <p:spPr>
          <a:xfrm>
            <a:off x="8286750" y="7219950"/>
            <a:ext cx="2190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noGrp="1"/>
          </p:cNvSpPr>
          <p:nvPr/>
        </p:nvSpPr>
        <p:spPr>
          <a:xfrm>
            <a:off x="11049000" y="7219950"/>
            <a:ext cx="36195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noGrp="1"/>
          </p:cNvSpPr>
          <p:nvPr/>
        </p:nvSpPr>
        <p:spPr>
          <a:xfrm>
            <a:off x="4476750" y="77819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650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5775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noGrp="1"/>
          </p:cNvSpPr>
          <p:nvPr/>
        </p:nvSpPr>
        <p:spPr>
          <a:xfrm>
            <a:off x="11239500" y="223837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noGrp="1"/>
          </p:cNvSpPr>
          <p:nvPr/>
        </p:nvSpPr>
        <p:spPr>
          <a:xfrm>
            <a:off x="5667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noGrp="1"/>
          </p:cNvSpPr>
          <p:nvPr/>
        </p:nvSpPr>
        <p:spPr>
          <a:xfrm>
            <a:off x="10620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noGrp="1"/>
          </p:cNvSpPr>
          <p:nvPr/>
        </p:nvSpPr>
        <p:spPr>
          <a:xfrm>
            <a:off x="10620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="762000" y="6076950"/>
          <a:ext cx="14382750" cy="16573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="714375" y="2143125"/>
          <a:ext cx="10763250" cy="500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noGrp="1"/>
          </p:cNvSpPr>
          <p:nvPr/>
        </p:nvSpPr>
        <p:spPr>
          <a:xfrm>
            <a:off x="11906250" y="2333625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noGrp="1"/>
          </p:cNvSpPr>
          <p:nvPr/>
        </p:nvSpPr>
        <p:spPr>
          <a:xfrm>
            <a:off x="11906250" y="3000375"/>
            <a:ext cx="3238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>
            <a:off x="10668000" y="1828800"/>
            <a:ext cx="476250" cy="0"/>
          </a:xfrm>
          <a:prstGeom prst="straightConnector1">
            <a:avLst/>
          </a:prstGeom>
          <a:ln w="38100">
            <a:solidFill>
              <a:srgbClr val="CF8792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noGrp="1"/>
          </p:cNvSpPr>
          <p:nvPr/>
        </p:nvSpPr>
        <p:spPr>
          <a:xfrm>
            <a:off x="11287125" y="163830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>
            <a:off x="12668250" y="1828800"/>
            <a:ext cx="476250" cy="0"/>
          </a:xfrm>
          <a:prstGeom prst="straightConnector1">
            <a:avLst/>
          </a:prstGeom>
          <a:ln w="38100">
            <a:solidFill>
              <a:srgbClr val="47171C"/>
            </a:solidFill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noGrp="1"/>
          </p:cNvSpPr>
          <p:nvPr/>
        </p:nvSpPr>
        <p:spPr>
          <a:xfrm>
            <a:off x="13287375" y="16383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="61912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="5715000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noGrp="1"/>
          </p:cNvSpPr>
          <p:nvPr/>
        </p:nvSpPr>
        <p:spPr>
          <a:xfrm>
            <a:off x="1100137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="1081087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noGrp="1"/>
          </p:cNvSpPr>
          <p:nvPr/>
        </p:nvSpPr>
        <p:spPr>
          <a:xfrm>
            <a:off x="80962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="61912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="5715000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noGrp="1"/>
          </p:cNvSpPr>
          <p:nvPr/>
        </p:nvSpPr>
        <p:spPr>
          <a:xfrm>
            <a:off x="1100137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="1081087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="762000" y="2143125"/>
          <a:ext cx="1438275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="762000" y="6429375"/>
          <a:ext cx="14382750" cy="1428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="76200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noGrp="1"/>
          </p:cNvSpPr>
          <p:nvPr/>
        </p:nvSpPr>
        <p:spPr>
          <a:xfrm>
            <a:off x="809625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="809625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="714375" y="2286000"/>
          <a:ext cx="1076325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="11811000" y="2667000"/>
          <a:ext cx="333375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="762000" y="2238375"/>
          <a:ext cx="14382750" cy="54483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8780403-6C15-4174-AC89-84968144C8B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10/22–10/28 演算法更新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359D22-4735-493B-A2AD-7EDD582E9B2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延續上週的固定 Framework 搜尋，加入選親與 Framework 更新機制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9E06E9D-50BC-4C3F-8F03-E50F0CA22D4B}"/>
              </a:ext>
            </a:extLst>
          </p:cNvPr>
          <p:cNvGraphicFramePr/>
          <p:nvPr/>
        </p:nvGraphicFramePr>
        <p:xfrm>
          <a:off x="628650" y="2047875"/>
          <a:ext cx="14668500" cy="54292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5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日期／版本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原本行為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本階段變動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影響與驗證界線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10/22 · 4f37f5f6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交配後執行 Coach 突變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Coach／Traditional 互斥路徑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避免完整 Genome 覆蓋交配結果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67 項 focused tests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10/22 · 099a5848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Process-random UUID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Seed＋Lineage 決定 Candidate ID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保留既有 Resume ID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改善追蹤與可重現性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10/23 · 28ea6606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同適應度 Tier 偏好較遠行為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B 選最近相容行為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 多樣性規則不變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項 focused tests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10/24 · 009ee77a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Java Framework／Slots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Framework Reflection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策略修訂與 Genome Migration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六個 seed 已有設定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正式效能提升尚未驗證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385D141-B0B8-45AE-A2FC-5C731E31C966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日期依附件更新紀錄。變更已實作、測試通過與正式實驗完成，分別記錄。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4F8865DD-248D-4277-AAF2-758827B4B268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27630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3CCE9F-A7F2-4B61-B09E-786250BE621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實驗與工程變更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CCDB25-235B-40F1-B2C6-B2F8A777BC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設定擴充、重複性檢查與執行流程整理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73D7055-DACC-4E69-805A-61B5F5F0D3DC}"/>
              </a:ext>
            </a:extLst>
          </p:cNvPr>
          <p:cNvGraphicFramePr/>
          <p:nvPr/>
        </p:nvGraphicFramePr>
        <p:xfrm>
          <a:off x="628650" y="1952625"/>
          <a:ext cx="14668500" cy="58293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86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日期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變動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用途／實際狀態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10/22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Stability seeds 14–17；seed 8、13 各兩次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增加種子覆蓋與 same-seed 重複資料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10/22 · 9a341f2a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Fresh／Resume 共用 loop 與 finalization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降低兩種入口行為分歧；798 pass、5 skip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10/23 · aa09da10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Serial Match Execution：1 worker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與預設 parallel 10 workers 比較排程變異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10/23 · a95c549d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generations × 3 population 小型測試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8、13，各兩次；另有 seed 8 smoke test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10/23–24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Nearest 與 Reflection 各六個 seed 設定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 20 generations × 10 population，seed 8–13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10/24 · d349c4c9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48 個 manifest-backed runs 索引；GUI 解耦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 complete／2 running／3 initialized／1 interrupted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86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10/26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Codex CLI 推論後端討論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僅方案討論；尚未確認整合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9CD26A1-481E-4259-8469-25A45582A259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重複次數曾暫改為 3，最終恢復 2。索引狀態是 10/24 快照，並非目前執行狀態。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FD2326A0-2C0E-4655-8604-7C491B523D98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35301283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DB8FE41-4F16-46B6-9E69-11162536EFD5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10029825" y="654843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A80D2D8-96E1-4908-A93C-4F88ED420A90}"/>
              </a:ext>
            </a:extLst>
          </p:cNvPr>
          <p:cNvCxnSpPr>
            <a:stCxn id="14" idx="0"/>
            <a:endCxn id="8" idx="2"/>
          </p:cNvCxnSpPr>
          <p:nvPr/>
        </p:nvCxnSpPr>
        <p:spPr>
          <a:xfrm flipV="1">
            <a:off x="2700338" y="4953000"/>
            <a:ext cx="0" cy="104775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6372363-F0A6-4336-B4AB-A44563E9B242}"/>
              </a:ext>
            </a:extLst>
          </p:cNvPr>
          <p:cNvCxnSpPr>
            <a:stCxn id="15" idx="1"/>
            <a:endCxn id="14" idx="3"/>
          </p:cNvCxnSpPr>
          <p:nvPr/>
        </p:nvCxnSpPr>
        <p:spPr>
          <a:xfrm flipH="1">
            <a:off x="4772025" y="654843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A1D8DA5B-866D-4C2C-BE10-8AD1DCD5D391}"/>
              </a:ext>
            </a:extLst>
          </p:cNvPr>
          <p:cNvCxnSpPr>
            <a:stCxn id="10" idx="2"/>
            <a:endCxn id="15" idx="3"/>
          </p:cNvCxnSpPr>
          <p:nvPr/>
        </p:nvCxnSpPr>
        <p:spPr>
          <a:xfrm flipH="1">
            <a:off x="10029825" y="4953000"/>
            <a:ext cx="3186113" cy="1595438"/>
          </a:xfrm>
          <a:prstGeom prst="bentConnector5">
            <a:avLst>
              <a:gd name="adj1" fmla="val 0"/>
              <a:gd name="adj2" fmla="val 14328"/>
              <a:gd name="adj3" fmla="val 92825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11F402B-C31D-476C-9C84-D89D1840A81F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2700338" y="3095625"/>
            <a:ext cx="105156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EA03388-16E3-4C23-8073-9110F0B0B07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0029825" y="445293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87708DA-E93A-467A-A1D4-A9537EB8BE2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772025" y="445293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C844C70-5C97-43B4-ADAB-F7EC04EFC65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29825" y="2595563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53C1E65-AE71-43B9-A757-18C4F118B18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72025" y="2595563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672023A8-BE9C-4BD7-97DF-38AE717E27C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演化流程與 LLM 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87D3E-B2B9-4D98-86C2-1BC59338DF1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Reflection 模式使用初始生成、週期反思及本地繁殖三個階段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44FF616-42E2-4552-B954-0AEEC2669E95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 Framework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Groq GPT-OSS-120B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E4A622A-46C2-4762-84A5-377C21193918}"/>
              </a:ext>
            </a:extLst>
          </p:cNvPr>
          <p:cNvSpPr>
            <a:spLocks noGrp="1"/>
          </p:cNvSpPr>
          <p:nvPr/>
        </p:nvSpPr>
        <p:spPr>
          <a:xfrm>
            <a:off x="5886450" y="209550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G0：10 份策略描述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選出完整 Genome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3ABA230-D164-4202-9AAB-10B16158683F}"/>
              </a:ext>
            </a:extLst>
          </p:cNvPr>
          <p:cNvSpPr>
            <a:spLocks noGrp="1"/>
          </p:cNvSpPr>
          <p:nvPr/>
        </p:nvSpPr>
        <p:spPr>
          <a:xfrm>
            <a:off x="11144250" y="209550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驗證、編譯、評估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保存初始族群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9900E7B-4BB2-4197-944D-0A40DED6D53E}"/>
              </a:ext>
            </a:extLst>
          </p:cNvPr>
          <p:cNvSpPr>
            <a:spLocks noGrp="1"/>
          </p:cNvSpPr>
          <p:nvPr/>
        </p:nvSpPr>
        <p:spPr>
          <a:xfrm>
            <a:off x="628650" y="395287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新世代開始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更新對手快照／必要時反思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9E5CE18-E930-4B6F-A3BF-73C57A056063}"/>
              </a:ext>
            </a:extLst>
          </p:cNvPr>
          <p:cNvSpPr>
            <a:spLocks noGrp="1"/>
          </p:cNvSpPr>
          <p:nvPr/>
        </p:nvSpPr>
        <p:spPr>
          <a:xfrm>
            <a:off x="5886450" y="395287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選親與子代生成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或 Coach 路徑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F1E857F-D46E-4F68-91F9-F0594A4D941D}"/>
              </a:ext>
            </a:extLst>
          </p:cNvPr>
          <p:cNvSpPr>
            <a:spLocks noGrp="1"/>
          </p:cNvSpPr>
          <p:nvPr/>
        </p:nvSpPr>
        <p:spPr>
          <a:xfrm>
            <a:off x="11144250" y="395287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編譯與對戰評估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父代＋子代選 Survivor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D5B22C0-AE53-44B5-96E8-D39DA26D8666}"/>
              </a:ext>
            </a:extLst>
          </p:cNvPr>
          <p:cNvSpPr>
            <a:spLocks noGrp="1"/>
          </p:cNvSpPr>
          <p:nvPr/>
        </p:nvSpPr>
        <p:spPr>
          <a:xfrm>
            <a:off x="628650" y="6000750"/>
            <a:ext cx="4143375" cy="1095375"/>
          </a:xfrm>
          <a:prstGeom prst="roundRect">
            <a:avLst>
              <a:gd name="adj" fmla="val 6957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尚未停止：進入下一代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沿用已完成的版本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E621C4A-A843-4583-AC54-2B94F096D1D9}"/>
              </a:ext>
            </a:extLst>
          </p:cNvPr>
          <p:cNvSpPr>
            <a:spLocks noGrp="1"/>
          </p:cNvSpPr>
          <p:nvPr/>
        </p:nvSpPr>
        <p:spPr>
          <a:xfrm>
            <a:off x="5886450" y="6000750"/>
            <a:ext cx="4143375" cy="1095375"/>
          </a:xfrm>
          <a:prstGeom prst="roundRect">
            <a:avLst>
              <a:gd name="adj" fmla="val 6957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Generation Snapshot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Genome、Fitness、版本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AEA045B-78C4-4D59-91CB-89086FF2CD00}"/>
              </a:ext>
            </a:extLst>
          </p:cNvPr>
          <p:cNvSpPr>
            <a:spLocks noGrp="1"/>
          </p:cNvSpPr>
          <p:nvPr/>
        </p:nvSpPr>
        <p:spPr>
          <a:xfrm>
            <a:off x="11144250" y="6000750"/>
            <a:ext cx="4143375" cy="1095375"/>
          </a:xfrm>
          <a:prstGeom prst="roundRect">
            <a:avLst>
              <a:gd name="adj" fmla="val 6957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停止條件成立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Test／結果 Artifact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8251A3-D6A2-47A3-9911-33B2F3D8E9AB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crossover／mutation 不呼叫 LLM。候選失敗走既有診斷路徑；Framework 更新失敗則保留舊版。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9FF24043-617C-46E0-AC19-751377B3CB27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47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3142753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3D933E9-29DA-4A7D-BEB1-53E73BA33D1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9906000" y="4333875"/>
            <a:ext cx="1238250" cy="1476375"/>
          </a:xfrm>
          <a:prstGeom prst="bentConnector3">
            <a:avLst>
              <a:gd name="adj1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DF3148-A1C4-4B22-A8DE-C87FD24E070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906000" y="3000375"/>
            <a:ext cx="1238250" cy="1333500"/>
          </a:xfrm>
          <a:prstGeom prst="bentConnector3">
            <a:avLst>
              <a:gd name="adj1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2825C8E2-C028-4163-B1A0-0E6FEE34CA8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057650" y="4333875"/>
            <a:ext cx="1276350" cy="1476375"/>
          </a:xfrm>
          <a:prstGeom prst="bentConnector3">
            <a:avLst>
              <a:gd name="adj1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41C01EF2-5F2C-49A3-AC8D-5BF4162116EC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057650" y="3000375"/>
            <a:ext cx="1276350" cy="1333500"/>
          </a:xfrm>
          <a:prstGeom prst="bentConnector3">
            <a:avLst>
              <a:gd name="adj1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85C26A1-76CF-4C34-9CEA-EF08E12C113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Coach／Traditional 子代路徑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764ED4-4040-43B9-BF21-DC740F5DC54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每個子代獨立抽樣路徑；0.5 不保證每代剛好各一半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AD30443-D94E-497B-9A27-BC1215059262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3429000" cy="1238250"/>
          </a:xfrm>
          <a:prstGeom prst="roundRect">
            <a:avLst>
              <a:gd name="adj" fmla="val 6154"/>
            </a:avLst>
          </a:prstGeom>
          <a:solidFill>
            <a:srgbClr val="DEB4BA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 Parent A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RNG 選路徑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5682562-0C64-4A18-A728-2C5AB593D075}"/>
              </a:ext>
            </a:extLst>
          </p:cNvPr>
          <p:cNvSpPr>
            <a:spLocks noGrp="1"/>
          </p:cNvSpPr>
          <p:nvPr/>
        </p:nvSpPr>
        <p:spPr>
          <a:xfrm>
            <a:off x="5334000" y="2238375"/>
            <a:ext cx="4572000" cy="1524000"/>
          </a:xfrm>
          <a:prstGeom prst="roundRect">
            <a:avLst>
              <a:gd name="adj" fmla="val 5000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路徑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複製 A 的完整 Genome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讀取 Worst-Match Evidence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EFF6794-1DDC-443B-B9DE-FC38210F651A}"/>
              </a:ext>
            </a:extLst>
          </p:cNvPr>
          <p:cNvSpPr>
            <a:spLocks noGrp="1"/>
          </p:cNvSpPr>
          <p:nvPr/>
        </p:nvSpPr>
        <p:spPr>
          <a:xfrm>
            <a:off x="5334000" y="5048250"/>
            <a:ext cx="4572000" cy="1524000"/>
          </a:xfrm>
          <a:prstGeom prst="roundRect">
            <a:avLst>
              <a:gd name="adj" fmla="val 5000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Traditional 路徑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 Parent B、逐槽 crossover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single-slot mutation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512123E-2B4B-4771-85FD-A9B1321CF224}"/>
              </a:ext>
            </a:extLst>
          </p:cNvPr>
          <p:cNvSpPr>
            <a:spLocks noGrp="1"/>
          </p:cNvSpPr>
          <p:nvPr/>
        </p:nvSpPr>
        <p:spPr>
          <a:xfrm>
            <a:off x="11144250" y="3714750"/>
            <a:ext cx="4143375" cy="1238250"/>
          </a:xfrm>
          <a:prstGeom prst="roundRect">
            <a:avLst>
              <a:gd name="adj" fmla="val 6154"/>
            </a:avLst>
          </a:prstGeom>
          <a:solidFill>
            <a:srgbClr val="DEB4BA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Genome Schema 驗證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轉換 Java、編譯與評估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0871C9-C139-466F-B02B-037DAB4E984E}"/>
              </a:ext>
            </a:extLst>
          </p:cNvPr>
          <p:cNvSpPr>
            <a:spLocks noGrp="1"/>
          </p:cNvSpPr>
          <p:nvPr/>
        </p:nvSpPr>
        <p:spPr>
          <a:xfrm>
            <a:off x="5334000" y="3905250"/>
            <a:ext cx="4905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不使用 Parent B</a:t>
            </a:r>
          </a:p>
          <a:p>
            <a:pPr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也不執行 crossover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03B59B-2994-48BF-A4E4-1575591B6EFB}"/>
              </a:ext>
            </a:extLst>
          </p:cNvPr>
          <p:cNvSpPr>
            <a:spLocks noGrp="1"/>
          </p:cNvSpPr>
          <p:nvPr/>
        </p:nvSpPr>
        <p:spPr>
          <a:xfrm>
            <a:off x="5334000" y="6715125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0.75；mutation 1.0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24DF3B-4605-400F-9210-427AD31BA9AB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probability 0／0.5／1：全部 Traditional／機率分流／全部 Coach；null 保留 legacy。G0 仍由 Coach 初始化。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ED6AB97E-CE8D-4651-B5ED-0A0464640510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48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35791897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96CCC97-BCE3-432C-9DE2-71032704FCE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29825" y="2690813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2104443-9E15-4C50-97A0-16D03E6AAD3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72025" y="2690813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255A6B3-CD1C-446B-8FB6-32CF344C663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Nearest-Behavior Mating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353E6-AF1D-4355-A647-67A909267CD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交配利用相似行為；Survivor 邊界選擇維持行為多樣性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5C34DC2-C5C9-4F76-AAED-F9549D161989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Scalar Game Performance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最高 Fitness Tier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2C5B57E-0358-453C-B57B-101C2F2DF19C}"/>
              </a:ext>
            </a:extLst>
          </p:cNvPr>
          <p:cNvSpPr>
            <a:spLocks noGrp="1"/>
          </p:cNvSpPr>
          <p:nvPr/>
        </p:nvSpPr>
        <p:spPr>
          <a:xfrm>
            <a:off x="5886450" y="219075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同級有其他個體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排除 Parent 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50E9A8-7F67-4309-9F57-2D8CF63B894A}"/>
              </a:ext>
            </a:extLst>
          </p:cNvPr>
          <p:cNvSpPr>
            <a:spLocks noGrp="1"/>
          </p:cNvSpPr>
          <p:nvPr/>
        </p:nvSpPr>
        <p:spPr>
          <a:xfrm>
            <a:off x="11144250" y="2190750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相容 Behavior Signatures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選最小語意距離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CB0F8F6-BE3E-4904-B610-972C94D71B03}"/>
              </a:ext>
            </a:extLst>
          </p:cNvPr>
          <p:cNvGraphicFramePr/>
          <p:nvPr/>
        </p:nvGraphicFramePr>
        <p:xfrm>
          <a:off x="628650" y="3857625"/>
          <a:ext cx="14668500" cy="371475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決策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規則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同級容許差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fitness_tie_tolerance = 1.0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距離相同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ID 穩定排序後，以 Seeded RNG 選擇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Signature 不相容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使用既有 fallback；最高 Tier 只有 A 時可重用 A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 邊界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維持 farthest-first／max-min 語意多樣性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 定義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Signature 不是第二個最佳化目標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32A2B9C-42C2-4DC2-9D8A-01BFF7F2AD13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Fixed-roster lexicase 不受影響。Nearest 的收斂與最終成效，仍需共同對手集合的受控比較。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14712517-A916-4078-ABC9-E29BDC56E4FE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49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634022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1C499F5-43A9-4F74-A404-03DEE8790D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029825" y="48101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E4B316C-FED3-438F-8D8F-C61B3CBAE36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72025" y="48101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180AC3C-99A3-49FC-93EF-78DC5A92C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Whole-Framework Reflection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2C07FE-B903-432E-8AFC-585FACEDBE7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每五代於對手刷新邊界，以前一代 Survivor 提出新 Framework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FD83CF-949B-4CC5-BE46-C0C5DE1872C0}"/>
              </a:ext>
            </a:extLst>
          </p:cNvPr>
          <p:cNvGraphicFramePr/>
          <p:nvPr/>
        </p:nvGraphicFramePr>
        <p:xfrm>
          <a:off x="628650" y="2000250"/>
          <a:ext cx="14668500" cy="128587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G20 結束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初始化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初始對手快照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G5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G10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G15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不額外反思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: 圓角 3">
            <a:extLst>
              <a:ext uri="{FF2B5EF4-FFF2-40B4-BE49-F238E27FC236}">
                <a16:creationId xmlns:a16="http://schemas.microsoft.com/office/drawing/2014/main" id="{36087651-B7F5-4FC1-B481-D437EE042878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Survivor 證據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Description、Genome、Fitness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當前 Framework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A5779FB-126C-40C6-9297-815A4F92FBD4}"/>
              </a:ext>
            </a:extLst>
          </p:cNvPr>
          <p:cNvSpPr>
            <a:spLocks noGrp="1"/>
          </p:cNvSpPr>
          <p:nvPr/>
        </p:nvSpPr>
        <p:spPr>
          <a:xfrm>
            <a:off x="58864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Qwen3.5-9B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重新設計 Java 與 Typed Slots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3991D9-AEB1-47B0-90CB-F29854EF80AF}"/>
              </a:ext>
            </a:extLst>
          </p:cNvPr>
          <p:cNvSpPr>
            <a:spLocks noGrp="1"/>
          </p:cNvSpPr>
          <p:nvPr/>
        </p:nvSpPr>
        <p:spPr>
          <a:xfrm>
            <a:off x="111442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Schema／Java／Compilation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Default、Choices、Endpoints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Transition Genome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A46D21-A0D4-4551-BB53-104D2301A781}"/>
              </a:ext>
            </a:extLst>
          </p:cNvPr>
          <p:cNvSpPr>
            <a:spLocks noGrp="1"/>
          </p:cNvSpPr>
          <p:nvPr/>
        </p:nvSpPr>
        <p:spPr>
          <a:xfrm>
            <a:off x="628650" y="609600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提案失敗：最多 3 次診斷導向修復；仍失敗則保留舊 Framework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345344-CBAF-4C6A-838E-7C34A2071DC4}"/>
              </a:ext>
            </a:extLst>
          </p:cNvPr>
          <p:cNvSpPr>
            <a:spLocks noGrp="1"/>
          </p:cNvSpPr>
          <p:nvPr/>
        </p:nvSpPr>
        <p:spPr>
          <a:xfrm>
            <a:off x="628650" y="6905625"/>
            <a:ext cx="1438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允許修改 Slot 數量、類型、Domain 及策略規則，仍需遵守 CandidateAgent 介面與安全限制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3AAD47-580F-46A9-9530-487B6F6E9DC6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這些檢查涵蓋指定樣本與端點，不代表已窮舉所有 Slot 組合。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FC08697A-E13C-4532-8C38-F5D4848A1CAC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50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19642456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1CDF719-B28B-46C3-91E3-8831B71627D4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4772025" y="50006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51C1B5C-8062-4019-A6AE-3DC090EA09D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0029825" y="50006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45BFEB53-81C8-4A26-B76F-78C78ED66645}"/>
              </a:ext>
            </a:extLst>
          </p:cNvPr>
          <p:cNvCxnSpPr>
            <a:stCxn id="5" idx="2"/>
            <a:endCxn id="9" idx="0"/>
          </p:cNvCxnSpPr>
          <p:nvPr/>
        </p:nvCxnSpPr>
        <p:spPr>
          <a:xfrm flipH="1">
            <a:off x="7958138" y="3143250"/>
            <a:ext cx="5257800" cy="1285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EAB12C9-7FB3-4BA8-8D5E-140782CB450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29825" y="264318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F65DC1C2-E1B1-4BC7-B70D-770C1E29CBF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72025" y="264318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EB08F9B-E1A6-497D-B80F-B55A34DFA9D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Revision 與 Genome Migration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A9C750-B5DD-47DE-8847-C53F4E975F0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策略描述跨版本保存意圖，完整 Genome 決定實際執行行為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2C7AB37-36B1-4DCD-87FF-AEF91FC38618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舊 Framework＋Survivors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策略描述、Genome、Fitness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5341375-D0AA-4AB3-8C40-9E27FCBED120}"/>
              </a:ext>
            </a:extLst>
          </p:cNvPr>
          <p:cNvSpPr>
            <a:spLocks noGrp="1"/>
          </p:cNvSpPr>
          <p:nvPr/>
        </p:nvSpPr>
        <p:spPr>
          <a:xfrm>
            <a:off x="58864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Revision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每個來源 ID 都需對應描述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A5C74E-F2D3-4EEB-8200-0EDB92F20CBD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Coach Migration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新舊 Framework＋修訂描述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FD1F7BA-3AD9-4A2A-A6DE-5A69300F7FD4}"/>
              </a:ext>
            </a:extLst>
          </p:cNvPr>
          <p:cNvSpPr>
            <a:spLocks noGrp="1"/>
          </p:cNvSpPr>
          <p:nvPr/>
        </p:nvSpPr>
        <p:spPr>
          <a:xfrm>
            <a:off x="6286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更新失敗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回復舊版並繼續演化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4534245-A335-4C8F-BABF-8CF0A45C527D}"/>
              </a:ext>
            </a:extLst>
          </p:cNvPr>
          <p:cNvSpPr>
            <a:spLocks noGrp="1"/>
          </p:cNvSpPr>
          <p:nvPr/>
        </p:nvSpPr>
        <p:spPr>
          <a:xfrm>
            <a:off x="58864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完整新 Genome 驗證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Parent Replica 重新評估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4B68DB-3953-4573-9750-DEFF8467E887}"/>
              </a:ext>
            </a:extLst>
          </p:cNvPr>
          <p:cNvSpPr>
            <a:spLocks noGrp="1"/>
          </p:cNvSpPr>
          <p:nvPr/>
        </p:nvSpPr>
        <p:spPr>
          <a:xfrm>
            <a:off x="111442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Generation Snapshot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才正式啟用新 Framework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4F1CE8-1842-4F08-B68D-2C636ED3D85A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子代繼承 A 的 description；crossover／mutation 不改寫描述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DABE63-8011-4DD1-BEE9-591D65C288C7}"/>
              </a:ext>
            </a:extLst>
          </p:cNvPr>
          <p:cNvSpPr>
            <a:spLocks noGrp="1"/>
          </p:cNvSpPr>
          <p:nvPr/>
        </p:nvSpPr>
        <p:spPr>
          <a:xfrm>
            <a:off x="628650" y="7000875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Migration 不以預設值填補不相容 Slots。Resume 使用 checkpoint 指定版本，忽略未完成的反思。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DBA199-9118-4F0E-8606-0BE502203A4B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版本：framework/versions/&lt;sha256&gt;/bundle.json；描述可能與後續 local mutation 的實際行為出現落差。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3C29C0E6-85E7-4964-BB2C-DCB5D7ED3E4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51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1769731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AC6104A-D3D2-4995-8C4A-A5A5ED2EBFB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新增實驗設定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EA01E-9094-4D47-A8AC-53B4C18C03B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設定存在與實驗完成分別追蹤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6764AF2-4962-42E2-AEC3-638ED3A785FC}"/>
              </a:ext>
            </a:extLst>
          </p:cNvPr>
          <p:cNvGraphicFramePr/>
          <p:nvPr/>
        </p:nvGraphicFramePr>
        <p:xfrm>
          <a:off x="628650" y="2047875"/>
          <a:ext cx="14668500" cy="447675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實驗組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Seeds／次數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世代 × 族群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主要控制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Stability 擴充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14–17，各 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Worker Combat／Local／Self-play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Same-seed repeatability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8、13，各 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完整設定另記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最終排程 8、8、13、13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Small reproducibility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8、13，各 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× 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個排程 runs；另有 seed 8 smoke test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Nearest local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8–13，各 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Coach／Commentator disabled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reflection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8–13，各 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 GPT-OSS；本地 Qwen；context 65,536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AFD4FB5-C99A-46E3-9E25-85C45486B4A0}"/>
              </a:ext>
            </a:extLst>
          </p:cNvPr>
          <p:cNvSpPr>
            <a:spLocks noGrp="1"/>
          </p:cNvSpPr>
          <p:nvPr/>
        </p:nvSpPr>
        <p:spPr>
          <a:xfrm>
            <a:off x="628650" y="6810375"/>
            <a:ext cx="1428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Nearest 與 Reflection：crossover 0.75、mutation 1.0；Self-play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43BD1-6EA8-4399-A199-273E6AB607B5}"/>
              </a:ext>
            </a:extLst>
          </p:cNvPr>
          <p:cNvSpPr>
            <a:spLocks noGrp="1"/>
          </p:cNvSpPr>
          <p:nvPr/>
        </p:nvSpPr>
        <p:spPr>
          <a:xfrm>
            <a:off x="628650" y="73818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Nearest：pool capacity 50、refresh interval 5；三張地圖 8×8／16×16／24×24，ticks 1,500／3,000／4,000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9B5BA2-AA73-4CA9-A7D8-385218B78A2D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Reflection 六組正式實驗是否全部完成，原始整理尚未確認。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BB229244-27A0-4233-90E9-48BD709642F6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52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379218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E89ABC6-8C96-4DB8-A77C-5657C5ACB7B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Rich Framework Local：Seed 間差異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6D536A-7E78-4194-A3F7-07D03D35378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10/24 索引的 Mean Best Fitness；包含區間前啟動的 runs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93F8BD3E-8A84-4297-AB34-FC1A492BE043}"/>
              </a:ext>
            </a:extLst>
          </p:cNvPr>
          <p:cNvGraphicFramePr/>
          <p:nvPr/>
        </p:nvGraphicFramePr>
        <p:xfrm>
          <a:off x="762000" y="2143125"/>
          <a:ext cx="10001250" cy="523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DA6A97E-1C4E-438C-A7D3-42D0A7DC37A1}"/>
              </a:ext>
            </a:extLst>
          </p:cNvPr>
          <p:cNvSpPr>
            <a:spLocks noGrp="1"/>
          </p:cNvSpPr>
          <p:nvPr/>
        </p:nvSpPr>
        <p:spPr>
          <a:xfrm>
            <a:off x="11239500" y="2476500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完成數／紀錄數</a:t>
            </a:r>
          </a:p>
          <a:p>
            <a: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標於 seed 下方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9269F6-48FD-40EB-BC0C-53EB17750F73}"/>
              </a:ext>
            </a:extLst>
          </p:cNvPr>
          <p:cNvSpPr>
            <a:spLocks noGrp="1"/>
          </p:cNvSpPr>
          <p:nvPr/>
        </p:nvSpPr>
        <p:spPr>
          <a:xfrm>
            <a:off x="11239500" y="3857625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11 僅 1／3 完成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其餘 run 不構成完成樣本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1199D-FF8A-4862-ABAA-A218E76CD117}"/>
              </a:ext>
            </a:extLst>
          </p:cNvPr>
          <p:cNvSpPr>
            <a:spLocks noGrp="1"/>
          </p:cNvSpPr>
          <p:nvPr/>
        </p:nvSpPr>
        <p:spPr>
          <a:xfrm>
            <a:off x="11239500" y="5905500"/>
            <a:ext cx="3714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資料含區間外基準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啟動日／版本未提供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45EF15-244C-486A-BBD5-6FF0FFBB83F3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這是搜尋適應度，並非共同 Final Test。不同對手快照與完成狀態限制跨 run 的比較。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3B845AE1-B5DD-4F26-A24B-21C5868BFB31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53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1603848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87F9003-B512-4BA6-A54D-F29E361441E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實驗組結果與比較界線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E628DA-B514-4A9E-B9EB-336026C1770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10/24 歷史快照；Mean Best Fitness 以完成 runs 為基礎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1604524-1791-4AC8-85C4-F505123CA7E2}"/>
              </a:ext>
            </a:extLst>
          </p:cNvPr>
          <p:cNvGraphicFramePr/>
          <p:nvPr/>
        </p:nvGraphicFramePr>
        <p:xfrm>
          <a:off x="628650" y="2095500"/>
          <a:ext cx="14668500" cy="4286250"/>
        </p:xfrm>
        <a:graphic>
          <a:graphicData uri="http://schemas.openxmlformats.org/drawingml/2006/table">
            <a:tbl>
              <a:tblPr/>
              <a:tblGrid>
                <a:gridCol w="528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實驗組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完成／紀錄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Mean Best Fitness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證據定位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Stability seeds 8–13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12／13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4.758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含區間外基準；版本／啟動日未提供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Stability seeds 8、13 重複組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4／5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12.488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 seed 重複；非單一 seed 平均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Stability seeds 14–17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4／4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−8.499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本階段新增 seed 範圍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Nearest-Behavior Local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6／7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10.688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不能據此推論優於舊選親方法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Reflection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尚未確認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未提供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需要正式完成結果及共同 Final Test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828B1F3-5D4C-480D-BCFC-DDF92FB4D20E}"/>
              </a:ext>
            </a:extLst>
          </p:cNvPr>
          <p:cNvSpPr>
            <a:spLocks noGrp="1"/>
          </p:cNvSpPr>
          <p:nvPr/>
        </p:nvSpPr>
        <p:spPr>
          <a:xfrm>
            <a:off x="628650" y="6858000"/>
            <a:ext cx="14382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對手快照、seed 範圍與樣本數不同，群組均值無法直接建立因果結論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7A9FB3-751D-458C-8FA1-DFBAA3732545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總索引：48 manifest-backed runs，42 complete；另有 4 個非標準資料目錄。不可把設定數當完成數。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74273764-FBCE-4008-870F-91CCD0745999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54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4162611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F99F9F-0BF2-4492-979F-B32E4AAE7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上週時間基準與新增成本缺口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DE2A2F-A394-4C13-B896-69266907709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截至 10/22 的兩批 Local runs；沿用原簡報第 38、44 頁的歷史資料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0077FA2-B905-46C7-A560-09159319CEA9}"/>
              </a:ext>
            </a:extLst>
          </p:cNvPr>
          <p:cNvGraphicFramePr/>
          <p:nvPr/>
        </p:nvGraphicFramePr>
        <p:xfrm>
          <a:off x="628650" y="2190750"/>
          <a:ext cx="9715500" cy="504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5E692B2-09C1-410A-9DA0-7453AFB37662}"/>
              </a:ext>
            </a:extLst>
          </p:cNvPr>
          <p:cNvSpPr>
            <a:spLocks noGrp="1"/>
          </p:cNvSpPr>
          <p:nvPr/>
        </p:nvSpPr>
        <p:spPr>
          <a:xfrm>
            <a:off x="10953750" y="2143125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共同歷史條件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B7926C-285B-43E9-B1F7-825B632A363B}"/>
              </a:ext>
            </a:extLst>
          </p:cNvPr>
          <p:cNvSpPr>
            <a:spLocks noGrp="1"/>
          </p:cNvSpPr>
          <p:nvPr/>
        </p:nvSpPr>
        <p:spPr>
          <a:xfrm>
            <a:off x="10953750" y="2952750"/>
            <a:ext cx="40957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 frozen bundle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Local、10 population × 20 generations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每批 6 個 seed，均完成 G20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FE629E-7A74-4683-9B25-F61E851C7DA5}"/>
              </a:ext>
            </a:extLst>
          </p:cNvPr>
          <p:cNvSpPr>
            <a:spLocks noGrp="1"/>
          </p:cNvSpPr>
          <p:nvPr/>
        </p:nvSpPr>
        <p:spPr>
          <a:xfrm>
            <a:off x="10953750" y="533400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新增方法尚缺計時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CE2659-E4C1-42A0-AB54-06F7A3BF1E12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4095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Nearest／Reflection 未提供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可對齊的 G0、完成世代與總耗時</a:t>
            </a:r>
          </a:p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尚無效益／成本結論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3E2D04-03E8-4689-B3AF-3EF2FCFEB7FA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 wall 包含 G0–G20。G1–20 為世代時間加總；600 場 Final Test span 不含編譯／Integration。此圖不是新方法對比。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5BF81A43-D8CC-4336-B2E8-CDDD56BBEF0B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2307726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A44A679-ED6D-4C98-8FA9-4AC0A913581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已驗證範圍與下一步研究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8453DB-8D06-4DA4-A679-94F8C634F94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工程測試支持流程契約，演算法效益仍需受控實驗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F7E8F9E-2DF4-42AE-9D30-9866E160EDA0}"/>
              </a:ext>
            </a:extLst>
          </p:cNvPr>
          <p:cNvGraphicFramePr/>
          <p:nvPr/>
        </p:nvGraphicFramePr>
        <p:xfrm>
          <a:off x="628650" y="2047875"/>
          <a:ext cx="14668500" cy="44767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已提供證據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下一個判別實驗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Coach／Traditional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67 項 focused WSL tests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seed／共同對手的繁殖路徑比較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Nearest selection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項 focused tests；6／7 runs 完成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舊選親 vs nearest 的共同 Final Test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Shared loop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798 pass、5 skip、0 fail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Fresh／Resume 的相同 checkpoint 比對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reflection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實作、契約與測試已新增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Frozen vs reflection：最終效能＋耗時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Migration／Diversity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版本與證據保存機制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遷移前後退化、描述與行為的一致性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A06623C-79DD-4B65-BACE-DF2FED0CAD9E}"/>
              </a:ext>
            </a:extLst>
          </p:cNvPr>
          <p:cNvSpPr>
            <a:spLocks noGrp="1"/>
          </p:cNvSpPr>
          <p:nvPr/>
        </p:nvSpPr>
        <p:spPr>
          <a:xfrm>
            <a:off x="628650" y="7000875"/>
            <a:ext cx="1438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Codex CLI 後端：10/26 僅為方案討論，尚未確認整合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B50FC-E617-41D6-BD71-D94FB3AC2B65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測試數為附件所載歷史結果，本次未重跑。正式實驗與效能結論，需另以完成 run 證據確認。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F0D831CE-1D29-4762-B2AE-3F35DE6935C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4121394903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13143</Words>
  <Application>Microsoft Office PowerPoint</Application>
  <DocSecurity>0</DocSecurity>
  <PresentationFormat>自訂</PresentationFormat>
  <Paragraphs>1522</Paragraphs>
  <Slides>56</Slides>
  <Notes>56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58" baseType="lpstr">
      <vt:lpstr>Source Han Serif TW</vt:lpstr>
      <vt:lpstr>EAGLE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8</cp:revision>
  <dcterms:created xsi:type="dcterms:W3CDTF">2026-10-21T16:35:41Z</dcterms:created>
  <dcterms:modified xsi:type="dcterms:W3CDTF">2026-10-28T11:54:47Z</dcterms:modified>
</cp:coreProperties>
</file>