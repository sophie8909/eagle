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.xml" ContentType="application/vnd.openxmlformats-officedocument.drawingml.chart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model_comparison/notesSlides/notesSlide1.xml" ContentType="application/vnd.openxmlformats-officedocument.presentationml.notesSlide+xml"/>
  <Override PartName="/ppt/slides/slide36.xml" ContentType="application/vnd.openxmlformats-officedocument.presentationml.slide+xml"/>
  <Override PartName="/ppt/model_comparison/notesSlides/notesSlide2.xml" ContentType="application/vnd.openxmlformats-officedocument.presentationml.notesSlide+xml"/>
  <Override PartName="/ppt/slides/slide37.xml" ContentType="application/vnd.openxmlformats-officedocument.presentationml.slide+xml"/>
  <Override PartName="/ppt/model_comparison/notesSlides/notesSlide3.xml" ContentType="application/vnd.openxmlformats-officedocument.presentationml.notesSlide+xml"/>
  <Override PartName="/ppt/slides/slide38.xml" ContentType="application/vnd.openxmlformats-officedocument.presentationml.slide+xml"/>
  <Override PartName="/ppt/model_comparison/slides/charts/chart1.xml" ContentType="application/vnd.openxmlformats-officedocument.drawingml.chart+xml"/>
  <Override PartName="/ppt/model_comparison/slides/charts/chart2.xml" ContentType="application/vnd.openxmlformats-officedocument.drawingml.chart+xml"/>
  <Override PartName="/ppt/model_comparison/notesSlides/notesSlide4.xml" ContentType="application/vnd.openxmlformats-officedocument.presentationml.notesSlide+xml"/>
  <Override PartName="/ppt/slides/slide39.xml" ContentType="application/vnd.openxmlformats-officedocument.presentationml.slide+xml"/>
  <Override PartName="/ppt/model_comparison/slides/charts/chart3.xml" ContentType="application/vnd.openxmlformats-officedocument.drawingml.chart+xml"/>
  <Override PartName="/ppt/model_comparison/slides/charts/chart4.xml" ContentType="application/vnd.openxmlformats-officedocument.drawingml.chart+xml"/>
  <Override PartName="/ppt/model_comparison/notesSlides/notesSlide5.xml" ContentType="application/vnd.openxmlformats-officedocument.presentationml.notesSlide+xml"/>
  <Override PartName="/ppt/slides/slide40.xml" ContentType="application/vnd.openxmlformats-officedocument.presentationml.slide+xml"/>
  <Override PartName="/ppt/model_comparison/notesSlides/notesSlide6.xml" ContentType="application/vnd.openxmlformats-officedocument.presentationml.notesSlide+xml"/>
  <Override PartName="/ppt/slides/slide41.xml" ContentType="application/vnd.openxmlformats-officedocument.presentationml.slide+xml"/>
  <Override PartName="/ppt/model_comparison/slides/charts/chart5.xml" ContentType="application/vnd.openxmlformats-officedocument.drawingml.chart+xml"/>
  <Override PartName="/ppt/model_comparison/notesSlides/notesSlide7.xml" ContentType="application/vnd.openxmlformats-officedocument.presentationml.notesSlide+xml"/>
  <Override PartName="/ppt/slides/slide42.xml" ContentType="application/vnd.openxmlformats-officedocument.presentationml.slide+xml"/>
  <Override PartName="/ppt/model_comparison/notesSlides/notesSlide8.xml" ContentType="application/vnd.openxmlformats-officedocument.presentationml.notesSlide+xml"/>
  <Override PartName="/ppt/slides/slide43.xml" ContentType="application/vnd.openxmlformats-officedocument.presentationml.slide+xml"/>
  <Override PartName="/ppt/model_comparison/notesSlides/notesSlide9.xml" ContentType="application/vnd.openxmlformats-officedocument.presentationml.notesSlide+xml"/>
  <Override PartName="/ppt/slides/slide44.xml" ContentType="application/vnd.openxmlformats-officedocument.presentationml.slide+xml"/>
  <Override PartName="/ppt/model_comparison/notesSlides/notesSlide10.xml" ContentType="application/vnd.openxmlformats-officedocument.presentationml.notesSlide+xml"/>
  <Override PartName="/ppt/slides/slide45.xml" ContentType="application/vnd.openxmlformats-officedocument.presentationml.slide+xml"/>
  <Override PartName="/ppt/model_comparison/notesSlides/notesSlide11.xml" ContentType="application/vnd.openxmlformats-officedocument.presentationml.notesSlide+xml"/>
  <Override PartName="/ppt/slides/slide46.xml" ContentType="application/vnd.openxmlformats-officedocument.presentationml.slide+xml"/>
  <Override PartName="/ppt/model_comparison/notesSlides/notesSlide12.xml" ContentType="application/vnd.openxmlformats-officedocument.presentationml.notesSlide+xml"/>
  <Override PartName="/ppt/slides/slide47.xml" ContentType="application/vnd.openxmlformats-officedocument.presentationml.slide+xml"/>
  <Override PartName="/ppt/model_comparison/notesSlides/notesSlide13.xml" ContentType="application/vnd.openxmlformats-officedocument.presentationml.notesSlide+xml"/>
  <Override PartName="/ppt/slides/slide48.xml" ContentType="application/vnd.openxmlformats-officedocument.presentationml.slide+xml"/>
  <Override PartName="/ppt/model_comparison/slides/charts/chart6.xml" ContentType="application/vnd.openxmlformats-officedocument.drawingml.chart+xml"/>
  <Override PartName="/ppt/model_comparison/notesSlides/notesSlide14.xml" ContentType="application/vnd.openxmlformats-officedocument.presentationml.notesSlide+xml"/>
  <Override PartName="/ppt/slides/slide49.xml" ContentType="application/vnd.openxmlformats-officedocument.presentationml.slide+xml"/>
  <Override PartName="/ppt/model_comparison/notesSlides/notesSlide15.xml" ContentType="application/vnd.openxmlformats-officedocument.presentationml.notesSlide+xml"/>
  <Override PartName="/ppt/slides/slide50.xml" ContentType="application/vnd.openxmlformats-officedocument.presentationml.slide+xml"/>
  <Override PartName="/ppt/model_comparison/notesSlides/notesSlide1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ModelComparison1"/>
    <p:sldId id="291" r:id="rIdModelComparison2"/>
    <p:sldId id="292" r:id="rIdModelComparison3"/>
    <p:sldId id="293" r:id="rIdModelComparison4"/>
    <p:sldId id="294" r:id="rIdModelComparison5"/>
    <p:sldId id="295" r:id="rIdModelComparison6"/>
    <p:sldId id="296" r:id="rIdModelComparison7"/>
    <p:sldId id="297" r:id="rIdModelComparison8"/>
    <p:sldId id="298" r:id="rIdModelComparison9"/>
    <p:sldId id="299" r:id="rIdModelComparison10"/>
    <p:sldId id="300" r:id="rIdModelComparison11"/>
    <p:sldId id="301" r:id="rIdModelComparison12"/>
    <p:sldId id="302" r:id="rIdModelComparison13"/>
    <p:sldId id="303" r:id="rIdModelComparison14"/>
    <p:sldId id="304" r:id="rIdModelComparison15"/>
    <p:sldId id="305" r:id="rIdModelComparison16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ModelComparison1" Type="http://schemas.openxmlformats.org/officeDocument/2006/relationships/slide" Target="slides/slide35.xml"/><Relationship Id="rIdModelComparison2" Type="http://schemas.openxmlformats.org/officeDocument/2006/relationships/slide" Target="slides/slide36.xml"/><Relationship Id="rIdModelComparison3" Type="http://schemas.openxmlformats.org/officeDocument/2006/relationships/slide" Target="slides/slide37.xml"/><Relationship Id="rIdModelComparison4" Type="http://schemas.openxmlformats.org/officeDocument/2006/relationships/slide" Target="slides/slide38.xml"/><Relationship Id="rIdModelComparison5" Type="http://schemas.openxmlformats.org/officeDocument/2006/relationships/slide" Target="slides/slide39.xml"/><Relationship Id="rIdModelComparison6" Type="http://schemas.openxmlformats.org/officeDocument/2006/relationships/slide" Target="slides/slide40.xml"/><Relationship Id="rIdModelComparison7" Type="http://schemas.openxmlformats.org/officeDocument/2006/relationships/slide" Target="slides/slide41.xml"/><Relationship Id="rIdModelComparison8" Type="http://schemas.openxmlformats.org/officeDocument/2006/relationships/slide" Target="slides/slide42.xml"/><Relationship Id="rIdModelComparison9" Type="http://schemas.openxmlformats.org/officeDocument/2006/relationships/slide" Target="slides/slide43.xml"/><Relationship Id="rIdModelComparison10" Type="http://schemas.openxmlformats.org/officeDocument/2006/relationships/slide" Target="slides/slide44.xml"/><Relationship Id="rIdModelComparison11" Type="http://schemas.openxmlformats.org/officeDocument/2006/relationships/slide" Target="slides/slide45.xml"/><Relationship Id="rIdModelComparison12" Type="http://schemas.openxmlformats.org/officeDocument/2006/relationships/slide" Target="slides/slide46.xml"/><Relationship Id="rIdModelComparison13" Type="http://schemas.openxmlformats.org/officeDocument/2006/relationships/slide" Target="slides/slide47.xml"/><Relationship Id="rIdModelComparison14" Type="http://schemas.openxmlformats.org/officeDocument/2006/relationships/slide" Target="slides/slide48.xml"/><Relationship Id="rIdModelComparison15" Type="http://schemas.openxmlformats.org/officeDocument/2006/relationships/slide" Target="slides/slide49.xml"/><Relationship Id="rIdModelComparison16" Type="http://schemas.openxmlformats.org/officeDocument/2006/relationships/slide" Target="slides/slid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20/20/60</c:v>
          </c:tx>
          <c:spPr>
            <a:ln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-81.900000000000006</c:v>
              </c:pt>
              <c:pt idx="10">
                <c:v>-81.8</c:v>
              </c:pt>
              <c:pt idx="11">
                <c:v>-82</c:v>
              </c:pt>
              <c:pt idx="12">
                <c:v>-80.900000000000006</c:v>
              </c:pt>
              <c:pt idx="13">
                <c:v>-79.599999999999994</c:v>
              </c:pt>
              <c:pt idx="14">
                <c:v>-81</c:v>
              </c:pt>
              <c:pt idx="15">
                <c:v>-78.900000000000006</c:v>
              </c:pt>
              <c:pt idx="16">
                <c:v>-76.099999999999994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-65.400000000000006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F2B5-4468-96DC-67358EC38851}"/>
            </c:ext>
          </c:extLst>
        </c:ser>
        <c:ser>
          <c:idx val="1"/>
          <c:order val="1"/>
          <c:tx>
            <c:v>33/33/34</c:v>
          </c:tx>
          <c:spPr>
            <a:ln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-68.099999999999994</c:v>
              </c:pt>
              <c:pt idx="4">
                <c:v>-64.599999999999994</c:v>
              </c:pt>
              <c:pt idx="5">
                <c:v>-59.7</c:v>
              </c:pt>
              <c:pt idx="6">
                <c:v>-66.400000000000006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F2B5-4468-96DC-67358EC38851}"/>
            </c:ext>
          </c:extLst>
        </c:ser>
        <c:ser>
          <c:idx val="2"/>
          <c:order val="2"/>
          <c:tx>
            <c:v>40/40/20</c:v>
          </c:tx>
          <c:spPr>
            <a:ln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F2B5-4468-96DC-67358EC388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low"/>
        <c:spPr>
          <a:ln w="9525">
            <a:solidFill>
              <a:srgbClr val="DEB4BA"/>
            </a:solidFill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w="9525">
              <a:solidFill>
                <a:srgbClr val="DEB4BA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Survivor mean GP</a:t>
                </a:r>
              </a:p>
            </c:rich>
          </c:tx>
          <c:overlay val="0"/>
        </c:title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210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>
              <a:srgbClr val="C69B45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DDF-4B6E-B077-3292E5639365}"/>
            </c:ext>
          </c:extLst>
        </c:ser>
        <c:ser>
          <c:idx val="1"/>
          <c:order val="1"/>
          <c:tx>
            <c:v>Draws</c:v>
          </c:tx>
          <c:spPr>
            <a:solidFill>
              <a:srgbClr val="CF8792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DDF-4B6E-B077-3292E5639365}"/>
            </c:ext>
          </c:extLst>
        </c:ser>
        <c:ser>
          <c:idx val="2"/>
          <c:order val="2"/>
          <c:tx>
            <c:v>Losses</c:v>
          </c:tx>
          <c:spPr>
            <a:solidFill>
              <a:srgbClr val="E7D8D6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DDF-4B6E-B077-3292E5639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w="9525">
              <a:solidFill>
                <a:srgbClr val="DEB4BA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0"/>
      </c:valAx>
      <c:spPr>
        <a:solidFill>
          <a:srgbClr val="FCF8F5"/>
        </a:solidFill>
      </c:spPr>
    </c:plotArea>
    <c:legend>
      <c:legendPos val="t"/>
      <c:overlay val="0"/>
      <c:txPr>
        <a:bodyPr anchorCtr="1"/>
        <a:lstStyle/>
        <a:p>
          <a:pPr>
            <a:defRPr sz="2175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model_comparison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lide35.xml" Id="Rce028845c222401a"/><Relationship Type="http://schemas.openxmlformats.org/officeDocument/2006/relationships/notesMaster" Target="../../notesMasters/notesMaster1.xml" Id="Rcd7fdc414dc54511"/></Relationships>
</file>

<file path=ppt/model_comparison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lide36.xml" Id="R9e9cfcdc66634474"/><Relationship Type="http://schemas.openxmlformats.org/officeDocument/2006/relationships/notesMaster" Target="../../notesMasters/notesMaster1.xml" Id="R3bf21a228db245e4"/></Relationships>
</file>

<file path=ppt/model_comparison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lide37.xml" Id="R2022f18d7bbe48da"/><Relationship Type="http://schemas.openxmlformats.org/officeDocument/2006/relationships/notesMaster" Target="../../notesMasters/notesMaster1.xml" Id="R19c44b8ba55f49de"/></Relationships>
</file>

<file path=ppt/model_comparison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slide38.xml" Id="R0cfc3bc2246243f6"/><Relationship Type="http://schemas.openxmlformats.org/officeDocument/2006/relationships/notesMaster" Target="../../notesMasters/notesMaster1.xml" Id="Rd9c861c7ca7a4c8b"/></Relationships>
</file>

<file path=ppt/model_comparison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slide39.xml" Id="Rbd371e0eed204382"/><Relationship Type="http://schemas.openxmlformats.org/officeDocument/2006/relationships/notesMaster" Target="../../notesMasters/notesMaster1.xml" Id="R6bdd3d46c9c34938"/></Relationships>
</file>

<file path=ppt/model_comparison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slide40.xml" Id="R7d3b21a41732462c"/><Relationship Type="http://schemas.openxmlformats.org/officeDocument/2006/relationships/notesMaster" Target="../../notesMasters/notesMaster1.xml" Id="Rb4347ba0643f4023"/></Relationships>
</file>

<file path=ppt/model_comparison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slide41.xml" Id="R7b158ce61f7941bf"/><Relationship Type="http://schemas.openxmlformats.org/officeDocument/2006/relationships/notesMaster" Target="../../notesMasters/notesMaster1.xml" Id="R7e9d880f1e954347"/></Relationships>
</file>

<file path=ppt/model_comparison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slide42.xml" Id="R1052c8c161074a95"/><Relationship Type="http://schemas.openxmlformats.org/officeDocument/2006/relationships/notesMaster" Target="../../notesMasters/notesMaster1.xml" Id="Rea3d0ae0f9834fd3"/></Relationships>
</file>

<file path=ppt/model_comparison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slide43.xml" Id="R61ce808f3bb549e6"/><Relationship Type="http://schemas.openxmlformats.org/officeDocument/2006/relationships/notesMaster" Target="../../notesMasters/notesMaster1.xml" Id="R57aab43babd94071"/></Relationships>
</file>

<file path=ppt/model_comparison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slide44.xml" Id="Rf22eec96fb544298"/><Relationship Type="http://schemas.openxmlformats.org/officeDocument/2006/relationships/notesMaster" Target="../../notesMasters/notesMaster1.xml" Id="R8929ff45efe94875"/></Relationships>
</file>

<file path=ppt/model_comparison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slide45.xml" Id="R9914bf5a0380439b"/><Relationship Type="http://schemas.openxmlformats.org/officeDocument/2006/relationships/notesMaster" Target="../../notesMasters/notesMaster1.xml" Id="R822dba3be1584e18"/></Relationships>
</file>

<file path=ppt/model_comparison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slide46.xml" Id="Ra1e94c0fda344d90"/><Relationship Type="http://schemas.openxmlformats.org/officeDocument/2006/relationships/notesMaster" Target="../../notesMasters/notesMaster1.xml" Id="R6b1bde0d60e14f94"/></Relationships>
</file>

<file path=ppt/model_comparison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slide47.xml" Id="R7074489fa7274d7e"/><Relationship Type="http://schemas.openxmlformats.org/officeDocument/2006/relationships/notesMaster" Target="../../notesMasters/notesMaster1.xml" Id="R1ca5f9ea78784fbd"/></Relationships>
</file>

<file path=ppt/model_comparison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slide48.xml" Id="R7bfd01b71dd447c9"/><Relationship Type="http://schemas.openxmlformats.org/officeDocument/2006/relationships/notesMaster" Target="../../notesMasters/notesMaster1.xml" Id="R6aaef5a87e024993"/></Relationships>
</file>

<file path=ppt/model_comparison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slide49.xml" Id="R3d02197c0cb149f5"/><Relationship Type="http://schemas.openxmlformats.org/officeDocument/2006/relationships/notesMaster" Target="../../notesMasters/notesMaster1.xml" Id="R93bf6ec33a4e4e92"/></Relationships>
</file>

<file path=ppt/model_comparison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slide50.xml" Id="Rb778ad67013c4743"/><Relationship Type="http://schemas.openxmlformats.org/officeDocument/2006/relationships/notesMaster" Target="../../notesMasters/notesMaster1.xml" Id="R50f2792f9cf7484a"/></Relationships>
</file>

<file path=ppt/model_comparison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一、結論摘要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這次兩項實驗的端到端結果很清楚：**純 Ministral 版本目前較適合作為正式演化流程**。它不只在最終族群的 aggregate game performance 大幅領先，也真正把策略轉成能贏比賽的 Java。雙模型版本的 Qwen3.5 9B 則有較高的生成、驗證與編譯成功率，也保留較多策略 niche，但這些優勢沒有轉成遊戲表現。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最重要的結果如下：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最終最佳 game performance：純 Ministral `-47.52`，雙模型 `-81.91`；純 Ministral 領先 `34.39` 分。</a:t>
            </a:r>
          </a:p>
          <a:p xmlns:a="http://schemas.openxmlformats.org/drawingml/2006/main">
            <a:r>
              <a:t>- 最終族群平均 game performance：純 Ministral `-58.99`，雙模型 `-87.62`；純 Ministral 領先 `28.63` 分。</a:t>
            </a:r>
          </a:p>
          <a:p xmlns:a="http://schemas.openxmlformats.org/drawingml/2006/main">
            <a:r>
              <a:t>- 最終 1,800 場族群對戰：純 Ministral `542 勝 / 202 和 / 1,056 敗`；雙模型只有 `5 勝 / 511 和 / 1,284 敗`。</a:t>
            </a:r>
          </a:p>
          <a:p xmlns:a="http://schemas.openxmlformats.org/drawingml/2006/main">
            <a:r>
              <a:t>- Java 生成成功率：純 Ministral `186/200 = 93.0%`，雙模型 `195/200 = 97.5%`；雙模型較穩定。</a:t>
            </a:r>
          </a:p>
          <a:p xmlns:a="http://schemas.openxmlformats.org/drawingml/2006/main">
            <a:r>
              <a:t>- 第一次生成即成功：純 Ministral `140/200 = 70.0%`，雙模型 `183/200 = 91.5%`。</a:t>
            </a:r>
          </a:p>
          <a:p xmlns:a="http://schemas.openxmlformats.org/drawingml/2006/main">
            <a:r>
              <a:t>- 最終策略 niche：純 Ministral 2 種，雙模型 4 種；但最終 Java hash 數為純 Ministral 10 種、雙模型只有 5 種。</a:t>
            </a:r>
          </a:p>
          <a:p xmlns:a="http://schemas.openxmlformats.org/drawingml/2006/main">
            <a:r>
              <a:t>- 最終族群 strategy-alignment 診斷平均：純 Ministral `6.2/10`，雙模型 `2.0/10`。</a:t>
            </a:r>
          </a:p>
          <a:p xmlns:a="http://schemas.openxmlformats.org/drawingml/2006/main">
            <a:r>
              <a:t>- Qwen 的 generation LLM 階段比較快，但雙模型個體更常把比賽拖長或拖成和局，導致整體演化反而較慢。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不過，**這不是嚴格控制的模型因果 A/B test**：兩次實驗分別用 LLM 重新產生初始 policy，10 個初始 policy 中只有 1 個 hash 相同。因此本報告能確定「這兩次完整流程的結果差很多」，但不能只用這一組實驗斷言差異全部由 Qwen3.5 9B 造成。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十三、整體判斷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13.1 可以下的結論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這次純 Ministral pipeline 的 competitive performance 明顯優於雙模型 pipeline。</a:t>
            </a:r>
          </a:p>
          <a:p xmlns:a="http://schemas.openxmlformats.org/drawingml/2006/main">
            <a:r>
              <a:t>2. Qwen3.5 9B 的 syntactic/compilation reliability 較高，第一次成功率也高。</a:t>
            </a:r>
          </a:p>
          <a:p xmlns:a="http://schemas.openxmlformats.org/drawingml/2006/main">
            <a:r>
              <a:t>3. Qwen 產生的 Java 對 strategy prompt 的忠實度不足，最終族群 alignment 顯著較低。</a:t>
            </a:r>
          </a:p>
          <a:p xmlns:a="http://schemas.openxmlformats.org/drawingml/2006/main">
            <a:r>
              <a:t>4. 雙模型增加文字策略 diversity，卻沒有增加 Java diversity 或勝率。</a:t>
            </a:r>
          </a:p>
          <a:p xmlns:a="http://schemas.openxmlformats.org/drawingml/2006/main">
            <a:r>
              <a:t>5. Code Reflection diagnosis 能辨識不忠實、過度複雜與少數不合規案例，方向正確；但 LLM 自評不能保證 revision 後真的忠實。</a:t>
            </a:r>
          </a:p>
          <a:p xmlns:a="http://schemas.openxmlformats.org/drawingml/2006/main">
            <a:r>
              <a:t>6. Code/Prompt Reflection 的 archived request 符合 evidence isolation：未使用 game performance。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13.2 目前不能下的結論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不能斷言 Qwen3.5 9B 在所有條件下一定比 Ministral 差，因為初始 LLM policy 沒有凍結配對。</a:t>
            </a:r>
          </a:p>
          <a:p xmlns:a="http://schemas.openxmlformats.org/drawingml/2006/main">
            <a:r>
              <a:t>2. 不能用 aggregate GP 的單代下降推論 survivor selection 或 Java inheritance 有錯；lexicase 並不直接保證 aggregate 單調。</a:t>
            </a:r>
          </a:p>
          <a:p xmlns:a="http://schemas.openxmlformats.org/drawingml/2006/main">
            <a:r>
              <a:t>3. 不能把 `compliant`、validation passed 或 compilation success 當成策略忠實度證明。</a:t>
            </a:r>
          </a:p>
          <a:p xmlns:a="http://schemas.openxmlformats.org/drawingml/2006/main">
            <a:r>
              <a:t>4. 不能把這一次的時間差視為純模型吞吐差異；策略行為造成的 match length 是更大的因素。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二、實驗與資料來源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2.1 Run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條件 | Run | 反思／分析模型 | 最終 Java 生成模型 | 狀態 |</a:t>
            </a:r>
          </a:p>
          <a:p xmlns:a="http://schemas.openxmlformats.org/drawingml/2006/main">
            <a:r>
              <a:t>|---|---|---|---|---|</a:t>
            </a:r>
          </a:p>
          <a:p xmlns:a="http://schemas.openxmlformats.org/drawingml/2006/main">
            <a:r>
              <a:t>| 純 Ministral | [`20260908_121222_306081`](../../runs/20260908_121222_306081/) | `ministral3_8b` | `ministral3_8b` | complete，20 代 |</a:t>
            </a:r>
          </a:p>
          <a:p xmlns:a="http://schemas.openxmlformats.org/drawingml/2006/main">
            <a:r>
              <a:t>| 雙模型 | [`20260909_032729_611766`](../../runs/20260909_032729_611766/) | `ministral3_8b` | `qwen3_5_9b` | complete，20 代；中途曾中斷並 resume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對應 config：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[`01_ministral3_8b_only_20x10.yaml`](../../configs/experiments/0908_generation_model_comparison_20x10/01_ministral3_8b_only_20x10.yaml)</a:t>
            </a:r>
          </a:p>
          <a:p xmlns:a="http://schemas.openxmlformats.org/drawingml/2006/main">
            <a:r>
              <a:t>- [`02_ministral3_8b_to_qwen3_5_9b_20x10.yaml`](../../configs/experiments/0908_generation_model_comparison_20x10/02_ministral3_8b_to_qwen3_5_9b_20x10.yaml)</a:t>
            </a:r>
          </a:p>
          <a:p xmlns:a="http://schemas.openxmlformats.org/drawingml/2006/main">
            <a:r>
              <a:t>- [`experiment.yaml`](../../configs/experiments/0908_generation_model_comparison_20x10/experiment.yaml)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 共同設定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項目 | 設定 |</a:t>
            </a:r>
          </a:p>
          <a:p xmlns:a="http://schemas.openxmlformats.org/drawingml/2006/main">
            <a:r>
              <a:t>|---|---|</a:t>
            </a:r>
          </a:p>
          <a:p xmlns:a="http://schemas.openxmlformats.org/drawingml/2006/main">
            <a:r>
              <a:t>| survivor selection | `mu_plus_lambda` + opponent-wise lexicase |</a:t>
            </a:r>
          </a:p>
          <a:p xmlns:a="http://schemas.openxmlformats.org/drawingml/2006/main">
            <a:r>
              <a:t>| generations / population | 20 / 10 |</a:t>
            </a:r>
          </a:p>
          <a:p xmlns:a="http://schemas.openxmlformats.org/drawingml/2006/main">
            <a:r>
              <a:t>| crossover / mutation rate | 0.75 / 1.0 |</a:t>
            </a:r>
          </a:p>
          <a:p xmlns:a="http://schemas.openxmlformats.org/drawingml/2006/main">
            <a:r>
              <a:t>| mutation probabilities | Strategy 0.33、Prompt 0.33、Code 0.34 |</a:t>
            </a:r>
          </a:p>
          <a:p xmlns:a="http://schemas.openxmlformats.org/drawingml/2006/main">
            <a:r>
              <a:t>| random seed | 7 |</a:t>
            </a:r>
          </a:p>
          <a:p xmlns:a="http://schemas.openxmlformats.org/drawingml/2006/main">
            <a:r>
              <a:t>| candidate Java mode | `inherited_genotype` |</a:t>
            </a:r>
          </a:p>
          <a:p xmlns:a="http://schemas.openxmlformats.org/drawingml/2006/main">
            <a:r>
              <a:t>| initial population | 1 個 WorkerRush seed + 9 個 LLM-generated policy |</a:t>
            </a:r>
          </a:p>
          <a:p xmlns:a="http://schemas.openxmlformats.org/drawingml/2006/main">
            <a:r>
              <a:t>| maps | 8×8、16×16、24×24 |</a:t>
            </a:r>
          </a:p>
          <a:p xmlns:a="http://schemas.openxmlformats.org/drawingml/2006/main">
            <a:r>
              <a:t>| 每個對手的場數 | 3 maps × 3 rounds × 2 sides = 18 |</a:t>
            </a:r>
          </a:p>
          <a:p xmlns:a="http://schemas.openxmlformats.org/drawingml/2006/main">
            <a:r>
              <a:t>| opponents | Passive、Random、RandomBiased、LightRush、HeavyRush、WorkerRush、AllInBot、Mayari、COAC、TMA |</a:t>
            </a:r>
          </a:p>
          <a:p xmlns:a="http://schemas.openxmlformats.org/drawingml/2006/main">
            <a:r>
              <a:t>| 每個完整候選人的總場數 | 10 opponents × 18 = 180 |</a:t>
            </a:r>
          </a:p>
          <a:p xmlns:a="http://schemas.openxmlformats.org/drawingml/2006/main">
            <a:r>
              <a:t>| 一個 10 人族群的總場數 | 1,800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aggregate game performance 是依對手權重計算的報告指標，權重總和為 12.5；實際 survivor selection 使用 10 個 opponent cases 做 lexicase，**不是直接最大化 aggregate game performance**。因此某一代的 aggregate 最佳值或平均值下降，不等於父代一定被錯誤重生，也不必然代表 selection bug。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 比較有效性限制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兩份 config 的主要實驗變因確實是最終 Java generation model，但仍有以下限制：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兩次實驗都獨立執行 `llm_generated_policies`。兩邊各有 10 個不同的初始 policy hash，交集只有 1 個，也就是共同 seed；其餘 9 個 LLM policy 並未配對。</a:t>
            </a:r>
          </a:p>
          <a:p xmlns:a="http://schemas.openxmlformats.org/drawingml/2006/main">
            <a:r>
              <a:t>2. 兩邊 generation 0 的 Java 都只有 1 個唯一 hash，仍是相同 WorkerRush Java seed，所以 generation 0 表現接近；policy 的差異要等後續 materialization 才會顯現。</a:t>
            </a:r>
          </a:p>
          <a:p xmlns:a="http://schemas.openxmlformats.org/drawingml/2006/main">
            <a:r>
              <a:t>3. 每個條件只跑 1 次，沒有跨 seed 估計變異。</a:t>
            </a:r>
          </a:p>
          <a:p xmlns:a="http://schemas.openxmlformats.org/drawingml/2006/main">
            <a:r>
              <a:t>4. 雙模型 run 曾中斷並 resume。功能結果完整，但 wall-clock 不適合直接與未中斷 run 比較；本報告採 committed generation timing 加總。</a:t>
            </a:r>
          </a:p>
          <a:p xmlns:a="http://schemas.openxmlformats.org/drawingml/2006/main">
            <a:r>
              <a:t>5. 沒有額外獨立 holdout 對手／地圖結果；最終結果仍來自演化期間使用的固定 evaluation matrix。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因此，以下模型比較應解讀為**兩個完整 pipeline instance 的觀察性比較**，而不是已排除所有混淆因子的模型能力定論。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三、最終結果總覽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 判讀 |</a:t>
            </a:r>
          </a:p>
          <a:p xmlns:a="http://schemas.openxmlformats.org/drawingml/2006/main">
            <a:r>
              <a:t>|---|---:|---:|---|</a:t>
            </a:r>
          </a:p>
          <a:p xmlns:a="http://schemas.openxmlformats.org/drawingml/2006/main">
            <a:r>
              <a:t>| final best GP | -47.52 | -81.91 | 純 Ministral +34.39 |</a:t>
            </a:r>
          </a:p>
          <a:p xmlns:a="http://schemas.openxmlformats.org/drawingml/2006/main">
            <a:r>
              <a:t>| final mean GP | -58.99 | -87.62 | 純 Ministral +28.63 |</a:t>
            </a:r>
          </a:p>
          <a:p xmlns:a="http://schemas.openxmlformats.org/drawingml/2006/main">
            <a:r>
              <a:t>| final median GP | -53.61 | -87.61 | 純 Ministral +34.00 |</a:t>
            </a:r>
          </a:p>
          <a:p xmlns:a="http://schemas.openxmlformats.org/drawingml/2006/main">
            <a:r>
              <a:t>| final worst GP | -89.00 | -90.36 | 純 Ministral +1.36 |</a:t>
            </a:r>
          </a:p>
          <a:p xmlns:a="http://schemas.openxmlformats.org/drawingml/2006/main">
            <a:r>
              <a:t>| gen0 → final mean GP | +31.55 | +2.83 | 純 Ministral 有實質演化；雙模型改善有限 |</a:t>
            </a:r>
          </a:p>
          <a:p xmlns:a="http://schemas.openxmlformats.org/drawingml/2006/main">
            <a:r>
              <a:t>| final mean code quality | 24.94 | 23.69 | 純 Ministral +1.25 |</a:t>
            </a:r>
          </a:p>
          <a:p xmlns:a="http://schemas.openxmlformats.org/drawingml/2006/main">
            <a:r>
              <a:t>| final mean strategy alignment | 6.2/10 | 2.0/10 | 純 Ministral 明顯較忠實 |</a:t>
            </a:r>
          </a:p>
          <a:p xmlns:a="http://schemas.openxmlformats.org/drawingml/2006/main">
            <a:r>
              <a:t>| final function score mean | 100.0 | 96.0 | 兩者大多具備基本功能 |</a:t>
            </a:r>
          </a:p>
          <a:p xmlns:a="http://schemas.openxmlformats.org/drawingml/2006/main">
            <a:r>
              <a:t>| final unique strategy niches | 2 | 4 | 雙模型策略描述較多樣 |</a:t>
            </a:r>
          </a:p>
          <a:p xmlns:a="http://schemas.openxmlformats.org/drawingml/2006/main">
            <a:r>
              <a:t>| final unique policy hashes | 3 | 4 | 雙模型略多 |</a:t>
            </a:r>
          </a:p>
          <a:p xmlns:a="http://schemas.openxmlformats.org/drawingml/2006/main">
            <a:r>
              <a:t>| final unique Java hashes | 10 | 5 | 純 Ministral 實作較多樣 |</a:t>
            </a:r>
          </a:p>
          <a:p xmlns:a="http://schemas.openxmlformats.org/drawingml/2006/main">
            <a:r>
              <a:t>| final completed matches | 1,800/1,800 | 1,800/1,800 | 兩者最終族群皆完整 |</a:t>
            </a:r>
          </a:p>
          <a:p xmlns:a="http://schemas.openxmlformats.org/drawingml/2006/main">
            <a:r>
              <a:t>| final failures | 0 | 0 | survivor 皆可執行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的 mean GP 在 generation 14 達到本 run 最佳平均 `-53.76`，之後回落到 `-58.99`；但 best GP 最終仍進步到 `-47.52`。雙模型的 mean GP 在 generation 19 達到 `-84.85`，generation 20 回落到 `-87.62`；best GP 的 run 內最高點為 generation 12–15 的 `-81.58`，final best 為 `-81.91`。這種回落與 opponent-wise lexicase 的多目標保留行為一致。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四、完整逐代變化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4.1 純 Ministral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Gen | GP best | GP mean | CQ mean | niches | 時間（min） |</a:t>
            </a:r>
          </a:p>
          <a:p xmlns:a="http://schemas.openxmlformats.org/drawingml/2006/main">
            <a:r>
              <a:t>|---:|---:|---:|---:|---:|---:|</a:t>
            </a:r>
          </a:p>
          <a:p xmlns:a="http://schemas.openxmlformats.org/drawingml/2006/main">
            <a:r>
              <a:t>| 0 | -89.83 | -90.54 | 49.71 | 0 | 17.9 |</a:t>
            </a:r>
          </a:p>
          <a:p xmlns:a="http://schemas.openxmlformats.org/drawingml/2006/main">
            <a:r>
              <a:t>| 1 | -85.07 | -89.77 | 41.80 | 2 | 41.2 |</a:t>
            </a:r>
          </a:p>
          <a:p xmlns:a="http://schemas.openxmlformats.org/drawingml/2006/main">
            <a:r>
              <a:t>| 2 | -79.37 | -85.91 | 29.31 | 1 | 50.1 |</a:t>
            </a:r>
          </a:p>
          <a:p xmlns:a="http://schemas.openxmlformats.org/drawingml/2006/main">
            <a:r>
              <a:t>| 3 | -79.37 | -86.90 | 27.73 | 3 | 55.3 |</a:t>
            </a:r>
          </a:p>
          <a:p xmlns:a="http://schemas.openxmlformats.org/drawingml/2006/main">
            <a:r>
              <a:t>| 4 | -70.57 | -84.78 | 28.45 | 3 | 50.5 |</a:t>
            </a:r>
          </a:p>
          <a:p xmlns:a="http://schemas.openxmlformats.org/drawingml/2006/main">
            <a:r>
              <a:t>| 5 | -65.58 | -77.86 | 30.12 | 1 | 28.3 |</a:t>
            </a:r>
          </a:p>
          <a:p xmlns:a="http://schemas.openxmlformats.org/drawingml/2006/main">
            <a:r>
              <a:t>| 6 | -57.06 | -73.35 | 33.83 | 4 | 47.8 |</a:t>
            </a:r>
          </a:p>
          <a:p xmlns:a="http://schemas.openxmlformats.org/drawingml/2006/main">
            <a:r>
              <a:t>| 7 | -49.41 | -71.23 | 35.08 | 4 | 37.1 |</a:t>
            </a:r>
          </a:p>
          <a:p xmlns:a="http://schemas.openxmlformats.org/drawingml/2006/main">
            <a:r>
              <a:t>| 8 | -48.58 | -62.62 | 34.76 | 3 | 37.2 |</a:t>
            </a:r>
          </a:p>
          <a:p xmlns:a="http://schemas.openxmlformats.org/drawingml/2006/main">
            <a:r>
              <a:t>| 9 | -48.58 | -63.23 | 35.14 | 3 | 38.5 |</a:t>
            </a:r>
          </a:p>
          <a:p xmlns:a="http://schemas.openxmlformats.org/drawingml/2006/main">
            <a:r>
              <a:t>| 10 | -50.32 | -59.39 | 33.85 | 4 | 42.9 |</a:t>
            </a:r>
          </a:p>
          <a:p xmlns:a="http://schemas.openxmlformats.org/drawingml/2006/main">
            <a:r>
              <a:t>| 11 | -48.73 | -56.77 | 31.61 | 3 | 54.4 |</a:t>
            </a:r>
          </a:p>
          <a:p xmlns:a="http://schemas.openxmlformats.org/drawingml/2006/main">
            <a:r>
              <a:t>| 12 | -48.73 | -55.21 | 30.52 | 2 | 45.1 |</a:t>
            </a:r>
          </a:p>
          <a:p xmlns:a="http://schemas.openxmlformats.org/drawingml/2006/main">
            <a:r>
              <a:t>| 13 | -49.11 | -54.86 | 30.33 | 2 | 45.8 |</a:t>
            </a:r>
          </a:p>
          <a:p xmlns:a="http://schemas.openxmlformats.org/drawingml/2006/main">
            <a:r>
              <a:t>| 14 | -48.00 | -53.76 | 29.02 | 1 | 43.8 |</a:t>
            </a:r>
          </a:p>
          <a:p xmlns:a="http://schemas.openxmlformats.org/drawingml/2006/main">
            <a:r>
              <a:t>| 15 | -48.00 | -54.58 | 25.24 | 1 | 42.1 |</a:t>
            </a:r>
          </a:p>
          <a:p xmlns:a="http://schemas.openxmlformats.org/drawingml/2006/main">
            <a:r>
              <a:t>| 16 | -48.99 | -56.50 | 23.53 | 2 | 47.7 |</a:t>
            </a:r>
          </a:p>
          <a:p xmlns:a="http://schemas.openxmlformats.org/drawingml/2006/main">
            <a:r>
              <a:t>| 17 | -49.24 | -56.41 | 26.54 | 3 | 53.4 |</a:t>
            </a:r>
          </a:p>
          <a:p xmlns:a="http://schemas.openxmlformats.org/drawingml/2006/main">
            <a:r>
              <a:t>| 18 | -49.24 | -57.68 | 24.26 | 3 | 36.4 |</a:t>
            </a:r>
          </a:p>
          <a:p xmlns:a="http://schemas.openxmlformats.org/drawingml/2006/main">
            <a:r>
              <a:t>| 19 | -48.66 | -57.98 | 22.55 | 3 | 44.4 |</a:t>
            </a:r>
          </a:p>
          <a:p xmlns:a="http://schemas.openxmlformats.org/drawingml/2006/main">
            <a:r>
              <a:t>| 20 | -47.52 | -58.99 | 24.94 | 2 | 55.2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觀察：generation 1–8 是主要躍升期，平均 GP 從 `-90.54` 改善到 `-62.62`；generation 10–14 進一步收斂到約 `-54`。後六代平均值回落，但保留了少數更強個體。Code quality 從相同 WorkerRush seed 的 `49.71` 降到 `24.94`，顯示演化取得戰力時增加了實作複雜度或降低了對齊度。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4.2 Ministral → Qwen3.5 9B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Gen | GP best | GP mean | CQ mean | niches | 時間（min） |</a:t>
            </a:r>
          </a:p>
          <a:p xmlns:a="http://schemas.openxmlformats.org/drawingml/2006/main">
            <a:r>
              <a:t>|---:|---:|---:|---:|---:|---:|</a:t>
            </a:r>
          </a:p>
          <a:p xmlns:a="http://schemas.openxmlformats.org/drawingml/2006/main">
            <a:r>
              <a:t>| 0 | -89.84 | -90.44 | 49.71 | 0 | 17.9 |</a:t>
            </a:r>
          </a:p>
          <a:p xmlns:a="http://schemas.openxmlformats.org/drawingml/2006/main">
            <a:r>
              <a:t>| 1 | -89.84 | -90.45 | 40.48 | 0 | 39.6 |</a:t>
            </a:r>
          </a:p>
          <a:p xmlns:a="http://schemas.openxmlformats.org/drawingml/2006/main">
            <a:r>
              <a:t>| 2 | -89.53 | -89.93 | 29.56 | 0 | 52.5 |</a:t>
            </a:r>
          </a:p>
          <a:p xmlns:a="http://schemas.openxmlformats.org/drawingml/2006/main">
            <a:r>
              <a:t>| 3 | -89.53 | -89.83 | 15.55 | 0 | 73.6 |</a:t>
            </a:r>
          </a:p>
          <a:p xmlns:a="http://schemas.openxmlformats.org/drawingml/2006/main">
            <a:r>
              <a:t>| 4 | -89.34 | -89.69 | 14.82 | 1 | 68.5 |</a:t>
            </a:r>
          </a:p>
          <a:p xmlns:a="http://schemas.openxmlformats.org/drawingml/2006/main">
            <a:r>
              <a:t>| 5 | -86.69 | -89.31 | 16.11 | 1 | 41.1 |</a:t>
            </a:r>
          </a:p>
          <a:p xmlns:a="http://schemas.openxmlformats.org/drawingml/2006/main">
            <a:r>
              <a:t>| 6 | -86.46 | -88.63 | 19.97 | 4 | 58.7 |</a:t>
            </a:r>
          </a:p>
          <a:p xmlns:a="http://schemas.openxmlformats.org/drawingml/2006/main">
            <a:r>
              <a:t>| 7 | -86.46 | -89.15 | 17.48 | 2 | 44.6 |</a:t>
            </a:r>
          </a:p>
          <a:p xmlns:a="http://schemas.openxmlformats.org/drawingml/2006/main">
            <a:r>
              <a:t>| 8 | -85.80 | -88.87 | 18.78 | 4 | 51.1 |</a:t>
            </a:r>
          </a:p>
          <a:p xmlns:a="http://schemas.openxmlformats.org/drawingml/2006/main">
            <a:r>
              <a:t>| 9 | -85.80 | -89.09 | 17.48 | 2 | 42.0 |</a:t>
            </a:r>
          </a:p>
          <a:p xmlns:a="http://schemas.openxmlformats.org/drawingml/2006/main">
            <a:r>
              <a:t>| 10 | -85.80 | -88.87 | 18.67 | 5 | 54.3 |</a:t>
            </a:r>
          </a:p>
          <a:p xmlns:a="http://schemas.openxmlformats.org/drawingml/2006/main">
            <a:r>
              <a:t>| 11 | -82.29 | -87.32 | 23.28 | 4 | 53.9 |</a:t>
            </a:r>
          </a:p>
          <a:p xmlns:a="http://schemas.openxmlformats.org/drawingml/2006/main">
            <a:r>
              <a:t>| 12 | -81.58 | -85.48 | 24.70 | 2 | 45.6 |</a:t>
            </a:r>
          </a:p>
          <a:p xmlns:a="http://schemas.openxmlformats.org/drawingml/2006/main">
            <a:r>
              <a:t>| 13 | -81.58 | -86.85 | 22.42 | 3 | 43.0 |</a:t>
            </a:r>
          </a:p>
          <a:p xmlns:a="http://schemas.openxmlformats.org/drawingml/2006/main">
            <a:r>
              <a:t>| 14 | -81.58 | -85.00 | 25.07 | 4 | 45.3 |</a:t>
            </a:r>
          </a:p>
          <a:p xmlns:a="http://schemas.openxmlformats.org/drawingml/2006/main">
            <a:r>
              <a:t>| 15 | -81.58 | -85.75 | 25.58 | 5 | 37.9 |</a:t>
            </a:r>
          </a:p>
          <a:p xmlns:a="http://schemas.openxmlformats.org/drawingml/2006/main">
            <a:r>
              <a:t>| 16 | -82.47 | -87.46 | 24.15 | 4 | 38.5 |</a:t>
            </a:r>
          </a:p>
          <a:p xmlns:a="http://schemas.openxmlformats.org/drawingml/2006/main">
            <a:r>
              <a:t>| 17 | -82.04 | -87.00 | 24.11 | 5 | 43.0 |</a:t>
            </a:r>
          </a:p>
          <a:p xmlns:a="http://schemas.openxmlformats.org/drawingml/2006/main">
            <a:r>
              <a:t>| 18 | -82.04 | -86.63 | 24.34 | 3 | 33.7 |</a:t>
            </a:r>
          </a:p>
          <a:p xmlns:a="http://schemas.openxmlformats.org/drawingml/2006/main">
            <a:r>
              <a:t>| 19 | -81.91 | -84.85 | 24.17 | 4 | 33.0 |</a:t>
            </a:r>
          </a:p>
          <a:p xmlns:a="http://schemas.openxmlformats.org/drawingml/2006/main">
            <a:r>
              <a:t>| 20 | -81.91 | -87.62 | 23.69 | 4 | 34.0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觀察：前 10 代幾乎停在 `-90` 到 `-86` 區間，真正改善主要出現在 generation 11–12，但之後沒有再突破 `-81.58`。niche 數較高，卻沒有伴隨 GP 提升，表示策略描述的分化未被可靠地 materialize 成有效行為。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二、實驗與資料來源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2.1 Run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條件 | Run | 反思／分析模型 | 最終 Java 生成模型 | 狀態 |</a:t>
            </a:r>
          </a:p>
          <a:p xmlns:a="http://schemas.openxmlformats.org/drawingml/2006/main">
            <a:r>
              <a:t>|---|---|---|---|---|</a:t>
            </a:r>
          </a:p>
          <a:p xmlns:a="http://schemas.openxmlformats.org/drawingml/2006/main">
            <a:r>
              <a:t>| 純 Ministral | [`20260908_121222_306081`](../../runs/20260908_121222_306081/) | `ministral3_8b` | `ministral3_8b` | complete，20 代 |</a:t>
            </a:r>
          </a:p>
          <a:p xmlns:a="http://schemas.openxmlformats.org/drawingml/2006/main">
            <a:r>
              <a:t>| 雙模型 | [`20260909_032729_611766`](../../runs/20260909_032729_611766/) | `ministral3_8b` | `qwen3_5_9b` | complete，20 代；中途曾中斷並 resume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對應 config：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[`01_ministral3_8b_only_20x10.yaml`](../../configs/experiments/0908_generation_model_comparison_20x10/01_ministral3_8b_only_20x10.yaml)</a:t>
            </a:r>
          </a:p>
          <a:p xmlns:a="http://schemas.openxmlformats.org/drawingml/2006/main">
            <a:r>
              <a:t>- [`02_ministral3_8b_to_qwen3_5_9b_20x10.yaml`](../../configs/experiments/0908_generation_model_comparison_20x10/02_ministral3_8b_to_qwen3_5_9b_20x10.yaml)</a:t>
            </a:r>
          </a:p>
          <a:p xmlns:a="http://schemas.openxmlformats.org/drawingml/2006/main">
            <a:r>
              <a:t>- [`experiment.yaml`](../../configs/experiments/0908_generation_model_comparison_20x10/experiment.yaml)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2.2 共同設定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項目 | 設定 |</a:t>
            </a:r>
          </a:p>
          <a:p xmlns:a="http://schemas.openxmlformats.org/drawingml/2006/main">
            <a:r>
              <a:t>|---|---|</a:t>
            </a:r>
          </a:p>
          <a:p xmlns:a="http://schemas.openxmlformats.org/drawingml/2006/main">
            <a:r>
              <a:t>| survivor selection | `mu_plus_lambda` + opponent-wise lexicase |</a:t>
            </a:r>
          </a:p>
          <a:p xmlns:a="http://schemas.openxmlformats.org/drawingml/2006/main">
            <a:r>
              <a:t>| generations / population | 20 / 10 |</a:t>
            </a:r>
          </a:p>
          <a:p xmlns:a="http://schemas.openxmlformats.org/drawingml/2006/main">
            <a:r>
              <a:t>| crossover / mutation rate | 0.75 / 1.0 |</a:t>
            </a:r>
          </a:p>
          <a:p xmlns:a="http://schemas.openxmlformats.org/drawingml/2006/main">
            <a:r>
              <a:t>| mutation probabilities | Strategy 0.33、Prompt 0.33、Code 0.34 |</a:t>
            </a:r>
          </a:p>
          <a:p xmlns:a="http://schemas.openxmlformats.org/drawingml/2006/main">
            <a:r>
              <a:t>| random seed | 7 |</a:t>
            </a:r>
          </a:p>
          <a:p xmlns:a="http://schemas.openxmlformats.org/drawingml/2006/main">
            <a:r>
              <a:t>| candidate Java mode | `inherited_genotype` |</a:t>
            </a:r>
          </a:p>
          <a:p xmlns:a="http://schemas.openxmlformats.org/drawingml/2006/main">
            <a:r>
              <a:t>| initial population | 1 個 WorkerRush seed + 9 個 LLM-generated policy |</a:t>
            </a:r>
          </a:p>
          <a:p xmlns:a="http://schemas.openxmlformats.org/drawingml/2006/main">
            <a:r>
              <a:t>| maps | 8×8、16×16、24×24 |</a:t>
            </a:r>
          </a:p>
          <a:p xmlns:a="http://schemas.openxmlformats.org/drawingml/2006/main">
            <a:r>
              <a:t>| 每個對手的場數 | 3 maps × 3 rounds × 2 sides = 18 |</a:t>
            </a:r>
          </a:p>
          <a:p xmlns:a="http://schemas.openxmlformats.org/drawingml/2006/main">
            <a:r>
              <a:t>| opponents | Passive、Random、RandomBiased、LightRush、HeavyRush、WorkerRush、AllInBot、Mayari、COAC、TMA |</a:t>
            </a:r>
          </a:p>
          <a:p xmlns:a="http://schemas.openxmlformats.org/drawingml/2006/main">
            <a:r>
              <a:t>| 每個完整候選人的總場數 | 10 opponents × 18 = 180 |</a:t>
            </a:r>
          </a:p>
          <a:p xmlns:a="http://schemas.openxmlformats.org/drawingml/2006/main">
            <a:r>
              <a:t>| 一個 10 人族群的總場數 | 1,800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aggregate game performance 是依對手權重計算的報告指標，權重總和為 12.5；實際 survivor selection 使用 10 個 opponent cases 做 lexicase，**不是直接最大化 aggregate game performance**。因此某一代的 aggregate 最佳值或平均值下降，不等於父代一定被錯誤重生，也不必然代表 selection bug。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2.3 比較有效性限制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兩份 config 的主要實驗變因確實是最終 Java generation model，但仍有以下限制：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兩次實驗都獨立執行 `llm_generated_policies`。兩邊各有 10 個不同的初始 policy hash，交集只有 1 個，也就是共同 seed；其餘 9 個 LLM policy 並未配對。</a:t>
            </a:r>
          </a:p>
          <a:p xmlns:a="http://schemas.openxmlformats.org/drawingml/2006/main">
            <a:r>
              <a:t>2. 兩邊 generation 0 的 Java 都只有 1 個唯一 hash，仍是相同 WorkerRush Java seed，所以 generation 0 表現接近；policy 的差異要等後續 materialization 才會顯現。</a:t>
            </a:r>
          </a:p>
          <a:p xmlns:a="http://schemas.openxmlformats.org/drawingml/2006/main">
            <a:r>
              <a:t>3. 每個條件只跑 1 次，沒有跨 seed 估計變異。</a:t>
            </a:r>
          </a:p>
          <a:p xmlns:a="http://schemas.openxmlformats.org/drawingml/2006/main">
            <a:r>
              <a:t>4. 雙模型 run 曾中斷並 resume。功能結果完整，但 wall-clock 不適合直接與未中斷 run 比較；本報告採 committed generation timing 加總。</a:t>
            </a:r>
          </a:p>
          <a:p xmlns:a="http://schemas.openxmlformats.org/drawingml/2006/main">
            <a:r>
              <a:t>5. 沒有額外獨立 holdout 對手／地圖結果；最終結果仍來自演化期間使用的固定 evaluation matrix。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因此，以下模型比較應解讀為**兩個完整 pipeline instance 的觀察性比較**，而不是已排除所有混淆因子的模型能力定論。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四、完整逐代變化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4.1 純 Ministral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Gen | GP best | GP mean | CQ mean | niches | 時間（min） |</a:t>
            </a:r>
          </a:p>
          <a:p xmlns:a="http://schemas.openxmlformats.org/drawingml/2006/main">
            <a:r>
              <a:t>|---:|---:|---:|---:|---:|---:|</a:t>
            </a:r>
          </a:p>
          <a:p xmlns:a="http://schemas.openxmlformats.org/drawingml/2006/main">
            <a:r>
              <a:t>| 0 | -89.83 | -90.54 | 49.71 | 0 | 17.9 |</a:t>
            </a:r>
          </a:p>
          <a:p xmlns:a="http://schemas.openxmlformats.org/drawingml/2006/main">
            <a:r>
              <a:t>| 1 | -85.07 | -89.77 | 41.80 | 2 | 41.2 |</a:t>
            </a:r>
          </a:p>
          <a:p xmlns:a="http://schemas.openxmlformats.org/drawingml/2006/main">
            <a:r>
              <a:t>| 2 | -79.37 | -85.91 | 29.31 | 1 | 50.1 |</a:t>
            </a:r>
          </a:p>
          <a:p xmlns:a="http://schemas.openxmlformats.org/drawingml/2006/main">
            <a:r>
              <a:t>| 3 | -79.37 | -86.90 | 27.73 | 3 | 55.3 |</a:t>
            </a:r>
          </a:p>
          <a:p xmlns:a="http://schemas.openxmlformats.org/drawingml/2006/main">
            <a:r>
              <a:t>| 4 | -70.57 | -84.78 | 28.45 | 3 | 50.5 |</a:t>
            </a:r>
          </a:p>
          <a:p xmlns:a="http://schemas.openxmlformats.org/drawingml/2006/main">
            <a:r>
              <a:t>| 5 | -65.58 | -77.86 | 30.12 | 1 | 28.3 |</a:t>
            </a:r>
          </a:p>
          <a:p xmlns:a="http://schemas.openxmlformats.org/drawingml/2006/main">
            <a:r>
              <a:t>| 6 | -57.06 | -73.35 | 33.83 | 4 | 47.8 |</a:t>
            </a:r>
          </a:p>
          <a:p xmlns:a="http://schemas.openxmlformats.org/drawingml/2006/main">
            <a:r>
              <a:t>| 7 | -49.41 | -71.23 | 35.08 | 4 | 37.1 |</a:t>
            </a:r>
          </a:p>
          <a:p xmlns:a="http://schemas.openxmlformats.org/drawingml/2006/main">
            <a:r>
              <a:t>| 8 | -48.58 | -62.62 | 34.76 | 3 | 37.2 |</a:t>
            </a:r>
          </a:p>
          <a:p xmlns:a="http://schemas.openxmlformats.org/drawingml/2006/main">
            <a:r>
              <a:t>| 9 | -48.58 | -63.23 | 35.14 | 3 | 38.5 |</a:t>
            </a:r>
          </a:p>
          <a:p xmlns:a="http://schemas.openxmlformats.org/drawingml/2006/main">
            <a:r>
              <a:t>| 10 | -50.32 | -59.39 | 33.85 | 4 | 42.9 |</a:t>
            </a:r>
          </a:p>
          <a:p xmlns:a="http://schemas.openxmlformats.org/drawingml/2006/main">
            <a:r>
              <a:t>| 11 | -48.73 | -56.77 | 31.61 | 3 | 54.4 |</a:t>
            </a:r>
          </a:p>
          <a:p xmlns:a="http://schemas.openxmlformats.org/drawingml/2006/main">
            <a:r>
              <a:t>| 12 | -48.73 | -55.21 | 30.52 | 2 | 45.1 |</a:t>
            </a:r>
          </a:p>
          <a:p xmlns:a="http://schemas.openxmlformats.org/drawingml/2006/main">
            <a:r>
              <a:t>| 13 | -49.11 | -54.86 | 30.33 | 2 | 45.8 |</a:t>
            </a:r>
          </a:p>
          <a:p xmlns:a="http://schemas.openxmlformats.org/drawingml/2006/main">
            <a:r>
              <a:t>| 14 | -48.00 | -53.76 | 29.02 | 1 | 43.8 |</a:t>
            </a:r>
          </a:p>
          <a:p xmlns:a="http://schemas.openxmlformats.org/drawingml/2006/main">
            <a:r>
              <a:t>| 15 | -48.00 | -54.58 | 25.24 | 1 | 42.1 |</a:t>
            </a:r>
          </a:p>
          <a:p xmlns:a="http://schemas.openxmlformats.org/drawingml/2006/main">
            <a:r>
              <a:t>| 16 | -48.99 | -56.50 | 23.53 | 2 | 47.7 |</a:t>
            </a:r>
          </a:p>
          <a:p xmlns:a="http://schemas.openxmlformats.org/drawingml/2006/main">
            <a:r>
              <a:t>| 17 | -49.24 | -56.41 | 26.54 | 3 | 53.4 |</a:t>
            </a:r>
          </a:p>
          <a:p xmlns:a="http://schemas.openxmlformats.org/drawingml/2006/main">
            <a:r>
              <a:t>| 18 | -49.24 | -57.68 | 24.26 | 3 | 36.4 |</a:t>
            </a:r>
          </a:p>
          <a:p xmlns:a="http://schemas.openxmlformats.org/drawingml/2006/main">
            <a:r>
              <a:t>| 19 | -48.66 | -57.98 | 22.55 | 3 | 44.4 |</a:t>
            </a:r>
          </a:p>
          <a:p xmlns:a="http://schemas.openxmlformats.org/drawingml/2006/main">
            <a:r>
              <a:t>| 20 | -47.52 | -58.99 | 24.94 | 2 | 55.2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觀察：generation 1–8 是主要躍升期，平均 GP 從 `-90.54` 改善到 `-62.62`；generation 10–14 進一步收斂到約 `-54`。後六代平均值回落，但保留了少數更強個體。Code quality 從相同 WorkerRush seed 的 `49.71` 降到 `24.94`，顯示演化取得戰力時增加了實作複雜度或降低了對齊度。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4.2 Ministral → Qwen3.5 9B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Gen | GP best | GP mean | CQ mean | niches | 時間（min） |</a:t>
            </a:r>
          </a:p>
          <a:p xmlns:a="http://schemas.openxmlformats.org/drawingml/2006/main">
            <a:r>
              <a:t>|---:|---:|---:|---:|---:|---:|</a:t>
            </a:r>
          </a:p>
          <a:p xmlns:a="http://schemas.openxmlformats.org/drawingml/2006/main">
            <a:r>
              <a:t>| 0 | -89.84 | -90.44 | 49.71 | 0 | 17.9 |</a:t>
            </a:r>
          </a:p>
          <a:p xmlns:a="http://schemas.openxmlformats.org/drawingml/2006/main">
            <a:r>
              <a:t>| 1 | -89.84 | -90.45 | 40.48 | 0 | 39.6 |</a:t>
            </a:r>
          </a:p>
          <a:p xmlns:a="http://schemas.openxmlformats.org/drawingml/2006/main">
            <a:r>
              <a:t>| 2 | -89.53 | -89.93 | 29.56 | 0 | 52.5 |</a:t>
            </a:r>
          </a:p>
          <a:p xmlns:a="http://schemas.openxmlformats.org/drawingml/2006/main">
            <a:r>
              <a:t>| 3 | -89.53 | -89.83 | 15.55 | 0 | 73.6 |</a:t>
            </a:r>
          </a:p>
          <a:p xmlns:a="http://schemas.openxmlformats.org/drawingml/2006/main">
            <a:r>
              <a:t>| 4 | -89.34 | -89.69 | 14.82 | 1 | 68.5 |</a:t>
            </a:r>
          </a:p>
          <a:p xmlns:a="http://schemas.openxmlformats.org/drawingml/2006/main">
            <a:r>
              <a:t>| 5 | -86.69 | -89.31 | 16.11 | 1 | 41.1 |</a:t>
            </a:r>
          </a:p>
          <a:p xmlns:a="http://schemas.openxmlformats.org/drawingml/2006/main">
            <a:r>
              <a:t>| 6 | -86.46 | -88.63 | 19.97 | 4 | 58.7 |</a:t>
            </a:r>
          </a:p>
          <a:p xmlns:a="http://schemas.openxmlformats.org/drawingml/2006/main">
            <a:r>
              <a:t>| 7 | -86.46 | -89.15 | 17.48 | 2 | 44.6 |</a:t>
            </a:r>
          </a:p>
          <a:p xmlns:a="http://schemas.openxmlformats.org/drawingml/2006/main">
            <a:r>
              <a:t>| 8 | -85.80 | -88.87 | 18.78 | 4 | 51.1 |</a:t>
            </a:r>
          </a:p>
          <a:p xmlns:a="http://schemas.openxmlformats.org/drawingml/2006/main">
            <a:r>
              <a:t>| 9 | -85.80 | -89.09 | 17.48 | 2 | 42.0 |</a:t>
            </a:r>
          </a:p>
          <a:p xmlns:a="http://schemas.openxmlformats.org/drawingml/2006/main">
            <a:r>
              <a:t>| 10 | -85.80 | -88.87 | 18.67 | 5 | 54.3 |</a:t>
            </a:r>
          </a:p>
          <a:p xmlns:a="http://schemas.openxmlformats.org/drawingml/2006/main">
            <a:r>
              <a:t>| 11 | -82.29 | -87.32 | 23.28 | 4 | 53.9 |</a:t>
            </a:r>
          </a:p>
          <a:p xmlns:a="http://schemas.openxmlformats.org/drawingml/2006/main">
            <a:r>
              <a:t>| 12 | -81.58 | -85.48 | 24.70 | 2 | 45.6 |</a:t>
            </a:r>
          </a:p>
          <a:p xmlns:a="http://schemas.openxmlformats.org/drawingml/2006/main">
            <a:r>
              <a:t>| 13 | -81.58 | -86.85 | 22.42 | 3 | 43.0 |</a:t>
            </a:r>
          </a:p>
          <a:p xmlns:a="http://schemas.openxmlformats.org/drawingml/2006/main">
            <a:r>
              <a:t>| 14 | -81.58 | -85.00 | 25.07 | 4 | 45.3 |</a:t>
            </a:r>
          </a:p>
          <a:p xmlns:a="http://schemas.openxmlformats.org/drawingml/2006/main">
            <a:r>
              <a:t>| 15 | -81.58 | -85.75 | 25.58 | 5 | 37.9 |</a:t>
            </a:r>
          </a:p>
          <a:p xmlns:a="http://schemas.openxmlformats.org/drawingml/2006/main">
            <a:r>
              <a:t>| 16 | -82.47 | -87.46 | 24.15 | 4 | 38.5 |</a:t>
            </a:r>
          </a:p>
          <a:p xmlns:a="http://schemas.openxmlformats.org/drawingml/2006/main">
            <a:r>
              <a:t>| 17 | -82.04 | -87.00 | 24.11 | 5 | 43.0 |</a:t>
            </a:r>
          </a:p>
          <a:p xmlns:a="http://schemas.openxmlformats.org/drawingml/2006/main">
            <a:r>
              <a:t>| 18 | -82.04 | -86.63 | 24.34 | 3 | 33.7 |</a:t>
            </a:r>
          </a:p>
          <a:p xmlns:a="http://schemas.openxmlformats.org/drawingml/2006/main">
            <a:r>
              <a:t>| 19 | -81.91 | -84.85 | 24.17 | 4 | 33.0 |</a:t>
            </a:r>
          </a:p>
          <a:p xmlns:a="http://schemas.openxmlformats.org/drawingml/2006/main">
            <a:r>
              <a:t>| 20 | -81.91 | -87.62 | 23.69 | 4 | 34.0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觀察：前 10 代幾乎停在 `-90` 到 `-86` 區間，真正改善主要出現在 generation 11–12，但之後沒有再突破 `-81.58`。niche 數較高，卻沒有伴隨 GP 提升，表示策略描述的分化未被可靠地 materialize 成有效行為。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十、多樣性與 materialization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offspring unique Java hashes | 171 | 72 |</a:t>
            </a:r>
          </a:p>
          <a:p xmlns:a="http://schemas.openxmlformats.org/drawingml/2006/main">
            <a:r>
              <a:t>| final unique policy hashes | 3 | 4 |</a:t>
            </a:r>
          </a:p>
          <a:p xmlns:a="http://schemas.openxmlformats.org/drawingml/2006/main">
            <a:r>
              <a:t>| final unique Java hashes | 10 | 5 |</a:t>
            </a:r>
          </a:p>
          <a:p xmlns:a="http://schemas.openxmlformats.org/drawingml/2006/main">
            <a:r>
              <a:t>| final unique strategy niches | 2 | 4 |</a:t>
            </a:r>
          </a:p>
          <a:p xmlns:a="http://schemas.openxmlformats.org/drawingml/2006/main">
            <a:r>
              <a:t>| final recognized niche signatures | 4/10 | 10/10 |</a:t>
            </a:r>
          </a:p>
          <a:p xmlns:a="http://schemas.openxmlformats.org/drawingml/2006/main">
            <a:r>
              <a:t>| final mean strategy distance | 0.50 | 0.71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雙模型在文字策略空間較多樣，但 Java 空間反而更集中。換句話說，**Qwen 把不同策略壓縮成較少數的程式行為**；這與 final alignment `2.0/10` 及低戰力一致。純 Ministral 的文字 niche 較集中，卻保留 10/10 不同 Java hash，且實際對戰行為差異更有用。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五、最終族群對各對手的表現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分數越高越好。W-D-L 是最終 10 個 survivor 對該對手的 180 場合計。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Opponent | 純 Ministral mean | 雙模型 mean | 純－雙 | 純 W-D-L | 雙 W-D-L |</a:t>
            </a:r>
          </a:p>
          <a:p xmlns:a="http://schemas.openxmlformats.org/drawingml/2006/main">
            <a:r>
              <a:t>|---|---:|---:|---:|---:|---:|</a:t>
            </a:r>
          </a:p>
          <a:p xmlns:a="http://schemas.openxmlformats.org/drawingml/2006/main">
            <a:r>
              <a:t>| Passive | 93.28 | 5.79 | +87.49 | 162-18-0 | 0-180-0 |</a:t>
            </a:r>
          </a:p>
          <a:p xmlns:a="http://schemas.openxmlformats.org/drawingml/2006/main">
            <a:r>
              <a:t>| Random | 78.53 | 2.42 | +76.12 | 135-44-1 | 3-171-6 |</a:t>
            </a:r>
          </a:p>
          <a:p xmlns:a="http://schemas.openxmlformats.org/drawingml/2006/main">
            <a:r>
              <a:t>| RandomBiased | 30.30 | -14.50 | +44.80 | 73-86-21 | 2-148-30 |</a:t>
            </a:r>
          </a:p>
          <a:p xmlns:a="http://schemas.openxmlformats.org/drawingml/2006/main">
            <a:r>
              <a:t>| LightRush | -32.49 | -97.23 | +64.74 | 54-12-114 | 0-3-177 |</a:t>
            </a:r>
          </a:p>
          <a:p xmlns:a="http://schemas.openxmlformats.org/drawingml/2006/main">
            <a:r>
              <a:t>| HeavyRush | -18.24 | -97.25 | +79.01 | 54-36-90 | 0-3-177 |</a:t>
            </a:r>
          </a:p>
          <a:p xmlns:a="http://schemas.openxmlformats.org/drawingml/2006/main">
            <a:r>
              <a:t>| WorkerRush | -77.77 | -96.05 | +18.28 | 21-0-159 | 0-6-174 |</a:t>
            </a:r>
          </a:p>
          <a:p xmlns:a="http://schemas.openxmlformats.org/drawingml/2006/main">
            <a:r>
              <a:t>| AllInBot | -76.14 | -99.61 | +23.47 | 21-0-159 | 0-0-180 |</a:t>
            </a:r>
          </a:p>
          <a:p xmlns:a="http://schemas.openxmlformats.org/drawingml/2006/main">
            <a:r>
              <a:t>| Mayari | -94.79 | -100.90 | +6.11 | 7-0-173 | 0-0-180 |</a:t>
            </a:r>
          </a:p>
          <a:p xmlns:a="http://schemas.openxmlformats.org/drawingml/2006/main">
            <a:r>
              <a:t>| COAC | -81.75 | -100.45 | +18.70 | 15-6-159 | 0-0-180 |</a:t>
            </a:r>
          </a:p>
          <a:p xmlns:a="http://schemas.openxmlformats.org/drawingml/2006/main">
            <a:r>
              <a:t>| TMA | -102.28 | -99.81 | -2.47 | 0-0-180 | 0-0-180 |</a:t>
            </a:r>
          </a:p>
          <a:p xmlns:a="http://schemas.openxmlformats.org/drawingml/2006/main">
            <a:r>
              <a:t>| **總計** | — | — | — | **542-202-1056** | **5-511-1284**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的優勢不是只來自 Passive/Random；對 LightRush、HeavyRush、WorkerRush、AllInBot、COAC 也都有明顯改善。雙模型只有在 TMA 平均分略高 2.47，但雙方對 TMA 都是 180 場全敗，不能視為實質競爭力優勢。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雙模型的主要行為不是取勝，而是把簡單對手拖成和局：Passive 180 場全和、Random 171 和、RandomBiased 148 和。這與其防守、經濟優先但進攻能力不足的最終策略相符。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換算全部 1,800 場，純 Ministral 的勝／和／敗率為 `30.11% / 11.22% / 58.67%`；雙模型為 `0.28% / 28.39% / 71.33%`。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五、最終族群對各對手的表現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分數越高越好。W-D-L 是最終 10 個 survivor 對該對手的 180 場合計。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Opponent | 純 Ministral mean | 雙模型 mean | 純－雙 | 純 W-D-L | 雙 W-D-L |</a:t>
            </a:r>
          </a:p>
          <a:p xmlns:a="http://schemas.openxmlformats.org/drawingml/2006/main">
            <a:r>
              <a:t>|---|---:|---:|---:|---:|---:|</a:t>
            </a:r>
          </a:p>
          <a:p xmlns:a="http://schemas.openxmlformats.org/drawingml/2006/main">
            <a:r>
              <a:t>| Passive | 93.28 | 5.79 | +87.49 | 162-18-0 | 0-180-0 |</a:t>
            </a:r>
          </a:p>
          <a:p xmlns:a="http://schemas.openxmlformats.org/drawingml/2006/main">
            <a:r>
              <a:t>| Random | 78.53 | 2.42 | +76.12 | 135-44-1 | 3-171-6 |</a:t>
            </a:r>
          </a:p>
          <a:p xmlns:a="http://schemas.openxmlformats.org/drawingml/2006/main">
            <a:r>
              <a:t>| RandomBiased | 30.30 | -14.50 | +44.80 | 73-86-21 | 2-148-30 |</a:t>
            </a:r>
          </a:p>
          <a:p xmlns:a="http://schemas.openxmlformats.org/drawingml/2006/main">
            <a:r>
              <a:t>| LightRush | -32.49 | -97.23 | +64.74 | 54-12-114 | 0-3-177 |</a:t>
            </a:r>
          </a:p>
          <a:p xmlns:a="http://schemas.openxmlformats.org/drawingml/2006/main">
            <a:r>
              <a:t>| HeavyRush | -18.24 | -97.25 | +79.01 | 54-36-90 | 0-3-177 |</a:t>
            </a:r>
          </a:p>
          <a:p xmlns:a="http://schemas.openxmlformats.org/drawingml/2006/main">
            <a:r>
              <a:t>| WorkerRush | -77.77 | -96.05 | +18.28 | 21-0-159 | 0-6-174 |</a:t>
            </a:r>
          </a:p>
          <a:p xmlns:a="http://schemas.openxmlformats.org/drawingml/2006/main">
            <a:r>
              <a:t>| AllInBot | -76.14 | -99.61 | +23.47 | 21-0-159 | 0-0-180 |</a:t>
            </a:r>
          </a:p>
          <a:p xmlns:a="http://schemas.openxmlformats.org/drawingml/2006/main">
            <a:r>
              <a:t>| Mayari | -94.79 | -100.90 | +6.11 | 7-0-173 | 0-0-180 |</a:t>
            </a:r>
          </a:p>
          <a:p xmlns:a="http://schemas.openxmlformats.org/drawingml/2006/main">
            <a:r>
              <a:t>| COAC | -81.75 | -100.45 | +18.70 | 15-6-159 | 0-0-180 |</a:t>
            </a:r>
          </a:p>
          <a:p xmlns:a="http://schemas.openxmlformats.org/drawingml/2006/main">
            <a:r>
              <a:t>| TMA | -102.28 | -99.81 | -2.47 | 0-0-180 | 0-0-180 |</a:t>
            </a:r>
          </a:p>
          <a:p xmlns:a="http://schemas.openxmlformats.org/drawingml/2006/main">
            <a:r>
              <a:t>| **總計** | — | — | — | **542-202-1056** | **5-511-1284**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的優勢不是只來自 Passive/Random；對 LightRush、HeavyRush、WorkerRush、AllInBot、COAC 也都有明顯改善。雙模型只有在 TMA 平均分略高 2.47，但雙方對 TMA 都是 180 場全敗，不能視為實質競爭力優勢。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雙模型的主要行為不是取勝，而是把簡單對手拖成和局：Passive 180 場全和、Random 171 和、RandomBiased 148 和。這與其防守、經濟優先但進攻能力不足的最終策略相符。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換算全部 1,800 場，純 Ministral 的勝／和／敗率為 `30.11% / 11.22% / 58.67%`；雙模型為 `0.28% / 28.39% / 71.33%`。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六、生成、驗證與失敗情況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6.1 全部 210 個 candidate 狀態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evaluated | 193 | 204 |</a:t>
            </a:r>
          </a:p>
          <a:p xmlns:a="http://schemas.openxmlformats.org/drawingml/2006/main">
            <a:r>
              <a:t>| failed | 17 | 6 |</a:t>
            </a:r>
          </a:p>
          <a:p xmlns:a="http://schemas.openxmlformats.org/drawingml/2006/main">
            <a:r>
              <a:t>| validation failure | 6 | 2 |</a:t>
            </a:r>
          </a:p>
          <a:p xmlns:a="http://schemas.openxmlformats.org/drawingml/2006/main">
            <a:r>
              <a:t>| compilation failure | 8 | 3 |</a:t>
            </a:r>
          </a:p>
          <a:p xmlns:a="http://schemas.openxmlformats.org/drawingml/2006/main">
            <a:r>
              <a:t>| runtime failure | 3 | 1 |</a:t>
            </a:r>
          </a:p>
          <a:p xmlns:a="http://schemas.openxmlformats.org/drawingml/2006/main">
            <a:r>
              <a:t>| compile success | 196 | 205 |</a:t>
            </a:r>
          </a:p>
          <a:p xmlns:a="http://schemas.openxmlformats.org/drawingml/2006/main">
            <a:r>
              <a:t>| compile failed | 8 | 3 |</a:t>
            </a:r>
          </a:p>
          <a:p xmlns:a="http://schemas.openxmlformats.org/drawingml/2006/main">
            <a:r>
              <a:t>| compile not run | 6 | 2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雙模型在工程可靠度上明顯較好：candidate failure rate 從 `17/210 = 8.1%` 降到 `6/210 = 2.9%`。兩者 generation 20 的 survivor 都沒有 failure，且都完成 1,800/1,800 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6.2 200 個 offspring 的 Java generation records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generation record success | 186/200（93.0%） | 195/200（97.5%） |</a:t>
            </a:r>
          </a:p>
          <a:p xmlns:a="http://schemas.openxmlformats.org/drawingml/2006/main">
            <a:r>
              <a:t>| first-attempt selected | 140/200（70.0%） | 183/200（91.5%） |</a:t>
            </a:r>
          </a:p>
          <a:p xmlns:a="http://schemas.openxmlformats.org/drawingml/2006/main">
            <a:r>
              <a:t>| total attempts | 323 | 235 |</a:t>
            </a:r>
          </a:p>
          <a:p xmlns:a="http://schemas.openxmlformats.org/drawingml/2006/main">
            <a:r>
              <a:t>| 一般 materialization success | 136/142（95.8%） | 136/138（98.6%） |</a:t>
            </a:r>
          </a:p>
          <a:p xmlns:a="http://schemas.openxmlformats.org/drawingml/2006/main">
            <a:r>
              <a:t>| Code Reflection direct generation success | 50/58（86.2%） | 59/62（95.2%）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Qwen 的核心優點是更常在第一次就產生可通過 validation/compilation 的 Java，顯著減少 repair attempts。但是「能編譯」和「忠實、有效」是不同層次；後續 strategy-alignment 與遊戲結果顯示它在語意 materialization 上較弱。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`generation/result.json` 的 direct-generation status 與 mutation metadata 的 `revision_status` 是不同 checkpoint：前者記錄 generator attempt 的結果，後者記錄 mutation operator 最後是否提交／套用 revision，之後還有 validation、compilation、integration 與 evaluation。因此第六節與第八節的成功數不要求完全相等。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七、三種 mutation operator 的觀察結果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下表的 survivor rate 是該 mutation 產生的 candidate 在出生當代進入 survivor population 的比例。`positive ΔGP` 和 median ΔGP 是與 artifact 記錄的 comparison parent 比較 aggregate GP；只納入雙方皆 evaluated 的 pair。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Run | Mutation | 數量 | applied | evaluated | 當代 survivor rate | positive ΔGP | median ΔGP |</a:t>
            </a:r>
          </a:p>
          <a:p xmlns:a="http://schemas.openxmlformats.org/drawingml/2006/main">
            <a:r>
              <a:t>|---|---|---:|---:|---:|---:|---:|---:|</a:t>
            </a:r>
          </a:p>
          <a:p xmlns:a="http://schemas.openxmlformats.org/drawingml/2006/main">
            <a:r>
              <a:t>| 純 | Strategy | 46 | 46 | 45 | 34.8% | 11/45（24.4%） | -8.03 |</a:t>
            </a:r>
          </a:p>
          <a:p xmlns:a="http://schemas.openxmlformats.org/drawingml/2006/main">
            <a:r>
              <a:t>| 純 | Prompt | 72 | 58 | 66 | 55.6% | 25/66（37.9%） | -0.67 |</a:t>
            </a:r>
          </a:p>
          <a:p xmlns:a="http://schemas.openxmlformats.org/drawingml/2006/main">
            <a:r>
              <a:t>| 純 | Code | 58 | 47 | 49 | 43.1% | 19/49（38.8%） | -0.27 |</a:t>
            </a:r>
          </a:p>
          <a:p xmlns:a="http://schemas.openxmlformats.org/drawingml/2006/main">
            <a:r>
              <a:t>| 雙 | Strategy | 46 | 46 | 45 | 41.3% | 13/45（28.9%） | -0.43 |</a:t>
            </a:r>
          </a:p>
          <a:p xmlns:a="http://schemas.openxmlformats.org/drawingml/2006/main">
            <a:r>
              <a:t>| 雙 | Prompt | 71 | 35 | 70 | 39.4% | 27/70（38.6%） | -0.19 |</a:t>
            </a:r>
          </a:p>
          <a:p xmlns:a="http://schemas.openxmlformats.org/drawingml/2006/main">
            <a:r>
              <a:t>| 雙 | Code | 62 | 60 | 58 | 51.6% | 16/58（27.6%） | -0.42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解讀限制：aggregate GP 不是 lexicase 的直接 selection objective，所以 positive ΔGP 不等於 operator reward，也不能只用這欄判定 operator 好壞。較穩健的觀察是：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純 Ministral 中 Prompt Reflection 的當代留存率最高（55.6%），Code Reflection 次之（43.1%）。</a:t>
            </a:r>
          </a:p>
          <a:p xmlns:a="http://schemas.openxmlformats.org/drawingml/2006/main">
            <a:r>
              <a:t>- 雙模型中 Code Reflection 留存率最高（51.6%），但其 aggregate GP 正向 pair 比例只有 27.6%。這表示它可能保留某些 opponent-specific case，卻沒有改善整體加權表現。</a:t>
            </a:r>
          </a:p>
          <a:p xmlns:a="http://schemas.openxmlformats.org/drawingml/2006/main">
            <a:r>
              <a:t>- 純 Ministral 的 Strategy Reflection 變異幅度最大，median ΔGP 為 -8.03；它能創造大幅不同策略，也較容易產生破壞性變化。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八、Code Reflection 專項分析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8.1 三項反思結論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Reflection 的 diagnosis 由 Ministral 執行；雙模型只把最後 Java revision/materialization 交給 Qwen。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結論維度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reflection success | 57/58 | 60/62 |</a:t>
            </a:r>
          </a:p>
          <a:p xmlns:a="http://schemas.openxmlformats.org/drawingml/2006/main">
            <a:r>
              <a:t>| strategy faithful | 11/57（19.3%） | 7/60（11.7%） |</a:t>
            </a:r>
          </a:p>
          <a:p xmlns:a="http://schemas.openxmlformats.org/drawingml/2006/main">
            <a:r>
              <a:t>| strategy unfaithful | 46/57（80.7%） | 53/60（88.3%） |</a:t>
            </a:r>
          </a:p>
          <a:p xmlns:a="http://schemas.openxmlformats.org/drawingml/2006/main">
            <a:r>
              <a:t>| code concise | 2/57（3.5%） | 0/60（0%） |</a:t>
            </a:r>
          </a:p>
          <a:p xmlns:a="http://schemas.openxmlformats.org/drawingml/2006/main">
            <a:r>
              <a:t>| needs simplification | 55/57（96.5%） | 60/60（100%） |</a:t>
            </a:r>
          </a:p>
          <a:p xmlns:a="http://schemas.openxmlformats.org/drawingml/2006/main">
            <a:r>
              <a:t>| game compliant | 56/57（98.2%） | 59/60（98.3%） |</a:t>
            </a:r>
          </a:p>
          <a:p xmlns:a="http://schemas.openxmlformats.org/drawingml/2006/main">
            <a:r>
              <a:t>| game noncompliant | 1/57（1.8%） | 1/60（1.7%）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這組結果支持目前 Code Reflection 的修改方向：它確實常辨識出「程式可編譯，但不忠實或過度複雜」的情況，而不是只做勝負優化。另一方面，`compliant` 比例接近 98% 只代表 LLM diagnosis 的自我判斷，不能當作獨立形式驗證。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8.2 Revision 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revision | Qwen revision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revision required | 57 | 60 |</a:t>
            </a:r>
          </a:p>
          <a:p xmlns:a="http://schemas.openxmlformats.org/drawingml/2006/main">
            <a:r>
              <a:t>| revision success | 47 | 60 |</a:t>
            </a:r>
          </a:p>
          <a:p xmlns:a="http://schemas.openxmlformats.org/drawingml/2006/main">
            <a:r>
              <a:t>| revision failed | 10 | 0 |</a:t>
            </a:r>
          </a:p>
          <a:p xmlns:a="http://schemas.openxmlformats.org/drawingml/2006/main">
            <a:r>
              <a:t>| not run | 1 | 2 |</a:t>
            </a:r>
          </a:p>
          <a:p xmlns:a="http://schemas.openxmlformats.org/drawingml/2006/main">
            <a:r>
              <a:t>| applied | 47/58（81.0%） | 60/62（96.8%） |</a:t>
            </a:r>
          </a:p>
          <a:p xmlns:a="http://schemas.openxmlformats.org/drawingml/2006/main">
            <a:r>
              <a:t>| Java hash changed | 47 | 49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Qwen revision 的流程成功率較高，但 60 次成功 revision 中只有 49 次 Java hash 改變，表示 11 次成功沒有形成不同 Java。純 Ministral 的成功 revision 全部造成 Java 變更。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8.3 Evidence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抽查兩個 run 保存的 `code_reflection/reflector_request.txt` 與 `prompt_reflection/reflector_request.txt`：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都明確禁止使用 game performance、opponent scores、W/D/L、match results、traces、logs 或 aggregate fitness。</a:t>
            </a:r>
          </a:p>
          <a:p xmlns:a="http://schemas.openxmlformats.org/drawingml/2006/main">
            <a:r>
              <a:t>- Code Reflection 收到 strategy prompt、parent Java、gameplay contract、Java scaffold／介面，以及 structural/compile evidence。</a:t>
            </a:r>
          </a:p>
          <a:p xmlns:a="http://schemas.openxmlformats.org/drawingml/2006/main">
            <a:r>
              <a:t>- Prompt Reflection 收到 policy、editable Java strategy region、gameplay contract／generation prompt，以及 structural/compile evidence。</a:t>
            </a:r>
          </a:p>
          <a:p xmlns:a="http://schemas.openxmlformats.org/drawingml/2006/main">
            <a:r>
              <a:t>- Strategy Reflection 仍可使用比賽評論與 opponent evidence，這是其設計目的。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因此本次 artifact 顯示 Code/Prompt Reflection 的輸入隔離方向正確；它們沒有直接拿勝負表現來改 code/prompt。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8.4 反思結論與最終實作品質並不等價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最佳個體的最後一次 Code Reflection 結論是：`faithful`、`needs_simplification`、`compliant`，revision 第二次嘗試成功且 Java 有改變。但最終 code-quality evaluator 仍只給 strategy alignment `7/10`；人工抽查也發現 Worker attack 規則用 `nearestEnemy`，未先驗證 policy 指定的 range 1，就直接交給抽象 attack 行為，實際可追擊遠距敵人。這代表 Code Reflection 的結論仍可能漏掉語意差異。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雙模型最佳個體不是 Code Reflection offspring，而是 Strategy Reflection offspring。其最終 alignment 只有 `2/10`，且 policy 中「Base 無相鄰空格時，在 distance 2 的格子訓練 Worker」本身不符合 MicroRTS 只能在相鄰格生產的規則；生成 Java 也沒有忠實實作這條 fallback。這顯示只讓 Code Reflection candidate 接受 compliance diagnosis 不夠，Strategy/Prompt offspring 在最後 materialization 後也需要共同的 deterministic legality 與 alignment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此外，strategy-alignment 分數本身也是 LLM diagnostic；其理由文字中可見至少一項與 gameplay contract 不完全一致的距離判斷敘述。因此本報告把它視為支持證據，而不是 ground truth。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九、Prompt Reflection 與 Strategy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Strategy Reflection count / applied | 46 / 46 | 46 / 46 |</a:t>
            </a:r>
          </a:p>
          <a:p xmlns:a="http://schemas.openxmlformats.org/drawingml/2006/main">
            <a:r>
              <a:t>| Prompt Reflection count | 72 | 71 |</a:t>
            </a:r>
          </a:p>
          <a:p xmlns:a="http://schemas.openxmlformats.org/drawingml/2006/main">
            <a:r>
              <a:t>| Prompt reflection success | 72 | 70；另 1 failed |</a:t>
            </a:r>
          </a:p>
          <a:p xmlns:a="http://schemas.openxmlformats.org/drawingml/2006/main">
            <a:r>
              <a:t>| Prompt rewrite success | 58 | 35 |</a:t>
            </a:r>
          </a:p>
          <a:p xmlns:a="http://schemas.openxmlformats.org/drawingml/2006/main">
            <a:r>
              <a:t>| Prompt rewrite failed | 14 | 35；另 1 無結果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雙模型的 Prompt rewrite 成功率只有 `35/71 = 49.3%`，明顯低於純 Ministral 的 `58/72 = 80.6%`。但此 rewrite 階段仍由 Ministral 執行，所以不能直接把差異歸因於 Qwen；較可能是兩個 run 的 parent/policy 分布、LLM 隨機輸出與 retry path 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Strategy Reflection 在兩邊都完整執行，但最後 Java 的品質取決於後置 materialization。雙模型較多 niche、較低 alignment 的組合顯示 Qwen 能接受多樣策略輸入，卻沒有穩定保留其完整行為。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八、Code Reflection 專項分析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8.1 三項反思結論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Reflection 的 diagnosis 由 Ministral 執行；雙模型只把最後 Java revision/materialization 交給 Qwen。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結論維度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reflection success | 57/58 | 60/62 |</a:t>
            </a:r>
          </a:p>
          <a:p xmlns:a="http://schemas.openxmlformats.org/drawingml/2006/main">
            <a:r>
              <a:t>| strategy faithful | 11/57（19.3%） | 7/60（11.7%） |</a:t>
            </a:r>
          </a:p>
          <a:p xmlns:a="http://schemas.openxmlformats.org/drawingml/2006/main">
            <a:r>
              <a:t>| strategy unfaithful | 46/57（80.7%） | 53/60（88.3%） |</a:t>
            </a:r>
          </a:p>
          <a:p xmlns:a="http://schemas.openxmlformats.org/drawingml/2006/main">
            <a:r>
              <a:t>| code concise | 2/57（3.5%） | 0/60（0%） |</a:t>
            </a:r>
          </a:p>
          <a:p xmlns:a="http://schemas.openxmlformats.org/drawingml/2006/main">
            <a:r>
              <a:t>| needs simplification | 55/57（96.5%） | 60/60（100%） |</a:t>
            </a:r>
          </a:p>
          <a:p xmlns:a="http://schemas.openxmlformats.org/drawingml/2006/main">
            <a:r>
              <a:t>| game compliant | 56/57（98.2%） | 59/60（98.3%） |</a:t>
            </a:r>
          </a:p>
          <a:p xmlns:a="http://schemas.openxmlformats.org/drawingml/2006/main">
            <a:r>
              <a:t>| game noncompliant | 1/57（1.8%） | 1/60（1.7%）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這組結果支持目前 Code Reflection 的修改方向：它確實常辨識出「程式可編譯，但不忠實或過度複雜」的情況，而不是只做勝負優化。另一方面，`compliant` 比例接近 98% 只代表 LLM diagnosis 的自我判斷，不能當作獨立形式驗證。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8.2 Revision 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revision | Qwen revision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revision required | 57 | 60 |</a:t>
            </a:r>
          </a:p>
          <a:p xmlns:a="http://schemas.openxmlformats.org/drawingml/2006/main">
            <a:r>
              <a:t>| revision success | 47 | 60 |</a:t>
            </a:r>
          </a:p>
          <a:p xmlns:a="http://schemas.openxmlformats.org/drawingml/2006/main">
            <a:r>
              <a:t>| revision failed | 10 | 0 |</a:t>
            </a:r>
          </a:p>
          <a:p xmlns:a="http://schemas.openxmlformats.org/drawingml/2006/main">
            <a:r>
              <a:t>| not run | 1 | 2 |</a:t>
            </a:r>
          </a:p>
          <a:p xmlns:a="http://schemas.openxmlformats.org/drawingml/2006/main">
            <a:r>
              <a:t>| applied | 47/58（81.0%） | 60/62（96.8%） |</a:t>
            </a:r>
          </a:p>
          <a:p xmlns:a="http://schemas.openxmlformats.org/drawingml/2006/main">
            <a:r>
              <a:t>| Java hash changed | 47 | 49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Qwen revision 的流程成功率較高，但 60 次成功 revision 中只有 49 次 Java hash 改變，表示 11 次成功沒有形成不同 Java。純 Ministral 的成功 revision 全部造成 Java 變更。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8.3 Evidence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抽查兩個 run 保存的 `code_reflection/reflector_request.txt` 與 `prompt_reflection/reflector_request.txt`：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都明確禁止使用 game performance、opponent scores、W/D/L、match results、traces、logs 或 aggregate fitness。</a:t>
            </a:r>
          </a:p>
          <a:p xmlns:a="http://schemas.openxmlformats.org/drawingml/2006/main">
            <a:r>
              <a:t>- Code Reflection 收到 strategy prompt、parent Java、gameplay contract、Java scaffold／介面，以及 structural/compile evidence。</a:t>
            </a:r>
          </a:p>
          <a:p xmlns:a="http://schemas.openxmlformats.org/drawingml/2006/main">
            <a:r>
              <a:t>- Prompt Reflection 收到 policy、editable Java strategy region、gameplay contract／generation prompt，以及 structural/compile evidence。</a:t>
            </a:r>
          </a:p>
          <a:p xmlns:a="http://schemas.openxmlformats.org/drawingml/2006/main">
            <a:r>
              <a:t>- Strategy Reflection 仍可使用比賽評論與 opponent evidence，這是其設計目的。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因此本次 artifact 顯示 Code/Prompt Reflection 的輸入隔離方向正確；它們沒有直接拿勝負表現來改 code/prompt。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8.4 反思結論與最終實作品質並不等價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最佳個體的最後一次 Code Reflection 結論是：`faithful`、`needs_simplification`、`compliant`，revision 第二次嘗試成功且 Java 有改變。但最終 code-quality evaluator 仍只給 strategy alignment `7/10`；人工抽查也發現 Worker attack 規則用 `nearestEnemy`，未先驗證 policy 指定的 range 1，就直接交給抽象 attack 行為，實際可追擊遠距敵人。這代表 Code Reflection 的結論仍可能漏掉語意差異。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雙模型最佳個體不是 Code Reflection offspring，而是 Strategy Reflection offspring。其最終 alignment 只有 `2/10`，且 policy 中「Base 無相鄰空格時，在 distance 2 的格子訓練 Worker」本身不符合 MicroRTS 只能在相鄰格生產的規則；生成 Java 也沒有忠實實作這條 fallback。這顯示只讓 Code Reflection candidate 接受 compliance diagnosis 不夠，Strategy/Prompt offspring 在最後 materialization 後也需要共同的 deterministic legality 與 alignment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此外，strategy-alignment 分數本身也是 LLM diagnostic；其理由文字中可見至少一項與 gameplay contract 不完全一致的距離判斷敘述。因此本報告把它視為支持證據，而不是 ground truth。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十、多樣性與 materialization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offspring unique Java hashes | 171 | 72 |</a:t>
            </a:r>
          </a:p>
          <a:p xmlns:a="http://schemas.openxmlformats.org/drawingml/2006/main">
            <a:r>
              <a:t>| final unique policy hashes | 3 | 4 |</a:t>
            </a:r>
          </a:p>
          <a:p xmlns:a="http://schemas.openxmlformats.org/drawingml/2006/main">
            <a:r>
              <a:t>| final unique Java hashes | 10 | 5 |</a:t>
            </a:r>
          </a:p>
          <a:p xmlns:a="http://schemas.openxmlformats.org/drawingml/2006/main">
            <a:r>
              <a:t>| final unique strategy niches | 2 | 4 |</a:t>
            </a:r>
          </a:p>
          <a:p xmlns:a="http://schemas.openxmlformats.org/drawingml/2006/main">
            <a:r>
              <a:t>| final recognized niche signatures | 4/10 | 10/10 |</a:t>
            </a:r>
          </a:p>
          <a:p xmlns:a="http://schemas.openxmlformats.org/drawingml/2006/main">
            <a:r>
              <a:t>| final mean strategy distance | 0.50 | 0.71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雙模型在文字策略空間較多樣，但 Java 空間反而更集中。換句話說，**Qwen 把不同策略壓縮成較少數的程式行為**；這與 final alignment `2.0/10` 及低戰力一致。純 Ministral 的文字 niche 較集中，卻保留 10/10 不同 Java hash，且實際對戰行為差異更有用。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八、Code Reflection 專項分析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8.1 三項反思結論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Reflection 的 diagnosis 由 Ministral 執行；雙模型只把最後 Java revision/materialization 交給 Qwen。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結論維度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reflection success | 57/58 | 60/62 |</a:t>
            </a:r>
          </a:p>
          <a:p xmlns:a="http://schemas.openxmlformats.org/drawingml/2006/main">
            <a:r>
              <a:t>| strategy faithful | 11/57（19.3%） | 7/60（11.7%） |</a:t>
            </a:r>
          </a:p>
          <a:p xmlns:a="http://schemas.openxmlformats.org/drawingml/2006/main">
            <a:r>
              <a:t>| strategy unfaithful | 46/57（80.7%） | 53/60（88.3%） |</a:t>
            </a:r>
          </a:p>
          <a:p xmlns:a="http://schemas.openxmlformats.org/drawingml/2006/main">
            <a:r>
              <a:t>| code concise | 2/57（3.5%） | 0/60（0%） |</a:t>
            </a:r>
          </a:p>
          <a:p xmlns:a="http://schemas.openxmlformats.org/drawingml/2006/main">
            <a:r>
              <a:t>| needs simplification | 55/57（96.5%） | 60/60（100%） |</a:t>
            </a:r>
          </a:p>
          <a:p xmlns:a="http://schemas.openxmlformats.org/drawingml/2006/main">
            <a:r>
              <a:t>| game compliant | 56/57（98.2%） | 59/60（98.3%） |</a:t>
            </a:r>
          </a:p>
          <a:p xmlns:a="http://schemas.openxmlformats.org/drawingml/2006/main">
            <a:r>
              <a:t>| game noncompliant | 1/57（1.8%） | 1/60（1.7%）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這組結果支持目前 Code Reflection 的修改方向：它確實常辨識出「程式可編譯，但不忠實或過度複雜」的情況，而不是只做勝負優化。另一方面，`compliant` 比例接近 98% 只代表 LLM diagnosis 的自我判斷，不能當作獨立形式驗證。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8.2 Revision 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revision | Qwen revision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revision required | 57 | 60 |</a:t>
            </a:r>
          </a:p>
          <a:p xmlns:a="http://schemas.openxmlformats.org/drawingml/2006/main">
            <a:r>
              <a:t>| revision success | 47 | 60 |</a:t>
            </a:r>
          </a:p>
          <a:p xmlns:a="http://schemas.openxmlformats.org/drawingml/2006/main">
            <a:r>
              <a:t>| revision failed | 10 | 0 |</a:t>
            </a:r>
          </a:p>
          <a:p xmlns:a="http://schemas.openxmlformats.org/drawingml/2006/main">
            <a:r>
              <a:t>| not run | 1 | 2 |</a:t>
            </a:r>
          </a:p>
          <a:p xmlns:a="http://schemas.openxmlformats.org/drawingml/2006/main">
            <a:r>
              <a:t>| applied | 47/58（81.0%） | 60/62（96.8%） |</a:t>
            </a:r>
          </a:p>
          <a:p xmlns:a="http://schemas.openxmlformats.org/drawingml/2006/main">
            <a:r>
              <a:t>| Java hash changed | 47 | 49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Qwen revision 的流程成功率較高，但 60 次成功 revision 中只有 49 次 Java hash 改變，表示 11 次成功沒有形成不同 Java。純 Ministral 的成功 revision 全部造成 Java 變更。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8.3 Evidence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抽查兩個 run 保存的 `code_reflection/reflector_request.txt` 與 `prompt_reflection/reflector_request.txt`：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都明確禁止使用 game performance、opponent scores、W/D/L、match results、traces、logs 或 aggregate fitness。</a:t>
            </a:r>
          </a:p>
          <a:p xmlns:a="http://schemas.openxmlformats.org/drawingml/2006/main">
            <a:r>
              <a:t>- Code Reflection 收到 strategy prompt、parent Java、gameplay contract、Java scaffold／介面，以及 structural/compile evidence。</a:t>
            </a:r>
          </a:p>
          <a:p xmlns:a="http://schemas.openxmlformats.org/drawingml/2006/main">
            <a:r>
              <a:t>- Prompt Reflection 收到 policy、editable Java strategy region、gameplay contract／generation prompt，以及 structural/compile evidence。</a:t>
            </a:r>
          </a:p>
          <a:p xmlns:a="http://schemas.openxmlformats.org/drawingml/2006/main">
            <a:r>
              <a:t>- Strategy Reflection 仍可使用比賽評論與 opponent evidence，這是其設計目的。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因此本次 artifact 顯示 Code/Prompt Reflection 的輸入隔離方向正確；它們沒有直接拿勝負表現來改 code/prompt。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8.4 反思結論與最終實作品質並不等價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純 Ministral 最佳個體的最後一次 Code Reflection 結論是：`faithful`、`needs_simplification`、`compliant`，revision 第二次嘗試成功且 Java 有改變。但最終 code-quality evaluator 仍只給 strategy alignment `7/10`；人工抽查也發現 Worker attack 規則用 `nearestEnemy`，未先驗證 policy 指定的 range 1，就直接交給抽象 attack 行為，實際可追擊遠距敵人。這代表 Code Reflection 的結論仍可能漏掉語意差異。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雙模型最佳個體不是 Code Reflection offspring，而是 Strategy Reflection offspring。其最終 alignment 只有 `2/10`，且 policy 中「Base 無相鄰空格時，在 distance 2 的格子訓練 Worker」本身不符合 MicroRTS 只能在相鄰格生產的規則；生成 Java 也沒有忠實實作這條 fallback。這顯示只讓 Code Reflection candidate 接受 compliance diagnosis 不夠，Strategy/Prompt offspring 在最後 materialization 後也需要共同的 deterministic legality 與 alignment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此外，strategy-alignment 分數本身也是 LLM diagnostic；其理由文字中可見至少一項與 gameplay contract 不完全一致的距離判斷敘述。因此本報告把它視為支持證據，而不是 ground truth。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十一、代表個體與 lineage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11.1 純 Ministral 最佳個體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Candidate：[`gen_0020_f5bea1248ef6`](../../runs/20260908_121222_306081/candidates/gen_0020_f5bea1248ef6/)</a:t>
            </a:r>
          </a:p>
          <a:p xmlns:a="http://schemas.openxmlformats.org/drawingml/2006/main">
            <a:r>
              <a:t>- 出生：generation 20，`crossover+mutation` + Code Reflection；兩個 parent slot 都指向 `gen_0019_c925d51aaffa`。</a:t>
            </a:r>
          </a:p>
          <a:p xmlns:a="http://schemas.openxmlformats.org/drawingml/2006/main">
            <a:r>
              <a:t>- Aggregate GP：`-47.518094`。</a:t>
            </a:r>
          </a:p>
          <a:p xmlns:a="http://schemas.openxmlformats.org/drawingml/2006/main">
            <a:r>
              <a:t>- 最佳 matchup：Random `103.986318`。</a:t>
            </a:r>
          </a:p>
          <a:p xmlns:a="http://schemas.openxmlformats.org/drawingml/2006/main">
            <a:r>
              <a:t>- 最差 matchup：TMA `-103.179530`。</a:t>
            </a:r>
          </a:p>
          <a:p xmlns:a="http://schemas.openxmlformats.org/drawingml/2006/main">
            <a:r>
              <a:t>- Code quality：`34.07`；strategy alignment `7/10`；Java 525 行。</a:t>
            </a:r>
          </a:p>
          <a:p xmlns:a="http://schemas.openxmlformats.org/drawingml/2006/main">
            <a:r>
              <a:t>- 策略重點：Worker 經濟、最多兩座 Barracks、Heavy/Ranged 生產，以及低 HP Worker 的主動攻擊。</a:t>
            </a:r>
          </a:p>
          <a:p xmlns:a="http://schemas.openxmlformats.org/drawingml/2006/main">
            <a:r>
              <a:t>- Java lineage 的主要 GP 路徑：gen0 `-89.83` → gen2 `-79.37` → gen4 `-70.57` → gen6 `-57.06` → gen7 `-49.41` → gen8 `-48.58` → gen14 `-48.00` → gen20 `-47.52`。中間因 crossover、prompt/code mutation 與 lexicase 保留而有上下波動。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 lineage 顯示實質突破在 generation 2–8 完成，後段主要是維持與局部調整，而不是持續線性上升。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11.2 雙模型最佳個體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Candidate：[`gen_0019_887ced275cde`](../../runs/20260909_032729_611766/candidates/gen_0019_887ced275cde/)</a:t>
            </a:r>
          </a:p>
          <a:p xmlns:a="http://schemas.openxmlformats.org/drawingml/2006/main">
            <a:r>
              <a:t>- 出生：generation 19，copy path 上套用 Strategy Reflection，parent 為 `gen_0017_f9a7b5d7bcf7`。</a:t>
            </a:r>
          </a:p>
          <a:p xmlns:a="http://schemas.openxmlformats.org/drawingml/2006/main">
            <a:r>
              <a:t>- Aggregate GP：`-81.908586`。</a:t>
            </a:r>
          </a:p>
          <a:p xmlns:a="http://schemas.openxmlformats.org/drawingml/2006/main">
            <a:r>
              <a:t>- 最佳 matchup：Random `11.259077`。</a:t>
            </a:r>
          </a:p>
          <a:p xmlns:a="http://schemas.openxmlformats.org/drawingml/2006/main">
            <a:r>
              <a:t>- 最差 matchup：Mayari `-102.017707`。</a:t>
            </a:r>
          </a:p>
          <a:p xmlns:a="http://schemas.openxmlformats.org/drawingml/2006/main">
            <a:r>
              <a:t>- Code quality：`26.87`；strategy alignment `2/10`；Java 438 行。</a:t>
            </a:r>
          </a:p>
          <a:p xmlns:a="http://schemas.openxmlformats.org/drawingml/2006/main">
            <a:r>
              <a:t>- 策略重點：經濟與防守優先，Light 作為防線、Heavy 反制，進攻條件有限。</a:t>
            </a:r>
          </a:p>
          <a:p xmlns:a="http://schemas.openxmlformats.org/drawingml/2006/main">
            <a:r>
              <a:t>- Java lineage 的主要 GP 路徑：gen0 `-90.31` → gen2 `-89.53` → gen5 `-86.69` → gen8 `-85.80` → gen11 `-82.29` → gen12 `-81.58` → gen19 `-81.91`。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它的進步較慢，且大量勝負被轉成和局。Strategy Reflection 產生的策略語意沒有被 Qwen 完整轉成有效 Java，是目前最需要處理的問題。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十二、時間與效率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12.1 Generation timing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指標 | 純 Ministral | 雙模型 |</a:t>
            </a:r>
          </a:p>
          <a:p xmlns:a="http://schemas.openxmlformats.org/drawingml/2006/main">
            <a:r>
              <a:t>|---|---:|---:|</a:t>
            </a:r>
          </a:p>
          <a:p xmlns:a="http://schemas.openxmlformats.org/drawingml/2006/main">
            <a:r>
              <a:t>| generation 0 | 1,074.95 s | 1,075.19 s |</a:t>
            </a:r>
          </a:p>
          <a:p xmlns:a="http://schemas.openxmlformats.org/drawingml/2006/main">
            <a:r>
              <a:t>| generations 1–20 合計 | 53,830.59 s（14.95 h） | 56,028.46 s（15.56 h） |</a:t>
            </a:r>
          </a:p>
          <a:p xmlns:a="http://schemas.openxmlformats.org/drawingml/2006/main">
            <a:r>
              <a:t>| 每代 median | 2,683.54 s（44.73 min） | 2,627.84 s（43.80 min） |</a:t>
            </a:r>
          </a:p>
          <a:p xmlns:a="http://schemas.openxmlformats.org/drawingml/2006/main">
            <a:r>
              <a:t>| 每代 mean | 2,691.53 s（44.86 min） | 2,801.42 s（46.69 min）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雙模型的 generation median 略低，但總 evolutionary time 高 `2,197.87 s`，約多 36.6 分鐘／4.1%。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12.2 Offspring phase 累積時間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以下欄位各自加總，不應再次彼此相加；`child_total` 已涵蓋主要子階段。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Phase | 純 Ministral | 雙模型 | 差異解讀 |</a:t>
            </a:r>
          </a:p>
          <a:p xmlns:a="http://schemas.openxmlformats.org/drawingml/2006/main">
            <a:r>
              <a:t>|---|---:|---:|---|</a:t>
            </a:r>
          </a:p>
          <a:p xmlns:a="http://schemas.openxmlformats.org/drawingml/2006/main">
            <a:r>
              <a:t>| child total | 47,048.63 s | 53,162.44 s | 雙模型 +13.0% |</a:t>
            </a:r>
          </a:p>
          <a:p xmlns:a="http://schemas.openxmlformats.org/drawingml/2006/main">
            <a:r>
              <a:t>| candidate generation_llm stage | 13,213.65 s | 7,728.09 s | Qwen 約快 41.5% |</a:t>
            </a:r>
          </a:p>
          <a:p xmlns:a="http://schemas.openxmlformats.org/drawingml/2006/main">
            <a:r>
              <a:t>| all logged LLM requests | 38,928.74 s | 28,570.96 s | 雙模型少 26.6% |</a:t>
            </a:r>
          </a:p>
          <a:p xmlns:a="http://schemas.openxmlformats.org/drawingml/2006/main">
            <a:r>
              <a:t>| evaluation | 14,752.32 s | 27,379.74 s | 雙模型多 85.6% |</a:t>
            </a:r>
          </a:p>
          <a:p xmlns:a="http://schemas.openxmlformats.org/drawingml/2006/main">
            <a:r>
              <a:t>| MicroRTS matches | 10,379.43 s | 21,948.55 s | 雙模型多 111.5%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因此，Qwen 並不是推論太慢；它的 Java 生成其實更快、更少 retry。整體實驗變慢的主要來源是 MicroRTS matches。結合最終大量和局，合理推論是雙模型產生的保守或無效行為更常把比賽跑到較高 tick limit，抵銷了 LLM generation 的節省。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十三、整體判斷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13.1 可以下的結論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這次純 Ministral pipeline 的 competitive performance 明顯優於雙模型 pipeline。</a:t>
            </a:r>
          </a:p>
          <a:p xmlns:a="http://schemas.openxmlformats.org/drawingml/2006/main">
            <a:r>
              <a:t>2. Qwen3.5 9B 的 syntactic/compilation reliability 較高，第一次成功率也高。</a:t>
            </a:r>
          </a:p>
          <a:p xmlns:a="http://schemas.openxmlformats.org/drawingml/2006/main">
            <a:r>
              <a:t>3. Qwen 產生的 Java 對 strategy prompt 的忠實度不足，最終族群 alignment 顯著較低。</a:t>
            </a:r>
          </a:p>
          <a:p xmlns:a="http://schemas.openxmlformats.org/drawingml/2006/main">
            <a:r>
              <a:t>4. 雙模型增加文字策略 diversity，卻沒有增加 Java diversity 或勝率。</a:t>
            </a:r>
          </a:p>
          <a:p xmlns:a="http://schemas.openxmlformats.org/drawingml/2006/main">
            <a:r>
              <a:t>5. Code Reflection diagnosis 能辨識不忠實、過度複雜與少數不合規案例，方向正確；但 LLM 自評不能保證 revision 後真的忠實。</a:t>
            </a:r>
          </a:p>
          <a:p xmlns:a="http://schemas.openxmlformats.org/drawingml/2006/main">
            <a:r>
              <a:t>6. Code/Prompt Reflection 的 archived request 符合 evidence isolation：未使用 game performance。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13.2 目前不能下的結論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不能斷言 Qwen3.5 9B 在所有條件下一定比 Ministral 差，因為初始 LLM policy 沒有凍結配對。</a:t>
            </a:r>
          </a:p>
          <a:p xmlns:a="http://schemas.openxmlformats.org/drawingml/2006/main">
            <a:r>
              <a:t>2. 不能用 aggregate GP 的單代下降推論 survivor selection 或 Java inheritance 有錯；lexicase 並不直接保證 aggregate 單調。</a:t>
            </a:r>
          </a:p>
          <a:p xmlns:a="http://schemas.openxmlformats.org/drawingml/2006/main">
            <a:r>
              <a:t>3. 不能把 `compliant`、validation passed 或 compilation success 當成策略忠實度證明。</a:t>
            </a:r>
          </a:p>
          <a:p xmlns:a="http://schemas.openxmlformats.org/drawingml/2006/main">
            <a:r>
              <a:t>4. 不能把這一次的時間差視為純模型吞吐差異；策略行為造成的 match length 是更大的因素。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十四、建議的下一步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依優先順序建議：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**目前正式長跑先使用純 Ministral materialization。** 它是唯一在這次 run 中把演化轉成大量勝場的版本。</a:t>
            </a:r>
          </a:p>
          <a:p xmlns:a="http://schemas.openxmlformats.org/drawingml/2006/main">
            <a:r>
              <a:t>2. **建立真正配對的模型 A/B。** 先固定一份完整 generation-0 population（policy、generation prompt、Java、hash），兩邊直接從同一份 artifact 開始；至少跑 3–5 個 EA seed。</a:t>
            </a:r>
          </a:p>
          <a:p xmlns:a="http://schemas.openxmlformats.org/drawingml/2006/main">
            <a:r>
              <a:t>3. **所有 mutation 類型在最終 Java materialization 後通過同一個 gate。** 不只 Code Reflection；Strategy/Prompt offspring 也要檢查 policy legality、Java action legality、rule coverage 與 policy-code alignment。</a:t>
            </a:r>
          </a:p>
          <a:p xmlns:a="http://schemas.openxmlformats.org/drawingml/2006/main">
            <a:r>
              <a:t>4. **把 deterministic checks 放在 LLM diagnosis 前後。** 例如 production 必須相鄰、actor/unit capability 必須合法、attack range/target ownership、每條 policy rule 是否有對應 reachable code path。LLM 負責解釋與修正，程式檢查負責判定硬規則。</a:t>
            </a:r>
          </a:p>
          <a:p xmlns:a="http://schemas.openxmlformats.org/drawingml/2006/main">
            <a:r>
              <a:t>5. **針對 Qwen prompt 做最小化適配。** 優先測試較短的 generation prompt、明確逐條 rule-to-code checklist、禁止省略規則、輸出後逐條自查；不要先增加更多 performance context。</a:t>
            </a:r>
          </a:p>
          <a:p xmlns:a="http://schemas.openxmlformats.org/drawingml/2006/main">
            <a:r>
              <a:t>6. **新增獨立 holdout evaluation。** 最終 survivor 再用未參與 selection 的地圖、不同 rounds/seed 或額外 opponent 測一次，避免只對固定十個 cases 過度適應。</a:t>
            </a:r>
          </a:p>
          <a:p xmlns:a="http://schemas.openxmlformats.org/drawingml/2006/main">
            <a:r>
              <a:t>7. **報告分開呈現四層指標：** decode/compile success、mechanical compliance、strategy alignment、game performance。任何單層成功都不能代替下一層。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Meeting/20260910_generation_model_comparison_20x10/ministral_vs_qwen_generation_model_analysis.md</a:t>
            </a:r>
          </a:p>
          <a:p xmlns:a="http://schemas.openxmlformats.org/drawingml/2006/main">
            <a:r>
              <a:t>Analysis date: 2026-09-10. Values are transcribed from the supplied analysis; the underlying runs were not independently recomputed for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十四、建議的下一步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依優先順序建議：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**目前正式長跑先使用純 Ministral materialization。** 它是唯一在這次 run 中把演化轉成大量勝場的版本。</a:t>
            </a:r>
          </a:p>
          <a:p xmlns:a="http://schemas.openxmlformats.org/drawingml/2006/main">
            <a:r>
              <a:t>2. **建立真正配對的模型 A/B。** 先固定一份完整 generation-0 population（policy、generation prompt、Java、hash），兩邊直接從同一份 artifact 開始；至少跑 3–5 個 EA seed。</a:t>
            </a:r>
          </a:p>
          <a:p xmlns:a="http://schemas.openxmlformats.org/drawingml/2006/main">
            <a:r>
              <a:t>3. **所有 mutation 類型在最終 Java materialization 後通過同一個 gate。** 不只 Code Reflection；Strategy/Prompt offspring 也要檢查 policy legality、Java action legality、rule coverage 與 policy-code alignment。</a:t>
            </a:r>
          </a:p>
          <a:p xmlns:a="http://schemas.openxmlformats.org/drawingml/2006/main">
            <a:r>
              <a:t>4. **把 deterministic checks 放在 LLM diagnosis 前後。** 例如 production 必須相鄰、actor/unit capability 必須合法、attack range/target ownership、每條 policy rule 是否有對應 reachable code path。LLM 負責解釋與修正，程式檢查負責判定硬規則。</a:t>
            </a:r>
          </a:p>
          <a:p xmlns:a="http://schemas.openxmlformats.org/drawingml/2006/main">
            <a:r>
              <a:t>5. **針對 Qwen prompt 做最小化適配。** 優先測試較短的 generation prompt、明確逐條 rule-to-code checklist、禁止省略規則、輸出後逐條自查；不要先增加更多 performance context。</a:t>
            </a:r>
          </a:p>
          <a:p xmlns:a="http://schemas.openxmlformats.org/drawingml/2006/main">
            <a:r>
              <a:t>6. **新增獨立 holdout evaluation。** 最終 survivor 再用未參與 selection 的地圖、不同 rounds/seed 或額外 opponent 測一次，避免只對固定十個 cases 過度適應。</a:t>
            </a:r>
          </a:p>
          <a:p xmlns:a="http://schemas.openxmlformats.org/drawingml/2006/main">
            <a:r>
              <a:t>7. **報告分開呈現四層指標：** decode/compile success、mechanical compliance、strategy alignment、game performance。任何單層成功都不能代替下一層。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十五、資料完整性與計算方式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本報告直接讀取兩個 run 的：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`manifest.json`、`config.yaml`、`summary.json`</a:t>
            </a:r>
          </a:p>
          <a:p xmlns:a="http://schemas.openxmlformats.org/drawingml/2006/main">
            <a:r>
              <a:t>- `generations/generation_0000.json` 至 `generation_0020.json`</a:t>
            </a:r>
          </a:p>
          <a:p xmlns:a="http://schemas.openxmlformats.org/drawingml/2006/main">
            <a:r>
              <a:t>- 420 份 `candidates/*/candidate.json` 與 lineage、generation、mutation、validation、compilation、integration、evaluation artifacts</a:t>
            </a:r>
          </a:p>
          <a:p xmlns:a="http://schemas.openxmlformats.org/drawingml/2006/main">
            <a:r>
              <a:t>- `timing.jsonl` 與 candidate `timing.json`</a:t>
            </a:r>
          </a:p>
          <a:p xmlns:a="http://schemas.openxmlformats.org/drawingml/2006/main">
            <a:r>
              <a:t>- Code/Prompt/Strategy Reflection 保存的 request、response 與 metadata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所有表格中的 GP、CQ、opponent mean、W-D-L、failure count 與 timing 都由 committed artifacts 彙整；未以終端文字推測。數值顯示至小數點後兩位時採四捨五入，計算仍使用原始精度。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model_comparison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族群平均 GP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25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純 Ministral</c:v>
          </c:tx>
          <c:spPr>
            <a:ln xmlns:a="http://schemas.openxmlformats.org/drawingml/2006/main" w="30480">
              <a:solidFill>
                <a:srgbClr val="CF8792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-90.54</c:v>
              </c:pt>
              <c:pt idx="1">
                <c:v>-89.77</c:v>
              </c:pt>
              <c:pt idx="2">
                <c:v>-85.91</c:v>
              </c:pt>
              <c:pt idx="3">
                <c:v>-86.9</c:v>
              </c:pt>
              <c:pt idx="4">
                <c:v>-84.78</c:v>
              </c:pt>
              <c:pt idx="5">
                <c:v>-77.86</c:v>
              </c:pt>
              <c:pt idx="6">
                <c:v>-73.35</c:v>
              </c:pt>
              <c:pt idx="7">
                <c:v>-71.23</c:v>
              </c:pt>
              <c:pt idx="8">
                <c:v>-62.62</c:v>
              </c:pt>
              <c:pt idx="9">
                <c:v>-63.23</c:v>
              </c:pt>
              <c:pt idx="10">
                <c:v>-59.39</c:v>
              </c:pt>
              <c:pt idx="11">
                <c:v>-56.77</c:v>
              </c:pt>
              <c:pt idx="12">
                <c:v>-55.21</c:v>
              </c:pt>
              <c:pt idx="13">
                <c:v>-54.86</c:v>
              </c:pt>
              <c:pt idx="14">
                <c:v>-53.76</c:v>
              </c:pt>
              <c:pt idx="15">
                <c:v>-54.58</c:v>
              </c:pt>
              <c:pt idx="16">
                <c:v>-56.5</c:v>
              </c:pt>
              <c:pt idx="17">
                <c:v>-56.41</c:v>
              </c:pt>
              <c:pt idx="18">
                <c:v>-57.68</c:v>
              </c:pt>
              <c:pt idx="19">
                <c:v>-57.98</c:v>
              </c:pt>
              <c:pt idx="20">
                <c:v>-58.99</c:v>
              </c:pt>
            </c:numLit>
          </c:val>
          <c:smooth val="0"/>
        </c:ser>
        <c:ser>
          <c:idx val="1"/>
          <c:order val="1"/>
          <c:tx>
            <c:v>Ministral→Qwen</c:v>
          </c:tx>
          <c:spPr>
            <a:ln xmlns:a="http://schemas.openxmlformats.org/drawingml/2006/main" w="30480">
              <a:solidFill>
                <a:srgbClr val="C69B45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-90.44</c:v>
              </c:pt>
              <c:pt idx="1">
                <c:v>-90.45</c:v>
              </c:pt>
              <c:pt idx="2">
                <c:v>-89.93</c:v>
              </c:pt>
              <c:pt idx="3">
                <c:v>-89.83</c:v>
              </c:pt>
              <c:pt idx="4">
                <c:v>-89.69</c:v>
              </c:pt>
              <c:pt idx="5">
                <c:v>-89.31</c:v>
              </c:pt>
              <c:pt idx="6">
                <c:v>-88.63</c:v>
              </c:pt>
              <c:pt idx="7">
                <c:v>-89.15</c:v>
              </c:pt>
              <c:pt idx="8">
                <c:v>-88.87</c:v>
              </c:pt>
              <c:pt idx="9">
                <c:v>-89.09</c:v>
              </c:pt>
              <c:pt idx="10">
                <c:v>-88.87</c:v>
              </c:pt>
              <c:pt idx="11">
                <c:v>-87.32</c:v>
              </c:pt>
              <c:pt idx="12">
                <c:v>-85.48</c:v>
              </c:pt>
              <c:pt idx="13">
                <c:v>-86.85</c:v>
              </c:pt>
              <c:pt idx="14">
                <c:v>-85</c:v>
              </c:pt>
              <c:pt idx="15">
                <c:v>-85.75</c:v>
              </c:pt>
              <c:pt idx="16">
                <c:v>-87.46</c:v>
              </c:pt>
              <c:pt idx="17">
                <c:v>-87</c:v>
              </c:pt>
              <c:pt idx="18">
                <c:v>-86.63</c:v>
              </c:pt>
              <c:pt idx="19">
                <c:v>-84.85</c:v>
              </c:pt>
              <c:pt idx="20">
                <c:v>-87.62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model_comparison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族群最佳 GP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25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純 Ministral</c:v>
          </c:tx>
          <c:spPr>
            <a:ln xmlns:a="http://schemas.openxmlformats.org/drawingml/2006/main" w="30480">
              <a:solidFill>
                <a:srgbClr val="CF8792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-89.83</c:v>
              </c:pt>
              <c:pt idx="1">
                <c:v>-85.07</c:v>
              </c:pt>
              <c:pt idx="2">
                <c:v>-79.37</c:v>
              </c:pt>
              <c:pt idx="3">
                <c:v>-79.37</c:v>
              </c:pt>
              <c:pt idx="4">
                <c:v>-70.57</c:v>
              </c:pt>
              <c:pt idx="5">
                <c:v>-65.58</c:v>
              </c:pt>
              <c:pt idx="6">
                <c:v>-57.06</c:v>
              </c:pt>
              <c:pt idx="7">
                <c:v>-49.41</c:v>
              </c:pt>
              <c:pt idx="8">
                <c:v>-48.58</c:v>
              </c:pt>
              <c:pt idx="9">
                <c:v>-48.58</c:v>
              </c:pt>
              <c:pt idx="10">
                <c:v>-50.32</c:v>
              </c:pt>
              <c:pt idx="11">
                <c:v>-48.73</c:v>
              </c:pt>
              <c:pt idx="12">
                <c:v>-48.73</c:v>
              </c:pt>
              <c:pt idx="13">
                <c:v>-49.11</c:v>
              </c:pt>
              <c:pt idx="14">
                <c:v>-48</c:v>
              </c:pt>
              <c:pt idx="15">
                <c:v>-48</c:v>
              </c:pt>
              <c:pt idx="16">
                <c:v>-48.99</c:v>
              </c:pt>
              <c:pt idx="17">
                <c:v>-49.24</c:v>
              </c:pt>
              <c:pt idx="18">
                <c:v>-49.24</c:v>
              </c:pt>
              <c:pt idx="19">
                <c:v>-48.66</c:v>
              </c:pt>
              <c:pt idx="20">
                <c:v>-47.52</c:v>
              </c:pt>
            </c:numLit>
          </c:val>
          <c:smooth val="0"/>
        </c:ser>
        <c:ser>
          <c:idx val="1"/>
          <c:order val="1"/>
          <c:tx>
            <c:v>Ministral→Qwen</c:v>
          </c:tx>
          <c:spPr>
            <a:ln xmlns:a="http://schemas.openxmlformats.org/drawingml/2006/main" w="30480">
              <a:solidFill>
                <a:srgbClr val="C69B45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-89.84</c:v>
              </c:pt>
              <c:pt idx="1">
                <c:v>-89.84</c:v>
              </c:pt>
              <c:pt idx="2">
                <c:v>-89.53</c:v>
              </c:pt>
              <c:pt idx="3">
                <c:v>-89.53</c:v>
              </c:pt>
              <c:pt idx="4">
                <c:v>-89.34</c:v>
              </c:pt>
              <c:pt idx="5">
                <c:v>-86.69</c:v>
              </c:pt>
              <c:pt idx="6">
                <c:v>-86.46</c:v>
              </c:pt>
              <c:pt idx="7">
                <c:v>-86.46</c:v>
              </c:pt>
              <c:pt idx="8">
                <c:v>-85.8</c:v>
              </c:pt>
              <c:pt idx="9">
                <c:v>-85.8</c:v>
              </c:pt>
              <c:pt idx="10">
                <c:v>-85.8</c:v>
              </c:pt>
              <c:pt idx="11">
                <c:v>-82.29</c:v>
              </c:pt>
              <c:pt idx="12">
                <c:v>-81.58</c:v>
              </c:pt>
              <c:pt idx="13">
                <c:v>-81.58</c:v>
              </c:pt>
              <c:pt idx="14">
                <c:v>-81.58</c:v>
              </c:pt>
              <c:pt idx="15">
                <c:v>-81.58</c:v>
              </c:pt>
              <c:pt idx="16">
                <c:v>-82.47</c:v>
              </c:pt>
              <c:pt idx="17">
                <c:v>-82.04</c:v>
              </c:pt>
              <c:pt idx="18">
                <c:v>-82.04</c:v>
              </c:pt>
              <c:pt idx="19">
                <c:v>-81.91</c:v>
              </c:pt>
              <c:pt idx="20">
                <c:v>-81.91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model_comparison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平均 Code Quality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25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純 Ministral</c:v>
          </c:tx>
          <c:spPr>
            <a:ln xmlns:a="http://schemas.openxmlformats.org/drawingml/2006/main" w="30480">
              <a:solidFill>
                <a:srgbClr val="CF8792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49.71</c:v>
              </c:pt>
              <c:pt idx="1">
                <c:v>41.8</c:v>
              </c:pt>
              <c:pt idx="2">
                <c:v>29.31</c:v>
              </c:pt>
              <c:pt idx="3">
                <c:v>27.73</c:v>
              </c:pt>
              <c:pt idx="4">
                <c:v>28.45</c:v>
              </c:pt>
              <c:pt idx="5">
                <c:v>30.12</c:v>
              </c:pt>
              <c:pt idx="6">
                <c:v>33.83</c:v>
              </c:pt>
              <c:pt idx="7">
                <c:v>35.08</c:v>
              </c:pt>
              <c:pt idx="8">
                <c:v>34.76</c:v>
              </c:pt>
              <c:pt idx="9">
                <c:v>35.14</c:v>
              </c:pt>
              <c:pt idx="10">
                <c:v>33.85</c:v>
              </c:pt>
              <c:pt idx="11">
                <c:v>31.61</c:v>
              </c:pt>
              <c:pt idx="12">
                <c:v>30.52</c:v>
              </c:pt>
              <c:pt idx="13">
                <c:v>30.33</c:v>
              </c:pt>
              <c:pt idx="14">
                <c:v>29.02</c:v>
              </c:pt>
              <c:pt idx="15">
                <c:v>25.24</c:v>
              </c:pt>
              <c:pt idx="16">
                <c:v>23.53</c:v>
              </c:pt>
              <c:pt idx="17">
                <c:v>26.54</c:v>
              </c:pt>
              <c:pt idx="18">
                <c:v>24.26</c:v>
              </c:pt>
              <c:pt idx="19">
                <c:v>22.55</c:v>
              </c:pt>
              <c:pt idx="20">
                <c:v>24.94</c:v>
              </c:pt>
            </c:numLit>
          </c:val>
          <c:smooth val="0"/>
        </c:ser>
        <c:ser>
          <c:idx val="1"/>
          <c:order val="1"/>
          <c:tx>
            <c:v>Ministral→Qwen</c:v>
          </c:tx>
          <c:spPr>
            <a:ln xmlns:a="http://schemas.openxmlformats.org/drawingml/2006/main" w="30480">
              <a:solidFill>
                <a:srgbClr val="C69B45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49.71</c:v>
              </c:pt>
              <c:pt idx="1">
                <c:v>40.48</c:v>
              </c:pt>
              <c:pt idx="2">
                <c:v>29.56</c:v>
              </c:pt>
              <c:pt idx="3">
                <c:v>15.55</c:v>
              </c:pt>
              <c:pt idx="4">
                <c:v>14.82</c:v>
              </c:pt>
              <c:pt idx="5">
                <c:v>16.11</c:v>
              </c:pt>
              <c:pt idx="6">
                <c:v>19.97</c:v>
              </c:pt>
              <c:pt idx="7">
                <c:v>17.48</c:v>
              </c:pt>
              <c:pt idx="8">
                <c:v>18.78</c:v>
              </c:pt>
              <c:pt idx="9">
                <c:v>17.48</c:v>
              </c:pt>
              <c:pt idx="10">
                <c:v>18.67</c:v>
              </c:pt>
              <c:pt idx="11">
                <c:v>23.28</c:v>
              </c:pt>
              <c:pt idx="12">
                <c:v>24.7</c:v>
              </c:pt>
              <c:pt idx="13">
                <c:v>22.42</c:v>
              </c:pt>
              <c:pt idx="14">
                <c:v>25.07</c:v>
              </c:pt>
              <c:pt idx="15">
                <c:v>25.58</c:v>
              </c:pt>
              <c:pt idx="16">
                <c:v>24.15</c:v>
              </c:pt>
              <c:pt idx="17">
                <c:v>24.11</c:v>
              </c:pt>
              <c:pt idx="18">
                <c:v>24.34</c:v>
              </c:pt>
              <c:pt idx="19">
                <c:v>24.17</c:v>
              </c:pt>
              <c:pt idx="20">
                <c:v>23.69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model_comparison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策略 niche 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25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純 Ministral</c:v>
          </c:tx>
          <c:spPr>
            <a:ln xmlns:a="http://schemas.openxmlformats.org/drawingml/2006/main" w="30480">
              <a:solidFill>
                <a:srgbClr val="CF8792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0</c:v>
              </c:pt>
              <c:pt idx="1">
                <c:v>2</c:v>
              </c:pt>
              <c:pt idx="2">
                <c:v>1</c:v>
              </c:pt>
              <c:pt idx="3">
                <c:v>3</c:v>
              </c:pt>
              <c:pt idx="4">
                <c:v>3</c:v>
              </c:pt>
              <c:pt idx="5">
                <c:v>1</c:v>
              </c:pt>
              <c:pt idx="6">
                <c:v>4</c:v>
              </c:pt>
              <c:pt idx="7">
                <c:v>4</c:v>
              </c:pt>
              <c:pt idx="8">
                <c:v>3</c:v>
              </c:pt>
              <c:pt idx="9">
                <c:v>3</c:v>
              </c:pt>
              <c:pt idx="10">
                <c:v>4</c:v>
              </c:pt>
              <c:pt idx="11">
                <c:v>3</c:v>
              </c:pt>
              <c:pt idx="12">
                <c:v>2</c:v>
              </c:pt>
              <c:pt idx="13">
                <c:v>2</c:v>
              </c:pt>
              <c:pt idx="14">
                <c:v>1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3</c:v>
              </c:pt>
              <c:pt idx="19">
                <c:v>3</c:v>
              </c:pt>
              <c:pt idx="20">
                <c:v>2</c:v>
              </c:pt>
            </c:numLit>
          </c:val>
          <c:smooth val="0"/>
        </c:ser>
        <c:ser>
          <c:idx val="1"/>
          <c:order val="1"/>
          <c:tx>
            <c:v>Ministral→Qwen</c:v>
          </c:tx>
          <c:spPr>
            <a:ln xmlns:a="http://schemas.openxmlformats.org/drawingml/2006/main" w="30480">
              <a:solidFill>
                <a:srgbClr val="C69B45"/>
              </a:solidFill>
            </a:ln>
          </c:spPr>
          <c:marker>
            <c:symbol val="none"/>
          </c:marker>
          <c:cat>
            <c:numLit>
              <c:formatCode>0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1</c:v>
              </c:pt>
              <c:pt idx="5">
                <c:v>1</c:v>
              </c:pt>
              <c:pt idx="6">
                <c:v>4</c:v>
              </c:pt>
              <c:pt idx="7">
                <c:v>2</c:v>
              </c:pt>
              <c:pt idx="8">
                <c:v>4</c:v>
              </c:pt>
              <c:pt idx="9">
                <c:v>2</c:v>
              </c:pt>
              <c:pt idx="10">
                <c:v>5</c:v>
              </c:pt>
              <c:pt idx="11">
                <c:v>4</c:v>
              </c:pt>
              <c:pt idx="12">
                <c:v>2</c:v>
              </c:pt>
              <c:pt idx="13">
                <c:v>3</c:v>
              </c:pt>
              <c:pt idx="14">
                <c:v>4</c:v>
              </c:pt>
              <c:pt idx="15">
                <c:v>5</c:v>
              </c:pt>
              <c:pt idx="16">
                <c:v>4</c:v>
              </c:pt>
              <c:pt idx="17">
                <c:v>5</c:v>
              </c:pt>
              <c:pt idx="18">
                <c:v>3</c:v>
              </c:pt>
              <c:pt idx="19">
                <c:v>4</c:v>
              </c:pt>
              <c:pt idx="20">
                <c:v>4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model_comparison/slides/charts/chart5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勝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2"/>
              <c:pt idx="0">
                <c:v>純 Ministral</c:v>
              </c:pt>
              <c:pt idx="1">
                <c:v>Ministral→Qwen</c:v>
              </c:pt>
            </c:strLit>
          </c:cat>
          <c:val>
            <c:numLit>
              <c:formatCode>General</c:formatCode>
              <c:ptCount val="2"/>
              <c:pt idx="0">
                <c:v>542</c:v>
              </c:pt>
              <c:pt idx="1">
                <c:v>5</c:v>
              </c:pt>
            </c:numLit>
          </c:val>
        </c:ser>
        <c:ser>
          <c:idx val="1"/>
          <c:order val="1"/>
          <c:tx>
            <c:v>和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2"/>
              <c:pt idx="0">
                <c:v>純 Ministral</c:v>
              </c:pt>
              <c:pt idx="1">
                <c:v>Ministral→Qwen</c:v>
              </c:pt>
            </c:strLit>
          </c:cat>
          <c:val>
            <c:numLit>
              <c:formatCode>General</c:formatCode>
              <c:ptCount val="2"/>
              <c:pt idx="0">
                <c:v>202</c:v>
              </c:pt>
              <c:pt idx="1">
                <c:v>511</c:v>
              </c:pt>
            </c:numLit>
          </c:val>
        </c:ser>
        <c:ser>
          <c:idx val="2"/>
          <c:order val="2"/>
          <c:tx>
            <c:v>敗</c:v>
          </c:tx>
          <c:spPr>
            <a:solidFill xmlns:a="http://schemas.openxmlformats.org/drawingml/2006/main">
              <a:srgbClr val="E4D7D3"/>
            </a:solidFill>
          </c:spPr>
          <c:cat>
            <c:strLit>
              <c:ptCount val="2"/>
              <c:pt idx="0">
                <c:v>純 Ministral</c:v>
              </c:pt>
              <c:pt idx="1">
                <c:v>Ministral→Qwen</c:v>
              </c:pt>
            </c:strLit>
          </c:cat>
          <c:val>
            <c:numLit>
              <c:formatCode>General</c:formatCode>
              <c:ptCount val="2"/>
              <c:pt idx="0">
                <c:v>1056</c:v>
              </c:pt>
              <c:pt idx="1">
                <c:v>1284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30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model_comparison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純 Ministral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generation LLM stage</c:v>
              </c:pt>
              <c:pt idx="1">
                <c:v>evaluation</c:v>
              </c:pt>
              <c:pt idx="2">
                <c:v>MicroRTS matches</c:v>
              </c:pt>
            </c:strLit>
          </c:cat>
          <c:val>
            <c:numLit>
              <c:formatCode>#,##0</c:formatCode>
              <c:ptCount val="3"/>
              <c:pt idx="0">
                <c:v>13213.65</c:v>
              </c:pt>
              <c:pt idx="1">
                <c:v>14752.32</c:v>
              </c:pt>
              <c:pt idx="2">
                <c:v>10379.43</c:v>
              </c:pt>
            </c:numLit>
          </c:val>
        </c:ser>
        <c:ser>
          <c:idx val="1"/>
          <c:order val="1"/>
          <c:tx>
            <c:v>Ministral→Qwen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generation LLM stage</c:v>
              </c:pt>
              <c:pt idx="1">
                <c:v>evaluation</c:v>
              </c:pt>
              <c:pt idx="2">
                <c:v>MicroRTS matches</c:v>
              </c:pt>
            </c:strLit>
          </c:cat>
          <c:val>
            <c:numLit>
              <c:formatCode>#,##0</c:formatCode>
              <c:ptCount val="3"/>
              <c:pt idx="0">
                <c:v>7728.09</c:v>
              </c:pt>
              <c:pt idx="1">
                <c:v>27379.74</c:v>
              </c:pt>
              <c:pt idx="2">
                <c:v>21948.55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3000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00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8C348E4-79BB-4AF1-BB17-4C56482E70E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7978094-D840-411A-97AB-FBE7549887C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7EA615D-6BC0-4AA4-9575-F461CC4EA87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7F1C9FD-86B6-4ED8-BDB8-5E3AC2F9E1B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5DE740A-C560-4D97-B685-3DC30E2E4C0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F2A8317-C48C-4562-8739-1D4500D42A3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20B2264-DB77-46B4-9142-C07B7608BA2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1EB8313-D2D1-4769-A442-4AFB0FA0006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DB182D1-FF93-490A-ABA9-4291A7DB888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67DBBE9-8907-4CDA-B31B-70D8F9865D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A7CCFBA-D2BE-4805-83AB-8476E3614DA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8F6E552-56E6-40D2-ADAD-0B0FA821F4A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59503F7-5426-46B3-9C9F-994979D70E0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hf sldNum="1" dt="0"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bbcbb69712924462"/><Relationship Type="http://schemas.openxmlformats.org/officeDocument/2006/relationships/notesSlide" Target="../model_comparison/notesSlides/notesSlide1.xml" Id="Ra160df76377f405a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155178bca5474eef"/><Relationship Type="http://schemas.openxmlformats.org/officeDocument/2006/relationships/notesSlide" Target="../model_comparison/notesSlides/notesSlide2.xml" Id="Rc710d6640cf3446b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628e1715a7a446da"/><Relationship Type="http://schemas.openxmlformats.org/officeDocument/2006/relationships/notesSlide" Target="../model_comparison/notesSlides/notesSlide3.xml" Id="R72e3f88ab95842af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6c9c4c66f19949fc"/><Relationship Type="http://schemas.openxmlformats.org/officeDocument/2006/relationships/chart" Target="../model_comparison/slides/charts/chart1.xml" Id="R3d5eaec8990845ec"/><Relationship Type="http://schemas.openxmlformats.org/officeDocument/2006/relationships/chart" Target="../model_comparison/slides/charts/chart2.xml" Id="R53a28ceaa19f4049"/><Relationship Type="http://schemas.openxmlformats.org/officeDocument/2006/relationships/notesSlide" Target="../model_comparison/notesSlides/notesSlide4.xml" Id="R70944c64d97a4239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1b207bfdea0f488a"/><Relationship Type="http://schemas.openxmlformats.org/officeDocument/2006/relationships/chart" Target="../model_comparison/slides/charts/chart3.xml" Id="Rca6a4c9819464cb8"/><Relationship Type="http://schemas.openxmlformats.org/officeDocument/2006/relationships/chart" Target="../model_comparison/slides/charts/chart4.xml" Id="Re47d8bfc46e54c8c"/><Relationship Type="http://schemas.openxmlformats.org/officeDocument/2006/relationships/notesSlide" Target="../model_comparison/notesSlides/notesSlide5.xml" Id="R3d29c372be50478d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497bd1213fbd4862"/><Relationship Type="http://schemas.openxmlformats.org/officeDocument/2006/relationships/notesSlide" Target="../model_comparison/notesSlides/notesSlide6.xml" Id="R944912161cf44ef2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a177b4f3cb164f07"/><Relationship Type="http://schemas.openxmlformats.org/officeDocument/2006/relationships/chart" Target="../model_comparison/slides/charts/chart5.xml" Id="R9a63bf4b6431481a"/><Relationship Type="http://schemas.openxmlformats.org/officeDocument/2006/relationships/notesSlide" Target="../model_comparison/notesSlides/notesSlide7.xml" Id="R6954296bf5294f00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c641eb401f984a39"/><Relationship Type="http://schemas.openxmlformats.org/officeDocument/2006/relationships/notesSlide" Target="../model_comparison/notesSlides/notesSlide8.xml" Id="R5d4d16e0009142e8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a62318a0e11749fe"/><Relationship Type="http://schemas.openxmlformats.org/officeDocument/2006/relationships/notesSlide" Target="../model_comparison/notesSlides/notesSlide9.xml" Id="Rdcf66623d0984ee0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0f22da636b9d40c2"/><Relationship Type="http://schemas.openxmlformats.org/officeDocument/2006/relationships/notesSlide" Target="../model_comparison/notesSlides/notesSlide10.xml" Id="R7cbbde95bec541e9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9e592fa576f74056"/><Relationship Type="http://schemas.openxmlformats.org/officeDocument/2006/relationships/notesSlide" Target="../model_comparison/notesSlides/notesSlide11.xml" Id="Raaf338ab2f95486d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6ad367d6bff84bf6"/><Relationship Type="http://schemas.openxmlformats.org/officeDocument/2006/relationships/notesSlide" Target="../model_comparison/notesSlides/notesSlide12.xml" Id="R2535ca5b086047d5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fa54d86ab7e24ec0"/><Relationship Type="http://schemas.openxmlformats.org/officeDocument/2006/relationships/notesSlide" Target="../model_comparison/notesSlides/notesSlide13.xml" Id="R38c570ede7334b8a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465da5eb53434c5a"/><Relationship Type="http://schemas.openxmlformats.org/officeDocument/2006/relationships/chart" Target="../model_comparison/slides/charts/chart6.xml" Id="R7d3114b3890149a8"/><Relationship Type="http://schemas.openxmlformats.org/officeDocument/2006/relationships/notesSlide" Target="../model_comparison/notesSlides/notesSlide14.xml" Id="Raa19fdde8f3047d4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a48ed754b819451d"/><Relationship Type="http://schemas.openxmlformats.org/officeDocument/2006/relationships/notesSlide" Target="../model_comparison/notesSlides/notesSlide15.xml" Id="Raf9e55403e044d52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1.xml" Id="R0baaa2f7f6954812"/><Relationship Type="http://schemas.openxmlformats.org/officeDocument/2006/relationships/notesSlide" Target="../model_comparison/notesSlides/notesSlide16.xml" Id="Reb5ca997f8004117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6">
            <a:extLst>
              <a:ext uri="{FF2B5EF4-FFF2-40B4-BE49-F238E27FC236}">
                <a16:creationId xmlns:a16="http://schemas.microsoft.com/office/drawing/2014/main" id="{9F76D2EA-66B9-48B2-A578-685D611D08E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5" name="菱形 7">
            <a:extLst>
              <a:ext uri="{FF2B5EF4-FFF2-40B4-BE49-F238E27FC236}">
                <a16:creationId xmlns:a16="http://schemas.microsoft.com/office/drawing/2014/main" id="{B91D6B08-82FD-43E5-860A-9FCC4D5219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A455E064-1345-4A82-A442-279E5EFDF79F}"/>
              </a:ext>
            </a:extLst>
          </p:cNvPr>
          <p:cNvSpPr>
            <a:spLocks noGrp="1"/>
          </p:cNvSpPr>
          <p:nvPr/>
        </p:nvSpPr>
        <p:spPr>
          <a:xfrm>
            <a:off x="4572000" y="4905375"/>
            <a:ext cx="67818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研究進展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0903–0907 改版與實驗整理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noGrp="1"/>
          </p:cNvSpPr>
          <p:nvPr/>
        </p:nvSpPr>
        <p:spPr>
          <a:xfrm>
            <a:off x="2381250" y="3390900"/>
            <a:ext cx="11163300" cy="1190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 dirty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</a:t>
            </a:r>
            <a:r>
              <a:rPr sz="4950" b="1" dirty="0" err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的修正與驗證</a:t>
            </a:r>
            <a:endParaRPr sz="4950" b="1" dirty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noGrp="1"/>
          </p:cNvSpPr>
          <p:nvPr/>
        </p:nvSpPr>
        <p:spPr>
          <a:xfrm>
            <a:off x="3333750" y="5381625"/>
            <a:ext cx="9258300" cy="666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改版摘要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架構更新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實驗結果</a:t>
            </a:r>
            <a:endParaRPr sz="2550" b="0" dirty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noGrp="1"/>
          </p:cNvSpPr>
          <p:nvPr/>
        </p:nvSpPr>
        <p:spPr>
          <a:xfrm>
            <a:off x="3810000" y="6334125"/>
            <a:ext cx="8305800" cy="5905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Meeting 0910　2026.09.10</a:t>
            </a:r>
          </a:p>
        </p:txBody>
      </p:sp>
      <p:sp>
        <p:nvSpPr>
          <p:cNvPr id="1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F74A4E4-B31E-48F2-957D-AF0C6D31175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AF6CAEEE-E072-44B9-8607-B1F607D73CC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47D1B529-9578-4154-B17D-39A71B90622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EFF5282F-03E1-4636-847D-D2C65F724B9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2E6774B7-AA79-4410-8622-414BDDF18BB1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E61DFFEC-6215-4D8D-8A3F-D69E6E912A04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C00BA6F5-2982-4BE7-9459-006EE872FEB3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這段時間改了什麼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 Reflection 的責任與失敗保護釐清，再比較演化效果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反思輸出可單獨檢查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新增固定父代的重複 trial，保留輸入、response、實際欄位變動。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補入完整遊戲規則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讓策略生成與反思取得 MicroRTS contract，減少不存在的單位與機制。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　Balance 改為 Prompt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 prompt 的規範問題；加入選擇性改寫、驗證與有限重試。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09/04–09/07　比較比例並準備 AOS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完成三組固定比例的演化測試，建立以 33/33/34 起跑的 AOS 設定。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改版主線：可追溯的輸出 → 明確責任 → 合法性保護 → 實際演化比較</a:t>
            </a:r>
          </a:p>
        </p:txBody>
      </p:sp>
      <p:sp>
        <p:nvSpPr>
          <p:cNvPr id="3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F7AC1D4-290F-4195-A3F4-40C8C6B4436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FC30046-93D2-4FCC-8FA5-C0DA97CCBF5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1F90C09-4AB8-4663-9C7B-3AAA8E9243F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78954D88-87B2-4D06-82D1-0CFD697AA2A0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DD6BEE2-CCD0-416C-AD28-CC9A7D4DF352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A0AAB75-0A53-4443-96D5-01A98BFDC2F5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34AB464-7E2D-41D1-9714-4C8C6AF794EB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A8B19697-E3B9-4367-959A-34B8355F776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 改版的核心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可改策略；Code 修翻譯；Compliance 修合法性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責任重新切開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輸出保護更完整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Balance 用 W/D/L 同時重寫兩個 prompt，容易引入無依據概念。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Compliance 逐一稽核兩個 prompt，只改有 issue 的欄位。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與 Code 保留各自的修改範圍。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遊戲規則集中在單一 contract，角色 prompt 引用規則。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錯誤輸出收到精確 validation error，最多重試 3 次。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gene 都需修正時，全部成功才一起套用。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初始化也補上本機模型 JSON 格式容錯；檢查成功與對戰表現分開評估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587748E-ECB5-404F-9805-88DC8C5C6D3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6">
            <a:extLst>
              <a:ext uri="{FF2B5EF4-FFF2-40B4-BE49-F238E27FC236}">
                <a16:creationId xmlns:a16="http://schemas.microsoft.com/office/drawing/2014/main" id="{3957C143-BB6F-4780-A866-E40375C8E77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2" name="菱形 7">
            <a:extLst>
              <a:ext uri="{FF2B5EF4-FFF2-40B4-BE49-F238E27FC236}">
                <a16:creationId xmlns:a16="http://schemas.microsoft.com/office/drawing/2014/main" id="{2322933B-A22C-43AA-AFE0-DE6AE6C481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3" name="矩形: 圓角 8">
            <a:extLst>
              <a:ext uri="{FF2B5EF4-FFF2-40B4-BE49-F238E27FC236}">
                <a16:creationId xmlns:a16="http://schemas.microsoft.com/office/drawing/2014/main" id="{FCB959D3-D01F-47F3-95A7-E3EFD3076424}"/>
              </a:ext>
            </a:extLst>
          </p:cNvPr>
          <p:cNvSpPr>
            <a:spLocks noGrp="1"/>
          </p:cNvSpPr>
          <p:nvPr/>
        </p:nvSpPr>
        <p:spPr>
          <a:xfrm>
            <a:off x="9906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4" name="橢圓 9">
            <a:extLst>
              <a:ext uri="{FF2B5EF4-FFF2-40B4-BE49-F238E27FC236}">
                <a16:creationId xmlns:a16="http://schemas.microsoft.com/office/drawing/2014/main" id="{3055E3F4-0D62-400A-9D46-AAE30A30C3F7}"/>
              </a:ext>
            </a:extLst>
          </p:cNvPr>
          <p:cNvSpPr>
            <a:spLocks noGrp="1"/>
          </p:cNvSpPr>
          <p:nvPr/>
        </p:nvSpPr>
        <p:spPr>
          <a:xfrm>
            <a:off x="23241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5" name="矩形 12">
            <a:extLst>
              <a:ext uri="{FF2B5EF4-FFF2-40B4-BE49-F238E27FC236}">
                <a16:creationId xmlns:a16="http://schemas.microsoft.com/office/drawing/2014/main" id="{F0C84E05-E7A2-497D-A3CB-6EEEE9773430}"/>
              </a:ext>
            </a:extLst>
          </p:cNvPr>
          <p:cNvSpPr>
            <a:spLocks noGrp="1"/>
          </p:cNvSpPr>
          <p:nvPr/>
        </p:nvSpPr>
        <p:spPr>
          <a:xfrm>
            <a:off x="12763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6" name="箭號: 向右 14">
            <a:extLst>
              <a:ext uri="{FF2B5EF4-FFF2-40B4-BE49-F238E27FC236}">
                <a16:creationId xmlns:a16="http://schemas.microsoft.com/office/drawing/2014/main" id="{D1E758BF-CFD1-4E39-81BE-D90D912CE962}"/>
              </a:ext>
            </a:extLst>
          </p:cNvPr>
          <p:cNvSpPr>
            <a:spLocks noGrp="1"/>
          </p:cNvSpPr>
          <p:nvPr/>
        </p:nvSpPr>
        <p:spPr>
          <a:xfrm>
            <a:off x="42672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7" name="矩形: 圓角 15">
            <a:extLst>
              <a:ext uri="{FF2B5EF4-FFF2-40B4-BE49-F238E27FC236}">
                <a16:creationId xmlns:a16="http://schemas.microsoft.com/office/drawing/2014/main" id="{97B9B512-304F-4CB9-93C4-D8AC938591A1}"/>
              </a:ext>
            </a:extLst>
          </p:cNvPr>
          <p:cNvSpPr>
            <a:spLocks noGrp="1"/>
          </p:cNvSpPr>
          <p:nvPr/>
        </p:nvSpPr>
        <p:spPr>
          <a:xfrm>
            <a:off x="47053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8" name="橢圓 16">
            <a:extLst>
              <a:ext uri="{FF2B5EF4-FFF2-40B4-BE49-F238E27FC236}">
                <a16:creationId xmlns:a16="http://schemas.microsoft.com/office/drawing/2014/main" id="{1ADE5354-9A71-4C73-91EB-1A34BA99CDD0}"/>
              </a:ext>
            </a:extLst>
          </p:cNvPr>
          <p:cNvSpPr>
            <a:spLocks noGrp="1"/>
          </p:cNvSpPr>
          <p:nvPr/>
        </p:nvSpPr>
        <p:spPr>
          <a:xfrm>
            <a:off x="60388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9" name="矩形 19">
            <a:extLst>
              <a:ext uri="{FF2B5EF4-FFF2-40B4-BE49-F238E27FC236}">
                <a16:creationId xmlns:a16="http://schemas.microsoft.com/office/drawing/2014/main" id="{3AF6677C-3C6E-4563-BADF-D5D216ED51E1}"/>
              </a:ext>
            </a:extLst>
          </p:cNvPr>
          <p:cNvSpPr>
            <a:spLocks noGrp="1"/>
          </p:cNvSpPr>
          <p:nvPr/>
        </p:nvSpPr>
        <p:spPr>
          <a:xfrm>
            <a:off x="49911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0" name="箭號: 向右 21">
            <a:extLst>
              <a:ext uri="{FF2B5EF4-FFF2-40B4-BE49-F238E27FC236}">
                <a16:creationId xmlns:a16="http://schemas.microsoft.com/office/drawing/2014/main" id="{F8455C09-98E1-4B28-95B2-C061165D73AA}"/>
              </a:ext>
            </a:extLst>
          </p:cNvPr>
          <p:cNvSpPr>
            <a:spLocks noGrp="1"/>
          </p:cNvSpPr>
          <p:nvPr/>
        </p:nvSpPr>
        <p:spPr>
          <a:xfrm>
            <a:off x="798195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1" name="矩形: 圓角 22">
            <a:extLst>
              <a:ext uri="{FF2B5EF4-FFF2-40B4-BE49-F238E27FC236}">
                <a16:creationId xmlns:a16="http://schemas.microsoft.com/office/drawing/2014/main" id="{DFF97DA9-C92A-4F64-A1D1-48771B3EB8F9}"/>
              </a:ext>
            </a:extLst>
          </p:cNvPr>
          <p:cNvSpPr>
            <a:spLocks noGrp="1"/>
          </p:cNvSpPr>
          <p:nvPr/>
        </p:nvSpPr>
        <p:spPr>
          <a:xfrm>
            <a:off x="84201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2" name="橢圓 23">
            <a:extLst>
              <a:ext uri="{FF2B5EF4-FFF2-40B4-BE49-F238E27FC236}">
                <a16:creationId xmlns:a16="http://schemas.microsoft.com/office/drawing/2014/main" id="{845BA28E-F9EE-4EA3-9139-51149A2C1D35}"/>
              </a:ext>
            </a:extLst>
          </p:cNvPr>
          <p:cNvSpPr>
            <a:spLocks noGrp="1"/>
          </p:cNvSpPr>
          <p:nvPr/>
        </p:nvSpPr>
        <p:spPr>
          <a:xfrm>
            <a:off x="97536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3" name="矩形 26">
            <a:extLst>
              <a:ext uri="{FF2B5EF4-FFF2-40B4-BE49-F238E27FC236}">
                <a16:creationId xmlns:a16="http://schemas.microsoft.com/office/drawing/2014/main" id="{62BF0486-DAFA-4CB0-BCF7-4E9232AEE021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4" name="箭號: 向右 28">
            <a:extLst>
              <a:ext uri="{FF2B5EF4-FFF2-40B4-BE49-F238E27FC236}">
                <a16:creationId xmlns:a16="http://schemas.microsoft.com/office/drawing/2014/main" id="{C44DFB8D-303D-4CAE-83A2-5DE4DBEEC599}"/>
              </a:ext>
            </a:extLst>
          </p:cNvPr>
          <p:cNvSpPr>
            <a:spLocks noGrp="1"/>
          </p:cNvSpPr>
          <p:nvPr/>
        </p:nvSpPr>
        <p:spPr>
          <a:xfrm>
            <a:off x="116967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5" name="矩形: 圓角 29">
            <a:extLst>
              <a:ext uri="{FF2B5EF4-FFF2-40B4-BE49-F238E27FC236}">
                <a16:creationId xmlns:a16="http://schemas.microsoft.com/office/drawing/2014/main" id="{6528C3B1-91C7-47E2-BD11-F64876328B41}"/>
              </a:ext>
            </a:extLst>
          </p:cNvPr>
          <p:cNvSpPr>
            <a:spLocks noGrp="1"/>
          </p:cNvSpPr>
          <p:nvPr/>
        </p:nvSpPr>
        <p:spPr>
          <a:xfrm>
            <a:off x="121348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6" name="橢圓 30">
            <a:extLst>
              <a:ext uri="{FF2B5EF4-FFF2-40B4-BE49-F238E27FC236}">
                <a16:creationId xmlns:a16="http://schemas.microsoft.com/office/drawing/2014/main" id="{B019FC32-4EA3-43A7-B7CC-3FD6A85D4E0A}"/>
              </a:ext>
            </a:extLst>
          </p:cNvPr>
          <p:cNvSpPr>
            <a:spLocks noGrp="1"/>
          </p:cNvSpPr>
          <p:nvPr/>
        </p:nvSpPr>
        <p:spPr>
          <a:xfrm>
            <a:off x="134683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7" name="矩形 33">
            <a:extLst>
              <a:ext uri="{FF2B5EF4-FFF2-40B4-BE49-F238E27FC236}">
                <a16:creationId xmlns:a16="http://schemas.microsoft.com/office/drawing/2014/main" id="{8CFB024B-A9D8-4474-8141-8C5DB6176449}"/>
              </a:ext>
            </a:extLst>
          </p:cNvPr>
          <p:cNvSpPr>
            <a:spLocks noGrp="1"/>
          </p:cNvSpPr>
          <p:nvPr/>
        </p:nvSpPr>
        <p:spPr>
          <a:xfrm>
            <a:off x="124206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8" name="矩形: 圓角 35">
            <a:extLst>
              <a:ext uri="{FF2B5EF4-FFF2-40B4-BE49-F238E27FC236}">
                <a16:creationId xmlns:a16="http://schemas.microsoft.com/office/drawing/2014/main" id="{5B724B37-F0C4-4B54-9D28-3D328E9430BB}"/>
              </a:ext>
            </a:extLst>
          </p:cNvPr>
          <p:cNvSpPr>
            <a:spLocks noGrp="1"/>
          </p:cNvSpPr>
          <p:nvPr/>
        </p:nvSpPr>
        <p:spPr>
          <a:xfrm>
            <a:off x="121348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9" name="橢圓 36">
            <a:extLst>
              <a:ext uri="{FF2B5EF4-FFF2-40B4-BE49-F238E27FC236}">
                <a16:creationId xmlns:a16="http://schemas.microsoft.com/office/drawing/2014/main" id="{88826D4B-A72F-43AA-B44B-CCF95963A8B4}"/>
              </a:ext>
            </a:extLst>
          </p:cNvPr>
          <p:cNvSpPr>
            <a:spLocks noGrp="1"/>
          </p:cNvSpPr>
          <p:nvPr/>
        </p:nvSpPr>
        <p:spPr>
          <a:xfrm>
            <a:off x="134683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0" name="矩形 39">
            <a:extLst>
              <a:ext uri="{FF2B5EF4-FFF2-40B4-BE49-F238E27FC236}">
                <a16:creationId xmlns:a16="http://schemas.microsoft.com/office/drawing/2014/main" id="{36817397-CFA7-4E5F-BB7A-217F6D32E44C}"/>
              </a:ext>
            </a:extLst>
          </p:cNvPr>
          <p:cNvSpPr>
            <a:spLocks noGrp="1"/>
          </p:cNvSpPr>
          <p:nvPr/>
        </p:nvSpPr>
        <p:spPr>
          <a:xfrm>
            <a:off x="124206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1" name="矩形: 圓角 41">
            <a:extLst>
              <a:ext uri="{FF2B5EF4-FFF2-40B4-BE49-F238E27FC236}">
                <a16:creationId xmlns:a16="http://schemas.microsoft.com/office/drawing/2014/main" id="{F5FB49FC-1078-4765-B4FE-BA4565F8BE82}"/>
              </a:ext>
            </a:extLst>
          </p:cNvPr>
          <p:cNvSpPr>
            <a:spLocks noGrp="1"/>
          </p:cNvSpPr>
          <p:nvPr/>
        </p:nvSpPr>
        <p:spPr>
          <a:xfrm>
            <a:off x="84201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2" name="橢圓 42">
            <a:extLst>
              <a:ext uri="{FF2B5EF4-FFF2-40B4-BE49-F238E27FC236}">
                <a16:creationId xmlns:a16="http://schemas.microsoft.com/office/drawing/2014/main" id="{A1293CCF-ECA7-4CE8-AAD5-0F4611450CD7}"/>
              </a:ext>
            </a:extLst>
          </p:cNvPr>
          <p:cNvSpPr>
            <a:spLocks noGrp="1"/>
          </p:cNvSpPr>
          <p:nvPr/>
        </p:nvSpPr>
        <p:spPr>
          <a:xfrm>
            <a:off x="97536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3" name="矩形 45">
            <a:extLst>
              <a:ext uri="{FF2B5EF4-FFF2-40B4-BE49-F238E27FC236}">
                <a16:creationId xmlns:a16="http://schemas.microsoft.com/office/drawing/2014/main" id="{3B50706C-674F-48D9-9B29-C51B036AB22E}"/>
              </a:ext>
            </a:extLst>
          </p:cNvPr>
          <p:cNvSpPr>
            <a:spLocks noGrp="1"/>
          </p:cNvSpPr>
          <p:nvPr/>
        </p:nvSpPr>
        <p:spPr>
          <a:xfrm>
            <a:off x="87058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4" name="箭號: 向左 47">
            <a:extLst>
              <a:ext uri="{FF2B5EF4-FFF2-40B4-BE49-F238E27FC236}">
                <a16:creationId xmlns:a16="http://schemas.microsoft.com/office/drawing/2014/main" id="{99D7197F-E204-4F33-9187-737CF5DE5539}"/>
              </a:ext>
            </a:extLst>
          </p:cNvPr>
          <p:cNvSpPr>
            <a:spLocks noGrp="1"/>
          </p:cNvSpPr>
          <p:nvPr/>
        </p:nvSpPr>
        <p:spPr>
          <a:xfrm>
            <a:off x="116967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5" name="矩形: 圓角 48">
            <a:extLst>
              <a:ext uri="{FF2B5EF4-FFF2-40B4-BE49-F238E27FC236}">
                <a16:creationId xmlns:a16="http://schemas.microsoft.com/office/drawing/2014/main" id="{D0FA1965-711B-4CEE-82CB-58A187AF0AA3}"/>
              </a:ext>
            </a:extLst>
          </p:cNvPr>
          <p:cNvSpPr>
            <a:spLocks noGrp="1"/>
          </p:cNvSpPr>
          <p:nvPr/>
        </p:nvSpPr>
        <p:spPr>
          <a:xfrm>
            <a:off x="47053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6" name="橢圓 49">
            <a:extLst>
              <a:ext uri="{FF2B5EF4-FFF2-40B4-BE49-F238E27FC236}">
                <a16:creationId xmlns:a16="http://schemas.microsoft.com/office/drawing/2014/main" id="{D6FF94C0-806B-46D8-86F1-D55F04B5184F}"/>
              </a:ext>
            </a:extLst>
          </p:cNvPr>
          <p:cNvSpPr>
            <a:spLocks noGrp="1"/>
          </p:cNvSpPr>
          <p:nvPr/>
        </p:nvSpPr>
        <p:spPr>
          <a:xfrm>
            <a:off x="60388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7" name="矩形 52">
            <a:extLst>
              <a:ext uri="{FF2B5EF4-FFF2-40B4-BE49-F238E27FC236}">
                <a16:creationId xmlns:a16="http://schemas.microsoft.com/office/drawing/2014/main" id="{BC420691-057F-47AE-9DC7-D1002E07DE3A}"/>
              </a:ext>
            </a:extLst>
          </p:cNvPr>
          <p:cNvSpPr>
            <a:spLocks noGrp="1"/>
          </p:cNvSpPr>
          <p:nvPr/>
        </p:nvSpPr>
        <p:spPr>
          <a:xfrm>
            <a:off x="49911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8" name="箭號: 向左 54">
            <a:extLst>
              <a:ext uri="{FF2B5EF4-FFF2-40B4-BE49-F238E27FC236}">
                <a16:creationId xmlns:a16="http://schemas.microsoft.com/office/drawing/2014/main" id="{E2DD4A46-8C18-42D1-9DA4-0A2A7DE6D77E}"/>
              </a:ext>
            </a:extLst>
          </p:cNvPr>
          <p:cNvSpPr>
            <a:spLocks noGrp="1"/>
          </p:cNvSpPr>
          <p:nvPr/>
        </p:nvSpPr>
        <p:spPr>
          <a:xfrm>
            <a:off x="798195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9" name="矩形: 圓角 55">
            <a:extLst>
              <a:ext uri="{FF2B5EF4-FFF2-40B4-BE49-F238E27FC236}">
                <a16:creationId xmlns:a16="http://schemas.microsoft.com/office/drawing/2014/main" id="{97DDC6D3-B45E-4433-8514-2FFD3C7A7D8C}"/>
              </a:ext>
            </a:extLst>
          </p:cNvPr>
          <p:cNvSpPr>
            <a:spLocks noGrp="1"/>
          </p:cNvSpPr>
          <p:nvPr/>
        </p:nvSpPr>
        <p:spPr>
          <a:xfrm>
            <a:off x="9906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0" name="橢圓 56">
            <a:extLst>
              <a:ext uri="{FF2B5EF4-FFF2-40B4-BE49-F238E27FC236}">
                <a16:creationId xmlns:a16="http://schemas.microsoft.com/office/drawing/2014/main" id="{373C333A-5CEE-4484-A9AB-5D1A5F89E7CD}"/>
              </a:ext>
            </a:extLst>
          </p:cNvPr>
          <p:cNvSpPr>
            <a:spLocks noGrp="1"/>
          </p:cNvSpPr>
          <p:nvPr/>
        </p:nvSpPr>
        <p:spPr>
          <a:xfrm>
            <a:off x="23241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01" name="矩形 59">
            <a:extLst>
              <a:ext uri="{FF2B5EF4-FFF2-40B4-BE49-F238E27FC236}">
                <a16:creationId xmlns:a16="http://schemas.microsoft.com/office/drawing/2014/main" id="{F5079089-444E-4C31-B2F9-02B958CC9582}"/>
              </a:ext>
            </a:extLst>
          </p:cNvPr>
          <p:cNvSpPr>
            <a:spLocks noGrp="1"/>
          </p:cNvSpPr>
          <p:nvPr/>
        </p:nvSpPr>
        <p:spPr>
          <a:xfrm>
            <a:off x="12763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02" name="箭號: 向左 61">
            <a:extLst>
              <a:ext uri="{FF2B5EF4-FFF2-40B4-BE49-F238E27FC236}">
                <a16:creationId xmlns:a16="http://schemas.microsoft.com/office/drawing/2014/main" id="{F57AB087-9FC2-4FA7-9CDD-E121D32639F8}"/>
              </a:ext>
            </a:extLst>
          </p:cNvPr>
          <p:cNvSpPr>
            <a:spLocks noGrp="1"/>
          </p:cNvSpPr>
          <p:nvPr/>
        </p:nvSpPr>
        <p:spPr>
          <a:xfrm>
            <a:off x="42672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03" name="箭號: 向下 62">
            <a:extLst>
              <a:ext uri="{FF2B5EF4-FFF2-40B4-BE49-F238E27FC236}">
                <a16:creationId xmlns:a16="http://schemas.microsoft.com/office/drawing/2014/main" id="{87377617-B8AE-4353-9EEB-16954CA94C1F}"/>
              </a:ext>
            </a:extLst>
          </p:cNvPr>
          <p:cNvSpPr>
            <a:spLocks noGrp="1"/>
          </p:cNvSpPr>
          <p:nvPr/>
        </p:nvSpPr>
        <p:spPr>
          <a:xfrm>
            <a:off x="13525500" y="5257800"/>
            <a:ext cx="219075" cy="400050"/>
          </a:xfrm>
          <a:prstGeom prst="down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目前完整流程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流程圖更新：180 場評估、Prompt Compliance 與混合初始族群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noGrp="1"/>
          </p:cNvSpPr>
          <p:nvPr/>
        </p:nvSpPr>
        <p:spPr>
          <a:xfrm>
            <a:off x="23526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noGrp="1"/>
          </p:cNvSpPr>
          <p:nvPr/>
        </p:nvSpPr>
        <p:spPr>
          <a:xfrm>
            <a:off x="11334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noGrp="1"/>
          </p:cNvSpPr>
          <p:nvPr/>
        </p:nvSpPr>
        <p:spPr>
          <a:xfrm>
            <a:off x="12287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seed＋9 LLM 策略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 Java 評估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noGrp="1"/>
          </p:cNvSpPr>
          <p:nvPr/>
        </p:nvSpPr>
        <p:spPr>
          <a:xfrm>
            <a:off x="60674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noGrp="1"/>
          </p:cNvSpPr>
          <p:nvPr/>
        </p:nvSpPr>
        <p:spPr>
          <a:xfrm>
            <a:off x="48482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</a:t>
            </a:r>
          </a:p>
        </p:txBody>
      </p:sp>
      <p:sp>
        <p:nvSpPr>
          <p:cNvPr id="21" name="文字版面配置區 20">
            <a:extLst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noGrp="1"/>
          </p:cNvSpPr>
          <p:nvPr/>
        </p:nvSpPr>
        <p:spPr>
          <a:xfrm>
            <a:off x="49434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 cases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選擇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noGrp="1"/>
          </p:cNvSpPr>
          <p:nvPr/>
        </p:nvSpPr>
        <p:spPr>
          <a:xfrm>
            <a:off x="97821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文字版面配置區 25">
            <a:extLst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noGrp="1"/>
          </p:cNvSpPr>
          <p:nvPr/>
        </p:nvSpPr>
        <p:spPr>
          <a:xfrm>
            <a:off x="85629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交叉與反思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noGrp="1"/>
          </p:cNvSpPr>
          <p:nvPr/>
        </p:nvSpPr>
        <p:spPr>
          <a:xfrm>
            <a:off x="86582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三組獨立交叉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可選 S / C / PC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noGrp="1"/>
          </p:cNvSpPr>
          <p:nvPr/>
        </p:nvSpPr>
        <p:spPr>
          <a:xfrm>
            <a:off x="134969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文字版面配置區 32">
            <a:extLst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noGrp="1"/>
          </p:cNvSpPr>
          <p:nvPr/>
        </p:nvSpPr>
        <p:spPr>
          <a:xfrm>
            <a:off x="122777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生成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noGrp="1"/>
          </p:cNvSpPr>
          <p:nvPr/>
        </p:nvSpPr>
        <p:spPr>
          <a:xfrm>
            <a:off x="123729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source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編譯引導最多 5 次</a:t>
            </a:r>
          </a:p>
        </p:txBody>
      </p:sp>
      <p:sp>
        <p:nvSpPr>
          <p:cNvPr id="38" name="文字版面配置區 37">
            <a:extLst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noGrp="1"/>
          </p:cNvSpPr>
          <p:nvPr/>
        </p:nvSpPr>
        <p:spPr>
          <a:xfrm>
            <a:off x="134969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文字版面配置區 38">
            <a:extLst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noGrp="1"/>
          </p:cNvSpPr>
          <p:nvPr/>
        </p:nvSpPr>
        <p:spPr>
          <a:xfrm>
            <a:off x="122777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驗證與編譯</a:t>
            </a:r>
          </a:p>
        </p:txBody>
      </p:sp>
      <p:sp>
        <p:nvSpPr>
          <p:cNvPr id="41" name="文字版面配置區 40">
            <a:extLst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noGrp="1"/>
          </p:cNvSpPr>
          <p:nvPr/>
        </p:nvSpPr>
        <p:spPr>
          <a:xfrm>
            <a:off x="123729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 → 編譯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 檢查</a:t>
            </a:r>
          </a:p>
        </p:txBody>
      </p:sp>
      <p:sp>
        <p:nvSpPr>
          <p:cNvPr id="44" name="文字版面配置區 43">
            <a:extLst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noGrp="1"/>
          </p:cNvSpPr>
          <p:nvPr/>
        </p:nvSpPr>
        <p:spPr>
          <a:xfrm>
            <a:off x="97821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文字版面配置區 44">
            <a:extLst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noGrp="1"/>
          </p:cNvSpPr>
          <p:nvPr/>
        </p:nvSpPr>
        <p:spPr>
          <a:xfrm>
            <a:off x="85629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MicroRTS 評估</a:t>
            </a:r>
          </a:p>
        </p:txBody>
      </p:sp>
      <p:sp>
        <p:nvSpPr>
          <p:cNvPr id="47" name="文字版面配置區 46">
            <a:extLst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noGrp="1"/>
          </p:cNvSpPr>
          <p:nvPr/>
        </p:nvSpPr>
        <p:spPr>
          <a:xfrm>
            <a:off x="86582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× 3 × 3 × 2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180 場評估</a:t>
            </a:r>
          </a:p>
        </p:txBody>
      </p:sp>
      <p:sp>
        <p:nvSpPr>
          <p:cNvPr id="51" name="文字版面配置區 50">
            <a:extLst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noGrp="1"/>
          </p:cNvSpPr>
          <p:nvPr/>
        </p:nvSpPr>
        <p:spPr>
          <a:xfrm>
            <a:off x="60674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文字版面配置區 51">
            <a:extLst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noGrp="1"/>
          </p:cNvSpPr>
          <p:nvPr/>
        </p:nvSpPr>
        <p:spPr>
          <a:xfrm>
            <a:off x="48482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評分與機率更新</a:t>
            </a:r>
          </a:p>
        </p:txBody>
      </p:sp>
      <p:sp>
        <p:nvSpPr>
          <p:cNvPr id="54" name="文字版面配置區 53">
            <a:extLst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noGrp="1"/>
          </p:cNvSpPr>
          <p:nvPr/>
        </p:nvSpPr>
        <p:spPr>
          <a:xfrm>
            <a:off x="49434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cases 供選擇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AOS 更新機率</a:t>
            </a:r>
          </a:p>
        </p:txBody>
      </p:sp>
      <p:sp>
        <p:nvSpPr>
          <p:cNvPr id="58" name="文字版面配置區 57">
            <a:extLst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noGrp="1"/>
          </p:cNvSpPr>
          <p:nvPr/>
        </p:nvSpPr>
        <p:spPr>
          <a:xfrm>
            <a:off x="23526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文字版面配置區 58">
            <a:extLst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noGrp="1"/>
          </p:cNvSpPr>
          <p:nvPr/>
        </p:nvSpPr>
        <p:spPr>
          <a:xfrm>
            <a:off x="11334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生存者選擇</a:t>
            </a:r>
          </a:p>
        </p:txBody>
      </p:sp>
      <p:sp>
        <p:nvSpPr>
          <p:cNvPr id="61" name="文字版面配置區 60">
            <a:extLst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noGrp="1"/>
          </p:cNvSpPr>
          <p:nvPr/>
        </p:nvSpPr>
        <p:spPr>
          <a:xfrm>
            <a:off x="12287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父代＋子代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選 10</a:t>
            </a:r>
          </a:p>
        </p:txBody>
      </p:sp>
      <p:sp>
        <p:nvSpPr>
          <p:cNvPr id="63" name="手繪多邊形: 圖案 62">
            <a:extLst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noGrp="1"/>
          </p:cNvSpPr>
          <p:nvPr/>
        </p:nvSpPr>
        <p:spPr>
          <a:xfrm>
            <a:off x="23717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4" name="手繪多邊形: 圖案 63">
            <a:extLst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noGrp="1"/>
          </p:cNvSpPr>
          <p:nvPr/>
        </p:nvSpPr>
        <p:spPr>
          <a:xfrm>
            <a:off x="60864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5" name="手繪多邊形: 圖案 64">
            <a:extLst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noGrp="1"/>
          </p:cNvSpPr>
          <p:nvPr/>
        </p:nvSpPr>
        <p:spPr>
          <a:xfrm>
            <a:off x="98012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6" name="手繪多邊形: 圖案 65">
            <a:extLst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noGrp="1"/>
          </p:cNvSpPr>
          <p:nvPr/>
        </p:nvSpPr>
        <p:spPr>
          <a:xfrm>
            <a:off x="135159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7" name="手繪多邊形: 圖案 66">
            <a:extLst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noGrp="1"/>
          </p:cNvSpPr>
          <p:nvPr/>
        </p:nvSpPr>
        <p:spPr>
          <a:xfrm>
            <a:off x="135159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8" name="手繪多邊形: 圖案 67">
            <a:extLst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noGrp="1"/>
          </p:cNvSpPr>
          <p:nvPr/>
        </p:nvSpPr>
        <p:spPr>
          <a:xfrm>
            <a:off x="98012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9" name="手繪多邊形: 圖案 68">
            <a:extLst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noGrp="1"/>
          </p:cNvSpPr>
          <p:nvPr/>
        </p:nvSpPr>
        <p:spPr>
          <a:xfrm>
            <a:off x="60864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70" name="手繪多邊形: 圖案 69">
            <a:extLst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noGrp="1"/>
          </p:cNvSpPr>
          <p:nvPr/>
        </p:nvSpPr>
        <p:spPr>
          <a:xfrm>
            <a:off x="23717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10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8B97603-8F49-4C5B-B764-10BAEDF3AFD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073410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6">
            <a:extLst>
              <a:ext uri="{FF2B5EF4-FFF2-40B4-BE49-F238E27FC236}">
                <a16:creationId xmlns:a16="http://schemas.microsoft.com/office/drawing/2014/main" id="{F2C56139-1576-432F-A3A3-96A64E2C36F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菱形 7">
            <a:extLst>
              <a:ext uri="{FF2B5EF4-FFF2-40B4-BE49-F238E27FC236}">
                <a16:creationId xmlns:a16="http://schemas.microsoft.com/office/drawing/2014/main" id="{AFE644EB-B9FA-4280-8735-7AC7ECCD888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演化的對象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本期使用 inherited_genotype；輸入 Java 與新生成的 Java 分開保存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noGrp="1"/>
          </p:cNvSpPr>
          <p:nvPr/>
        </p:nvSpPr>
        <p:spPr>
          <a:xfrm>
            <a:off x="1000125" y="2695575"/>
            <a:ext cx="651510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　演化與繼承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noGrp="1"/>
          </p:cNvSpPr>
          <p:nvPr/>
        </p:nvSpPr>
        <p:spPr>
          <a:xfrm>
            <a:off x="104775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gene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noGrp="1"/>
          </p:cNvSpPr>
          <p:nvPr/>
        </p:nvSpPr>
        <p:spPr>
          <a:xfrm>
            <a:off x="110490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noGrp="1"/>
          </p:cNvSpPr>
          <p:nvPr/>
        </p:nvSpPr>
        <p:spPr>
          <a:xfrm>
            <a:off x="100965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strategy_prompt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noGrp="1"/>
          </p:cNvSpPr>
          <p:nvPr/>
        </p:nvSpPr>
        <p:spPr>
          <a:xfrm>
            <a:off x="106680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具體遊戲策略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Strategy 修改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noGrp="1"/>
          </p:cNvSpPr>
          <p:nvPr/>
        </p:nvSpPr>
        <p:spPr>
          <a:xfrm>
            <a:off x="3190875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noGrp="1"/>
          </p:cNvSpPr>
          <p:nvPr/>
        </p:nvSpPr>
        <p:spPr>
          <a:xfrm>
            <a:off x="3286125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prompt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noGrp="1"/>
          </p:cNvSpPr>
          <p:nvPr/>
        </p:nvSpPr>
        <p:spPr>
          <a:xfrm>
            <a:off x="3343275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noGrp="1"/>
          </p:cNvSpPr>
          <p:nvPr/>
        </p:nvSpPr>
        <p:spPr>
          <a:xfrm>
            <a:off x="3248025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noGrp="1"/>
          </p:cNvSpPr>
          <p:nvPr/>
        </p:nvSpPr>
        <p:spPr>
          <a:xfrm>
            <a:off x="3305175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通用翻譯規則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Code 修改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noGrp="1"/>
          </p:cNvSpPr>
          <p:nvPr/>
        </p:nvSpPr>
        <p:spPr>
          <a:xfrm>
            <a:off x="542925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noGrp="1"/>
          </p:cNvSpPr>
          <p:nvPr/>
        </p:nvSpPr>
        <p:spPr>
          <a:xfrm>
            <a:off x="552450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gene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noGrp="1"/>
          </p:cNvSpPr>
          <p:nvPr/>
        </p:nvSpPr>
        <p:spPr>
          <a:xfrm>
            <a:off x="558165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noGrp="1"/>
          </p:cNvSpPr>
          <p:nvPr/>
        </p:nvSpPr>
        <p:spPr>
          <a:xfrm>
            <a:off x="548640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inherited_java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noGrp="1"/>
          </p:cNvSpPr>
          <p:nvPr/>
        </p:nvSpPr>
        <p:spPr>
          <a:xfrm>
            <a:off x="554355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父代完整 Java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反思不直接修改</a:t>
            </a:r>
          </a:p>
        </p:txBody>
      </p:sp>
      <p:sp>
        <p:nvSpPr>
          <p:cNvPr id="24" name="箭號: 向右 23">
            <a:extLst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noGrp="1"/>
          </p:cNvSpPr>
          <p:nvPr/>
        </p:nvSpPr>
        <p:spPr>
          <a:xfrm>
            <a:off x="76200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noGrp="1"/>
          </p:cNvSpPr>
          <p:nvPr/>
        </p:nvSpPr>
        <p:spPr>
          <a:xfrm>
            <a:off x="8429625" y="3476625"/>
            <a:ext cx="2524125" cy="3171825"/>
          </a:xfrm>
          <a:prstGeom prst="roundRect">
            <a:avLst>
              <a:gd name="adj" fmla="val 603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noGrp="1"/>
          </p:cNvSpPr>
          <p:nvPr/>
        </p:nvSpPr>
        <p:spPr>
          <a:xfrm>
            <a:off x="8534400" y="4114800"/>
            <a:ext cx="23145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GENERATOR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noGrp="1"/>
          </p:cNvSpPr>
          <p:nvPr/>
        </p:nvSpPr>
        <p:spPr>
          <a:xfrm>
            <a:off x="8591550" y="4638675"/>
            <a:ext cx="22002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noGrp="1"/>
          </p:cNvSpPr>
          <p:nvPr/>
        </p:nvSpPr>
        <p:spPr>
          <a:xfrm>
            <a:off x="8582025" y="4905375"/>
            <a:ext cx="2219325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策略描述＋生成規則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＋父代 Java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依固定 Java 骨架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Agent</a:t>
            </a:r>
          </a:p>
        </p:txBody>
      </p:sp>
      <p:sp>
        <p:nvSpPr>
          <p:cNvPr id="29" name="箭號: 向右 28">
            <a:extLst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noGrp="1"/>
          </p:cNvSpPr>
          <p:nvPr/>
        </p:nvSpPr>
        <p:spPr>
          <a:xfrm>
            <a:off x="112395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noGrp="1"/>
          </p:cNvSpPr>
          <p:nvPr/>
        </p:nvSpPr>
        <p:spPr>
          <a:xfrm>
            <a:off x="12001500" y="3476625"/>
            <a:ext cx="2924175" cy="3171825"/>
          </a:xfrm>
          <a:prstGeom prst="roundRect">
            <a:avLst>
              <a:gd name="adj" fmla="val 521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noGrp="1"/>
          </p:cNvSpPr>
          <p:nvPr/>
        </p:nvSpPr>
        <p:spPr>
          <a:xfrm>
            <a:off x="12134850" y="4114800"/>
            <a:ext cx="26574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PHENOTYPE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noGrp="1"/>
          </p:cNvSpPr>
          <p:nvPr/>
        </p:nvSpPr>
        <p:spPr>
          <a:xfrm>
            <a:off x="12172950" y="463867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noGrp="1"/>
          </p:cNvSpPr>
          <p:nvPr/>
        </p:nvSpPr>
        <p:spPr>
          <a:xfrm>
            <a:off x="12172950" y="4905375"/>
            <a:ext cx="2571750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generated_java</a:t>
            </a:r>
          </a:p>
          <a:p>
            <a:endParaRPr sz="22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</a:t>
            </a: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 MicroRTS 評估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29630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noGrp="1"/>
          </p:cNvSpPr>
          <p:nvPr/>
        </p:nvSpPr>
        <p:spPr>
          <a:xfrm>
            <a:off x="2628900" y="765810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新生成的 Java 可供下一代繼承；Generator 保留兩個 prompt gene</a:t>
            </a:r>
          </a:p>
        </p:txBody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noGrp="1"/>
          </p:cNvSpPr>
          <p:nvPr/>
        </p:nvSpPr>
        <p:spPr>
          <a:xfrm>
            <a:off x="172402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noGrp="1"/>
          </p:cNvSpPr>
          <p:nvPr/>
        </p:nvSpPr>
        <p:spPr>
          <a:xfrm>
            <a:off x="396240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noGrp="1"/>
          </p:cNvSpPr>
          <p:nvPr/>
        </p:nvSpPr>
        <p:spPr>
          <a:xfrm>
            <a:off x="620077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noGrp="1"/>
          </p:cNvSpPr>
          <p:nvPr/>
        </p:nvSpPr>
        <p:spPr>
          <a:xfrm>
            <a:off x="94297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40" name="手繪多邊形: 圖案 39">
            <a:extLst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noGrp="1"/>
          </p:cNvSpPr>
          <p:nvPr/>
        </p:nvSpPr>
        <p:spPr>
          <a:xfrm>
            <a:off x="132016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4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603E32-9FBC-4C0D-9A3A-B57D699BA8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4245554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130E6B42-5441-4E82-91E3-EA924A40D9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B033486E-5A94-4F2A-A80D-FCB76AA4033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218DD66A-E382-4D24-8CFE-3BCB1FDFC33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7AA9CC04-1B35-45B9-AF73-3833FD893049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12">
            <a:extLst>
              <a:ext uri="{FF2B5EF4-FFF2-40B4-BE49-F238E27FC236}">
                <a16:creationId xmlns:a16="http://schemas.microsoft.com/office/drawing/2014/main" id="{429ADBAC-5350-4DC1-996E-FA7EDA8C8B2D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16">
            <a:extLst>
              <a:ext uri="{FF2B5EF4-FFF2-40B4-BE49-F238E27FC236}">
                <a16:creationId xmlns:a16="http://schemas.microsoft.com/office/drawing/2014/main" id="{713447A7-DAB2-4564-BABC-70835C39654D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17">
            <a:extLst>
              <a:ext uri="{FF2B5EF4-FFF2-40B4-BE49-F238E27FC236}">
                <a16:creationId xmlns:a16="http://schemas.microsoft.com/office/drawing/2014/main" id="{676178C5-38F0-4A97-B079-0FCB5E4BDBF6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0">
            <a:extLst>
              <a:ext uri="{FF2B5EF4-FFF2-40B4-BE49-F238E27FC236}">
                <a16:creationId xmlns:a16="http://schemas.microsoft.com/office/drawing/2014/main" id="{4E83BC23-F7E2-4FFB-996F-434F4D9EECCA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24">
            <a:extLst>
              <a:ext uri="{FF2B5EF4-FFF2-40B4-BE49-F238E27FC236}">
                <a16:creationId xmlns:a16="http://schemas.microsoft.com/office/drawing/2014/main" id="{AC61E28A-378C-4573-8714-C922B3A56AD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9" name="橢圓 25">
            <a:extLst>
              <a:ext uri="{FF2B5EF4-FFF2-40B4-BE49-F238E27FC236}">
                <a16:creationId xmlns:a16="http://schemas.microsoft.com/office/drawing/2014/main" id="{FB790516-51D5-47A4-9011-A1542F8FC3B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0" name="矩形 28">
            <a:extLst>
              <a:ext uri="{FF2B5EF4-FFF2-40B4-BE49-F238E27FC236}">
                <a16:creationId xmlns:a16="http://schemas.microsoft.com/office/drawing/2014/main" id="{7EFC4A8B-01A9-4CD9-B7CE-032C254D82A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1" name="矩形: 圓角 32">
            <a:extLst>
              <a:ext uri="{FF2B5EF4-FFF2-40B4-BE49-F238E27FC236}">
                <a16:creationId xmlns:a16="http://schemas.microsoft.com/office/drawing/2014/main" id="{4B7DB414-CC49-4111-A1D2-65BCF5A04B22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的歷史比較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原始實驗重製；保留當時量測值，作為改採多樣 policy 的背景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BLANK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 / 499 / 101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wins：0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RANDOM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112 / 429 / 59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258 / 325 / 17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wins：110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 表現較佳，後續保留為 seed 基準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歷史設定與本期比例實驗不同；這三組數字不可直接當成本期比較結果</a:t>
            </a:r>
          </a:p>
        </p:txBody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noGrp="1"/>
          </p:cNvSpPr>
          <p:nvPr/>
        </p:nvSpPr>
        <p:spPr>
          <a:xfrm>
            <a:off x="1219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noGrp="1"/>
          </p:cNvSpPr>
          <p:nvPr/>
        </p:nvSpPr>
        <p:spPr>
          <a:xfrm>
            <a:off x="59817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noGrp="1"/>
          </p:cNvSpPr>
          <p:nvPr/>
        </p:nvSpPr>
        <p:spPr>
          <a:xfrm>
            <a:off x="10744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  <p:sp>
        <p:nvSpPr>
          <p:cNvPr id="5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8060060-9A44-40AC-9A85-1B64E723C63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3366276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2CE56723-CD1F-41CD-BEA1-C50E2F435F9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7B0B857E-D17B-423C-AF79-1CAE2375FEC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77618D7B-73BB-4E5B-A2B3-E5E3675E25F2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952431B2-4323-4AC5-8227-D52501A6C6BC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72E5AF30-5EA8-4612-8B2A-FF1508EB6768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437A6949-916E-425D-8D9D-9E06118E2EB8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EF636FD4-FB9E-464E-9214-956FEE084F06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7ED141EA-DACD-430E-B950-71484AED5D15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F8D11517-DE6F-4282-96DB-CB8AE930B8E3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BA40DA70-3B2D-494E-A4BB-7D3F9D2DCFCD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E1656015-3212-4C87-B80A-056D68A730D9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本期的初始族群配置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0830 的單一 seed 比較，改為保留 seed 並加入 policy 多樣性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個不同 policy genes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seed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個獨立 LLM policies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共用初始 generation rules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共用 Java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Worker Rush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直接評估 G0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 offspring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獨立繼承三個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再經 Generator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Java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的 policy 與 Java 可暫時不一致；不會為 10 個新 policy 各生成一次 Java</a:t>
            </a:r>
          </a:p>
        </p:txBody>
      </p:sp>
      <p:sp>
        <p:nvSpPr>
          <p:cNvPr id="3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296298-ABC0-4D1F-B25D-B6C69E2E49E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5BB05F9-417D-46C7-9C2F-2A0484EFC58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2DE3D53E-7C42-4156-95B7-3A1984E1043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19E05B9-612F-49AD-AC01-255E27EE524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D5ED46E2-F8DC-4650-BCE6-D4ED32124D0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517DBA0C-7E50-490B-8426-E32EA971A1C5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A1AEA92-4A24-4A9F-AE42-2B9C5DBEE958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994601F7-4CC1-4CC2-8DE3-07D326B03D8A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B700AB86-C6A7-4985-959C-ECD875A53F6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A267C7C-B2C0-4AF9-9267-152CE99EECC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4BD4D7AB-6DCD-405D-BA7D-19930987BF27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D2B02661-AA78-447A-80AA-9BA4787F162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DD2C6072-BCF4-4F38-BC72-E1791AA14BB9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F03B9A5-8F50-432D-B851-1475EF5D8430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2003ADD7-1FD2-4C3F-B033-572BD16ACDAD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Operator 選擇模式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選擇模式圖更新；選擇機率控制的是 S / C / PC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固定機率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依設定比例選 operator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不計算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整個 run 維持同一分佈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OPPONENT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對手既有評估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 child 與 evidence parent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W/D/L rank 改善給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 EMA 更新機率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HEAD2HEAD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額外親子對戰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maps × 3 rounds × 2 sides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 場 parent–child 對戰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再更新 operator 機率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669452C-8871-4113-BE33-1ABB2D01354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533941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4A27C72A-62E8-4C89-9CD5-1DF80849030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E384F71-EFE7-4073-9B07-8AC83F24878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9FB2215-2BA3-4B30-94F1-BBF56F1C31F8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51393804-49E7-430A-8E17-07D5BEEE784D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7CB632FB-4982-42AF-A556-29D7085FE38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CD92F1D-76BD-458C-AC32-FF8B31370913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0BA5535-D0E8-4D98-B49C-FCAF479A79A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B6FFA81-D9C4-4591-B6F7-C4EEFD333EB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0FD6CE24-27ED-4F54-96C0-52BC849AC0C6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FE586863-3552-4CAE-AE82-58C756E6B902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CAEB0B22-CA65-4417-A1F3-CA8000BF35D1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FBDFD065-7792-47DC-AB45-31E17FD7498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153493A4-BE2A-45FF-B3F0-D7AB8001EA9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656B8AE7-5668-42C0-BC3F-BB2625F60466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的責任邊界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Reflection 圖更新：Balance 已由 Prompt Compliance 取代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改遊戲策略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看代表對戰與全域摘要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Commentator → Coach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修正翻譯規則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 policy、Java 與 API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 → Rule Rewriter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generation_prompt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 prompt 規範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看兩個 prompt 與 contracts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audit，修有 issue 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不使用勝負或 Java evidence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E419CFD-1CBD-4783-8BC5-BCA210200B7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1617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5E051E30-1A7D-4BE1-A498-C63FD198721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FE2F458C-E396-4D5A-A391-4263A130A14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B81325DF-CC4C-4321-A321-AEDBA38C99A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76239A6A-4F33-47CB-A322-A8F0ADFAF58F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66F3E856-C913-43BC-98DB-72299A883345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1032C2AE-91D8-434B-8B61-1762E73F8114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實驗分成四個階段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先檢查反思輸出，再檢查改版後的演化表現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　09/03　固定輸入的九次反思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Strategy、Code、Balance 各 3 次；檢查欄位 scope 與內容問題。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　09/04 上午　加入 contract 後重跑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仍各 3 次，確認規則資訊送入後是否足以避免錯誤。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　09/04 下午　子代串接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3 + Code 3，再把 6 個成功子代各送入 Compliance。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　09/04–09/07　三組比例的演化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S/C/PC = 20/20/60、33/33/34、40/40/20；比較族群與 champion。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前 3 階段是 reflection inspection；第 4 階段才有演化與新策略對戰結果</a:t>
            </a:r>
          </a:p>
        </p:txBody>
      </p:sp>
      <p:sp>
        <p:nvSpPr>
          <p:cNvPr id="3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B6AEC10-B82B-4436-8E1A-A6787574FC5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A561C7AA-31D0-4F11-B03C-B91828B0E7A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3BDF803F-FE10-4416-80B2-648BF221093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60ECB696-0BF5-478E-8C5A-30C567BDE0CC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B2771AC8-E94A-494E-B5AC-C5926D8FF3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9BEB567C-055A-4BD8-9A3A-60560980236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C69ECA63-3B66-4B14-8A7A-F01881219AEC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E9D3F015-E1C2-4901-B9F8-729806C0060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D7BA8583-D02B-4F03-A069-E4A91991DED1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4177FF7E-C94B-4833-BF40-3AB339FCB8DE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C379E1B5-50F2-4636-8E5E-573B2751558F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8BFBA473-A1D3-4FD1-B8A2-4A69BFAA55ED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64FFA8F5-0538-42E5-AB43-CA749769825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29F1BF1F-B8BB-40DA-B4B5-C3E68CF91F38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461C1C3E-5189-4819-8705-B4A94253D82B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實驗一：同一父代、三種反思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Worker Rush　每種 operator 各 3 次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固定父代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9 次獨立 trial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Worker Rush policy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inherited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每次都從原 subject 開始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evidence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同一組評估資料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opponents，共 180 場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選 10 場代表 traces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Balance 只拿 W/D/L 表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檢查目標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輸出與狀態轉換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保存每次 request / response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比對實際改變的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人工檢查內容是否可執行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D358F4D-96C2-4EEB-A7B6-C0CAC5A8238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567711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9AE1CFA4-226E-4C0C-A86B-1707D66704FB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F9BE7B71-5E20-49FE-9DB2-9E2577B796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4969A379-6143-46A0-9720-4593DA7E3122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7EA3D05-115F-47C0-871D-8FAAE7462F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5AE9C5E9-7E62-403A-AFEB-61FBFFADD6DC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DF5C0496-8B2C-4F78-BFCD-8D654A3539F2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68B1EC5-3911-478A-BA77-34D28F6549C5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C623E732-4027-49F2-82C1-5431B0419E28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95FB5C92-A632-4CEC-9B6C-5678AF904EF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B17D5BC9-AA21-4831-973D-44CBC214C268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5A5790F4-B213-4BCF-AF77-4A03E59F46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0A4A6D4D-1C1F-45FB-A68D-32C1BD92E264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實驗一：8 / 9 次成功套用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成功套用後仍需人工檢查策略語義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 三次 rewrite 後回滾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prompt 同時改變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trial 的 inherited Java 均未被反思直接改寫；未量測新策略勝率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DDBF374-5B4E-4D84-8F78-C0E36848A6D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B40F25D1-2301-49CA-BE0A-1405FAC553A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190EF21-51EE-42A1-9532-D6DBC823A9B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AC48927C-1379-46D6-81FB-3909A36A502B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2E087770-D4B1-42C9-A0A0-102582FFC15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E01DB518-1119-45A4-AFBA-61CA12BDA534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5C87761-6AF1-44DC-BD1C-71CB83D55A1B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6740CBC-B734-4045-96E1-FCCFE0562EFC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922DE2D1-5A23-4CD7-9A9B-E40C65FB7C62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2B714D4-9620-460A-89A2-1AE566643F78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AB4972E8-8DD1-42FF-B92E-0BB046F85E59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2A29F7E3-074B-45A8-849D-D38BAB0BF3AA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66A7BA9-A816-4C67-B460-26D0BE09F63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3815B9FA-CDB6-429A-9BE7-553DCC17F2B5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3EBC807-BA70-4D44-98FA-73EAF30B800F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實驗一：各次 trial 暴露的問題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反思能改內容，但規則 grounding 尚不足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 / S2 / S3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S1：加入 Heavy 與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S2：採集／回存條件互相衝突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S3：把 Base HP 當資源儲量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C1 / C2 / C3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C1：targeting rule，經 retry 套用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C2：schema retry 後新增 rule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C3：具體 Worker 詞遭拒絕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B1 / B2 / B3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B1：Wall、Tower、Marine、Tank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B2：Armory、tech、high ground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B3：Marine、Siege Tank、RL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BA31294-1B83-4BCF-9BB0-9A3000CEA1D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1091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55E931FE-E2D8-46DD-8991-09CBEA890E9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5C518622-66E7-40BE-ADF2-5F283447B1A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5B86EA48-9428-4E94-BE07-7A9DA62AAE19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7355EE5A-8DE4-4652-B5A6-9B70AE8A1C98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0EF89ECA-87BF-4C75-B56F-6B62645220B7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539ADD54-030D-4590-B8B3-AC95E4EF1996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28DD30EE-9A49-420C-9BA8-0367D2168538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7E4DA074-B8A8-4940-B433-42AFFD11A889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D51BCE76-7E8F-409B-8AC6-0C65A1D522FD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1D099FAD-B1D9-4558-984B-97DF960084F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6D49F91-ED0B-47B8-A57E-80C499EAD1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CA6B7099-0132-4F0A-B894-2532F38E308D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實驗二：補規則後仍有錯誤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相同設計重跑；Gameplay contract 已送入策略改寫角色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C2、C3：改寫失敗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B1：schema 不合格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/ 9 次套用；五份成功產生的 strategy prompt 仍出現規則問題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baseline 的 GP = -90.316206；本次同樣未重生 Java 或重跑新策略對戰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3F2B8A9-FA44-4691-A38A-55FA8B6B108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86C25928-3363-45AF-ABFF-37C7A678C83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77178AE-1597-4297-B0FA-2F311E183DD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1497BEDB-C03B-4432-9789-8B703EF08C20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61990250-1B5B-476B-BA12-04F7BFB057DE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DCFE60D8-027A-421C-BB3D-2B17E8FF9EB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FA9BA6C-2174-474B-ADC6-624C51DD9C31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0B4B441A-E054-42D5-9D9F-FF7767AB073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977F83F-CA4C-42E5-9369-30AB6B627675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96BE82CC-0777-44CA-A7FD-930687A0601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92D1B947-CD75-4A47-AC52-E96CCE4C7BE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4298E857-AC85-4276-80FE-4C0C792EFAF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968BD70E-1D52-453A-93F3-7C7DBE47FE3B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4A458F9-D06B-4C42-998A-34CEECA3905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8D35FEBF-95BF-45B8-B09D-C7AB2A9DE682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實驗二：Strategy 的三個變體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提供 contract 後，仍未穩定落實行動前提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Barracks fallback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增加 Light 與防守分工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卻要求等待 Base HP 恢復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遊戲沒有治療／修復機制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S2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Redundant harvesters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維持兩名採集者並轉 Heavy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立即重建的敘述缺少前提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未列 Worker、資源與空格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S3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Resource collection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加入集中反擊與 Barracks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卻要求所有 Worker 死後建造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缺少能執行建造的單位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CB9302C-964E-490C-B0E6-BEF74882CF3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52942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2E3FEAC-EEA8-44A6-BFAF-157C14EDAD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DE70E82E-4B63-4D87-BD78-2C4CAD38434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CFC72915-5104-465D-BAD7-DB8DEFD1E15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A7582BD4-4D57-4B36-9EA0-93D4897109F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1A4E6091-2E0C-40AB-8730-C5A314C8722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4B7F8424-E7DC-4155-9857-50F927E28AC6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F8CFA4B-574B-440F-85C2-EA81D2B1B43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實驗二：Code 與 Balance 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將模型判讀錯誤與驗證器拒絕分開看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Code：1 / 3 套用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Balance：2 / 3 套用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C1：套用 API compliance rule，但誤判既有 Java 沒有連續生產與回存。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C2：3 次 rewrite 仍含 resource，遭泛化規則檢查拒絕。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C3：3 次 rewrite 仍含 commandTrain，安全回滾。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B1：weakness 用陣列混合多個 opponent／map，schema 失敗。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B2：新 policy 使用 scouting、map ID，還要求無 Worker 時建 Base。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B3：無 Barracks 生 Ranged、Barracks upgrade 與資源歸屬錯誤。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修正方向：分清角色責任，加入 final-policy 檢查與具體錯誤回饋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D51520D-24A2-4CE6-9A63-4FAA7BB8A41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D8014D15-3474-4A0F-AD93-96C60A2900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26925ED1-9C45-4B1E-9CA2-0B7E84BCC6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9E73EF2D-16EF-4F5E-B5E9-E745DB980108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F8B565E7-ED3C-489D-8159-A5C28AF73392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4717BC8C-C324-43B7-A4D7-76630B9335A9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2C1D45BB-6194-4150-AA90-22A7CCC06E95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A8527084-31C8-4C86-8CE3-4302744983EF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9EA02452-0D50-4CBE-900D-479551CDFF86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695CDAB7-D8DE-4B56-B769-C33CAEE72FE5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A3B1B796-0DEF-418C-BDBA-090DC5B7358A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4256C17D-0DC3-46D5-8320-7607E1865235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實驗三：用上游子代驗證 Compliance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兩條上游路徑，各自把成功輸出交給下一個 operator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Worker Rush subject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每次從同一原始 subject 開始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個子代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 hash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各自作為父代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× 6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 兩個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只修有 issue 的欄位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套用或安全拒絕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的輸入隨上游子代改變；這 6 次不是重複測同一份 prompt</a:t>
            </a:r>
          </a:p>
        </p:txBody>
      </p:sp>
      <p:sp>
        <p:nvSpPr>
          <p:cNvPr id="3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681AE5-CC77-4BE4-8B74-7AEAAF33768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E5E6D0F1-3ACE-4CE5-9FF1-456D725A3E9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15B669B2-667C-4824-BD26-410186C7BD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ED3EDCC-497D-4CA2-9FAE-37B8569C4C6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9FB359CC-D060-499E-B41A-83D40182F93B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627851C0-8AF4-4F54-9A85-51C83A4E3ABA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00B3FF01-0EFB-44BE-8AD4-076EC1AAAEF8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B32F0BB-2687-4E81-908C-885401DBE961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B5EE92AE-1FE6-4AD1-8242-FBF8B8341A3D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39895716-3D71-41AE-9580-75229DDB5D44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7F2CF0BE-C4B5-4CA0-9653-870D96CC41BA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38F940B-4A61-4F53-AC48-6299820C33B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68FDC477-8890-468F-9F18-B58622E7D26A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實驗三：10 / 12 次安全套用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驗證修改方向、欄位 scope 與失敗保護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只改通用翻譯規則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/ 6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次拒絕，父代維持原值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次 inherited Java hash 相同；上游 6 次全部遵守各自欄位邊界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成功的 Compliance trial 1 / 3 / 5 / 6 實際都只改 strategy_prompt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BD1FC67-5F1D-472B-9620-D9405651092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68B44765-F2A5-454A-B649-4112BCBF071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33AF55-4B14-4A18-B01B-A8DABEE4B83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86C66384-7343-44A2-8467-E787F2E7BAC2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C640246C-2FE2-439C-B722-0319580DDF6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9100BF6D-6C99-4653-8F1D-F4EEC2E0E50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A9EF77A-8D87-49C4-97F2-D3E4B22C0BAE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90C7B25-0763-49AD-B88D-9C2ADD9B1374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實驗三：兩次拒絕與後續修補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驗證記錄保留原結果；修補後尚需同設計重跑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2：距離誤判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4：schema 不合格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輸出要求 Light 發現距離 3 的 Ranged，先靠近再在距離 1 攻擊。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當時 validator 把觀察距離當成攻擊距離，拒絕了合法接近動作。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後續修補：區分觀察／接近距離與 acting unit 的攻擊範圍。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部分 response 把 revised_strategy_prompt 回成 array；其他回應仍有距離或條件矛盾。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次內未得到可接受 policy，所有欄位保留原值。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後續修補：明確 string JSON schema，重試附原輸出與精確錯誤。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/ 12 是當次驗證結果，不能改寫成修補後已全數通過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0806108-CD01-4194-8D7E-E1C873D13F4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129280CD-1A18-4B24-88DF-5391067737C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61233055-6E79-4F7A-81B1-996439F03F1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1A3A527-EE27-4928-96A5-54600150B156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E98F692-887A-48DF-8138-4D7FB0C81B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AF839BBE-4F48-45E9-B7D0-E2F8C223C790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76CCDA60-37DD-47B8-A097-F541E1C11FC5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FAE62C6E-A500-4FB3-8983-7E00F3CE8DAB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6A20DE64-2BD3-4174-B2E7-338EA6905C7A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A90652C1-2806-4937-8CC9-7F221454B52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87D761D6-B714-45E3-B8A4-8C65572B3C0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05024E2C-A0BD-4808-9C5E-54AE6E21369B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9472A6C-B220-4416-AED0-06A780C8E03D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88A574B5-2E38-46AD-B022-78E929BA5E8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BAA22E7-C1EA-44B1-A3C0-EB87EDE98385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實驗四：三種固定比例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09/04–09/07　S / C / PC 分別代表 Strategy / Code / Prompt Compliance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共同設定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代；族群 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0.75；mutation 0.85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評估 180 場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三組比例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只改 operator 機率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初始條件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+ 9 個 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共用固定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每組各跑 1 個 run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7547B21-2063-40A4-BE7D-4EC0D4EB944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227142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6">
            <a:extLst>
              <a:ext uri="{FF2B5EF4-FFF2-40B4-BE49-F238E27FC236}">
                <a16:creationId xmlns:a16="http://schemas.microsoft.com/office/drawing/2014/main" id="{272CD552-FFAC-4EE3-9BCB-30637E65BE9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8" name="菱形 7">
            <a:extLst>
              <a:ext uri="{FF2B5EF4-FFF2-40B4-BE49-F238E27FC236}">
                <a16:creationId xmlns:a16="http://schemas.microsoft.com/office/drawing/2014/main" id="{BCB5D3A1-93CC-4985-B5AA-44A81618B020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比例實驗的整體結果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族群平均、champion 與執行可靠度呈現不同面向</a:t>
            </a:r>
          </a:p>
        </p:txBody>
      </p:sp>
      <p:graphicFrame>
        <p:nvGraphicFramePr>
          <p:cNvPr id="16" name="表格 15"/>
          <p:cNvGraphicFramePr/>
          <p:nvPr/>
        </p:nvGraphicFramePr>
        <p:xfrm>
          <a:off x="1104900" y="3048000"/>
          <a:ext cx="13716000" cy="29718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比例 S/C/PC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有效 policy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失敗子代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時間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20/20/60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-65.41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-40.72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258 / 31 / 311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8.98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33/33/34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-53.37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-49.27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223 / 51 / 326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200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7.80 h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40/40/20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-90.16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-88.84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170 / 429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10.08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noGrp="1"/>
          </p:cNvSpPr>
          <p:nvPr/>
        </p:nvSpPr>
        <p:spPr>
          <a:xfrm>
            <a:off x="1809750" y="6534150"/>
            <a:ext cx="12306300" cy="6191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33/33/34：最後族群平均較好，失敗少且成本低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noGrp="1"/>
          </p:cNvSpPr>
          <p:nvPr/>
        </p:nvSpPr>
        <p:spPr>
          <a:xfrm>
            <a:off x="1809750" y="7219950"/>
            <a:ext cx="12306300" cy="5334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20/20/60：單一最佳個體較強；40/40/20：本次改善有限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noGrp="1"/>
          </p:cNvSpPr>
          <p:nvPr/>
        </p:nvSpPr>
        <p:spPr>
          <a:xfrm>
            <a:off x="2476500" y="79343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GP 越高越好；每組 Final Test 600 場；每組各 1 run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5F6A791-3894-4D07-A89A-B4CEB41A721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6">
            <a:extLst>
              <a:ext uri="{FF2B5EF4-FFF2-40B4-BE49-F238E27FC236}">
                <a16:creationId xmlns:a16="http://schemas.microsoft.com/office/drawing/2014/main" id="{A1BBC2E3-22A0-4CB2-8D26-974C04835F29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0" name="菱形 7">
            <a:extLst>
              <a:ext uri="{FF2B5EF4-FFF2-40B4-BE49-F238E27FC236}">
                <a16:creationId xmlns:a16="http://schemas.microsoft.com/office/drawing/2014/main" id="{43392FA1-1678-4D14-AAD6-9498A2632D5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每代生存者的平均 GP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改善較早；20/20/60 後段上升後回落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1066800" y="2752725"/>
          <a:ext cx="1095375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noGrp="1"/>
          </p:cNvSpPr>
          <p:nvPr/>
        </p:nvSpPr>
        <p:spPr>
          <a:xfrm>
            <a:off x="12144375" y="3143250"/>
            <a:ext cx="2686050" cy="514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mean GP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noGrp="1"/>
          </p:cNvSpPr>
          <p:nvPr/>
        </p:nvSpPr>
        <p:spPr>
          <a:xfrm>
            <a:off x="12144375" y="3905250"/>
            <a:ext cx="2686050" cy="9334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-53.37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noGrp="1"/>
          </p:cNvSpPr>
          <p:nvPr/>
        </p:nvSpPr>
        <p:spPr>
          <a:xfrm>
            <a:off x="12144375" y="512445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-65.41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noGrp="1"/>
          </p:cNvSpPr>
          <p:nvPr/>
        </p:nvSpPr>
        <p:spPr>
          <a:xfrm>
            <a:off x="12144375" y="628650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-90.16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noGrp="1"/>
          </p:cNvSpPr>
          <p:nvPr/>
        </p:nvSpPr>
        <p:spPr>
          <a:xfrm>
            <a:off x="1619250" y="7924800"/>
            <a:ext cx="12687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依 opponent cases 選擇；GP 曲線可能回落，不代表父代 Java 被重新生成</a:t>
            </a:r>
          </a:p>
        </p:txBody>
      </p:sp>
      <p:sp>
        <p:nvSpPr>
          <p:cNvPr id="2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1D7C3C-040A-4FE0-8393-33324E8C5BB9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6">
            <a:extLst>
              <a:ext uri="{FF2B5EF4-FFF2-40B4-BE49-F238E27FC236}">
                <a16:creationId xmlns:a16="http://schemas.microsoft.com/office/drawing/2014/main" id="{14F1DC73-D71F-4E53-AEE0-FDD7F104FAF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4" name="菱形 7">
            <a:extLst>
              <a:ext uri="{FF2B5EF4-FFF2-40B4-BE49-F238E27FC236}">
                <a16:creationId xmlns:a16="http://schemas.microsoft.com/office/drawing/2014/main" id="{2B285C85-9022-4986-8CAC-037807D6C6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 場 Final Test 的 champion 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 的單一 champion 勝場最多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1238250" y="2752725"/>
          <a:ext cx="13335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noGrp="1"/>
          </p:cNvSpPr>
          <p:nvPr/>
        </p:nvSpPr>
        <p:spPr>
          <a:xfrm>
            <a:off x="109537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noGrp="1"/>
          </p:cNvSpPr>
          <p:nvPr/>
        </p:nvSpPr>
        <p:spPr>
          <a:xfrm>
            <a:off x="109537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258 / 31 / 311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noGrp="1"/>
          </p:cNvSpPr>
          <p:nvPr/>
        </p:nvSpPr>
        <p:spPr>
          <a:xfrm>
            <a:off x="109537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Win rate 43.0%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noGrp="1"/>
          </p:cNvSpPr>
          <p:nvPr/>
        </p:nvSpPr>
        <p:spPr>
          <a:xfrm>
            <a:off x="5810250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noGrp="1"/>
          </p:cNvSpPr>
          <p:nvPr/>
        </p:nvSpPr>
        <p:spPr>
          <a:xfrm>
            <a:off x="5810250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223 / 51 / 326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noGrp="1"/>
          </p:cNvSpPr>
          <p:nvPr/>
        </p:nvSpPr>
        <p:spPr>
          <a:xfrm>
            <a:off x="5810250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37.2%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noGrp="1"/>
          </p:cNvSpPr>
          <p:nvPr/>
        </p:nvSpPr>
        <p:spPr>
          <a:xfrm>
            <a:off x="1052512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noGrp="1"/>
          </p:cNvSpPr>
          <p:nvPr/>
        </p:nvSpPr>
        <p:spPr>
          <a:xfrm>
            <a:off x="1052512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/ 170 / 429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noGrp="1"/>
          </p:cNvSpPr>
          <p:nvPr/>
        </p:nvSpPr>
        <p:spPr>
          <a:xfrm>
            <a:off x="1052512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0.17%</a:t>
            </a:r>
          </a:p>
        </p:txBody>
      </p:sp>
      <p:sp>
        <p:nvSpPr>
          <p:cNvPr id="2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C92EEDE-C6FD-4F64-A58C-7B9E5D8B3FB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71003B6-1449-432B-9855-C905BCE735A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980CFCCD-A88E-4471-BB93-D45D6D4AD77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C534B640-B7A3-4763-A713-11C75395AB4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3CD56D47-9334-402D-8F83-A086038BA2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BC53BDCE-37D8-421B-BB22-365C64C91363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7C4F20EE-0C37-4B02-B052-50D9BBD44165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F064E9C-8A22-4130-9E9B-14123BDEC997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ED3AB3E1-9956-4078-BF26-ADE215EC54CC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17159241-02AE-4DAD-B46F-E8DF8D1ED3FB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3BAA4579-C552-4DC2-94A3-FC4F54A0ABED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4D1A3D14-F10E-4C39-A163-F6784EF00086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50FBE795-F4C4-41F9-B4FC-796860E020A7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可靠度與 LLM 成本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在這三個 run 中失敗最少、累積 LLM 時間最短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/ 200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10/10；8.98 h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200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10/10；7.80 h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 / 200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5/10；10.08 h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失敗率依序 6.0%、0.5%、9.0%；33/33/34 最低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有效 policy 數與對戰勝率是不同指標；LLM 時間是累積值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1F5F3F7-FFA8-4C39-A33F-5C8BC338A82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8457C6-1C3B-45DD-921F-F16C99156EA8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50B732-94F0-41B6-AD46-03FFAF17160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4A1BA2D3-10B3-4E61-82FB-BDEABF01ADB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918F665B-2D83-40FA-BCEA-D349C54CD58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F4F1AAA-ED05-49D7-A5E5-E7D36F93B698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12FCB146-F173-4E11-B5A7-94B178CB3864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60D843D-BD1D-40D5-A04F-246C84A5AAE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09/07 的 AOS 設定與比較限制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33/33/34 作為初始分佈，觀察 opponent credit 如何調整機率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已建立的 AOS 實驗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目前能下的結論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模式：aos_opponent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S/C/PC：0.33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最低機率：0.10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 20 代、population 10、seed 7 與 mixed policies。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設定已登錄 09/07 run；來源簡報尚未提供其結果。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33/33/34：這次族群平均與可靠度較佳，可作暫定起點。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20/20/60：保留作 champion 對照。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下一輪比較 static 與 AOS，並追蹤機率、operator credit、GP 與失敗率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AB7B302-2233-4A32-BBEE-BED6D280D0E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6">
            <a:extLst>
              <a:ext uri="{FF2B5EF4-FFF2-40B4-BE49-F238E27FC236}">
                <a16:creationId xmlns:a16="http://schemas.microsoft.com/office/drawing/2014/main" id="{83D40DEE-8522-45E1-96F5-FF4264998F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菱形 7">
            <a:extLst>
              <a:ext uri="{FF2B5EF4-FFF2-40B4-BE49-F238E27FC236}">
                <a16:creationId xmlns:a16="http://schemas.microsoft.com/office/drawing/2014/main" id="{4C10B60B-DBF3-4E1D-B8DF-7DB68BF6A30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3" name="矩形: 圓角 8">
            <a:extLst>
              <a:ext uri="{FF2B5EF4-FFF2-40B4-BE49-F238E27FC236}">
                <a16:creationId xmlns:a16="http://schemas.microsoft.com/office/drawing/2014/main" id="{52B30E71-368D-4FAF-BEA9-2EDA105FC2E4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: 圓角 9">
            <a:extLst>
              <a:ext uri="{FF2B5EF4-FFF2-40B4-BE49-F238E27FC236}">
                <a16:creationId xmlns:a16="http://schemas.microsoft.com/office/drawing/2014/main" id="{1F0F7E58-6C07-4FAA-8836-CB5FCAA9585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5" name="矩形 12">
            <a:extLst>
              <a:ext uri="{FF2B5EF4-FFF2-40B4-BE49-F238E27FC236}">
                <a16:creationId xmlns:a16="http://schemas.microsoft.com/office/drawing/2014/main" id="{31F2A20F-9778-4A8F-AB7D-269409ED892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 13">
            <a:extLst>
              <a:ext uri="{FF2B5EF4-FFF2-40B4-BE49-F238E27FC236}">
                <a16:creationId xmlns:a16="http://schemas.microsoft.com/office/drawing/2014/main" id="{F166CBBF-FE1E-4052-9655-7F38D732658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矩形: 圓角 16">
            <a:extLst>
              <a:ext uri="{FF2B5EF4-FFF2-40B4-BE49-F238E27FC236}">
                <a16:creationId xmlns:a16="http://schemas.microsoft.com/office/drawing/2014/main" id="{57480325-96F1-4CC2-ABE9-010EA6D469B8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本次總結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先把反思做對，再檢查是否讓演化更有效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已由資料支持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下一步驗證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改版已明確區分策略、翻譯規則與 prompt 合規性。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串接驗證確認欄位隔離、Java 繼承與安全拒絕。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比例實驗中，33/33/34 的族群較好；20/20/60 的 champion 較好。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用最後修補版重跑 3 + 3 + 6 的串接驗證。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固定初始 policies，以多個 seeds 比較 static 與 AOS。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同時回報 survivor population、champion、失敗階段與時間成本。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暫以 33/33/34 為 AOS 起點，保留 20/20/60 對照，等待多次實驗確認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noGrp="1"/>
          </p:cNvSpPr>
          <p:nvPr/>
        </p:nvSpPr>
        <p:spPr>
          <a:xfrm>
            <a:off x="3200400" y="8229600"/>
            <a:ext cx="9525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rPr>
              <a:t>Uicons by Flaticon · flaticon.com/uicons</a:t>
            </a:r>
          </a:p>
        </p:txBody>
      </p:sp>
      <p:sp>
        <p:nvSpPr>
          <p:cNvPr id="2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754851-3611-4A91-9874-C02CF3AD3C4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26</a:t>
            </a:fld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6">
            <a:extLst>
              <a:ext uri="{FF2B5EF4-FFF2-40B4-BE49-F238E27FC236}">
                <a16:creationId xmlns:a16="http://schemas.microsoft.com/office/drawing/2014/main" id="{98C91043-CD86-497F-BBF3-A08415D2985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1" name="菱形 7">
            <a:extLst>
              <a:ext uri="{FF2B5EF4-FFF2-40B4-BE49-F238E27FC236}">
                <a16:creationId xmlns:a16="http://schemas.microsoft.com/office/drawing/2014/main" id="{686D73B9-2D7D-4054-87ED-319B7BA00DC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0907 後更新：版本時間軸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追加章節｜09/08 00:00 至 09/09 10:59；依已提交版本整理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noGrp="1"/>
          </p:cNvSpPr>
          <p:nvPr/>
        </p:nvSpPr>
        <p:spPr>
          <a:xfrm>
            <a:off x="2343150" y="26860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08:46｜新增 Code Reflection 評估設定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noGrp="1"/>
          </p:cNvSpPr>
          <p:nvPr/>
        </p:nvSpPr>
        <p:spPr>
          <a:xfrm>
            <a:off x="2343150" y="31242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 與 20×10 實驗設定。348cbe6da1b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noGrp="1"/>
          </p:cNvSpPr>
          <p:nvPr/>
        </p:nvSpPr>
        <p:spPr>
          <a:xfrm>
            <a:off x="2343150" y="360997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08:47｜登錄 5×3 執行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noGrp="1"/>
          </p:cNvSpPr>
          <p:nvPr/>
        </p:nvSpPr>
        <p:spPr>
          <a:xfrm>
            <a:off x="2343150" y="404812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保存小型檢查的 run 對應。dfc4a117610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noGrp="1"/>
          </p:cNvSpPr>
          <p:nvPr/>
        </p:nvSpPr>
        <p:spPr>
          <a:xfrm>
            <a:off x="2343150" y="453390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10:18｜登錄 20×10 執行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noGrp="1"/>
          </p:cNvSpPr>
          <p:nvPr/>
        </p:nvSpPr>
        <p:spPr>
          <a:xfrm>
            <a:off x="2343150" y="497205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保存完整規模的 run 對應。9e855d0f417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noGrp="1"/>
          </p:cNvSpPr>
          <p:nvPr/>
        </p:nvSpPr>
        <p:spPr>
          <a:xfrm>
            <a:off x="2343150" y="545782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12:11｜每代統一產生 Java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noGrp="1"/>
          </p:cNvSpPr>
          <p:nvPr/>
        </p:nvSpPr>
        <p:spPr>
          <a:xfrm>
            <a:off x="2343150" y="589597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加入三階段流程與 generation_model。eb2d6e23693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noGrp="1"/>
          </p:cNvSpPr>
          <p:nvPr/>
        </p:nvSpPr>
        <p:spPr>
          <a:xfrm>
            <a:off x="2343150" y="63817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10:59｜主分支整合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noGrp="1"/>
          </p:cNvSpPr>
          <p:nvPr/>
        </p:nvSpPr>
        <p:spPr>
          <a:xfrm>
            <a:off x="2343150" y="68199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合併簡報資產、skill 與使用量控制。0009cafe6d3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14815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noGrp="1"/>
          </p:cNvSpPr>
          <p:nvPr/>
        </p:nvSpPr>
        <p:spPr>
          <a:xfrm>
            <a:off x="2609850" y="76581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以下採新版命名：Strategy / Prompt / Code Reflection</a:t>
            </a:r>
          </a:p>
        </p:txBody>
      </p:sp>
      <p:sp>
        <p:nvSpPr>
          <p:cNvPr id="3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C933EA0-FC68-4BB2-8191-07AF44FBD0C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9E1192-9888-415A-BE4A-B2C56A0456A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948C2950-5B08-44CB-922F-1E864429B6C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9A35D1B5-5E64-4AE5-AA7F-B0B0DABA31E3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BF9060A5-7C63-4935-88B6-C5F50915A59E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FC9AD3CF-1BD0-4425-8E25-55BE6BE3E22A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21775995-EB50-4C9D-A3E6-4656BFF880C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97632810-4E92-4D4C-AA85-63FFB9A94A1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V1–V3：評估設定與執行索引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 先檢查行為，20×10 進行較完整的 Code Reflection 評估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共同實驗條件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已登錄的兩組執行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8B；random 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mu_plus_lambda；static operators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/ Code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 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0.75；mutation 1.0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8×8、16×16、24×24 地圖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 3 rounds，交換玩家位置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5×3：5 代、族群大小 3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用於小型行為檢查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run：20260908_084706_819288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20×10：20 代、族群大小 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用於較完整的評估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run：20260908_101749_429776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執行索引不等於實驗成績；本份摘要沒有提供勝率或 fitness 結果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F777EF6-06D3-4357-B563-67C41EE72D8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CE54332A-894C-43AD-9091-E5D90A26DDB5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F0D768E6-F77D-49D8-A909-7E55D6B6714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8A7FA71F-70DB-425A-A2F8-EDBAF365589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47598297-8FA1-4F02-B520-EB8CE0E4E5AF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: 圓角 12">
            <a:extLst>
              <a:ext uri="{FF2B5EF4-FFF2-40B4-BE49-F238E27FC236}">
                <a16:creationId xmlns:a16="http://schemas.microsoft.com/office/drawing/2014/main" id="{8A0D0993-A041-4DA3-8467-A07F5ED0BEC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5" name="矩形 14">
            <a:extLst>
              <a:ext uri="{FF2B5EF4-FFF2-40B4-BE49-F238E27FC236}">
                <a16:creationId xmlns:a16="http://schemas.microsoft.com/office/drawing/2014/main" id="{D4D9184D-DF2F-4856-9DFD-5BFE014748DE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6" name="矩形: 圓角 16">
            <a:extLst>
              <a:ext uri="{FF2B5EF4-FFF2-40B4-BE49-F238E27FC236}">
                <a16:creationId xmlns:a16="http://schemas.microsoft.com/office/drawing/2014/main" id="{70A9F4D9-5C4E-4017-834D-8F55DD139A1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7" name="橢圓 17">
            <a:extLst>
              <a:ext uri="{FF2B5EF4-FFF2-40B4-BE49-F238E27FC236}">
                <a16:creationId xmlns:a16="http://schemas.microsoft.com/office/drawing/2014/main" id="{297FD697-036C-469D-A3B5-AACEDD03B886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8" name="矩形: 圓角 20">
            <a:extLst>
              <a:ext uri="{FF2B5EF4-FFF2-40B4-BE49-F238E27FC236}">
                <a16:creationId xmlns:a16="http://schemas.microsoft.com/office/drawing/2014/main" id="{05DA59AD-C4C0-45AA-A59E-82BB8A0AE70C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9" name="矩形 22">
            <a:extLst>
              <a:ext uri="{FF2B5EF4-FFF2-40B4-BE49-F238E27FC236}">
                <a16:creationId xmlns:a16="http://schemas.microsoft.com/office/drawing/2014/main" id="{B0885541-B094-46B5-86DB-AA680FBD453D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0" name="矩形: 圓角 24">
            <a:extLst>
              <a:ext uri="{FF2B5EF4-FFF2-40B4-BE49-F238E27FC236}">
                <a16:creationId xmlns:a16="http://schemas.microsoft.com/office/drawing/2014/main" id="{CD55E487-62B6-492A-A3E0-6B6AC7917C97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1" name="橢圓 25">
            <a:extLst>
              <a:ext uri="{FF2B5EF4-FFF2-40B4-BE49-F238E27FC236}">
                <a16:creationId xmlns:a16="http://schemas.microsoft.com/office/drawing/2014/main" id="{2A30D6FD-B181-4783-BC19-E445C8AC56EF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2" name="矩形: 圓角 28">
            <a:extLst>
              <a:ext uri="{FF2B5EF4-FFF2-40B4-BE49-F238E27FC236}">
                <a16:creationId xmlns:a16="http://schemas.microsoft.com/office/drawing/2014/main" id="{8A5FC5DE-A923-4DD3-9090-A3CC7989147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3" name="矩形 30">
            <a:extLst>
              <a:ext uri="{FF2B5EF4-FFF2-40B4-BE49-F238E27FC236}">
                <a16:creationId xmlns:a16="http://schemas.microsoft.com/office/drawing/2014/main" id="{038EEC44-CBB3-4277-AA34-5FA0EFEDE671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V4：每代分成三個階段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先固定整代 offspring 的選擇與操作，再集中完成 Java materialization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規劃整代子代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plan_offspring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parent selection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/ copy 結果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mutation assignment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反思與改寫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apply mutations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Strategy、Prompt Reflection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Code diagnosis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暫緩 Code revision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統一產生 Java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materialize Java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完成延後的 Code revision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與一般 Java generation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共用同一階段模型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noGrp="1"/>
          </p:cNvSpPr>
          <p:nvPr/>
        </p:nvSpPr>
        <p:spPr>
          <a:xfrm>
            <a:off x="55149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noGrp="1"/>
          </p:cNvSpPr>
          <p:nvPr/>
        </p:nvSpPr>
        <p:spPr>
          <a:xfrm>
            <a:off x="102774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noGrp="1"/>
          </p:cNvSpPr>
          <p:nvPr/>
        </p:nvSpPr>
        <p:spPr>
          <a:xfrm>
            <a:off x="1714500" y="7839075"/>
            <a:ext cx="12496800" cy="3810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diagnosis 在反思階段完成；Code revision 延後至 Java materialization 階段</a:t>
            </a:r>
          </a:p>
        </p:txBody>
      </p:sp>
      <p:sp>
        <p:nvSpPr>
          <p:cNvPr id="5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0B27035-AE5F-4887-91A1-DCE3DDAE9F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E15C6629-C420-4F01-B5D5-F8F8E40ACD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76170F2-0129-4256-B5B6-C16DB87BB58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1B78C0E7-9517-4E62-896A-1CBA0A4BE829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FDC4AB3A-B3FC-4DA0-9D30-59AB637A5B8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83435EF-C373-4688-86A3-6403F89DAAB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F074093-08E7-4AE6-B225-4200F5A1DF70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669D7AD2-9209-4C00-9518-7FFB38A22DBA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V4：模型職責可以分開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generation_model 為選填；未設定時沿用 model，保留單模型相容性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model：反思階段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generation_model：產碼階段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負責初始化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先完成整代操作分配與反思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diagnosis 在此完成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不在反思階段立即執行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延後的 Code revision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負責最終 Java materialization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若使用不同模型：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 llama.cpp runtime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於階段邊界切換，並執行 preflight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新執行、resume 與 inspection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都納入模型階段處理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主要改動是執行階段與模型分工；摘要未描述 fitness 或 lexicase 規則調整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8189139-BE7C-45C9-96F7-7305D9DCAFD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84201EF-4B00-43E4-9A25-558DEC030F2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2A669D8-7B29-4C64-B2B6-8155584D835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BC4A64A6-C965-4F12-B022-5370E5E9834B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2D76A01-08A9-4BEE-8133-9C89E8500CE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F3BD594-84DF-4A49-A824-9FD6E303DEF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8A4096A-B486-4467-B38F-65F35777050F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73D3C536-AA2C-41E1-B2FD-E398BEDC2616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V4：反思與修碼可分開追蹤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schema：eagle-code-reflection-v3 → v4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Diagnosis 與 revision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紀錄、續跑與測試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Diagnosis 先執行，revision 後執行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Revision 初始狀態可為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pending / not_required / not_run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分開記錄兩段 LLM 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code_reflector_llm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code_revision_llm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Compact record 記錄反思與修碼模型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status / attempts / error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SHA-256 / java_changed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新執行與 resume 共用三階段流程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create_offspring 保留相容 wrapper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測試涵蓋 deferred revision、流程順序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launcher、初始化與 runtime workflow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架構、操作指南與 artifact / timing schema 同步更新至新的 phase contract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9A90875-FAF7-4858-A824-A9046D74313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2874B6A-AFA2-4AE5-AA64-DD72AA7EB9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53A91C73-4F27-4541-B33B-E76112C75AE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326F057C-B9CB-458F-AA6B-51D19B23A08A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5884E067-3FAE-4AD9-B8CC-FC0C0A507CBB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361F2BBD-D586-4C92-B5C4-C8DBF1E84533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D09D15D0-0485-4F17-95B8-7FD216B87597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58E11808-9CD7-4066-97BD-CAE87F461C9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V4：單模型與雙模型比較設定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20×10 條件與 0.33 / 0.33 / 0.34 比例，聚焦 final Java model 差異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Ministral-only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 → Qwen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設定：01_ministral3_8b_only_20x10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設定：02_ministral3_8b_to_qwen3_5_9b_20x10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這裡比較的是已提交設定；摘要未提供兩種模型配置的執行成績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B4ED994-4E3A-4692-804F-96B89182C01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7AAE931E-A968-45D7-BD08-0DBEC52B0CFA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973FAD8-D782-4880-A801-AB169C45F43F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2DEEC3C2-50A2-4A17-95C6-33B7562191D7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10D47BC-912F-444F-9A4A-F9ABE3A7F650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28A876CB-EB61-4E1B-A7A7-663D26C2C21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CCFC3A59-3782-48D8-BA52-33939D05027A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9D56742-EBEF-4592-8BD7-0F222FCED79D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V5 整合與本次更新重點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截至 0009cafe6d3｜0907 後的重點是可重現性、整代流程與模型分工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合併帶入的內容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目前可以確認的改變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0910 簡報與 PowerPoint template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reference-matched presentation skill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Codex usage controller 開關與測試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依剩餘天數計算 reserve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AGENTS.md 控制器說明更新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合併時間不代表功能首次完成時間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來源提交包含 08/30、08/31 與 09/07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實驗可重現性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5×3、20×10 設定與執行索引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整代流程明確化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先規劃 → 再反思 → 統一產生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模型職責分離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與 generation 可用不同模型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並同步 artifacts、resume、文件與測試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相對 09/07 基準：5 個提交、43 個檔案；1,524 行新增、320 行刪除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4855D0D-2379-4AB2-A079-A9FB71921E6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6">
            <a:extLst>
              <a:ext uri="{FF2B5EF4-FFF2-40B4-BE49-F238E27FC236}">
                <a16:creationId xmlns:a16="http://schemas.microsoft.com/office/drawing/2014/main" id="{56EC181D-6D55-4FE2-8465-6477E53C97E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1" name="菱形 7">
            <a:extLst>
              <a:ext uri="{FF2B5EF4-FFF2-40B4-BE49-F238E27FC236}">
                <a16:creationId xmlns:a16="http://schemas.microsoft.com/office/drawing/2014/main" id="{C4F4EA3C-99FA-43EF-886C-A170556A9CE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標題 8">
            <a:extLst>
              <a:ext uri="{FF2B5EF4-FFF2-40B4-BE49-F238E27FC236}">
                <a16:creationId xmlns:a16="http://schemas.microsoft.com/office/drawing/2014/main" id="{9A3E47C8-241C-4652-ADFB-808B50C9EC4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760562" y="3957637"/>
            <a:ext cx="11353800" cy="1047750"/>
          </a:xfrm>
        </p:spPr>
        <p:txBody>
          <a:bodyPr lIns="57150" tIns="28575" rIns="57150" bIns="28575" anchor="ctr">
            <a:noAutofit/>
          </a:bodyPr>
          <a:lstStyle/>
          <a:p>
            <a: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Evolutionary Agent Generation through LLM-guided Exploration: A Case Study on </a:t>
            </a:r>
            <a:r>
              <a:rPr lang="en-US" altLang="zh-TW" sz="2000" kern="15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MicroRTS</a:t>
            </a: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r>
              <a:rPr lang="zh-TW" altLang="en-US" sz="2000" dirty="0"/>
              <a:t>大型語言模型引導探索的演化式代理生成</a:t>
            </a:r>
            <a:endParaRPr lang="zh-TW" altLang="en-US" sz="4800" dirty="0"/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52898EE-C1A9-41E4-B68C-6697ADA178F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460788526"/>
      </p:ext>
    </p:extLst>
  </p:cSld>
  <p:clrMapOvr>
    <a:masterClrMapping/>
  </p:clrMapOvr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1B3DE-B453-403C-828A-188673AE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20×10 生成模型比較：結果摘要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BF2F1-4AE0-46B0-A3E8-A5A9876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2026/09/10｜純 Ministral 與 Ministral 反思＋Qwen 最終 Java 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F79EA-C283-47B9-B92A-B24EAC2A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9FA11-D905-40C7-BBA0-DB27596D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00350"/>
            <a:ext cx="6238875" cy="4333875"/>
          </a:xfrm>
          <a:prstGeom xmlns:a="http://schemas.openxmlformats.org/drawingml/2006/main" prst="roundRect">
            <a:avLst>
              <a:gd name="adj" fmla="val 175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2A446-33B9-454B-AE86-2C4FFFAE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1942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 Ministral：遊戲表現較好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AA648-51C3-4958-9C83-2FE858DB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6237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1867A-9FA9-47B3-8921-758165AD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971925"/>
            <a:ext cx="56102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最終最佳 GP：−47.52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最終平均 GP：−58.99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 1,800 場：542 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本次流程較能把策略轉成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實際可取勝的 Java。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93D27-C831-48E5-8374-CF551C57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00350"/>
            <a:ext cx="6238875" cy="4333875"/>
          </a:xfrm>
          <a:prstGeom xmlns:a="http://schemas.openxmlformats.org/drawingml/2006/main" prst="roundRect">
            <a:avLst>
              <a:gd name="adj" fmla="val 175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BFEE4-83E6-4DDA-B5AC-5DB49DD7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1942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雙模型：生成流程較穩定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0ADDA-5E8A-4B73-B187-A04F9010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76237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DE4E9-46DC-4BB1-BB53-412128F7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71925"/>
            <a:ext cx="56102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生成成功率：97.5%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第一次成功率：91.5%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最終 1,800 場：5 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生成較穩定，尚未轉成</a:t>
            </a:r>
          </a:p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相應的遊戲表現。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965C3-92E5-4D83-8848-1A7F945B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3405E-8AC8-4081-88AF-E90E9630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這是兩次完整流程的觀察比較；初始 policy 未配對，不能視為模型能力定論。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045AE0E-A667-4F29-BE64-A844358C1D1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4282026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0D5AF-4819-4B27-848D-A4E71371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比較設定與有效性限制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DC185-8A1B-462C-99F7-24E67558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反思皆為 Ministral 3 8B；雙模型僅將最後 Java 生成交給 Qwen3.5 9B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46DE8-34DB-4CB4-ACF8-F4BE6D73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26594-6C97-4073-B7EC-69C74966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6238875" cy="4638675"/>
          </a:xfrm>
          <a:prstGeom xmlns:a="http://schemas.openxmlformats.org/drawingml/2006/main" prst="roundRect">
            <a:avLst>
              <a:gd name="adj" fmla="val 164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43DBB-A5D9-4860-948C-E298E32D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4322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共同實驗設定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D669D-D89C-4668-892C-E6BCB04A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8617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19E1C-6599-408D-82FC-0F301F02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95725"/>
            <a:ext cx="5610225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代 × 每代 10 offspring；族群 10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Strategy／Prompt／Code＝0.33／0.33／0.34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0.75；突變 1.0；seed 7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inherited_genotype；μ＋λ＋Lexicase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對手 × 3 地圖 × 3 rounds × 2 sides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每位候選人 180 場；族群共 1,800 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95CDD-EEFD-4168-A45B-3BF14971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24150"/>
            <a:ext cx="6238875" cy="4638675"/>
          </a:xfrm>
          <a:prstGeom xmlns:a="http://schemas.openxmlformats.org/drawingml/2006/main" prst="roundRect">
            <a:avLst>
              <a:gd name="adj" fmla="val 164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E0F67-B0E6-4D42-8D07-F41A3AD4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4322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解讀時必須保留的限制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F3FD4-8283-4E27-B961-251B2127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8617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D4934-F4C0-410A-890D-D7156A0C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95725"/>
            <a:ext cx="5610225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10 個 policy 僅 1 個 hash 相同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其餘 9 個 LLM policy 各自重新生成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兩邊 G0 共用相同 WorkerRush Java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每個條件只有 1 次 run，沒有跨 seed 變異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雙模型曾中斷後 resume；比較採逐代時間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沒有獨立 holdout 對手或地圖結果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DACD7-09FD-450B-953E-6108154C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E5092-97C6-4424-87F9-DC17AEA1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Run：純 20260908_121222_306081；雙 20260909_032729_611766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3C9A44C-96AB-46D3-85D7-C58058FA2A6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36</a:t>
            </a:fld>
          </a:p>
        </p:txBody>
      </p:sp>
    </p:spTree>
    <p:extLst>
      <p:ext uri="{BB962C8B-B14F-4D97-AF65-F5344CB8AC3E}">
        <p14:creationId xmlns:p14="http://schemas.microsoft.com/office/powerpoint/2010/main" val="205573447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60D2B-CED7-4367-9B4F-F4D128BC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最終族群：戰力與實作品質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090C8-3E68-4813-8442-94E3806C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GP 越高越好；strategy alignment 為 LLM 診斷分數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F2CEC-E907-4A8A-9955-A0DC46DE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428750" y="2705100"/>
          <a:ext xmlns:a="http://schemas.openxmlformats.org/drawingml/2006/main" cx="13068300" cy="4695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10300"/>
                <a:gridCol w="3429000"/>
                <a:gridCol w="3429000"/>
              </a:tblGrid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Ministral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Ministral→Qwen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best GP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-47.52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-81.91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mean GP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-58.99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-87.62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median GP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-53.61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-87.61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worst GP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-89.00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-90.36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gen0 → final mean GP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+31.55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+2.83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mean code quality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24.94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23.69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mean strategy alignment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6.2/10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2.0/10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function score mean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100.0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96.0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69583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unique strategy niches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59DEE-F780-4814-829D-D6C3543F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81270-BDF8-4A12-B45A-A7624EFB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最終平均 GP 差 28.63 分；兩邊 survivor 皆可執行，並完成 1,800 場。</a:t>
            </a:r>
          </a:p>
        </p:txBody>
      </p:sp>
      <p:sp xmlns:a="http://schemas.openxmlformats.org/drawingml/2006/main">
        <p:nvSpPr>
          <p:cNvPr id="1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6A5245A-492F-49C9-8F07-65B9D03617F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207802987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6713B-2072-446C-AC6B-B716AFFF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逐代 GP：改善幅度與出現時點不同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960D6-21DD-4019-94D6-3E4D62AB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純 Ministral 的主要突破在 G1–G8；雙模型改善集中在 G11–G12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3044F-72C0-4D70-A955-D191DDA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238250" y="2667000"/>
          <a:ext xmlns:a="http://schemas.openxmlformats.org/drawingml/2006/main" cx="6667500" cy="4457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5eaec8990845ec"/>
          </a:graphicData>
        </a:graphic>
      </p:graphicFrame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8096250" y="2667000"/>
          <a:ext xmlns:a="http://schemas.openxmlformats.org/drawingml/2006/main" cx="6667500" cy="4457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a28ceaa19f404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78CAC-355E-4656-B97D-D992F27B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43AAC-CCD0-4F47-866E-71C40F4B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Lexicase 依 10 個對手 cases 選擇；aggregate GP 是報告指標，不保證逐代單調上升。</a:t>
            </a:r>
          </a:p>
        </p:txBody>
      </p:sp>
      <p:sp xmlns:a="http://schemas.openxmlformats.org/drawingml/2006/main">
        <p:nvSpPr>
          <p:cNvPr id="1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7879416-1658-47BF-B142-53F82FCC2B5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92932157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AAA79-38A0-4056-B76A-33000E5D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逐代診斷：程式品質與策略 niche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24DE0-A02D-40C5-8E6C-8C0AC874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quality 與 niche 數分開呈現，避免把多樣性直接當成戰力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5222B-60D2-404B-A3CB-153F99FD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238250" y="2667000"/>
          <a:ext xmlns:a="http://schemas.openxmlformats.org/drawingml/2006/main" cx="6667500" cy="4457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6a4c9819464cb8"/>
          </a:graphicData>
        </a:graphic>
      </p:graphicFrame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8096250" y="2667000"/>
          <a:ext xmlns:a="http://schemas.openxmlformats.org/drawingml/2006/main" cx="6667500" cy="4457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7d8bfc46e54c8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87C43-7692-444F-AC6F-423D5BAF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11ED4-9CBC-4158-B0F1-99BA8180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 Ministral 的 CQ 由 49.71 降至 24.94；雙模型 niche 較多，但 GP 改善有限。</a:t>
            </a:r>
          </a:p>
        </p:txBody>
      </p:sp>
      <p:sp xmlns:a="http://schemas.openxmlformats.org/drawingml/2006/main">
        <p:nvSpPr>
          <p:cNvPr id="1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2047913-CB27-4EC4-9DC2-E971F70EE27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195437272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C63EF-88CE-4B56-A766-B6739402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最終族群對各對手的表現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BA951-1174-4AA5-ABB5-A466F92F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每列為 10 個 survivor 對該對手的 180 場合計；W–D–L＝勝–和–敗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BBC1B-BBA6-4367-9D93-70725618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428750" y="2705100"/>
          <a:ext xmlns:a="http://schemas.openxmlformats.org/drawingml/2006/main" cx="13068300" cy="4819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90800"/>
                <a:gridCol w="2143125"/>
                <a:gridCol w="2143125"/>
                <a:gridCol w="3095625"/>
                <a:gridCol w="3095625"/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 mean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雙模型 mean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 W–D–L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雙模型 W–D–L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93.28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5.79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162-18-0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0-180-0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78.53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2.42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135-44-1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3-171-6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RandomBiased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30.30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-14.50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73-86-21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2-148-30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-32.49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-97.23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54-12-114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0-3-177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HeavyRush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-18.24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-97.25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54-36-90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0-3-177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-77.77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-96.05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21-0-159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0-6-174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AllInBot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-76.14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-99.61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21-0-159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0-0-180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-94.79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-100.90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7-0-173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0-0-180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COAC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-81.75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-100.45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15-6-159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0-0-180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-102.28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-99.81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0-0-180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0-0-180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7D505-F560-433F-AFB4-6A0F079F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F8CFD-F894-4446-BDA3-AF3B190A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雙模型對 TMA 分數略高，但雙方皆 180 場全敗；不能視為實質競爭力優勢。</a:t>
            </a:r>
          </a:p>
        </p:txBody>
      </p:sp>
      <p:sp xmlns:a="http://schemas.openxmlformats.org/drawingml/2006/main">
        <p:nvSpPr>
          <p:cNvPr id="1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AE4E5E1-9D33-4529-9F75-3A4AEF659D5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66940499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27CFDB-DC94-4840-9457-D53FFA2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1,800 場族群對戰：勝場差異明顯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2A040-E5C7-4455-88A3-F626974A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evaluation matrix 的最終族群結果；不是獨立 holdout 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7DA3D-DBC1-4AD9-9960-63C7F833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571625" y="2714625"/>
          <a:ext xmlns:a="http://schemas.openxmlformats.org/drawingml/2006/main" cx="12763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63bf4b6431481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C627F-17A9-4010-AEE0-04F5A873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477000"/>
            <a:ext cx="11734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 Ministral　542 勝／202 和／1,056 敗　｜　勝率 30.11%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E7003-5896-4C6A-AECF-95A11544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029450"/>
            <a:ext cx="11734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雙模型　5 勝／511 和／1,284 敗　｜　勝率 0.28%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544BB-7A0A-4146-92E8-FA19E284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AA5CC-CD05-4F00-B108-F85996E0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雙模型：Passive 180 場全和，Random 171 和，RandomBiased 148 和。</a:t>
            </a:r>
          </a:p>
        </p:txBody>
      </p:sp>
      <p:sp xmlns:a="http://schemas.openxmlformats.org/drawingml/2006/main">
        <p:nvSpPr>
          <p:cNvPr id="1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A001FE1-05B8-441B-A5DC-6EDC09ECAA0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1317465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DDFA04-6716-4C35-A850-33C37A5A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生成可靠度：雙模型較常一次通過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18D45-D4B0-48E1-B1DE-EC437DC7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分開看 210 個 candidate 狀態與 200 個 offspring 生成紀錄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97B62-304A-4550-8920-6B464EDA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428750" y="2705100"/>
          <a:ext xmlns:a="http://schemas.openxmlformats.org/drawingml/2006/main" cx="13068300" cy="4686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10300"/>
                <a:gridCol w="3429000"/>
                <a:gridCol w="3429000"/>
              </a:tblGrid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Ministral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Ministral→Qwen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失敗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17/210（8.1%）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6/210（2.9%）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驗證／編譯／執行失敗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6／8／3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2／3／1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 record success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186/200（93.0%）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195/200（97.5%）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first-attempt selected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140/200（70.0%）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183/200（91.5%）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total attempts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323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一般 materialization success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136/142（95.8%）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136/138（98.6%）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8578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 Reflection direct generation success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50/58（86.2%）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59/62（95.2%）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8B8F9-4A81-4F16-9530-80B4B5DB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86B46-66C2-4708-A1EF-10132F44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生成／編譯成功不等於策略忠實；generation status 與 revision status 是不同檢查點。</a:t>
            </a:r>
          </a:p>
        </p:txBody>
      </p:sp>
      <p:sp xmlns:a="http://schemas.openxmlformats.org/drawingml/2006/main">
        <p:nvSpPr>
          <p:cNvPr id="1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A947D3D-2F3C-4B0B-AACC-800A467EED1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42</a:t>
            </a:fld>
          </a:p>
        </p:txBody>
      </p:sp>
    </p:spTree>
    <p:extLst>
      <p:ext uri="{BB962C8B-B14F-4D97-AF65-F5344CB8AC3E}">
        <p14:creationId xmlns:p14="http://schemas.microsoft.com/office/powerpoint/2010/main" val="212699718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BFB4D-AF13-4C21-AB0D-1284A695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mutation 的留存與 ΔGP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EB3214-A3B1-45E2-81CD-8850C898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survivor rate＝出生當代留存比例；ΔGP 只比較雙方皆 evaluated 的 parent–child pair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6A623-9B00-469A-8C7C-2EA39536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1428750" y="2705100"/>
          <a:ext xmlns:a="http://schemas.openxmlformats.org/drawingml/2006/main" cx="13068300" cy="4133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1190625"/>
                <a:gridCol w="1381125"/>
                <a:gridCol w="1524000"/>
                <a:gridCol w="1762125"/>
                <a:gridCol w="2524125"/>
                <a:gridCol w="1905000"/>
              </a:tblGrid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Run／Mutation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數量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applied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evaluated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留存率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正 ΔGP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median ΔGP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純／Strategy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34.8%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11/45（24.4%）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-8.03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純／Prompt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58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66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55.6%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25/66（37.9%）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-0.67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純／Code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58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47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43.1%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19/49（38.8%）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-0.27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雙／Strategy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41.3%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13/45（28.9%）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-0.43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雙／Prompt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39.4%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27/70（38.6%）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-0.19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雙／Code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58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51.6%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16/58（27.6%）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-0.42</a:t>
                      </a:r>
                    </a:p>
                  </a:txBody>
                  <a:tcPr marL="95250" marR="95250" marT="57150" marB="57150" anchor="ctr">
                    <a:solidFill>
                      <a:srgbClr val="FAECC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A5BF1-1828-495A-A362-6DF720AC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953250"/>
            <a:ext cx="12211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純 Ministral：Prompt 留存率最高 55.6%</a:t>
            </a:r>
          </a:p>
          <a:p xmlns:a="http://schemas.openxmlformats.org/drawingml/2006/main">
            <a:pPr algn="ctr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雙模型：Code 留存率最高 51.6%，正 ΔGP pair 為 27.6%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527FE-BF84-42A4-9D2E-881669B3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89BB5-238D-42C7-B41E-C085E1BE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aggregate ΔGP 不等於 operator reward；不能單憑這一欄判定 operator 好壞。</a:t>
            </a:r>
          </a:p>
        </p:txBody>
      </p:sp>
      <p:sp xmlns:a="http://schemas.openxmlformats.org/drawingml/2006/main">
        <p:nvSpPr>
          <p:cNvPr id="1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466A652-9CC9-451F-9EBA-E6073FAC075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43</a:t>
            </a:fld>
          </a:p>
        </p:txBody>
      </p:sp>
    </p:spTree>
    <p:extLst>
      <p:ext uri="{BB962C8B-B14F-4D97-AF65-F5344CB8AC3E}">
        <p14:creationId xmlns:p14="http://schemas.microsoft.com/office/powerpoint/2010/main" val="128003701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50869F-93F2-4AA9-AD69-71B0657F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Reflection：診斷與 revision 分開看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1A0C7-F462-4A42-B5D8-A2AB079D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兩邊 diagnosis 都由 Ministral 執行；雙模型僅把最後 Java revision 交給 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78007-E87E-4DA2-9F68-B14BAC09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F50B1-A275-46F8-95D6-E6771898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反思診斷（LLM 自評）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41717-E15C-46FD-91C8-A604B5CB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2412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Revision 執行結果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428750" y="3190875"/>
          <a:ext xmlns:a="http://schemas.openxmlformats.org/drawingml/2006/main" cx="6238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1762125"/>
                <a:gridCol w="1762125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診斷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雙模型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reflection success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57/58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60/62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faithful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11/57（19.3%）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7/60（11.7%）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needs simplification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55/57（96.5%）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60/60（100%）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game compliant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56/57（98.2%）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59/60（98.3%）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"/>
          <p:cNvGraphicFramePr/>
          <p:nvPr/>
        </p:nvGraphicFramePr>
        <p:xfrm>
          <a:off xmlns:a="http://schemas.openxmlformats.org/drawingml/2006/main" x="8258175" y="3190875"/>
          <a:ext xmlns:a="http://schemas.openxmlformats.org/drawingml/2006/main" cx="6238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1857375"/>
                <a:gridCol w="1857375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結果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Qwen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required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57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success／failed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47／10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60／0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applied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47/58（81.0%）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60/62（96.8%）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hash 改變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47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49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EB0E7-FD11-4B05-8701-3F5BDA5E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7067550"/>
            <a:ext cx="1192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的 60 次成功 revision 中，有 11 次沒有形成不同 Java。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71A3F-03CF-459A-B475-963D412A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72227-CEF6-4549-AB47-D45B7DDB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compliant、faithful 與 alignment 均有 LLM 診斷限制，不能當成獨立形式驗證。</a:t>
            </a:r>
          </a:p>
        </p:txBody>
      </p:sp>
      <p:sp xmlns:a="http://schemas.openxmlformats.org/drawingml/2006/main">
        <p:nvSpPr>
          <p:cNvPr id="1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82BC404-8B15-4925-AF39-ACCE378BB7F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44</a:t>
            </a:fld>
          </a:p>
        </p:txBody>
      </p:sp>
    </p:spTree>
    <p:extLst>
      <p:ext uri="{BB962C8B-B14F-4D97-AF65-F5344CB8AC3E}">
        <p14:creationId xmlns:p14="http://schemas.microsoft.com/office/powerpoint/2010/main" val="149247202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E7460F-F2B3-42B3-80F9-438CFD98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Prompt Reflection 與 evidence isolation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FC073-9C88-4B4F-A1AB-4C6ED3B2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Prompt rewrite 仍由 Ministral 執行；不能把其成功率差異直接歸因於 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5D427-FE4F-4310-89F1-AECBD5E3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C519E-F911-49C7-BC6A-1FA5E401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6238875" cy="4686300"/>
          </a:xfrm>
          <a:prstGeom xmlns:a="http://schemas.openxmlformats.org/drawingml/2006/main" prst="roundRect">
            <a:avLst>
              <a:gd name="adj" fmla="val 162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15C41F-0C24-48F2-B9B3-E30B3BDD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241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Prompt／Strategy 的執行結果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4D0E2-0BF7-4EF4-BC72-A82908B0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ED21A-3FDB-49AF-AF8E-4C77B076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76675"/>
            <a:ext cx="5610225" cy="3305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Strategy：兩邊皆 46/46 applied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Prompt 次數：純 72；雙 71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反思成功：純 72；雙 70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Rewrite 成功：58/72（80.6%）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 Rewrite：35/71（49.3%）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Parent／policy 分布、隨機輸出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 retry path 均可能影響結果。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0A179-51A4-4A4B-AE1D-7C9E8706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05100"/>
            <a:ext cx="6238875" cy="4686300"/>
          </a:xfrm>
          <a:prstGeom xmlns:a="http://schemas.openxmlformats.org/drawingml/2006/main" prst="roundRect">
            <a:avLst>
              <a:gd name="adj" fmla="val 162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02B0A-211E-49EB-B987-9158B548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241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保存的 request 顯示輸入隔離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A7DA4-AA45-44E5-9B6B-6F8E090B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671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0AE20-A6FD-4848-9056-AEA47CBF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76675"/>
            <a:ext cx="5610225" cy="3305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Code／Prompt 明確禁止使用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GP、對手分數、W/D/L、traces、logs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輸入包含策略／Java／遊戲規則，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structural／compile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可使用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比賽評論與 opponent evidence。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3F9FB-4459-4857-8F83-F7157168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94721-DDC1-440E-8D77-692124AB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Code／Prompt 不直接以勝負改寫內容；最後策略品質仍取決於 Java 實作。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2B11869-1D6B-4902-9154-F43F44409F5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45</a:t>
            </a:fld>
          </a:p>
        </p:txBody>
      </p:sp>
    </p:spTree>
    <p:extLst>
      <p:ext uri="{BB962C8B-B14F-4D97-AF65-F5344CB8AC3E}">
        <p14:creationId xmlns:p14="http://schemas.microsoft.com/office/powerpoint/2010/main" val="51629826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D10B8-6EC9-4266-ADE5-732EC27A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策略多樣性與 Java 忠實度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BD3A1-5D2F-41F7-8879-68D90E48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文字策略較多樣，不代表產生較多有效 Java 行為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4B66A-9F3D-4BA3-9F4B-EE72510E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1428750" y="2809875"/>
          <a:ext xmlns:a="http://schemas.openxmlformats.org/drawingml/2006/main" cx="6238875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1476375"/>
                <a:gridCol w="1476375"/>
              </a:tblGrid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多樣性／診斷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純 M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雙模型</a:t>
                      </a:r>
                    </a:p>
                  </a:txBody>
                  <a:tcPr marL="95250" marR="95250" marT="57150" marB="57150" anchor="ctr">
                    <a:solidFill>
                      <a:srgbClr val="DEB4BA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offspring Java hashes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171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72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policy hashes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Java hashes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strategy niches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strategy distance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0.50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0.71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  <a:tr h="61640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alignment（LLM）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6.2/10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2.0/10</a:t>
                      </a:r>
                    </a:p>
                  </a:txBody>
                  <a:tcPr marL="95250" marR="95250" marT="57150" marB="5715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5AF07-B91C-4274-AEA7-F632B9BB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09875"/>
            <a:ext cx="6238875" cy="4314825"/>
          </a:xfrm>
          <a:prstGeom xmlns:a="http://schemas.openxmlformats.org/drawingml/2006/main" prst="roundRect">
            <a:avLst>
              <a:gd name="adj" fmla="val 176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A4AED-F047-4E3D-9F17-FFC2C409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28950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人工抽查發現的語意缺口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F7D41-E4E8-455C-9BB6-D1DEE41A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771900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B6861A-6335-4B51-BB51-D7F2C38A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5610225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純 Ministral 最佳個體：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 attack 使用 nearestEnemy，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未先檢查 policy 指定的 range 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雙模型最佳個體：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要求 distance 2 生產 Worker，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但 MicroRTS 只能在相鄰格生產；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也未忠實實作該 fallback。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280D8-7D36-401E-B7BC-6B6F39C0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E1709-21E8-45BD-B0FF-B91A3EB3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Hash 計算的是程式差異；alignment 為支持性診斷，不能當成 ground truth。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5B3AFCC-8A60-4268-9D19-208799ECB8A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46</a:t>
            </a:fld>
          </a:p>
        </p:txBody>
      </p:sp>
    </p:spTree>
    <p:extLst>
      <p:ext uri="{BB962C8B-B14F-4D97-AF65-F5344CB8AC3E}">
        <p14:creationId xmlns:p14="http://schemas.microsoft.com/office/powerpoint/2010/main" val="185222433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43095-6A65-40BF-8087-DAECD50E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代表個體與 Java lineage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45320-1D3A-4427-9E0E-715C1728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本次最佳個體的來源與主要 GP 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15999-6601-4EA7-8AB6-FF690A65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BD295-9507-4569-A2A6-B1FE925F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6238875" cy="480060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D9BFD-369E-48E9-8229-001E038A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8860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 Ministral：G20 Code Reflection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3C59A-8618-41B4-B8D7-3F280E8E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290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81B8E2-845C-4C07-AE94-AAB1F0D4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38575"/>
            <a:ext cx="5610225" cy="3419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gen_0020_f5bea1248ef6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最佳 GP −47.518094；CQ 34.07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Alignment 7/10；Java 525 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Worker 經濟、最多兩座 Barracks，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Heavy／Ranged 生產與低 HP Worker 攻擊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G0 −89.83 → G2 −79.37 → G4 −70.57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→ G6 −57.06 → G8 −48.58 → G20 −47.52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8AF39-2053-48A1-B729-90EF143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67000"/>
            <a:ext cx="6238875" cy="480060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F7BC7-A58A-4828-B32E-27BD591B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860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雙模型：G19 Strategy Reflection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0292B-3976-466F-A395-B5C3155B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290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44140-6BAC-4FB1-9874-87B2B0DB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38575"/>
            <a:ext cx="5610225" cy="3419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gen_0019_887ced275cde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最佳 GP −81.908586；CQ 26.87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Alignment 2/10；Java 438 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經濟與防守優先，Light 防線、Heavy 反制，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進攻條件有限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G0 −90.31 → G5 −86.69 → G8 −85.80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→ G12 −81.58 → G19 −81.91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F4F9DA-61D7-4669-834E-94088B96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61CD03-F679-432D-BB1F-F9295EE6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純 Ministral 的主要突破集中在 G2–G8；後段以保留與局部調整為主。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D9C8D27-FCCE-4705-8223-D03E18E1488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210868687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944B6-3413-4ACF-B188-3C7EFFCC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時間成本：生成較快，對戰耗時更長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5285B-52E4-47D5-A53A-7CB6C55F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使用 committed generation timing；雙模型曾 resume，不直接比較牆鐘時間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E9E87-6620-4180-87C0-32A2AF8E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1381125" y="2714625"/>
          <a:ext xmlns:a="http://schemas.openxmlformats.org/drawingml/2006/main" cx="87630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3114b3890149a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C1084-1705-4D2D-AA92-68DFCEC9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762250"/>
            <a:ext cx="4000500" cy="4238625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35102-6CD9-49FC-9345-B781F426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2981325"/>
            <a:ext cx="3524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G1–G20 合計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F7651-BB07-4047-934A-A9AAA720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724275"/>
            <a:ext cx="3429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E79CB-39E0-4B13-900D-EB03552A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3933825"/>
            <a:ext cx="33718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純 Ministral：14.95 h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雙模型：15.56 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雙模型多 36.6 分鐘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約增加 4.1%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生成 LLM stage 少 41.5%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MicroRTS matches 多 111.5%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1129F-08DC-46CE-9EB8-434673F1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5F695-D066-431F-A909-6912445E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各欄位不能相加；matches 包含於 evaluation。較長比賽抵銷生成節省，是合理推論。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3E6D185-AA5C-4598-96C7-E1036776FE2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201242183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90CCDE-211E-4BC3-8743-140C386E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整體判斷：分開看四層品質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B5B18-4644-4441-869E-BE3A279B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本次端到端結果支持先用純 Ministral 長跑，但不能推廣成所有條件的模型排名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6344E-30BE-4BFE-A2A2-EB71BEAF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EC967-81F4-47B3-B034-87FC997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009900" cy="31908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7E3E3-A129-4F6D-8D43-43F45033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219450"/>
            <a:ext cx="2533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生成與編譯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3CA3B-1C91-4B9C-AA3F-7C297A34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62400"/>
            <a:ext cx="2438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6BF15-C317-4CBE-B262-799E16EF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719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雙模型成功率較高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首次成功 91.5%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63F-DBD3-466F-9AC0-F82D7DA1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AB7B8-0C8E-4D9B-A526-B1852405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0375"/>
            <a:ext cx="3009900" cy="31908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25838-C4E3-40F9-93F3-A43054D0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219450"/>
            <a:ext cx="2533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遊戲合法性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65288-A606-4FBC-942D-9470A9E6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62400"/>
            <a:ext cx="2438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B0884-8CE2-4C17-807E-CEE566F6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1719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通過編譯不足以證明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所有遊戲動作皆合法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6CE328-6329-4025-94E2-00E59804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00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4132B-BAD4-428F-BFDE-4F4303D1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0375"/>
            <a:ext cx="3009900" cy="31908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B0D0F-4157-4F27-ADD7-16A06090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219450"/>
            <a:ext cx="2533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策略忠實度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7C55F2-5515-4114-9D81-21A5A4BA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62400"/>
            <a:ext cx="2438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A56B7-C33D-4F78-B523-E8CA7D02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1719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LLM 診斷：6.2 vs 2.0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仍需逐條 rule 檢查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DE49B-5578-4D83-8C71-112C5271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400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4FCF8A-DAFE-40E2-B66B-7E07806A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3000375"/>
            <a:ext cx="3009900" cy="3190875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1DC539-6E79-41EE-8709-2D6090AA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3219450"/>
            <a:ext cx="2533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遊戲表現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5EAD2-CD9C-4E1A-B1CD-0282B9A5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3962400"/>
            <a:ext cx="2438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E054A-994F-4722-B080-F91E0FCD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01475" y="41719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純 Ministral 較佳</a:t>
            </a:r>
          </a:p>
          <a:p xmlns:a="http://schemas.openxmlformats.org/drawingml/2006/main">
            <a:pPr algn="l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542 勝 vs 5 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5FF508-17FE-4625-99C6-0F06136B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838950"/>
            <a:ext cx="11163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單一層成功，不能代替下一層的驗證。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EE19AF-E94F-46EC-B647-C532D499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608750-15D6-4C00-B032-79FEE589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未配對、各條件只有一次 run；不能把所有差異歸因於生成模型。</a:t>
            </a:r>
          </a:p>
        </p:txBody>
      </p:sp>
      <p:sp xmlns:a="http://schemas.openxmlformats.org/drawingml/2006/main"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0562BCC-4536-4017-A16B-E457C3800AF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49</a:t>
            </a:fld>
          </a:p>
        </p:txBody>
      </p:sp>
    </p:spTree>
    <p:extLst>
      <p:ext uri="{BB962C8B-B14F-4D97-AF65-F5344CB8AC3E}">
        <p14:creationId xmlns:p14="http://schemas.microsoft.com/office/powerpoint/2010/main" val="166385070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2E8DF-F749-43F9-BE26-50502F55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287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5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下一步：配對比較與共同檢查關卡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9F1F5-16EA-437B-91F2-3E85027F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533525"/>
            <a:ext cx="11925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依來源分析的優先順序，先排除混淆因子，再改善生成品質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CBADD-DB07-43C5-AB2A-B10E4A8E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24229-3B46-464A-8E69-23DDFC21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6238875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E7E27-F9D7-4C67-88DB-E0A103E3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8860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比較與評估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7A85E-A619-4397-84F4-447DF8C8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290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9CD75-E3D4-4634-AF74-7DF0213B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38575"/>
            <a:ext cx="56102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正式長跑先使用純 Ministral</a:t>
            </a:r>
          </a:p>
          <a:p xmlns:a="http://schemas.openxmlformats.org/drawingml/2006/main"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凍結完整 G0：policy／prompt／Java／hash</a:t>
            </a:r>
          </a:p>
          <a:p xmlns:a="http://schemas.openxmlformats.org/drawingml/2006/main"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配對比較，至少 3–5 個 EA seeds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新增未參與 selection 的 holdout 評估</a:t>
            </a:r>
          </a:p>
          <a:p xmlns:a="http://schemas.openxmlformats.org/drawingml/2006/main">
            <a:pPr algn="l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分開報告生成、合法性、對齊與戰力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5F5AB-1620-4ADC-A86D-377DB58E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67000"/>
            <a:ext cx="6238875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3E57A-262F-499B-9E74-B6B9E863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86075"/>
            <a:ext cx="5762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生成後的共同檢查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014E4-1509-4FAA-B8E5-6936705C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29025"/>
            <a:ext cx="5667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14288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64C98-7A7E-4FF8-8233-3E974DBB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38575"/>
            <a:ext cx="56102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所有 mutation 都通過同一個 gate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檢查生產相鄰、單位能力、攻擊距離與歸屬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檢查 policy rule 對應可到達的 code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先做最小 prompt 適配：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縮短提示、逐條 rule-to-code checklist</a:t>
            </a:r>
          </a:p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不先增加更多 performance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DB2AB-251D-4DE0-9DA7-EB36E67D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7533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14288">
            <a:solidFill>
              <a:srgbClr val="F4DEA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DBE3C-86F6-488B-A049-922CD2EE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7800975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來源：兩個 run 的 committed artifacts（共 420 candidates）；完整數表與章節附於講者備註。</a:t>
            </a:r>
          </a:p>
        </p:txBody>
      </p:sp>
      <p:sp xmlns:a="http://schemas.openxmlformats.org/drawingml/2006/main"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239A67E-2DE1-4736-978E-17F854116DF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50</a:t>
            </a:fld>
          </a:p>
        </p:txBody>
      </p:sp>
    </p:spTree>
    <p:extLst>
      <p:ext uri="{BB962C8B-B14F-4D97-AF65-F5344CB8AC3E}">
        <p14:creationId xmlns:p14="http://schemas.microsoft.com/office/powerpoint/2010/main" val="742647611"/>
      </p:ext>
    </p:extLst>
  </p:cSld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50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