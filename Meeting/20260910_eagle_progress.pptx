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charts/chart1.xml" ContentType="application/vnd.openxmlformats-officedocument.drawingml.chart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charts/chart2.xml" ContentType="application/vnd.openxmlformats-officedocument.drawingml.chart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379d67a37de4c12" /><Relationship Type="http://schemas.openxmlformats.org/officeDocument/2006/relationships/extended-properties" Target="/docProps/app.xml" Id="R68ab8a7071d94994" /><Relationship Type="http://schemas.openxmlformats.org/officeDocument/2006/relationships/officeDocument" Target="/ppt/presentation.xml" Id="R41b2dabb90e144b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1d9b393c71d4544"/>
  </p:sldMasterIdLst>
  <p:notesMasterIdLst>
    <p:notesMasterId xmlns:r="http://schemas.openxmlformats.org/officeDocument/2006/relationships" r:id="R3190d48748a54f1a"/>
  </p:notesMasterIdLst>
  <p:sldIdLst>
    <p:sldId xmlns:r="http://schemas.openxmlformats.org/officeDocument/2006/relationships" id="256" r:id="R2e91686703024558"/>
    <p:sldId xmlns:r="http://schemas.openxmlformats.org/officeDocument/2006/relationships" id="257" r:id="Rbef9af53f72d4ff2"/>
    <p:sldId xmlns:r="http://schemas.openxmlformats.org/officeDocument/2006/relationships" id="258" r:id="Rb0eb66b70fd64e8e"/>
    <p:sldId xmlns:r="http://schemas.openxmlformats.org/officeDocument/2006/relationships" id="259" r:id="R5bf6c111969e477a"/>
    <p:sldId xmlns:r="http://schemas.openxmlformats.org/officeDocument/2006/relationships" id="260" r:id="Re583e5e8c99a4359"/>
    <p:sldId xmlns:r="http://schemas.openxmlformats.org/officeDocument/2006/relationships" id="261" r:id="R4c43e628309a412c"/>
    <p:sldId xmlns:r="http://schemas.openxmlformats.org/officeDocument/2006/relationships" id="262" r:id="R353b726dff15429f"/>
    <p:sldId xmlns:r="http://schemas.openxmlformats.org/officeDocument/2006/relationships" id="263" r:id="Rc7a148ec38a24f49"/>
    <p:sldId xmlns:r="http://schemas.openxmlformats.org/officeDocument/2006/relationships" id="264" r:id="R62a5750f87684537"/>
    <p:sldId xmlns:r="http://schemas.openxmlformats.org/officeDocument/2006/relationships" id="265" r:id="R720821b1a95c4e46"/>
    <p:sldId xmlns:r="http://schemas.openxmlformats.org/officeDocument/2006/relationships" id="266" r:id="R1f08db12732b4d3c"/>
    <p:sldId xmlns:r="http://schemas.openxmlformats.org/officeDocument/2006/relationships" id="267" r:id="R2296ae9ca8a140a3"/>
    <p:sldId xmlns:r="http://schemas.openxmlformats.org/officeDocument/2006/relationships" id="268" r:id="R1cbef764d63c4e56"/>
    <p:sldId xmlns:r="http://schemas.openxmlformats.org/officeDocument/2006/relationships" id="269" r:id="R5c9f4a0338c04156"/>
    <p:sldId xmlns:r="http://schemas.openxmlformats.org/officeDocument/2006/relationships" id="270" r:id="Rbced5efa57dc4bbb"/>
    <p:sldId xmlns:r="http://schemas.openxmlformats.org/officeDocument/2006/relationships" id="271" r:id="R86c6af48498640f4"/>
    <p:sldId xmlns:r="http://schemas.openxmlformats.org/officeDocument/2006/relationships" id="272" r:id="R92ceda0217ea4bfc"/>
    <p:sldId xmlns:r="http://schemas.openxmlformats.org/officeDocument/2006/relationships" id="273" r:id="Re8a17a8221f14dce"/>
    <p:sldId xmlns:r="http://schemas.openxmlformats.org/officeDocument/2006/relationships" id="274" r:id="R8180b465628d4abe"/>
    <p:sldId xmlns:r="http://schemas.openxmlformats.org/officeDocument/2006/relationships" id="275" r:id="R1cf081d97e514edb"/>
    <p:sldId xmlns:r="http://schemas.openxmlformats.org/officeDocument/2006/relationships" id="276" r:id="R1d198354f2fd46bb"/>
    <p:sldId xmlns:r="http://schemas.openxmlformats.org/officeDocument/2006/relationships" id="277" r:id="Rf6ea0d3df5c74ed8"/>
    <p:sldId xmlns:r="http://schemas.openxmlformats.org/officeDocument/2006/relationships" id="278" r:id="R3612b5c395864d97"/>
    <p:sldId xmlns:r="http://schemas.openxmlformats.org/officeDocument/2006/relationships" id="279" r:id="Rbc43428e0e9e4992"/>
    <p:sldId xmlns:r="http://schemas.openxmlformats.org/officeDocument/2006/relationships" id="280" r:id="Rdc16da7742264639"/>
    <p:sldId xmlns:r="http://schemas.openxmlformats.org/officeDocument/2006/relationships" id="281" r:id="R5d830c906c7643cd"/>
  </p:sldIdLst>
  <p:sldSz cx="15925800" cy="896302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b77105676ae449b" /><Relationship Type="http://schemas.openxmlformats.org/officeDocument/2006/relationships/slideMaster" Target="/ppt/slideMasters/slideMaster1.xml" Id="R61d9b393c71d4544" /><Relationship Type="http://schemas.openxmlformats.org/officeDocument/2006/relationships/notesMaster" Target="/ppt/notesMasters/notesMaster1.xml" Id="R3190d48748a54f1a" /><Relationship Type="http://schemas.openxmlformats.org/officeDocument/2006/relationships/presProps" Target="/ppt/presProps.xml" Id="Rb882a36828cb4c60" /><Relationship Type="http://schemas.openxmlformats.org/officeDocument/2006/relationships/tableStyles" Target="/ppt/tableStyles.xml" Id="R7dc80676ec31410b" /><Relationship Type="http://schemas.openxmlformats.org/officeDocument/2006/relationships/slide" Target="/ppt/slides/slide1.xml" Id="R2e91686703024558" /><Relationship Type="http://schemas.openxmlformats.org/officeDocument/2006/relationships/slide" Target="/ppt/slides/slide2.xml" Id="Rbef9af53f72d4ff2" /><Relationship Type="http://schemas.openxmlformats.org/officeDocument/2006/relationships/slide" Target="/ppt/slides/slide3.xml" Id="Rb0eb66b70fd64e8e" /><Relationship Type="http://schemas.openxmlformats.org/officeDocument/2006/relationships/slide" Target="/ppt/slides/slide4.xml" Id="R5bf6c111969e477a" /><Relationship Type="http://schemas.openxmlformats.org/officeDocument/2006/relationships/slide" Target="/ppt/slides/slide5.xml" Id="Re583e5e8c99a4359" /><Relationship Type="http://schemas.openxmlformats.org/officeDocument/2006/relationships/slide" Target="/ppt/slides/slide6.xml" Id="R4c43e628309a412c" /><Relationship Type="http://schemas.openxmlformats.org/officeDocument/2006/relationships/slide" Target="/ppt/slides/slide7.xml" Id="R353b726dff15429f" /><Relationship Type="http://schemas.openxmlformats.org/officeDocument/2006/relationships/slide" Target="/ppt/slides/slide8.xml" Id="Rc7a148ec38a24f49" /><Relationship Type="http://schemas.openxmlformats.org/officeDocument/2006/relationships/slide" Target="/ppt/slides/slide9.xml" Id="R62a5750f87684537" /><Relationship Type="http://schemas.openxmlformats.org/officeDocument/2006/relationships/slide" Target="/ppt/slides/slide10.xml" Id="R720821b1a95c4e46" /><Relationship Type="http://schemas.openxmlformats.org/officeDocument/2006/relationships/slide" Target="/ppt/slides/slide11.xml" Id="R1f08db12732b4d3c" /><Relationship Type="http://schemas.openxmlformats.org/officeDocument/2006/relationships/slide" Target="/ppt/slides/slide12.xml" Id="R2296ae9ca8a140a3" /><Relationship Type="http://schemas.openxmlformats.org/officeDocument/2006/relationships/slide" Target="/ppt/slides/slide13.xml" Id="R1cbef764d63c4e56" /><Relationship Type="http://schemas.openxmlformats.org/officeDocument/2006/relationships/slide" Target="/ppt/slides/slide14.xml" Id="R5c9f4a0338c04156" /><Relationship Type="http://schemas.openxmlformats.org/officeDocument/2006/relationships/slide" Target="/ppt/slides/slide15.xml" Id="Rbced5efa57dc4bbb" /><Relationship Type="http://schemas.openxmlformats.org/officeDocument/2006/relationships/slide" Target="/ppt/slides/slide16.xml" Id="R86c6af48498640f4" /><Relationship Type="http://schemas.openxmlformats.org/officeDocument/2006/relationships/slide" Target="/ppt/slides/slide17.xml" Id="R92ceda0217ea4bfc" /><Relationship Type="http://schemas.openxmlformats.org/officeDocument/2006/relationships/slide" Target="/ppt/slides/slide18.xml" Id="Re8a17a8221f14dce" /><Relationship Type="http://schemas.openxmlformats.org/officeDocument/2006/relationships/slide" Target="/ppt/slides/slide19.xml" Id="R8180b465628d4abe" /><Relationship Type="http://schemas.openxmlformats.org/officeDocument/2006/relationships/slide" Target="/ppt/slides/slide20.xml" Id="R1cf081d97e514edb" /><Relationship Type="http://schemas.openxmlformats.org/officeDocument/2006/relationships/slide" Target="/ppt/slides/slide21.xml" Id="R1d198354f2fd46bb" /><Relationship Type="http://schemas.openxmlformats.org/officeDocument/2006/relationships/slide" Target="/ppt/slides/slide22.xml" Id="Rf6ea0d3df5c74ed8" /><Relationship Type="http://schemas.openxmlformats.org/officeDocument/2006/relationships/slide" Target="/ppt/slides/slide23.xml" Id="R3612b5c395864d97" /><Relationship Type="http://schemas.openxmlformats.org/officeDocument/2006/relationships/slide" Target="/ppt/slides/slide24.xml" Id="Rbc43428e0e9e4992" /><Relationship Type="http://schemas.openxmlformats.org/officeDocument/2006/relationships/slide" Target="/ppt/slides/slide25.xml" Id="Rdc16da7742264639" /><Relationship Type="http://schemas.openxmlformats.org/officeDocument/2006/relationships/slide" Target="/ppt/slides/slide26.xml" Id="R5d830c906c7643c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a4f0638b1374b4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PMingLiU"/>
        <a:ea typeface="PMingLiU"/>
        <a:cs typeface="PMingLiU"/>
      </a:majorFont>
      <a:minorFont>
        <a:latin typeface="PMingLiU"/>
        <a:ea typeface="PMingLiU"/>
        <a:cs typeface="PMingLiU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3ac7b1492f8491a" /><Relationship Type="http://schemas.openxmlformats.org/officeDocument/2006/relationships/notesMaster" Target="/ppt/notesMasters/notesMaster1.xml" Id="R32ed2cb530994cc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46676d79af74dd3" /><Relationship Type="http://schemas.openxmlformats.org/officeDocument/2006/relationships/notesMaster" Target="/ppt/notesMasters/notesMaster1.xml" Id="Raf53dec0b666467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6ccc945a174406c" /><Relationship Type="http://schemas.openxmlformats.org/officeDocument/2006/relationships/notesMaster" Target="/ppt/notesMasters/notesMaster1.xml" Id="R51384d28745949f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847b430469b4d91" /><Relationship Type="http://schemas.openxmlformats.org/officeDocument/2006/relationships/notesMaster" Target="/ppt/notesMasters/notesMaster1.xml" Id="Rf10e2a2dfc0448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996087a96b4407a" /><Relationship Type="http://schemas.openxmlformats.org/officeDocument/2006/relationships/notesMaster" Target="/ppt/notesMasters/notesMaster1.xml" Id="R88e728a14fd84c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6526ded929d4d17" /><Relationship Type="http://schemas.openxmlformats.org/officeDocument/2006/relationships/notesMaster" Target="/ppt/notesMasters/notesMaster1.xml" Id="Ra74f10d4306d466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80d1cd389aa4209" /><Relationship Type="http://schemas.openxmlformats.org/officeDocument/2006/relationships/notesMaster" Target="/ppt/notesMasters/notesMaster1.xml" Id="R4a3e8a530c824ce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c31c7f730c54e18" /><Relationship Type="http://schemas.openxmlformats.org/officeDocument/2006/relationships/notesMaster" Target="/ppt/notesMasters/notesMaster1.xml" Id="Rffcf756a65e141b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37ca76eac014d2b" /><Relationship Type="http://schemas.openxmlformats.org/officeDocument/2006/relationships/notesMaster" Target="/ppt/notesMasters/notesMaster1.xml" Id="R2640032f8860432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9d70334e918499b" /><Relationship Type="http://schemas.openxmlformats.org/officeDocument/2006/relationships/notesMaster" Target="/ppt/notesMasters/notesMaster1.xml" Id="Re69e9ea833374dc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ef6378256584d6d" /><Relationship Type="http://schemas.openxmlformats.org/officeDocument/2006/relationships/notesMaster" Target="/ppt/notesMasters/notesMaster1.xml" Id="R749379537b54436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c5762adcb26416a" /><Relationship Type="http://schemas.openxmlformats.org/officeDocument/2006/relationships/notesMaster" Target="/ppt/notesMasters/notesMaster1.xml" Id="Rfa875c2c7e524fc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583ec6a340a44ea" /><Relationship Type="http://schemas.openxmlformats.org/officeDocument/2006/relationships/notesMaster" Target="/ppt/notesMasters/notesMaster1.xml" Id="R9264fba53a40466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0927f21680a4dc7" /><Relationship Type="http://schemas.openxmlformats.org/officeDocument/2006/relationships/notesMaster" Target="/ppt/notesMasters/notesMaster1.xml" Id="R2af02b690c414d4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ac1c56542ee4225" /><Relationship Type="http://schemas.openxmlformats.org/officeDocument/2006/relationships/notesMaster" Target="/ppt/notesMasters/notesMaster1.xml" Id="R206258405bef473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c56bbd7b259482d" /><Relationship Type="http://schemas.openxmlformats.org/officeDocument/2006/relationships/notesMaster" Target="/ppt/notesMasters/notesMaster1.xml" Id="R3ba7260cd4b34dc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26d4bfc9ff0417d" /><Relationship Type="http://schemas.openxmlformats.org/officeDocument/2006/relationships/notesMaster" Target="/ppt/notesMasters/notesMaster1.xml" Id="R2ea575adc6464f8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7ec842019884419" /><Relationship Type="http://schemas.openxmlformats.org/officeDocument/2006/relationships/notesMaster" Target="/ppt/notesMasters/notesMaster1.xml" Id="R104b3968a1d9452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e2933bd8c24486a" /><Relationship Type="http://schemas.openxmlformats.org/officeDocument/2006/relationships/notesMaster" Target="/ppt/notesMasters/notesMaster1.xml" Id="R196a0ad5d59540f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df24155491e4cd9" /><Relationship Type="http://schemas.openxmlformats.org/officeDocument/2006/relationships/notesMaster" Target="/ppt/notesMasters/notesMaster1.xml" Id="R83029c28e546472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c0afb898d5347e7" /><Relationship Type="http://schemas.openxmlformats.org/officeDocument/2006/relationships/notesMaster" Target="/ppt/notesMasters/notesMaster1.xml" Id="R9682e4865ffd4b0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3bf5fffdcaa47ae" /><Relationship Type="http://schemas.openxmlformats.org/officeDocument/2006/relationships/notesMaster" Target="/ppt/notesMasters/notesMaster1.xml" Id="Rfaa2ee7ac8d5488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c1c5219be82405d" /><Relationship Type="http://schemas.openxmlformats.org/officeDocument/2006/relationships/notesMaster" Target="/ppt/notesMasters/notesMaster1.xml" Id="Rcabe81b8b91c417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f0d5fa9bb3547ac" /><Relationship Type="http://schemas.openxmlformats.org/officeDocument/2006/relationships/notesMaster" Target="/ppt/notesMasters/notesMaster1.xml" Id="Rceb857caa2954f0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98ddf08a87b46bb" /><Relationship Type="http://schemas.openxmlformats.org/officeDocument/2006/relationships/notesMaster" Target="/ppt/notesMasters/notesMaster1.xml" Id="R17e6d1e073db41a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18ea1b5f6304b9e" /><Relationship Type="http://schemas.openxmlformats.org/officeDocument/2006/relationships/notesMaster" Target="/ppt/notesMasters/notesMaster1.xml" Id="R45b223be29a2465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1–9; 0904 早期重跑，slides 1–14; 0904 串接驗證與 meta-prompt，slides 1–14; 0907 比例實驗摘要，slides 1–5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報告日期為 2026-09-10；涵蓋的實驗與變更截至 2026-09-07。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Git ec8205e8, fb78df2c, ae5ce53d, c52b1bf4, c133fcb9, aad4aa97, 7e9a4dc6, 084f0d7c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日期為提交日期。09/07 AOS 設定已登錄 run 20260907_123426_587527；本次來源簡報未提供其結果。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1–14; Git ae5ce53d, c133fcb9, 7e9a4dc6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09/04 17:14 驗證先出現兩次安全拒絕，之後 c133fcb9 又修正距離判讀與 schema。這份 10/12 結果不可當作最後修補版的重跑成績。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圖以本期 inherited_genotype + llm_generated_policies 配置為準。Generation 0 不呼叫 Java Generator；從後續 offspring 起，交叉與可選 mutation 後一定通過 Generator。保留父代不會使父代 Java 重新生成。靜態模式不更新 credit；AOS reward 不新增 fitness objective。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重製 20260830_eagle_genotype_phenotype.png。三個 genotype component 各自有 parent provenance；mutation 不直接改 inherited Java。新 phenotype 生成成功後，可成為下一代獨立繼承的 Java component。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Meeting/20260830_eagle_initial_policy_experiments.png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歷史原圖條件：Ministral3 8B，population 10，20 generations，Static Strategy/Code 0.5/0.5，Inherited Java，(n+n) → n。Aggregate：Blank -99.916780；Random -94.175199；Worker Rush -61.832558。三组 Final Test 每組 600 場。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本期三組比例配置均使用 llm_generated_policies。不同 run 的九個 LLM policies 並未固定為相同內容，這是比例比較的混雜因素。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configs/experiments/0904_3_reflection_ratios/; eagle/aos.py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兩種 adaptive reward 都不進入 lexicase 的十個 fitness cases。AOS comparison parent 隨 component provenance 決定。AOS_OPPONENT reward=(improved-regressed)/compared；HEAD2HEAD reward=(wins+0.5*draws)/valid。本期0907配置採 opponent，minimum probability 0.10。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configs/experiments/0904_3_reflection_ratios/; 0904 串接驗證與 meta-prompt，slides 1–14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三者都不直接改 inherited_java；後續由 Generator 更新 Java phenotype。Code/Compliance generation-rule delta 恰好新增一条、最多移除一条，最終至多十条；不得寫入具體策略、單位或 API symbol。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1–9; 0904 早期重跑，slides 1–14; 0904 串接驗證與 meta-prompt，slides 1–14; 0907 比例實驗摘要，slides 1–5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各 operator 有自己的 evidence boundary，「固定」是每種 operator 的三個 trial 具有相同根輸入。不同 operator 不代表接收完全相同 payload。反思後未生成新 Java 或重跑對戰。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由原始九頁 trial 狀態彙總：S1/S2/S3 applied；C1/C2 applied、C3 rolled back；B1/B2/B3 applied。合計8/9是本簡報由逐trial結果加總。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策略型態改變本身是允許的；問題是非法機制、矛盾條件與缺乏 evidence grounding。Code Reviewer 對現有 Java 的判讀也含隱含假設。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早期重跑，slides 1–14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Run 20260904_094043_948222_worker_rush_three_reflections。九次 inherited Java hash 相同。基準 180 場、10 opponents、3maps×3rounds×2sides；與0903為不同baseline run，不可視為完全相同量測。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早期重跑，slides 1–14 slides 5–7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三次 Strategy 都只改 policy gene，root request set 相同。規則資訊已明列 only Worker builds，模型仍可能違反。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早期重跑，slides 1–14 slides 8–14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 slides 3, 7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Last completed validation: 20260904_171444。3 Strategy children +3 Code children。12 trials 的 inherited Java SHA256=9c4f1643…e668，保持相同。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 slides 2–7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Compliance trial2/4 actual_changed_fields=[]。檢查證明狀態轉換与scope，不證明策略強度。Response attempts: Strategy36、Code8、Compliance23，含各角色及重試，非trial數。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 slides 8,14; Git c133fcb9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原簡報另列當時測試445 passed、1 skipped；本次未重新執行程式測試，因此不把該數字作為本次驗證結果。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1–5; configs/experiments/0904_3_reflection_ratios/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Runs依比例順序為20260904_194420_684640、20260905_092717_344449、20260906_164007_089091。Temperature0.2，initial_policy_temperature0.8。各run九個初始LLM policies不同，比例不是唯一完全受控因素。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 2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GP越高越好；final mean GP為最後選留下的10個survivors平均。最佳GP與Final Test屬於各run選定champion。LLM時間為累積呼叫時間，不是run wall-clock。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 3 and native chart cache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三條曲線直接取自0907簡報內嵌圖表，原表僅保留一位小數。G20精確摘要值為-65.41、-53.37、-90.16。每個點是該代選出的10個survivors平均；lexicase依十個opponent cases篩選，GP為報告用aggregate。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slides 2,4; embedded chart data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Final Test W/D/L：20/20/60=258/31/311，33/33/34=223/51/326，40/40/20=1/170/429。每組總數600。勝率為wins/600，分別43.0%、37.17%、0.1667%。不將champion勝率解釋為整個族群平均。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 2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有效policy沿用0907摘要用語，原摘要未展開validator細項。失敗率為本簡報由原始計數換算。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slide5; configs/experiments/0907_aos_opponent/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AOS run index:20260907_123426_587527。只確認run已登錄，未從遠端run讀取進度或結果；不宣稱完成。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1–14; 0907 比例實驗摘要，slides 1–5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1a3261067042b8" /><Relationship Type="http://schemas.openxmlformats.org/officeDocument/2006/relationships/image" Target="/ppt/media/image.png" Id="R276830f852394ffb" /><Relationship Type="http://schemas.openxmlformats.org/officeDocument/2006/relationships/image" Target="/ppt/media/image2.png" Id="R1165b620a7e24fe5" /><Relationship Type="http://schemas.openxmlformats.org/officeDocument/2006/relationships/image" Target="/ppt/media/image3.png" Id="R622896191d194a1f" /><Relationship Type="http://schemas.openxmlformats.org/officeDocument/2006/relationships/image" Target="/ppt/media/image4.png" Id="R91f9f68427a3484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4348127b28461e" /><Relationship Type="http://schemas.openxmlformats.org/officeDocument/2006/relationships/image" Target="/ppt/media/image5.png" Id="Ree2736b1e10e414e" /><Relationship Type="http://schemas.openxmlformats.org/officeDocument/2006/relationships/image" Target="/ppt/media/image6.png" Id="R8e65d2e782464634" /><Relationship Type="http://schemas.openxmlformats.org/officeDocument/2006/relationships/image" Target="/ppt/media/image7.png" Id="Rc2be7204d7c14f05" /><Relationship Type="http://schemas.openxmlformats.org/officeDocument/2006/relationships/image" Target="/ppt/media/image8.png" Id="Rd7cd743fb88e4fa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a332c72c744f81" /><Relationship Type="http://schemas.openxmlformats.org/officeDocument/2006/relationships/image" Target="/ppt/media/image9.png" Id="R4f4aaa828f7f4d32" /><Relationship Type="http://schemas.openxmlformats.org/officeDocument/2006/relationships/image" Target="/ppt/media/image10.png" Id="Rb526f0d8a90847ff" /><Relationship Type="http://schemas.openxmlformats.org/officeDocument/2006/relationships/image" Target="/ppt/media/image11.png" Id="R65cad7caa5214210" /><Relationship Type="http://schemas.openxmlformats.org/officeDocument/2006/relationships/image" Target="/ppt/media/image12.png" Id="Rd6cbb66f0a6144d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3412d813b14874" /><Relationship Type="http://schemas.openxmlformats.org/officeDocument/2006/relationships/image" Target="/ppt/media/image13.png" Id="R7003114e454d4e4b" /><Relationship Type="http://schemas.openxmlformats.org/officeDocument/2006/relationships/image" Target="/ppt/media/image14.png" Id="Ra6b182eda77c407c" /><Relationship Type="http://schemas.openxmlformats.org/officeDocument/2006/relationships/image" Target="/ppt/media/image15.png" Id="R305debe150534d1e" /><Relationship Type="http://schemas.openxmlformats.org/officeDocument/2006/relationships/image" Target="/ppt/media/image16.png" Id="R9703db0fea2842d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5ab411f7a84fa6" /><Relationship Type="http://schemas.openxmlformats.org/officeDocument/2006/relationships/image" Target="/ppt/media/image.png" Id="R30089c0d00164e7e" /><Relationship Type="http://schemas.openxmlformats.org/officeDocument/2006/relationships/image" Target="/ppt/media/image2.png" Id="R7708e1ceb0b44412" /><Relationship Type="http://schemas.openxmlformats.org/officeDocument/2006/relationships/image" Target="/ppt/media/image3.png" Id="R68cb64018efd4c77" /><Relationship Type="http://schemas.openxmlformats.org/officeDocument/2006/relationships/image" Target="/ppt/media/image4.png" Id="Rbdbe4b01b1be42a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c7cae075ba4cd2" /><Relationship Type="http://schemas.openxmlformats.org/officeDocument/2006/relationships/image" Target="/ppt/media/image17.png" Id="Rbe5beadaa04e4d9e" /><Relationship Type="http://schemas.openxmlformats.org/officeDocument/2006/relationships/image" Target="/ppt/media/image18.png" Id="R585bad60b52a41ad" /><Relationship Type="http://schemas.openxmlformats.org/officeDocument/2006/relationships/image" Target="/ppt/media/image19.png" Id="Rf8940237f9a346d5" /><Relationship Type="http://schemas.openxmlformats.org/officeDocument/2006/relationships/image" Target="/ppt/media/image20.png" Id="R6a5dcbce5c5243e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631a1d122c4a4f" /><Relationship Type="http://schemas.openxmlformats.org/officeDocument/2006/relationships/image" Target="/ppt/media/image21.png" Id="R196402ef19ff4aac" /><Relationship Type="http://schemas.openxmlformats.org/officeDocument/2006/relationships/image" Target="/ppt/media/image22.png" Id="R8eda8c5fe2b4477f" /><Relationship Type="http://schemas.openxmlformats.org/officeDocument/2006/relationships/image" Target="/ppt/media/image23.png" Id="Re9225e54f0be4e21" /><Relationship Type="http://schemas.openxmlformats.org/officeDocument/2006/relationships/image" Target="/ppt/media/image24.png" Id="R1b833e128ada498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2f3bdaaa584086" /><Relationship Type="http://schemas.openxmlformats.org/officeDocument/2006/relationships/image" Target="/ppt/media/image25.png" Id="R5eee5795b7cc495f" /><Relationship Type="http://schemas.openxmlformats.org/officeDocument/2006/relationships/image" Target="/ppt/media/image26.png" Id="R9b2b36fb57744988" /><Relationship Type="http://schemas.openxmlformats.org/officeDocument/2006/relationships/image" Target="/ppt/media/image27.png" Id="R05db207e2f2f486e" /><Relationship Type="http://schemas.openxmlformats.org/officeDocument/2006/relationships/image" Target="/ppt/media/image28.png" Id="R6a94705aa3a2414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5d5e93a1324fb4" /><Relationship Type="http://schemas.openxmlformats.org/officeDocument/2006/relationships/image" Target="/ppt/media/image25.png" Id="Re5125664119049f0" /><Relationship Type="http://schemas.openxmlformats.org/officeDocument/2006/relationships/image" Target="/ppt/media/image26.png" Id="R89a8ed809689441b" /><Relationship Type="http://schemas.openxmlformats.org/officeDocument/2006/relationships/image" Target="/ppt/media/image27.png" Id="R9bb81efbfdd948f7" /><Relationship Type="http://schemas.openxmlformats.org/officeDocument/2006/relationships/image" Target="/ppt/media/image28.png" Id="R0c3dc1d41235413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1cafb60953412b" /><Relationship Type="http://schemas.openxmlformats.org/officeDocument/2006/relationships/image" Target="/ppt/media/image5.png" Id="R46ab277a16b946c8" /><Relationship Type="http://schemas.openxmlformats.org/officeDocument/2006/relationships/image" Target="/ppt/media/image6.png" Id="R753b2b3f8a884e24" /><Relationship Type="http://schemas.openxmlformats.org/officeDocument/2006/relationships/image" Target="/ppt/media/image7.png" Id="Rae15bb524c2f41f3" /><Relationship Type="http://schemas.openxmlformats.org/officeDocument/2006/relationships/image" Target="/ppt/media/image8.png" Id="Rbfc7462ebbf8479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a50a66e0f34321" /><Relationship Type="http://schemas.openxmlformats.org/officeDocument/2006/relationships/image" Target="/ppt/media/image25.png" Id="R4d054e9afbcb4ed0" /><Relationship Type="http://schemas.openxmlformats.org/officeDocument/2006/relationships/image" Target="/ppt/media/image26.png" Id="Rdd84b40703ff48c9" /><Relationship Type="http://schemas.openxmlformats.org/officeDocument/2006/relationships/image" Target="/ppt/media/image27.png" Id="R8471dd52598f45cb" /><Relationship Type="http://schemas.openxmlformats.org/officeDocument/2006/relationships/image" Target="/ppt/media/image28.png" Id="R8b5e24add83b423a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0bcbadbfc3426e" /><Relationship Type="http://schemas.openxmlformats.org/officeDocument/2006/relationships/image" Target="/ppt/media/image17.png" Id="Rc8929b4f777d4b58" /><Relationship Type="http://schemas.openxmlformats.org/officeDocument/2006/relationships/image" Target="/ppt/media/image18.png" Id="R004fb643bbc04657" /><Relationship Type="http://schemas.openxmlformats.org/officeDocument/2006/relationships/image" Target="/ppt/media/image19.png" Id="R3dafcb939d354492" /><Relationship Type="http://schemas.openxmlformats.org/officeDocument/2006/relationships/image" Target="/ppt/media/image20.png" Id="R276dc031f8b840a9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9bf26dbb7b4151" /><Relationship Type="http://schemas.openxmlformats.org/officeDocument/2006/relationships/image" Target="/ppt/media/image25.png" Id="Ra8c969a840354c7e" /><Relationship Type="http://schemas.openxmlformats.org/officeDocument/2006/relationships/image" Target="/ppt/media/image26.png" Id="Rb2c0568cf98e4798" /><Relationship Type="http://schemas.openxmlformats.org/officeDocument/2006/relationships/image" Target="/ppt/media/image27.png" Id="R85235730dc334e6d" /><Relationship Type="http://schemas.openxmlformats.org/officeDocument/2006/relationships/image" Target="/ppt/media/image28.png" Id="R919df04d5b434a26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294376d0124f49" /><Relationship Type="http://schemas.openxmlformats.org/officeDocument/2006/relationships/image" Target="/ppt/media/image17.png" Id="Ra4ea9457fb544eb4" /><Relationship Type="http://schemas.openxmlformats.org/officeDocument/2006/relationships/image" Target="/ppt/media/image18.png" Id="R347d188d02d749ba" /><Relationship Type="http://schemas.openxmlformats.org/officeDocument/2006/relationships/image" Target="/ppt/media/image19.png" Id="R64e93e98c779420d" /><Relationship Type="http://schemas.openxmlformats.org/officeDocument/2006/relationships/image" Target="/ppt/media/image20.png" Id="Rb19a0b327f6a4cfe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13d599c6b64dc2" /><Relationship Type="http://schemas.openxmlformats.org/officeDocument/2006/relationships/image" Target="/ppt/media/image25.png" Id="R539a0eac6ffa4536" /><Relationship Type="http://schemas.openxmlformats.org/officeDocument/2006/relationships/image" Target="/ppt/media/image26.png" Id="R83893e17146d4e79" /><Relationship Type="http://schemas.openxmlformats.org/officeDocument/2006/relationships/image" Target="/ppt/media/image27.png" Id="R3a76c1950ae3469e" /><Relationship Type="http://schemas.openxmlformats.org/officeDocument/2006/relationships/image" Target="/ppt/media/image28.png" Id="R3fc1b0b61a724c96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2d14be32c44561" /><Relationship Type="http://schemas.openxmlformats.org/officeDocument/2006/relationships/image" Target="/ppt/media/image9.png" Id="R8ec612a60de944d9" /><Relationship Type="http://schemas.openxmlformats.org/officeDocument/2006/relationships/image" Target="/ppt/media/image10.png" Id="R2f5bf195c5ae4de0" /><Relationship Type="http://schemas.openxmlformats.org/officeDocument/2006/relationships/image" Target="/ppt/media/image11.png" Id="R7198f075ab3c4ac2" /><Relationship Type="http://schemas.openxmlformats.org/officeDocument/2006/relationships/image" Target="/ppt/media/image12.png" Id="R6ad4a691554149e2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50e5e2c048428d" /><Relationship Type="http://schemas.openxmlformats.org/officeDocument/2006/relationships/image" Target="/ppt/media/image21.png" Id="R087e5b5dc35e40b3" /><Relationship Type="http://schemas.openxmlformats.org/officeDocument/2006/relationships/image" Target="/ppt/media/image22.png" Id="Rb63498c6b4594ef1" /><Relationship Type="http://schemas.openxmlformats.org/officeDocument/2006/relationships/image" Target="/ppt/media/image23.png" Id="R72e50a6461b54f30" /><Relationship Type="http://schemas.openxmlformats.org/officeDocument/2006/relationships/image" Target="/ppt/media/image24.png" Id="Rc2636c046b1e4fa5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2bb67c82454223" /><Relationship Type="http://schemas.openxmlformats.org/officeDocument/2006/relationships/image" Target="/ppt/media/image17.png" Id="R74e203846ecb458f" /><Relationship Type="http://schemas.openxmlformats.org/officeDocument/2006/relationships/image" Target="/ppt/media/image18.png" Id="Rc84d87701cad414f" /><Relationship Type="http://schemas.openxmlformats.org/officeDocument/2006/relationships/image" Target="/ppt/media/image19.png" Id="R017ec723ca42447d" /><Relationship Type="http://schemas.openxmlformats.org/officeDocument/2006/relationships/image" Target="/ppt/media/image20.png" Id="Rcdcd98a107774dfc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bf84b7b5b142bf" /><Relationship Type="http://schemas.openxmlformats.org/officeDocument/2006/relationships/image" Target="/ppt/media/image9.png" Id="R8cfcccc4c9a94947" /><Relationship Type="http://schemas.openxmlformats.org/officeDocument/2006/relationships/image" Target="/ppt/media/image10.png" Id="R0e8709739e74469d" /><Relationship Type="http://schemas.openxmlformats.org/officeDocument/2006/relationships/image" Target="/ppt/media/image11.png" Id="R445f0957ed824aa6" /><Relationship Type="http://schemas.openxmlformats.org/officeDocument/2006/relationships/image" Target="/ppt/media/image12.png" Id="Rcf4a5323553b4f31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4073652b544fab" /><Relationship Type="http://schemas.openxmlformats.org/officeDocument/2006/relationships/image" Target="/ppt/media/image25.png" Id="R24442eed23534f75" /><Relationship Type="http://schemas.openxmlformats.org/officeDocument/2006/relationships/image" Target="/ppt/media/image26.png" Id="R9d234cba26b6423f" /><Relationship Type="http://schemas.openxmlformats.org/officeDocument/2006/relationships/image" Target="/ppt/media/image27.png" Id="R0c0aeba608a240f5" /><Relationship Type="http://schemas.openxmlformats.org/officeDocument/2006/relationships/image" Target="/ppt/media/image28.png" Id="R45d362fce7e34fb5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2692a2f20041c0" /><Relationship Type="http://schemas.openxmlformats.org/officeDocument/2006/relationships/image" Target="/ppt/media/image.png" Id="R23af5d0f65f049d6" /><Relationship Type="http://schemas.openxmlformats.org/officeDocument/2006/relationships/image" Target="/ppt/media/image2.png" Id="R1cde2dd584c54784" /><Relationship Type="http://schemas.openxmlformats.org/officeDocument/2006/relationships/image" Target="/ppt/media/image3.png" Id="Rd04804e7624c4717" /><Relationship Type="http://schemas.openxmlformats.org/officeDocument/2006/relationships/image" Target="/ppt/media/image4.png" Id="R9f786a6bbf9f4384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91329c08e04494" /><Relationship Type="http://schemas.openxmlformats.org/officeDocument/2006/relationships/image" Target="/ppt/media/image.png" Id="R22c214f12b114e11" /><Relationship Type="http://schemas.openxmlformats.org/officeDocument/2006/relationships/image" Target="/ppt/media/image2.png" Id="R7b2493f86d2f424b" /><Relationship Type="http://schemas.openxmlformats.org/officeDocument/2006/relationships/image" Target="/ppt/media/image3.png" Id="Rd1bed05aa5c14a36" /><Relationship Type="http://schemas.openxmlformats.org/officeDocument/2006/relationships/image" Target="/ppt/media/image4.png" Id="Reb6d85ebc8fa4edf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fb6d13f98b4225" /><Relationship Type="http://schemas.openxmlformats.org/officeDocument/2006/relationships/image" Target="/ppt/media/image.png" Id="R98c73511d4b743d9" /><Relationship Type="http://schemas.openxmlformats.org/officeDocument/2006/relationships/image" Target="/ppt/media/image2.png" Id="R1bcbcb9470674137" /><Relationship Type="http://schemas.openxmlformats.org/officeDocument/2006/relationships/image" Target="/ppt/media/image3.png" Id="Rd2f98a195ceb4f13" /><Relationship Type="http://schemas.openxmlformats.org/officeDocument/2006/relationships/image" Target="/ppt/media/image4.png" Id="R9483a60522704a3d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5cf4811ca04186" /><Relationship Type="http://schemas.openxmlformats.org/officeDocument/2006/relationships/image" Target="/ppt/media/image17.png" Id="R4faaca7cd8764859" /><Relationship Type="http://schemas.openxmlformats.org/officeDocument/2006/relationships/image" Target="/ppt/media/image18.png" Id="R3d690710f9774282" /><Relationship Type="http://schemas.openxmlformats.org/officeDocument/2006/relationships/image" Target="/ppt/media/image19.png" Id="R600402013a554cd5" /><Relationship Type="http://schemas.openxmlformats.org/officeDocument/2006/relationships/image" Target="/ppt/media/image20.png" Id="Rb84d5632dd3249c3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ca03bbebda4698" /><Relationship Type="http://schemas.openxmlformats.org/officeDocument/2006/relationships/image" Target="/ppt/media/image9.png" Id="Rd0352c1df425477c" /><Relationship Type="http://schemas.openxmlformats.org/officeDocument/2006/relationships/image" Target="/ppt/media/image10.png" Id="Rb1ac322518cd424d" /><Relationship Type="http://schemas.openxmlformats.org/officeDocument/2006/relationships/image" Target="/ppt/media/image11.png" Id="Ra0819928db6845b1" /><Relationship Type="http://schemas.openxmlformats.org/officeDocument/2006/relationships/image" Target="/ppt/media/image12.png" Id="Rf6c6440d468c4160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ac31e064b2459e" /><Relationship Type="http://schemas.openxmlformats.org/officeDocument/2006/relationships/image" Target="/ppt/media/image9.png" Id="R1fae942d9b8c4a98" /><Relationship Type="http://schemas.openxmlformats.org/officeDocument/2006/relationships/image" Target="/ppt/media/image10.png" Id="Rc4c024286faf4ff9" /><Relationship Type="http://schemas.openxmlformats.org/officeDocument/2006/relationships/image" Target="/ppt/media/image11.png" Id="R857f4f353a8c4c14" /><Relationship Type="http://schemas.openxmlformats.org/officeDocument/2006/relationships/image" Target="/ppt/media/image12.png" Id="Raee592b8e55c4696" /></Relationships>
</file>

<file path=ppt/slideLayouts/slideLayout1.xml><?xml version="1.0" encoding="utf-8"?>
<p:sldLayout xmlns:p="http://schemas.openxmlformats.org/presentationml/2006/main" preserve="1">
  <p:cSld name="01 EAGLE 研究進展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6830f852394ffb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65b620a7e24fe5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2896191d194a1f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f9f68427a34847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24A6F3-BC74-4396-85E6-8B2AFB95F2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[簡報主題]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832AD8-1DCE-4396-A74A-3073949F87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[英文副標或一句研究問題]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0F7BA8-CA3A-45C0-AAE6-82A55CF75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9E10EB-A631-4BC3-84B6-92EB11CBB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D53214-B676-4F83-BBBA-E98A3FA05EA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81250" y="3390900"/>
            <a:ext cx="111633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[核心研究方向]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F4896F-8F3A-45F3-B056-CC034206A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05375"/>
            <a:ext cx="6781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D6AC45-70FA-494E-A3FF-4FCD1CDD504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3333750" y="5381625"/>
            <a:ext cx="9258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5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5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[報告人]　[單位／研究群]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BD6833-7419-448B-8F9F-14E2A9B9577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3810000" y="6334125"/>
            <a:ext cx="830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2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[日期]　[會議名稱]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>
  <p:cSld name="02 這段時間改了什麼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2736b1e10e414e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65d2e782464634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be7204d7c14f05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cd743fb88e4fa9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B32816-541A-4FD7-9945-4432329648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Meeting 0830 設計原則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4DFB72-60B0-4498-868D-2D5E29B25A4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模板使用說明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F3C89B-4CA6-4B04-938D-F76BA2959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C55EA6-3A7E-4AD1-A21F-16D7E900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C6BADA-3F37-4273-9F1C-E5723D1D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29432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4FB2D5-17DC-4CD0-AA41-B537C6497BC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447800" y="29432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C6DE37-710C-4A99-B6A4-CFEEA6219B4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114550" y="288607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暖白與植物邊飾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A0DB6C-7069-46E9-BDEF-31A83376EEB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2114550" y="334327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邊飾留在四角，中央內容區保留呼吸空間。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138B0D-4CB8-43B9-A615-4F13173B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40576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A70346-68DF-41C6-9E52-FDE0A409DC1B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447800" y="40576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7F3678-DD78-4ACF-836C-7004026A647F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2114550" y="400050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酒紅標題與襯線字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BE5F6F-BCA4-461C-A743-E2EDB2F6617B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2114550" y="445770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標題置中；內文以清楚的層級和對齊呈現。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1E768D-58B1-45C4-B78A-30E860D97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51720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DE609C-D5C8-4300-B802-EFCB0DBE2B9F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1447800" y="51720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7E525E-7470-4AAC-9103-C85C46E80F67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2114550" y="511492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玫瑰色框線與編號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C65FD0-C9C3-4559-9357-F006A461CABF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2114550" y="557212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同一列卡片等寬；流程依編號與箭頭閱讀。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1BBA0D-1CB8-408B-A738-09C7B83BF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62865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DAF313-CAEB-45B6-B2F2-37F3D9BB8F5A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447800" y="628650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DA28D8-7F13-42B7-8B0E-6DA317958AD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2114550" y="622935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金色只標記重點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31F9DA-0182-41E5-9963-A1F8A23C1DBF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114550" y="668655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每頁集中強調一個差異、目前方案或主要發現。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520320-F75F-4B62-80CE-ABB49893AA55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666875" y="7791450"/>
            <a:ext cx="12592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025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複製合適頁面，或在「新增投影片／版面配置」選擇本模板的版型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03 09/04 改版的核心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4aaa828f7f4d32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26f0d8a90847ff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cad7caa5214210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cbb66f0a6144d0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A45448-F248-443D-8FD5-7F85155535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214592-79BF-4611-BDC6-0B78C1CCBFF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9D219B-F740-4C90-B91F-3110F8421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9B095-7723-447E-8DCC-2326A87AF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6A5FF9-9AA0-4E03-A04B-41679AEA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FAE663-F849-4C81-B244-F2693C467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FAF408-8078-4702-8778-B5C632070BE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43CD1D-BBA2-4DF7-9BF3-E0DA3BF74CA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AE9E35-86C8-4282-890B-799181D2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D2AAF0-ACAB-44D9-82E9-C8FD6BE31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C1C049-B397-45A0-8AC9-B812BE87C9B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884EC5-5230-408A-BDB7-D288EF6D3BAF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240893-94C2-4BA0-A028-FAB3BEEC3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4EBC05-3C0F-417A-9500-D2AD73D28B1B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[本次會議需要取得的決定]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04 EAGLE 目前完整流程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03114e454d4e4b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b182eda77c407c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5debe150534d1e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03db0fea2842d2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B548FB-AFA8-4B79-A3DC-480976CA4E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[完整流程]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44FB02-EB5A-4369-865F-51482D4AD4B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[流程起點、終點與適用範圍]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CA6FC4-9690-4E8D-A906-781E9048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C9FDDD-75FB-4040-9008-710B73D5E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D3BC57-1AB9-431C-B50B-09CA102F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765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E6DFB0-ADF5-4B7A-A614-A13C4CFBE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6384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0A215B-C5BB-4EE0-8572-F0C51FD7F99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5267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721556-DBF0-422F-A228-372FB8A1354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133475" y="335280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1]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948B87-8368-4596-979F-A667C8934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010025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1A4028-2D17-4F1C-A5A0-5D5EEC3FF8B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28725" y="42195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037B32-5B1C-4F71-8056-FF29C322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905250"/>
            <a:ext cx="30480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BC4653-DC56-4C80-A5A3-158CDFDAD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8765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4367C5-77F8-4D8B-96F8-B760EBBB4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6384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1DD774-195A-4ED7-8B4B-C657A4FAFACA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606742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E938F5-5A12-451A-8DBE-30ACA8941636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4848225" y="335280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2]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D9D9FD-B5E0-429B-ACFE-444B6B9A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010025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A28708-E3C6-48B8-8578-0E7574370021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4943475" y="42195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E5C81F-02BD-462F-9DE2-70495C499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905250"/>
            <a:ext cx="30480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D7C565-555C-4C97-B4F1-3413AF47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8765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1F170D-6B49-4107-BA9D-23B110B62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384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49B031-A7D3-4F79-9D98-1BD43AFD9DD2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978217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AAE955-CA15-461D-8AAE-EC275566D6D4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8562975" y="335280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3]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A4A9C9-D824-483F-BDD7-C2CFEED8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010025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F050BC-45BB-4DDE-BFBE-60A24D3662FA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8658225" y="42195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8DCC642-7F77-4CCD-92BC-577C503CB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3905250"/>
            <a:ext cx="30480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B51841-6DC3-4CA5-AB18-1C9916C45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4850" y="28765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03AB0F-7C72-4D9D-B198-2C602B99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8350" y="26384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0A7C279-9116-4353-BE5C-7F4E65E5EC5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349692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8F46B5-DE03-4D37-8CD9-A649D10AB5FD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277725" y="335280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4]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5A1C189-79D8-4901-B37B-6DA7424A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20600" y="4010025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1F37966-4A19-4F28-BD0A-DC8C3E4B0C7B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2372975" y="42195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CACD98-2D83-4C8F-A705-55DBD2D26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4850" y="57721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11E9CEB-EF31-4E81-A766-E91926284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8350" y="55340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9A778E1-C782-4F89-8519-5F5993FBBA25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349692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5FCA37C-F264-402A-8B52-BC8FDCBE76B5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277725" y="624840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5]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34CDBC7-49F0-42B3-8106-F6B3696E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20600" y="6905625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C12073-B3CD-4DE5-A6FC-F2A2C009133B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2372975" y="71151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0B3177A-1113-4D0F-8244-645D49977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7721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F67B9F9-B0BD-4B83-BD1E-E158E5957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55340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938A02A-3963-4488-BCC6-575BA8683D05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978217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EC59BCD-B6E3-4B7A-B9D4-B99E89A00F4A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8562975" y="624840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6]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89084FA-FF8D-463B-B2AC-28A0A8FAB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6905625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AC96A83-5F02-4FBB-BC16-2D05E947D6DF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8658225" y="71151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F9E5FED-C346-44F7-8CB1-2506D6D31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800850"/>
            <a:ext cx="304800" cy="219075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873A29B-562F-4FAE-9360-8D269CB4C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7721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8F3A0DD-3238-4946-B65F-4824892AB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5340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0159380-70ED-4BD2-8890-81C432F3A25D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06742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7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5573B41-00EB-4B92-B223-48359ECEF348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4848225" y="624840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7]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7EACD16-D59B-4110-83D0-AD3401ED4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905625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281270A-7EB1-4F39-8B22-9A7C131EBE6F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4943475" y="71151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E16A449-1DC6-4610-A9FF-8A9D3BFE5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6800850"/>
            <a:ext cx="304800" cy="219075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099B1D5-4074-4ED4-8050-8756E3F92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7721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1361A68-F823-46F2-AAFD-8D6584A2F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5340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BDE3DD6-B3D2-4802-84BF-E4F1A3349CFA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235267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8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DE97390-21A5-4EE5-B86F-3470687F5965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1133475" y="624840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8]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1FFF25C-39CA-4595-9274-36633F9D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6905625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FB66C9D-8A2C-4E4B-8572-ECB92B8C7F27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1228725" y="71151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5A0B27C-ACFE-4A85-86BA-4D44D71B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6800850"/>
            <a:ext cx="304800" cy="219075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125DC20-1147-4944-879E-2047436C9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5257800"/>
            <a:ext cx="219075" cy="4000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</p:spTree>
  </p:cSld>
</p:sldLayout>
</file>

<file path=ppt/slideLayouts/slideLayout5.xml><?xml version="1.0" encoding="utf-8"?>
<p:sldLayout xmlns:p="http://schemas.openxmlformats.org/presentationml/2006/main" preserve="1">
  <p:cSld name="05 EAGLE 演化的對象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089c0d00164e7e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08e1ceb0b44412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cb64018efd4c77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be4b01b1be42a9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6AC663-D814-4510-805E-2087AE9274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[簡報主題]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2F4AA3-4E08-4118-AF02-1D7B7E1EF82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[英文副標或一句研究問題]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A6F759-F0FA-4C6A-8E0A-18CA3B3F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79BA69-C5CE-4D0E-BD4E-529F208AD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</p:spTree>
  </p:cSld>
</p:sldLayout>
</file>

<file path=ppt/slideLayouts/slideLayout6.xml><?xml version="1.0" encoding="utf-8"?>
<p:sldLayout xmlns:p="http://schemas.openxmlformats.org/presentationml/2006/main" preserve="1">
  <p:cSld name="06 初始 Policy 的歷史比較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5beadaa04e4d9e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5bad60b52a41ad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940237f9a346d5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5dcbce5c5243e8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238134-1976-46DD-A7E6-EDA4A58B3B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[實驗／結果比較]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733441-3664-4370-A62D-6D00FE39CAA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[固定條件，只改變的實驗變因]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CC7614-8DEF-4C18-A37A-4E4638DB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DB70AF-94F3-4043-B72F-B98EE2F5A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A9F989-32DF-426D-8D9D-B7448CC3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A45BDB-71E1-44CF-85E5-CC7B35E5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1D36BF-991C-401F-9741-39BF192AA8D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F2F817-F964-4A4F-8208-EDF11F077AF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1FC83A-2579-4C50-80AF-0A36AAFCE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BE9783-3056-4AE4-9B44-B9CEEA3205E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1F8F79-BC8F-4D40-A956-2B6CE046E2A6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15C114-FB06-4CCB-818B-70F99577BF4B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498982-9758-45ED-B71C-12176D45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D87FD6-38B9-4D34-9CA6-7E20C96BB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749F45-8250-4843-A5B5-3A73892C2C62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E6C05E-260E-4705-B382-D0C7EAA97F68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EDF59F-A513-4914-B3A2-72EAD040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F8FE90-87FA-42FD-9D1F-AA57C794695E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700F85-90F6-408D-885C-254D4902DAE3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8BC0D6-5A99-49F6-966C-DE8890DE635F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64CF15-F4D5-4EBE-9946-527474EF7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69B4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3D1DFA-3EFE-4356-B84B-29B99876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9B45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D7DFF2-0928-42CA-96F8-533F990071D7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5219D96-FED1-4024-B23D-1CA8330D9AD3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67EA62-2569-4653-8671-0550C836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771D87-7079-4FF7-997F-994208BFAAA3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D172D0-2363-4B28-8941-06576E15B78E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124DB55-BD02-4063-9BAB-55EAAC3DEBB2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33E7598-4436-4A4E-8825-EC231BB9C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153275"/>
            <a:ext cx="12496800" cy="1123950"/>
          </a:xfrm>
          <a:prstGeom xmlns:a="http://schemas.openxmlformats.org/drawingml/2006/main" prst="roundRect">
            <a:avLst>
              <a:gd name="adj" fmla="val 13559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EA3182-8FD1-4634-8B26-41959C1578CA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[主要發現：用一句話說明差異]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CD7AB89-50BD-4910-AC95-67E421DC058D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[限制、例外或需要進一步驗證的項目]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>
  <p:cSld name="07 本期的初始族群配置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6402ef19ff4aac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da8c5fe2b4477f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225e54f0be4e21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833e128ada4981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6CD8E5-CD52-49E4-A691-35A3159E24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[輸入、轉換與輸出]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53D942-C4D4-44BA-AB39-D0B9C691F29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[物件定義與責任邊界]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556103-BF87-4EAE-BCE5-5C17CC1E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FCC1D3-69A0-44F6-BB3D-24941562B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D4143D-9AFE-41CC-B234-3F32AE6E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00375"/>
            <a:ext cx="6286500" cy="3810000"/>
          </a:xfrm>
          <a:prstGeom xmlns:a="http://schemas.openxmlformats.org/drawingml/2006/main" prst="roundRect">
            <a:avLst>
              <a:gd name="adj" fmla="val 400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2E5FB4-322A-408D-B890-DAA55E5D03A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81100" y="3305175"/>
            <a:ext cx="590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[輸入結構]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3C8CF9-17F3-472A-8817-64C98C99D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86225"/>
            <a:ext cx="5753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2D057A-4058-45CA-B2AF-D213CF172D1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38250" y="4276725"/>
            <a:ext cx="579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[組件 A]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[組件 B]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[組件 C]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52AA94-1070-4960-B659-33B6A813F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00375"/>
            <a:ext cx="2476500" cy="3810000"/>
          </a:xfrm>
          <a:prstGeom xmlns:a="http://schemas.openxmlformats.org/drawingml/2006/main" prst="roundRect">
            <a:avLst>
              <a:gd name="adj" fmla="val 6154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09CB65-B638-4A68-8FF6-6FE6556679D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8439150" y="3305175"/>
            <a:ext cx="209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[轉換機制]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6328A6-A0B8-4B9B-9B1F-7977431F8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86225"/>
            <a:ext cx="1943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1D5568-1243-43F0-B7EE-1035AD8E5792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496300" y="4276725"/>
            <a:ext cx="198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[規則／方法]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[處理邏輯]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53DAF1-4D23-4C52-95D4-47EEBDE9C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000375"/>
            <a:ext cx="3219450" cy="3810000"/>
          </a:xfrm>
          <a:prstGeom xmlns:a="http://schemas.openxmlformats.org/drawingml/2006/main" prst="roundRect">
            <a:avLst>
              <a:gd name="adj" fmla="val 4734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C11157-1CD1-421F-9223-DC855ECB8A58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1906250" y="3305175"/>
            <a:ext cx="2838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[輸出結果]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578643-56E2-4E31-A4A4-3F5FC5B88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82450" y="4086225"/>
            <a:ext cx="26860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C71965-6D1D-4F9D-B8D5-26AB2C4A075B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11963400" y="4276725"/>
            <a:ext cx="272415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[產物]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[驗證方式]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605D74-2923-415C-849B-ECEC315A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4714875"/>
            <a:ext cx="485775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D64AE4-B9D5-40A5-9906-5FFE7E846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4714875"/>
            <a:ext cx="485775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A97126-9FEB-472F-BF33-0F7F70E35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439025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9F91C6-0485-47CD-9DD9-5DFE97433444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3314700" y="7458075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[關鍵邊界：哪些內容會改變、哪些會保留]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>
  <p:cSld name="08 三種 Operator 選擇模式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ee5795b7cc495f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2b36fb57744988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db207e2f2f486e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94705aa3a24148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4E9DBE-0EB8-4A6B-9773-D2F8AB8896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0A0772-712E-4BFA-B8FA-BA8C83AD523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FC71AA-6612-4032-BC2E-18D775CB0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BE6529-1735-4C2F-A8DA-6CD4A8BE5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9CC111-212A-4FE9-8506-6AD6AC5E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98A69B-ECCB-494A-8EEE-E9A0D5001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900D52-A8F8-457B-B5E8-1EC65DB8AC0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E874A2-5AD8-449B-984B-C4893E6F9FC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B3D500-3C1F-485A-B90B-08B51D2F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767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8CD9EA-C683-4391-B2B0-EA6FF8BE2142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B6E62A-E523-4E25-8EF2-8F293A2E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95825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FB7E26-10B9-4F39-8E4E-65E4E35EF1EC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4EEE26-0122-46D7-AF6D-553EC56D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D43F6C-1DAA-4064-98CD-F5A6B0D2C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F641B2-530D-40E9-A5B7-F0589EB0DCA2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355013-8EB5-482B-8E91-52983E642071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A5AE8D-EB13-4F67-A736-C275EA10F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0767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994104-DC18-4439-B69B-B00667928A86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FD4E64-EAF6-4B41-8A91-7513D4ED1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695825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D98853-1BF9-4F0E-8550-2B60CF5DF039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B73512-FF5D-4A9E-A4B7-CEF3BBDA7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8792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3D9EBB-77AE-4987-A836-BB394DBFD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3A26B4-F89B-47A6-AAEA-9B5D11F30257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0AACD6-D0F1-4040-8095-6B42205EDC35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EE33BC-ADE7-42E4-A3BB-AE728D90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767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06C300-72FC-4857-B750-43E4F0BD1CC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95B196-07DB-4E06-8788-7C5104FF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695825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811B73-A2F3-476B-A350-42950C563A41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</p:spTree>
  </p:cSld>
</p:sldLayout>
</file>

<file path=ppt/slideLayouts/slideLayout9.xml><?xml version="1.0" encoding="utf-8"?>
<p:sldLayout xmlns:p="http://schemas.openxmlformats.org/presentationml/2006/main" preserve="1">
  <p:cSld name="09 三種 Reflection 的責任邊界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125664119049f0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a8ed809689441b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b81efbfdd948f7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3dc1d41235413d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8EC02B-8C20-4864-898A-5C59020172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9E08F0-1B94-4E75-8A5D-5E1ED126CA0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42BFF6-1CC6-4828-8E78-2622AD49C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DB85D1-BB62-4233-A14B-518A10382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5EBB16-1CC6-422D-98FB-B12D8356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7A7BA2-1599-4F06-B11D-2AF00C2F9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1444E8-3B22-4D4A-AA9E-009BCAA15E9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88E317-6A85-47B0-A0F5-867BEB5A399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AAC62B-81A8-4578-A298-854ADB516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767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3994D8-EECD-4D3A-B6D0-B874990020E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8DA422-E6EB-4B47-809F-B743DB94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95825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6B2FE4-0FF7-426C-A89F-3574BB05D14F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43CA3C-6612-46E5-94C3-C34612F3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BBCE65-EB25-4E8B-8D5A-215AE84D9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633A34-6DDB-4FFF-AA0B-EAC734F64ADE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700D50-BBA2-4A7F-91C4-7CF44E2A42C8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F926F2-5D33-4FBB-A382-866D4FCD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0767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1391F1-3887-4445-91BF-A0F785250D32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78AD97-77C0-4203-9740-94F8ED81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695825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1329F2-E385-4F3C-86C1-9374F8A71001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955A8F-9791-4A9D-93B1-C086A14D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8792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A9D5F4-1205-44AA-893A-E1E4548B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1CDC44-AE7C-4DCE-8575-C28ED5752845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1D02A7-8127-4755-B209-51C90801C03D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155D2A-4012-4979-B557-1A8B47581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767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589B5F-813F-4429-AD13-5A63A68B762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DD70AA-314E-40B5-9C8F-891561C9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695825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A3334A-86C0-45F4-B105-79273214AD76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>
  <p:cSld name="10 實驗分成四個階段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ab277a16b946c8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3b2b3f8a884e24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15bb524c2f41f3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c7462ebbf8479c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8518C9-D5FA-44AF-BA4E-7B4170FEB5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Meeting 0830 設計原則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FAE754-F947-4A20-9257-37286B5D7AA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模板使用說明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A9ED10-F876-45E3-A9F2-BDE3DE3CA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C635AF-E5BA-4B96-AA0F-F35A018A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DE947B-6B9E-4D63-8F11-AACF8046D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29432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C62F64-7127-4B6A-9C5B-F33EE64AFFF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447800" y="29432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4DA127-53EC-42A5-975E-F13A17BE15F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114550" y="288607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暖白與植物邊飾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70E55D-CA11-4EEA-AFCA-86BBBD966C74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2114550" y="334327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邊飾留在四角，中央內容區保留呼吸空間。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A0E0ED-8784-4698-8A25-1031ECEC6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40576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0793EC-08AE-4EC3-95C9-5F0AF66E19B9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447800" y="40576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46CFF2-B0E4-4410-A4AA-AB471114DB86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2114550" y="400050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酒紅標題與襯線字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F608F8-B0B6-4B07-906C-A695706A7722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2114550" y="445770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標題置中；內文以清楚的層級和對齊呈現。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A7372A-F9DF-459E-8C6A-C2C0387F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51720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A9F0C7-E01A-46DC-B042-1F06E23A37B4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1447800" y="51720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B9BC4A-5F20-4461-B8A0-BD8B0FA5544E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2114550" y="511492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玫瑰色框線與編號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4D5BB1-E25A-4D9A-9129-C5D2B769647C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2114550" y="557212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同一列卡片等寬；流程依編號與箭頭閱讀。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699C11-3285-492F-BB55-0E11F3D2A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62865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E2625D-9E05-4567-874F-66DB99E690FA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447800" y="628650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ED2F0E-DE7B-42E9-8BC9-F1C474FF41D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2114550" y="622935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金色只標記重點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BE7F12-ABD7-4B48-B659-C59E591BF30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114550" y="668655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每頁集中強調一個差異、目前方案或主要發現。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F21862-7323-4059-BA9F-8838BCB06F18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666875" y="7791450"/>
            <a:ext cx="12592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025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複製合適頁面，或在「新增投影片／版面配置」選擇本模板的版型</a:t>
            </a:r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>
  <p:cSld name="11 實驗一：同一父代、三種反思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054e9afbcb4ed0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84b40703ff48c9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71dd52598f45cb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5e24add83b423a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A769D4-39BA-4CC2-8304-4F91577F20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651BCF-9F78-4546-9DF2-B0FACC94FBC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95F0A5-B318-4D80-A0E2-B8578FAD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316825-E756-4943-B552-AA5F60956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169523-EAD4-4ACA-A469-E93E9BDB2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B0926B-4120-4D30-80C9-4E7783913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FAB6F2-8509-4B89-8F31-9112F450AEC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A6359F-2EB7-466A-BAA4-5A05B039AF4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FABB32-7A92-4EEB-BFD2-283BECAF7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767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94C035-3E44-4468-A34C-8970CA067E9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8BD6C9-4823-4A24-B83F-5B0E2FD39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95825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073B46-7BBF-47B1-845D-053BD7E944F2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2F5641-16E5-4B4B-A372-2B9B93338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A9CE6F-3555-4B6F-B044-AE66FBC80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2BF444-9864-4DBD-998A-8E48037F2E2B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63DE87-5934-4FBA-820C-F7FC89C868E0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8CF47F-910A-4BD8-BA8E-14BE11409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0767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79888F-794C-4C47-9C0C-53D75F37D5A8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14A44A-0D7A-46C4-98C3-C4FBC59E3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695825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5CD370-1196-4290-A559-BA2E6D126B04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FB11D8-4808-4BAE-B475-A764376E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8792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CBE61D-93C9-4A48-B575-F893F8C5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FDFF24-C939-47B3-B38F-6FB1A3DBB030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FE8BDD-AE94-4059-8108-84848105E746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362CD8-7F15-486B-A9A9-D2DE4B73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767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83BDD3-7AEC-40C8-9429-46C4E1E884F8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642DA0-E7FA-474F-960B-A72C74A2E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695825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2C654A-64A9-4519-83C6-0512711AC7B4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>
  <p:cSld name="12 實驗一：8 / 9 次成功套用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929b4f777d4b58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4fb643bbc04657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afcb939d354492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6dc031f8b840a9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C696F0-3565-4D32-8FDD-3A852F24BC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[實驗／結果比較]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3442A3-AB54-4D73-898B-9D01ED7CE29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[固定條件，只改變的實驗變因]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DC486F-48B9-49DF-8C9F-2DD2B782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B8232E-5849-4B36-AF61-E6BCF6958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A61144-5021-4AD8-9612-B8A1E3EC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60D0DE-0903-4D94-8BAC-4B075EDD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C9C627-E34B-4F1B-A508-877AD945BB7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EA18BA-AFB1-4EB5-8A8C-AA11A6B7DD5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05818D-CCCC-481C-8C5C-2F13C138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F6045E-1538-4682-9F69-7E1F9BDE0E6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842A2A-7C24-4A1D-BBF4-90765E2DB3DC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9C8489-072E-47AB-83A3-FBDD8ACDFEB0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FC9E4A-CF81-4673-8F75-9938B16B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613B72-F858-4450-8D75-6E2C34758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E48A97-5C56-4E6C-98FC-406D45CA4BC2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F612C0-0D1D-4E15-9BDF-CDBC5E64AC40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D0E78B-0C8C-4908-9661-1C1389CD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E3FABD-72FC-4333-8318-D0016B0560F5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DE1751-087F-43F4-8E73-9D803CD9FAA5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ABEA38-9B08-4037-84AB-602448C999C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94B4FD-8D6F-4D08-BF43-3C06FF67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8792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5A5B90-7620-4AC8-A8C3-18B00AFE5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BF6ADE-C4EF-4F9E-AA50-A81D76E5049A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6E13E8-4573-40FC-96F3-93024E1783C4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25AC1F-0673-4349-9F56-6FB285B53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F22ED5-5659-43FD-A2B7-EFF4A0618040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89F004D-5ADD-449B-8A12-75EDBE8DB72A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54AF2BE-36A6-4C9F-BFE9-6D6019D783CE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75436D-23B1-44F4-A4C7-08FA4D7C0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153275"/>
            <a:ext cx="12496800" cy="1123950"/>
          </a:xfrm>
          <a:prstGeom xmlns:a="http://schemas.openxmlformats.org/drawingml/2006/main" prst="roundRect">
            <a:avLst>
              <a:gd name="adj" fmla="val 13559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836A3FB-9BA5-41C3-A8AC-5293B69746DD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[主要發現：用一句話說明差異]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0A90C20-F2C3-4D13-85C9-38495EA91A1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[限制、例外或需要進一步驗證的項目]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>
  <p:cSld name="13 實驗一：各次 trial 暴露的問題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c969a840354c7e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c0568cf98e4798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235730dc334e6d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9df04d5b434a26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C9F23B-D2C5-4331-95AA-612F5C7762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8014BF-857D-4C28-83CE-B7799484BBB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CA189B-B81A-470C-B4ED-FED5861F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6976B6-88F1-4F2A-93EB-51E5EEFCE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3316C7-271B-4029-9D55-6F632D886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7E02A1-7364-444D-8752-EE9D40BB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E83D5C-E761-43A1-8626-2BC24A4E612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E47639-3368-40B6-BFB9-EE0D4622E2C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903521-AF9E-4ECC-8478-45FCA5C22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767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7C5AF1-E1A9-4548-94C7-3AE73B775AC4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13A9B7-A058-4BA9-BD72-545B12FA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95825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947B2C-1A4D-4FD5-B318-F9525DF34A85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FF44E9-831E-41FD-ABA9-2FCF2F7EF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BB547B-3846-413C-99C2-CDA72725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ECD1AC-EF64-4329-9038-1F514657CEA9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5D4C48-AF43-465D-AEE5-5168C3965EB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80BE85-3E90-4C85-A712-FB035A0AF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0767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1D2C81-1AEB-4C74-9EB2-71D6F6683CD5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3DCD29-C53F-4B5A-BC57-912F5E70D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695825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9BCE1E-2AD8-4C34-8A7F-53C1A67E92DB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8E3D75-4019-4438-AAF7-F759754E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8792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16EFCB-D387-4834-AD97-5CF9D915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48987C-FACF-4466-8DF9-DC5B9BE3CB4C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5CDE18-F898-4B5D-A39D-E06810D5E008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D4A024-16A2-47B0-B965-80112B673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767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C566F9-33E8-4A1F-B484-347B10A19537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0F6F06-56BC-49CB-93FB-5F02E6F01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695825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F7ABE5-2369-413D-B1F9-20D6A46DD69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>
  <p:cSld name="14 實驗二：補規則後仍有錯誤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ea9457fb544eb4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7d188d02d749ba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e93e98c779420d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9a0b327f6a4cfe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FD8ABC-2479-4851-8AAA-4350CB6585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[實驗／結果比較]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CD23CB-CB5A-4793-8BD1-3AE99854EF2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[固定條件，只改變的實驗變因]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7D9CC2-BCE2-4E9B-A59F-13003B6A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2E5DEF-0248-445C-A710-C91B9A719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E8C8A8-AAF9-473F-B137-1DEB5108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8D400E-037E-4644-9C69-BACE5D59B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A63389-C72C-4CA6-8786-03178DF5624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56CC17-8774-4773-8742-ACA5D058DEC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E89ECE-29E7-4111-80A2-88760404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D5BA4A-C133-4636-B6EB-F6060B099FDB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807FE3-DD96-4D56-9E41-CC916BEFC0EB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6AF587-2BBC-4194-B156-3C191829BE5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9235AC-1B99-4AC1-AAF4-85FF0B25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CE8053-D4C4-4B99-9AF8-BB0CACBF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3FED7C-B8B3-41BD-9CE7-3D6738E83CD0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48D883-E747-43F5-969A-17391BAFD41C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120FFB-C359-4CDA-ADC5-76D1B1202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561317-97C8-427F-A6D2-FD702A3DBE8C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D77DB5-B14E-488C-B6F6-15F1EC0C0513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F17F2B-144D-43D7-AA6C-FCBFABD9CBD6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BB34A3-9DC6-4281-A58B-9686328EE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8792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9D1CD9-56AB-4411-8E2A-D5829F6B9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D8EAD4-DCD1-4D20-88E3-D00A151D7DB0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6BDBF0-2BEF-4BF8-90BD-F0CAA8423C4B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ADB4E98-E017-430F-8CCC-3B6E3E30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86896A-C2E5-4FC4-BD91-4855272BE9B2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4383F1-2CF0-4483-ACCA-98F401A856A3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8626478-3E0A-4275-8BB5-C27B42128223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6A31EE-DF06-4D44-976B-3EB0B6D0D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153275"/>
            <a:ext cx="12496800" cy="1123950"/>
          </a:xfrm>
          <a:prstGeom xmlns:a="http://schemas.openxmlformats.org/drawingml/2006/main" prst="roundRect">
            <a:avLst>
              <a:gd name="adj" fmla="val 13559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7A4C9A0-7CAB-463E-B4E9-02584BB88CE5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[主要發現：用一句話說明差異]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224D899-FC49-43AF-8C42-B2D7B20C3FA0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[限制、例外或需要進一步驗證的項目]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>
  <p:cSld name="15 實驗二：Strategy 的三個變體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9a0eac6ffa4536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893e17146d4e79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76c1950ae3469e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c1b0b61a724c96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A9CB95-6BCB-424F-B40A-6FCC7A4E47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67CF8D-EEC5-448E-AB2F-DE641C85670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B3B1BF-AF6F-47D1-A2F9-2CC8459A3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74CC3E-C45C-49D9-8C30-8E68E67D1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181E90-2253-430E-AAED-93CC8E83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5BC476-9000-477F-B18F-03777268E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21472E-8A03-4F68-A2D8-9749E9079C4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0478C8-2F90-49A3-920E-1AC93764D02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81590D-2705-422E-BCBB-54B90ADE4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767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87E06A-0437-429B-8143-B44EA8983914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24FDDD-8C75-4A87-BD32-9B09E9141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95825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CB581B-C398-4B68-A38F-28AA9792F69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B95AFA-5FBA-474B-B4F1-CBA84A3D4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41E271-0591-4821-B027-8D8F6F235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E0CC13-F6E5-4A5D-9029-B1EA756B7399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F0179D-20FC-4FA9-BE29-3EDCC3370378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0788D0-DA8F-4C07-BBA0-91414EC5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0767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BD796E-974C-417A-BB1B-B07391847A0A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D4E2AA-6867-4B86-8B83-9ADE97C95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695825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234246-D03A-4013-AB6B-CD8D8B1E6FE1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67D9D4-82C1-44B6-B81A-45A41AE1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8792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AFB9CF-4D05-4875-A2AB-245A4C5E1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143D9B-79C6-4022-B3B3-FBC1D6BD5907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77C91F-EB02-4D24-9516-938117198B13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C37E53-3601-4E92-8B28-ECA4A8204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767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8912BF-52F2-4290-BA39-C61AC0E5DEDE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3917EB1-B1B4-4596-A898-C5F44B272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695825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E0BF254-1411-4C5B-9B46-A4EECC1471E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>
  <p:cSld name="16 實驗二：Code 與 Balance 的問題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c612a60de944d9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5bf195c5ae4de0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98f075ab3c4ac2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d4a691554149e2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AFA604-6AC8-4B6D-B667-025AA02572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8334A5-9A9C-4D20-90B8-15B2511DA2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35560C-C406-4CD3-8576-D89D4107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BDAA00-C758-49DD-B7EE-BA34237AD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7C7FC1-B7C5-4889-B538-D09B458E6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4D3E40-F96A-4821-BB26-013FF1E43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03DA23-724D-4D92-9723-6C134808A95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13174C-F036-44F8-BF63-7E92E9286DC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7F70F8-DBBD-4D2C-83B9-93A3A7F9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131594-68CD-4645-9E0A-8C2DE3594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0AFB94-4EB2-4084-AE8A-8C724EE880DB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91FF36-0C5D-4BD3-BB1E-7D7D26012E81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D92920-81EB-4427-84C2-4F0F165DA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EA2268-940E-40B8-A21D-2E5B08AF3210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[本次會議需要取得的決定]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>
  <p:cSld name="17 實驗三：用上游子代驗證 Compliance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7e5b5dc35e40b3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3498c6b4594ef1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e50a6461b54f30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636c046b1e4fa5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C7AA01-9BED-421D-8845-1551E333D8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[輸入、轉換與輸出]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C4ADA5-4DE0-44F9-B017-30F1EE0FCBC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[物件定義與責任邊界]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E3B49A-9B04-4BEB-AD7D-69A277EDA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257D99-C641-4C36-B864-A6EEED2BF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B52AEC-3AFC-4190-BF66-E48FA9F53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00375"/>
            <a:ext cx="6286500" cy="3810000"/>
          </a:xfrm>
          <a:prstGeom xmlns:a="http://schemas.openxmlformats.org/drawingml/2006/main" prst="roundRect">
            <a:avLst>
              <a:gd name="adj" fmla="val 400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37F6F5-4573-4FF9-AF7F-DC72CAC0205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81100" y="3305175"/>
            <a:ext cx="590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[輸入結構]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FB04B1-76A4-4B4A-9773-761E8FE89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86225"/>
            <a:ext cx="5753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F205C8-34F8-4BC7-B31C-1B61FE56346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38250" y="4276725"/>
            <a:ext cx="579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[組件 A]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[組件 B]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[組件 C]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7ADD8A-70C7-4666-80DA-1EEFC82F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00375"/>
            <a:ext cx="2476500" cy="3810000"/>
          </a:xfrm>
          <a:prstGeom xmlns:a="http://schemas.openxmlformats.org/drawingml/2006/main" prst="roundRect">
            <a:avLst>
              <a:gd name="adj" fmla="val 6154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51A669-1C9A-4EFD-8FFD-ED7CA70A698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8439150" y="3305175"/>
            <a:ext cx="209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[轉換機制]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729A2B-9975-4423-B574-9A70E2C59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86225"/>
            <a:ext cx="1943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150737-6D86-460E-86F4-E5FB5654A873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496300" y="4276725"/>
            <a:ext cx="198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[規則／方法]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[處理邏輯]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DEDEAC-0746-47FB-AD23-F7541B50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000375"/>
            <a:ext cx="3219450" cy="3810000"/>
          </a:xfrm>
          <a:prstGeom xmlns:a="http://schemas.openxmlformats.org/drawingml/2006/main" prst="roundRect">
            <a:avLst>
              <a:gd name="adj" fmla="val 4734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A63A44-78FE-4EE8-BFA4-5CA0DEF07583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1906250" y="3305175"/>
            <a:ext cx="2838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[輸出結果]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C0039B-09AC-48C0-98D7-EA23556B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82450" y="4086225"/>
            <a:ext cx="26860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C4830D-C1F9-47E9-872D-675C5ECBED3F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11963400" y="4276725"/>
            <a:ext cx="272415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[產物]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[驗證方式]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1FD3CC-B84E-4512-8DA7-EC0BA29E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4714875"/>
            <a:ext cx="485775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CB7FA3-0167-4D67-B23E-4217EFA3C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4714875"/>
            <a:ext cx="485775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13E170-E0C2-40B2-B6D6-1271AEFA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439025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E6F7B4-6CD6-4A09-83D6-0F94A400FFD6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3314700" y="7458075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[關鍵邊界：哪些內容會改變、哪些會保留]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>
  <p:cSld name="18 實驗三：10 / 12 次安全套用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e203846ecb458f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4d87701cad414f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7ec723ca42447d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cd98a107774dfc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896C2F-1274-45DA-9901-52A85AD134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[實驗／結果比較]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E9A504-B235-4A83-9C02-9CC86316EE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[固定條件，只改變的實驗變因]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909635-3748-49DE-AE37-526BFA1B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E707CA-8037-42E4-9DFF-CC690D7CB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E5554E-1BDF-481E-8606-B2BB639CE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2F32FE-FD70-4869-B642-0135738C8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F915AC-23FD-4D5F-9158-7E3A5CC6F71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93994A-8EC5-402C-80A9-127F6DD9889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FD1E18-A200-4730-AB38-87699B17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7D412E-6212-417B-A361-C1591DA273E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1D37F4-9161-4C33-B4F7-8C5B38EB5573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0EAD87-BC33-4E56-815B-888E757F17F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D96896-F766-4E5F-A27B-185707D6A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FC1C1D-6B52-41E0-80D8-E4A68CC0A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27D898-EED6-4B2A-9813-58AC90F36EF0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C79102-9106-448D-BBFD-CE8B606E14EC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DAD53E-7E1E-4518-A132-D8AD4597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F2A464-1D86-4879-AE95-B7A217A4BB30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1395A4-3EF9-4CA3-8806-A3046FEDEB92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068B3B-8513-4138-A341-8E7D3496EAF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3C80D5-36D3-41D8-BA0C-B97E3CF8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8792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CBD09C-EF71-4BF4-97EC-7010AED97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228584-33B5-4167-AD49-413A51688CF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CC270A-04CE-4AFB-ADDA-5BE5EE795CF0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EA7D1E-0BEE-4B72-89E3-80A25547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C75237-3FBF-4437-996D-79D4D4A06F07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7B84E47-FF46-466B-B1AB-78E58CC7C2F7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2283B6-CDBC-4B67-BC62-29905601069E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8A12F9-F4CB-40BF-84EC-093A598E0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153275"/>
            <a:ext cx="12496800" cy="1123950"/>
          </a:xfrm>
          <a:prstGeom xmlns:a="http://schemas.openxmlformats.org/drawingml/2006/main" prst="roundRect">
            <a:avLst>
              <a:gd name="adj" fmla="val 13559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E51991-B61F-401F-9B04-8BA5E2B76A31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[主要發現：用一句話說明差異]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EF4EF70-847F-4AE3-97DE-8FF9AA06490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[限制、例外或需要進一步驗證的項目]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>
  <p:cSld name="19 實驗三：兩次拒絕與後續修補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fcccc4c9a94947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8709739e74469d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5f0957ed824aa6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4a5323553b4f31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B1FE57-F172-4578-867E-87CC7FEBC8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E46AAD-68FE-4A59-B371-E995EE8FBDB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A67778-AB25-4738-B55D-D00DD64B4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387AD4-B6F9-4EE3-B3D2-430027096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C66883-20AF-4C2F-BCE2-7F9441EDD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3B896A-EC00-42CC-95B4-DB066174D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53D851-4E58-47A6-8EB4-97F9724F6D8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A4CDEE-9E87-4D8D-BEB8-34685E224BD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E7D226-4A94-4F5E-9BDF-A34C7B56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AFF6C7-28CD-4427-AC45-8D08AD54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2B1DAB-8A3F-4559-AB5F-4C22585B68D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DBFDE8-B891-4966-A5B7-7F722B335D8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86C7A9-192E-4AF1-A2A6-0E644222E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16E766-F066-407E-8567-662FB727EF5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[本次會議需要取得的決定]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>
  <p:cSld name="20 實驗四：三種固定比例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442eed23534f75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234cba26b6423f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0aeba608a240f5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d362fce7e34fb5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424A38-0F51-4380-9B0C-3FE7770B94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C59988-783A-4EE8-8A8D-8E2A6161DCA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C032E2-4233-48C0-A877-260FB661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5CD556-93A6-41EF-A36D-6FE80B0FE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908BDF-12C8-4E04-80CE-8F728AF9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CBCB18-CA05-43DC-BA34-58FE62B17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22D6BB-3625-48C7-A2E5-ED0F2DB52FB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461D8B-0169-42E5-938A-A13CB5DC958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BDB2E0-F129-4FDC-A207-807ECDA5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767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D3BE1D-683D-4F38-87D7-CEC61175BEAF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00598F-8764-403D-878A-E35F8B5DC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95825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0AB986-BD2E-4574-9758-F10252F4B2C2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40169E-7E36-4380-ACE9-DB1570D22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B2DE82-C4F7-4475-B80E-5DC6006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D44C6B-F804-4C03-ADBB-124A58EF7290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1E3FD3-45A2-49ED-8EBD-C9098C2EFE89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FA5529-7E94-400C-B085-6C31AA005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0767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BFD4F0-3DE9-43BB-A75B-34F186D3399B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A087DD-E281-4C1D-80E1-5B3F3B449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695825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D2556B-9CC5-4112-A458-D278834AB999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BE5E2E-FC0E-4305-982E-4B06FECB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8792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E3ACBC-9BAC-4955-A9EC-00DED7893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BD4EE3-8FFE-44C8-943F-4C2F11637834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8961F8-DC91-4FFD-B2A3-38BD5577DBD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98EC7D-81F5-48EF-BAE7-F1E77AA9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0767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1499BE4-C8BD-407A-902F-38D8FF61861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8F88B3-2198-4A41-BD25-542D29E8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695825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F698087-CED7-4843-ADDD-9582C71C4904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 preserve="1">
  <p:cSld name="21 比例實驗的整體結果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af5d0f65f049d6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de2dd584c54784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4804e7624c4717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786a6bbf9f4384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67B2A3-2942-4426-B26C-66CB6BC410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[簡報主題]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AF74FD-BFF7-4A33-9463-4768460B07B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[英文副標或一句研究問題]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00349C-4AA4-4A86-8AA0-F79A2ED7B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C7AF4B-5E27-441E-AABE-DBB13AFEF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</p:spTree>
  </p:cSld>
</p:sldLayout>
</file>

<file path=ppt/slideLayouts/slideLayout22.xml><?xml version="1.0" encoding="utf-8"?>
<p:sldLayout xmlns:p="http://schemas.openxmlformats.org/presentationml/2006/main" preserve="1">
  <p:cSld name="22 每代生存者的平均 GP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c214f12b114e11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2493f86d2f424b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bed05aa5c14a36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6d85ebc8fa4edf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E444A1-7D15-4A4A-8357-CAD2618ECD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[簡報主題]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AEE363-A78B-40CC-9D63-236A00BE0B0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[英文副標或一句研究問題]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89450E-99B3-42CB-A574-56CB297F6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6C51CA-3599-4866-8947-75980E42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</p:spTree>
  </p:cSld>
</p:sldLayout>
</file>

<file path=ppt/slideLayouts/slideLayout23.xml><?xml version="1.0" encoding="utf-8"?>
<p:sldLayout xmlns:p="http://schemas.openxmlformats.org/presentationml/2006/main" preserve="1">
  <p:cSld name="23 600 場 Final Test 的 champion 結果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c73511d4b743d9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cbcb9470674137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f98a195ceb4f13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83a60522704a3d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A92FE7-E03E-4A09-B751-6568B632E9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[簡報主題]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7C9B60-544C-4142-A685-9384CE80405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[英文副標或一句研究問題]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F4A7D4-4B1F-4332-8C56-9ADC3A91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56C80A-2B64-40E4-94CB-0582D6A4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</p:spTree>
  </p:cSld>
</p:sldLayout>
</file>

<file path=ppt/slideLayouts/slideLayout24.xml><?xml version="1.0" encoding="utf-8"?>
<p:sldLayout xmlns:p="http://schemas.openxmlformats.org/presentationml/2006/main" preserve="1">
  <p:cSld name="24 可靠度與 LLM 成本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aaca7cd8764859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690710f9774282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0402013a554cd5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4d5632dd3249c3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21EEF4-D8CF-4883-9D40-9D3A056A66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[實驗／結果比較]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A19A4A-AB74-421A-9C64-F5A1BF9373C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[固定條件，只改變的實驗變因]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241240-8C90-4FB7-9CA7-651FB50E0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7EF220-8A31-473D-B76D-03236A11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F36C7F-7AD2-4B1B-A998-B92805E3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63C4BB-9993-4A14-818D-78DCD526D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A26670-7453-40C9-95BB-B6EC0255ACC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C42FCE-B078-458E-B149-C295DFF8AA7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8F11B6-EC5B-4693-8998-71D9A04A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66D7FD-D75D-454B-A925-3994865A6EF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6962CF-6F33-482C-B8B5-471877B55781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BEBF1D-7D48-4A9B-A97D-B824A0A3E418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CABD07-605D-408C-92D4-49FAE4EB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F38E53-E8E4-4D29-A504-56B11ABF7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4D7A8F-D503-4002-BBC6-096232A68EC6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5FAD15-2CB9-4BE7-ADBF-5BF490047C7D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8A9D7D-C749-4C55-B75B-650AA32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615635-C758-4111-96D7-886ECEE7359F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2AC40F-BDBB-48B3-95A8-37F4ECCE92D8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864305-CFE8-4E1C-8E27-56CD48FC259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C7F6B7-235C-4227-8DC5-201E22B07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8792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0AC867-52A1-4533-A4DC-C01B986DD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D45094-372B-4C9C-9401-538562EBD6F7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CBE7C2-116E-43D9-81F2-ECDC4008435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518398-B000-40D0-9759-D516BB15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E1ED21C-A10A-49BA-91DD-7C38066DE934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16FFDC-BA03-4364-9386-D4B9EDE6EFA0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920AA8-1B43-4C9B-96A7-DBB99191709D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36CBD41-16B6-4577-8236-17778753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153275"/>
            <a:ext cx="12496800" cy="1123950"/>
          </a:xfrm>
          <a:prstGeom xmlns:a="http://schemas.openxmlformats.org/drawingml/2006/main" prst="roundRect">
            <a:avLst>
              <a:gd name="adj" fmla="val 13559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C441F4C-7E38-463C-9CCF-E222D5039F1B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[主要發現：用一句話說明差異]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0E24A3-6AE8-408E-8865-F4B76E68AF0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[限制、例外或需要進一步驗證的項目]</a:t>
            </a:r>
          </a:p>
        </p:txBody>
      </p:sp>
    </p:spTree>
  </p:cSld>
</p:sldLayout>
</file>

<file path=ppt/slideLayouts/slideLayout25.xml><?xml version="1.0" encoding="utf-8"?>
<p:sldLayout xmlns:p="http://schemas.openxmlformats.org/presentationml/2006/main" preserve="1">
  <p:cSld name="25 09/07 的 AOS 設定與比較限制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352c1df425477c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ac322518cd424d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819928db6845b1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c6440d468c4160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FC1719-03F6-4004-A9B2-954BC1FC72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658064-7C59-4E3E-B35B-75D974E55A8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C4DEEF-BC2E-4E9C-9210-2D3BF592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6B3F01-055B-4903-ABA3-3A85B12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B6A8DD-5477-44F2-B3D5-A42E1C4C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990DE9-2F60-4401-8260-BA861A43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DE4B67-D5D9-49B0-9942-F9948D378F4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FB6958-4CDD-4E01-A159-DD494A56538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2508D6-BC50-42A2-90F8-DB3C05D14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0BDB53-D5C1-4D9B-A0F8-53E18340A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AFD9DE-5155-41BB-871A-4C87927E235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56F6D4-B326-49CF-AE19-593E23A8A208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E1259A-59F0-481B-8F8A-D38F90089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452F53-6C58-4835-8DAF-A490707802E1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[本次會議需要取得的決定]</a:t>
            </a:r>
          </a:p>
        </p:txBody>
      </p:sp>
    </p:spTree>
  </p:cSld>
</p:sldLayout>
</file>

<file path=ppt/slideLayouts/slideLayout26.xml><?xml version="1.0" encoding="utf-8"?>
<p:sldLayout xmlns:p="http://schemas.openxmlformats.org/presentationml/2006/main" preserve="1">
  <p:cSld name="26 本次總結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ae942d9b8c4a98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c024286faf4ff9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7f4f353a8c4c14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e592b8e55c4696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E41975-7FDB-44DF-B111-E68635B583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165D19-EBA5-4014-84D5-F82E97A8968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97F3C8-EAFB-498E-AE44-B923F02BA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0414D7-4CC1-4EDE-BBE5-00DF27B0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AF53C4-E33F-48D9-8760-26EEA9646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1FF96C-0876-4101-93CF-E48501E53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6D9833-6B13-4D56-9D79-795964243E5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49859E-64B2-43E6-ACA2-E7E2CA5B00F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B280FD-E0D0-4A95-8085-7CB061E79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ACEB5A-DD26-4247-8948-CB66E3AA9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DD133A-568E-4299-95C4-3531724253E9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D5119E-4FA1-4CEB-B96E-7BF2CDFB799B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D9BE94-5B78-45D9-8F92-85861573A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418BD8-6623-4750-ADCB-90BCB542853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[本次會議需要取得的決定]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a102c12752447d0" /><Relationship Type="http://schemas.openxmlformats.org/officeDocument/2006/relationships/slideLayout" Target="/ppt/slideLayouts/slideLayout1.xml" Id="Rca05908001e74947" /><Relationship Type="http://schemas.openxmlformats.org/officeDocument/2006/relationships/slideLayout" Target="/ppt/slideLayouts/slideLayout2.xml" Id="Rf489624f36be4c74" /><Relationship Type="http://schemas.openxmlformats.org/officeDocument/2006/relationships/slideLayout" Target="/ppt/slideLayouts/slideLayout3.xml" Id="R233f1f661f6d45f8" /><Relationship Type="http://schemas.openxmlformats.org/officeDocument/2006/relationships/slideLayout" Target="/ppt/slideLayouts/slideLayout4.xml" Id="Rd2deba9881fa46ed" /><Relationship Type="http://schemas.openxmlformats.org/officeDocument/2006/relationships/slideLayout" Target="/ppt/slideLayouts/slideLayout5.xml" Id="R244814ce49194a98" /><Relationship Type="http://schemas.openxmlformats.org/officeDocument/2006/relationships/slideLayout" Target="/ppt/slideLayouts/slideLayout6.xml" Id="R421adcc919cb4c8a" /><Relationship Type="http://schemas.openxmlformats.org/officeDocument/2006/relationships/slideLayout" Target="/ppt/slideLayouts/slideLayout7.xml" Id="R8e8fb2236ce5474a" /><Relationship Type="http://schemas.openxmlformats.org/officeDocument/2006/relationships/slideLayout" Target="/ppt/slideLayouts/slideLayout8.xml" Id="R2ff65c778777400c" /><Relationship Type="http://schemas.openxmlformats.org/officeDocument/2006/relationships/slideLayout" Target="/ppt/slideLayouts/slideLayout9.xml" Id="R4bed3c1466564dcd" /><Relationship Type="http://schemas.openxmlformats.org/officeDocument/2006/relationships/slideLayout" Target="/ppt/slideLayouts/slideLayout10.xml" Id="R3585a37e6c864ac9" /><Relationship Type="http://schemas.openxmlformats.org/officeDocument/2006/relationships/slideLayout" Target="/ppt/slideLayouts/slideLayout11.xml" Id="R67472e4a73894ed6" /><Relationship Type="http://schemas.openxmlformats.org/officeDocument/2006/relationships/slideLayout" Target="/ppt/slideLayouts/slideLayout12.xml" Id="R5d954b670d2b4f52" /><Relationship Type="http://schemas.openxmlformats.org/officeDocument/2006/relationships/slideLayout" Target="/ppt/slideLayouts/slideLayout13.xml" Id="R6dfc14c54fb147af" /><Relationship Type="http://schemas.openxmlformats.org/officeDocument/2006/relationships/slideLayout" Target="/ppt/slideLayouts/slideLayout14.xml" Id="R2a321bf9079c49ca" /><Relationship Type="http://schemas.openxmlformats.org/officeDocument/2006/relationships/slideLayout" Target="/ppt/slideLayouts/slideLayout15.xml" Id="R85bd432105d8422b" /><Relationship Type="http://schemas.openxmlformats.org/officeDocument/2006/relationships/slideLayout" Target="/ppt/slideLayouts/slideLayout16.xml" Id="R1c0092a56ded4458" /><Relationship Type="http://schemas.openxmlformats.org/officeDocument/2006/relationships/slideLayout" Target="/ppt/slideLayouts/slideLayout17.xml" Id="R663c4c8e55ac43f5" /><Relationship Type="http://schemas.openxmlformats.org/officeDocument/2006/relationships/slideLayout" Target="/ppt/slideLayouts/slideLayout18.xml" Id="R376b9e697d594fb7" /><Relationship Type="http://schemas.openxmlformats.org/officeDocument/2006/relationships/slideLayout" Target="/ppt/slideLayouts/slideLayout19.xml" Id="R9265d190939a4dda" /><Relationship Type="http://schemas.openxmlformats.org/officeDocument/2006/relationships/slideLayout" Target="/ppt/slideLayouts/slideLayout20.xml" Id="Rf3f8bf51a9934504" /><Relationship Type="http://schemas.openxmlformats.org/officeDocument/2006/relationships/slideLayout" Target="/ppt/slideLayouts/slideLayout21.xml" Id="Rd1554053badd4eb1" /><Relationship Type="http://schemas.openxmlformats.org/officeDocument/2006/relationships/slideLayout" Target="/ppt/slideLayouts/slideLayout22.xml" Id="R994dae7158f44b7e" /><Relationship Type="http://schemas.openxmlformats.org/officeDocument/2006/relationships/slideLayout" Target="/ppt/slideLayouts/slideLayout23.xml" Id="R49b89930ed7341a5" /><Relationship Type="http://schemas.openxmlformats.org/officeDocument/2006/relationships/slideLayout" Target="/ppt/slideLayouts/slideLayout24.xml" Id="R4afa4f93962b4148" /><Relationship Type="http://schemas.openxmlformats.org/officeDocument/2006/relationships/slideLayout" Target="/ppt/slideLayouts/slideLayout25.xml" Id="Re7d7002622714650" /><Relationship Type="http://schemas.openxmlformats.org/officeDocument/2006/relationships/slideLayout" Target="/ppt/slideLayouts/slideLayout26.xml" Id="Rd785fc97c6544a65" /></Relationships>
</file>

<file path=ppt/slideMasters/slideMaster1.xml><?xml version="1.0" encoding="utf-8"?>
<p:sldMaster xmlns:p="http://schemas.openxmlformats.org/presentationml/2006/main">
  <p:cSld name="Meeting 0830 Floral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a05908001e74947"/>
    <p:sldLayoutId xmlns:r="http://schemas.openxmlformats.org/officeDocument/2006/relationships" id="2147483650" r:id="Rf489624f36be4c74"/>
    <p:sldLayoutId xmlns:r="http://schemas.openxmlformats.org/officeDocument/2006/relationships" id="2147483651" r:id="R233f1f661f6d45f8"/>
    <p:sldLayoutId xmlns:r="http://schemas.openxmlformats.org/officeDocument/2006/relationships" id="2147483652" r:id="Rd2deba9881fa46ed"/>
    <p:sldLayoutId xmlns:r="http://schemas.openxmlformats.org/officeDocument/2006/relationships" id="2147483653" r:id="R244814ce49194a98"/>
    <p:sldLayoutId xmlns:r="http://schemas.openxmlformats.org/officeDocument/2006/relationships" id="2147483654" r:id="R421adcc919cb4c8a"/>
    <p:sldLayoutId xmlns:r="http://schemas.openxmlformats.org/officeDocument/2006/relationships" id="2147483655" r:id="R8e8fb2236ce5474a"/>
    <p:sldLayoutId xmlns:r="http://schemas.openxmlformats.org/officeDocument/2006/relationships" id="2147483656" r:id="R2ff65c778777400c"/>
    <p:sldLayoutId xmlns:r="http://schemas.openxmlformats.org/officeDocument/2006/relationships" id="2147483657" r:id="R4bed3c1466564dcd"/>
    <p:sldLayoutId xmlns:r="http://schemas.openxmlformats.org/officeDocument/2006/relationships" id="2147483658" r:id="R3585a37e6c864ac9"/>
    <p:sldLayoutId xmlns:r="http://schemas.openxmlformats.org/officeDocument/2006/relationships" id="2147483659" r:id="R67472e4a73894ed6"/>
    <p:sldLayoutId xmlns:r="http://schemas.openxmlformats.org/officeDocument/2006/relationships" id="2147483660" r:id="R5d954b670d2b4f52"/>
    <p:sldLayoutId xmlns:r="http://schemas.openxmlformats.org/officeDocument/2006/relationships" id="2147483661" r:id="R6dfc14c54fb147af"/>
    <p:sldLayoutId xmlns:r="http://schemas.openxmlformats.org/officeDocument/2006/relationships" id="2147483662" r:id="R2a321bf9079c49ca"/>
    <p:sldLayoutId xmlns:r="http://schemas.openxmlformats.org/officeDocument/2006/relationships" id="2147483663" r:id="R85bd432105d8422b"/>
    <p:sldLayoutId xmlns:r="http://schemas.openxmlformats.org/officeDocument/2006/relationships" id="2147483664" r:id="R1c0092a56ded4458"/>
    <p:sldLayoutId xmlns:r="http://schemas.openxmlformats.org/officeDocument/2006/relationships" id="2147483665" r:id="R663c4c8e55ac43f5"/>
    <p:sldLayoutId xmlns:r="http://schemas.openxmlformats.org/officeDocument/2006/relationships" id="2147483666" r:id="R376b9e697d594fb7"/>
    <p:sldLayoutId xmlns:r="http://schemas.openxmlformats.org/officeDocument/2006/relationships" id="2147483667" r:id="R9265d190939a4dda"/>
    <p:sldLayoutId xmlns:r="http://schemas.openxmlformats.org/officeDocument/2006/relationships" id="2147483668" r:id="Rf3f8bf51a9934504"/>
    <p:sldLayoutId xmlns:r="http://schemas.openxmlformats.org/officeDocument/2006/relationships" id="2147483669" r:id="Rd1554053badd4eb1"/>
    <p:sldLayoutId xmlns:r="http://schemas.openxmlformats.org/officeDocument/2006/relationships" id="2147483670" r:id="R994dae7158f44b7e"/>
    <p:sldLayoutId xmlns:r="http://schemas.openxmlformats.org/officeDocument/2006/relationships" id="2147483671" r:id="R49b89930ed7341a5"/>
    <p:sldLayoutId xmlns:r="http://schemas.openxmlformats.org/officeDocument/2006/relationships" id="2147483672" r:id="R4afa4f93962b4148"/>
    <p:sldLayoutId xmlns:r="http://schemas.openxmlformats.org/officeDocument/2006/relationships" id="2147483673" r:id="Re7d7002622714650"/>
    <p:sldLayoutId xmlns:r="http://schemas.openxmlformats.org/officeDocument/2006/relationships" id="2147483674" r:id="Rd785fc97c6544a6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PMingLiU"/>
        <a:ea typeface="PMingLiU"/>
        <a:cs typeface="PMingLiU"/>
      </a:majorFont>
      <a:minorFont>
        <a:latin typeface="PMingLiU"/>
        <a:ea typeface="PMingLiU"/>
        <a:cs typeface="PMingLiU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43be4b8e2b47aa" /><Relationship Type="http://schemas.openxmlformats.org/officeDocument/2006/relationships/notesSlide" Target="/ppt/notesSlides/notesSlide1.xml" Id="Ra710c495e4dd4f5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89a78edfd94d72" /><Relationship Type="http://schemas.openxmlformats.org/officeDocument/2006/relationships/notesSlide" Target="/ppt/notesSlides/notesSlide2.xml" Id="Rd22625aa29f545b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d2306e7816d4d21" /><Relationship Type="http://schemas.openxmlformats.org/officeDocument/2006/relationships/notesSlide" Target="/ppt/notesSlides/notesSlide3.xml" Id="Ra889bd82dc5d414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ab550312c7f442b8" /><Relationship Type="http://schemas.openxmlformats.org/officeDocument/2006/relationships/notesSlide" Target="/ppt/notesSlides/notesSlide4.xml" Id="R09dd841dd8ea4ff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7ebd2fdddb584153" /><Relationship Type="http://schemas.openxmlformats.org/officeDocument/2006/relationships/notesSlide" Target="/ppt/notesSlides/notesSlide5.xml" Id="Ra58d80b5240245a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4231c73b8c4de4" /><Relationship Type="http://schemas.openxmlformats.org/officeDocument/2006/relationships/notesSlide" Target="/ppt/notesSlides/notesSlide6.xml" Id="Re21b25d4d853496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28307a61e3a4998" /><Relationship Type="http://schemas.openxmlformats.org/officeDocument/2006/relationships/notesSlide" Target="/ppt/notesSlides/notesSlide7.xml" Id="R0675b18ce47942b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ed85c0f3e55b4e36" /><Relationship Type="http://schemas.openxmlformats.org/officeDocument/2006/relationships/notesSlide" Target="/ppt/notesSlides/notesSlide8.xml" Id="Ra901aa8ed72244a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6b7689cfd36b4490" /><Relationship Type="http://schemas.openxmlformats.org/officeDocument/2006/relationships/notesSlide" Target="/ppt/notesSlides/notesSlide9.xml" Id="Rb441fa2f7e784ad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0.xml" Id="Rff6628a18b5b48d1" /><Relationship Type="http://schemas.openxmlformats.org/officeDocument/2006/relationships/notesSlide" Target="/ppt/notesSlides/notesSlide10.xml" Id="R0b7a5cd332594ac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8dab0c0f1e5345fc" /><Relationship Type="http://schemas.openxmlformats.org/officeDocument/2006/relationships/notesSlide" Target="/ppt/notesSlides/notesSlide11.xml" Id="R602abbb93bd9456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d29f686aa47840f0" /><Relationship Type="http://schemas.openxmlformats.org/officeDocument/2006/relationships/notesSlide" Target="/ppt/notesSlides/notesSlide12.xml" Id="R224573c794de433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3c663702e7214a2c" /><Relationship Type="http://schemas.openxmlformats.org/officeDocument/2006/relationships/notesSlide" Target="/ppt/notesSlides/notesSlide13.xml" Id="Rd873e591c386489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4.xml" Id="R53df11e72d0247de" /><Relationship Type="http://schemas.openxmlformats.org/officeDocument/2006/relationships/notesSlide" Target="/ppt/notesSlides/notesSlide14.xml" Id="R64dc8cc3d0494bb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5.xml" Id="R47b3356439c448a6" /><Relationship Type="http://schemas.openxmlformats.org/officeDocument/2006/relationships/notesSlide" Target="/ppt/notesSlides/notesSlide15.xml" Id="Ra1417cd5b40e49c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6.xml" Id="Rf18e3edf78234417" /><Relationship Type="http://schemas.openxmlformats.org/officeDocument/2006/relationships/notesSlide" Target="/ppt/notesSlides/notesSlide16.xml" Id="R868e72f8290c493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4eee172283cc4f71" /><Relationship Type="http://schemas.openxmlformats.org/officeDocument/2006/relationships/notesSlide" Target="/ppt/notesSlides/notesSlide17.xml" Id="R14ff34d9288b425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8ad44db567c84c57" /><Relationship Type="http://schemas.openxmlformats.org/officeDocument/2006/relationships/notesSlide" Target="/ppt/notesSlides/notesSlide18.xml" Id="Ra14c1f457a6b489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9.xml" Id="Rbfb4527467474fe4" /><Relationship Type="http://schemas.openxmlformats.org/officeDocument/2006/relationships/notesSlide" Target="/ppt/notesSlides/notesSlide19.xml" Id="R56b0f6eb22ee4d7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0.xml" Id="Ra6c731f5c3f04a8d" /><Relationship Type="http://schemas.openxmlformats.org/officeDocument/2006/relationships/notesSlide" Target="/ppt/notesSlides/notesSlide20.xml" Id="R66cc1db4a42f4b7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1.xml" Id="Rb20ae645b00347b7" /><Relationship Type="http://schemas.openxmlformats.org/officeDocument/2006/relationships/notesSlide" Target="/ppt/notesSlides/notesSlide21.xml" Id="R7a8fea8d52014fe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2.xml" Id="Rc67f0edce1a944c1" /><Relationship Type="http://schemas.openxmlformats.org/officeDocument/2006/relationships/chart" Target="/ppt/slides/charts/chart1.xml" Id="Re86968cb7a834be8" /><Relationship Type="http://schemas.openxmlformats.org/officeDocument/2006/relationships/notesSlide" Target="/ppt/notesSlides/notesSlide22.xml" Id="R745ef02472ad491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b01f2cb0569f46c7" /><Relationship Type="http://schemas.openxmlformats.org/officeDocument/2006/relationships/chart" Target="/ppt/slides/charts/chart2.xml" Id="R43d720a1037541e7" /><Relationship Type="http://schemas.openxmlformats.org/officeDocument/2006/relationships/notesSlide" Target="/ppt/notesSlides/notesSlide23.xml" Id="Rd976c8b92e0949d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4.xml" Id="Rc85918779b044a59" /><Relationship Type="http://schemas.openxmlformats.org/officeDocument/2006/relationships/notesSlide" Target="/ppt/notesSlides/notesSlide24.xml" Id="R6a3abd6950424b0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5.xml" Id="R31c8cbece4ca480c" /><Relationship Type="http://schemas.openxmlformats.org/officeDocument/2006/relationships/notesSlide" Target="/ppt/notesSlides/notesSlide25.xml" Id="Rf55eee051744448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6.xml" Id="R51ebec527c9449e0" /><Relationship Type="http://schemas.openxmlformats.org/officeDocument/2006/relationships/notesSlide" Target="/ppt/notesSlides/notesSlide26.xml" Id="R0f764b0559a24795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20/20/60</c:v>
          </c:tx>
          <c:spPr>
            <a:ln xmlns:a="http://schemas.openxmlformats.org/drawingml/2006/main" w="38100">
              <a:solidFill>
                <a:srgbClr val="CF8792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CF8792"/>
              </a:solidFill>
            </c:spPr>
          </c:marker>
          <c:cat>
            <c:numLit>
              <c:formatCode>General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-90.5</c:v>
              </c:pt>
              <c:pt idx="1">
                <c:v>-89.4</c:v>
              </c:pt>
              <c:pt idx="2">
                <c:v>-87.9</c:v>
              </c:pt>
              <c:pt idx="3">
                <c:v>-85.3</c:v>
              </c:pt>
              <c:pt idx="4">
                <c:v>-84.9</c:v>
              </c:pt>
              <c:pt idx="5">
                <c:v>-82.8</c:v>
              </c:pt>
              <c:pt idx="6">
                <c:v>-85.3</c:v>
              </c:pt>
              <c:pt idx="7">
                <c:v>-84.6</c:v>
              </c:pt>
              <c:pt idx="8">
                <c:v>-79.5</c:v>
              </c:pt>
              <c:pt idx="9">
                <c:v>-81.9</c:v>
              </c:pt>
              <c:pt idx="10">
                <c:v>-81.8</c:v>
              </c:pt>
              <c:pt idx="11">
                <c:v>-82</c:v>
              </c:pt>
              <c:pt idx="12">
                <c:v>-80.9</c:v>
              </c:pt>
              <c:pt idx="13">
                <c:v>-79.6</c:v>
              </c:pt>
              <c:pt idx="14">
                <c:v>-81</c:v>
              </c:pt>
              <c:pt idx="15">
                <c:v>-78.9</c:v>
              </c:pt>
              <c:pt idx="16">
                <c:v>-76.1</c:v>
              </c:pt>
              <c:pt idx="17">
                <c:v>-49.7</c:v>
              </c:pt>
              <c:pt idx="18">
                <c:v>-50.9</c:v>
              </c:pt>
              <c:pt idx="19">
                <c:v>-60.3</c:v>
              </c:pt>
              <c:pt idx="20">
                <c:v>-65.4</c:v>
              </c:pt>
            </c:numLit>
          </c:val>
          <c:smooth val="0"/>
        </c:ser>
        <c:ser>
          <c:idx val="1"/>
          <c:order val="1"/>
          <c:tx>
            <c:v>33/33/34</c:v>
          </c:tx>
          <c:spPr>
            <a:ln xmlns:a="http://schemas.openxmlformats.org/drawingml/2006/main" w="38100">
              <a:solidFill>
                <a:srgbClr val="C69B45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C69B45"/>
              </a:solidFill>
            </c:spPr>
          </c:marker>
          <c:cat>
            <c:numLit>
              <c:formatCode>General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-90.4</c:v>
              </c:pt>
              <c:pt idx="1">
                <c:v>-87.7</c:v>
              </c:pt>
              <c:pt idx="2">
                <c:v>-73.8</c:v>
              </c:pt>
              <c:pt idx="3">
                <c:v>-68.1</c:v>
              </c:pt>
              <c:pt idx="4">
                <c:v>-64.6</c:v>
              </c:pt>
              <c:pt idx="5">
                <c:v>-59.7</c:v>
              </c:pt>
              <c:pt idx="6">
                <c:v>-66.4</c:v>
              </c:pt>
              <c:pt idx="7">
                <c:v>-65.7</c:v>
              </c:pt>
              <c:pt idx="8">
                <c:v>-59.8</c:v>
              </c:pt>
              <c:pt idx="9">
                <c:v>-59.2</c:v>
              </c:pt>
              <c:pt idx="10">
                <c:v>-62.4</c:v>
              </c:pt>
              <c:pt idx="11">
                <c:v>-63.2</c:v>
              </c:pt>
              <c:pt idx="12">
                <c:v>-53</c:v>
              </c:pt>
              <c:pt idx="13">
                <c:v>-50.9</c:v>
              </c:pt>
              <c:pt idx="14">
                <c:v>-57</c:v>
              </c:pt>
              <c:pt idx="15">
                <c:v>-60.7</c:v>
              </c:pt>
              <c:pt idx="16">
                <c:v>-54.8</c:v>
              </c:pt>
              <c:pt idx="17">
                <c:v>-55.8</c:v>
              </c:pt>
              <c:pt idx="18">
                <c:v>-57.4</c:v>
              </c:pt>
              <c:pt idx="19">
                <c:v>-53.5</c:v>
              </c:pt>
              <c:pt idx="20">
                <c:v>-53.4</c:v>
              </c:pt>
            </c:numLit>
          </c:val>
          <c:smooth val="0"/>
        </c:ser>
        <c:ser>
          <c:idx val="2"/>
          <c:order val="2"/>
          <c:tx>
            <c:v>40/40/20</c:v>
          </c:tx>
          <c:spPr>
            <a:ln xmlns:a="http://schemas.openxmlformats.org/drawingml/2006/main" w="38100">
              <a:solidFill>
                <a:srgbClr val="47171C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47171C"/>
              </a:solidFill>
            </c:spPr>
          </c:marker>
          <c:cat>
            <c:numLit>
              <c:formatCode>General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-90.6</c:v>
              </c:pt>
              <c:pt idx="1">
                <c:v>-90.7</c:v>
              </c:pt>
              <c:pt idx="2">
                <c:v>-91.2</c:v>
              </c:pt>
              <c:pt idx="3">
                <c:v>-90.6</c:v>
              </c:pt>
              <c:pt idx="4">
                <c:v>-90.6</c:v>
              </c:pt>
              <c:pt idx="5">
                <c:v>-90.3</c:v>
              </c:pt>
              <c:pt idx="6">
                <c:v>-90.5</c:v>
              </c:pt>
              <c:pt idx="7">
                <c:v>-90.6</c:v>
              </c:pt>
              <c:pt idx="8">
                <c:v>-90.6</c:v>
              </c:pt>
              <c:pt idx="9">
                <c:v>-90.4</c:v>
              </c:pt>
              <c:pt idx="10">
                <c:v>-90.3</c:v>
              </c:pt>
              <c:pt idx="11">
                <c:v>-90.2</c:v>
              </c:pt>
              <c:pt idx="12">
                <c:v>-90.4</c:v>
              </c:pt>
              <c:pt idx="13">
                <c:v>-90.2</c:v>
              </c:pt>
              <c:pt idx="14">
                <c:v>-90.1</c:v>
              </c:pt>
              <c:pt idx="15">
                <c:v>-90.3</c:v>
              </c:pt>
              <c:pt idx="16">
                <c:v>-90.3</c:v>
              </c:pt>
              <c:pt idx="17">
                <c:v>-90.4</c:v>
              </c:pt>
              <c:pt idx="18">
                <c:v>-90.4</c:v>
              </c:pt>
              <c:pt idx="19">
                <c:v>-90.1</c:v>
              </c:pt>
              <c:pt idx="20">
                <c:v>-90.2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PMingLiU"/>
                  <a:ea typeface="PMingLiU"/>
                  <a:cs typeface="PMingLiU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PMingLiU"/>
                    <a:ea typeface="PMingLiU"/>
                    <a:cs typeface="PMingLiU"/>
                  </a:rPr>
                  <a:t>Generation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PMingLiU"/>
                  <a:ea typeface="PMingLiU"/>
                  <a:cs typeface="PMingLiU"/>
                </a:defRPr>
              </a:pPr>
            </a:p>
          </c:txPr>
        </c:title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DEB4B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</a:p>
        </c:txPr>
        <c:crossAx val="48672768"/>
      </c:catAx>
      <c:valAx>
        <c:axId val="48672768"/>
        <c:scaling>
          <c:orientation val="minMax"/>
          <c:max val="-40"/>
          <c:min val="-1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EB4BA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PMingLiU"/>
                    <a:ea typeface="PMingLiU"/>
                    <a:cs typeface="PMingLiU"/>
                  </a:rPr>
                  <a:t>Survivor mean GP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PMingLiU"/>
                  <a:ea typeface="PMingLiU"/>
                  <a:cs typeface="PMingLiU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</a:p>
        </c:txPr>
        <c:crossAx val="48650112"/>
        <c:crossBetween val="between"/>
        <c:majorUnit val="10"/>
      </c:valAx>
      <c:spPr>
        <a:solidFill xmlns:a="http://schemas.openxmlformats.org/drawingml/2006/main">
          <a:srgbClr val="FCF8F5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100">
              <a:solidFill>
                <a:srgbClr val="47171C"/>
              </a:solidFill>
              <a:latin typeface="PMingLiU"/>
              <a:ea typeface="PMingLiU"/>
              <a:cs typeface="PMingLiU"/>
            </a:defRPr>
          </a:pPr>
        </a:p>
      </c:txPr>
    </c:legend>
    <c:plotVisOnly val="1"/>
  </c:chart>
  <c:spPr>
    <a:solidFill xmlns:a="http://schemas.openxmlformats.org/drawingml/2006/main">
      <a:srgbClr val="FCF8F5"/>
    </a:solidFill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bar"/>
        <c:grouping val="stacked"/>
        <c:varyColors val="0"/>
        <c:ser>
          <c:idx val="0"/>
          <c:order val="0"/>
          <c:tx>
            <c:v>Wins</c:v>
          </c:tx>
          <c:spPr>
            <a:solidFill xmlns:a="http://schemas.openxmlformats.org/drawingml/2006/main">
              <a:srgbClr val="C69B45"/>
            </a:solidFill>
          </c:spPr>
          <c:cat>
            <c:strLit>
              <c:ptCount val="3"/>
              <c:pt idx="0">
                <c:v>20/20/60</c:v>
              </c:pt>
              <c:pt idx="1">
                <c:v>33/33/34</c:v>
              </c:pt>
              <c:pt idx="2">
                <c:v>40/40/20</c:v>
              </c:pt>
            </c:strLit>
          </c:cat>
          <c:val>
            <c:numLit>
              <c:formatCode>0</c:formatCode>
              <c:ptCount val="3"/>
              <c:pt idx="0">
                <c:v>258</c:v>
              </c:pt>
              <c:pt idx="1">
                <c:v>223</c:v>
              </c:pt>
              <c:pt idx="2">
                <c:v>1</c:v>
              </c:pt>
            </c:numLit>
          </c:val>
        </c:ser>
        <c:ser>
          <c:idx val="1"/>
          <c:order val="1"/>
          <c:tx>
            <c:v>Draws</c:v>
          </c:tx>
          <c:spPr>
            <a:solidFill xmlns:a="http://schemas.openxmlformats.org/drawingml/2006/main">
              <a:srgbClr val="CF8792"/>
            </a:solidFill>
          </c:spPr>
          <c:cat>
            <c:strLit>
              <c:ptCount val="3"/>
              <c:pt idx="0">
                <c:v>20/20/60</c:v>
              </c:pt>
              <c:pt idx="1">
                <c:v>33/33/34</c:v>
              </c:pt>
              <c:pt idx="2">
                <c:v>40/40/20</c:v>
              </c:pt>
            </c:strLit>
          </c:cat>
          <c:val>
            <c:numLit>
              <c:formatCode>0</c:formatCode>
              <c:ptCount val="3"/>
              <c:pt idx="0">
                <c:v>31</c:v>
              </c:pt>
              <c:pt idx="1">
                <c:v>51</c:v>
              </c:pt>
              <c:pt idx="2">
                <c:v>170</c:v>
              </c:pt>
            </c:numLit>
          </c:val>
        </c:ser>
        <c:ser>
          <c:idx val="2"/>
          <c:order val="2"/>
          <c:tx>
            <c:v>Losses</c:v>
          </c:tx>
          <c:spPr>
            <a:solidFill xmlns:a="http://schemas.openxmlformats.org/drawingml/2006/main">
              <a:srgbClr val="E7D8D6"/>
            </a:solidFill>
          </c:spPr>
          <c:cat>
            <c:strLit>
              <c:ptCount val="3"/>
              <c:pt idx="0">
                <c:v>20/20/60</c:v>
              </c:pt>
              <c:pt idx="1">
                <c:v>33/33/34</c:v>
              </c:pt>
              <c:pt idx="2">
                <c:v>40/40/20</c:v>
              </c:pt>
            </c:strLit>
          </c:cat>
          <c:val>
            <c:numLit>
              <c:formatCode>0</c:formatCode>
              <c:ptCount val="3"/>
              <c:pt idx="0">
                <c:v>311</c:v>
              </c:pt>
              <c:pt idx="1">
                <c:v>326</c:v>
              </c:pt>
              <c:pt idx="2">
                <c:v>429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PMingLiU"/>
                  <a:ea typeface="PMingLiU"/>
                  <a:cs typeface="PMingLiU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7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</a:p>
        </c:txPr>
        <c:crossAx val="48672768"/>
      </c:catAx>
      <c:valAx>
        <c:axId val="48672768"/>
        <c:scaling>
          <c:orientation val="minMax"/>
          <c:max val="60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EB4BA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</a:p>
        </c:txPr>
        <c:crossAx val="48650112"/>
        <c:crossBetween val="between"/>
        <c:majorUnit val="100"/>
      </c:valAx>
      <c:spPr>
        <a:solidFill xmlns:a="http://schemas.openxmlformats.org/drawingml/2006/main">
          <a:srgbClr val="FCF8F5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175">
              <a:solidFill>
                <a:srgbClr val="47171C"/>
              </a:solidFill>
              <a:latin typeface="PMingLiU"/>
              <a:ea typeface="PMingLiU"/>
              <a:cs typeface="PMingLiU"/>
            </a:defRPr>
          </a:pPr>
        </a:p>
      </c:txPr>
    </c:legend>
    <c:plotVisOnly val="1"/>
  </c:chart>
  <c:spPr>
    <a:solidFill xmlns:a="http://schemas.openxmlformats.org/drawingml/2006/main">
      <a:srgbClr val="FCF8F5"/>
    </a:solidFill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D4BC21-883C-421C-8DF1-57908E9A67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EAGLE 研究進展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29AF34-AEF9-4229-A2F6-2B182D25E05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0903–0907 改版與實驗整理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1F7BBD-E659-4299-B60D-0A792B353B4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81250" y="3390900"/>
            <a:ext cx="111633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Reflection 的修正與驗證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F9369-D42B-47EE-9414-A41F4B8B527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3333750" y="5381625"/>
            <a:ext cx="9258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5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改版摘要　架構更新　實驗結果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ED7CEA-9516-417B-8E0A-A72FE609537F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3810000" y="6334125"/>
            <a:ext cx="830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Meeting 0910　2026.09.10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87AB83-512D-4765-B27B-343137770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01 / 26</a:t>
            </a:r>
          </a:p>
        </p:txBody>
      </p:sp>
    </p:spTree>
    <p:extLst>
      <p:ext uri="{BB962C8B-B14F-4D97-AF65-F5344CB8AC3E}">
        <p14:creationId xmlns:p14="http://schemas.microsoft.com/office/powerpoint/2010/main" val="246303132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E87168-0787-4C78-BBD5-5B5B7F2855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這段時間改了什麼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469102-9A8A-4A3F-93BB-7D7FBE94E86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先把 Reflection 的責任與失敗保護釐清，再比較演化效果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8CA033-3F8D-48E3-B4CD-8D99CFBBE19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447800" y="29432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F1E94D-C24D-42D2-B5F2-5A6CF0F27C6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114550" y="288607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09/03　反思輸出可單獨檢查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BDCED9-5290-4BE6-BC53-4AE88F3CA2A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2114550" y="334327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新增固定父代的重複 trial，保留輸入、response、實際欄位變動。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FBF06E-95E6-4F99-A749-5B40455A7406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447800" y="40576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A87A5C-5080-42A5-BB66-D7169DCDA51E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2114550" y="400050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09/03　補入完整遊戲規則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684C15-832C-4817-AA34-0EC67F4B0B94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2114550" y="445770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讓策略生成與反思取得 MicroRTS contract，減少不存在的單位與機制。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41D2F9-8EEF-446E-B990-A300D5D7328E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1447800" y="51720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95FE65-C33C-4483-9783-99C789E31387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2114550" y="511492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09/04　Balance 改為 Prompt Compliance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4DF7ED-84A9-46CC-9802-E5FC1F9A0D91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2114550" y="557212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只修 prompt 的規範問題；加入選擇性改寫、驗證與有限重試。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664638-1D72-42E0-8205-324C0F441204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447800" y="628650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E58D0B-585B-43F2-B634-49AE76FCD019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2114550" y="622935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09/04–09/07　比較比例並準備 AOS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19FAE7-CE6B-457D-AE91-10AADB59894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114550" y="668655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完成三組固定比例的演化測試，建立以 33/33/34 起跑的 AOS 設定。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5E9C92-A670-41F4-8D9F-2DD9654023BA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666875" y="7791450"/>
            <a:ext cx="12592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25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改版主線：可追溯的輸出 → 明確責任 → 合法性保護 → 實際演化比較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D409A2-23E1-4364-90CB-774C41D3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02 / 26</a:t>
            </a:r>
          </a:p>
        </p:txBody>
      </p:sp>
    </p:spTree>
    <p:extLst>
      <p:ext uri="{BB962C8B-B14F-4D97-AF65-F5344CB8AC3E}">
        <p14:creationId xmlns:p14="http://schemas.microsoft.com/office/powerpoint/2010/main" val="10704700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DC03E6-37FB-4F9A-8184-4381E5F26E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09/04 改版的核心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D83868-E59A-4B93-B189-7B72AC6BA55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Strategy 可改策略；Code 修翻譯；Compliance 修合法性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CD39BB-8DAF-438D-B734-90825BD8D2D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責任重新切開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788414-E54F-47AA-AB18-2D1451CB513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輸出保護更完整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F5E69E-5AF9-428A-AA23-885DC7B1B49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舊 Balance 用 W/D/L 同時重寫兩個 prompt，容易引入無依據概念。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新 Compliance 逐一稽核兩個 prompt，只改有 issue 的欄位。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Strategy 與 Code 保留各自的修改範圍。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E6E989-2D96-4289-90D3-7E6BEC34DBD9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遊戲規則集中在單一 contract，角色 prompt 引用規則。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錯誤輸出收到精確 validation error，最多重試 3 次。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兩個 gene 都需修正時，全部成功才一起套用。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450A80-D66E-4DD7-8048-8A859630797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初始化也補上本機模型 JSON 格式容錯；檢查成功與對戰表現分開評估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1F9121-428B-4706-B9C1-5552879BD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03 / 26</a:t>
            </a:r>
          </a:p>
        </p:txBody>
      </p:sp>
    </p:spTree>
    <p:extLst>
      <p:ext uri="{BB962C8B-B14F-4D97-AF65-F5344CB8AC3E}">
        <p14:creationId xmlns:p14="http://schemas.microsoft.com/office/powerpoint/2010/main" val="39881006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9C1F07-5647-4989-9C81-AF0E739698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EAGLE 目前完整流程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B6D6F5-9D13-46E5-80CC-8269E4AA6EF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0830 流程圖更新：180 場評估、Prompt Compliance 與混合初始族群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818BAC-98AA-4852-B527-76C1525BA44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5267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AEA0F1-8D92-4325-B0B7-17A8F9F9182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133475" y="335280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初始族群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90BCEE-DA08-4A57-8FD4-CF81CF1D139F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28725" y="42195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1 seed＋9 LLM 策略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G0 共用 Java 評估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B2BE65-7BD4-46AF-B29B-AEA33AB45687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606742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CBB441-D79E-41A6-BD42-BED6CA18B555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4848225" y="335280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父代選擇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D2F3F4-0CCC-43D7-A69B-1F0F0D1D759C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4943475" y="42195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10 個對手 cases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Lexicase 選擇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A5864B-CD35-4DA5-9C3A-9C36C4EE6247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978217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AE1C69-4FFF-4847-8733-B2F021345EBE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8562975" y="335280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交叉與反思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989CD8-0CC1-492E-AB91-1F0749C10ABE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8658225" y="42195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三組獨立交叉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可選 S / C / PC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526DB1-3656-43BE-B7E7-7C2180258F45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349692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F9EB42A-D2C0-48CE-8F8F-71BCD48F6E8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277725" y="335280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Java 生成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98E14C6-4179-40CA-97EA-38F683A27BD9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2372975" y="42195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完整 Java source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編譯引導最多 5 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F96A1E4-CE88-4AC0-9B25-D561693D65D8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349692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11ECA1-E9D1-4F20-B700-C415628BCBCD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277725" y="624840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驗證與編譯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728CDD-AB16-4659-9A0E-BD1C625676C9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2372975" y="71151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驗證 → 編譯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Integration 檢查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42134E6-9876-40E2-AB71-1E46F1402340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978217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BC866D4-0109-45CA-BFAD-53FF4C071BE1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8562975" y="624840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MicroRTS 評估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EA00F7D-A763-4F29-A482-975429DD84F0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8658225" y="71151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10 × 3 × 3 × 2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共 180 場評估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921377D-4ED3-45C3-AB0F-C8091F5EF071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06742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7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3BD2060-4E22-4046-B4BA-943D41C00E81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4848225" y="624840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評分與機率更新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45DA1AB-01E1-4527-BB46-AF087B91BCBA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4943475" y="71151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10 cases 供選擇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AOS 更新機率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FF1DEEC-EE46-4B89-913E-E4E179FBD10C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235267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8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4FB190A-9F5C-4D9C-965D-3FC5C8361BB0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1133475" y="624840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生存者選擇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826FA27-112F-4589-A62D-25B2D82CA763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1228725" y="71151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父代＋子代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20 選 10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A3610E9-1758-48CD-9D03-82F7D60FD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04 / 26</a:t>
            </a:r>
          </a:p>
        </p:txBody>
      </p:sp>
    </p:spTree>
    <p:extLst>
      <p:ext uri="{BB962C8B-B14F-4D97-AF65-F5344CB8AC3E}">
        <p14:creationId xmlns:p14="http://schemas.microsoft.com/office/powerpoint/2010/main" val="10734104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1EA575-14EE-4A32-B262-BF0D0CAAE7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EAGLE 演化的對象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7E511A-51D3-46F8-AAFB-6B74EA9DEDE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本期使用 inherited_genotype；輸入 Java 與新生成的 Java 分開保存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D42685-E805-4020-957B-C36A78347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05 / 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41BC45-89B7-4C29-8820-ECB822123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95575"/>
            <a:ext cx="65151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GENOTYPE　演化與繼承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7D0AAA-D753-4D8B-9B53-857B5FCE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76625"/>
            <a:ext cx="2047875" cy="3171825"/>
          </a:xfrm>
          <a:prstGeom xmlns:a="http://schemas.openxmlformats.org/drawingml/2006/main" prst="roundRect">
            <a:avLst>
              <a:gd name="adj" fmla="val 7442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B6F4D3-89DF-46C6-AEEE-8C10E2C99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76650"/>
            <a:ext cx="1857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Policy gene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887FE0-F713-4365-BD87-F096AE6FC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86250"/>
            <a:ext cx="17430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5D289A-5F6C-461B-B263-77E32397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57700"/>
            <a:ext cx="19335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575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strategy_prompt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1C88A7-A4CA-4974-8A9E-3306ADF42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33975"/>
            <a:ext cx="18192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具體遊戲策略</a:t>
            </a:r>
          </a:p>
          <a:p xmlns:a="http://schemas.openxmlformats.org/drawingml/2006/main">
            <a:pPr algn="ctr">
              <a:defRPr sz="20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由 Strategy 修改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60ADF3-AFA0-4437-9C9A-D05DE13BB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476625"/>
            <a:ext cx="2047875" cy="3171825"/>
          </a:xfrm>
          <a:prstGeom xmlns:a="http://schemas.openxmlformats.org/drawingml/2006/main" prst="roundRect">
            <a:avLst>
              <a:gd name="adj" fmla="val 7442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959039-2C05-4BA2-875B-1E1F2F22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676650"/>
            <a:ext cx="1857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Code prompt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97B923-680C-40D8-8F81-9B685B0F0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4286250"/>
            <a:ext cx="17430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19BA99-CBC3-4483-96DD-8DF3EC6B7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457700"/>
            <a:ext cx="19335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575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generation_prompt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45B970-3616-41CA-88E7-455291C5A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133975"/>
            <a:ext cx="18192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通用翻譯規則</a:t>
            </a:r>
          </a:p>
          <a:p xmlns:a="http://schemas.openxmlformats.org/drawingml/2006/main">
            <a:pPr algn="ctr">
              <a:defRPr sz="20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由 Code 修改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70BFF8-91C6-40ED-B000-54F14371C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476625"/>
            <a:ext cx="2047875" cy="3171825"/>
          </a:xfrm>
          <a:prstGeom xmlns:a="http://schemas.openxmlformats.org/drawingml/2006/main" prst="roundRect">
            <a:avLst>
              <a:gd name="adj" fmla="val 7442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5D3643-0B38-4702-99C9-C22769533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76650"/>
            <a:ext cx="1857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Java gene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DB9DC3-BA08-46F2-A8E5-3379059E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286250"/>
            <a:ext cx="17430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3AEDCD-8C2E-43E2-902E-684E99C34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457700"/>
            <a:ext cx="19335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575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inherited_java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F18686-B1C7-43DC-A255-B5C8215E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133975"/>
            <a:ext cx="18192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父代完整 Java</a:t>
            </a:r>
          </a:p>
          <a:p xmlns:a="http://schemas.openxmlformats.org/drawingml/2006/main">
            <a:pPr algn="ctr">
              <a:defRPr sz="20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反思不直接修改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8391A5-4379-409F-8B4F-8A91B093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867275"/>
            <a:ext cx="4762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D8B2CB-07F8-4237-ADFA-BC62FD24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476625"/>
            <a:ext cx="2524125" cy="3171825"/>
          </a:xfrm>
          <a:prstGeom xmlns:a="http://schemas.openxmlformats.org/drawingml/2006/main" prst="roundRect">
            <a:avLst>
              <a:gd name="adj" fmla="val 603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111B24-BD02-4584-B1D7-6D9A26DC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14750"/>
            <a:ext cx="2314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5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GENERATOR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8617663-2B0B-438D-AA77-1F8DBA63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286250"/>
            <a:ext cx="22002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17FCD6-6B1B-4ECD-B16D-17A955322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4572000"/>
            <a:ext cx="2219325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三個輸入 gene</a:t>
            </a:r>
          </a:p>
          <a:p xmlns:a="http://schemas.openxmlformats.org/drawingml/2006/main">
            <a:pPr algn="ctr"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＋固定 scaffold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輸出完整新 Java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4C3D023-1702-41AC-A887-0E1D55B6D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867275"/>
            <a:ext cx="4762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72FD9F-B5DC-4E22-BC55-15BA7EE10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476625"/>
            <a:ext cx="2924175" cy="3171825"/>
          </a:xfrm>
          <a:prstGeom xmlns:a="http://schemas.openxmlformats.org/drawingml/2006/main" prst="roundRect">
            <a:avLst>
              <a:gd name="adj" fmla="val 5212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EB4BA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5E5BA27-E652-429E-BB49-D4F628B33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4850" y="3714750"/>
            <a:ext cx="26574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5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PHENOTYPE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A39A45-A2B9-438B-8C03-E6BC8DE3F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428625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1FF010-B71C-4A18-BA9A-7C889C2E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4572000"/>
            <a:ext cx="25717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generated_java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驗證、編譯、整合</a:t>
            </a:r>
          </a:p>
          <a:p xmlns:a="http://schemas.openxmlformats.org/drawingml/2006/main">
            <a:pPr algn="ctr"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180 場 MicroRTS 評估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226B4B-BDEA-4425-8ABD-BBD2F0601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639050"/>
            <a:ext cx="1097280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2FB8206-5E15-4241-A2DB-5638738B6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76581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新生成的 Java 可供下一代繼承；Generator 保留兩個 prompt gene</a:t>
            </a:r>
          </a:p>
        </p:txBody>
      </p:sp>
    </p:spTree>
    <p:extLst>
      <p:ext uri="{BB962C8B-B14F-4D97-AF65-F5344CB8AC3E}">
        <p14:creationId xmlns:p14="http://schemas.microsoft.com/office/powerpoint/2010/main" val="42455547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301CAE-0A00-4D70-A288-708D8EEA9E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初始 Policy 的歷史比較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AD8BBF-49E2-49B3-8737-9F18FA50A95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0830 原始實驗重製；保留當時量測值，作為改採多樣 policy 的背景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708D6F-B66D-4161-9787-3882AE3C68B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343ABC-8278-4E16-AD12-E66D45A0463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BLANK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86008E-D355-4F5E-BA02-37D08BA7792D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Final Test W / D / 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23B3D3-EA1E-4D5A-ADC1-F29769374593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4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0 / 499 / 101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6112BE-73A9-46ED-8802-F913296384DB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Search wins：0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02108E-D0D3-4D48-AECC-9C8A3C4ACEB2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887690-5425-487C-8F11-0405B925A95C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RANDOM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1782FE-8EAA-4319-BD32-7F4D5315F349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Final Test W / D / 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597180-D76E-4241-9C97-482162F5BFD8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4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112 / 429 / 59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BE1183-0962-4857-8822-31AE86BB2963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Search wins：20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292D83-2AD9-4550-B9E7-14ED0C637B4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EF7549-0A00-44EB-9AC0-EA191A5D950B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WORKER RUSH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D37826-A376-4A12-8E33-2B03ABFE525D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Final Test W / D / 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AE8A3B-8756-4501-BBE5-A4AD74620505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4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258 / 325 / 17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262144-D92C-4D66-9D3E-82D7B8F13DD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Search wins：110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2CDC501-0207-4B7D-B14F-7FC23BDD4EEB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Worker Rush 表現較佳，後續保留為 seed 基準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B5EACD-C7BF-4363-BD83-B481CC891209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歷史設定與本期比例實驗不同；這三組數字不可直接當成本期比較結果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C0E66A2-7B70-47E8-BC3D-F4D8D2061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06 / 26</a:t>
            </a:r>
          </a:p>
        </p:txBody>
      </p:sp>
    </p:spTree>
    <p:extLst>
      <p:ext uri="{BB962C8B-B14F-4D97-AF65-F5344CB8AC3E}">
        <p14:creationId xmlns:p14="http://schemas.microsoft.com/office/powerpoint/2010/main" val="33662767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2DAF40-E2F4-44B7-9574-BF2F0A8E4A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本期的初始族群配置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71A760-6207-45A6-B864-53B223A27EC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從 0830 的單一 seed 比較，改為保留 seed 並加入 policy 多樣性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47A682-2F5D-4E2B-8C8B-52542C9AA89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81100" y="3305175"/>
            <a:ext cx="590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10 個不同 policy genes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D3C182-0E9E-4E73-B160-39F4379E1E7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38250" y="4276725"/>
            <a:ext cx="579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1 個 Worker Rush seed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9 個獨立 LLM policies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共用初始 generation rules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3D9058-4B5F-4526-AF15-C30C752C3EFF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8439150" y="3305175"/>
            <a:ext cx="209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共用 Java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01F6D8-C25E-4BA3-8C8D-A91953E1B4A7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496300" y="4276725"/>
            <a:ext cx="198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固定 Worker Rush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直接評估 G0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74E33A-0F7E-4136-B4B5-34B5301D4D32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1906250" y="3305175"/>
            <a:ext cx="2838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後續 offspring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31B3F6-AB16-40C5-A27E-E055D50EB078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11963400" y="4276725"/>
            <a:ext cx="272415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獨立繼承三個 gene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再經 Generator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產生新 Java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159434-F73E-4CD6-86AC-7AB7604FF7EF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3314700" y="7458075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G0 的 policy 與 Java 可暫時不一致；不會為 10 個新 policy 各生成一次 Java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3A97AE-AB4F-4B62-B24A-8FDF8DC7E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07 / 26</a:t>
            </a:r>
          </a:p>
        </p:txBody>
      </p:sp>
    </p:spTree>
    <p:extLst>
      <p:ext uri="{BB962C8B-B14F-4D97-AF65-F5344CB8AC3E}">
        <p14:creationId xmlns:p14="http://schemas.microsoft.com/office/powerpoint/2010/main" val="22030139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A11F33-6FE7-43A7-A0E0-C2B1D9FEBB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三種 Operator 選擇模式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5F41B8-184C-4EA4-81E9-7441D035C91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0830 選擇模式圖更新；選擇機率控制的是 S / C / PC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401F67-D3AF-47C1-8F00-E0968177789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AEF488-C363-4F61-8949-9FBB0B5AEE3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STATIC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AC1117-0ACC-4264-A35D-FEB17E465E7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固定機率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9E7993-42EB-4C17-8067-F36468BA5891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依設定比例選 operator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不計算 reward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整個 run 維持同一分佈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6F8B46-0434-4C4D-9011-64E588A5A46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DBCD40-6879-4552-A08E-1AD954835E1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AOS OPPONENT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7752AE-633E-4184-BA7D-16BE6E0FA659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10 對手既有評估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F19581-314E-495B-935D-49E2AA4BACC5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比較 child 與 evidence parent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依 W/D/L rank 改善給 reward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每代 EMA 更新機率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C9821D-05BF-4674-B644-A903B9F4EF43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D0CB26-C1D4-4C5B-8309-2BB7C66D77B8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AOS HEAD2HEAD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639A77-EEF7-4B46-9657-74B88013CFC3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額外親子對戰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7395B5-C4DB-4B20-AF84-01E34053767D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3 maps × 3 rounds × 2 sides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共 18 場 parent–child 對戰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再更新 operator 機率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1DAADA-8296-41DB-AA63-F54E8B15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08 / 26</a:t>
            </a:r>
          </a:p>
        </p:txBody>
      </p:sp>
    </p:spTree>
    <p:extLst>
      <p:ext uri="{BB962C8B-B14F-4D97-AF65-F5344CB8AC3E}">
        <p14:creationId xmlns:p14="http://schemas.microsoft.com/office/powerpoint/2010/main" val="5339417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D744FA-C339-47BD-8A90-CB2165A56B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三種 Reflection 的責任邊界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F7A859-2BB2-4519-A73C-DC84D034B81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0830 Reflection 圖更新：Balance 已由 Prompt Compliance 取代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C7E0E2-6BEB-4839-AD90-3F954F005D4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6FA8DF-534A-4B86-880A-24CB396FF1E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STRATEGY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72FC67-EA62-4E51-89D5-114AEBECA39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改遊戲策略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95BCED-0331-435C-8E0B-25B558D2358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看代表對戰與全域摘要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Commentator → Coach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只改 strategy_prompt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531855-64DF-4648-A566-230C984407CF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16F902-2890-42E6-B809-F820086B1EB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44AEC2-C144-4654-A94D-BAB574EE7790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修正翻譯規則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8F9F1A-C4FE-42E8-B61B-D6286850BE7A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看 policy、Java 與 API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Reviewer → Rule Rewriter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只改 generation_prompt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0E9997-1A3A-4CA1-9F1B-2502B2CEF0D8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69D595-CD39-4FA9-82AF-BF62CC742AAD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COMPLIANCE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B934EF-B89C-4D8C-B69F-5442A1F4B1A9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修 prompt 規範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79E1266-E6D6-4314-B054-778401B40BFB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看兩個 prompt 與 contracts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分別 audit，修有 issue 的 gene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不使用勝負或 Java evidence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6AE6C7-5516-4918-8F62-96D264ED9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09 / 26</a:t>
            </a:r>
          </a:p>
        </p:txBody>
      </p:sp>
    </p:spTree>
    <p:extLst>
      <p:ext uri="{BB962C8B-B14F-4D97-AF65-F5344CB8AC3E}">
        <p14:creationId xmlns:p14="http://schemas.microsoft.com/office/powerpoint/2010/main" val="21617717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12F089-5AE9-406D-919D-787C851A9E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實驗分成四個階段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FC9E0C-1EB6-47A0-90BB-4F3B2B1066B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先檢查反思輸出，再檢查改版後的演化表現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6E893E-B43F-48A5-BD53-D0B67890598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447800" y="29432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B7F118-6789-4B49-8608-FFBD77D7F2A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114550" y="288607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實驗一　09/03　固定輸入的九次反思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6448BA-B2AB-421A-ABB8-3D25D278C57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2114550" y="334327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Strategy、Code、Balance 各 3 次；檢查欄位 scope 與內容問題。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97B0BD-AEE8-4150-9BEA-CEF2FF0AB68F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447800" y="40576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3A087C-D4E2-43E0-8F21-056DE59E5E95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2114550" y="400050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實驗二　09/04 上午　加入 contract 後重跑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761E09-CD49-4952-ABE5-8236E97F1544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2114550" y="445770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仍各 3 次，確認規則資訊送入後是否足以避免錯誤。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121736-39C6-447A-AA23-4798251621CC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1447800" y="51720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2DBC-3122-427A-9540-1F1003585ED1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2114550" y="511492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實驗三　09/04 下午　子代串接 Compliance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F6C77B-1B5A-42C8-BD5F-236BB9490AA0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2114550" y="557212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Strategy 3 + Code 3，再把 6 個成功子代各送入 Compliance。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73EB88-0CB0-4EF4-ADB3-2E05284DDD10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447800" y="628650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8C117E-61A8-4F8C-826D-82FF0C403D8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2114550" y="622935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實驗四　09/04–09/07　三組比例的演化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C80354-20A4-4B66-937A-85FB402D21B8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114550" y="668655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S/C/PC = 20/20/60、33/33/34、40/40/20；比較族群與 champion。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619CF5-C336-4ABA-9716-4DA0873D160B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666875" y="7791450"/>
            <a:ext cx="12592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25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前 3 階段是 reflection inspection；第 4 階段才有演化與新策略對戰結果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4F6A61-2932-42B6-9C51-E52E9069E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10 / 26</a:t>
            </a:r>
          </a:p>
        </p:txBody>
      </p:sp>
    </p:spTree>
    <p:extLst>
      <p:ext uri="{BB962C8B-B14F-4D97-AF65-F5344CB8AC3E}">
        <p14:creationId xmlns:p14="http://schemas.microsoft.com/office/powerpoint/2010/main" val="402175061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416199-09DB-48D8-9944-F23C146CBE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實驗一：同一父代、三種反思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361052-9752-4825-A09E-BD326F5EB19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09/03　Worker Rush　每種 operator 各 3 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EF02C1-E8F2-420F-9A6C-46326EC662F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C4D208-5F07-4BD3-A14B-254DF4F40C4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固定父代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106300-28BE-4F6A-828B-4AB9CC31BB14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9 次獨立 trial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2991DD-1CA9-467B-8F74-7733274A008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同一 Worker Rush policy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同一 inherited Java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每次都從原 subject 開始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7C1F8E-8BE9-4569-9CA0-7FCC74BC2D0A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98617F-349E-4841-AB59-8A6DE3C64B33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固定 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A6C9DD-8A18-40CD-B53B-54C5C68AABA5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同一組評估資料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40454E-5CFC-45F0-8A33-DE5698F8A721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10 個 opponents，共 180 場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Strategy 選 10 場代表 traces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Balance 只拿 W/D/L 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3CFD6F-A6A3-46E3-A983-11B3C3F6498D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5D7D3C-A6CA-4A97-ABF9-AB32E783E958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檢查目標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57D8A8-CC1A-43D6-846A-FC34CA39CCDF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輸出與狀態轉換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168FBEB-246C-40AA-905E-295160701083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保存每次 request / response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比對實際改變的 gene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人工檢查內容是否可執行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A841138-CD2B-4944-9B34-5C3534A6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11 / 26</a:t>
            </a:r>
          </a:p>
        </p:txBody>
      </p:sp>
    </p:spTree>
    <p:extLst>
      <p:ext uri="{BB962C8B-B14F-4D97-AF65-F5344CB8AC3E}">
        <p14:creationId xmlns:p14="http://schemas.microsoft.com/office/powerpoint/2010/main" val="156771106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E5A56B-F0FE-49B2-8EE7-F7677F3651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實驗一：8 / 9 次成功套用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151D43-3555-4E71-8EBE-5AC269F2244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09/03　成功套用後仍需人工檢查策略語義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D408BD-AAC3-407F-A57F-A934040A3AC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0215FC-056D-4D8B-BF60-8298CC645DF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STRATEGY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302147-8AAF-4B6E-BF2C-E89595EFB668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Applied trials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572BD5-AC02-45D1-866A-2C54E7AC8EF9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3 /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55BE06-8CA1-4A3D-846B-41A78FC33754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只改 strategy_prompt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F8ACF7-586A-47D9-A671-EA31D044C404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66AAD1-D02D-4238-B79E-716FF19947D0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E4B64A-1B7F-4706-9C34-50A424353726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Applied trials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7E4C7-6A6E-4392-9E93-CB6441E2793C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2 / 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97BC4E-D53F-4C66-825C-378E28D3675C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C3 三次 rewrite 後回滾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A50DCC-2CC4-40A3-820D-82CE5F7C9F08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88F209-9C5F-4D62-B5EB-D6BAD38580A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BALANCE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B71844-8C6E-4580-8957-FD747CF21966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Applied trials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B0D67A6-F9F4-4E67-B7FD-337CC6AA7711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3 / 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8E0BE78-667D-4E4F-A5E7-CA35D0AC3505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兩個 prompt 同時改變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791741D-CA56-4BD2-B2CC-9EB8D83ECADB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欄位修改大致符合預期，但成功套用的內容仍可能包含不存在的遊戲概念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6231F4-6928-44C4-A1CB-1936794DD901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9 個 trial 的 inherited Java 均未被反思直接改寫；未量測新策略勝率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0F0D423-F0FF-4FF4-870F-82809D6F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12 / 26</a:t>
            </a:r>
          </a:p>
        </p:txBody>
      </p:sp>
    </p:spTree>
    <p:extLst>
      <p:ext uri="{BB962C8B-B14F-4D97-AF65-F5344CB8AC3E}">
        <p14:creationId xmlns:p14="http://schemas.microsoft.com/office/powerpoint/2010/main" val="403315506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954233-66DB-4EA6-8879-829D63000B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實驗一：各次 trial 暴露的問題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A43121-198A-4BCC-87EF-AC66A345FAC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09/03　反思能改內容，但規則 grounding 尚不足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6B9355-85F5-42A6-A57C-3CE5911348B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6CC5B6-5E48-4532-AABD-470751BB8AA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STRATEGY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8D8DDB-B788-4D68-84E5-B2869D1CF8D5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S1 / S2 / S3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B5E150-19A3-49B9-8496-07E1564BF5C2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S1：加入 Heavy 與 repair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S2：採集／回存條件互相衝突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S3：把 Base HP 當資源儲量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E60CA3-0720-45C2-A8B6-82E724FF05A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5E2058-7014-4D56-8468-92CB61CAB3CE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63224F-25A6-4B61-9CBC-0825B5413D6F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C1 / C2 / C3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0263DB-98BE-4FB9-B13D-E614194E1E05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C1：targeting rule，經 retry 套用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C2：schema retry 後新增 rule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C3：具體 Worker 詞遭拒絕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A193EB-EFDF-4A07-8AAC-BB0340DFFFCC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FA5D06-B008-4F07-A472-CF44DE98DCCE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BALANCE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A623E8-B74E-42CC-BD26-FEFD5597A11D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B1 / B2 / B3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85BBC1-334A-4E5B-8594-29CCBBA1B06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B1：Wall、Tower、Marine、Tank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B2：Armory、tech、high ground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B3：Marine、Siege Tank、RL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61B444-2174-42F7-8034-EB4FA1D43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13 / 26</a:t>
            </a:r>
          </a:p>
        </p:txBody>
      </p:sp>
    </p:spTree>
    <p:extLst>
      <p:ext uri="{BB962C8B-B14F-4D97-AF65-F5344CB8AC3E}">
        <p14:creationId xmlns:p14="http://schemas.microsoft.com/office/powerpoint/2010/main" val="110919211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693DF0-FADB-4B95-A354-6C4F77024A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實驗二：補規則後仍有錯誤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F54F27-AAE3-4E88-B710-023E05DE6AD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09/04 上午　相同設計重跑；Gameplay contract 已送入策略改寫角色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5CBEFD-32E9-4ABA-976D-F415752406E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5F7D52-3143-405E-B6F9-10898A04EEE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STRATEGY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28758C-6A56-4C6C-B458-6E3F1CE49D2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Applied trials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33B825-E4CA-4C0D-8D37-BBD13900DFFC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3 /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6D61F0-7631-4056-AE96-AE1168DBC94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只改 policy gene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CFE762-CBF3-4586-86B0-ED35FEDB03D0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6AB530-B067-4407-AEDA-65F6F4B1585C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F13BBB-DDEC-4612-A876-E474D9A3EE78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Applied trials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411787-5751-4B25-ABA4-7E2F2D5AD104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1 / 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C537F8-66F0-4513-BE49-AF339C6B7C5D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C2、C3：改寫失敗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793F4E-B7DD-4609-A2BB-804E85F81C1F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3F7259-FAB8-48E7-9135-F5CA72FE4924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BALANCE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C5B885-C03F-4CCF-8A15-75D9C5E4AB08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Applied trials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3D4724-10F2-4E14-B3F4-EF7CEC5FB80F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2 / 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FF45F54-4CA2-42B4-8649-D3859DA7C4AD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B1：schema 不合格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F66062C-EE58-44AE-BFDD-E40BCBF4CB83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6 / 9 次套用；五份成功產生的 strategy prompt 仍出現規則問題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D03279E-61E7-4AE1-94D8-FE7AF76569B2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新 baseline 的 GP = -90.316206；本次同樣未重生 Java 或重跑新策略對戰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D87D82-DECA-4930-9E81-49F2F9A1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14 / 26</a:t>
            </a:r>
          </a:p>
        </p:txBody>
      </p:sp>
    </p:spTree>
    <p:extLst>
      <p:ext uri="{BB962C8B-B14F-4D97-AF65-F5344CB8AC3E}">
        <p14:creationId xmlns:p14="http://schemas.microsoft.com/office/powerpoint/2010/main" val="325672104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C9EEF8-39A9-426B-BCEF-90F0B4A270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實驗二：Strategy 的三個變體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BE534E-39DE-4C38-AF31-EF75BD798E2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09/04 上午　提供 contract 後，仍未穩定落實行動前提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9812BD-7BF3-4B61-856F-BD3E5661B07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A730F2-AE9A-41EC-941E-ED57199DE7E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008DBE-9283-43B9-9D7D-3C549A8C259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Barracks fallback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A7509E-26A7-4644-AFF4-54C37E02EAFE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增加 Light 與防守分工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卻要求等待 Base HP 恢復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遊戲沒有治療／修復機制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F49846-42C1-4EDC-BDF2-BE944B5DB4A4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C5C7B3-793A-42B5-A419-4B9B3874FC21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9A00D5-77D7-4E48-A64E-3E75A07489E2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Redundant harvesters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34AA4B-37EB-48FB-BAA5-2DE1F3E3874B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維持兩名採集者並轉 Heavy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立即重建的敘述缺少前提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未列 Worker、資源與空格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8A3DAE-ECEA-42FA-A4F9-09C8F55F2ADE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B9DE16-40FE-40D2-9E48-F6F4B22C2498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56C1B2-16B4-47FD-9C2F-3485520DDF9E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Resource collection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E351C05-6135-46C9-8452-F36DC51AEC94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加入集中反擊與 Barracks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卻要求所有 Worker 死後建造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缺少能執行建造的單位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C295AAE-FFC8-43CE-BD47-07FC366FF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15 / 26</a:t>
            </a:r>
          </a:p>
        </p:txBody>
      </p:sp>
    </p:spTree>
    <p:extLst>
      <p:ext uri="{BB962C8B-B14F-4D97-AF65-F5344CB8AC3E}">
        <p14:creationId xmlns:p14="http://schemas.microsoft.com/office/powerpoint/2010/main" val="15294256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FFB4D5-AD51-466F-8732-D60ED1F562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實驗二：Code 與 Balance 的問題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AD667D-C658-41EC-AC11-79692F61735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09/04 上午　將模型判讀錯誤與驗證器拒絕分開看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0ADDAC-76A8-4DEA-9CC0-1829E835A31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Code：1 / 3 套用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8EE8AD-9ED2-445A-A7C8-7BA8E95E1D6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Balance：2 / 3 套用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2E87C4-6CFD-4867-9538-FC7DF439E97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C1：套用 API compliance rule，但誤判既有 Java 沒有連續生產與回存。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C2：3 次 rewrite 仍含 resource，遭泛化規則檢查拒絕。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C3：3 次 rewrite 仍含 commandTrain，安全回滾。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14A6D6-2F2B-48AE-848F-56D6E4D7A2B0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B1：weakness 用陣列混合多個 opponent／map，schema 失敗。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B2：新 policy 使用 scouting、map ID，還要求無 Worker 時建 Base。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B3：無 Barracks 生 Ranged、Barracks upgrade 與資源歸屬錯誤。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1C4733-0544-459E-B588-EB84B928B50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修正方向：分清角色責任，加入 final-policy 檢查與具體錯誤回饋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835141-B8B8-4259-8AEA-319121DDA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16 / 26</a:t>
            </a:r>
          </a:p>
        </p:txBody>
      </p:sp>
    </p:spTree>
    <p:extLst>
      <p:ext uri="{BB962C8B-B14F-4D97-AF65-F5344CB8AC3E}">
        <p14:creationId xmlns:p14="http://schemas.microsoft.com/office/powerpoint/2010/main" val="68004892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293509-7C54-42EB-BDE2-D3643A3BDA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實驗三：用上游子代驗證 Compliance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1A6F91-7420-4AD0-B351-E5CA23AAFC6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09/04 下午　兩條上游路徑，各自把成功輸出交給下一個 operator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F87B76-A6DB-4F5D-9A80-11601B84D5E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81100" y="3305175"/>
            <a:ext cx="590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固定 Worker Rush subject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39CDB4-75DA-45B7-A510-C2C1B4C8EA6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38250" y="4276725"/>
            <a:ext cx="579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Strategy Reflection × 3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Code Reflection × 3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每次從同一原始 subject 開始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EF55C8-A8AD-4DFC-9847-8FBF83C14F6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8439150" y="3305175"/>
            <a:ext cx="209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6 個子代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6CA184-E642-44EF-B78F-788D9F05E56C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496300" y="4276725"/>
            <a:ext cx="198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保留來源 hash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各自作為父代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51AF43-761C-4946-B600-704832810B8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1906250" y="3305175"/>
            <a:ext cx="2838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Compliance × 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E7DEBE-B834-4437-9311-3A54D6BF379C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11963400" y="4276725"/>
            <a:ext cx="272415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分別 audit 兩個 gene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只修有 issue 的欄位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套用或安全拒絕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9E5FAA-D54C-43C3-8B2D-0658EAAC29EA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3314700" y="7458075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Compliance 的輸入隨上游子代改變；這 6 次不是重複測同一份 prompt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CEAF1B-CDF1-47BF-ACE0-4E24CF46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17 / 26</a:t>
            </a:r>
          </a:p>
        </p:txBody>
      </p:sp>
    </p:spTree>
    <p:extLst>
      <p:ext uri="{BB962C8B-B14F-4D97-AF65-F5344CB8AC3E}">
        <p14:creationId xmlns:p14="http://schemas.microsoft.com/office/powerpoint/2010/main" val="161116788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D1D296-FFAC-450A-9FFF-282A07F9AD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實驗三：10 / 12 次安全套用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2B7026-96FD-49A3-89FE-341BFAE7CDD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09/04 下午　驗證修改方向、欄位 scope 與失敗保護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22CDD2-C836-4900-85DB-0E80953CFBF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8299CF-C3B7-41DB-BD63-59D9B286136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STRATEGY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FE5C3B-C4AD-4615-B49B-ED6AB4D1E21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Applied / scope correct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44289E-9C9F-41BF-93F6-1A14CEA10DBB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3 /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C7B831-044B-4379-8B38-27AA13EDAD60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只改 policy gene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69D6FE-7E89-4605-BFD2-E4DAA2E9B475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5292B9-F412-4FB0-8E3A-0873A1030A19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F2318E-7340-41B8-B500-9BCC958776EC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Applied / scope correct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F8BE88-AE60-4D42-8D45-4D9D325175C9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3 / 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BE4025-EFD9-479D-B553-AB71DDEF563D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只改通用翻譯規則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1433F7-C600-4D89-9B9F-213A2CA84FDE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01DC5A-CECA-46D7-99B6-4B3A785AC2D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COMPLIANCE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3EF6DE-61D3-4F30-95F6-163B8767B0E0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Applied trials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28950D7-DEAC-46E7-B08B-13F0EB8759C9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4 / 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4F0C206-FEC4-4311-BBA5-49E8812F620C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2 次拒絕，父代維持原值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5B1462D-0AD3-4B17-9E80-8F6456F6ED65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12 次 inherited Java hash 相同；上游 6 次全部遵守各自欄位邊界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A87B786-7134-46C6-B25B-7B1C2190077D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成功的 Compliance trial 1 / 3 / 5 / 6 實際都只改 strategy_prompt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39A8116-87F7-4CFE-8C96-2DA712C11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18 / 26</a:t>
            </a:r>
          </a:p>
        </p:txBody>
      </p:sp>
    </p:spTree>
    <p:extLst>
      <p:ext uri="{BB962C8B-B14F-4D97-AF65-F5344CB8AC3E}">
        <p14:creationId xmlns:p14="http://schemas.microsoft.com/office/powerpoint/2010/main" val="205047132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0B200C-5AB7-40BC-B5DC-AFEB19BBF6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實驗三：兩次拒絕與後續修補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E9838D-B5FE-48A7-A743-9BCC2F294E7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09/04 驗證記錄保留原結果；修補後尚需同設計重跑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341BC2-7385-488E-9987-237C73FAF44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Trial 2：距離誤判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E3F0A6-3191-460B-803A-2D5B874F5B6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Trial 4：schema 不合格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339EB3-8774-494F-9C4B-08406DFD851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輸出要求 Light 發現距離 3 的 Ranged，先靠近再在距離 1 攻擊。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當時 validator 把觀察距離當成攻擊距離，拒絕了合法接近動作。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後續修補：區分觀察／接近距離與 acting unit 的攻擊範圍。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99F120-328C-4241-963A-4D4349B3E20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部分 response 把 revised_strategy_prompt 回成 array；其他回應仍有距離或條件矛盾。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3 次內未得到可接受 policy，所有欄位保留原值。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後續修補：明確 string JSON schema，重試附原輸出與精確錯誤。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02EC59-690F-4EAD-A4F9-8BA6C63EE22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10 / 12 是當次驗證結果，不能改寫成修補後已全數通過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0C3040-C504-4283-BBEB-28C2FE7E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19 / 26</a:t>
            </a:r>
          </a:p>
        </p:txBody>
      </p:sp>
    </p:spTree>
    <p:extLst>
      <p:ext uri="{BB962C8B-B14F-4D97-AF65-F5344CB8AC3E}">
        <p14:creationId xmlns:p14="http://schemas.microsoft.com/office/powerpoint/2010/main" val="153328859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8CF82B-D1D6-4ECA-B38C-D7CA8BBFB9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實驗四：三種固定比例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09CEE0-17D0-4E11-8E6E-6A60C60EC18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09/04–09/07　S / C / PC 分別代表 Strategy / Code / Prompt Compliance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590DB1-1425-49A0-8CD8-2AEDA0ADB20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4674A2-3D00-4E85-B5CE-763299753B2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共同設定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EA39BF-D8EC-46CA-A4FA-84EAEDC3F2A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20 代；族群 10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50A988-9E34-4E4C-84FA-6F70B179F00E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Ministral 3 8B；seed 7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交叉 0.75；mutation 0.85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每 candidate 評估 180 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52D6AE-4C9E-4AC0-84D4-47648A0B0832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349D0F-0F3C-40D5-A872-65DCC75D173E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三組比例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325F07-4CE3-4EE6-B043-74A17281A802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只改 operator 機率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456402-D3DF-426B-83D0-B69BB2549994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20 / 20 / 60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33 / 33 / 34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40 / 40 / 20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C56BD7-008C-4E6E-9AE1-492D28E8F6B1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221733-37AB-486C-A883-E1D05EF956AA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295650"/>
            <a:ext cx="3962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初始條件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82D217-D671-4033-8D79-89A404F4B44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0957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Mixed policies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56F6BD-F634-472B-A948-F1AABF221F9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4924425"/>
            <a:ext cx="3619500" cy="221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1 個 Worker Rush + 9 個 LLM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G0 共用固定 Java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每組各跑 1 個 run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A09D1C2-6519-4C26-B267-6A6AA3EFB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20 / 26</a:t>
            </a:r>
          </a:p>
        </p:txBody>
      </p:sp>
    </p:spTree>
    <p:extLst>
      <p:ext uri="{BB962C8B-B14F-4D97-AF65-F5344CB8AC3E}">
        <p14:creationId xmlns:p14="http://schemas.microsoft.com/office/powerpoint/2010/main" val="122714249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6B7444-64DD-41D2-A359-5DB1288F28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比例實驗的整體結果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78EC64-6875-4CDD-B1B5-CDBF26CE2BD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族群平均、champion 與執行可靠度呈現不同面向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7B1CDA-A0FA-409B-A918-45D77807D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21 / 26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1104900" y="3048000"/>
          <a:ext xmlns:a="http://schemas.openxmlformats.org/drawingml/2006/main" cx="13716000" cy="2971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52600"/>
                <a:gridCol w="1733550"/>
                <a:gridCol w="1562100"/>
                <a:gridCol w="2971800"/>
                <a:gridCol w="1733550"/>
                <a:gridCol w="1866900"/>
                <a:gridCol w="2095500"/>
              </a:tblGrid>
              <a:tr h="742950">
                <a:tc>
                  <a:txBody>
                    <a:bodyPr lIns="76200" tIns="85725" rIns="76200" bIns="85725"/>
                    <a:lstStyle/>
                    <a:p>
                      <a:pPr algn="ctr"/>
                      <a:r>
                        <a:rPr sz="202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比例 S/C/PC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/>
                      <a:r>
                        <a:rPr sz="202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最終</a:t>
                      </a:r>
                    </a:p>
                    <a:p>
                      <a:pPr algn="ctr"/>
                      <a:r>
                        <a:rPr sz="202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mean GP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/>
                      <a:r>
                        <a:rPr sz="202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最佳 GP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/>
                      <a:r>
                        <a:rPr sz="202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Final Test</a:t>
                      </a:r>
                    </a:p>
                    <a:p>
                      <a:pPr algn="ctr"/>
                      <a:r>
                        <a:rPr sz="202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W / D / L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/>
                      <a:r>
                        <a:rPr sz="202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有效 policy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/>
                      <a:r>
                        <a:rPr sz="202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失敗子代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/>
                      <a:r>
                        <a:rPr sz="202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LLM 時間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</a:tr>
              <a:tr h="742950">
                <a:tc>
                  <a:txBody>
                    <a:bodyPr lIns="76200" tIns="85725" rIns="76200" bIns="85725"/>
                    <a:lstStyle/>
                    <a:p>
                      <a:pPr algn="ctr"/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20/20/60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/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-65.41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/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-40.72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/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258 / 31 / 311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/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10 / 10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/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12 / 200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/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8.98 h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</a:tr>
              <a:tr h="742950">
                <a:tc>
                  <a:txBody>
                    <a:bodyPr lIns="76200" tIns="85725" rIns="76200" bIns="85725"/>
                    <a:lstStyle/>
                    <a:p>
                      <a:pPr algn="ctr"/>
                      <a:r>
                        <a:rPr sz="217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33/33/34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/>
                      <a:r>
                        <a:rPr sz="217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-53.37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/>
                      <a:r>
                        <a:rPr sz="217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-49.27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/>
                      <a:r>
                        <a:rPr sz="217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223 / 51 / 326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/>
                      <a:r>
                        <a:rPr sz="217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10 / 10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/>
                      <a:r>
                        <a:rPr sz="217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1 / 200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/>
                      <a:r>
                        <a:rPr sz="217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7.80 h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</a:tr>
              <a:tr h="742950">
                <a:tc>
                  <a:txBody>
                    <a:bodyPr lIns="76200" tIns="85725" rIns="76200" bIns="85725"/>
                    <a:lstStyle/>
                    <a:p>
                      <a:pPr algn="ctr"/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40/40/20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/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-90.16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/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-88.84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/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1 / 170 / 429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/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5 / 10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/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18 / 200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/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10.08 h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DAE39B-6857-45E5-A0C4-0C1B0E808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534150"/>
            <a:ext cx="123063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33/33/34：最後族群平均較好，失敗少且成本低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A1E9C-8306-4117-9EB4-C5F7D01B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7219950"/>
            <a:ext cx="12306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20/20/60：單一最佳個體較強；40/40/20：本次改善有限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6323B2-60D8-4638-A4EE-3491C057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9343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875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GP 越高越好；每組 Final Test 600 場；每組各 1 run</a:t>
            </a:r>
          </a:p>
        </p:txBody>
      </p:sp>
    </p:spTree>
    <p:extLst>
      <p:ext uri="{BB962C8B-B14F-4D97-AF65-F5344CB8AC3E}">
        <p14:creationId xmlns:p14="http://schemas.microsoft.com/office/powerpoint/2010/main" val="360014462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E77052-33BD-49EC-85B8-FA56CB7C92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每代生存者的平均 GP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7DE4DC-1898-4C49-BEC9-4AA19ECDB5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33/33/34 改善較早；20/20/60 後段上升後回落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B79A25-F6CF-4D96-AF9D-EEF87F7EB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22 / 26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1066800" y="2752725"/>
          <a:ext xmlns:a="http://schemas.openxmlformats.org/drawingml/2006/main" cx="10953750" cy="4857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86968cb7a834be8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6FA5DC-0DBD-4661-9666-AED60AA54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3143250"/>
            <a:ext cx="2686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G20 mean GP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BD5FAA-4B90-4E79-A36F-28A1D709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3905250"/>
            <a:ext cx="26860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C69B45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C69B45"/>
                </a:solidFill>
                <a:latin typeface="PMingLiU"/>
                <a:ea typeface="PMingLiU"/>
                <a:cs typeface="PMingLiU"/>
              </a:rPr>
              <a:t>33/33/34</a:t>
            </a:r>
          </a:p>
          <a:p xmlns:a="http://schemas.openxmlformats.org/drawingml/2006/main">
            <a:pPr algn="ctr">
              <a:defRPr sz="2850" b="1">
                <a:solidFill>
                  <a:srgbClr val="C69B45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C69B45"/>
                </a:solidFill>
                <a:latin typeface="PMingLiU"/>
                <a:ea typeface="PMingLiU"/>
                <a:cs typeface="PMingLiU"/>
              </a:rPr>
              <a:t>-53.37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B428E9-78BF-4627-A729-F964314C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5124450"/>
            <a:ext cx="2686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5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20/20/60</a:t>
            </a:r>
          </a:p>
          <a:p xmlns:a="http://schemas.openxmlformats.org/drawingml/2006/main">
            <a:pPr algn="ctr">
              <a:defRPr sz="25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5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-65.41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92ECF9-9559-40E4-9D4F-BDD97E2E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6286500"/>
            <a:ext cx="2686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5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40/40/20</a:t>
            </a:r>
          </a:p>
          <a:p xmlns:a="http://schemas.openxmlformats.org/drawingml/2006/main">
            <a:pPr algn="ctr">
              <a:defRPr sz="25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5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-90.16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301E1F-B1CA-400A-A27C-69FCE1B3B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924800"/>
            <a:ext cx="12687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Lexicase 依 opponent cases 選擇；GP 曲線可能回落，不代表父代 Java 被重新生成</a:t>
            </a:r>
          </a:p>
        </p:txBody>
      </p:sp>
    </p:spTree>
    <p:extLst>
      <p:ext uri="{BB962C8B-B14F-4D97-AF65-F5344CB8AC3E}">
        <p14:creationId xmlns:p14="http://schemas.microsoft.com/office/powerpoint/2010/main" val="249595236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E6ADB4-F0B9-46DD-91C7-38AD8C70B7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600 場 Final Test 的 champion 結果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57DAC4-83EC-4EBA-B568-4DB9D50B989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20/20/60 的單一 champion 勝場最多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DA3DB7-EFAF-43CD-8810-3A9CBCEC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23 / 26</a:t>
            </a:r>
          </a:p>
        </p:txBody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1238250" y="2752725"/>
          <a:ext xmlns:a="http://schemas.openxmlformats.org/drawingml/2006/main" cx="1333500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3d720a1037541e7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0CC86E-9F85-45D0-A913-DA47451D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6629400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4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20/20/60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333019-5E44-4C8E-BF5E-D3D2FBEB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086600"/>
            <a:ext cx="4305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258 / 31 / 311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4050D4-B177-4563-B2A8-4F961F03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572375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C69B45"/>
                </a:solidFill>
                <a:latin typeface="PMingLiU"/>
                <a:ea typeface="PMingLiU"/>
                <a:cs typeface="PMingLiU"/>
              </a:defRPr>
            </a:pPr>
            <a:r>
              <a:rPr sz="2550" b="1">
                <a:solidFill>
                  <a:srgbClr val="C69B45"/>
                </a:solidFill>
                <a:latin typeface="PMingLiU"/>
                <a:ea typeface="PMingLiU"/>
                <a:cs typeface="PMingLiU"/>
              </a:rPr>
              <a:t>Win rate 43.0%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41DCEB-745F-4D40-99BD-6EC198D66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6629400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4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33/33/34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0C3482-4D0C-453F-8395-4EEA974A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7086600"/>
            <a:ext cx="4305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223 / 51 / 326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5D3340-9833-4D38-9768-1EC6B8DE3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7572375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550" b="1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Win rate 37.2%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DF17BE-4296-4459-817F-CCDEEC3B0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6629400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4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40/40/20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FF68F6-E040-4800-AF49-904B30C7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7086600"/>
            <a:ext cx="4305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1 / 170 / 429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8D232E-BFAD-4075-8243-D360AF08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7572375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550" b="1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Win rate 0.17%</a:t>
            </a:r>
          </a:p>
        </p:txBody>
      </p:sp>
    </p:spTree>
    <p:extLst>
      <p:ext uri="{BB962C8B-B14F-4D97-AF65-F5344CB8AC3E}">
        <p14:creationId xmlns:p14="http://schemas.microsoft.com/office/powerpoint/2010/main" val="293716742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AE5DC6-019A-487A-BAD2-2282D2694C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可靠度與 LLM 成本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750EF8-9D3C-4440-8C9A-56555EE56B6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33/33/34 在這三個 run 中失敗最少、累積 LLM 時間最短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AA2DBB-5C3A-49F5-83FE-C1C00BD6B25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E0559E-D685-4304-90B2-6FF0B1FA73C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20 / 20 / 60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AFBC8C-1D5C-4EC1-A712-628D0033A92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失敗 offspring / 200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B30206-7540-4A6C-B84F-4CFEB7E7E7F0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12 / 200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7A86A8-2985-44AE-8FFA-E1893A473FD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Policy 10/10；8.98 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9749F6-73DA-4D50-9578-6CCD0D00D62B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74EA47-7F45-4747-8D4F-D81D0DF5A1EA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33 / 33 / 34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A7F427-3BC6-4B4B-8AC9-78CB91447819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失敗 offspring / 200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4327C2-CCBB-4A3E-BA22-732295BBB329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1 / 200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EB5D06-8447-4EB6-88C6-A8E9509F03D9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Policy 10/10；7.80 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893639-90CA-48D5-B142-FF36C6E85AD5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AB80EA-C621-406A-931D-3A5CE7062BDC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40 / 40 / 20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9064F1-E300-4B75-A028-6FB779AF6E25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失敗 offspring / 200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A9841C-0184-4B9E-9826-3CA5070C3C7F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18 / 200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FDE6B9-BD24-46AA-9E57-C3271E5C4F0B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Policy 5/10；10.08 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EFE0F2F-A324-4201-9B0E-91E2A512806A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失敗率依序 6.0%、0.5%、9.0%；33/33/34 最低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AF18787-B9B2-49AC-926E-DAFB8781A7D6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有效 policy 數與對戰勝率是不同指標；LLM 時間是累積值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E395543-45A5-4BF5-B8DC-74681C2A3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24 / 26</a:t>
            </a:r>
          </a:p>
        </p:txBody>
      </p:sp>
    </p:spTree>
    <p:extLst>
      <p:ext uri="{BB962C8B-B14F-4D97-AF65-F5344CB8AC3E}">
        <p14:creationId xmlns:p14="http://schemas.microsoft.com/office/powerpoint/2010/main" val="55780556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E9F87A-A11C-4ACA-B3DE-391CA210C8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09/07 的 AOS 設定與比較限制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9E1C0E-A78C-47CA-89A8-62A3656642F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以 33/33/34 作為初始分佈，觀察 opponent credit 如何調整機率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F0C8AA-B950-4A7A-A8A6-4244CD89D6A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已建立的 AOS 實驗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0B80D8-CF06-45C1-88E4-441AA2788C5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目前能下的結論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0FC12E-4834-44CD-B96F-B055B01748F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模式：aos_opponent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初始 S/C/PC：0.33 / 0.33 / 0.34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最低機率：0.10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沿用 20 代、population 10、seed 7 與 mixed policies。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設定已登錄 09/07 run；來源簡報尚未提供其結果。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1FE4C5-AF70-414E-A91F-2A79381FC1F8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33/33/34：這次族群平均與可靠度較佳，可作暫定起點。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20/20/60：保留作 champion 對照。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每個比例僅 1 run，且初始 LLM policies 不同；正式比較需固定 population 並跑至少 3 seeds。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CFBBF9-2BC2-4EFA-AF9D-87CD19A71A9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下一輪比較 static 與 AOS，並追蹤機率、operator credit、GP 與失敗率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9DC07D-8C53-4739-A44C-52D7820C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25 / 26</a:t>
            </a:r>
          </a:p>
        </p:txBody>
      </p:sp>
    </p:spTree>
    <p:extLst>
      <p:ext uri="{BB962C8B-B14F-4D97-AF65-F5344CB8AC3E}">
        <p14:creationId xmlns:p14="http://schemas.microsoft.com/office/powerpoint/2010/main" val="115326295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2F7775-AFDB-4252-A112-1630A1C53A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本次總結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A3F2B2-0BAA-403C-A8D0-A23A690CEB7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先把反思做對，再檢查是否讓演化更有效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953712-1873-4F22-AAA5-F7C2E6ABC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已由資料支持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ECB23B-56BA-47A1-B48D-36165AE7E1F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下一步驗證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9476BC-9D35-48E6-BD34-FF5BA39C6F8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改版已明確區分策略、翻譯規則與 prompt 合規性。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串接驗證確認欄位隔離、Java 繼承與安全拒絕。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比例實驗中，33/33/34 的族群較好；20/20/60 的 champion 較好。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33F86B-2443-4FD3-AD4E-0A1B70ECF51E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用最後修補版重跑 3 + 3 + 6 的串接驗證。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固定初始 policies，以多個 seeds 比較 static 與 AOS。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同時回報 survivor population、champion、失敗階段與時間成本。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632462-F392-4EA7-B5B9-BBCCC22E557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暫以 33/33/34 為 AOS 起點，保留 20/20/60 對照，等待多次實驗確認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637396-E58A-4B19-907C-B200AA99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26 / 26</a:t>
            </a:r>
          </a:p>
        </p:txBody>
      </p:sp>
    </p:spTree>
    <p:extLst>
      <p:ext uri="{BB962C8B-B14F-4D97-AF65-F5344CB8AC3E}">
        <p14:creationId xmlns:p14="http://schemas.microsoft.com/office/powerpoint/2010/main" val="4043943153"/>
      </p:ext>
    </p:extLst>
  </p:cSld>
</p:sld>
</file>

<file path=ppt/theme/theme1.xml><?xml version="1.0" encoding="utf-8"?>
<a:theme xmlns:a="http://schemas.openxmlformats.org/drawingml/2006/main" name="ChatGPT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PMingLiU"/>
        <a:ea typeface="PMingLiU"/>
        <a:cs typeface="PMingLiU"/>
      </a:majorFont>
      <a:minorFont>
        <a:latin typeface="PMingLiU"/>
        <a:ea typeface="PMingLiU"/>
        <a:cs typeface="PMingLiU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2026-09-07T07:01:05.0510000Z</dcterms:created>
  <dcterms:modified xsi:type="dcterms:W3CDTF">2026-09-07T07:01:05.0510000Z</dcterms:modified>
</coreProperties>
</file>