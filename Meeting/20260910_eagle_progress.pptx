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rts/chart1.xml" ContentType="application/vnd.openxmlformats-officedocument.drawingml.chart+xml"/>
  <Override PartName="/ppt/notesSlides/notesSlide23.xml" ContentType="application/vnd.openxmlformats-officedocument.presentationml.notesSlide+xml"/>
  <Override PartName="/ppt/charts/chart2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5925800" cy="8963025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6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20/20/60</c:v>
          </c:tx>
          <c:spPr>
            <a:ln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-81.900000000000006</c:v>
              </c:pt>
              <c:pt idx="10">
                <c:v>-81.8</c:v>
              </c:pt>
              <c:pt idx="11">
                <c:v>-82</c:v>
              </c:pt>
              <c:pt idx="12">
                <c:v>-80.900000000000006</c:v>
              </c:pt>
              <c:pt idx="13">
                <c:v>-79.599999999999994</c:v>
              </c:pt>
              <c:pt idx="14">
                <c:v>-81</c:v>
              </c:pt>
              <c:pt idx="15">
                <c:v>-78.900000000000006</c:v>
              </c:pt>
              <c:pt idx="16">
                <c:v>-76.099999999999994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-65.400000000000006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0-F2B5-4468-96DC-67358EC38851}"/>
            </c:ext>
          </c:extLst>
        </c:ser>
        <c:ser>
          <c:idx val="1"/>
          <c:order val="1"/>
          <c:tx>
            <c:v>33/33/34</c:v>
          </c:tx>
          <c:spPr>
            <a:ln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-68.099999999999994</c:v>
              </c:pt>
              <c:pt idx="4">
                <c:v>-64.599999999999994</c:v>
              </c:pt>
              <c:pt idx="5">
                <c:v>-59.7</c:v>
              </c:pt>
              <c:pt idx="6">
                <c:v>-66.400000000000006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1-F2B5-4468-96DC-67358EC38851}"/>
            </c:ext>
          </c:extLst>
        </c:ser>
        <c:ser>
          <c:idx val="2"/>
          <c:order val="2"/>
          <c:tx>
            <c:v>40/40/20</c:v>
          </c:tx>
          <c:spPr>
            <a:ln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2-F2B5-4468-96DC-67358EC388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low"/>
        <c:spPr>
          <a:ln w="9525">
            <a:solidFill>
              <a:srgbClr val="DEB4BA"/>
            </a:solidFill>
          </a:ln>
        </c:spPr>
        <c:txPr>
          <a:bodyPr anchorCtr="1"/>
          <a:lstStyle/>
          <a:p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w="9525">
              <a:solidFill>
                <a:srgbClr val="DEB4BA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Survivor mean GP</a:t>
                </a:r>
              </a:p>
            </c:rich>
          </c:tx>
          <c:overlay val="0"/>
        </c:title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"/>
      </c:valAx>
      <c:spPr>
        <a:solidFill>
          <a:srgbClr val="FCF8F5"/>
        </a:solidFill>
      </c:spPr>
    </c:plotArea>
    <c:legend>
      <c:legendPos val="b"/>
      <c:overlay val="0"/>
      <c:txPr>
        <a:bodyPr anchorCtr="1"/>
        <a:lstStyle/>
        <a:p>
          <a:pPr>
            <a:defRPr sz="210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>
              <a:srgbClr val="C69B45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7DDF-4B6E-B077-3292E5639365}"/>
            </c:ext>
          </c:extLst>
        </c:ser>
        <c:ser>
          <c:idx val="1"/>
          <c:order val="1"/>
          <c:tx>
            <c:v>Draws</c:v>
          </c:tx>
          <c:spPr>
            <a:solidFill>
              <a:srgbClr val="CF8792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7DDF-4B6E-B077-3292E5639365}"/>
            </c:ext>
          </c:extLst>
        </c:ser>
        <c:ser>
          <c:idx val="2"/>
          <c:order val="2"/>
          <c:tx>
            <c:v>Losses</c:v>
          </c:tx>
          <c:spPr>
            <a:solidFill>
              <a:srgbClr val="E7D8D6"/>
            </a:solidFill>
          </c:spPr>
          <c:invertIfNegative val="1"/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7DDF-4B6E-B077-3292E56393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w="9525">
              <a:solidFill>
                <a:srgbClr val="DEB4BA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lang="zh-TW"/>
          </a:p>
        </c:txPr>
        <c:crossAx val="48650112"/>
        <c:crosses val="autoZero"/>
        <c:crossBetween val="between"/>
        <c:majorUnit val="100"/>
      </c:valAx>
      <c:spPr>
        <a:solidFill>
          <a:srgbClr val="FCF8F5"/>
        </a:solidFill>
      </c:spPr>
    </c:plotArea>
    <c:legend>
      <c:legendPos val="t"/>
      <c:overlay val="0"/>
      <c:txPr>
        <a:bodyPr anchorCtr="1"/>
        <a:lstStyle/>
        <a:p>
          <a:pPr>
            <a:defRPr sz="2175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CF8F5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type="title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34C9E6-C370-4CE6-8C49-57861F01F24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2762250"/>
            <a:ext cx="10972800" cy="1333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7A0C5AD2-9560-46CF-A557-9D96775B73B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857500" y="4429125"/>
            <a:ext cx="10210800" cy="952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8C348E4-79BB-4AF1-BB17-4C56482E70E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2.xml><?xml version="1.0" encoding="utf-8"?>
<p:sldLayout xmlns:p="http://schemas.openxmlformats.org/presentationml/2006/main" preserve="1" type="secHead">
  <p:cSld name="章節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E3969E06-0C81-48D2-BB37-515771E13DC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476500" y="3238500"/>
            <a:ext cx="10972800" cy="12382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2">
            <a:extLst xmlns:a="http://schemas.openxmlformats.org/drawingml/2006/main">
              <a:ext uri="{FF2B5EF4-FFF2-40B4-BE49-F238E27FC236}">
                <a16:creationId xmlns:a16="http://schemas.microsoft.com/office/drawing/2014/main" id="{590865AA-9D35-4748-91A3-B387D561BA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048000" y="4714875"/>
            <a:ext cx="9829800" cy="8572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按一下以新增章節說明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17978094-D840-411A-97AB-FBE7549887C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3.xml><?xml version="1.0" encoding="utf-8"?>
<p:sldLayout xmlns:p="http://schemas.openxmlformats.org/presentationml/2006/main" preserve="1" type="obj">
  <p:cSld name="標題及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6EC4DF72-535F-4440-B07D-46BAD5D2A2A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353937-B2B6-48C4-A2B5-2F27B15E716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2425B3F-3430-4EDE-B5B3-73C027E72E1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7EA615D-6BC0-4AA4-9575-F461CC4EA87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4.xml><?xml version="1.0" encoding="utf-8"?>
<p:sldLayout xmlns:p="http://schemas.openxmlformats.org/presentationml/2006/main" preserve="1" type="twoObj">
  <p:cSld name="兩項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A4791D8-472B-4CB1-9BF5-68D6DDA5E0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302C0C6D-C490-4DDF-92D9-E216E08E1C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0892CF96-6BB8-469E-8C05-16E66270671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00538733-DF1C-4D96-92B6-38724A005A9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8191500" y="2619375"/>
            <a:ext cx="6305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7F1C9FD-86B6-4ED8-BDB8-5E3AC2F9E1B5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5.xml><?xml version="1.0" encoding="utf-8"?>
<p:sldLayout xmlns:p="http://schemas.openxmlformats.org/presentationml/2006/main" preserve="1" type="twoTxTwoObj">
  <p:cSld name="比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C4DD0E43-2CD7-44D8-A8DE-10D092170A6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076D8F65-D3F7-4349-B3FE-19769F62948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E2F427F0-C955-46A6-9858-9A50C0C635E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5" name="EAGLE_4">
            <a:extLst xmlns:a="http://schemas.openxmlformats.org/drawingml/2006/main">
              <a:ext uri="{FF2B5EF4-FFF2-40B4-BE49-F238E27FC236}">
                <a16:creationId xmlns:a16="http://schemas.microsoft.com/office/drawing/2014/main" id="{3BB99614-5410-42D4-8D56-3C67339DE590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142875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3">
            <a:extLst xmlns:a="http://schemas.openxmlformats.org/drawingml/2006/main">
              <a:ext uri="{FF2B5EF4-FFF2-40B4-BE49-F238E27FC236}">
                <a16:creationId xmlns:a16="http://schemas.microsoft.com/office/drawing/2014/main" id="{A31AD1B3-6BB9-4504-B9C5-087515F7D2D4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2571750"/>
            <a:ext cx="6305550" cy="619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按一下以新增欄位標題</a:t>
            </a:r>
          </a:p>
        </p:txBody>
      </p:sp>
      <p:sp>
        <p:nvSpPr>
          <p:cNvPr id="7" name="EAGLE_5">
            <a:extLst xmlns:a="http://schemas.openxmlformats.org/drawingml/2006/main">
              <a:ext uri="{FF2B5EF4-FFF2-40B4-BE49-F238E27FC236}">
                <a16:creationId xmlns:a16="http://schemas.microsoft.com/office/drawing/2014/main" id="{31D81A76-EB56-426E-8AAB-C05D479E14FD}"/>
              </a:ext>
            </a:extLst>
          </p:cNvPr>
          <p:cNvSpPr>
            <a:spLocks xmlns:a="http://schemas.openxmlformats.org/drawingml/2006/main" noGrp="1"/>
          </p:cNvSpPr>
          <p:nvPr>
            <p:ph idx="5"/>
          </p:nvPr>
        </p:nvSpPr>
        <p:spPr>
          <a:xfrm xmlns:a="http://schemas.openxmlformats.org/drawingml/2006/main">
            <a:off x="8191500" y="3476625"/>
            <a:ext cx="6305550" cy="40481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25DE740A-C560-4D97-B685-3DC30E2E4C0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6.xml><?xml version="1.0" encoding="utf-8"?>
<p:sldLayout xmlns:p="http://schemas.openxmlformats.org/presentationml/2006/main" preserve="1" type="cust">
  <p:cSld name="三欄內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D22686DD-6022-4F4D-883C-A3A2AE4FE63B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6D6AF434-5A04-42F0-BBFA-BC92C57998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FEB69765-384F-41D2-A24F-900B0409C29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BB259B69-1EC0-4318-8F78-3881E3FD7476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594360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6" name="EAGLE_4">
            <a:extLst xmlns:a="http://schemas.openxmlformats.org/drawingml/2006/main">
              <a:ext uri="{FF2B5EF4-FFF2-40B4-BE49-F238E27FC236}">
                <a16:creationId xmlns:a16="http://schemas.microsoft.com/office/drawing/2014/main" id="{86B9ECF8-06DD-4853-A29A-64E7D62F27E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10458450" y="2619375"/>
            <a:ext cx="40386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 xmlns:a="http://schemas.openxmlformats.org/drawingml/2006/main">
        <p:nvSpPr>
          <p:cNvPr id="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F2A8317-C48C-4562-8739-1D4500D42A3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7.xml><?xml version="1.0" encoding="utf-8"?>
<p:sldLayout xmlns:p="http://schemas.openxmlformats.org/presentationml/2006/main" preserve="1" type="picTx">
  <p:cSld name="圖片及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93752F55-AC4A-40BE-B03B-0C040D718409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8B7D0469-A4AB-493F-ACBF-E8CB73C3A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9089290D-C95F-4404-8DFC-D4901DA1C1B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000250" y="2476500"/>
            <a:ext cx="11925300" cy="461962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D1E03D6F-4B50-441D-9B62-7C7CF72080CE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2000250" y="7334250"/>
            <a:ext cx="11925300" cy="66675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按一下以新增圖片說明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20B2264-DB77-46B4-9142-C07B7608BA2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8.xml><?xml version="1.0" encoding="utf-8"?>
<p:sldLayout xmlns:p="http://schemas.openxmlformats.org/presentationml/2006/main" preserve="1" type="objTx">
  <p:cSld name="內容與圖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4E1AFFBC-8DD7-4858-BE9E-DF7B9E84524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1E591F6-4009-4737-9C0E-3381B92FB0A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277AB01-EE8D-4317-87D9-BEC820CCC3C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5476875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按一下以新增內容</a:t>
            </a:r>
          </a:p>
        </p:txBody>
      </p:sp>
      <p:sp>
        <p:nvSpPr>
          <p:cNvPr id="5" name="EAGLE_3">
            <a:extLst xmlns:a="http://schemas.openxmlformats.org/drawingml/2006/main">
              <a:ext uri="{FF2B5EF4-FFF2-40B4-BE49-F238E27FC236}">
                <a16:creationId xmlns:a16="http://schemas.microsoft.com/office/drawing/2014/main" id="{882ACEB2-431F-4BBF-8F1B-4F07F63851B4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429500" y="2619375"/>
            <a:ext cx="706755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按一下以新增圖片</a:t>
            </a:r>
          </a:p>
        </p:txBody>
      </p:sp>
      <p:sp xmlns:a="http://schemas.openxmlformats.org/drawingml/2006/main">
        <p:nvSpPr>
          <p:cNvPr id="6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1EB8313-D2D1-4769-A442-4AFB0FA0006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9.xml><?xml version="1.0" encoding="utf-8"?>
<p:sldLayout xmlns:p="http://schemas.openxmlformats.org/presentationml/2006/main" preserve="1" type="tbl">
  <p:cSld name="標題及表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3F380ADE-E8BD-4361-83D4-34B395C514E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198BEF13-EEB7-4982-8834-382B045AD4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72D86C95-69D7-4516-97E8-EFF008A8DE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按一下以新增表格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DB182D1-FF93-490A-ABA9-4291A7DB888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0.xml><?xml version="1.0" encoding="utf-8"?>
<p:sldLayout xmlns:p="http://schemas.openxmlformats.org/presentationml/2006/main" preserve="1" type="chart">
  <p:cSld name="標題及圖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1A30452A-65F7-44A3-A2FA-1CF1F34140E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C07D963E-74AF-48B2-8248-0768C947D0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>
        <p:nvSpPr>
          <p:cNvPr id="4" name="EAGLE_2">
            <a:extLst xmlns:a="http://schemas.openxmlformats.org/drawingml/2006/main">
              <a:ext uri="{FF2B5EF4-FFF2-40B4-BE49-F238E27FC236}">
                <a16:creationId xmlns:a16="http://schemas.microsoft.com/office/drawing/2014/main" id="{6394422A-37D3-4C97-96C5-AF5AE3C8DC4D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1428750" y="2619375"/>
            <a:ext cx="13068300" cy="4905375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按一下以新增圖表</a:t>
            </a:r>
          </a:p>
        </p:txBody>
      </p:sp>
      <p:sp xmlns:a="http://schemas.openxmlformats.org/drawingml/2006/main">
        <p:nvSpPr>
          <p:cNvPr id="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67DBBE9-8907-4CDA-B31B-70D8F9865DB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1.xml><?xml version="1.0" encoding="utf-8"?>
<p:sldLayout xmlns:p="http://schemas.openxmlformats.org/presentationml/2006/main" preserve="1" type="titleOnly">
  <p:cSld name="僅標題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AGLE_0">
            <a:extLst xmlns:a="http://schemas.openxmlformats.org/drawingml/2006/main">
              <a:ext uri="{FF2B5EF4-FFF2-40B4-BE49-F238E27FC236}">
                <a16:creationId xmlns:a16="http://schemas.microsoft.com/office/drawing/2014/main" id="{2F1A0662-494B-4627-BCEA-708F46AE5F74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2286000" y="438150"/>
            <a:ext cx="11353800" cy="104775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按一下以新增標題</a:t>
            </a:r>
          </a:p>
        </p:txBody>
      </p:sp>
      <p:sp>
        <p:nvSpPr>
          <p:cNvPr id="3" name="EAGLE_1">
            <a:extLst xmlns:a="http://schemas.openxmlformats.org/drawingml/2006/main">
              <a:ext uri="{FF2B5EF4-FFF2-40B4-BE49-F238E27FC236}">
                <a16:creationId xmlns:a16="http://schemas.microsoft.com/office/drawing/2014/main" id="{5E4D67E8-1093-453A-AE8D-20B1DE405F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476500" y="1571625"/>
            <a:ext cx="10972800" cy="4572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按一下以新增副標題</a:t>
            </a:r>
          </a:p>
        </p:txBody>
      </p:sp>
      <p:sp xmlns:a="http://schemas.openxmlformats.org/drawingml/2006/main">
        <p:nvSpPr>
          <p:cNvPr id="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A7CCFBA-D2BE-4805-83AB-8476E3614DA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Layouts/slideLayout12.xml><?xml version="1.0" encoding="utf-8"?>
<p:sldLayout xmlns:p="http://schemas.openxmlformats.org/presentationml/2006/main" preserve="1" type="blank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8F6E552-56E6-40D2-ADAD-0B0FA821F4A1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hf sldNum="1" dt="0" hdr="0" ftr="0"/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2" Type="http://schemas.openxmlformats.org/officeDocument/2006/relationships/slideLayout" Target="../slideLayouts/slideLayout2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Theme" Type="http://schemas.openxmlformats.org/officeDocument/2006/relationships/theme" Target="../theme/theme1.xml"/><Relationship Id="rIdBackground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EAG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AGLE geometric full-slide background"/>
          <p:cNvPicPr>
            <a:picLocks noChangeAspect="1"/>
          </p:cNvPicPr>
          <p:nvPr/>
        </p:nvPicPr>
        <p:blipFill>
          <a:blip r:embed="rIdBackground"/>
          <a:stretch>
            <a:fillRect/>
          </a:stretch>
        </p:blipFill>
        <p:spPr>
          <a:xfrm>
            <a:off x="0" y="0"/>
            <a:ext cx="15925800" cy="8963025"/>
          </a:xfrm>
          <a:prstGeom prst="rect">
            <a:avLst/>
          </a:prstGeom>
        </p:spPr>
      </p:pic>
      <p:sp>
        <p:nvSpPr>
          <p:cNvPr id="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59503F7-5426-46B3-9C9F-994979D70E0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&lt;#&gt;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</p:sldLayoutIdLst>
  <p:hf sldNum="1" dt="0" hdr="0" ftr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6">
            <a:extLst>
              <a:ext uri="{FF2B5EF4-FFF2-40B4-BE49-F238E27FC236}">
                <a16:creationId xmlns:a16="http://schemas.microsoft.com/office/drawing/2014/main" id="{9F76D2EA-66B9-48B2-A578-685D611D08E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5" name="菱形 7">
            <a:extLst>
              <a:ext uri="{FF2B5EF4-FFF2-40B4-BE49-F238E27FC236}">
                <a16:creationId xmlns:a16="http://schemas.microsoft.com/office/drawing/2014/main" id="{B91D6B08-82FD-43E5-860A-9FCC4D5219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6" name="矩形 9">
            <a:extLst>
              <a:ext uri="{FF2B5EF4-FFF2-40B4-BE49-F238E27FC236}">
                <a16:creationId xmlns:a16="http://schemas.microsoft.com/office/drawing/2014/main" id="{A455E064-1345-4A82-A442-279E5EFDF79F}"/>
              </a:ext>
            </a:extLst>
          </p:cNvPr>
          <p:cNvSpPr>
            <a:spLocks noGrp="1"/>
          </p:cNvSpPr>
          <p:nvPr/>
        </p:nvSpPr>
        <p:spPr>
          <a:xfrm>
            <a:off x="4572000" y="4905375"/>
            <a:ext cx="67818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研究進展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0903–0907 改版與實驗整理</a:t>
            </a:r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noGrp="1"/>
          </p:cNvSpPr>
          <p:nvPr/>
        </p:nvSpPr>
        <p:spPr>
          <a:xfrm>
            <a:off x="2381250" y="3390900"/>
            <a:ext cx="11163300" cy="1190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 dirty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</a:t>
            </a:r>
            <a:r>
              <a:rPr sz="4950" b="1" dirty="0" err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的修正與驗證</a:t>
            </a:r>
            <a:endParaRPr sz="4950" b="1" dirty="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noGrp="1"/>
          </p:cNvSpPr>
          <p:nvPr/>
        </p:nvSpPr>
        <p:spPr>
          <a:xfrm>
            <a:off x="3333750" y="5381625"/>
            <a:ext cx="9258300" cy="666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改版摘要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架構更新</a:t>
            </a:r>
            <a:r>
              <a:rPr sz="2550" b="0" dirty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　</a:t>
            </a:r>
            <a:r>
              <a:rPr sz="2550" b="0" dirty="0" err="1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實驗結果</a:t>
            </a:r>
            <a:endParaRPr sz="2550" b="0" dirty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noGrp="1"/>
          </p:cNvSpPr>
          <p:nvPr/>
        </p:nvSpPr>
        <p:spPr>
          <a:xfrm>
            <a:off x="3810000" y="6334125"/>
            <a:ext cx="8305800" cy="5905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Meeting 0910　2026.09.10</a:t>
            </a:r>
          </a:p>
        </p:txBody>
      </p:sp>
      <p:sp>
        <p:nvSpPr>
          <p:cNvPr id="1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F74A4E4-B31E-48F2-957D-AF0C6D31175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AF6CAEEE-E072-44B9-8607-B1F607D73CC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47D1B529-9578-4154-B17D-39A71B90622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EFF5282F-03E1-4636-847D-D2C65F724B9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2E6774B7-AA79-4410-8622-414BDDF18BB1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E61DFFEC-6215-4D8D-8A3F-D69E6E912A04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C00BA6F5-2982-4BE7-9459-006EE872FEB3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這段時間改了什麼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 Reflection 的責任與失敗保護釐清，再比較演化效果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反思輸出可單獨檢查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新增固定父代的重複 trial，保留輸入、response、實際欄位變動。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補入完整遊戲規則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讓策略生成與反思取得 MicroRTS contract，減少不存在的單位與機制。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　Balance 改為 Prompt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 prompt 的規範問題；加入選擇性改寫、驗證與有限重試。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09/04–09/07　比較比例並準備 AOS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完成三組固定比例的演化測試，建立以 33/33/34 起跑的 AOS 設定。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改版主線：可追溯的輸出 → 明確責任 → 合法性保護 → 實際演化比較</a:t>
            </a:r>
          </a:p>
        </p:txBody>
      </p:sp>
      <p:sp>
        <p:nvSpPr>
          <p:cNvPr id="3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F7AC1D4-290F-4195-A3F4-40C8C6B4436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FC30046-93D2-4FCC-8FA5-C0DA97CCBF5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1F90C09-4AB8-4663-9C7B-3AAA8E9243F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78954D88-87B2-4D06-82D1-0CFD697AA2A0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DD6BEE2-CCD0-416C-AD28-CC9A7D4DF352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A0AAB75-0A53-4443-96D5-01A98BFDC2F5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34AB464-7E2D-41D1-9714-4C8C6AF794EB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A8B19697-E3B9-4367-959A-34B8355F776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 改版的核心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可改策略；Code 修翻譯；Compliance 修合法性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責任重新切開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輸出保護更完整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Balance 用 W/D/L 同時重寫兩個 prompt，容易引入無依據概念。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Compliance 逐一稽核兩個 prompt，只改有 issue 的欄位。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與 Code 保留各自的修改範圍。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遊戲規則集中在單一 contract，角色 prompt 引用規則。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錯誤輸出收到精確 validation error，最多重試 3 次。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gene 都需修正時，全部成功才一起套用。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初始化也補上本機模型 JSON 格式容錯；檢查成功與對戰表現分開評估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587748E-ECB5-404F-9805-88DC8C5C6D3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6">
            <a:extLst>
              <a:ext uri="{FF2B5EF4-FFF2-40B4-BE49-F238E27FC236}">
                <a16:creationId xmlns:a16="http://schemas.microsoft.com/office/drawing/2014/main" id="{3957C143-BB6F-4780-A866-E40375C8E77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2" name="菱形 7">
            <a:extLst>
              <a:ext uri="{FF2B5EF4-FFF2-40B4-BE49-F238E27FC236}">
                <a16:creationId xmlns:a16="http://schemas.microsoft.com/office/drawing/2014/main" id="{2322933B-A22C-43AA-AFE0-DE6AE6C481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3" name="矩形: 圓角 8">
            <a:extLst>
              <a:ext uri="{FF2B5EF4-FFF2-40B4-BE49-F238E27FC236}">
                <a16:creationId xmlns:a16="http://schemas.microsoft.com/office/drawing/2014/main" id="{FCB959D3-D01F-47F3-95A7-E3EFD3076424}"/>
              </a:ext>
            </a:extLst>
          </p:cNvPr>
          <p:cNvSpPr>
            <a:spLocks noGrp="1"/>
          </p:cNvSpPr>
          <p:nvPr/>
        </p:nvSpPr>
        <p:spPr>
          <a:xfrm>
            <a:off x="9906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4" name="橢圓 9">
            <a:extLst>
              <a:ext uri="{FF2B5EF4-FFF2-40B4-BE49-F238E27FC236}">
                <a16:creationId xmlns:a16="http://schemas.microsoft.com/office/drawing/2014/main" id="{3055E3F4-0D62-400A-9D46-AAE30A30C3F7}"/>
              </a:ext>
            </a:extLst>
          </p:cNvPr>
          <p:cNvSpPr>
            <a:spLocks noGrp="1"/>
          </p:cNvSpPr>
          <p:nvPr/>
        </p:nvSpPr>
        <p:spPr>
          <a:xfrm>
            <a:off x="23241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5" name="矩形 12">
            <a:extLst>
              <a:ext uri="{FF2B5EF4-FFF2-40B4-BE49-F238E27FC236}">
                <a16:creationId xmlns:a16="http://schemas.microsoft.com/office/drawing/2014/main" id="{F0C84E05-E7A2-497D-A3CB-6EEEE9773430}"/>
              </a:ext>
            </a:extLst>
          </p:cNvPr>
          <p:cNvSpPr>
            <a:spLocks noGrp="1"/>
          </p:cNvSpPr>
          <p:nvPr/>
        </p:nvSpPr>
        <p:spPr>
          <a:xfrm>
            <a:off x="12763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76" name="箭號: 向右 14">
            <a:extLst>
              <a:ext uri="{FF2B5EF4-FFF2-40B4-BE49-F238E27FC236}">
                <a16:creationId xmlns:a16="http://schemas.microsoft.com/office/drawing/2014/main" id="{D1E758BF-CFD1-4E39-81BE-D90D912CE962}"/>
              </a:ext>
            </a:extLst>
          </p:cNvPr>
          <p:cNvSpPr>
            <a:spLocks noGrp="1"/>
          </p:cNvSpPr>
          <p:nvPr/>
        </p:nvSpPr>
        <p:spPr>
          <a:xfrm>
            <a:off x="42672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77" name="矩形: 圓角 15">
            <a:extLst>
              <a:ext uri="{FF2B5EF4-FFF2-40B4-BE49-F238E27FC236}">
                <a16:creationId xmlns:a16="http://schemas.microsoft.com/office/drawing/2014/main" id="{97B9B512-304F-4CB9-93C4-D8AC938591A1}"/>
              </a:ext>
            </a:extLst>
          </p:cNvPr>
          <p:cNvSpPr>
            <a:spLocks noGrp="1"/>
          </p:cNvSpPr>
          <p:nvPr/>
        </p:nvSpPr>
        <p:spPr>
          <a:xfrm>
            <a:off x="47053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78" name="橢圓 16">
            <a:extLst>
              <a:ext uri="{FF2B5EF4-FFF2-40B4-BE49-F238E27FC236}">
                <a16:creationId xmlns:a16="http://schemas.microsoft.com/office/drawing/2014/main" id="{1ADE5354-9A71-4C73-91EB-1A34BA99CDD0}"/>
              </a:ext>
            </a:extLst>
          </p:cNvPr>
          <p:cNvSpPr>
            <a:spLocks noGrp="1"/>
          </p:cNvSpPr>
          <p:nvPr/>
        </p:nvSpPr>
        <p:spPr>
          <a:xfrm>
            <a:off x="60388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79" name="矩形 19">
            <a:extLst>
              <a:ext uri="{FF2B5EF4-FFF2-40B4-BE49-F238E27FC236}">
                <a16:creationId xmlns:a16="http://schemas.microsoft.com/office/drawing/2014/main" id="{3AF6677C-3C6E-4563-BADF-D5D216ED51E1}"/>
              </a:ext>
            </a:extLst>
          </p:cNvPr>
          <p:cNvSpPr>
            <a:spLocks noGrp="1"/>
          </p:cNvSpPr>
          <p:nvPr/>
        </p:nvSpPr>
        <p:spPr>
          <a:xfrm>
            <a:off x="49911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0" name="箭號: 向右 21">
            <a:extLst>
              <a:ext uri="{FF2B5EF4-FFF2-40B4-BE49-F238E27FC236}">
                <a16:creationId xmlns:a16="http://schemas.microsoft.com/office/drawing/2014/main" id="{F8455C09-98E1-4B28-95B2-C061165D73AA}"/>
              </a:ext>
            </a:extLst>
          </p:cNvPr>
          <p:cNvSpPr>
            <a:spLocks noGrp="1"/>
          </p:cNvSpPr>
          <p:nvPr/>
        </p:nvSpPr>
        <p:spPr>
          <a:xfrm>
            <a:off x="798195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1" name="矩形: 圓角 22">
            <a:extLst>
              <a:ext uri="{FF2B5EF4-FFF2-40B4-BE49-F238E27FC236}">
                <a16:creationId xmlns:a16="http://schemas.microsoft.com/office/drawing/2014/main" id="{DFF97DA9-C92A-4F64-A1D1-48771B3EB8F9}"/>
              </a:ext>
            </a:extLst>
          </p:cNvPr>
          <p:cNvSpPr>
            <a:spLocks noGrp="1"/>
          </p:cNvSpPr>
          <p:nvPr/>
        </p:nvSpPr>
        <p:spPr>
          <a:xfrm>
            <a:off x="842010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2" name="橢圓 23">
            <a:extLst>
              <a:ext uri="{FF2B5EF4-FFF2-40B4-BE49-F238E27FC236}">
                <a16:creationId xmlns:a16="http://schemas.microsoft.com/office/drawing/2014/main" id="{845BA28E-F9EE-4EA3-9139-51149A2C1D35}"/>
              </a:ext>
            </a:extLst>
          </p:cNvPr>
          <p:cNvSpPr>
            <a:spLocks noGrp="1"/>
          </p:cNvSpPr>
          <p:nvPr/>
        </p:nvSpPr>
        <p:spPr>
          <a:xfrm>
            <a:off x="975360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3" name="矩形 26">
            <a:extLst>
              <a:ext uri="{FF2B5EF4-FFF2-40B4-BE49-F238E27FC236}">
                <a16:creationId xmlns:a16="http://schemas.microsoft.com/office/drawing/2014/main" id="{62BF0486-DAFA-4CB0-BCF7-4E9232AEE021}"/>
              </a:ext>
            </a:extLst>
          </p:cNvPr>
          <p:cNvSpPr>
            <a:spLocks noGrp="1"/>
          </p:cNvSpPr>
          <p:nvPr/>
        </p:nvSpPr>
        <p:spPr>
          <a:xfrm>
            <a:off x="870585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4" name="箭號: 向右 28">
            <a:extLst>
              <a:ext uri="{FF2B5EF4-FFF2-40B4-BE49-F238E27FC236}">
                <a16:creationId xmlns:a16="http://schemas.microsoft.com/office/drawing/2014/main" id="{C44DFB8D-303D-4CAE-83A2-5DE4DBEEC599}"/>
              </a:ext>
            </a:extLst>
          </p:cNvPr>
          <p:cNvSpPr>
            <a:spLocks noGrp="1"/>
          </p:cNvSpPr>
          <p:nvPr/>
        </p:nvSpPr>
        <p:spPr>
          <a:xfrm>
            <a:off x="11696700" y="3905250"/>
            <a:ext cx="304800" cy="2190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85" name="矩形: 圓角 29">
            <a:extLst>
              <a:ext uri="{FF2B5EF4-FFF2-40B4-BE49-F238E27FC236}">
                <a16:creationId xmlns:a16="http://schemas.microsoft.com/office/drawing/2014/main" id="{6528C3B1-91C7-47E2-BD11-F64876328B41}"/>
              </a:ext>
            </a:extLst>
          </p:cNvPr>
          <p:cNvSpPr>
            <a:spLocks noGrp="1"/>
          </p:cNvSpPr>
          <p:nvPr/>
        </p:nvSpPr>
        <p:spPr>
          <a:xfrm>
            <a:off x="12134850" y="28765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6" name="橢圓 30">
            <a:extLst>
              <a:ext uri="{FF2B5EF4-FFF2-40B4-BE49-F238E27FC236}">
                <a16:creationId xmlns:a16="http://schemas.microsoft.com/office/drawing/2014/main" id="{B019FC32-4EA3-43A7-B7CC-3FD6A85D4E0A}"/>
              </a:ext>
            </a:extLst>
          </p:cNvPr>
          <p:cNvSpPr>
            <a:spLocks noGrp="1"/>
          </p:cNvSpPr>
          <p:nvPr/>
        </p:nvSpPr>
        <p:spPr>
          <a:xfrm>
            <a:off x="13468350" y="26384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7" name="矩形 33">
            <a:extLst>
              <a:ext uri="{FF2B5EF4-FFF2-40B4-BE49-F238E27FC236}">
                <a16:creationId xmlns:a16="http://schemas.microsoft.com/office/drawing/2014/main" id="{8CFB024B-A9D8-4474-8141-8C5DB6176449}"/>
              </a:ext>
            </a:extLst>
          </p:cNvPr>
          <p:cNvSpPr>
            <a:spLocks noGrp="1"/>
          </p:cNvSpPr>
          <p:nvPr/>
        </p:nvSpPr>
        <p:spPr>
          <a:xfrm>
            <a:off x="12420600" y="41148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88" name="矩形: 圓角 35">
            <a:extLst>
              <a:ext uri="{FF2B5EF4-FFF2-40B4-BE49-F238E27FC236}">
                <a16:creationId xmlns:a16="http://schemas.microsoft.com/office/drawing/2014/main" id="{5B724B37-F0C4-4B54-9D28-3D328E9430BB}"/>
              </a:ext>
            </a:extLst>
          </p:cNvPr>
          <p:cNvSpPr>
            <a:spLocks noGrp="1"/>
          </p:cNvSpPr>
          <p:nvPr/>
        </p:nvSpPr>
        <p:spPr>
          <a:xfrm>
            <a:off x="121348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89" name="橢圓 36">
            <a:extLst>
              <a:ext uri="{FF2B5EF4-FFF2-40B4-BE49-F238E27FC236}">
                <a16:creationId xmlns:a16="http://schemas.microsoft.com/office/drawing/2014/main" id="{88826D4B-A72F-43AA-B44B-CCF95963A8B4}"/>
              </a:ext>
            </a:extLst>
          </p:cNvPr>
          <p:cNvSpPr>
            <a:spLocks noGrp="1"/>
          </p:cNvSpPr>
          <p:nvPr/>
        </p:nvSpPr>
        <p:spPr>
          <a:xfrm>
            <a:off x="134683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0" name="矩形 39">
            <a:extLst>
              <a:ext uri="{FF2B5EF4-FFF2-40B4-BE49-F238E27FC236}">
                <a16:creationId xmlns:a16="http://schemas.microsoft.com/office/drawing/2014/main" id="{36817397-CFA7-4E5F-BB7A-217F6D32E44C}"/>
              </a:ext>
            </a:extLst>
          </p:cNvPr>
          <p:cNvSpPr>
            <a:spLocks noGrp="1"/>
          </p:cNvSpPr>
          <p:nvPr/>
        </p:nvSpPr>
        <p:spPr>
          <a:xfrm>
            <a:off x="124206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1" name="矩形: 圓角 41">
            <a:extLst>
              <a:ext uri="{FF2B5EF4-FFF2-40B4-BE49-F238E27FC236}">
                <a16:creationId xmlns:a16="http://schemas.microsoft.com/office/drawing/2014/main" id="{F5FB49FC-1078-4765-B4FE-BA4565F8BE82}"/>
              </a:ext>
            </a:extLst>
          </p:cNvPr>
          <p:cNvSpPr>
            <a:spLocks noGrp="1"/>
          </p:cNvSpPr>
          <p:nvPr/>
        </p:nvSpPr>
        <p:spPr>
          <a:xfrm>
            <a:off x="84201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2" name="橢圓 42">
            <a:extLst>
              <a:ext uri="{FF2B5EF4-FFF2-40B4-BE49-F238E27FC236}">
                <a16:creationId xmlns:a16="http://schemas.microsoft.com/office/drawing/2014/main" id="{A1293CCF-ECA7-4CE8-AAD5-0F4611450CD7}"/>
              </a:ext>
            </a:extLst>
          </p:cNvPr>
          <p:cNvSpPr>
            <a:spLocks noGrp="1"/>
          </p:cNvSpPr>
          <p:nvPr/>
        </p:nvSpPr>
        <p:spPr>
          <a:xfrm>
            <a:off x="97536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3" name="矩形 45">
            <a:extLst>
              <a:ext uri="{FF2B5EF4-FFF2-40B4-BE49-F238E27FC236}">
                <a16:creationId xmlns:a16="http://schemas.microsoft.com/office/drawing/2014/main" id="{3B50706C-674F-48D9-9B29-C51B036AB22E}"/>
              </a:ext>
            </a:extLst>
          </p:cNvPr>
          <p:cNvSpPr>
            <a:spLocks noGrp="1"/>
          </p:cNvSpPr>
          <p:nvPr/>
        </p:nvSpPr>
        <p:spPr>
          <a:xfrm>
            <a:off x="87058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4" name="箭號: 向左 47">
            <a:extLst>
              <a:ext uri="{FF2B5EF4-FFF2-40B4-BE49-F238E27FC236}">
                <a16:creationId xmlns:a16="http://schemas.microsoft.com/office/drawing/2014/main" id="{99D7197F-E204-4F33-9187-737CF5DE5539}"/>
              </a:ext>
            </a:extLst>
          </p:cNvPr>
          <p:cNvSpPr>
            <a:spLocks noGrp="1"/>
          </p:cNvSpPr>
          <p:nvPr/>
        </p:nvSpPr>
        <p:spPr>
          <a:xfrm>
            <a:off x="116967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5" name="矩形: 圓角 48">
            <a:extLst>
              <a:ext uri="{FF2B5EF4-FFF2-40B4-BE49-F238E27FC236}">
                <a16:creationId xmlns:a16="http://schemas.microsoft.com/office/drawing/2014/main" id="{D0FA1965-711B-4CEE-82CB-58A187AF0AA3}"/>
              </a:ext>
            </a:extLst>
          </p:cNvPr>
          <p:cNvSpPr>
            <a:spLocks noGrp="1"/>
          </p:cNvSpPr>
          <p:nvPr/>
        </p:nvSpPr>
        <p:spPr>
          <a:xfrm>
            <a:off x="470535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96" name="橢圓 49">
            <a:extLst>
              <a:ext uri="{FF2B5EF4-FFF2-40B4-BE49-F238E27FC236}">
                <a16:creationId xmlns:a16="http://schemas.microsoft.com/office/drawing/2014/main" id="{D6FF94C0-806B-46D8-86F1-D55F04B5184F}"/>
              </a:ext>
            </a:extLst>
          </p:cNvPr>
          <p:cNvSpPr>
            <a:spLocks noGrp="1"/>
          </p:cNvSpPr>
          <p:nvPr/>
        </p:nvSpPr>
        <p:spPr>
          <a:xfrm>
            <a:off x="603885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97" name="矩形 52">
            <a:extLst>
              <a:ext uri="{FF2B5EF4-FFF2-40B4-BE49-F238E27FC236}">
                <a16:creationId xmlns:a16="http://schemas.microsoft.com/office/drawing/2014/main" id="{BC420691-057F-47AE-9DC7-D1002E07DE3A}"/>
              </a:ext>
            </a:extLst>
          </p:cNvPr>
          <p:cNvSpPr>
            <a:spLocks noGrp="1"/>
          </p:cNvSpPr>
          <p:nvPr/>
        </p:nvSpPr>
        <p:spPr>
          <a:xfrm>
            <a:off x="499110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98" name="箭號: 向左 54">
            <a:extLst>
              <a:ext uri="{FF2B5EF4-FFF2-40B4-BE49-F238E27FC236}">
                <a16:creationId xmlns:a16="http://schemas.microsoft.com/office/drawing/2014/main" id="{E2DD4A46-8C18-42D1-9DA4-0A2A7DE6D77E}"/>
              </a:ext>
            </a:extLst>
          </p:cNvPr>
          <p:cNvSpPr>
            <a:spLocks noGrp="1"/>
          </p:cNvSpPr>
          <p:nvPr/>
        </p:nvSpPr>
        <p:spPr>
          <a:xfrm>
            <a:off x="798195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9" name="矩形: 圓角 55">
            <a:extLst>
              <a:ext uri="{FF2B5EF4-FFF2-40B4-BE49-F238E27FC236}">
                <a16:creationId xmlns:a16="http://schemas.microsoft.com/office/drawing/2014/main" id="{97DDC6D3-B45E-4433-8514-2FFD3C7A7D8C}"/>
              </a:ext>
            </a:extLst>
          </p:cNvPr>
          <p:cNvSpPr>
            <a:spLocks noGrp="1"/>
          </p:cNvSpPr>
          <p:nvPr/>
        </p:nvSpPr>
        <p:spPr>
          <a:xfrm>
            <a:off x="990600" y="5772150"/>
            <a:ext cx="3143250" cy="2266950"/>
          </a:xfrm>
          <a:prstGeom prst="roundRect">
            <a:avLst>
              <a:gd name="adj" fmla="val 6723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0" name="橢圓 56">
            <a:extLst>
              <a:ext uri="{FF2B5EF4-FFF2-40B4-BE49-F238E27FC236}">
                <a16:creationId xmlns:a16="http://schemas.microsoft.com/office/drawing/2014/main" id="{373C333A-5CEE-4484-A9AB-5D1A5F89E7CD}"/>
              </a:ext>
            </a:extLst>
          </p:cNvPr>
          <p:cNvSpPr>
            <a:spLocks noGrp="1"/>
          </p:cNvSpPr>
          <p:nvPr/>
        </p:nvSpPr>
        <p:spPr>
          <a:xfrm>
            <a:off x="2324100" y="55340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01" name="矩形 59">
            <a:extLst>
              <a:ext uri="{FF2B5EF4-FFF2-40B4-BE49-F238E27FC236}">
                <a16:creationId xmlns:a16="http://schemas.microsoft.com/office/drawing/2014/main" id="{F5079089-444E-4C31-B2F9-02B958CC9582}"/>
              </a:ext>
            </a:extLst>
          </p:cNvPr>
          <p:cNvSpPr>
            <a:spLocks noGrp="1"/>
          </p:cNvSpPr>
          <p:nvPr/>
        </p:nvSpPr>
        <p:spPr>
          <a:xfrm>
            <a:off x="1276350" y="7010400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02" name="箭號: 向左 61">
            <a:extLst>
              <a:ext uri="{FF2B5EF4-FFF2-40B4-BE49-F238E27FC236}">
                <a16:creationId xmlns:a16="http://schemas.microsoft.com/office/drawing/2014/main" id="{F57AB087-9FC2-4FA7-9CDD-E121D32639F8}"/>
              </a:ext>
            </a:extLst>
          </p:cNvPr>
          <p:cNvSpPr>
            <a:spLocks noGrp="1"/>
          </p:cNvSpPr>
          <p:nvPr/>
        </p:nvSpPr>
        <p:spPr>
          <a:xfrm>
            <a:off x="4267200" y="6800850"/>
            <a:ext cx="304800" cy="219075"/>
          </a:xfrm>
          <a:prstGeom prst="lef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103" name="箭號: 向下 62">
            <a:extLst>
              <a:ext uri="{FF2B5EF4-FFF2-40B4-BE49-F238E27FC236}">
                <a16:creationId xmlns:a16="http://schemas.microsoft.com/office/drawing/2014/main" id="{87377617-B8AE-4353-9EEB-16954CA94C1F}"/>
              </a:ext>
            </a:extLst>
          </p:cNvPr>
          <p:cNvSpPr>
            <a:spLocks noGrp="1"/>
          </p:cNvSpPr>
          <p:nvPr/>
        </p:nvSpPr>
        <p:spPr>
          <a:xfrm>
            <a:off x="13525500" y="5257800"/>
            <a:ext cx="219075" cy="400050"/>
          </a:xfrm>
          <a:prstGeom prst="down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目前完整流程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流程圖更新：180 場評估、Prompt Compliance 與混合初始族群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noGrp="1"/>
          </p:cNvSpPr>
          <p:nvPr/>
        </p:nvSpPr>
        <p:spPr>
          <a:xfrm>
            <a:off x="23526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noGrp="1"/>
          </p:cNvSpPr>
          <p:nvPr/>
        </p:nvSpPr>
        <p:spPr>
          <a:xfrm>
            <a:off x="11334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noGrp="1"/>
          </p:cNvSpPr>
          <p:nvPr/>
        </p:nvSpPr>
        <p:spPr>
          <a:xfrm>
            <a:off x="12287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seed＋9 LLM 策略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 Java 評估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noGrp="1"/>
          </p:cNvSpPr>
          <p:nvPr/>
        </p:nvSpPr>
        <p:spPr>
          <a:xfrm>
            <a:off x="60674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noGrp="1"/>
          </p:cNvSpPr>
          <p:nvPr/>
        </p:nvSpPr>
        <p:spPr>
          <a:xfrm>
            <a:off x="48482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</a:t>
            </a:r>
          </a:p>
        </p:txBody>
      </p:sp>
      <p:sp>
        <p:nvSpPr>
          <p:cNvPr id="21" name="文字版面配置區 20">
            <a:extLst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noGrp="1"/>
          </p:cNvSpPr>
          <p:nvPr/>
        </p:nvSpPr>
        <p:spPr>
          <a:xfrm>
            <a:off x="49434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 cases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選擇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noGrp="1"/>
          </p:cNvSpPr>
          <p:nvPr/>
        </p:nvSpPr>
        <p:spPr>
          <a:xfrm>
            <a:off x="978217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文字版面配置區 25">
            <a:extLst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noGrp="1"/>
          </p:cNvSpPr>
          <p:nvPr/>
        </p:nvSpPr>
        <p:spPr>
          <a:xfrm>
            <a:off x="856297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交叉與反思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noGrp="1"/>
          </p:cNvSpPr>
          <p:nvPr/>
        </p:nvSpPr>
        <p:spPr>
          <a:xfrm>
            <a:off x="865822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三組獨立交叉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可選 S / C / PC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noGrp="1"/>
          </p:cNvSpPr>
          <p:nvPr/>
        </p:nvSpPr>
        <p:spPr>
          <a:xfrm>
            <a:off x="13496925" y="26384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文字版面配置區 32">
            <a:extLst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noGrp="1"/>
          </p:cNvSpPr>
          <p:nvPr/>
        </p:nvSpPr>
        <p:spPr>
          <a:xfrm>
            <a:off x="12277725" y="35814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生成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noGrp="1"/>
          </p:cNvSpPr>
          <p:nvPr/>
        </p:nvSpPr>
        <p:spPr>
          <a:xfrm>
            <a:off x="12372975" y="42576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source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編譯引導最多 5 次</a:t>
            </a:r>
          </a:p>
        </p:txBody>
      </p:sp>
      <p:sp>
        <p:nvSpPr>
          <p:cNvPr id="38" name="文字版面配置區 37">
            <a:extLst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noGrp="1"/>
          </p:cNvSpPr>
          <p:nvPr/>
        </p:nvSpPr>
        <p:spPr>
          <a:xfrm>
            <a:off x="134969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文字版面配置區 38">
            <a:extLst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noGrp="1"/>
          </p:cNvSpPr>
          <p:nvPr/>
        </p:nvSpPr>
        <p:spPr>
          <a:xfrm>
            <a:off x="122777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驗證與編譯</a:t>
            </a:r>
          </a:p>
        </p:txBody>
      </p:sp>
      <p:sp>
        <p:nvSpPr>
          <p:cNvPr id="41" name="文字版面配置區 40">
            <a:extLst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noGrp="1"/>
          </p:cNvSpPr>
          <p:nvPr/>
        </p:nvSpPr>
        <p:spPr>
          <a:xfrm>
            <a:off x="123729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 → 編譯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 檢查</a:t>
            </a:r>
          </a:p>
        </p:txBody>
      </p:sp>
      <p:sp>
        <p:nvSpPr>
          <p:cNvPr id="44" name="文字版面配置區 43">
            <a:extLst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noGrp="1"/>
          </p:cNvSpPr>
          <p:nvPr/>
        </p:nvSpPr>
        <p:spPr>
          <a:xfrm>
            <a:off x="97821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文字版面配置區 44">
            <a:extLst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noGrp="1"/>
          </p:cNvSpPr>
          <p:nvPr/>
        </p:nvSpPr>
        <p:spPr>
          <a:xfrm>
            <a:off x="85629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MicroRTS 評估</a:t>
            </a:r>
          </a:p>
        </p:txBody>
      </p:sp>
      <p:sp>
        <p:nvSpPr>
          <p:cNvPr id="47" name="文字版面配置區 46">
            <a:extLst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noGrp="1"/>
          </p:cNvSpPr>
          <p:nvPr/>
        </p:nvSpPr>
        <p:spPr>
          <a:xfrm>
            <a:off x="86582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× 3 × 3 × 2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180 場評估</a:t>
            </a:r>
          </a:p>
        </p:txBody>
      </p:sp>
      <p:sp>
        <p:nvSpPr>
          <p:cNvPr id="51" name="文字版面配置區 50">
            <a:extLst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noGrp="1"/>
          </p:cNvSpPr>
          <p:nvPr/>
        </p:nvSpPr>
        <p:spPr>
          <a:xfrm>
            <a:off x="606742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文字版面配置區 51">
            <a:extLst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noGrp="1"/>
          </p:cNvSpPr>
          <p:nvPr/>
        </p:nvSpPr>
        <p:spPr>
          <a:xfrm>
            <a:off x="484822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評分與機率更新</a:t>
            </a:r>
          </a:p>
        </p:txBody>
      </p:sp>
      <p:sp>
        <p:nvSpPr>
          <p:cNvPr id="54" name="文字版面配置區 53">
            <a:extLst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noGrp="1"/>
          </p:cNvSpPr>
          <p:nvPr/>
        </p:nvSpPr>
        <p:spPr>
          <a:xfrm>
            <a:off x="494347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cases 供選擇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AOS 更新機率</a:t>
            </a:r>
          </a:p>
        </p:txBody>
      </p:sp>
      <p:sp>
        <p:nvSpPr>
          <p:cNvPr id="58" name="文字版面配置區 57">
            <a:extLst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noGrp="1"/>
          </p:cNvSpPr>
          <p:nvPr/>
        </p:nvSpPr>
        <p:spPr>
          <a:xfrm>
            <a:off x="2352675" y="55340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文字版面配置區 58">
            <a:extLst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noGrp="1"/>
          </p:cNvSpPr>
          <p:nvPr/>
        </p:nvSpPr>
        <p:spPr>
          <a:xfrm>
            <a:off x="1133475" y="6477000"/>
            <a:ext cx="2857500" cy="428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生存者選擇</a:t>
            </a:r>
          </a:p>
        </p:txBody>
      </p:sp>
      <p:sp>
        <p:nvSpPr>
          <p:cNvPr id="61" name="文字版面配置區 60">
            <a:extLst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noGrp="1"/>
          </p:cNvSpPr>
          <p:nvPr/>
        </p:nvSpPr>
        <p:spPr>
          <a:xfrm>
            <a:off x="1228725" y="7153275"/>
            <a:ext cx="2667000" cy="6858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父代＋子代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選 10</a:t>
            </a:r>
          </a:p>
        </p:txBody>
      </p:sp>
      <p:sp>
        <p:nvSpPr>
          <p:cNvPr id="63" name="手繪多邊形: 圖案 62">
            <a:extLst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noGrp="1"/>
          </p:cNvSpPr>
          <p:nvPr/>
        </p:nvSpPr>
        <p:spPr>
          <a:xfrm>
            <a:off x="23717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4" name="手繪多邊形: 圖案 63">
            <a:extLst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noGrp="1"/>
          </p:cNvSpPr>
          <p:nvPr/>
        </p:nvSpPr>
        <p:spPr>
          <a:xfrm>
            <a:off x="60864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5" name="手繪多邊形: 圖案 64">
            <a:extLst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noGrp="1"/>
          </p:cNvSpPr>
          <p:nvPr/>
        </p:nvSpPr>
        <p:spPr>
          <a:xfrm>
            <a:off x="980122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6" name="手繪多邊形: 圖案 65">
            <a:extLst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noGrp="1"/>
          </p:cNvSpPr>
          <p:nvPr/>
        </p:nvSpPr>
        <p:spPr>
          <a:xfrm>
            <a:off x="13515975" y="31432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7" name="手繪多邊形: 圖案 66">
            <a:extLst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noGrp="1"/>
          </p:cNvSpPr>
          <p:nvPr/>
        </p:nvSpPr>
        <p:spPr>
          <a:xfrm>
            <a:off x="135159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8" name="手繪多邊形: 圖案 67">
            <a:extLst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noGrp="1"/>
          </p:cNvSpPr>
          <p:nvPr/>
        </p:nvSpPr>
        <p:spPr>
          <a:xfrm>
            <a:off x="98012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69" name="手繪多邊形: 圖案 68">
            <a:extLst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noGrp="1"/>
          </p:cNvSpPr>
          <p:nvPr/>
        </p:nvSpPr>
        <p:spPr>
          <a:xfrm>
            <a:off x="608647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70" name="手繪多邊形: 圖案 69">
            <a:extLst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noGrp="1"/>
          </p:cNvSpPr>
          <p:nvPr/>
        </p:nvSpPr>
        <p:spPr>
          <a:xfrm>
            <a:off x="2371725" y="6038850"/>
            <a:ext cx="381000" cy="3810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10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8B97603-8F49-4C5B-B764-10BAEDF3AFD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073410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6">
            <a:extLst>
              <a:ext uri="{FF2B5EF4-FFF2-40B4-BE49-F238E27FC236}">
                <a16:creationId xmlns:a16="http://schemas.microsoft.com/office/drawing/2014/main" id="{F2C56139-1576-432F-A3A3-96A64E2C36F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菱形 7">
            <a:extLst>
              <a:ext uri="{FF2B5EF4-FFF2-40B4-BE49-F238E27FC236}">
                <a16:creationId xmlns:a16="http://schemas.microsoft.com/office/drawing/2014/main" id="{AFE644EB-B9FA-4280-8735-7AC7ECCD888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演化的對象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本期使用 inherited_genotype；輸入 Java 與新生成的 Java 分開保存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noGrp="1"/>
          </p:cNvSpPr>
          <p:nvPr/>
        </p:nvSpPr>
        <p:spPr>
          <a:xfrm>
            <a:off x="1000125" y="2695575"/>
            <a:ext cx="6515100" cy="52387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　演化與繼承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noGrp="1"/>
          </p:cNvSpPr>
          <p:nvPr/>
        </p:nvSpPr>
        <p:spPr>
          <a:xfrm>
            <a:off x="95250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noGrp="1"/>
          </p:cNvSpPr>
          <p:nvPr/>
        </p:nvSpPr>
        <p:spPr>
          <a:xfrm>
            <a:off x="104775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gene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noGrp="1"/>
          </p:cNvSpPr>
          <p:nvPr/>
        </p:nvSpPr>
        <p:spPr>
          <a:xfrm>
            <a:off x="110490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noGrp="1"/>
          </p:cNvSpPr>
          <p:nvPr/>
        </p:nvSpPr>
        <p:spPr>
          <a:xfrm>
            <a:off x="100965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strategy_prompt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noGrp="1"/>
          </p:cNvSpPr>
          <p:nvPr/>
        </p:nvSpPr>
        <p:spPr>
          <a:xfrm>
            <a:off x="106680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具體遊戲策略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Strategy 修改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noGrp="1"/>
          </p:cNvSpPr>
          <p:nvPr/>
        </p:nvSpPr>
        <p:spPr>
          <a:xfrm>
            <a:off x="3190875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noGrp="1"/>
          </p:cNvSpPr>
          <p:nvPr/>
        </p:nvSpPr>
        <p:spPr>
          <a:xfrm>
            <a:off x="3286125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prompt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noGrp="1"/>
          </p:cNvSpPr>
          <p:nvPr/>
        </p:nvSpPr>
        <p:spPr>
          <a:xfrm>
            <a:off x="3343275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noGrp="1"/>
          </p:cNvSpPr>
          <p:nvPr/>
        </p:nvSpPr>
        <p:spPr>
          <a:xfrm>
            <a:off x="3248025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noGrp="1"/>
          </p:cNvSpPr>
          <p:nvPr/>
        </p:nvSpPr>
        <p:spPr>
          <a:xfrm>
            <a:off x="3305175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通用翻譯規則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Code 修改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noGrp="1"/>
          </p:cNvSpPr>
          <p:nvPr/>
        </p:nvSpPr>
        <p:spPr>
          <a:xfrm>
            <a:off x="5429250" y="3476625"/>
            <a:ext cx="2047875" cy="3171825"/>
          </a:xfrm>
          <a:prstGeom prst="roundRect">
            <a:avLst>
              <a:gd name="adj" fmla="val 744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noGrp="1"/>
          </p:cNvSpPr>
          <p:nvPr/>
        </p:nvSpPr>
        <p:spPr>
          <a:xfrm>
            <a:off x="5524500" y="4114800"/>
            <a:ext cx="18573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gene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noGrp="1"/>
          </p:cNvSpPr>
          <p:nvPr/>
        </p:nvSpPr>
        <p:spPr>
          <a:xfrm>
            <a:off x="5581650" y="4638675"/>
            <a:ext cx="17430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noGrp="1"/>
          </p:cNvSpPr>
          <p:nvPr/>
        </p:nvSpPr>
        <p:spPr>
          <a:xfrm>
            <a:off x="5486400" y="4762500"/>
            <a:ext cx="1933575" cy="3810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inherited_java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noGrp="1"/>
          </p:cNvSpPr>
          <p:nvPr/>
        </p:nvSpPr>
        <p:spPr>
          <a:xfrm>
            <a:off x="5543550" y="5276850"/>
            <a:ext cx="1819275" cy="1238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父代完整 Java</a:t>
            </a:r>
          </a:p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反思不直接修改</a:t>
            </a:r>
          </a:p>
        </p:txBody>
      </p:sp>
      <p:sp>
        <p:nvSpPr>
          <p:cNvPr id="24" name="箭號: 向右 23">
            <a:extLst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noGrp="1"/>
          </p:cNvSpPr>
          <p:nvPr/>
        </p:nvSpPr>
        <p:spPr>
          <a:xfrm>
            <a:off x="76200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noGrp="1"/>
          </p:cNvSpPr>
          <p:nvPr/>
        </p:nvSpPr>
        <p:spPr>
          <a:xfrm>
            <a:off x="8429625" y="3476625"/>
            <a:ext cx="2524125" cy="3171825"/>
          </a:xfrm>
          <a:prstGeom prst="roundRect">
            <a:avLst>
              <a:gd name="adj" fmla="val 603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noGrp="1"/>
          </p:cNvSpPr>
          <p:nvPr/>
        </p:nvSpPr>
        <p:spPr>
          <a:xfrm>
            <a:off x="8534400" y="4114800"/>
            <a:ext cx="23145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GENERATOR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noGrp="1"/>
          </p:cNvSpPr>
          <p:nvPr/>
        </p:nvSpPr>
        <p:spPr>
          <a:xfrm>
            <a:off x="8591550" y="4638675"/>
            <a:ext cx="2200275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noGrp="1"/>
          </p:cNvSpPr>
          <p:nvPr/>
        </p:nvSpPr>
        <p:spPr>
          <a:xfrm>
            <a:off x="8582025" y="4905375"/>
            <a:ext cx="2219325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策略描述＋生成規則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＋父代 Java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依固定 Java 骨架</a:t>
            </a:r>
          </a:p>
          <a:p>
            <a:pPr algn="ctr">
              <a:buNone/>
              <a:def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Agent</a:t>
            </a:r>
          </a:p>
        </p:txBody>
      </p:sp>
      <p:sp>
        <p:nvSpPr>
          <p:cNvPr id="29" name="箭號: 向右 28">
            <a:extLst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noGrp="1"/>
          </p:cNvSpPr>
          <p:nvPr/>
        </p:nvSpPr>
        <p:spPr>
          <a:xfrm>
            <a:off x="11239500" y="4867275"/>
            <a:ext cx="476250" cy="304800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noGrp="1"/>
          </p:cNvSpPr>
          <p:nvPr/>
        </p:nvSpPr>
        <p:spPr>
          <a:xfrm>
            <a:off x="12001500" y="3476625"/>
            <a:ext cx="2924175" cy="3171825"/>
          </a:xfrm>
          <a:prstGeom prst="roundRect">
            <a:avLst>
              <a:gd name="adj" fmla="val 5212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noGrp="1"/>
          </p:cNvSpPr>
          <p:nvPr/>
        </p:nvSpPr>
        <p:spPr>
          <a:xfrm>
            <a:off x="12134850" y="4114800"/>
            <a:ext cx="2657475" cy="4191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PHENOTYPE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noGrp="1"/>
          </p:cNvSpPr>
          <p:nvPr/>
        </p:nvSpPr>
        <p:spPr>
          <a:xfrm>
            <a:off x="12172950" y="4638675"/>
            <a:ext cx="2571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noGrp="1"/>
          </p:cNvSpPr>
          <p:nvPr/>
        </p:nvSpPr>
        <p:spPr>
          <a:xfrm>
            <a:off x="12172950" y="4905375"/>
            <a:ext cx="2571750" cy="1581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generated_java</a:t>
            </a:r>
          </a:p>
          <a:p>
            <a:endParaRPr sz="22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</a:t>
            </a:r>
          </a:p>
          <a:p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 MicroRTS 評估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29630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noGrp="1"/>
          </p:cNvSpPr>
          <p:nvPr/>
        </p:nvSpPr>
        <p:spPr>
          <a:xfrm>
            <a:off x="2628900" y="765810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新生成的 Java 可供下一代繼承；Generator 保留兩個 prompt gene</a:t>
            </a:r>
          </a:p>
        </p:txBody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noGrp="1"/>
          </p:cNvSpPr>
          <p:nvPr/>
        </p:nvSpPr>
        <p:spPr>
          <a:xfrm>
            <a:off x="172402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noGrp="1"/>
          </p:cNvSpPr>
          <p:nvPr/>
        </p:nvSpPr>
        <p:spPr>
          <a:xfrm>
            <a:off x="396240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noGrp="1"/>
          </p:cNvSpPr>
          <p:nvPr/>
        </p:nvSpPr>
        <p:spPr>
          <a:xfrm>
            <a:off x="6200775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noGrp="1"/>
          </p:cNvSpPr>
          <p:nvPr/>
        </p:nvSpPr>
        <p:spPr>
          <a:xfrm>
            <a:off x="94297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40" name="手繪多邊形: 圖案 39">
            <a:extLst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noGrp="1"/>
          </p:cNvSpPr>
          <p:nvPr/>
        </p:nvSpPr>
        <p:spPr>
          <a:xfrm>
            <a:off x="13201650" y="3590925"/>
            <a:ext cx="514350" cy="5143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4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3603E32-9FBC-4C0D-9A3A-B57D699BA854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4245554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130E6B42-5441-4E82-91E3-EA924A40D9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B033486E-5A94-4F2A-A80D-FCB76AA4033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218DD66A-E382-4D24-8CFE-3BCB1FDFC33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7AA9CC04-1B35-45B9-AF73-3833FD893049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12">
            <a:extLst>
              <a:ext uri="{FF2B5EF4-FFF2-40B4-BE49-F238E27FC236}">
                <a16:creationId xmlns:a16="http://schemas.microsoft.com/office/drawing/2014/main" id="{429ADBAC-5350-4DC1-996E-FA7EDA8C8B2D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16">
            <a:extLst>
              <a:ext uri="{FF2B5EF4-FFF2-40B4-BE49-F238E27FC236}">
                <a16:creationId xmlns:a16="http://schemas.microsoft.com/office/drawing/2014/main" id="{713447A7-DAB2-4564-BABC-70835C39654D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17">
            <a:extLst>
              <a:ext uri="{FF2B5EF4-FFF2-40B4-BE49-F238E27FC236}">
                <a16:creationId xmlns:a16="http://schemas.microsoft.com/office/drawing/2014/main" id="{676178C5-38F0-4A97-B079-0FCB5E4BDBF6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0">
            <a:extLst>
              <a:ext uri="{FF2B5EF4-FFF2-40B4-BE49-F238E27FC236}">
                <a16:creationId xmlns:a16="http://schemas.microsoft.com/office/drawing/2014/main" id="{4E83BC23-F7E2-4FFB-996F-434F4D9EECCA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24">
            <a:extLst>
              <a:ext uri="{FF2B5EF4-FFF2-40B4-BE49-F238E27FC236}">
                <a16:creationId xmlns:a16="http://schemas.microsoft.com/office/drawing/2014/main" id="{AC61E28A-378C-4573-8714-C922B3A56AD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9" name="橢圓 25">
            <a:extLst>
              <a:ext uri="{FF2B5EF4-FFF2-40B4-BE49-F238E27FC236}">
                <a16:creationId xmlns:a16="http://schemas.microsoft.com/office/drawing/2014/main" id="{FB790516-51D5-47A4-9011-A1542F8FC3B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0" name="矩形 28">
            <a:extLst>
              <a:ext uri="{FF2B5EF4-FFF2-40B4-BE49-F238E27FC236}">
                <a16:creationId xmlns:a16="http://schemas.microsoft.com/office/drawing/2014/main" id="{7EFC4A8B-01A9-4CD9-B7CE-032C254D82A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1" name="矩形: 圓角 32">
            <a:extLst>
              <a:ext uri="{FF2B5EF4-FFF2-40B4-BE49-F238E27FC236}">
                <a16:creationId xmlns:a16="http://schemas.microsoft.com/office/drawing/2014/main" id="{4B7DB414-CC49-4111-A1D2-65BCF5A04B22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的歷史比較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原始實驗重製；保留當時量測值，作為改採多樣 policy 的背景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BLANK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 / 499 / 101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wins：0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RANDOM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112 / 429 / 59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258 / 325 / 17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wins：110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 表現較佳，後續保留為 seed 基準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歷史設定與本期比例實驗不同；這三組數字不可直接當成本期比較結果</a:t>
            </a:r>
          </a:p>
        </p:txBody>
      </p:sp>
      <p:sp>
        <p:nvSpPr>
          <p:cNvPr id="37" name="手繪多邊形: 圖案 36">
            <a:extLst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noGrp="1"/>
          </p:cNvSpPr>
          <p:nvPr/>
        </p:nvSpPr>
        <p:spPr>
          <a:xfrm>
            <a:off x="1219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8" name="手繪多邊形: 圖案 37">
            <a:extLst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noGrp="1"/>
          </p:cNvSpPr>
          <p:nvPr/>
        </p:nvSpPr>
        <p:spPr>
          <a:xfrm>
            <a:off x="59817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9" name="手繪多邊形: 圖案 38">
            <a:extLst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noGrp="1"/>
          </p:cNvSpPr>
          <p:nvPr/>
        </p:nvSpPr>
        <p:spPr>
          <a:xfrm>
            <a:off x="10744200" y="3476625"/>
            <a:ext cx="304800" cy="3048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19B4A"/>
          </a:solidFill>
          <a:ln w="0">
            <a:noFill/>
          </a:ln>
        </p:spPr>
      </p:sp>
      <p:sp>
        <p:nvSpPr>
          <p:cNvPr id="5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8060060-9A44-40AC-9A85-1B64E723C637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3366276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2CE56723-CD1F-41CD-BEA1-C50E2F435F9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7B0B857E-D17B-423C-AF79-1CAE2375FEC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77618D7B-73BB-4E5B-A2B3-E5E3675E25F2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952431B2-4323-4AC5-8227-D52501A6C6BC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72E5AF30-5EA8-4612-8B2A-FF1508EB6768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437A6949-916E-425D-8D9D-9E06118E2EB8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EF636FD4-FB9E-464E-9214-956FEE084F06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7ED141EA-DACD-430E-B950-71484AED5D15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F8D11517-DE6F-4282-96DB-CB8AE930B8E3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BA40DA70-3B2D-494E-A4BB-7D3F9D2DCFCD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E1656015-3212-4C87-B80A-056D68A730D9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本期的初始族群配置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0830 的單一 seed 比較，改為保留 seed 並加入 policy 多樣性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個不同 policy genes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seed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個獨立 LLM policies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共用初始 generation rules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共用 Java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Worker Rush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直接評估 G0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 offspring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獨立繼承三個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再經 Generator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Java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的 policy 與 Java 可暫時不一致；不會為 10 個新 policy 各生成一次 Java</a:t>
            </a:r>
          </a:p>
        </p:txBody>
      </p:sp>
      <p:sp>
        <p:nvSpPr>
          <p:cNvPr id="3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296298-ABC0-4D1F-B25D-B6C69E2E49E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5BB05F9-417D-46C7-9C2F-2A0484EFC58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2DE3D53E-7C42-4156-95B7-3A1984E1043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19E05B9-612F-49AD-AC01-255E27EE524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D5ED46E2-F8DC-4650-BCE6-D4ED32124D0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517DBA0C-7E50-490B-8426-E32EA971A1C5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A1AEA92-4A24-4A9F-AE42-2B9C5DBEE958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994601F7-4CC1-4CC2-8DE3-07D326B03D8A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B700AB86-C6A7-4985-959C-ECD875A53F6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A267C7C-B2C0-4AF9-9267-152CE99EECC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4BD4D7AB-6DCD-405D-BA7D-19930987BF27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D2B02661-AA78-447A-80AA-9BA4787F162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DD2C6072-BCF4-4F38-BC72-E1791AA14BB9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F03B9A5-8F50-432D-B851-1475EF5D8430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2003ADD7-1FD2-4C3F-B033-572BD16ACDAD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Operator 選擇模式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選擇模式圖更新；選擇機率控制的是 S / C / PC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固定機率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依設定比例選 operator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不計算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整個 run 維持同一分佈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OPPONENT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對手既有評估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 child 與 evidence parent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W/D/L rank 改善給 reward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 EMA 更新機率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HEAD2HEAD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額外親子對戰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maps × 3 rounds × 2 sides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 場 parent–child 對戰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再更新 operator 機率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F669452C-8871-4113-BE33-1ABB2D01354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533941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4A27C72A-62E8-4C89-9CD5-1DF80849030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E384F71-EFE7-4073-9B07-8AC83F24878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89FB2215-2BA3-4B30-94F1-BBF56F1C31F8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51393804-49E7-430A-8E17-07D5BEEE784D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7CB632FB-4982-42AF-A556-29D7085FE38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CD92F1D-76BD-458C-AC32-FF8B31370913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0BA5535-D0E8-4D98-B49C-FCAF479A79A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B6FFA81-D9C4-4591-B6F7-C4EEFD333EB3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0FD6CE24-27ED-4F54-96C0-52BC849AC0C6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FE586863-3552-4CAE-AE82-58C756E6B902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CAEB0B22-CA65-4417-A1F3-CA8000BF35D1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FBDFD065-7792-47DC-AB45-31E17FD7498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153493A4-BE2A-45FF-B3F0-D7AB8001EA9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656B8AE7-5668-42C0-BC3F-BB2625F60466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的責任邊界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Reflection 圖更新：Balance 已由 Prompt Compliance 取代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改遊戲策略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看代表對戰與全域摘要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Commentator → Coach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修正翻譯規則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 policy、Java 與 API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 → Rule Rewriter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generation_prompt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 prompt 規範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看兩個 prompt 與 contracts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audit，修有 issue 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不使用勝負或 Java evidence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E419CFD-1CBD-4783-8BC5-BCA210200B7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16177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6">
            <a:extLst>
              <a:ext uri="{FF2B5EF4-FFF2-40B4-BE49-F238E27FC236}">
                <a16:creationId xmlns:a16="http://schemas.microsoft.com/office/drawing/2014/main" id="{5E051E30-1A7D-4BE1-A498-C63FD198721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8" name="菱形 7">
            <a:extLst>
              <a:ext uri="{FF2B5EF4-FFF2-40B4-BE49-F238E27FC236}">
                <a16:creationId xmlns:a16="http://schemas.microsoft.com/office/drawing/2014/main" id="{FE2F458C-E396-4D5A-A391-4263A130A14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9" name="橢圓 8">
            <a:extLst>
              <a:ext uri="{FF2B5EF4-FFF2-40B4-BE49-F238E27FC236}">
                <a16:creationId xmlns:a16="http://schemas.microsoft.com/office/drawing/2014/main" id="{B81325DF-CC4C-4321-A321-AEDBA38C99A2}"/>
              </a:ext>
            </a:extLst>
          </p:cNvPr>
          <p:cNvSpPr>
            <a:spLocks noGrp="1"/>
          </p:cNvSpPr>
          <p:nvPr/>
        </p:nvSpPr>
        <p:spPr>
          <a:xfrm>
            <a:off x="1419225" y="294322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0" name="橢圓 12">
            <a:extLst>
              <a:ext uri="{FF2B5EF4-FFF2-40B4-BE49-F238E27FC236}">
                <a16:creationId xmlns:a16="http://schemas.microsoft.com/office/drawing/2014/main" id="{76239A6A-4F33-47CB-A322-A8F0ADFAF58F}"/>
              </a:ext>
            </a:extLst>
          </p:cNvPr>
          <p:cNvSpPr>
            <a:spLocks noGrp="1"/>
          </p:cNvSpPr>
          <p:nvPr/>
        </p:nvSpPr>
        <p:spPr>
          <a:xfrm>
            <a:off x="1419225" y="40576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1" name="橢圓 16">
            <a:extLst>
              <a:ext uri="{FF2B5EF4-FFF2-40B4-BE49-F238E27FC236}">
                <a16:creationId xmlns:a16="http://schemas.microsoft.com/office/drawing/2014/main" id="{66F3E856-C913-43BC-98DB-72299A883345}"/>
              </a:ext>
            </a:extLst>
          </p:cNvPr>
          <p:cNvSpPr>
            <a:spLocks noGrp="1"/>
          </p:cNvSpPr>
          <p:nvPr/>
        </p:nvSpPr>
        <p:spPr>
          <a:xfrm>
            <a:off x="1419225" y="51720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2" name="橢圓 20">
            <a:extLst>
              <a:ext uri="{FF2B5EF4-FFF2-40B4-BE49-F238E27FC236}">
                <a16:creationId xmlns:a16="http://schemas.microsoft.com/office/drawing/2014/main" id="{1032C2AE-91D8-434B-8B61-1762E73F8114}"/>
              </a:ext>
            </a:extLst>
          </p:cNvPr>
          <p:cNvSpPr>
            <a:spLocks noGrp="1"/>
          </p:cNvSpPr>
          <p:nvPr/>
        </p:nvSpPr>
        <p:spPr>
          <a:xfrm>
            <a:off x="1419225" y="628650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實驗分成四個階段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先檢查反思輸出，再檢查改版後的演化表現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noGrp="1"/>
          </p:cNvSpPr>
          <p:nvPr/>
        </p:nvSpPr>
        <p:spPr>
          <a:xfrm>
            <a:off x="1447800" y="294322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noGrp="1"/>
          </p:cNvSpPr>
          <p:nvPr/>
        </p:nvSpPr>
        <p:spPr>
          <a:xfrm>
            <a:off x="2114550" y="288607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　09/03　固定輸入的九次反思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noGrp="1"/>
          </p:cNvSpPr>
          <p:nvPr/>
        </p:nvSpPr>
        <p:spPr>
          <a:xfrm>
            <a:off x="2114550" y="334327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Strategy、Code、Balance 各 3 次；檢查欄位 scope 與內容問題。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noGrp="1"/>
          </p:cNvSpPr>
          <p:nvPr/>
        </p:nvSpPr>
        <p:spPr>
          <a:xfrm>
            <a:off x="1447800" y="40576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noGrp="1"/>
          </p:cNvSpPr>
          <p:nvPr/>
        </p:nvSpPr>
        <p:spPr>
          <a:xfrm>
            <a:off x="2114550" y="400050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　09/04 上午　加入 contract 後重跑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noGrp="1"/>
          </p:cNvSpPr>
          <p:nvPr/>
        </p:nvSpPr>
        <p:spPr>
          <a:xfrm>
            <a:off x="2114550" y="445770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仍各 3 次，確認規則資訊送入後是否足以避免錯誤。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noGrp="1"/>
          </p:cNvSpPr>
          <p:nvPr/>
        </p:nvSpPr>
        <p:spPr>
          <a:xfrm>
            <a:off x="1447800" y="51720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noGrp="1"/>
          </p:cNvSpPr>
          <p:nvPr/>
        </p:nvSpPr>
        <p:spPr>
          <a:xfrm>
            <a:off x="2114550" y="5114925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　09/04 下午　子代串接 Compliance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noGrp="1"/>
          </p:cNvSpPr>
          <p:nvPr/>
        </p:nvSpPr>
        <p:spPr>
          <a:xfrm>
            <a:off x="2114550" y="5572125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3 + Code 3，再把 6 個成功子代各送入 Compliance。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noGrp="1"/>
          </p:cNvSpPr>
          <p:nvPr/>
        </p:nvSpPr>
        <p:spPr>
          <a:xfrm>
            <a:off x="1447800" y="628650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noGrp="1"/>
          </p:cNvSpPr>
          <p:nvPr/>
        </p:nvSpPr>
        <p:spPr>
          <a:xfrm>
            <a:off x="2114550" y="6229350"/>
            <a:ext cx="11620500" cy="4572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　09/04–09/07　三組比例的演化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noGrp="1"/>
          </p:cNvSpPr>
          <p:nvPr/>
        </p:nvSpPr>
        <p:spPr>
          <a:xfrm>
            <a:off x="2114550" y="6686550"/>
            <a:ext cx="1162050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S/C/PC = 20/20/60、33/33/34、40/40/20；比較族群與 champion。</a:t>
            </a:r>
          </a:p>
        </p:txBody>
      </p:sp>
      <p:sp>
        <p:nvSpPr>
          <p:cNvPr id="25" name="文字版面配置區 24">
            <a:extLst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noGrp="1"/>
          </p:cNvSpPr>
          <p:nvPr/>
        </p:nvSpPr>
        <p:spPr>
          <a:xfrm>
            <a:off x="1666875" y="7791450"/>
            <a:ext cx="1259205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前 3 階段是 reflection inspection；第 4 階段才有演化與新策略對戰結果</a:t>
            </a:r>
          </a:p>
        </p:txBody>
      </p:sp>
      <p:sp>
        <p:nvSpPr>
          <p:cNvPr id="33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B6AEC10-B82B-4436-8E1A-A6787574FC5F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A561C7AA-31D0-4F11-B03C-B91828B0E7A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3BDF803F-FE10-4416-80B2-648BF221093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60ECB696-0BF5-478E-8C5A-30C567BDE0CC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B2771AC8-E94A-494E-B5AC-C5926D8FF3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9BEB567C-055A-4BD8-9A3A-60560980236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C69ECA63-3B66-4B14-8A7A-F01881219AEC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E9D3F015-E1C2-4901-B9F8-729806C00607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D7BA8583-D02B-4F03-A069-E4A91991DED1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4177FF7E-C94B-4833-BF40-3AB339FCB8DE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C379E1B5-50F2-4636-8E5E-573B2751558F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8BFBA473-A1D3-4FD1-B8A2-4A69BFAA55ED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64FFA8F5-0538-42E5-AB43-CA749769825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29F1BF1F-B8BB-40DA-B4B5-C3E68CF91F38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461C1C3E-5189-4819-8705-B4A94253D82B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實驗一：同一父代、三種反思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Worker Rush　每種 operator 各 3 次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固定父代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9 次獨立 trial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Worker Rush policy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inherited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每次都從原 subject 開始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evidence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同一組評估資料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opponents，共 180 場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選 10 場代表 traces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Balance 只拿 W/D/L 表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檢查目標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輸出與狀態轉換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保存每次 request / response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比對實際改變的 gene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人工檢查內容是否可執行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D358F4D-96C2-4EEB-A7B6-C0CAC5A8238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5677110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9AE1CFA4-226E-4C0C-A86B-1707D66704FB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F9BE7B71-5E20-49FE-9DB2-9E2577B796E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4969A379-6143-46A0-9720-4593DA7E3122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7EA3D05-115F-47C0-871D-8FAAE7462F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5AE9C5E9-7E62-403A-AFEB-61FBFFADD6DC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DF5C0496-8B2C-4F78-BFCD-8D654A3539F2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68B1EC5-3911-478A-BA77-34D28F6549C5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C623E732-4027-49F2-82C1-5431B0419E28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95FB5C92-A632-4CEC-9B6C-5678AF904EF3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B17D5BC9-AA21-4831-973D-44CBC214C268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5A5790F4-B213-4BCF-AF77-4A03E59F46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0A4A6D4D-1C1F-45FB-A68D-32C1BD92E264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實驗一：8 / 9 次成功套用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成功套用後仍需人工檢查策略語義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 三次 rewrite 後回滾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prompt 同時改變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trial 的 inherited Java 均未被反思直接改寫；未量測新策略勝率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DDBF374-5B4E-4D84-8F78-C0E36848A6DB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B40F25D1-2301-49CA-BE0A-1405FAC553A6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190EF21-51EE-42A1-9532-D6DBC823A9B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AC48927C-1379-46D6-81FB-3909A36A502B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2E087770-D4B1-42C9-A0A0-102582FFC15A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E01DB518-1119-45A4-AFBA-61CA12BDA534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45C87761-6AF1-44DC-BD1C-71CB83D55A1B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16740CBC-B734-4045-96E1-FCCFE0562EFC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922DE2D1-5A23-4CD7-9A9B-E40C65FB7C62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C2B714D4-9620-460A-89A2-1AE566643F78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AB4972E8-8DD1-42FF-B92E-0BB046F85E59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2A29F7E3-074B-45A8-849D-D38BAB0BF3AA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66A7BA9-A816-4C67-B460-26D0BE09F636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3815B9FA-CDB6-429A-9BE7-553DCC17F2B5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3EBC807-BA70-4D44-98FA-73EAF30B800F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實驗一：各次 trial 暴露的問題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反思能改內容，但規則 grounding 尚不足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 / S2 / S3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S1：加入 Heavy 與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S2：採集／回存條件互相衝突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S3：把 Base HP 當資源儲量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C1 / C2 / C3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C1：targeting rule，經 retry 套用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C2：schema retry 後新增 rule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C3：具體 Worker 詞遭拒絕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B1 / B2 / B3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B1：Wall、Tower、Marine、Tank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B2：Armory、tech、high ground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B3：Marine、Siege Tank、RL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BA31294-1B83-4BCF-9BB0-9A3000CEA1D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109192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55E931FE-E2D8-46DD-8991-09CBEA890E9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5C518622-66E7-40BE-ADF2-5F283447B1A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5B86EA48-9428-4E94-BE07-7A9DA62AAE19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7355EE5A-8DE4-4652-B5A6-9B70AE8A1C98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0EF89ECA-87BF-4C75-B56F-6B62645220B7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539ADD54-030D-4590-B8B3-AC95E4EF1996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28DD30EE-9A49-420C-9BA8-0367D2168538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7E4DA074-B8A8-4940-B433-42AFFD11A889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D51BCE76-7E8F-409B-8AC6-0C65A1D522FD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1D099FAD-B1D9-4558-984B-97DF960084FC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6D49F91-ED0B-47B8-A57E-80C499EAD1A0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CA6B7099-0132-4F0A-B894-2532F38E308D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實驗二：補規則後仍有錯誤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相同設計重跑；Gameplay contract 已送入策略改寫角色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C2、C3：改寫失敗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B1：schema 不合格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/ 9 次套用；五份成功產生的 strategy prompt 仍出現規則問題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baseline 的 GP = -90.316206；本次同樣未重生 Java 或重跑新策略對戰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3F2B8A9-FA44-4691-A38A-55FA8B6B1082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86C25928-3363-45AF-ABFF-37C7A678C83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777178AE-1597-4297-B0FA-2F311E183DD6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1497BEDB-C03B-4432-9789-8B703EF08C20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61990250-1B5B-476B-BA12-04F7BFB057DE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DCFE60D8-027A-421C-BB3D-2B17E8FF9EB7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FFA9BA6C-2174-474B-ADC6-624C51DD9C31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0B4B441A-E054-42D5-9D9F-FF7767AB073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F977F83F-CA4C-42E5-9369-30AB6B627675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96BE82CC-0777-44CA-A7FD-930687A0601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92D1B947-CD75-4A47-AC52-E96CCE4C7BE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4298E857-AC85-4276-80FE-4C0C792EFAF5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968BD70E-1D52-453A-93F3-7C7DBE47FE3B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54A458F9-D06B-4C42-998A-34CEECA3905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8D35FEBF-95BF-45B8-B09D-C7AB2A9DE682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實驗二：Strategy 的三個變體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提供 contract 後，仍未穩定落實行動前提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Barracks fallback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增加 Light 與防守分工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卻要求等待 Base HP 恢復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遊戲沒有治療／修復機制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S2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Redundant harvesters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維持兩名採集者並轉 Heavy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立即重建的敘述缺少前提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未列 Worker、資源與空格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S3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Resource collection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加入集中反擊與 Barracks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卻要求所有 Worker 死後建造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缺少能執行建造的單位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CB9302C-964E-490C-B0E6-BEF74882CF3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52942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2E3FEAC-EEA8-44A6-BFAF-157C14EDAD3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DE70E82E-4B63-4D87-BD78-2C4CAD38434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CFC72915-5104-465D-BAD7-DB8DEFD1E15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A7582BD4-4D57-4B36-9EA0-93D4897109F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1A4E6091-2E0C-40AB-8730-C5A314C8722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4B7F8424-E7DC-4155-9857-50F927E28AC6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F8CFA4B-574B-440F-85C2-EA81D2B1B43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實驗二：Code 與 Balance 的問題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將模型判讀錯誤與驗證器拒絕分開看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Code：1 / 3 套用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Balance：2 / 3 套用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C1：套用 API compliance rule，但誤判既有 Java 沒有連續生產與回存。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C2：3 次 rewrite 仍含 resource，遭泛化規則檢查拒絕。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C3：3 次 rewrite 仍含 commandTrain，安全回滾。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B1：weakness 用陣列混合多個 opponent／map，schema 失敗。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B2：新 policy 使用 scouting、map ID，還要求無 Worker 時建 Base。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B3：無 Barracks 生 Ranged、Barracks upgrade 與資源歸屬錯誤。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修正方向：分清角色責任，加入 final-policy 檢查與具體錯誤回饋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D51520D-24A2-4CE6-9A63-4FAA7BB8A413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6">
            <a:extLst>
              <a:ext uri="{FF2B5EF4-FFF2-40B4-BE49-F238E27FC236}">
                <a16:creationId xmlns:a16="http://schemas.microsoft.com/office/drawing/2014/main" id="{D8014D15-3474-4A0F-AD93-96C60A2900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菱形 7">
            <a:extLst>
              <a:ext uri="{FF2B5EF4-FFF2-40B4-BE49-F238E27FC236}">
                <a16:creationId xmlns:a16="http://schemas.microsoft.com/office/drawing/2014/main" id="{26925ED1-9C45-4B1E-9CA2-0B7E84BCC65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8" name="矩形: 圓角 8">
            <a:extLst>
              <a:ext uri="{FF2B5EF4-FFF2-40B4-BE49-F238E27FC236}">
                <a16:creationId xmlns:a16="http://schemas.microsoft.com/office/drawing/2014/main" id="{9E73EF2D-16EF-4F5E-B5E9-E745DB980108}"/>
              </a:ext>
            </a:extLst>
          </p:cNvPr>
          <p:cNvSpPr>
            <a:spLocks noGrp="1"/>
          </p:cNvSpPr>
          <p:nvPr/>
        </p:nvSpPr>
        <p:spPr>
          <a:xfrm>
            <a:off x="990600" y="3000375"/>
            <a:ext cx="6286500" cy="3810000"/>
          </a:xfrm>
          <a:prstGeom prst="roundRect">
            <a:avLst>
              <a:gd name="adj" fmla="val 400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9" name="矩形 10">
            <a:extLst>
              <a:ext uri="{FF2B5EF4-FFF2-40B4-BE49-F238E27FC236}">
                <a16:creationId xmlns:a16="http://schemas.microsoft.com/office/drawing/2014/main" id="{F8B565E7-ED3C-489D-8159-A5C28AF73392}"/>
              </a:ext>
            </a:extLst>
          </p:cNvPr>
          <p:cNvSpPr>
            <a:spLocks noGrp="1"/>
          </p:cNvSpPr>
          <p:nvPr/>
        </p:nvSpPr>
        <p:spPr>
          <a:xfrm>
            <a:off x="1257300" y="4086225"/>
            <a:ext cx="575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0" name="矩形: 圓角 12">
            <a:extLst>
              <a:ext uri="{FF2B5EF4-FFF2-40B4-BE49-F238E27FC236}">
                <a16:creationId xmlns:a16="http://schemas.microsoft.com/office/drawing/2014/main" id="{4717BC8C-C324-43B7-A4D7-76630B9335A9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476500" cy="3810000"/>
          </a:xfrm>
          <a:prstGeom prst="roundRect">
            <a:avLst>
              <a:gd name="adj" fmla="val 615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1" name="矩形 14">
            <a:extLst>
              <a:ext uri="{FF2B5EF4-FFF2-40B4-BE49-F238E27FC236}">
                <a16:creationId xmlns:a16="http://schemas.microsoft.com/office/drawing/2014/main" id="{2C1D45BB-6194-4150-AA90-22A7CCC06E95}"/>
              </a:ext>
            </a:extLst>
          </p:cNvPr>
          <p:cNvSpPr>
            <a:spLocks noGrp="1"/>
          </p:cNvSpPr>
          <p:nvPr/>
        </p:nvSpPr>
        <p:spPr>
          <a:xfrm>
            <a:off x="8515350" y="4086225"/>
            <a:ext cx="19431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2" name="矩形: 圓角 16">
            <a:extLst>
              <a:ext uri="{FF2B5EF4-FFF2-40B4-BE49-F238E27FC236}">
                <a16:creationId xmlns:a16="http://schemas.microsoft.com/office/drawing/2014/main" id="{A8527084-31C8-4C86-8CE3-4302744983EF}"/>
              </a:ext>
            </a:extLst>
          </p:cNvPr>
          <p:cNvSpPr>
            <a:spLocks noGrp="1"/>
          </p:cNvSpPr>
          <p:nvPr/>
        </p:nvSpPr>
        <p:spPr>
          <a:xfrm>
            <a:off x="11715750" y="3000375"/>
            <a:ext cx="3219450" cy="3810000"/>
          </a:xfrm>
          <a:prstGeom prst="roundRect">
            <a:avLst>
              <a:gd name="adj" fmla="val 4734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33" name="矩形 18">
            <a:extLst>
              <a:ext uri="{FF2B5EF4-FFF2-40B4-BE49-F238E27FC236}">
                <a16:creationId xmlns:a16="http://schemas.microsoft.com/office/drawing/2014/main" id="{9EA02452-0D50-4CBE-900D-479551CDFF86}"/>
              </a:ext>
            </a:extLst>
          </p:cNvPr>
          <p:cNvSpPr>
            <a:spLocks noGrp="1"/>
          </p:cNvSpPr>
          <p:nvPr/>
        </p:nvSpPr>
        <p:spPr>
          <a:xfrm>
            <a:off x="11982450" y="4086225"/>
            <a:ext cx="26860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4" name="箭號: 向右 20">
            <a:extLst>
              <a:ext uri="{FF2B5EF4-FFF2-40B4-BE49-F238E27FC236}">
                <a16:creationId xmlns:a16="http://schemas.microsoft.com/office/drawing/2014/main" id="{695CDAB7-D8DE-4B56-B769-C33CAEE72FE5}"/>
              </a:ext>
            </a:extLst>
          </p:cNvPr>
          <p:cNvSpPr>
            <a:spLocks noGrp="1"/>
          </p:cNvSpPr>
          <p:nvPr/>
        </p:nvSpPr>
        <p:spPr>
          <a:xfrm>
            <a:off x="7515225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5" name="箭號: 向右 21">
            <a:extLst>
              <a:ext uri="{FF2B5EF4-FFF2-40B4-BE49-F238E27FC236}">
                <a16:creationId xmlns:a16="http://schemas.microsoft.com/office/drawing/2014/main" id="{A3B1B796-0DEF-418C-BDBA-090DC5B7358A}"/>
              </a:ext>
            </a:extLst>
          </p:cNvPr>
          <p:cNvSpPr>
            <a:spLocks noGrp="1"/>
          </p:cNvSpPr>
          <p:nvPr/>
        </p:nvSpPr>
        <p:spPr>
          <a:xfrm>
            <a:off x="10972800" y="4714875"/>
            <a:ext cx="485775" cy="295275"/>
          </a:xfrm>
          <a:prstGeom prst="rightArrow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6" name="矩形: 圓角 22">
            <a:extLst>
              <a:ext uri="{FF2B5EF4-FFF2-40B4-BE49-F238E27FC236}">
                <a16:creationId xmlns:a16="http://schemas.microsoft.com/office/drawing/2014/main" id="{4256C17D-0DC3-46D5-8320-7607E1865235}"/>
              </a:ext>
            </a:extLst>
          </p:cNvPr>
          <p:cNvSpPr>
            <a:spLocks noGrp="1"/>
          </p:cNvSpPr>
          <p:nvPr/>
        </p:nvSpPr>
        <p:spPr>
          <a:xfrm>
            <a:off x="3238500" y="7439025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實驗三：用上游子代驗證 Compliance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兩條上游路徑，各自把成功輸出交給下一個 operator</a:t>
            </a:r>
          </a:p>
        </p:txBody>
      </p:sp>
      <p:sp>
        <p:nvSpPr>
          <p:cNvPr id="10" name="文字版面配置區 9">
            <a:extLst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noGrp="1"/>
          </p:cNvSpPr>
          <p:nvPr/>
        </p:nvSpPr>
        <p:spPr>
          <a:xfrm>
            <a:off x="1181100" y="3305175"/>
            <a:ext cx="590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Worker Rush subject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noGrp="1"/>
          </p:cNvSpPr>
          <p:nvPr/>
        </p:nvSpPr>
        <p:spPr>
          <a:xfrm>
            <a:off x="1238250" y="4276725"/>
            <a:ext cx="579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× 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每次從同一原始 subject 開始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noGrp="1"/>
          </p:cNvSpPr>
          <p:nvPr/>
        </p:nvSpPr>
        <p:spPr>
          <a:xfrm>
            <a:off x="8439150" y="3305175"/>
            <a:ext cx="209550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個子代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noGrp="1"/>
          </p:cNvSpPr>
          <p:nvPr/>
        </p:nvSpPr>
        <p:spPr>
          <a:xfrm>
            <a:off x="8496300" y="4276725"/>
            <a:ext cx="198120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 hash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各自作為父代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noGrp="1"/>
          </p:cNvSpPr>
          <p:nvPr/>
        </p:nvSpPr>
        <p:spPr>
          <a:xfrm>
            <a:off x="11906250" y="3305175"/>
            <a:ext cx="2838450" cy="6477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× 6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noGrp="1"/>
          </p:cNvSpPr>
          <p:nvPr/>
        </p:nvSpPr>
        <p:spPr>
          <a:xfrm>
            <a:off x="11963400" y="4276725"/>
            <a:ext cx="2724150" cy="21431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 兩個 gene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只修有 issue 的欄位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套用或安全拒絕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noGrp="1"/>
          </p:cNvSpPr>
          <p:nvPr/>
        </p:nvSpPr>
        <p:spPr>
          <a:xfrm>
            <a:off x="3314700" y="7458075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的輸入隨上游子代改變；這 6 次不是重複測同一份 prompt</a:t>
            </a:r>
          </a:p>
        </p:txBody>
      </p:sp>
      <p:sp>
        <p:nvSpPr>
          <p:cNvPr id="3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681AE5-CC77-4BE4-8B74-7AEAAF33768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E5E6D0F1-3ACE-4CE5-9FF1-456D725A3E91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15B669B2-667C-4824-BD26-410186C7BD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ED3EDCC-497D-4CA2-9FAE-37B8569C4C6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9FB359CC-D060-499E-B41A-83D40182F93B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627851C0-8AF4-4F54-9A85-51C83A4E3ABA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00B3FF01-0EFB-44BE-8AD4-076EC1AAAEF8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B32F0BB-2687-4E81-908C-885401DBE961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B5EE92AE-1FE6-4AD1-8242-FBF8B8341A3D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39895716-3D71-41AE-9580-75229DDB5D44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7F2CF0BE-C4B5-4CA0-9653-870D96CC41BA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138F940B-4A61-4F53-AC48-6299820C33B2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68FDC477-8890-468F-9F18-B58622E7D26A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實驗三：10 / 12 次安全套用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驗證修改方向、欄位 scope 與失敗保護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只改通用翻譯規則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/ 6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次拒絕，父代維持原值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次 inherited Java hash 相同；上游 6 次全部遵守各自欄位邊界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成功的 Compliance trial 1 / 3 / 5 / 6 實際都只改 strategy_prompt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DBD1FC67-5F1D-472B-9620-D9405651092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68B44765-F2A5-454A-B649-4112BCBF0712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33AF55-4B14-4A18-B01B-A8DABEE4B83C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86C66384-7343-44A2-8467-E787F2E7BAC2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C640246C-2FE2-439C-B722-0319580DDF6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9100BF6D-6C99-4653-8F1D-F4EEC2E0E50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AA9EF77A-8D87-49C4-97F2-D3E4B22C0BAE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F90C7B25-0763-49AD-B88D-9C2ADD9B1374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實驗三：兩次拒絕與後續修補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驗證記錄保留原結果；修補後尚需同設計重跑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2：距離誤判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4：schema 不合格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輸出要求 Light 發現距離 3 的 Ranged，先靠近再在距離 1 攻擊。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當時 validator 把觀察距離當成攻擊距離，拒絕了合法接近動作。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後續修補：區分觀察／接近距離與 acting unit 的攻擊範圍。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部分 response 把 revised_strategy_prompt 回成 array；其他回應仍有距離或條件矛盾。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次內未得到可接受 policy，所有欄位保留原值。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後續修補：明確 string JSON schema，重試附原輸出與精確錯誤。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/ 12 是當次驗證結果，不能改寫成修補後已全數通過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0806108-CD01-4194-8D7E-E1C873D13F4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129280CD-1A18-4B24-88DF-5391067737C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61233055-6E79-4F7A-81B1-996439F03F1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21A3A527-EE27-4928-96A5-54600150B156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8E98F692-887A-48DF-8138-4D7FB0C81B56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: 圓角 12">
            <a:extLst>
              <a:ext uri="{FF2B5EF4-FFF2-40B4-BE49-F238E27FC236}">
                <a16:creationId xmlns:a16="http://schemas.microsoft.com/office/drawing/2014/main" id="{AF839BBE-4F48-45E9-B7D0-E2F8C223C790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2" name="矩形 14">
            <a:extLst>
              <a:ext uri="{FF2B5EF4-FFF2-40B4-BE49-F238E27FC236}">
                <a16:creationId xmlns:a16="http://schemas.microsoft.com/office/drawing/2014/main" id="{76CCDA60-37DD-47B8-A097-F541E1C11FC5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3" name="矩形: 圓角 16">
            <a:extLst>
              <a:ext uri="{FF2B5EF4-FFF2-40B4-BE49-F238E27FC236}">
                <a16:creationId xmlns:a16="http://schemas.microsoft.com/office/drawing/2014/main" id="{FAE62C6E-A500-4FB3-8983-7E00F3CE8DAB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4" name="橢圓 17">
            <a:extLst>
              <a:ext uri="{FF2B5EF4-FFF2-40B4-BE49-F238E27FC236}">
                <a16:creationId xmlns:a16="http://schemas.microsoft.com/office/drawing/2014/main" id="{6A20DE64-2BD3-4174-B2E7-338EA6905C7A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5" name="矩形: 圓角 20">
            <a:extLst>
              <a:ext uri="{FF2B5EF4-FFF2-40B4-BE49-F238E27FC236}">
                <a16:creationId xmlns:a16="http://schemas.microsoft.com/office/drawing/2014/main" id="{A90652C1-2806-4937-8CC9-7F221454B521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6" name="矩形 22">
            <a:extLst>
              <a:ext uri="{FF2B5EF4-FFF2-40B4-BE49-F238E27FC236}">
                <a16:creationId xmlns:a16="http://schemas.microsoft.com/office/drawing/2014/main" id="{87D761D6-B714-45E3-B8A4-8C65572B3C06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7" name="矩形: 圓角 24">
            <a:extLst>
              <a:ext uri="{FF2B5EF4-FFF2-40B4-BE49-F238E27FC236}">
                <a16:creationId xmlns:a16="http://schemas.microsoft.com/office/drawing/2014/main" id="{05024E2C-A0BD-4808-9C5E-54AE6E21369B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8" name="橢圓 25">
            <a:extLst>
              <a:ext uri="{FF2B5EF4-FFF2-40B4-BE49-F238E27FC236}">
                <a16:creationId xmlns:a16="http://schemas.microsoft.com/office/drawing/2014/main" id="{C9472A6C-B220-4416-AED0-06A780C8E03D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9" name="矩形: 圓角 28">
            <a:extLst>
              <a:ext uri="{FF2B5EF4-FFF2-40B4-BE49-F238E27FC236}">
                <a16:creationId xmlns:a16="http://schemas.microsoft.com/office/drawing/2014/main" id="{88A574B5-2E38-46AD-B022-78E929BA5E8D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0" name="矩形 30">
            <a:extLst>
              <a:ext uri="{FF2B5EF4-FFF2-40B4-BE49-F238E27FC236}">
                <a16:creationId xmlns:a16="http://schemas.microsoft.com/office/drawing/2014/main" id="{EBAA22E7-C1EA-44B1-A3C0-EB87EDE98385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實驗四：三種固定比例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09/04–09/07　S / C / PC 分別代表 Strategy / Code / Prompt Compliance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共同設定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代；族群 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0.75；mutation 0.85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評估 180 場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三組比例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只改 operator 機率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初始條件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+ 9 個 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共用固定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每組各跑 1 個 run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5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7547B21-2063-40A4-BE7D-4EC0D4EB944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227142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6">
            <a:extLst>
              <a:ext uri="{FF2B5EF4-FFF2-40B4-BE49-F238E27FC236}">
                <a16:creationId xmlns:a16="http://schemas.microsoft.com/office/drawing/2014/main" id="{272CD552-FFAC-4EE3-9BCB-30637E65BE93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8" name="菱形 7">
            <a:extLst>
              <a:ext uri="{FF2B5EF4-FFF2-40B4-BE49-F238E27FC236}">
                <a16:creationId xmlns:a16="http://schemas.microsoft.com/office/drawing/2014/main" id="{BCB5D3A1-93CC-4985-B5AA-44A81618B020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比例實驗的整體結果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族群平均、champion 與執行可靠度呈現不同面向</a:t>
            </a:r>
          </a:p>
        </p:txBody>
      </p:sp>
      <p:graphicFrame>
        <p:nvGraphicFramePr>
          <p:cNvPr id="16" name="表格 15"/>
          <p:cNvGraphicFramePr/>
          <p:nvPr/>
        </p:nvGraphicFramePr>
        <p:xfrm>
          <a:off x="1104900" y="3048000"/>
          <a:ext cx="13716000" cy="29718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3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比例 S/C/PC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GP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有效 policy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失敗子代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時間</a:t>
                      </a:r>
                    </a:p>
                  </a:txBody>
                  <a:tcPr anchor="ctr">
                    <a:solidFill>
                      <a:srgbClr val="E8C8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20/20/60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-65.41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-40.72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258 / 31 / 311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8.98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33/33/34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-53.37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-49.27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223 / 51 / 326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200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7.80 h</a:t>
                      </a:r>
                    </a:p>
                  </a:txBody>
                  <a:tcPr anchor="ctr">
                    <a:solidFill>
                      <a:srgbClr val="F4DE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40/40/20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-90.16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-88.84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170 / 429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 / 200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10.08 h</a:t>
                      </a:r>
                    </a:p>
                  </a:txBody>
                  <a:tcPr anchor="ctr">
                    <a:solidFill>
                      <a:srgbClr val="FC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noGrp="1"/>
          </p:cNvSpPr>
          <p:nvPr/>
        </p:nvSpPr>
        <p:spPr>
          <a:xfrm>
            <a:off x="1809750" y="6534150"/>
            <a:ext cx="12306300" cy="6191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33/33/34：最後族群平均較好，失敗少且成本低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noGrp="1"/>
          </p:cNvSpPr>
          <p:nvPr/>
        </p:nvSpPr>
        <p:spPr>
          <a:xfrm>
            <a:off x="1809750" y="7219950"/>
            <a:ext cx="12306300" cy="5334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20/20/60：單一最佳個體較強；40/40/20：本次改善有限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noGrp="1"/>
          </p:cNvSpPr>
          <p:nvPr/>
        </p:nvSpPr>
        <p:spPr>
          <a:xfrm>
            <a:off x="2476500" y="7934325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GP 越高越好；每組 Final Test 600 場；每組各 1 run</a:t>
            </a:r>
          </a:p>
        </p:txBody>
      </p:sp>
      <p:sp>
        <p:nvSpPr>
          <p:cNvPr id="1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35F6A791-3894-4D07-A89A-B4CEB41A721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6">
            <a:extLst>
              <a:ext uri="{FF2B5EF4-FFF2-40B4-BE49-F238E27FC236}">
                <a16:creationId xmlns:a16="http://schemas.microsoft.com/office/drawing/2014/main" id="{A1BBC2E3-22A0-4CB2-8D26-974C04835F29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0" name="菱形 7">
            <a:extLst>
              <a:ext uri="{FF2B5EF4-FFF2-40B4-BE49-F238E27FC236}">
                <a16:creationId xmlns:a16="http://schemas.microsoft.com/office/drawing/2014/main" id="{43392FA1-1678-4D14-AAD6-9498A2632D5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每代生存者的平均 GP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改善較早；20/20/60 後段上升後回落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="1066800" y="2752725"/>
          <a:ext cx="10953750" cy="4857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noGrp="1"/>
          </p:cNvSpPr>
          <p:nvPr/>
        </p:nvSpPr>
        <p:spPr>
          <a:xfrm>
            <a:off x="12144375" y="3143250"/>
            <a:ext cx="2686050" cy="514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mean GP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noGrp="1"/>
          </p:cNvSpPr>
          <p:nvPr/>
        </p:nvSpPr>
        <p:spPr>
          <a:xfrm>
            <a:off x="12144375" y="3905250"/>
            <a:ext cx="2686050" cy="9334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  <a:p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-53.37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noGrp="1"/>
          </p:cNvSpPr>
          <p:nvPr/>
        </p:nvSpPr>
        <p:spPr>
          <a:xfrm>
            <a:off x="12144375" y="512445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  <a:p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-65.41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noGrp="1"/>
          </p:cNvSpPr>
          <p:nvPr/>
        </p:nvSpPr>
        <p:spPr>
          <a:xfrm>
            <a:off x="12144375" y="6286500"/>
            <a:ext cx="2686050" cy="8953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  <a:p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-90.16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noGrp="1"/>
          </p:cNvSpPr>
          <p:nvPr/>
        </p:nvSpPr>
        <p:spPr>
          <a:xfrm>
            <a:off x="1619250" y="7924800"/>
            <a:ext cx="12687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依 opponent cases 選擇；GP 曲線可能回落，不代表父代 Java 被重新生成</a:t>
            </a:r>
          </a:p>
        </p:txBody>
      </p:sp>
      <p:sp>
        <p:nvSpPr>
          <p:cNvPr id="21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691D7C3C-040A-4FE0-8393-33324E8C5BB9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22</a:t>
            </a:fld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6">
            <a:extLst>
              <a:ext uri="{FF2B5EF4-FFF2-40B4-BE49-F238E27FC236}">
                <a16:creationId xmlns:a16="http://schemas.microsoft.com/office/drawing/2014/main" id="{14F1DC73-D71F-4E53-AEE0-FDD7F104FAF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4" name="菱形 7">
            <a:extLst>
              <a:ext uri="{FF2B5EF4-FFF2-40B4-BE49-F238E27FC236}">
                <a16:creationId xmlns:a16="http://schemas.microsoft.com/office/drawing/2014/main" id="{2B285C85-9022-4986-8CAC-037807D6C6D7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 場 Final Test 的 champion 結果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 的單一 champion 勝場最多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="1238250" y="2752725"/>
          <a:ext cx="133350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noGrp="1"/>
          </p:cNvSpPr>
          <p:nvPr/>
        </p:nvSpPr>
        <p:spPr>
          <a:xfrm>
            <a:off x="109537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noGrp="1"/>
          </p:cNvSpPr>
          <p:nvPr/>
        </p:nvSpPr>
        <p:spPr>
          <a:xfrm>
            <a:off x="109537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258 / 31 / 311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noGrp="1"/>
          </p:cNvSpPr>
          <p:nvPr/>
        </p:nvSpPr>
        <p:spPr>
          <a:xfrm>
            <a:off x="109537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Win rate 43.0%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noGrp="1"/>
          </p:cNvSpPr>
          <p:nvPr/>
        </p:nvSpPr>
        <p:spPr>
          <a:xfrm>
            <a:off x="5810250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noGrp="1"/>
          </p:cNvSpPr>
          <p:nvPr/>
        </p:nvSpPr>
        <p:spPr>
          <a:xfrm>
            <a:off x="5810250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223 / 51 / 326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noGrp="1"/>
          </p:cNvSpPr>
          <p:nvPr/>
        </p:nvSpPr>
        <p:spPr>
          <a:xfrm>
            <a:off x="5810250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37.2%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noGrp="1"/>
          </p:cNvSpPr>
          <p:nvPr/>
        </p:nvSpPr>
        <p:spPr>
          <a:xfrm>
            <a:off x="10525125" y="6629400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noGrp="1"/>
          </p:cNvSpPr>
          <p:nvPr/>
        </p:nvSpPr>
        <p:spPr>
          <a:xfrm>
            <a:off x="10525125" y="7086600"/>
            <a:ext cx="4305300" cy="428625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/ 170 / 429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noGrp="1"/>
          </p:cNvSpPr>
          <p:nvPr/>
        </p:nvSpPr>
        <p:spPr>
          <a:xfrm>
            <a:off x="10525125" y="7572375"/>
            <a:ext cx="4305300" cy="43815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0.17%</a:t>
            </a:r>
          </a:p>
        </p:txBody>
      </p:sp>
      <p:sp>
        <p:nvSpPr>
          <p:cNvPr id="25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4C92EEDE-C6FD-4F64-A58C-7B9E5D8B3FB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6">
            <a:extLst>
              <a:ext uri="{FF2B5EF4-FFF2-40B4-BE49-F238E27FC236}">
                <a16:creationId xmlns:a16="http://schemas.microsoft.com/office/drawing/2014/main" id="{671003B6-1449-432B-9855-C905BCE735A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8" name="菱形 7">
            <a:extLst>
              <a:ext uri="{FF2B5EF4-FFF2-40B4-BE49-F238E27FC236}">
                <a16:creationId xmlns:a16="http://schemas.microsoft.com/office/drawing/2014/main" id="{980CFCCD-A88E-4471-BB93-D45D6D4AD77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39" name="矩形: 圓角 8">
            <a:extLst>
              <a:ext uri="{FF2B5EF4-FFF2-40B4-BE49-F238E27FC236}">
                <a16:creationId xmlns:a16="http://schemas.microsoft.com/office/drawing/2014/main" id="{C534B640-B7A3-4763-A713-11C75395AB4C}"/>
              </a:ext>
            </a:extLst>
          </p:cNvPr>
          <p:cNvSpPr>
            <a:spLocks noGrp="1"/>
          </p:cNvSpPr>
          <p:nvPr/>
        </p:nvSpPr>
        <p:spPr>
          <a:xfrm>
            <a:off x="1009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0" name="橢圓 9">
            <a:extLst>
              <a:ext uri="{FF2B5EF4-FFF2-40B4-BE49-F238E27FC236}">
                <a16:creationId xmlns:a16="http://schemas.microsoft.com/office/drawing/2014/main" id="{3CD56D47-9334-402D-8F83-A086038BA2DD}"/>
              </a:ext>
            </a:extLst>
          </p:cNvPr>
          <p:cNvSpPr>
            <a:spLocks noGrp="1"/>
          </p:cNvSpPr>
          <p:nvPr/>
        </p:nvSpPr>
        <p:spPr>
          <a:xfrm>
            <a:off x="2962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1" name="矩形 12">
            <a:extLst>
              <a:ext uri="{FF2B5EF4-FFF2-40B4-BE49-F238E27FC236}">
                <a16:creationId xmlns:a16="http://schemas.microsoft.com/office/drawing/2014/main" id="{BC53BDCE-37D8-421B-BB22-365C64C91363}"/>
              </a:ext>
            </a:extLst>
          </p:cNvPr>
          <p:cNvSpPr>
            <a:spLocks noGrp="1"/>
          </p:cNvSpPr>
          <p:nvPr/>
        </p:nvSpPr>
        <p:spPr>
          <a:xfrm>
            <a:off x="1343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2" name="矩形: 圓角 16">
            <a:extLst>
              <a:ext uri="{FF2B5EF4-FFF2-40B4-BE49-F238E27FC236}">
                <a16:creationId xmlns:a16="http://schemas.microsoft.com/office/drawing/2014/main" id="{7C4F20EE-0C37-4B02-B052-50D9BBD44165}"/>
              </a:ext>
            </a:extLst>
          </p:cNvPr>
          <p:cNvSpPr>
            <a:spLocks noGrp="1"/>
          </p:cNvSpPr>
          <p:nvPr/>
        </p:nvSpPr>
        <p:spPr>
          <a:xfrm>
            <a:off x="57721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17">
            <a:extLst>
              <a:ext uri="{FF2B5EF4-FFF2-40B4-BE49-F238E27FC236}">
                <a16:creationId xmlns:a16="http://schemas.microsoft.com/office/drawing/2014/main" id="{DF064E9C-8A22-4130-9E9B-14123BDEC997}"/>
              </a:ext>
            </a:extLst>
          </p:cNvPr>
          <p:cNvSpPr>
            <a:spLocks noGrp="1"/>
          </p:cNvSpPr>
          <p:nvPr/>
        </p:nvSpPr>
        <p:spPr>
          <a:xfrm>
            <a:off x="77247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 20">
            <a:extLst>
              <a:ext uri="{FF2B5EF4-FFF2-40B4-BE49-F238E27FC236}">
                <a16:creationId xmlns:a16="http://schemas.microsoft.com/office/drawing/2014/main" id="{ED3AB3E1-9956-4078-BF26-ADE215EC54CC}"/>
              </a:ext>
            </a:extLst>
          </p:cNvPr>
          <p:cNvSpPr>
            <a:spLocks noGrp="1"/>
          </p:cNvSpPr>
          <p:nvPr/>
        </p:nvSpPr>
        <p:spPr>
          <a:xfrm>
            <a:off x="61055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5" name="矩形: 圓角 24">
            <a:extLst>
              <a:ext uri="{FF2B5EF4-FFF2-40B4-BE49-F238E27FC236}">
                <a16:creationId xmlns:a16="http://schemas.microsoft.com/office/drawing/2014/main" id="{17159241-02AE-4DAD-B46F-E8DF8D1ED3FB}"/>
              </a:ext>
            </a:extLst>
          </p:cNvPr>
          <p:cNvSpPr>
            <a:spLocks noGrp="1"/>
          </p:cNvSpPr>
          <p:nvPr/>
        </p:nvSpPr>
        <p:spPr>
          <a:xfrm>
            <a:off x="10534650" y="2971800"/>
            <a:ext cx="4381500" cy="3781425"/>
          </a:xfrm>
          <a:prstGeom prst="roundRect">
            <a:avLst>
              <a:gd name="adj" fmla="val 4030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6" name="橢圓 25">
            <a:extLst>
              <a:ext uri="{FF2B5EF4-FFF2-40B4-BE49-F238E27FC236}">
                <a16:creationId xmlns:a16="http://schemas.microsoft.com/office/drawing/2014/main" id="{3BAA4579-C552-4DC2-94A3-FC4F54A0ABED}"/>
              </a:ext>
            </a:extLst>
          </p:cNvPr>
          <p:cNvSpPr>
            <a:spLocks noGrp="1"/>
          </p:cNvSpPr>
          <p:nvPr/>
        </p:nvSpPr>
        <p:spPr>
          <a:xfrm>
            <a:off x="12487275" y="2733675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7" name="矩形 28">
            <a:extLst>
              <a:ext uri="{FF2B5EF4-FFF2-40B4-BE49-F238E27FC236}">
                <a16:creationId xmlns:a16="http://schemas.microsoft.com/office/drawing/2014/main" id="{4D1A3D14-F10E-4C39-A163-F6784EF00086}"/>
              </a:ext>
            </a:extLst>
          </p:cNvPr>
          <p:cNvSpPr>
            <a:spLocks noGrp="1"/>
          </p:cNvSpPr>
          <p:nvPr/>
        </p:nvSpPr>
        <p:spPr>
          <a:xfrm>
            <a:off x="10868025" y="4114800"/>
            <a:ext cx="37147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8" name="矩形: 圓角 32">
            <a:extLst>
              <a:ext uri="{FF2B5EF4-FFF2-40B4-BE49-F238E27FC236}">
                <a16:creationId xmlns:a16="http://schemas.microsoft.com/office/drawing/2014/main" id="{50FBE795-F4C4-41F9-B4FC-796860E020A7}"/>
              </a:ext>
            </a:extLst>
          </p:cNvPr>
          <p:cNvSpPr>
            <a:spLocks noGrp="1"/>
          </p:cNvSpPr>
          <p:nvPr/>
        </p:nvSpPr>
        <p:spPr>
          <a:xfrm>
            <a:off x="1714500" y="7153275"/>
            <a:ext cx="12496800" cy="1123950"/>
          </a:xfrm>
          <a:prstGeom prst="roundRect">
            <a:avLst>
              <a:gd name="adj" fmla="val 13559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可靠度與 LLM 成本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在這三個 run 中失敗最少、累積 LLM 時間最短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noGrp="1"/>
          </p:cNvSpPr>
          <p:nvPr/>
        </p:nvSpPr>
        <p:spPr>
          <a:xfrm>
            <a:off x="2990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noGrp="1"/>
          </p:cNvSpPr>
          <p:nvPr/>
        </p:nvSpPr>
        <p:spPr>
          <a:xfrm>
            <a:off x="1200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noGrp="1"/>
          </p:cNvSpPr>
          <p:nvPr/>
        </p:nvSpPr>
        <p:spPr>
          <a:xfrm>
            <a:off x="1276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noGrp="1"/>
          </p:cNvSpPr>
          <p:nvPr/>
        </p:nvSpPr>
        <p:spPr>
          <a:xfrm>
            <a:off x="1276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/ 200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noGrp="1"/>
          </p:cNvSpPr>
          <p:nvPr/>
        </p:nvSpPr>
        <p:spPr>
          <a:xfrm>
            <a:off x="1276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10/10；8.98 h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noGrp="1"/>
          </p:cNvSpPr>
          <p:nvPr/>
        </p:nvSpPr>
        <p:spPr>
          <a:xfrm>
            <a:off x="77533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noGrp="1"/>
          </p:cNvSpPr>
          <p:nvPr/>
        </p:nvSpPr>
        <p:spPr>
          <a:xfrm>
            <a:off x="59626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noGrp="1"/>
          </p:cNvSpPr>
          <p:nvPr/>
        </p:nvSpPr>
        <p:spPr>
          <a:xfrm>
            <a:off x="60388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noGrp="1"/>
          </p:cNvSpPr>
          <p:nvPr/>
        </p:nvSpPr>
        <p:spPr>
          <a:xfrm>
            <a:off x="60388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200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noGrp="1"/>
          </p:cNvSpPr>
          <p:nvPr/>
        </p:nvSpPr>
        <p:spPr>
          <a:xfrm>
            <a:off x="60388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10/10；7.80 h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noGrp="1"/>
          </p:cNvSpPr>
          <p:nvPr/>
        </p:nvSpPr>
        <p:spPr>
          <a:xfrm>
            <a:off x="12515850" y="2733675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noGrp="1"/>
          </p:cNvSpPr>
          <p:nvPr/>
        </p:nvSpPr>
        <p:spPr>
          <a:xfrm>
            <a:off x="10725150" y="3362325"/>
            <a:ext cx="4000500" cy="60960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noGrp="1"/>
          </p:cNvSpPr>
          <p:nvPr/>
        </p:nvSpPr>
        <p:spPr>
          <a:xfrm>
            <a:off x="10801350" y="4371975"/>
            <a:ext cx="3848100" cy="4095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31" name="文字版面配置區 30">
            <a:extLst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noGrp="1"/>
          </p:cNvSpPr>
          <p:nvPr/>
        </p:nvSpPr>
        <p:spPr>
          <a:xfrm>
            <a:off x="10801350" y="4848225"/>
            <a:ext cx="3848100" cy="8286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 / 200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noGrp="1"/>
          </p:cNvSpPr>
          <p:nvPr/>
        </p:nvSpPr>
        <p:spPr>
          <a:xfrm>
            <a:off x="10801350" y="5962650"/>
            <a:ext cx="38481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5/10；10.08 h</a:t>
            </a:r>
          </a:p>
        </p:txBody>
      </p:sp>
      <p:sp>
        <p:nvSpPr>
          <p:cNvPr id="34" name="文字版面配置區 33">
            <a:extLst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noGrp="1"/>
          </p:cNvSpPr>
          <p:nvPr/>
        </p:nvSpPr>
        <p:spPr>
          <a:xfrm>
            <a:off x="2095500" y="7296150"/>
            <a:ext cx="11734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失敗率依序 6.0%、0.5%、9.0%；33/33/34 最低</a:t>
            </a:r>
          </a:p>
        </p:txBody>
      </p:sp>
      <p:sp>
        <p:nvSpPr>
          <p:cNvPr id="35" name="文字版面配置區 34">
            <a:extLst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noGrp="1"/>
          </p:cNvSpPr>
          <p:nvPr/>
        </p:nvSpPr>
        <p:spPr>
          <a:xfrm>
            <a:off x="2095500" y="7810500"/>
            <a:ext cx="11734800" cy="3238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有效 policy 數與對戰勝率是不同指標；LLM 時間是累積值</a:t>
            </a:r>
          </a:p>
        </p:txBody>
      </p:sp>
      <p:sp>
        <p:nvSpPr>
          <p:cNvPr id="49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B1F5F3F7-FFA8-4C39-A33F-5C8BC338A82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8457C6-1C3B-45DD-921F-F16C99156EA8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E50B732-94F0-41B6-AD46-03FFAF17160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4A1BA2D3-10B3-4E61-82FB-BDEABF01ADBC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918F665B-2D83-40FA-BCEA-D349C54CD58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F4F1AAA-ED05-49D7-A5E5-E7D36F93B698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12FCB146-F173-4E11-B5A7-94B178CB3864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60D843D-BD1D-40D5-A04F-246C84A5AAE1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09/07 的 AOS 設定與比較限制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33/33/34 作為初始分佈，觀察 opponent credit 如何調整機率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已建立的 AOS 實驗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目前能下的結論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模式：aos_opponent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S/C/PC：0.33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最低機率：0.10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 20 代、population 10、seed 7 與 mixed policies。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設定已登錄 09/07 run；來源簡報尚未提供其結果。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33/33/34：這次族群平均與可靠度較佳，可作暫定起點。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20/20/60：保留作 champion 對照。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下一輪比較 static 與 AOS，並追蹤機率、operator credit、GP 與失敗率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AAB7B302-2233-4A32-BBEE-BED6D280D0E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6">
            <a:extLst>
              <a:ext uri="{FF2B5EF4-FFF2-40B4-BE49-F238E27FC236}">
                <a16:creationId xmlns:a16="http://schemas.microsoft.com/office/drawing/2014/main" id="{83D40DEE-8522-45E1-96F5-FF4264998F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2" name="菱形 7">
            <a:extLst>
              <a:ext uri="{FF2B5EF4-FFF2-40B4-BE49-F238E27FC236}">
                <a16:creationId xmlns:a16="http://schemas.microsoft.com/office/drawing/2014/main" id="{4C10B60B-DBF3-4E1D-B8DF-7DB68BF6A304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3" name="矩形: 圓角 8">
            <a:extLst>
              <a:ext uri="{FF2B5EF4-FFF2-40B4-BE49-F238E27FC236}">
                <a16:creationId xmlns:a16="http://schemas.microsoft.com/office/drawing/2014/main" id="{52B30E71-368D-4FAF-BEA9-2EDA105FC2E4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: 圓角 9">
            <a:extLst>
              <a:ext uri="{FF2B5EF4-FFF2-40B4-BE49-F238E27FC236}">
                <a16:creationId xmlns:a16="http://schemas.microsoft.com/office/drawing/2014/main" id="{1F0F7E58-6C07-4FAA-8836-CB5FCAA9585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5" name="矩形 12">
            <a:extLst>
              <a:ext uri="{FF2B5EF4-FFF2-40B4-BE49-F238E27FC236}">
                <a16:creationId xmlns:a16="http://schemas.microsoft.com/office/drawing/2014/main" id="{31F2A20F-9778-4A8F-AB7D-269409ED892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 13">
            <a:extLst>
              <a:ext uri="{FF2B5EF4-FFF2-40B4-BE49-F238E27FC236}">
                <a16:creationId xmlns:a16="http://schemas.microsoft.com/office/drawing/2014/main" id="{F166CBBF-FE1E-4052-9655-7F38D732658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7" name="矩形: 圓角 16">
            <a:extLst>
              <a:ext uri="{FF2B5EF4-FFF2-40B4-BE49-F238E27FC236}">
                <a16:creationId xmlns:a16="http://schemas.microsoft.com/office/drawing/2014/main" id="{57480325-96F1-4CC2-ABE9-010EA6D469B8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本次總結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先把反思做對，再檢查是否讓演化更有效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已由資料支持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下一步驗證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改版已明確區分策略、翻譯規則與 prompt 合規性。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串接驗證確認欄位隔離、Java 繼承與安全拒絕。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比例實驗中，33/33/34 的族群較好；20/20/60 的 champion 較好。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用最後修補版重跑 3 + 3 + 6 的串接驗證。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固定初始 policies，以多個 seeds 比較 static 與 AOS。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75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同時回報 survivor population、champion、失敗階段與時間成本。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暫以 33/33/34 為 AOS 起點，保留 20/20/60 對照，等待多次實驗確認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noGrp="1"/>
          </p:cNvSpPr>
          <p:nvPr/>
        </p:nvSpPr>
        <p:spPr>
          <a:xfrm>
            <a:off x="3200400" y="8229600"/>
            <a:ext cx="95250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buNone/>
              <a:def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rPr>
              <a:t>Uicons by Flaticon · flaticon.com/uicons</a:t>
            </a:r>
          </a:p>
        </p:txBody>
      </p:sp>
      <p:sp>
        <p:nvSpPr>
          <p:cNvPr id="28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8754851-3611-4A91-9874-C02CF3AD3C4E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26</a:t>
            </a:fld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6">
            <a:extLst>
              <a:ext uri="{FF2B5EF4-FFF2-40B4-BE49-F238E27FC236}">
                <a16:creationId xmlns:a16="http://schemas.microsoft.com/office/drawing/2014/main" id="{98C91043-CD86-497F-BBF3-A08415D2985D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31" name="菱形 7">
            <a:extLst>
              <a:ext uri="{FF2B5EF4-FFF2-40B4-BE49-F238E27FC236}">
                <a16:creationId xmlns:a16="http://schemas.microsoft.com/office/drawing/2014/main" id="{686D73B9-2D7D-4054-87ED-319B7BA00DCD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0907 後更新：版本時間軸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追加章節｜09/08 00:00 至 09/09 10:59；依已提交版本整理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noGrp="1"/>
          </p:cNvSpPr>
          <p:nvPr/>
        </p:nvSpPr>
        <p:spPr>
          <a:xfrm>
            <a:off x="1524000" y="28098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noGrp="1"/>
          </p:cNvSpPr>
          <p:nvPr/>
        </p:nvSpPr>
        <p:spPr>
          <a:xfrm>
            <a:off x="2343150" y="26860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08:46｜新增 Code Reflection 評估設定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noGrp="1"/>
          </p:cNvSpPr>
          <p:nvPr/>
        </p:nvSpPr>
        <p:spPr>
          <a:xfrm>
            <a:off x="2343150" y="31242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 與 20×10 實驗設定。348cbe6da1b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noGrp="1"/>
          </p:cNvSpPr>
          <p:nvPr/>
        </p:nvSpPr>
        <p:spPr>
          <a:xfrm>
            <a:off x="1524000" y="373380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noGrp="1"/>
          </p:cNvSpPr>
          <p:nvPr/>
        </p:nvSpPr>
        <p:spPr>
          <a:xfrm>
            <a:off x="2343150" y="360997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08:47｜登錄 5×3 執行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noGrp="1"/>
          </p:cNvSpPr>
          <p:nvPr/>
        </p:nvSpPr>
        <p:spPr>
          <a:xfrm>
            <a:off x="2343150" y="404812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保存小型檢查的 run 對應。dfc4a117610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noGrp="1"/>
          </p:cNvSpPr>
          <p:nvPr/>
        </p:nvSpPr>
        <p:spPr>
          <a:xfrm>
            <a:off x="1524000" y="465772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noGrp="1"/>
          </p:cNvSpPr>
          <p:nvPr/>
        </p:nvSpPr>
        <p:spPr>
          <a:xfrm>
            <a:off x="2343150" y="453390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10:18｜登錄 20×10 執行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noGrp="1"/>
          </p:cNvSpPr>
          <p:nvPr/>
        </p:nvSpPr>
        <p:spPr>
          <a:xfrm>
            <a:off x="2343150" y="497205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保存完整規模的 run 對應。9e855d0f417</a:t>
            </a: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noGrp="1"/>
          </p:cNvSpPr>
          <p:nvPr/>
        </p:nvSpPr>
        <p:spPr>
          <a:xfrm>
            <a:off x="1524000" y="5581650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noGrp="1"/>
          </p:cNvSpPr>
          <p:nvPr/>
        </p:nvSpPr>
        <p:spPr>
          <a:xfrm>
            <a:off x="2343150" y="5457825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12:11｜每代統一產生 Java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noGrp="1"/>
          </p:cNvSpPr>
          <p:nvPr/>
        </p:nvSpPr>
        <p:spPr>
          <a:xfrm>
            <a:off x="2343150" y="5895975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加入三階段流程與 generation_model。eb2d6e23693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noGrp="1"/>
          </p:cNvSpPr>
          <p:nvPr/>
        </p:nvSpPr>
        <p:spPr>
          <a:xfrm>
            <a:off x="1524000" y="6505575"/>
            <a:ext cx="495300" cy="4953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V5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noGrp="1"/>
          </p:cNvSpPr>
          <p:nvPr/>
        </p:nvSpPr>
        <p:spPr>
          <a:xfrm>
            <a:off x="2343150" y="6381750"/>
            <a:ext cx="12096750" cy="4381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10:59｜主分支整合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noGrp="1"/>
          </p:cNvSpPr>
          <p:nvPr/>
        </p:nvSpPr>
        <p:spPr>
          <a:xfrm>
            <a:off x="2343150" y="6819900"/>
            <a:ext cx="1209675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合併簡報資產、skill 與使用量控制。0009cafe6d3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noGrp="1"/>
          </p:cNvSpPr>
          <p:nvPr/>
        </p:nvSpPr>
        <p:spPr>
          <a:xfrm>
            <a:off x="2476500" y="7639050"/>
            <a:ext cx="10972800" cy="514350"/>
          </a:xfrm>
          <a:prstGeom prst="roundRect">
            <a:avLst>
              <a:gd name="adj" fmla="val 14815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noGrp="1"/>
          </p:cNvSpPr>
          <p:nvPr/>
        </p:nvSpPr>
        <p:spPr>
          <a:xfrm>
            <a:off x="2609850" y="76581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以下採新版命名：Strategy / Prompt / Code Reflection</a:t>
            </a:r>
          </a:p>
        </p:txBody>
      </p:sp>
      <p:sp>
        <p:nvSpPr>
          <p:cNvPr id="3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0C933EA0-FC68-4BB2-8191-07AF44FBD0CD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D59E1192-9888-415A-BE4A-B2C56A0456A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948C2950-5B08-44CB-922F-1E864429B6C2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9A35D1B5-5E64-4AE5-AA7F-B0B0DABA31E3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BF9060A5-7C63-4935-88B6-C5F50915A59E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FC9AD3CF-1BD0-4425-8E25-55BE6BE3E22A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21775995-EB50-4C9D-A3E6-4656BFF880C2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97632810-4E92-4D4C-AA85-63FFB9A94A1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V1–V3：評估設定與執行索引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 先檢查行為，20×10 進行較完整的 Code Reflection 評估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共同實驗條件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已登錄的兩組執行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8B；random seed 7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mu_plus_lambda；static operators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/ Code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 0.33 / 0.33 / 0.34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0.75；mutation 1.0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8×8、16×16、24×24 地圖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 3 rounds，交換玩家位置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5×3：5 代、族群大小 3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用於小型行為檢查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run：20260908_084706_819288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20×10：20 代、族群大小 10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用於較完整的評估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run：20260908_101749_429776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執行索引不等於實驗成績；本份摘要沒有提供勝率或 fitness 結果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5F777EF6-06D3-4357-B563-67C41EE72D8C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28</a:t>
            </a:fld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6">
            <a:extLst>
              <a:ext uri="{FF2B5EF4-FFF2-40B4-BE49-F238E27FC236}">
                <a16:creationId xmlns:a16="http://schemas.microsoft.com/office/drawing/2014/main" id="{CE54332A-894C-43AD-9091-E5D90A26DDB5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1" name="菱形 7">
            <a:extLst>
              <a:ext uri="{FF2B5EF4-FFF2-40B4-BE49-F238E27FC236}">
                <a16:creationId xmlns:a16="http://schemas.microsoft.com/office/drawing/2014/main" id="{F0D768E6-F77D-49D8-A909-7E55D6B6714B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42" name="矩形: 圓角 8">
            <a:extLst>
              <a:ext uri="{FF2B5EF4-FFF2-40B4-BE49-F238E27FC236}">
                <a16:creationId xmlns:a16="http://schemas.microsoft.com/office/drawing/2014/main" id="{8A7FA71F-70DB-425A-A2F8-EDBAF3655895}"/>
              </a:ext>
            </a:extLst>
          </p:cNvPr>
          <p:cNvSpPr>
            <a:spLocks noGrp="1"/>
          </p:cNvSpPr>
          <p:nvPr/>
        </p:nvSpPr>
        <p:spPr>
          <a:xfrm>
            <a:off x="1009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3" name="橢圓 9">
            <a:extLst>
              <a:ext uri="{FF2B5EF4-FFF2-40B4-BE49-F238E27FC236}">
                <a16:creationId xmlns:a16="http://schemas.microsoft.com/office/drawing/2014/main" id="{47598297-8FA1-4F02-B520-EB8CE0E4E5AF}"/>
              </a:ext>
            </a:extLst>
          </p:cNvPr>
          <p:cNvSpPr>
            <a:spLocks noGrp="1"/>
          </p:cNvSpPr>
          <p:nvPr/>
        </p:nvSpPr>
        <p:spPr>
          <a:xfrm>
            <a:off x="2962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4" name="矩形: 圓角 12">
            <a:extLst>
              <a:ext uri="{FF2B5EF4-FFF2-40B4-BE49-F238E27FC236}">
                <a16:creationId xmlns:a16="http://schemas.microsoft.com/office/drawing/2014/main" id="{8A0D0993-A041-4DA3-8467-A07F5ED0BECE}"/>
              </a:ext>
            </a:extLst>
          </p:cNvPr>
          <p:cNvSpPr>
            <a:spLocks noGrp="1"/>
          </p:cNvSpPr>
          <p:nvPr/>
        </p:nvSpPr>
        <p:spPr>
          <a:xfrm>
            <a:off x="1828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5" name="矩形 14">
            <a:extLst>
              <a:ext uri="{FF2B5EF4-FFF2-40B4-BE49-F238E27FC236}">
                <a16:creationId xmlns:a16="http://schemas.microsoft.com/office/drawing/2014/main" id="{D4D9184D-DF2F-4856-9DFD-5BFE014748DE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46" name="矩形: 圓角 16">
            <a:extLst>
              <a:ext uri="{FF2B5EF4-FFF2-40B4-BE49-F238E27FC236}">
                <a16:creationId xmlns:a16="http://schemas.microsoft.com/office/drawing/2014/main" id="{70A9F4D9-5C4E-4017-834D-8F55DD139A14}"/>
              </a:ext>
            </a:extLst>
          </p:cNvPr>
          <p:cNvSpPr>
            <a:spLocks noGrp="1"/>
          </p:cNvSpPr>
          <p:nvPr/>
        </p:nvSpPr>
        <p:spPr>
          <a:xfrm>
            <a:off x="57721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47" name="橢圓 17">
            <a:extLst>
              <a:ext uri="{FF2B5EF4-FFF2-40B4-BE49-F238E27FC236}">
                <a16:creationId xmlns:a16="http://schemas.microsoft.com/office/drawing/2014/main" id="{297FD697-036C-469D-A3B5-AACEDD03B886}"/>
              </a:ext>
            </a:extLst>
          </p:cNvPr>
          <p:cNvSpPr>
            <a:spLocks noGrp="1"/>
          </p:cNvSpPr>
          <p:nvPr/>
        </p:nvSpPr>
        <p:spPr>
          <a:xfrm>
            <a:off x="77247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48" name="矩形: 圓角 20">
            <a:extLst>
              <a:ext uri="{FF2B5EF4-FFF2-40B4-BE49-F238E27FC236}">
                <a16:creationId xmlns:a16="http://schemas.microsoft.com/office/drawing/2014/main" id="{05DA59AD-C4C0-45AA-A59E-82BB8A0AE70C}"/>
              </a:ext>
            </a:extLst>
          </p:cNvPr>
          <p:cNvSpPr>
            <a:spLocks noGrp="1"/>
          </p:cNvSpPr>
          <p:nvPr/>
        </p:nvSpPr>
        <p:spPr>
          <a:xfrm>
            <a:off x="65913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49" name="矩形 22">
            <a:extLst>
              <a:ext uri="{FF2B5EF4-FFF2-40B4-BE49-F238E27FC236}">
                <a16:creationId xmlns:a16="http://schemas.microsoft.com/office/drawing/2014/main" id="{B0885541-B094-46B5-86DB-AA680FBD453D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0" name="矩形: 圓角 24">
            <a:extLst>
              <a:ext uri="{FF2B5EF4-FFF2-40B4-BE49-F238E27FC236}">
                <a16:creationId xmlns:a16="http://schemas.microsoft.com/office/drawing/2014/main" id="{CD55E487-62B6-492A-A3E0-6B6AC7917C97}"/>
              </a:ext>
            </a:extLst>
          </p:cNvPr>
          <p:cNvSpPr>
            <a:spLocks noGrp="1"/>
          </p:cNvSpPr>
          <p:nvPr/>
        </p:nvSpPr>
        <p:spPr>
          <a:xfrm>
            <a:off x="10534650" y="2847975"/>
            <a:ext cx="4381500" cy="4724400"/>
          </a:xfrm>
          <a:prstGeom prst="roundRect">
            <a:avLst>
              <a:gd name="adj" fmla="val 3478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51" name="橢圓 25">
            <a:extLst>
              <a:ext uri="{FF2B5EF4-FFF2-40B4-BE49-F238E27FC236}">
                <a16:creationId xmlns:a16="http://schemas.microsoft.com/office/drawing/2014/main" id="{2A30D6FD-B181-4783-BC19-E445C8AC56EF}"/>
              </a:ext>
            </a:extLst>
          </p:cNvPr>
          <p:cNvSpPr>
            <a:spLocks noGrp="1"/>
          </p:cNvSpPr>
          <p:nvPr/>
        </p:nvSpPr>
        <p:spPr>
          <a:xfrm>
            <a:off x="12487275" y="2609850"/>
            <a:ext cx="476250" cy="476250"/>
          </a:xfrm>
          <a:prstGeom prst="ellipse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52" name="矩形: 圓角 28">
            <a:extLst>
              <a:ext uri="{FF2B5EF4-FFF2-40B4-BE49-F238E27FC236}">
                <a16:creationId xmlns:a16="http://schemas.microsoft.com/office/drawing/2014/main" id="{8A5FC5DE-A923-4DD3-9090-A3CC79891477}"/>
              </a:ext>
            </a:extLst>
          </p:cNvPr>
          <p:cNvSpPr>
            <a:spLocks noGrp="1"/>
          </p:cNvSpPr>
          <p:nvPr/>
        </p:nvSpPr>
        <p:spPr>
          <a:xfrm>
            <a:off x="11353800" y="4343400"/>
            <a:ext cx="27432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3" name="矩形 30">
            <a:extLst>
              <a:ext uri="{FF2B5EF4-FFF2-40B4-BE49-F238E27FC236}">
                <a16:creationId xmlns:a16="http://schemas.microsoft.com/office/drawing/2014/main" id="{038EEC44-CBB3-4277-AA34-5FA0EFEDE671}"/>
              </a:ext>
            </a:extLst>
          </p:cNvPr>
          <p:cNvSpPr>
            <a:spLocks noGrp="1"/>
          </p:cNvSpPr>
          <p:nvPr/>
        </p:nvSpPr>
        <p:spPr>
          <a:xfrm>
            <a:off x="10915650" y="4838700"/>
            <a:ext cx="361950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V4：每代分成三個階段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先固定整代 offspring 的選擇與操作，再集中完成 Java materialization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noGrp="1"/>
          </p:cNvSpPr>
          <p:nvPr/>
        </p:nvSpPr>
        <p:spPr>
          <a:xfrm>
            <a:off x="2990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noGrp="1"/>
          </p:cNvSpPr>
          <p:nvPr/>
        </p:nvSpPr>
        <p:spPr>
          <a:xfrm>
            <a:off x="1219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規劃整代子代</a:t>
            </a:r>
          </a:p>
        </p:txBody>
      </p:sp>
      <p:sp>
        <p:nvSpPr>
          <p:cNvPr id="14" name="文字版面配置區 13">
            <a:extLst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noGrp="1"/>
          </p:cNvSpPr>
          <p:nvPr/>
        </p:nvSpPr>
        <p:spPr>
          <a:xfrm>
            <a:off x="1905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plan_offspring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noGrp="1"/>
          </p:cNvSpPr>
          <p:nvPr/>
        </p:nvSpPr>
        <p:spPr>
          <a:xfrm>
            <a:off x="1390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parent selection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/ copy 結果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mutation assignment</a:t>
            </a:r>
          </a:p>
        </p:txBody>
      </p:sp>
      <p:sp>
        <p:nvSpPr>
          <p:cNvPr id="19" name="文字版面配置區 18">
            <a:extLst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noGrp="1"/>
          </p:cNvSpPr>
          <p:nvPr/>
        </p:nvSpPr>
        <p:spPr>
          <a:xfrm>
            <a:off x="77533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文字版面配置區 19">
            <a:extLst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noGrp="1"/>
          </p:cNvSpPr>
          <p:nvPr/>
        </p:nvSpPr>
        <p:spPr>
          <a:xfrm>
            <a:off x="59817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反思與改寫</a:t>
            </a:r>
          </a:p>
        </p:txBody>
      </p:sp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apply mutations</a:t>
            </a:r>
          </a:p>
        </p:txBody>
      </p:sp>
      <p:sp>
        <p:nvSpPr>
          <p:cNvPr id="24" name="文字版面配置區 23">
            <a:extLst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noGrp="1"/>
          </p:cNvSpPr>
          <p:nvPr/>
        </p:nvSpPr>
        <p:spPr>
          <a:xfrm>
            <a:off x="61531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Strategy、Prompt Reflection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Code diagnosis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暫緩 Code revision</a:t>
            </a:r>
          </a:p>
        </p:txBody>
      </p:sp>
      <p:sp>
        <p:nvSpPr>
          <p:cNvPr id="27" name="文字版面配置區 26">
            <a:extLst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noGrp="1"/>
          </p:cNvSpPr>
          <p:nvPr/>
        </p:nvSpPr>
        <p:spPr>
          <a:xfrm>
            <a:off x="12515850" y="2609850"/>
            <a:ext cx="419100" cy="4762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文字版面配置區 27">
            <a:extLst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noGrp="1"/>
          </p:cNvSpPr>
          <p:nvPr/>
        </p:nvSpPr>
        <p:spPr>
          <a:xfrm>
            <a:off x="10744200" y="3743325"/>
            <a:ext cx="3962400" cy="5238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統一產生 Java</a:t>
            </a:r>
          </a:p>
        </p:txBody>
      </p:sp>
      <p:sp>
        <p:nvSpPr>
          <p:cNvPr id="30" name="文字版面配置區 29">
            <a:extLst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noGrp="1"/>
          </p:cNvSpPr>
          <p:nvPr/>
        </p:nvSpPr>
        <p:spPr>
          <a:xfrm>
            <a:off x="11430000" y="4362450"/>
            <a:ext cx="25908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materialize Java</a:t>
            </a:r>
          </a:p>
        </p:txBody>
      </p:sp>
      <p:sp>
        <p:nvSpPr>
          <p:cNvPr id="32" name="文字版面配置區 31">
            <a:extLst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noGrp="1"/>
          </p:cNvSpPr>
          <p:nvPr/>
        </p:nvSpPr>
        <p:spPr>
          <a:xfrm>
            <a:off x="10915650" y="5038725"/>
            <a:ext cx="3619500" cy="21050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完成延後的 Code revision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與一般 Java generation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共用同一階段模型</a:t>
            </a:r>
          </a:p>
        </p:txBody>
      </p:sp>
      <p:sp>
        <p:nvSpPr>
          <p:cNvPr id="34" name="手繪多邊形: 圖案 33">
            <a:extLst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noGrp="1"/>
          </p:cNvSpPr>
          <p:nvPr/>
        </p:nvSpPr>
        <p:spPr>
          <a:xfrm>
            <a:off x="2905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5" name="手繪多邊形: 圖案 34">
            <a:extLst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noGrp="1"/>
          </p:cNvSpPr>
          <p:nvPr/>
        </p:nvSpPr>
        <p:spPr>
          <a:xfrm>
            <a:off x="76676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6" name="手繪多邊形: 圖案 35">
            <a:extLst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noGrp="1"/>
          </p:cNvSpPr>
          <p:nvPr/>
        </p:nvSpPr>
        <p:spPr>
          <a:xfrm>
            <a:off x="12430125" y="3162300"/>
            <a:ext cx="590550" cy="59055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>
            <a:srgbClr val="C77E8C"/>
          </a:solidFill>
          <a:ln w="0">
            <a:noFill/>
          </a:ln>
        </p:spPr>
      </p: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noGrp="1"/>
          </p:cNvSpPr>
          <p:nvPr/>
        </p:nvSpPr>
        <p:spPr>
          <a:xfrm>
            <a:off x="55149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noGrp="1"/>
          </p:cNvSpPr>
          <p:nvPr/>
        </p:nvSpPr>
        <p:spPr>
          <a:xfrm>
            <a:off x="10277475" y="5057775"/>
            <a:ext cx="228600" cy="190500"/>
          </a:xfrm>
          <a:prstGeom prst="rightArrow">
            <a:avLst/>
          </a:prstGeom>
          <a:solidFill>
            <a:srgbClr val="C77E8C"/>
          </a:solidFill>
          <a:ln w="0">
            <a:noFill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noGrp="1"/>
          </p:cNvSpPr>
          <p:nvPr/>
        </p:nvSpPr>
        <p:spPr>
          <a:xfrm>
            <a:off x="1714500" y="7839075"/>
            <a:ext cx="12496800" cy="381000"/>
          </a:xfrm>
          <a:prstGeom prst="rect">
            <a:avLst/>
          </a:prstGeom>
          <a:noFill/>
          <a:ln w="0">
            <a:noFill/>
          </a:ln>
        </p:spPr>
        <p:txBody>
          <a:bodyPr lIns="57150" tIns="19050" rIns="57150" bIns="19050" anchor="ctr">
            <a:noAutofit/>
          </a:bodyPr>
          <a:lstStyle/>
          <a:p>
            <a:pPr algn="ctr">
              <a:buNone/>
              <a:def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diagnosis 在反思階段完成；Code revision 延後至 Java materialization 階段</a:t>
            </a:r>
          </a:p>
        </p:txBody>
      </p:sp>
      <p:sp>
        <p:nvSpPr>
          <p:cNvPr id="54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0B27035-AE5F-4887-91A1-DCE3DDAE9F66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E15C6629-C420-4F01-B5D5-F8F8E40ACD2C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C76170F2-0129-4256-B5B6-C16DB87BB58E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1B78C0E7-9517-4E62-896A-1CBA0A4BE829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FDC4AB3A-B3FC-4DA0-9D30-59AB637A5B86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A83435EF-C373-4688-86A3-6403F89DAAB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F074093-08E7-4AE6-B225-4200F5A1DF70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669D7AD2-9209-4C00-9518-7FFB38A22DBA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V4：模型職責可以分開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generation_model 為選填；未設定時沿用 model，保留單模型相容性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model：反思階段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generation_model：產碼階段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負責初始化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先完成整代操作分配與反思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diagnosis 在此完成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不在反思階段立即執行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延後的 Code revision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負責最終 Java materialization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若使用不同模型：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 llama.cpp runtime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於階段邊界切換，並執行 preflight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新執行、resume 與 inspection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都納入模型階段處理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主要改動是執行階段與模型分工；摘要未描述 fitness 或 lexicase 規則調整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88189139-BE7C-45C9-96F7-7305D9DCAFD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484201EF-4B00-43E4-9A25-558DEC030F27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2A669D8-7B29-4C64-B2B6-8155584D8358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BC4A64A6-C965-4F12-B022-5370E5E9834B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2D76A01-08A9-4BEE-8133-9C89E8500CE7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5F3BD594-84DF-4A49-A824-9FD6E303DEF1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F8A4096A-B486-4467-B38F-65F35777050F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73D3C536-AA2C-41E1-B2FD-E398BEDC2616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V4：反思與修碼可分開追蹤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schema：eagle-code-reflection-v3 → v4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Diagnosis 與 revision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紀錄、續跑與測試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Diagnosis 先執行，revision 後執行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Revision 初始狀態可為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pending / not_required / not_run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分開記錄兩段 LLM 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code_reflector_llm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code_revision_llm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Compact record 記錄反思與修碼模型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status / attempts / error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SHA-256 / java_changed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新執行與 resume 共用三階段流程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create_offspring 保留相容 wrapper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測試涵蓋 deferred revision、流程順序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launcher、初始化與 runtime workflow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架構、操作指南與 artifact / timing schema 同步更新至新的 phase contract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E9A90875-FAF7-4858-A824-A9046D74313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82874B6A-AFA2-4AE5-AA64-DD72AA7EB980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53A91C73-4F27-4541-B33B-E76112C75AEA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326F057C-B9CB-458F-AA6B-51D19B23A08A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5884E067-3FAE-4AD9-B8CC-FC0C0A507CBB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361F2BBD-D586-4C92-B5C4-C8DBF1E84533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D09D15D0-0485-4F17-95B8-7FD216B87597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58E11808-9CD7-4066-97BD-CAE87F461C92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V4：單模型與雙模型比較設定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20×10 條件與 0.33 / 0.33 / 0.34 比例，聚焦 final Java model 差異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Ministral-only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 → Qwen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設定：01_ministral3_8b_only_20x10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195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設定：02_ministral3_8b_to_qwen3_5_9b_20x10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這裡比較的是已提交設定；摘要未提供兩種模型配置的執行成績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CB4ED994-4E3A-4692-804F-96B89182C010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6">
            <a:extLst>
              <a:ext uri="{FF2B5EF4-FFF2-40B4-BE49-F238E27FC236}">
                <a16:creationId xmlns:a16="http://schemas.microsoft.com/office/drawing/2014/main" id="{7AAE931E-A968-45D7-BD08-0DBEC52B0CFA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1" name="菱形 7">
            <a:extLst>
              <a:ext uri="{FF2B5EF4-FFF2-40B4-BE49-F238E27FC236}">
                <a16:creationId xmlns:a16="http://schemas.microsoft.com/office/drawing/2014/main" id="{4973FAD8-D782-4880-A801-AB169C45F43F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22" name="矩形: 圓角 8">
            <a:extLst>
              <a:ext uri="{FF2B5EF4-FFF2-40B4-BE49-F238E27FC236}">
                <a16:creationId xmlns:a16="http://schemas.microsoft.com/office/drawing/2014/main" id="{2DEEC3C2-50A2-4A17-95C6-33B7562191D7}"/>
              </a:ext>
            </a:extLst>
          </p:cNvPr>
          <p:cNvSpPr>
            <a:spLocks noGrp="1"/>
          </p:cNvSpPr>
          <p:nvPr/>
        </p:nvSpPr>
        <p:spPr>
          <a:xfrm>
            <a:off x="114300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3" name="矩形: 圓角 9">
            <a:extLst>
              <a:ext uri="{FF2B5EF4-FFF2-40B4-BE49-F238E27FC236}">
                <a16:creationId xmlns:a16="http://schemas.microsoft.com/office/drawing/2014/main" id="{D10D47BC-912F-444F-9A4A-F9ABE3A7F650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6572250" cy="4286250"/>
          </a:xfrm>
          <a:prstGeom prst="roundRect">
            <a:avLst>
              <a:gd name="adj" fmla="val 3556"/>
            </a:avLst>
          </a:prstGeom>
          <a:solidFill>
            <a:srgbClr val="FCF8F5"/>
          </a:solidFill>
          <a:ln w="19050">
            <a:solidFill>
              <a:srgbClr val="CF9BA5"/>
            </a:solidFill>
          </a:ln>
        </p:spPr>
      </p:sp>
      <p:sp>
        <p:nvSpPr>
          <p:cNvPr id="24" name="矩形 12">
            <a:extLst>
              <a:ext uri="{FF2B5EF4-FFF2-40B4-BE49-F238E27FC236}">
                <a16:creationId xmlns:a16="http://schemas.microsoft.com/office/drawing/2014/main" id="{28A876CB-EB61-4E1B-A7A7-663D26C2C21E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5" name="矩形 13">
            <a:extLst>
              <a:ext uri="{FF2B5EF4-FFF2-40B4-BE49-F238E27FC236}">
                <a16:creationId xmlns:a16="http://schemas.microsoft.com/office/drawing/2014/main" id="{CCFC3A59-3782-48D8-BA52-33939D05027A}"/>
              </a:ext>
            </a:extLst>
          </p:cNvPr>
          <p:cNvSpPr>
            <a:spLocks noGrp="1"/>
          </p:cNvSpPr>
          <p:nvPr/>
        </p:nvSpPr>
        <p:spPr>
          <a:xfrm>
            <a:off x="8591550" y="4067175"/>
            <a:ext cx="58102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26" name="矩形: 圓角 16">
            <a:extLst>
              <a:ext uri="{FF2B5EF4-FFF2-40B4-BE49-F238E27FC236}">
                <a16:creationId xmlns:a16="http://schemas.microsoft.com/office/drawing/2014/main" id="{19D56742-EBEF-4592-8BD7-0F222FCED79D}"/>
              </a:ext>
            </a:extLst>
          </p:cNvPr>
          <p:cNvSpPr>
            <a:spLocks noGrp="1"/>
          </p:cNvSpPr>
          <p:nvPr/>
        </p:nvSpPr>
        <p:spPr>
          <a:xfrm>
            <a:off x="3238500" y="7620000"/>
            <a:ext cx="9448800" cy="409575"/>
          </a:xfrm>
          <a:prstGeom prst="roundRect">
            <a:avLst>
              <a:gd name="adj" fmla="val 37209"/>
            </a:avLst>
          </a:prstGeom>
          <a:solidFill>
            <a:srgbClr val="F4DEA0"/>
          </a:solidFill>
          <a:ln w="0">
            <a:noFill/>
          </a:ln>
        </p:spPr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286000" y="438150"/>
            <a:ext cx="11353800" cy="10477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V5 整合與本次更新重點</a:t>
            </a:r>
          </a:p>
        </p:txBody>
      </p:sp>
      <p:sp>
        <p:nvSpPr>
          <p:cNvPr id="6" name="副標題 5">
            <a:extLst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76500" y="1533525"/>
            <a:ext cx="10972800" cy="4667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截至 0009cafe6d3｜0907 後的重點是可重現性、整代流程與模型分工</a:t>
            </a:r>
          </a:p>
        </p:txBody>
      </p:sp>
      <p:sp>
        <p:nvSpPr>
          <p:cNvPr id="11" name="文字版面配置區 10">
            <a:extLst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noGrp="1"/>
          </p:cNvSpPr>
          <p:nvPr/>
        </p:nvSpPr>
        <p:spPr>
          <a:xfrm>
            <a:off x="152400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合併帶入的內容</a:t>
            </a:r>
          </a:p>
        </p:txBody>
      </p:sp>
      <p:sp>
        <p:nvSpPr>
          <p:cNvPr id="12" name="文字版面配置區 11">
            <a:extLst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noGrp="1"/>
          </p:cNvSpPr>
          <p:nvPr/>
        </p:nvSpPr>
        <p:spPr>
          <a:xfrm>
            <a:off x="8591550" y="3257550"/>
            <a:ext cx="5810250" cy="628650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目前可以確認的改變</a:t>
            </a:r>
          </a:p>
        </p:txBody>
      </p:sp>
      <p:sp>
        <p:nvSpPr>
          <p:cNvPr id="15" name="文字版面配置區 14">
            <a:extLst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noGrp="1"/>
          </p:cNvSpPr>
          <p:nvPr/>
        </p:nvSpPr>
        <p:spPr>
          <a:xfrm>
            <a:off x="152400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0910 簡報與 PowerPoint template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reference-matched presentation skill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Codex usage controller 開關與測試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依剩餘天數計算 reserve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AGENTS.md 控制器說明更新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合併時間不代表功能首次完成時間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來源提交包含 08/30、08/31 與 09/07</a:t>
            </a:r>
          </a:p>
        </p:txBody>
      </p:sp>
      <p:sp>
        <p:nvSpPr>
          <p:cNvPr id="16" name="文字版面配置區 15">
            <a:extLst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noGrp="1"/>
          </p:cNvSpPr>
          <p:nvPr/>
        </p:nvSpPr>
        <p:spPr>
          <a:xfrm>
            <a:off x="8591550" y="4457700"/>
            <a:ext cx="5810250" cy="233362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實驗可重現性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5×3、20×10 設定與執行索引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整代流程明確化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先規劃 → 再反思 → 統一產生 Java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endParaRPr sz="2100" b="0">
              <a:solidFill>
                <a:srgbClr val="423C3B"/>
              </a:solidFill>
              <a:latin typeface="Source Han Serif TW"/>
              <a:ea typeface="Source Han Serif TW"/>
              <a:cs typeface="Source Han Serif TW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模型職責分離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與 generation 可用不同模型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並同步 artifacts、resume、文件與測試</a:t>
            </a:r>
          </a:p>
        </p:txBody>
      </p:sp>
      <p:sp>
        <p:nvSpPr>
          <p:cNvPr id="18" name="文字版面配置區 17">
            <a:extLst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noGrp="1"/>
          </p:cNvSpPr>
          <p:nvPr/>
        </p:nvSpPr>
        <p:spPr>
          <a:xfrm>
            <a:off x="3314700" y="7639050"/>
            <a:ext cx="9296400" cy="371475"/>
          </a:xfrm>
          <a:prstGeom prst="rect">
            <a:avLst/>
          </a:prstGeom>
          <a:noFill/>
          <a:ln w="0">
            <a:noFill/>
          </a:ln>
        </p:spPr>
        <p:txBody>
          <a:bodyPr lIns="57150" tIns="28575" rIns="57150" bIns="28575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相對 09/07 基準：5 個提交、43 個檔案；1,524 行新增、320 行刪除</a:t>
            </a:r>
          </a:p>
        </p:txBody>
      </p:sp>
      <p:sp>
        <p:nvSpPr>
          <p:cNvPr id="27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74855D0D-2379-4AB2-A079-A9FB71921E68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6">
            <a:extLst>
              <a:ext uri="{FF2B5EF4-FFF2-40B4-BE49-F238E27FC236}">
                <a16:creationId xmlns:a16="http://schemas.microsoft.com/office/drawing/2014/main" id="{56EC181D-6D55-4FE2-8465-6477E53C97EF}"/>
              </a:ext>
            </a:extLst>
          </p:cNvPr>
          <p:cNvSpPr>
            <a:spLocks noGrp="1"/>
          </p:cNvSpPr>
          <p:nvPr/>
        </p:nvSpPr>
        <p:spPr>
          <a:xfrm>
            <a:off x="6334125" y="2133600"/>
            <a:ext cx="3257550" cy="14288"/>
          </a:xfrm>
          <a:prstGeom prst="rect">
            <a:avLst/>
          </a:prstGeom>
          <a:solidFill>
            <a:srgbClr val="DEB4BA"/>
          </a:solidFill>
          <a:ln w="0">
            <a:noFill/>
          </a:ln>
        </p:spPr>
      </p:sp>
      <p:sp>
        <p:nvSpPr>
          <p:cNvPr id="11" name="菱形 7">
            <a:extLst>
              <a:ext uri="{FF2B5EF4-FFF2-40B4-BE49-F238E27FC236}">
                <a16:creationId xmlns:a16="http://schemas.microsoft.com/office/drawing/2014/main" id="{C4F4EA3C-99FA-43EF-886C-A170556A9CE9}"/>
              </a:ext>
            </a:extLst>
          </p:cNvPr>
          <p:cNvSpPr>
            <a:spLocks noGrp="1"/>
          </p:cNvSpPr>
          <p:nvPr/>
        </p:nvSpPr>
        <p:spPr>
          <a:xfrm>
            <a:off x="7905750" y="2076450"/>
            <a:ext cx="114300" cy="114300"/>
          </a:xfrm>
          <a:prstGeom prst="diamond">
            <a:avLst/>
          </a:prstGeom>
          <a:solidFill>
            <a:srgbClr val="CF8792"/>
          </a:solidFill>
          <a:ln w="0">
            <a:noFill/>
          </a:ln>
        </p:spPr>
      </p:sp>
      <p:sp>
        <p:nvSpPr>
          <p:cNvPr id="9" name="標題 8">
            <a:extLst>
              <a:ext uri="{FF2B5EF4-FFF2-40B4-BE49-F238E27FC236}">
                <a16:creationId xmlns:a16="http://schemas.microsoft.com/office/drawing/2014/main" id="{9A3E47C8-241C-4652-ADFB-808B50C9EC4B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2760562" y="3957637"/>
            <a:ext cx="11353800" cy="1047750"/>
          </a:xfrm>
        </p:spPr>
        <p:txBody>
          <a:bodyPr lIns="57150" tIns="28575" rIns="57150" bIns="28575" anchor="ctr">
            <a:noAutofit/>
          </a:bodyPr>
          <a:lstStyle/>
          <a:p>
            <a: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Evolutionary Agent Generation through LLM-guided Exploration: A Case Study on </a:t>
            </a:r>
            <a:r>
              <a:rPr lang="en-US" altLang="zh-TW" sz="2000" kern="15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  <a:t>MicroRTS</a:t>
            </a: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br>
              <a:rPr lang="en-US" altLang="zh-TW" sz="2000" kern="150" dirty="0">
                <a:effectLst/>
                <a:latin typeface="Times New Roman" panose="02020603050405020304" pitchFamily="18" charset="0"/>
                <a:ea typeface="標楷體" panose="03000509000000000000" pitchFamily="65" charset="-120"/>
              </a:rPr>
            </a:br>
            <a:r>
              <a:rPr lang="zh-TW" altLang="en-US" sz="2000" dirty="0"/>
              <a:t>大型語言模型引導探索的演化式代理生成</a:t>
            </a:r>
            <a:endParaRPr lang="zh-TW" altLang="en-US" sz="4800" dirty="0"/>
          </a:p>
        </p:txBody>
      </p:sp>
      <p:sp>
        <p:nvSpPr>
          <p:cNvPr id="12" name="Slide Number"/>
          <p:cNvSpPr>
            <a:spLocks noGrp="1"/>
          </p:cNvSpPr>
          <p:nvPr>
            <p:ph type="sldNum" sz="quarter" idx="90"/>
          </p:nvPr>
        </p:nvSpPr>
        <p:spPr>
          <a:xfrm>
            <a:off x="7296150" y="847725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lIns="76200" tIns="28575" rIns="76200" bIns="28575" anchor="ctr">
            <a:noAutofit/>
          </a:bodyPr>
          <a:lstStyle/>
          <a:p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fld id="{952898EE-C1A9-41E4-B68C-6697ADA178FA}" type="slidenum"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460788526"/>
      </p:ext>
    </p:extLst>
  </p:cSld>
  <p:clrMapOvr>
    <a:masterClrMapping/>
  </p:clrMapOvr>
</p:sld>
</file>

<file path=ppt/theme/theme1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EAGLE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14333</Words>
  <Application>Microsoft Office PowerPoint</Application>
  <DocSecurity>0</DocSecurity>
  <PresentationFormat>自訂</PresentationFormat>
  <Paragraphs>1854</Paragraphs>
  <Slides>34</Slides>
  <Notes>33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7" baseType="lpstr">
      <vt:lpstr>Source Han Serif TW</vt:lpstr>
      <vt:lpstr>Times New Roman</vt:lpstr>
      <vt:lpstr>ChatGPT</vt:lpstr>
      <vt:lpstr>EAGLE 研究進展</vt:lpstr>
      <vt:lpstr>這段時間改了什麼</vt:lpstr>
      <vt:lpstr>09/04 改版的核心</vt:lpstr>
      <vt:lpstr>EAGLE 目前完整流程</vt:lpstr>
      <vt:lpstr>EAGLE 演化的對象</vt:lpstr>
      <vt:lpstr>初始 Policy 的歷史比較</vt:lpstr>
      <vt:lpstr>本期的初始族群配置</vt:lpstr>
      <vt:lpstr>三種 Operator 選擇模式</vt:lpstr>
      <vt:lpstr>三種 Reflection 的責任邊界</vt:lpstr>
      <vt:lpstr>實驗分成四個階段</vt:lpstr>
      <vt:lpstr>實驗一：同一父代、三種反思</vt:lpstr>
      <vt:lpstr>實驗一：8 / 9 次成功套用</vt:lpstr>
      <vt:lpstr>實驗一：各次 trial 暴露的問題</vt:lpstr>
      <vt:lpstr>實驗二：補規則後仍有錯誤</vt:lpstr>
      <vt:lpstr>實驗二：Strategy 的三個變體</vt:lpstr>
      <vt:lpstr>實驗二：Code 與 Balance 的問題</vt:lpstr>
      <vt:lpstr>實驗三：用上游子代驗證 Compliance</vt:lpstr>
      <vt:lpstr>實驗三：10 / 12 次安全套用</vt:lpstr>
      <vt:lpstr>實驗三：兩次拒絕與後續修補</vt:lpstr>
      <vt:lpstr>實驗四：三種固定比例</vt:lpstr>
      <vt:lpstr>比例實驗的整體結果</vt:lpstr>
      <vt:lpstr>每代生存者的平均 GP</vt:lpstr>
      <vt:lpstr>600 場 Final Test 的 champion 結果</vt:lpstr>
      <vt:lpstr>可靠度與 LLM 成本</vt:lpstr>
      <vt:lpstr>09/07 的 AOS 設定與比較限制</vt:lpstr>
      <vt:lpstr>本次總結</vt:lpstr>
      <vt:lpstr>0907 後更新：版本時間軸</vt:lpstr>
      <vt:lpstr>V1–V3：評估設定與執行索引</vt:lpstr>
      <vt:lpstr>V4：每代分成三個階段</vt:lpstr>
      <vt:lpstr>V4：模型職責可以分開</vt:lpstr>
      <vt:lpstr>V4：反思與修碼可分開追蹤</vt:lpstr>
      <vt:lpstr>V4：單模型與雙模型比較設定</vt:lpstr>
      <vt:lpstr>V5 整合與本次更新重點</vt:lpstr>
      <vt:lpstr>Evolutionary Agent Generation through LLM-guided Exploration: A Case Study on MicroRTS  大型語言模型引導探索的演化式代理生成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Sophie Lien</cp:lastModifiedBy>
  <cp:revision>2</cp:revision>
  <dcterms:created xsi:type="dcterms:W3CDTF">2026-09-09T05:14:55Z</dcterms:created>
  <dcterms:modified xsi:type="dcterms:W3CDTF">2026-09-09T05:21:08Z</dcterms:modified>
</cp:coreProperties>
</file>