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slides/charts/chart1.xml" ContentType="application/vnd.openxmlformats-officedocument.drawingml.chart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slides/charts/chart2.xml" ContentType="application/vnd.openxmlformats-officedocument.drawingml.chart+xml"/>
  <Override PartName="/ppt/slides/charts/chart3.xml" ContentType="application/vnd.openxmlformats-officedocument.drawingml.chart+xml"/>
  <Override PartName="/ppt/slides/charts/chart4.xml" ContentType="application/vnd.openxmlformats-officedocument.drawingml.chart+xml"/>
  <Override PartName="/ppt/slides/charts/chart5.xml" ContentType="application/vnd.openxmlformats-officedocument.drawingml.chart+xml"/>
  <Override PartName="/ppt/slides/charts/chart6.xml" ContentType="application/vnd.openxmlformats-officedocument.drawingml.chart+xml"/>
  <Override PartName="/ppt/slides/charts/chart7.xml" ContentType="application/vnd.openxmlformats-officedocument.drawingml.chart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slides/charts/chart8.xml" ContentType="application/vnd.openxmlformats-officedocument.drawingml.chart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slides/charts/chart9.xml" ContentType="application/vnd.openxmlformats-officedocument.drawingml.chart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84477bbfb2d4faa" /><Relationship Type="http://schemas.openxmlformats.org/officeDocument/2006/relationships/extended-properties" Target="/docProps/app.xml" Id="Rb83693636e8d417c" /><Relationship Type="http://schemas.openxmlformats.org/officeDocument/2006/relationships/officeDocument" Target="/ppt/presentation.xml" Id="Rcc8e3941c8254c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b2132e1c07c4bb6"/>
  </p:sldMasterIdLst>
  <p:notesMasterIdLst>
    <p:notesMasterId xmlns:r="http://schemas.openxmlformats.org/officeDocument/2006/relationships" r:id="R2c4b46236b264e79"/>
  </p:notesMasterIdLst>
  <p:sldIdLst>
    <p:sldId xmlns:r="http://schemas.openxmlformats.org/officeDocument/2006/relationships" id="256" r:id="R8b67268d321e4c8f"/>
    <p:sldId xmlns:r="http://schemas.openxmlformats.org/officeDocument/2006/relationships" id="257" r:id="Raba966f9e75f40c8"/>
    <p:sldId xmlns:r="http://schemas.openxmlformats.org/officeDocument/2006/relationships" id="258" r:id="Rb642d9cc672f44b4"/>
    <p:sldId xmlns:r="http://schemas.openxmlformats.org/officeDocument/2006/relationships" id="259" r:id="Rac2479aa96bd4af5"/>
    <p:sldId xmlns:r="http://schemas.openxmlformats.org/officeDocument/2006/relationships" id="260" r:id="R43d1c7fc98f84687"/>
    <p:sldId xmlns:r="http://schemas.openxmlformats.org/officeDocument/2006/relationships" id="261" r:id="Rbffddf91ed924121"/>
    <p:sldId xmlns:r="http://schemas.openxmlformats.org/officeDocument/2006/relationships" id="262" r:id="Re6c50cf78eee4b9c"/>
    <p:sldId xmlns:r="http://schemas.openxmlformats.org/officeDocument/2006/relationships" id="263" r:id="R57809496db254c54"/>
    <p:sldId xmlns:r="http://schemas.openxmlformats.org/officeDocument/2006/relationships" id="264" r:id="Rcb9d8cefced24358"/>
    <p:sldId xmlns:r="http://schemas.openxmlformats.org/officeDocument/2006/relationships" id="265" r:id="R9bb6a7f861aa4465"/>
    <p:sldId xmlns:r="http://schemas.openxmlformats.org/officeDocument/2006/relationships" id="266" r:id="R48c55908c9e64d5b"/>
    <p:sldId xmlns:r="http://schemas.openxmlformats.org/officeDocument/2006/relationships" id="267" r:id="R5b08611a384a47ef"/>
    <p:sldId xmlns:r="http://schemas.openxmlformats.org/officeDocument/2006/relationships" id="268" r:id="R86890f5d776540f2"/>
    <p:sldId xmlns:r="http://schemas.openxmlformats.org/officeDocument/2006/relationships" id="269" r:id="Rd2902c6cd8594170"/>
    <p:sldId xmlns:r="http://schemas.openxmlformats.org/officeDocument/2006/relationships" id="270" r:id="Rfc177f758b9a4bcb"/>
    <p:sldId xmlns:r="http://schemas.openxmlformats.org/officeDocument/2006/relationships" id="271" r:id="R8c6ce42f96304102"/>
    <p:sldId xmlns:r="http://schemas.openxmlformats.org/officeDocument/2006/relationships" id="272" r:id="R76d1a29d9bad4eb4"/>
    <p:sldId xmlns:r="http://schemas.openxmlformats.org/officeDocument/2006/relationships" id="273" r:id="R2dbb8b67afb744ee"/>
    <p:sldId xmlns:r="http://schemas.openxmlformats.org/officeDocument/2006/relationships" id="274" r:id="Reecf4a1486dd44d6"/>
    <p:sldId xmlns:r="http://schemas.openxmlformats.org/officeDocument/2006/relationships" id="275" r:id="Rae1146147b134885"/>
    <p:sldId xmlns:r="http://schemas.openxmlformats.org/officeDocument/2006/relationships" id="276" r:id="R0495165ee5894b6e"/>
    <p:sldId xmlns:r="http://schemas.openxmlformats.org/officeDocument/2006/relationships" id="277" r:id="Rf29a741b26c14be5"/>
    <p:sldId xmlns:r="http://schemas.openxmlformats.org/officeDocument/2006/relationships" id="278" r:id="R8b7387179cf0440b"/>
    <p:sldId xmlns:r="http://schemas.openxmlformats.org/officeDocument/2006/relationships" id="279" r:id="Rf48e2bd3127e4216"/>
    <p:sldId xmlns:r="http://schemas.openxmlformats.org/officeDocument/2006/relationships" id="280" r:id="R277d2954d5264e0a"/>
    <p:sldId xmlns:r="http://schemas.openxmlformats.org/officeDocument/2006/relationships" id="281" r:id="R8d2a48cc0a284479"/>
    <p:sldId xmlns:r="http://schemas.openxmlformats.org/officeDocument/2006/relationships" id="282" r:id="R2fe1e07ddd6c4fbc"/>
    <p:sldId xmlns:r="http://schemas.openxmlformats.org/officeDocument/2006/relationships" id="283" r:id="R3db57f874f684d0f"/>
    <p:sldId xmlns:r="http://schemas.openxmlformats.org/officeDocument/2006/relationships" id="284" r:id="R646cc20510ae4a38"/>
    <p:sldId xmlns:r="http://schemas.openxmlformats.org/officeDocument/2006/relationships" id="285" r:id="R12f469bb178443b6"/>
    <p:sldId xmlns:r="http://schemas.openxmlformats.org/officeDocument/2006/relationships" id="286" r:id="R447e22b665f043f4"/>
    <p:sldId xmlns:r="http://schemas.openxmlformats.org/officeDocument/2006/relationships" id="287" r:id="Rcf52effb50ad480c"/>
    <p:sldId xmlns:r="http://schemas.openxmlformats.org/officeDocument/2006/relationships" id="288" r:id="Rec3511aa4c8540cf"/>
    <p:sldId xmlns:r="http://schemas.openxmlformats.org/officeDocument/2006/relationships" id="289" r:id="R36fb63e9c3ae487f"/>
    <p:sldId xmlns:r="http://schemas.openxmlformats.org/officeDocument/2006/relationships" id="290" r:id="R1c19c00cf53c4750"/>
    <p:sldId xmlns:r="http://schemas.openxmlformats.org/officeDocument/2006/relationships" id="291" r:id="R8d1c3aea64d4470e"/>
    <p:sldId xmlns:r="http://schemas.openxmlformats.org/officeDocument/2006/relationships" id="292" r:id="Rbc8af67ce77f4b66"/>
    <p:sldId xmlns:r="http://schemas.openxmlformats.org/officeDocument/2006/relationships" id="293" r:id="R14cb6bf9d3ed47eb"/>
    <p:sldId xmlns:r="http://schemas.openxmlformats.org/officeDocument/2006/relationships" id="294" r:id="R0e6cdc833f30403f"/>
    <p:sldId xmlns:r="http://schemas.openxmlformats.org/officeDocument/2006/relationships" id="295" r:id="R1ce3755fba194db3"/>
    <p:sldId xmlns:r="http://schemas.openxmlformats.org/officeDocument/2006/relationships" id="296" r:id="Rc1f53b153053424f"/>
    <p:sldId xmlns:r="http://schemas.openxmlformats.org/officeDocument/2006/relationships" id="297" r:id="R72ff4cf0d1f3477b"/>
    <p:sldId xmlns:r="http://schemas.openxmlformats.org/officeDocument/2006/relationships" id="298" r:id="R896b44fd135e4cbb"/>
    <p:sldId xmlns:r="http://schemas.openxmlformats.org/officeDocument/2006/relationships" id="299" r:id="R0615f5bec01d4cd5"/>
    <p:sldId xmlns:r="http://schemas.openxmlformats.org/officeDocument/2006/relationships" id="300" r:id="R78fb2f3dacf341f4"/>
  </p:sldIdLst>
  <p:sldSz cx="15925800" cy="8963025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8497E131-5584-4FF0-9A17-202609170001}">
  <a:tblStyle styleId="{8497E131-5584-4FF0-9A17-202609170001}" styleName="EAGLE 0917 Rose">
    <a:wholeTbl>
      <a:tcTxStyle b="off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CF8F5"/>
          </a:solidFill>
        </a:fill>
      </a:tcStyle>
    </a:wholeTbl>
    <a:fir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DEB4BA"/>
          </a:solidFill>
        </a:fill>
      </a:tcStyle>
    </a:firstRow>
    <a:lastRow>
      <a:tcTxStyle b="on">
        <a:fontRef idx="minor">
          <a:srgbClr val="423C3B"/>
        </a:fontRef>
        <a:srgbClr val="423C3B"/>
      </a:tcTxStyle>
      <a:tcStyle>
        <a:tcBdr>
          <a:left>
            <a:ln w="6350">
              <a:solidFill>
                <a:srgbClr val="423C3B"/>
              </a:solidFill>
              <a:prstDash val="solid"/>
            </a:ln>
          </a:left>
          <a:right>
            <a:ln w="6350">
              <a:solidFill>
                <a:srgbClr val="423C3B"/>
              </a:solidFill>
              <a:prstDash val="solid"/>
            </a:ln>
          </a:right>
          <a:top>
            <a:ln w="6350">
              <a:solidFill>
                <a:srgbClr val="423C3B"/>
              </a:solidFill>
              <a:prstDash val="solid"/>
            </a:ln>
          </a:top>
          <a:bottom>
            <a:ln w="6350">
              <a:solidFill>
                <a:srgbClr val="423C3B"/>
              </a:solidFill>
              <a:prstDash val="solid"/>
            </a:ln>
          </a:bottom>
          <a:insideH>
            <a:ln w="6350">
              <a:solidFill>
                <a:srgbClr val="423C3B"/>
              </a:solidFill>
              <a:prstDash val="solid"/>
            </a:ln>
          </a:insideH>
          <a:insideV>
            <a:ln w="6350">
              <a:solidFill>
                <a:srgbClr val="423C3B"/>
              </a:solidFill>
              <a:prstDash val="solid"/>
            </a:ln>
          </a:insideV>
        </a:tcBdr>
        <a:fill>
          <a:solidFill>
            <a:srgbClr val="FAEDC6"/>
          </a:solidFill>
        </a:fill>
      </a:tcStyle>
    </a:la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3da5a0523b452c" /><Relationship Type="http://schemas.openxmlformats.org/officeDocument/2006/relationships/slideMaster" Target="/ppt/slideMasters/slideMaster1.xml" Id="R5b2132e1c07c4bb6" /><Relationship Type="http://schemas.openxmlformats.org/officeDocument/2006/relationships/notesMaster" Target="/ppt/notesMasters/notesMaster1.xml" Id="R2c4b46236b264e79" /><Relationship Type="http://schemas.openxmlformats.org/officeDocument/2006/relationships/presProps" Target="/ppt/presProps.xml" Id="R49cccfd8e50940f9" /><Relationship Type="http://schemas.openxmlformats.org/officeDocument/2006/relationships/viewProps" Target="/ppt/viewProps.xml" Id="R02c3c90b4235410b" /><Relationship Type="http://schemas.openxmlformats.org/officeDocument/2006/relationships/tableStyles" Target="/ppt/tableStyles.xml" Id="R0035d27ee623409e" /><Relationship Type="http://schemas.openxmlformats.org/officeDocument/2006/relationships/slide" Target="/ppt/slides/slide1.xml" Id="R8b67268d321e4c8f" /><Relationship Type="http://schemas.openxmlformats.org/officeDocument/2006/relationships/slide" Target="/ppt/slides/slide2.xml" Id="Raba966f9e75f40c8" /><Relationship Type="http://schemas.openxmlformats.org/officeDocument/2006/relationships/slide" Target="/ppt/slides/slide3.xml" Id="Rb642d9cc672f44b4" /><Relationship Type="http://schemas.openxmlformats.org/officeDocument/2006/relationships/slide" Target="/ppt/slides/slide4.xml" Id="Rac2479aa96bd4af5" /><Relationship Type="http://schemas.openxmlformats.org/officeDocument/2006/relationships/slide" Target="/ppt/slides/slide5.xml" Id="R43d1c7fc98f84687" /><Relationship Type="http://schemas.openxmlformats.org/officeDocument/2006/relationships/slide" Target="/ppt/slides/slide6.xml" Id="Rbffddf91ed924121" /><Relationship Type="http://schemas.openxmlformats.org/officeDocument/2006/relationships/slide" Target="/ppt/slides/slide7.xml" Id="Re6c50cf78eee4b9c" /><Relationship Type="http://schemas.openxmlformats.org/officeDocument/2006/relationships/slide" Target="/ppt/slides/slide8.xml" Id="R57809496db254c54" /><Relationship Type="http://schemas.openxmlformats.org/officeDocument/2006/relationships/slide" Target="/ppt/slides/slide9.xml" Id="Rcb9d8cefced24358" /><Relationship Type="http://schemas.openxmlformats.org/officeDocument/2006/relationships/slide" Target="/ppt/slides/slide10.xml" Id="R9bb6a7f861aa4465" /><Relationship Type="http://schemas.openxmlformats.org/officeDocument/2006/relationships/slide" Target="/ppt/slides/slide11.xml" Id="R48c55908c9e64d5b" /><Relationship Type="http://schemas.openxmlformats.org/officeDocument/2006/relationships/slide" Target="/ppt/slides/slide12.xml" Id="R5b08611a384a47ef" /><Relationship Type="http://schemas.openxmlformats.org/officeDocument/2006/relationships/slide" Target="/ppt/slides/slide13.xml" Id="R86890f5d776540f2" /><Relationship Type="http://schemas.openxmlformats.org/officeDocument/2006/relationships/slide" Target="/ppt/slides/slide14.xml" Id="Rd2902c6cd8594170" /><Relationship Type="http://schemas.openxmlformats.org/officeDocument/2006/relationships/slide" Target="/ppt/slides/slide15.xml" Id="Rfc177f758b9a4bcb" /><Relationship Type="http://schemas.openxmlformats.org/officeDocument/2006/relationships/slide" Target="/ppt/slides/slide16.xml" Id="R8c6ce42f96304102" /><Relationship Type="http://schemas.openxmlformats.org/officeDocument/2006/relationships/slide" Target="/ppt/slides/slide17.xml" Id="R76d1a29d9bad4eb4" /><Relationship Type="http://schemas.openxmlformats.org/officeDocument/2006/relationships/slide" Target="/ppt/slides/slide18.xml" Id="R2dbb8b67afb744ee" /><Relationship Type="http://schemas.openxmlformats.org/officeDocument/2006/relationships/slide" Target="/ppt/slides/slide19.xml" Id="Reecf4a1486dd44d6" /><Relationship Type="http://schemas.openxmlformats.org/officeDocument/2006/relationships/slide" Target="/ppt/slides/slide20.xml" Id="Rae1146147b134885" /><Relationship Type="http://schemas.openxmlformats.org/officeDocument/2006/relationships/slide" Target="/ppt/slides/slide21.xml" Id="R0495165ee5894b6e" /><Relationship Type="http://schemas.openxmlformats.org/officeDocument/2006/relationships/slide" Target="/ppt/slides/slide22.xml" Id="Rf29a741b26c14be5" /><Relationship Type="http://schemas.openxmlformats.org/officeDocument/2006/relationships/slide" Target="/ppt/slides/slide23.xml" Id="R8b7387179cf0440b" /><Relationship Type="http://schemas.openxmlformats.org/officeDocument/2006/relationships/slide" Target="/ppt/slides/slide24.xml" Id="Rf48e2bd3127e4216" /><Relationship Type="http://schemas.openxmlformats.org/officeDocument/2006/relationships/slide" Target="/ppt/slides/slide25.xml" Id="R277d2954d5264e0a" /><Relationship Type="http://schemas.openxmlformats.org/officeDocument/2006/relationships/slide" Target="/ppt/slides/slide26.xml" Id="R8d2a48cc0a284479" /><Relationship Type="http://schemas.openxmlformats.org/officeDocument/2006/relationships/slide" Target="/ppt/slides/slide27.xml" Id="R2fe1e07ddd6c4fbc" /><Relationship Type="http://schemas.openxmlformats.org/officeDocument/2006/relationships/slide" Target="/ppt/slides/slide28.xml" Id="R3db57f874f684d0f" /><Relationship Type="http://schemas.openxmlformats.org/officeDocument/2006/relationships/slide" Target="/ppt/slides/slide29.xml" Id="R646cc20510ae4a38" /><Relationship Type="http://schemas.openxmlformats.org/officeDocument/2006/relationships/slide" Target="/ppt/slides/slide30.xml" Id="R12f469bb178443b6" /><Relationship Type="http://schemas.openxmlformats.org/officeDocument/2006/relationships/slide" Target="/ppt/slides/slide31.xml" Id="R447e22b665f043f4" /><Relationship Type="http://schemas.openxmlformats.org/officeDocument/2006/relationships/slide" Target="/ppt/slides/slide32.xml" Id="Rcf52effb50ad480c" /><Relationship Type="http://schemas.openxmlformats.org/officeDocument/2006/relationships/slide" Target="/ppt/slides/slide33.xml" Id="Rec3511aa4c8540cf" /><Relationship Type="http://schemas.openxmlformats.org/officeDocument/2006/relationships/slide" Target="/ppt/slides/slide34.xml" Id="R36fb63e9c3ae487f" /><Relationship Type="http://schemas.openxmlformats.org/officeDocument/2006/relationships/slide" Target="/ppt/slides/slide35.xml" Id="R1c19c00cf53c4750" /><Relationship Type="http://schemas.openxmlformats.org/officeDocument/2006/relationships/slide" Target="/ppt/slides/slide36.xml" Id="R8d1c3aea64d4470e" /><Relationship Type="http://schemas.openxmlformats.org/officeDocument/2006/relationships/slide" Target="/ppt/slides/slide37.xml" Id="Rbc8af67ce77f4b66" /><Relationship Type="http://schemas.openxmlformats.org/officeDocument/2006/relationships/slide" Target="/ppt/slides/slide38.xml" Id="R14cb6bf9d3ed47eb" /><Relationship Type="http://schemas.openxmlformats.org/officeDocument/2006/relationships/slide" Target="/ppt/slides/slide39.xml" Id="R0e6cdc833f30403f" /><Relationship Type="http://schemas.openxmlformats.org/officeDocument/2006/relationships/slide" Target="/ppt/slides/slide40.xml" Id="R1ce3755fba194db3" /><Relationship Type="http://schemas.openxmlformats.org/officeDocument/2006/relationships/slide" Target="/ppt/slides/slide41.xml" Id="Rc1f53b153053424f" /><Relationship Type="http://schemas.openxmlformats.org/officeDocument/2006/relationships/slide" Target="/ppt/slides/slide42.xml" Id="R72ff4cf0d1f3477b" /><Relationship Type="http://schemas.openxmlformats.org/officeDocument/2006/relationships/slide" Target="/ppt/slides/slide43.xml" Id="R896b44fd135e4cbb" /><Relationship Type="http://schemas.openxmlformats.org/officeDocument/2006/relationships/slide" Target="/ppt/slides/slide44.xml" Id="R0615f5bec01d4cd5" /><Relationship Type="http://schemas.openxmlformats.org/officeDocument/2006/relationships/slide" Target="/ppt/slides/slide45.xml" Id="R78fb2f3dacf341f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3d28d4e02b479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4549736fde54ab6" /><Relationship Type="http://schemas.openxmlformats.org/officeDocument/2006/relationships/notesMaster" Target="/ppt/notesMasters/notesMaster1.xml" Id="R532bc8d561ba4d1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1d72b1ed754a81" /><Relationship Type="http://schemas.openxmlformats.org/officeDocument/2006/relationships/notesMaster" Target="/ppt/notesMasters/notesMaster1.xml" Id="Rce9d10b40f764c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d85dcdb75e4bd9" /><Relationship Type="http://schemas.openxmlformats.org/officeDocument/2006/relationships/notesMaster" Target="/ppt/notesMasters/notesMaster1.xml" Id="R09fec1217e91465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16f3f08435249ee" /><Relationship Type="http://schemas.openxmlformats.org/officeDocument/2006/relationships/notesMaster" Target="/ppt/notesMasters/notesMaster1.xml" Id="R22fd64d201ac4f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589b40c38144f4b" /><Relationship Type="http://schemas.openxmlformats.org/officeDocument/2006/relationships/notesMaster" Target="/ppt/notesMasters/notesMaster1.xml" Id="R8bcebd99f6b74b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8637f6ff44d4f92" /><Relationship Type="http://schemas.openxmlformats.org/officeDocument/2006/relationships/notesMaster" Target="/ppt/notesMasters/notesMaster1.xml" Id="R230877be9ec246b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176c95e394c4d20" /><Relationship Type="http://schemas.openxmlformats.org/officeDocument/2006/relationships/notesMaster" Target="/ppt/notesMasters/notesMaster1.xml" Id="Rbc2828799abb4a5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6e3b424787d4aa3" /><Relationship Type="http://schemas.openxmlformats.org/officeDocument/2006/relationships/notesMaster" Target="/ppt/notesMasters/notesMaster1.xml" Id="R324e16e65695458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054ddc8136432e" /><Relationship Type="http://schemas.openxmlformats.org/officeDocument/2006/relationships/notesMaster" Target="/ppt/notesMasters/notesMaster1.xml" Id="R36b5c9260abd4e0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f37a047c597472f" /><Relationship Type="http://schemas.openxmlformats.org/officeDocument/2006/relationships/notesMaster" Target="/ppt/notesMasters/notesMaster1.xml" Id="Ra490a564c20143f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78f3d2945ec046e2" /><Relationship Type="http://schemas.openxmlformats.org/officeDocument/2006/relationships/notesMaster" Target="/ppt/notesMasters/notesMaster1.xml" Id="R01f148dae844421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5121807cc1464c7a" /><Relationship Type="http://schemas.openxmlformats.org/officeDocument/2006/relationships/notesMaster" Target="/ppt/notesMasters/notesMaster1.xml" Id="R42d0437690894eb9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1f45b949274606" /><Relationship Type="http://schemas.openxmlformats.org/officeDocument/2006/relationships/notesMaster" Target="/ppt/notesMasters/notesMaster1.xml" Id="R1d6ebf42a7b3410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95cc7403364098" /><Relationship Type="http://schemas.openxmlformats.org/officeDocument/2006/relationships/notesMaster" Target="/ppt/notesMasters/notesMaster1.xml" Id="R99e588b62c7747a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53ab6e2b0134c1b" /><Relationship Type="http://schemas.openxmlformats.org/officeDocument/2006/relationships/notesMaster" Target="/ppt/notesMasters/notesMaster1.xml" Id="Raedb40e84672435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4f63dd9dd984fb2" /><Relationship Type="http://schemas.openxmlformats.org/officeDocument/2006/relationships/notesMaster" Target="/ppt/notesMasters/notesMaster1.xml" Id="R11402b10c000495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e5ae5f6c42094a6b" /><Relationship Type="http://schemas.openxmlformats.org/officeDocument/2006/relationships/notesMaster" Target="/ppt/notesMasters/notesMaster1.xml" Id="Re2273f86125a4a23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57db63d6e964996" /><Relationship Type="http://schemas.openxmlformats.org/officeDocument/2006/relationships/notesMaster" Target="/ppt/notesMasters/notesMaster1.xml" Id="Ra3d1b9128bee41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51b17bfce394ce6" /><Relationship Type="http://schemas.openxmlformats.org/officeDocument/2006/relationships/notesMaster" Target="/ppt/notesMasters/notesMaster1.xml" Id="R5e0ab760c06447e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88044523c0a4643" /><Relationship Type="http://schemas.openxmlformats.org/officeDocument/2006/relationships/notesMaster" Target="/ppt/notesMasters/notesMaster1.xml" Id="Rea566ae3317d4ed6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fb39f8a0ebf4ec4" /><Relationship Type="http://schemas.openxmlformats.org/officeDocument/2006/relationships/notesMaster" Target="/ppt/notesMasters/notesMaster1.xml" Id="R44e72ac365dd4185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ac800c34db64b6c" /><Relationship Type="http://schemas.openxmlformats.org/officeDocument/2006/relationships/notesMaster" Target="/ppt/notesMasters/notesMaster1.xml" Id="R591e449f54dc4585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5d38052cac454221" /><Relationship Type="http://schemas.openxmlformats.org/officeDocument/2006/relationships/notesMaster" Target="/ppt/notesMasters/notesMaster1.xml" Id="R623784e301824e1d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1dea0258e1f4250" /><Relationship Type="http://schemas.openxmlformats.org/officeDocument/2006/relationships/notesMaster" Target="/ppt/notesMasters/notesMaster1.xml" Id="R9df2b2c025ea4b9f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2cf1977cca4098" /><Relationship Type="http://schemas.openxmlformats.org/officeDocument/2006/relationships/notesMaster" Target="/ppt/notesMasters/notesMaster1.xml" Id="Rba8445652553413c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dc2a7738b0794402" /><Relationship Type="http://schemas.openxmlformats.org/officeDocument/2006/relationships/notesMaster" Target="/ppt/notesMasters/notesMaster1.xml" Id="R092de7f754b540f9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0d55cee61b144ce9" /><Relationship Type="http://schemas.openxmlformats.org/officeDocument/2006/relationships/notesMaster" Target="/ppt/notesMasters/notesMaster1.xml" Id="Re7e85c0f17b347a8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f89a07c3bae4c36" /><Relationship Type="http://schemas.openxmlformats.org/officeDocument/2006/relationships/notesMaster" Target="/ppt/notesMasters/notesMaster1.xml" Id="R1aa401da637c42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49c86ece1d6c41b0" /><Relationship Type="http://schemas.openxmlformats.org/officeDocument/2006/relationships/notesMaster" Target="/ppt/notesMasters/notesMaster1.xml" Id="Rc75d74a2ce024efa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80bbeb9acca94ce5" /><Relationship Type="http://schemas.openxmlformats.org/officeDocument/2006/relationships/notesMaster" Target="/ppt/notesMasters/notesMaster1.xml" Id="R2fb2b8d7f1874ca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3a7cc1f6277457f" /><Relationship Type="http://schemas.openxmlformats.org/officeDocument/2006/relationships/notesMaster" Target="/ppt/notesMasters/notesMaster1.xml" Id="Rd12e7520af554a69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97478e5347734047" /><Relationship Type="http://schemas.openxmlformats.org/officeDocument/2006/relationships/notesMaster" Target="/ppt/notesMasters/notesMaster1.xml" Id="R09b8eb40efd74a4a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84312106e86a4ac0" /><Relationship Type="http://schemas.openxmlformats.org/officeDocument/2006/relationships/notesMaster" Target="/ppt/notesMasters/notesMaster1.xml" Id="R17339191587748f1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91fd6703096743d4" /><Relationship Type="http://schemas.openxmlformats.org/officeDocument/2006/relationships/notesMaster" Target="/ppt/notesMasters/notesMaster1.xml" Id="Rb2e7352121d94b35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f2ec2ff096b44ba" /><Relationship Type="http://schemas.openxmlformats.org/officeDocument/2006/relationships/notesMaster" Target="/ppt/notesMasters/notesMaster1.xml" Id="Re77f63bf503546fe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52eaf55f67b34808" /><Relationship Type="http://schemas.openxmlformats.org/officeDocument/2006/relationships/notesMaster" Target="/ppt/notesMasters/notesMaster1.xml" Id="R97f47f82214a453b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bd0053e7db814e7b" /><Relationship Type="http://schemas.openxmlformats.org/officeDocument/2006/relationships/notesMaster" Target="/ppt/notesMasters/notesMaster1.xml" Id="Rb377a4c0496b4a7d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bd08bf27cce04d1e" /><Relationship Type="http://schemas.openxmlformats.org/officeDocument/2006/relationships/notesMaster" Target="/ppt/notesMasters/notesMaster1.xml" Id="R00525bbc4d8e4d50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feb1624005924af1" /><Relationship Type="http://schemas.openxmlformats.org/officeDocument/2006/relationships/notesMaster" Target="/ppt/notesMasters/notesMaster1.xml" Id="R8c5b914cbf3c4417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d64ba3cc2b9f4452" /><Relationship Type="http://schemas.openxmlformats.org/officeDocument/2006/relationships/notesMaster" Target="/ppt/notesMasters/notesMaster1.xml" Id="R24ab84fc1fe846f7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9164533afb824b07" /><Relationship Type="http://schemas.openxmlformats.org/officeDocument/2006/relationships/notesMaster" Target="/ppt/notesMasters/notesMaster1.xml" Id="Rce5436f6730f4c70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423a4906dd3a4f48" /><Relationship Type="http://schemas.openxmlformats.org/officeDocument/2006/relationships/notesMaster" Target="/ppt/notesMasters/notesMaster1.xml" Id="R3a11046defb541d0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27734ce34f2f4536" /><Relationship Type="http://schemas.openxmlformats.org/officeDocument/2006/relationships/notesMaster" Target="/ppt/notesMasters/notesMaster1.xml" Id="R445aea00dc2a450a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ad566ff6939e4874" /><Relationship Type="http://schemas.openxmlformats.org/officeDocument/2006/relationships/notesMaster" Target="/ppt/notesMasters/notesMaster1.xml" Id="R8063c6d3245c43d2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a7a0fde688264486" /><Relationship Type="http://schemas.openxmlformats.org/officeDocument/2006/relationships/notesMaster" Target="/ppt/notesMasters/notesMaster1.xml" Id="R60d912fe1f374b1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本流程固定採 evaluation.mode=self_play 與 self_play_pool_policy=tournament-v1。長期 opponent pool 保存內建對手與經入池規則保留的歷代策略；每個評估快照只用十個對手欄位。候選對戰時執行完整 Java，沒有即時 LLM 決策。Java materialization 與反思方式仍依所選模式啟用，但搜尋評估與選擇規則統一使用 opponent pool。正式 Final Test 是獨立的固定基準測試。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來源：eagle/config.py:360-388、747-760；eagle/opponent_pool.py:136-219；eagle/final_test.py。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本流程先由 ChatGPT 人工準備固定 Java framework。G0 用十個內建對手完成初始候選評估，已評估族群開始按規則加入長期 opponent pool。後續每代在刷新到期時凍結四個保護對手加六個抽樣對手，保留父代 Java 並重新評估其分數，才選繁殖父代。子代評估使用同一快照；合併父代與子代選下一代後，所有已評估子代按入池規則挑戰或加入 pool，最後保存世代。尚未停止則繼續；停止後獨立執行固定內建對手的 Final Test。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來源：eagle/evolution/search.py:208-270；eagle/evolution/generation.py:94-285；eagle/opponent_pool.py:136-219。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策略的 actor、when、action 都使用閉合的 MicroRTS 詞彙與可觀察狀態，允許合法策略多樣性。DSL 是基因資料，不是對戰時呼叫 LLM 的文字指令。deterministic_dsl 會經 typed IR 編譯；llm 則要求 Generator 實作同一份 DSL。合法動作守衛與 fallthrough 規則屬於共用語意。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eagle/strategy_dsl.py:1-120</a:t>
            </a:r>
          </a:p>
          <a:p xmlns:a="http://schemas.openxmlformats.org/drawingml/2006/main">
            <a:r>
              <a:t>docs/architecture/overview.md:112-127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有外部 bundle_path 時直接驗證該檔並凍結 run-owned copy，不再呼叫 bootstrap。沒有時依 backend 建立，預設 Groq，亦支援 Mistral 與 local。原始回應在解析前保存，失敗有界重試。每個 replicate 預設各自 bootstrap；要共用架構必須明確指定同一個 bundle。搜尋期間 Java 模板、槽位 domain 與表達式不變，resume 也不重新設計。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docs/architecture/framework_slots.md:113-157</a:t>
            </a:r>
          </a:p>
          <a:p xmlns:a="http://schemas.openxmlformats.org/drawingml/2006/main">
            <a:r>
              <a:t>docs/eagle_architecture_spec.md:747-820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slot 是固定 Java 模板中的可替換位置。bundle 先定義每個 slot 的型別、合法值與表達式選單；候選只保存值或 choice_id。範例中 worker_target 從 2 到 8 的整數選 6，attack_weight 從 0、0.25、0.5、0.75、1 選 0.75，target_policy 選 lowest_hp。attack_weight、target_policy 與其選單為型別教學示例，不代表目前 bundle 的實際欄位。number 同樣是有限離散選單，0.6 在此例不合法。expression_choice 保存最低血量選項的 ID，由 bundle 中預先定義的 Java 表達式取代模板 marker，不生成新表達式。完整 genome 必須包含該 bundle 的全部 slot，不能只交這三項。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程式來源：eagle/generation/framework_slots.py:304-340、445-470。worker_target 實例來源：configs/framework_bundles/fixed_worker_combat/bundle.json。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初始設計提示要求至少 24 個非恆定槽位，含至少 6 個 expression_choice 且各有至少 4 個選項，覆蓋經濟、生產、目標、戰鬥、條件與優先順序。這是設計目標，不能保證行為多樣性。候選人只保存槽值或 choice_id，不能生成新的 Java 表達式。相同 bundle、genome 與 materializer 應產生相同 Java bytes。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docs/architecture/framework_slots.md:24-75</a:t>
            </a:r>
          </a:p>
          <a:p xmlns:a="http://schemas.openxmlformats.org/drawingml/2006/main">
            <a:r>
              <a:t>eagle/generation/framework_slots.py:189-340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兩種政策共享相同凍結 bundle、hash、renderer、下游評估與倖存者規則。llm_coach 回應必須恰好包含 schema_version、framework_bundle_sha256 與完整 control_genome。突變失敗不隨機改寫、不部分套用；初始選擇失敗保留採樣 genome 並在初始化階段標記該候選失敗。兩種模式都不進行 Prompt Reflection、Code gate、Java Generation 或 compile repair。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docs/architecture/framework_slots.md:13-75</a:t>
            </a:r>
          </a:p>
          <a:p xmlns:a="http://schemas.openxmlformats.org/drawingml/2006/main">
            <a:r>
              <a:t>eagle/operators/strategy.py:448-865</a:t>
            </a:r>
          </a:p>
          <a:p xmlns:a="http://schemas.openxmlformats.org/drawingml/2006/main">
            <a:r>
              <a:t>eagle/operators/framework_slots.py:1-200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一般世代產生 population_size 個子代；到期刷新對手快照時，繁殖前先重評父代。父代與子代必須在同一快照下比較。完成者以 Game Performance 分層，語意差異僅在層內輔助選擇。選擇之後更新 opponent pool，入池來源為所有已評估子代，不限倖存者。self_play 要求 static 反思操作；對手池挑戰與更新不會立即改變已凍結的評估快照。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來源：eagle/evolution/generation.py:94-285；eagle/config.py:747-760。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繁殖父代來自目前 population，與用來提供評估對手的歷史 opponent pool 分開。使用單一 Game Performance fitness；從目前最高分往下 tolerance 以內形成頂層，預設 tolerance=1.0 且包含邊界，不採相鄰分數串連。第一父代以 seeded RNG 從有完整語意簽章者抽樣；若沒有完整簽章則從頂層候選抽樣。第二父代以第一父代為參照，優先選相容動作簽章距離最大者，距離相同時 seeded 抽樣；沒有可比資料時保留 fallback。兩次選擇沒有強制父代 ID 相異。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來源：eagle/operators/selection.py:42-68、200-215、245-282；eagle/evolution/offspring.py:91-119。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教學示例，非實驗結果。A、B、C、D 的 fitness 分別為 100、99.4、99.0、98.8，tolerance=1.0，因此頂層只有 A、B、C。C 剛好在含邊界的門檻；D 不會因距離 C 很近而串連進來。假設第一父代 seeded 選到 B，且相容的九個 probes 中 A 與 B 有八個動作不同，C 與 B 有兩個不同，則第二父代選 A。D 已在頂層外，不能因行為新穎而越級。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來源：eagle/operators/selection.py:42-68、200-215、245-282、311-320。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直接父代列表與每個成分實際來源是不同資訊，均需保存。兩位父代可以提供不同成分，即使文字或值相同也不能省略來源。Framework 的 Coach 證據父代是 parent A，不會因某槽位從 donor B 繼承就改用 B 的比賽。crossover_rate 控制是否交配，未交配時沿用單一來源。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docs/eagle_architecture_spec.md:216-223</a:t>
            </a:r>
          </a:p>
          <a:p xmlns:a="http://schemas.openxmlformats.org/drawingml/2006/main">
            <a:r>
              <a:t>eagle/operators/crossover.py:1-170</a:t>
            </a:r>
          </a:p>
          <a:p xmlns:a="http://schemas.openxmlformats.org/drawingml/2006/main">
            <a:r>
              <a:t>eagle/operators/framework_slots.py:1-155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所有實際貢獻來源都必須健康才可進入正常交配與突變。Code v6 只檢查 strategy_fidelity 與 code_correctness；不因勝率、外觀或可簡化而要求修正。ambiguous_strategy 配合正確 Java 不需 revision。有缺陷就產生一位保留原基因的 corrective child，跳過交配與一般突變；診斷失敗也不能當健康通過。Code gate 沒有 AOS 操作機率。DSL 與 framework 模式不執行此 gate。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docs/eagle_architecture_spec.md:49-78</a:t>
            </a:r>
          </a:p>
          <a:p xmlns:a="http://schemas.openxmlformats.org/drawingml/2006/main">
            <a:r>
              <a:t>eagle/operators/code.py:29-180</a:t>
            </a:r>
          </a:p>
          <a:p xmlns:a="http://schemas.openxmlformats.org/drawingml/2006/main">
            <a:r>
              <a:t>eagle/evolution/offspring.py:125-280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最差場次只從記錄的策略來源父代中取，不能任意從 child、donor 或整個 run 換一場。Match Commentator 看一場詳細 trace；Coach 同時取得全場 global summary 與此一 diagnosis，以免只看局部比賽。LLM/DSL 模式改 policy，framework llm_coach 則改完整 genome。策略反思失敗保留既有資料並走失敗分支，沒有自動換賽事補救。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eagle/operators/strategy.py:202-447</a:t>
            </a:r>
          </a:p>
          <a:p xmlns:a="http://schemas.openxmlformats.org/drawingml/2006/main">
            <a:r>
              <a:t>eagle/operators/strategy.py:576-865</a:t>
            </a:r>
          </a:p>
          <a:p xmlns:a="http://schemas.openxmlformats.org/drawingml/2006/main">
            <a:r>
              <a:t>eagle/operators/strategy.py:1222-1308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每場 performance 包含 shaping，因此同為敗場也能分辨較差表現。JSONL 是 field-targeted 完整規則紀錄，不能把零碎 condition/action 修成另一個沒有被模型完整提出的規則。舊的整份 JSON 回應仍採 all-or-nothing 驗證。framework Coach 使用另一份完整 genome schema，不能套用 DSL 的合法子集合邏輯。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docs/eagle_architecture_spec.md:248-275</a:t>
            </a:r>
          </a:p>
          <a:p xmlns:a="http://schemas.openxmlformats.org/drawingml/2006/main">
            <a:r>
              <a:t>eagle/operators/strategy.py:1222-1308</a:t>
            </a:r>
          </a:p>
          <a:p xmlns:a="http://schemas.openxmlformats.org/drawingml/2006/main">
            <a:r>
              <a:t>eagle/operators/strategy.py:1638-1710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Prompt Reflection 改良的是可重用的 policy-to-Java 翻譯規則。Reviewer 不接收勝敗、fitness、對手分數、比賽 trace 或其他 gameplay evidence。預設模式比較來源父代的 policy 與 Java；inherited 模式比較 child 選中的 policy 與 inherited Java。新 prompt 不直接修改策略基因，最後仍由 Generator 生成 Java。只在 llm materialization 啟用。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docs/eagle_architecture_spec.md:277-309</a:t>
            </a:r>
          </a:p>
          <a:p xmlns:a="http://schemas.openxmlformats.org/drawingml/2006/main">
            <a:r>
              <a:t>eagle/operators/prompt.py:268-525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LLM 回應必須先滿足完整檔案的 package、class、建構子、lifecycle 與單一 strategy-marker 區域等外框，再以固定 scaffold 加上抽出的策略區域建立 normalized Java。固定區域中的模型改動保留為證據，但不進表型。結構非法的回應不能靠 normalization 變成合法。確定性兩條路徑沒有 LLM fallback。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docs/eagle_architecture_spec.md:313-405</a:t>
            </a:r>
          </a:p>
          <a:p xmlns:a="http://schemas.openxmlformats.org/drawingml/2006/main">
            <a:r>
              <a:t>docs/eagle_architecture_spec.md:700-820</a:t>
            </a:r>
          </a:p>
          <a:p xmlns:a="http://schemas.openxmlformats.org/drawingml/2006/main">
            <a:r>
              <a:t>eagle/evaluation/decoding.py:1-130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attempt 1 通常是普通生成，corrective child 則直接使用 Code Reflection 已回傳的完整 Java。完整 source 的驗證或編譯失敗可在 generation_max_attempts 內用專門 compile-repair prompt 修復。每次 request、raw response、抽取 source、normalized source 與 hash 都保存。第一個 validation＋compilation 成功即停止；Integration 或 runtime 失敗不回到 decoder。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docs/eagle_architecture_spec.md:350-405</a:t>
            </a:r>
          </a:p>
          <a:p xmlns:a="http://schemas.openxmlformats.org/drawingml/2006/main">
            <a:r>
              <a:t>eagle/evaluation/decoding.py:1-160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Java contract 同時限制 network、process execution、未授權 I/O 與 runtime modification；它不是一般用途 Java sandbox。編譯保留結構化去重診斷與 warning。Integration 前置檢查失敗會阻擋後面的檢查與對戰。獨立實例檢查確保 getAction 與 PlayerAction 在有單位的真實地圖可運作，成功仍不能證明所有對戰情境都正確。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docs/eagle_architecture_spec.md:378-424</a:t>
            </a:r>
          </a:p>
          <a:p xmlns:a="http://schemas.openxmlformats.org/drawingml/2006/main">
            <a:r>
              <a:t>eagle/generation/java_agent_generator.py:256-329</a:t>
            </a:r>
          </a:p>
          <a:p xmlns:a="http://schemas.openxmlformats.org/drawingml/2006/main">
            <a:r>
              <a:t>eagle/evaluation/microrts_runner.py:1-140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搜尋評估使用凍結的 opponent-pool 十欄快照：四個保護對手與六個抽樣對手。只有通過 materialization、validation、compilation 與 Integration 的候選能進入對戰。每欄三張地圖、三回合、雙方位置，共十八場，十欄共一百八十場。每場使用衍生 seed、地圖 tick cap 與 timeout。矩陣必須完整才有有效 fitness。同一快照內父代與子代使用同一名單；長期 pool 更新不立即更換這個名單。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來源：eagle/evaluation/match_matrix.py；eagle/evaluation/matches.py；eagle/self_play.py:24-79。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Opponent-pool 搜尋使用單一 Game Performance fitness。單場結果的敗、和、勝基分為 -100、0、100，再加最多正負十的物資、資源與存活 shaping。每個對手十八場先取平均，十個對手欄位再等權平均；因每欄場數相同，也等於完整一百八十場的平均。四個保護對手沒有較高評分權重。語意距離只在分數同層內輔助選擇，不另加 fitness。必要階段失敗或矩陣未完成使用 -1000 sentinel；失敗候選保留診斷但不能擠掉足夠的完整評估候選。AllInBot 被 adapter containment 的上游故障以中性零分和局記錄，另列 opponent fault。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來源：eagle/evaluation/game_performance.py:207-219；eagle/config.py:372-388；eagle/operators/selection.py:93-129；eagle/evaluation/matches.py。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初始 pool 含十個內建來源。PassiveAI、RandomAI、RandomBiasedAI、LightRush、HeavyRush、WorkerRush 是六個可替換成員；AllInBot、Mayari、COAC、TMA 是四個永久保護成員。G0 評估使用全部十個內建對手。後續可替換區累積經規則入池的歷代策略，每個刷新快照保留四個保護對手，再從非保護成員抽六名。這是 pool 的初始化名單，並不表示整個演化期間固定對戰這十位。搜尋評分十欄等權。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來源：eagle/opponents.py:1-145；eagle/opponent_pool.py:22-35、136-219；eagle/self_play.py:24-79。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長期 opponent pool 與每次凍結的十個評估欄位分開保存。Pool 初始是所有十個內建對手，之後納入合法且新穎的歷代候選策略。它不是只存當代十個策略，也不是只收歷代冠軍。總容量 50 是設定預設，不代表每次評估要跑五十個對手。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docs/eagle_architecture_spec.md:461-481</a:t>
            </a:r>
          </a:p>
          <a:p xmlns:a="http://schemas.openxmlformats.org/drawingml/2006/main">
            <a:r>
              <a:t>eagle/opponent_pool.py:22-35</a:t>
            </a:r>
          </a:p>
          <a:p xmlns:a="http://schemas.openxmlformats.org/drawingml/2006/main">
            <a:r>
              <a:t>eagle/opponent_pool.py:162-219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第 0 代 update_pool 接收 evaluated_population，後續每代接收 evaluated_offspring，並非只傳下一代倖存者。候選須通過可執行與完整評估條件，去除 ID、source 或 semantic phenotype 的重複項。滿池時每個 novel entrant 對一個 seeded 守擂者跑完 18 場；勝和敗分別計 1、0.5、0，只有 wins &gt; losses 才 promotion，平手保留守擂者。失敗或未完成保留證據但不能晉級。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eagle/evolution/search.py:208-219</a:t>
            </a:r>
          </a:p>
          <a:p xmlns:a="http://schemas.openxmlformats.org/drawingml/2006/main">
            <a:r>
              <a:t>eagle/evolution/generation.py:254-262</a:t>
            </a:r>
          </a:p>
          <a:p xmlns:a="http://schemas.openxmlformats.org/drawingml/2006/main">
            <a:r>
              <a:t>eagle/opponent_pool.py:162-219</a:t>
            </a:r>
          </a:p>
          <a:p xmlns:a="http://schemas.openxmlformats.org/drawingml/2006/main">
            <a:r>
              <a:t>eagle/opponent_pool.py:400-430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這裡的十個是評估對手欄位，不是當代子代人口數。刷新預設 interval 5，第 1 代即刷新，之後第 6、11、16 代。Pool 在世代結束可以更新，但已凍結 context 不立即跟著改變。新入池策略要等後續快照刷新才可能被抽到。四保護 case IDs 固定，六個動態 diagnostic slots 為 self_play_000 到 self_play_005，來源寫在 context rows。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docs/eagle_architecture_spec.md:482-511</a:t>
            </a:r>
          </a:p>
          <a:p xmlns:a="http://schemas.openxmlformats.org/drawingml/2006/main">
            <a:r>
              <a:t>eagle/opponent_pool.py:136-159</a:t>
            </a:r>
          </a:p>
          <a:p xmlns:a="http://schemas.openxmlformats.org/drawingml/2006/main">
            <a:r>
              <a:t>eagle/self_play.py:24-79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self_play 要求 parent_evaluation_mode=reuse_cached。快照不變時沿用父代 Java 與已完成分數。快照刷新是協定內的必要重評：建立新 ID 父代複本，保留原 Java 表型，使用新十欄名單跑完評估，不覆寫舊 context 的分數與證據。刷新評估先完成，才做繁殖選擇；子代也在該快照中評估，讓父代與子代的 fitness 可在倖存選擇時比較。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本流程只有兩種父代評估情境。對手快照不變時，reuse_cached 保留 Java 與原分數；到期刷新時，快照協定自動建立父代評估複本，用新名單重新對戰，但不重新生成 Java。self_play 設定驗證要求 reuse_cached，不能使用 regenerate_same_genotype 診斷模式。父代先完成新情境評分才能繁殖，子代隨後使用同一快照完成評估。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來源：eagle/config.py:747-760；eagle/evolution/generation.py:94-170；eagle/evolution/parent_refresh.py。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Opponent-pool 流程強制啟用語意探針。固定三張地圖的三個階段共九個 probe，記錄實際 Java 動作簽章，距離為動作 hash 不同的 probe 比例；dataset、probe 次序與簽章需相容。繁殖時第二父代在頂層內偏好與第一父代距離較遠者。倖存者只有名額切分同一分數層時才使用 seeded max-min 子集，不能越過分數層。精確相同行為亦用於 opponent pool 的表型去重。語意不構成另一個 fitness 目標。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來源：eagle/config.py:747-750；eagle/operators/selection.py:174-282、311-320；eagle/opponent_pool.py:499-540。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將當代父代與已評估子代合併並按 ID 去重，只讓完整評估候選參與下一代。目標為固定人口 N。依當前剩餘候選的最高分作錨點，往下預設 1.0 分以內形成一層，不採相鄰串連；例如 100、99.2 同層，98.4 屬下一層。整層放得下就整層保留；名額切在一層內才用 seeded farthest-first max-min，最大化對已選者與本層已挑者的最小語意距離。低分層不能靠新穎性越級。若所有子代失敗但仍有 N 位完整評估父代，父代可全數留下；完整者不足 N 時 run 明確失敗。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來源：eagle/operators/selection.py:70-145、174-282；eagle/evolution/generation.py:214-229。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self_play 設定明確要求 reflection_operator_mode=static，不使用 AOS Opponents rank、EMA 或 head-to-head reward 更新機率。交配後依固定 mutation_rate 決定是否突變；未觸發時保留交配後基因。Framework local 至多更換一個槽位為另一合法值；Framework Coach 回傳完整 control_genome。LLM／DSL 依各自可用的反思操作與靜態配比選擇，功能是否啟用仍由 materialization 模式決定。對戰提供 Game Performance 與反思證據，不動態調整操作機率。十八場 pool 入池挑戰是另一個機制，不能和 AOS head-to-head 混用。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來源：eagle/config.py:747-760；eagle/evolution/offspring.py:281-300、430-480；eagle/operators/adaptive.py:215-230。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失敗分類包括初始化、反思、生成、驗證、編譯、Integration 與 runtime 等。候選失敗與 run 失敗需分開：只要完成的父代與子代足夠，下一代仍可成立。程序中斷會取消排隊工作、drain active worker，保留未完成證據後從最後完成世代恢復。Pipeline 安全邊界不能以看起來可執行的 fallback 代替。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docs/eagle_architecture_spec.md:350-424</a:t>
            </a:r>
          </a:p>
          <a:p xmlns:a="http://schemas.openxmlformats.org/drawingml/2006/main">
            <a:r>
              <a:t>docs/evaluation/game_performance.md:33-40</a:t>
            </a:r>
          </a:p>
          <a:p xmlns:a="http://schemas.openxmlformats.org/drawingml/2006/main">
            <a:r>
              <a:t>eagle/operators/selection.py:99-123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Generation snapshot 先原子寫成功，再更新 manifest.latest_generation。只有 manifest 指定的完成快照作為 resume 起點，不能因資料夾有較新檔就推論已提交世代。每次 LLM request 的 endpoint/model、prompt、raw response、attempt、hash 與 timing 都屬證據；秘密憑證不可寫入。compact artifact 模式省去 XML replay，但保留需要的 trace 與對戰摘要。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eagle/run_artifacts.py:160-197</a:t>
            </a:r>
          </a:p>
          <a:p xmlns:a="http://schemas.openxmlformats.org/drawingml/2006/main">
            <a:r>
              <a:t>eagle/run_artifacts.py:363-375</a:t>
            </a:r>
          </a:p>
          <a:p xmlns:a="http://schemas.openxmlformats.org/drawingml/2006/main">
            <a:r>
              <a:t>docs/artifacts/artifact_schema.md:37-92</a:t>
            </a:r>
          </a:p>
          <a:p xmlns:a="http://schemas.openxmlformats.org/drawingml/2006/main">
            <a:r>
              <a:t>docs/eagle_architecture_spec.md:567-629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Resume 不是繼續使用任意半成品，也不重新 bootstrap。先檢查目前版本與凍結身分能否相容；protocol、bundle hash、framework evolution mode 或 runtime/map 身分不合時拒絕。未提交候選與 LLM 證據先移入 interrupted_work，保留後再以穩定 ID 重播。這維持可追查性，但外部 LLM 回應與 wall-clock timeout 仍可能讓重播結果不同。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eagle/evolution/resume.py:1-150</a:t>
            </a:r>
          </a:p>
          <a:p xmlns:a="http://schemas.openxmlformats.org/drawingml/2006/main">
            <a:r>
              <a:t>eagle/run_artifacts.py:686-703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docs/architecture/framework_slots.md:140-149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明確 random_seeds 時 runs 是每個 seed 的重複次數。省略 random_seeds 則沿用 random_seed、random_seed+1 的歷史排程。Index 保存有序的 absolute run paths，每個 slot 都檢查 seed 與 config 身分。Framework fresh replicate 預設各自生成 bundle，若研究需控制架構差異，必須指定相同外部 bundle。Folder rerun 會處理未開始、未完成與缺 final test 的不同情況。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eagle/config.py:863-879</a:t>
            </a:r>
          </a:p>
          <a:p xmlns:a="http://schemas.openxmlformats.org/drawingml/2006/main">
            <a:r>
              <a:t>eagle/experiment.py:355-540</a:t>
            </a:r>
          </a:p>
          <a:p xmlns:a="http://schemas.openxmlformats.org/drawingml/2006/main">
            <a:r>
              <a:t>docs/artifacts/artifact_schema.md:491-529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執行總是對可控制的隨機性設 seed，沒有另一個 deterministic_mode 開關。模型 provider 可能忽略 seed 或更新權重；GPU batching、浮點數、第三方對手二進位與 wall-clock 搜尋都可能改變結果。Deterministic materialization 的 byte-identical Java 契約不等於整場實驗逐位元相同。重現承諾需限定同程式、資料、設定與確定的 task outputs。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docs/eagle_architecture_spec.md:162-215</a:t>
            </a:r>
          </a:p>
          <a:p xmlns:a="http://schemas.openxmlformats.org/drawingml/2006/main">
            <a:r>
              <a:t>eagle/evaluation/determinism.py:1-170</a:t>
            </a:r>
          </a:p>
          <a:p xmlns:a="http://schemas.openxmlformats.org/drawingml/2006/main">
            <a:r>
              <a:t>eagle/execution.py:14-68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搜尋階段使用會刷新的 opponent-pool 快照，停止後的正式 Final Test 另外使用固定十個內建對手，是獨立 benchmark，不改變搜尋協定。停止條件為演化世代上限或 active selection-state signature 的 stagnation。預設從末代選可執行代表，獨立重新編譯並跑七項 Integration，再執行十對手、三地圖、十回合、雙方位置，共六百場。mock 或 skip-final-test 可略過。十八場入池挑戰只決定長期池成員替換，一百八十場搜尋評估決定 fitness，六百場 Final Test 作正式測試，三者各自保存證據。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來源：eagle/final_test.py；eagle/experiment.py:409-423；eagle/opponent_pool.py:217-430。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python -m eagle.fixed_evaluation 只讀取 completed run 的明確指定世代，不缺代替代、不用 run-wide best 取代 snapshot 代表。每位代表重編與 Integration，不呼叫 LLM。protocol 記錄對手、地圖 hash、tick cap、scoring 與 runtime source identity。缺場或錯誤矩陣的 aggregate score 與 win rate 為 null 並 nonzero exit。mean_match_score 是不加權 benchmark 平均，不能直接當搜尋 fitness。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docs/evaluation/evaluation_pipeline.md:160-166</a:t>
            </a:r>
          </a:p>
          <a:p xmlns:a="http://schemas.openxmlformats.org/drawingml/2006/main">
            <a:r>
              <a:t>eagle/fixed_evaluation.py:1-170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時間來源以已提交 generation timing 與 run records 為準，不能將 partial terminal output 當單代耗時。當對手情境改變，search fitness 的跨代上升並不能單獨證明一般化能力。比較現行多主機串流與先前排程時，需要相同模型、硬體、seed、候選規模與失敗條件下的獨立速度實驗。實作文件尚無這組 live benchmark，不能報出加速比。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docs/evaluation/game_performance.md:42-57</a:t>
            </a:r>
          </a:p>
          <a:p xmlns:a="http://schemas.openxmlformats.org/drawingml/2006/main">
            <a:r>
              <a:t>docs/artifacts/timing_schema.md:1-65</a:t>
            </a:r>
          </a:p>
          <a:p xmlns:a="http://schemas.openxmlformats.org/drawingml/2006/main">
            <a:r>
              <a:t>docs/implementation/current_status.md:21-34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GUI 提供 config parsing 支持的固定選項，儲存前驗證並原子寫入，觀察比賽不改變 fitness。Monitor 從 manifest 和最新已提交 generation 讀取，不控制實驗。離線分析的 generation 指倖存快照世代，birth_generation 才是候選出生時間。使用者可以從這些工具回查分數、行為與 LLM evidence，無需改動 canonical search artifacts。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docs/implementation/current_status.md:42-66</a:t>
            </a:r>
          </a:p>
          <a:p xmlns:a="http://schemas.openxmlformats.org/drawingml/2006/main">
            <a:r>
              <a:t>docs/architecture/evolutionary_flow.md:169-200</a:t>
            </a:r>
          </a:p>
          <a:p xmlns:a="http://schemas.openxmlformats.org/drawingml/2006/main">
            <a:r>
              <a:t>eagle/analysis/report.py:1-130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版本截點：2026-10-21。程式版本：fcc8b770。</a:t>
            </a:r>
          </a:p>
          <a:p xmlns:a="http://schemas.openxmlformats.org/drawingml/2006/main">
            <a:r>
              <a:t>這頁是目前 checked-in config 的具體範例，不是所有模式的預設。頂層 model 為 Qwen 3.5-9B，含本地 managed primary 與一個外部 additional endpoint；機器路徑與位址需配合實際環境。bootstrap_backend 為 mistral、framework.model 為 mistral-small-latest。此配置示範完整流程的實際連接，並不宣稱本次已啟動或完成這組實驗。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程式來源（此版本的一基行號）：</a:t>
            </a:r>
          </a:p>
          <a:p xmlns:a="http://schemas.openxmlformats.org/drawingml/2006/main">
            <a:r>
              <a:t>configs/framework_coach.yaml:1-98</a:t>
            </a:r>
          </a:p>
          <a:p xmlns:a="http://schemas.openxmlformats.org/drawingml/2006/main">
            <a:r>
              <a:t>eagle/config.py:580-658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模式：framework_slots / local；population 10；G1–20；self_play / tournament-v1；搜尋 180 場／candidate；Final Test 600 場／run。</a:t>
            </a:r>
          </a:p>
          <a:p xmlns:a="http://schemas.openxmlformats.org/drawingml/2006/main">
            <a:r>
              <a:t>批次與 run：{"columns":["cohort","seed","run_id","generations_completed","generations_target","final_test_completed","final_test_target","status"],"rows":[{"cohort":"上次","seed":8,"run_id":"20261019_152601_037528","generations_completed":20,"generations_target":20,"final_test_completed":600,"final_test_target":600,"status":"complete"},{"cohort":"上次","seed":9,"run_id":"20261019_182037_312877","generations_completed":20,"generations_target":20,"final_test_completed":600,"final_test_target":600,"status":"complete"},{"cohort":"上次","seed":10,"run_id":"20261019_103405_871333","generations_completed":20,"generations_target":20,"final_test_completed":600,"final_test_target":600,"status":"complete"},{"cohort":"上次","seed":11,"run_id":"20261020_135403_027378","generations_completed":20,"generations_target":20,"final_test_completed":600,"final_test_target":600,"status":"complete"},{"cohort":"上次","seed":12,"run_id":"20261020_170514_392422","generations_completed":20,"generations_target":20,"final_test_completed":600,"final_test_target":600,"status":"complete"},{"cohort":"上次","seed":13,"run_id":"20261020_195907_969170","generations_completed":20,"generations_target":20,"final_test_completed":600,"final_test_target":600,"status":"complete"},{"cohort":"本次","seed":8,"run_id":"20261021_002848_496277","generations_completed":20,"generations_target":20,"final_test_completed":600,"final_test_target":600,"status":"complete"},{"cohort":"本次","seed":9,"run_id":"20261021_034914_985024","generations_completed":20,"generations_target":20,"final_test_completed":600,"final_test_target":600,"status":"complete"},{"cohort":"本次","seed":10,"run_id":"20261021_074505_348782","generations_completed":20,"generations_target":20,"final_test_completed":600,"final_test_target":600,"status":"complete"},{"cohort":"本次","seed":11,"run_id":"20261021_131355_062329","generations_completed":20,"generations_target":20,"final_test_completed":600,"final_test_target":600,"status":"complete"},{"cohort":"本次","seed":12,"run_id":"20261021_165442_013504","generations_completed":20,"generations_target":20,"final_test_completed":600,"final_test_target":600,"status":"complete"},{"cohort":"本次","seed":13,"run_id":"20261021_202021_187555","generations_completed":20,"generations_target":20,"final_test_completed":600,"final_test_target":600,"status":"complete"}],"reported_completed_runs":12,"reported_pending_runs":0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指標：G20 population best、population mean、population sd、semantic unique。</a:t>
            </a:r>
          </a:p>
          <a:p xmlns:a="http://schemas.openxmlformats.org/drawingml/2006/main">
            <a:r>
              <a:t>{"previous":{"runs":6,"rows":[{"seed":8,"best":5.592004,"population_mean":4.306859,"population_sd":0.675312,"semantic_unique":1,"population_size":10},{"seed":9,"best":25.732783,"population_mean":24.711095,"population_sd":0.690845,"semantic_unique":2,"population_size":10},{"seed":10,"best":-32.036904,"population_mean":-38.78931,"population_sd":3.609358,"semantic_unique":2,"population_size":10},{"seed":11,"best":10.988062,"population_mean":9.419064,"population_sd":0.695889,"semantic_unique":1,"population_size":10},{"seed":12,"best":6.760507,"population_mean":5.639454,"population_sd":0.698418,"semantic_unique":1,"population_size":10},{"seed":13,"best":18.267322,"population_mean":15.719177,"population_sd":1.029331,"semantic_unique":4,"population_size":10}],"mean_best":5.883962333333334,"semantic_unique_counts":[1,2,2,1,1,4]},"current_completed":{"runs":6,"rows":[{"seed":8,"best":-3.341748,"population_mean":-5.261612,"population_sd":0.801493,"semantic_unique":3,"population_size":10},{"seed":9,"best":22.99951,"population_mean":21.125998,"population_sd":1.072581,"semantic_unique":1,"population_size":10},{"seed":10,"best":-32.033214,"population_mean":-38.787987,"population_sd":3.612801,"semantic_unique":2,"population_size":10},{"seed":11,"best":13.117691,"population_mean":12.466486,"population_sd":0.306807,"semantic_unique":1,"population_size":10},{"seed":12,"best":8.560747,"population_mean":7.885555,"population_sd":0.410018,"semantic_unique":1,"population_size":10},{"seed":13,"best":22.949003,"population_mean":21.969302,"population_sd":0.39363,"semantic_unique":5,"population_size":10}],"mean_best":5.375331500000001,"semantic_unique_counts":[3,1,2,1,1,5]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各世代 population best；世代為 G0、G5、G10、G15、G20。</a:t>
            </a:r>
          </a:p>
          <a:p xmlns:a="http://schemas.openxmlformats.org/drawingml/2006/main">
            <a:r>
              <a:t>{"columns":["seed","cohort","g0","g5","g10","g15","g20"],"rows":[{"seed":8,"cohort":"上次","g0":-57.327551,"g5":-1.36018,"g10":6.183734,"g15":5.123898,"g20":5.592004},{"seed":9,"cohort":"上次","g0":-71.713681,"g5":-58.546765,"g10":-18.482364,"g15":22.950039,"g20":25.732783},{"seed":10,"cohort":"上次","g0":-70.591722,"g5":-49.131152,"g10":-41.481331,"g15":-14.999246,"g20":-32.036904},{"seed":11,"cohort":"上次","g0":-69.303636,"g5":4.585921,"g10":24.209648,"g15":22.449908,"g20":10.988062},{"seed":12,"cohort":"上次","g0":-70.456543,"g5":0.009543,"g10":9.67842,"g15":23.497715,"g20":6.760507},{"seed":13,"cohort":"上次","g0":-70.967267,"g5":-11.476352,"g10":-2.79877,"g15":-5.854624,"g20":18.267322},{"seed":8,"cohort":"本次","g0":-57.338081,"g5":-1.107881,"g10":5.642987,"g15":5.716487,"g20":-3.341748},{"seed":9,"cohort":"本次","g0":-71.712625,"g5":-58.571535,"g10":-19.243351,"g15":22.495612,"g20":22.99951},{"seed":10,"cohort":"本次","g0":-70.590025,"g5":-49.136225,"g10":-41.492792,"g15":-15.00325,"g20":-32.033214},{"seed":11,"cohort":"本次","g0":-69.299692,"g5":7.34023,"g10":20.63283,"g15":24.229256,"g20":13.117691},{"seed":12,"cohort":"本次","g0":-70.450812,"g5":0.006855,"g10":12.554927,"g15":24.649235,"g20":8.560747},{"seed":13,"cohort":"本次","g0":-70.96479,"g5":-11.474718,"g10":-3.014888,"g15":1.579132,"g20":22.949003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Test：10 opponents × 3 maps × 10 games/side = 600 matches/run。W=勝、D=和、L=負、E=錯誤；勝率=勝／總場數。</a:t>
            </a:r>
          </a:p>
          <a:p xmlns:a="http://schemas.openxmlformats.org/drawingml/2006/main">
            <a:r>
              <a:t>{"protocol_matches_per_run":600,"columns":["cohort","runs","wins","losses","draws","errors","matches","aggregate_win_rate_percent"],"cohorts":[{"cohort":"上次","runs":6,"wins":1164,"draws":152,"losses":2284,"errors":0,"matches":3600,"aggregate_win_rate_percent":32.33},{"cohort":"本次","runs":6,"wins":1122,"draws":148,"losses":2330,"errors":0,"matches":3600,"aggregate_win_rate_percent":31.17}],"source_note":"runs/&lt;run_id&gt;/final_test/final_test_summary.json: table, total_matches"}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兩批各 seed 8–13；每個對手為 6 runs × 60 matches = 360 matches。</a:t>
            </a:r>
          </a:p>
          <a:p xmlns:a="http://schemas.openxmlformats.org/drawingml/2006/main">
            <a:r>
              <a:t>{"previous":[{"opponent":"passive","wins":300,"draws":60,"losses":0,"errors":0,"matches":360},{"opponent":"random","wins":328,"draws":30,"losses":2,"errors":0,"matches":360},{"opponent":"randombias","wins":300,"draws":22,"losses":38,"errors":0,"matches":360},{"opponent":"lightrush","wins":50,"draws":10,"losses":300,"errors":0,"matches":360},{"opponent":"heavyrush","wins":130,"draws":0,"losses":230,"errors":0,"matches":360},{"opponent":"workerrush","wins":40,"draws":10,"losses":310,"errors":0,"matches":360},{"opponent":"allinbot","wins":6,"draws":5,"losses":349,"errors":0,"matches":360},{"opponent":"mayari","wins":0,"draws":15,"losses":345,"errors":0,"matches":360},{"opponent":"coac","wins":10,"draws":0,"losses":350,"errors":0,"matches":360},{"opponent":"tma","wins":0,"draws":0,"losses":360,"errors":0,"matches":360}],"current":[{"opponent":"passive","wins":300,"draws":60,"losses":0,"errors":0,"matches":360},{"opponent":"random","wins":329,"draws":31,"losses":0,"errors":0,"matches":360},{"opponent":"randombias","wins":292,"draws":32,"losses":36,"errors":0,"matches":360},{"opponent":"lightrush","wins":60,"draws":0,"losses":300,"errors":0,"matches":360},{"opponent":"heavyrush","wins":100,"draws":0,"losses":260,"errors":0,"matches":360},{"opponent":"workerrush","wins":30,"draws":10,"losses":320,"errors":0,"matches":360},{"opponent":"allinbot","wins":1,"draws":4,"losses":355,"errors":0,"matches":360},{"opponent":"mayari","wins":0,"draws":11,"losses":349,"errors":0,"matches":360},{"opponent":"coac","wins":10,"draws":0,"losses":350,"errors":0,"matches":360},{"opponent":"tma","wins":0,"draws":0,"losses":360,"errors":0,"matches":360}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指標：G20 semantic unique；population 10；三張地圖 × 三個階段。</a:t>
            </a:r>
          </a:p>
          <a:p xmlns:a="http://schemas.openxmlformats.org/drawingml/2006/main">
            <a:r>
              <a:t>{"previous":[1,2,2,1,1,4],"current":[3,1,2,1,1,5]}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來源：/home/mhlab/EAGLE/runs/&lt;run_id&gt;；數據截點：2026-10-22 Asia/Taipei。欄位來源：{"thread_id":"01a1532f-8c1e-7d52-9e39-db06a38b5812","host":"remote-control:env_e_6a8460e4e7d0832ebe87dbd74cff01a5","artifact_root":"/home/mhlab/EAGLE","snapshot_label":"2026-10-22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total_matches"}。原報告 reports/1021_framework_stability_comparison.md；SHA-256 09f96e8b825f43e9e47a40d578afd85dd5108d626332b2b1bad61f28283dde87。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時間：搜尋 wall time 為 G0 開始至 G20 完成；G0 為該代 duration；G1–20 為世代 duration 加總；Final Test 為 600 場對戰的時間跨度，排除 compilation 與 Integration。單位 seconds，表格四捨五入至整秒。</a:t>
            </a:r>
          </a:p>
          <a:p xmlns:a="http://schemas.openxmlformats.org/drawingml/2006/main">
            <a:r>
              <a:t>{"available":true,"rows":[{"cohort":"上次","seed":8,"run_id":"20261019_152601_037528","status":"complete","generations_completed":20,"search_wall_seconds":10374.866,"initialization_seconds":522.792,"evolution_seconds":9848.488,"final_test_seconds":99.512,"wins":239,"draws":13,"losses":348,"errors":0,"matches":600},{"cohort":"上次","seed":9,"run_id":"20261019_182037_312877","status":"complete","generations_completed":20,"search_wall_seconds":12257.945,"initialization_seconds":497.646,"evolution_seconds":11755.547,"final_test_seconds":119.06,"wins":251,"draws":1,"losses":348,"errors":0,"matches":600},{"cohort":"上次","seed":10,"run_id":"20261019_103405_871333","status":"complete","generations_completed":20,"search_wall_seconds":17362.051,"initialization_seconds":515.172,"evolution_seconds":16843.476,"final_test_seconds":150.677,"wins":79,"draws":97,"losses":424,"errors":0,"matches":600},{"cohort":"上次","seed":11,"run_id":"20261020_135403_027378","status":"complete","generations_completed":20,"search_wall_seconds":11343.296,"initialization_seconds":570.849,"evolution_seconds":10771.148,"final_test_seconds":125.726,"wins":225,"draws":17,"losses":358,"errors":0,"matches":600},{"cohort":"上次","seed":12,"run_id":"20261020_170514_392422","status":"complete","generations_completed":20,"search_wall_seconds":10308.799,"initialization_seconds":498.24,"evolution_seconds":9809.485,"final_test_seconds":122.554,"wins":198,"draws":19,"losses":383,"errors":0,"matches":600},{"cohort":"上次","seed":13,"run_id":"20261020_195907_969170","status":"complete","generations_completed":20,"search_wall_seconds":12509.009,"initialization_seconds":487.231,"evolution_seconds":12020.596,"final_test_seconds":92.874,"wins":172,"draws":5,"losses":423,"errors":0,"matches":600},{"cohort":"本次","seed":8,"run_id":"20261021_002848_496277","status":"complete","generations_completed":20,"search_wall_seconds":11907.924,"initialization_seconds":554.364,"evolution_seconds":11351.931,"final_test_seconds":116.34,"wins":209,"draws":3,"losses":388,"errors":0,"matches":600},{"cohort":"本次","seed":9,"run_id":"20261021_034914_985024","status":"complete","generations_completed":20,"search_wall_seconds":14015.655,"initialization_seconds":561.888,"evolution_seconds":13451.897,"final_test_seconds":132.173,"wins":210,"draws":4,"losses":386,"errors":0,"matches":600},{"cohort":"本次","seed":10,"run_id":"20261021_074505_348782","status":"complete","generations_completed":20,"search_wall_seconds":19553.744,"initialization_seconds":561.167,"evolution_seconds":18989.792,"final_test_seconds":173.538,"wins":79,"draws":97,"losses":424,"errors":0,"matches":600},{"cohort":"本次","seed":11,"run_id":"20261021_131355_062329","status":"complete","generations_completed":20,"search_wall_seconds":13098.014,"initialization_seconds":558.229,"evolution_seconds":12536.799,"final_test_seconds":146.619,"wins":228,"draws":15,"losses":357,"errors":0,"matches":600},{"cohort":"本次","seed":12,"run_id":"20261021_165442_013504","status":"complete","generations_completed":20,"search_wall_seconds":12183.715,"initialization_seconds":566.996,"evolution_seconds":11614.279,"final_test_seconds":152.023,"wins":179,"draws":26,"losses":395,"errors":0,"matches":600},{"cohort":"本次","seed":13,"run_id":"20261021_202021_187555","status":"complete","generations_completed":20,"search_wall_seconds":14174.662,"initialization_seconds":549.497,"evolution_seconds":13622.763,"final_test_seconds":102.667,"wins":217,"draws":3,"losses":380,"errors":0,"matches":600}],"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sequences"},"source":{"thread_id":"01a1532f-8c1e-7d52-9e39-db06a38b5812","host":"remote-control:env_e_6a8460e4e7d0832ebe87dbd74cff01a5","artifact_root":"/home/mhlab/EAGLE","snapshot_label":"2026-10-22 Asia/Taipei","message_ids":["msg_00e51028c7b7378e016ad8e6b5b8cc819180bf90071e13234e","msg_00e51028c7b7378e016ad8e6f633988191b075856cffa679f7"],"timing_definitions":{"search_wall_seconds":"timing.jsonl generation events: G0.started_at to G20.finished_at; excludes framework bootstrap and Final Test","initialization_seconds":"timing.jsonl event=generation, generation=0 duration_seconds; excludes framework bootstrap","evolution_seconds":"sum of event=generation duration_seconds for generations 1..20; stage sum","final_test_seconds":"600 final-test matches: minimum timing.started_at to maximum timing.finished_at; excludes compilation and Integration","resume":"All 12 manifests have no resume_from/resumed_from and complete G0–G20 sequences"},"generation_sources":{"path":"runs/&lt;run_id&gt;/generations/generation_XXXX.json","best":"metrics.game_performance.best","population_mean":"metrics.game_performance.mean","population_sd":"metrics.objectives.game_performance.standard_deviation","semantic_unique":"metrics.semantic_library.global.unique_signature_count"},"outcome_source":"runs/&lt;run_id&gt;/final_test/final_test_summary.json: table, total_matches"}}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33e7708981410f" /><Relationship Type="http://schemas.openxmlformats.org/officeDocument/2006/relationships/image" Target="/ppt/media/image.png" Id="Rbd5e61206adb4f1e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30a698ae3448f0" /><Relationship Type="http://schemas.openxmlformats.org/officeDocument/2006/relationships/image" Target="/ppt/media/image.png" Id="R110f7a87f01d4e0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63fe8f6ff444b" /><Relationship Type="http://schemas.openxmlformats.org/officeDocument/2006/relationships/image" Target="/ppt/media/image.png" Id="R2cc4e8421ff74b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235875a6224038" /><Relationship Type="http://schemas.openxmlformats.org/officeDocument/2006/relationships/image" Target="/ppt/media/image.png" Id="R833697d99e7d49e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a050aba4fe4d2f" /><Relationship Type="http://schemas.openxmlformats.org/officeDocument/2006/relationships/image" Target="/ppt/media/image.png" Id="R069f42d0ae2245f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34b1cfd9054c3b" /><Relationship Type="http://schemas.openxmlformats.org/officeDocument/2006/relationships/image" Target="/ppt/media/image.png" Id="Rd5a6b47087ca4fc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e28629184b349f4" /><Relationship Type="http://schemas.openxmlformats.org/officeDocument/2006/relationships/image" Target="/ppt/media/image.png" Id="R88bdd14de1f14a1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74ec96a5874528" /><Relationship Type="http://schemas.openxmlformats.org/officeDocument/2006/relationships/image" Target="/ppt/media/image.png" Id="Rf6ce9e7c4ac2467d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1574c9b2df04e2a" /><Relationship Type="http://schemas.openxmlformats.org/officeDocument/2006/relationships/image" Target="/ppt/media/image.png" Id="Re8850012748844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c0831913146f9" /><Relationship Type="http://schemas.openxmlformats.org/officeDocument/2006/relationships/image" Target="/ppt/media/image.png" Id="Rfd5fafe170bf4bc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2cc39d1ff846df" /><Relationship Type="http://schemas.openxmlformats.org/officeDocument/2006/relationships/image" Target="/ppt/media/image.png" Id="Rbebd21b291de4e1f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d12b37d50bb43e0" /><Relationship Type="http://schemas.openxmlformats.org/officeDocument/2006/relationships/image" Target="/ppt/media/image.png" Id="Rfcfc185ff9ee4b9d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9dad1e97094df2" /><Relationship Type="http://schemas.openxmlformats.org/officeDocument/2006/relationships/image" Target="/ppt/media/image.png" Id="R42fc9641655e42f8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5ce359083c4245" /><Relationship Type="http://schemas.openxmlformats.org/officeDocument/2006/relationships/image" Target="/ppt/media/image.png" Id="R437337388e744329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131494c17c46ef" /><Relationship Type="http://schemas.openxmlformats.org/officeDocument/2006/relationships/image" Target="/ppt/media/image.png" Id="R1e4f6b406c304aae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0aac7586f040d5" /><Relationship Type="http://schemas.openxmlformats.org/officeDocument/2006/relationships/image" Target="/ppt/media/image.png" Id="R858da63e60e54cea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9169880a5ec427b" /><Relationship Type="http://schemas.openxmlformats.org/officeDocument/2006/relationships/image" Target="/ppt/media/image.png" Id="Rdbb7779a30854816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f374f7304b421c" /><Relationship Type="http://schemas.openxmlformats.org/officeDocument/2006/relationships/image" Target="/ppt/media/image.png" Id="R7fa91e991017462c" /></Relationships>
</file>

<file path=ppt/slideLayouts/slideLayout1.xml><?xml version="1.0" encoding="utf-8"?>
<p:sldLayout xmlns:p="http://schemas.openxmlformats.org/presentationml/2006/main" type="title" preserve="1">
  <p:cSld name="封面">
    <p:bg>
      <p:bgPr>
        <a:blipFill xmlns:a="http://schemas.openxmlformats.org/drawingml/2006/main">
          <a:blip xmlns:r="http://schemas.openxmlformats.org/officeDocument/2006/relationships" r:embed="Rbd5e61206adb4f1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34C9E6-C370-4CE6-8C49-57861F01F24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2762250"/>
            <a:ext cx="10972800" cy="1333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7A0C5AD2-9560-46CF-A557-9D96775B73BB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857500" y="4429125"/>
            <a:ext cx="10210800" cy="9525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hf sldNum="1" hdr="0" ftr="0" dt="0"/>
</p:sldLayout>
</file>

<file path=ppt/slideLayouts/slideLayout2.xml><?xml version="1.0" encoding="utf-8"?>
<p:sldLayout xmlns:p="http://schemas.openxmlformats.org/presentationml/2006/main" type="secHead" preserve="1">
  <p:cSld name="章節標題">
    <p:bg>
      <p:bgPr>
        <a:blipFill xmlns:a="http://schemas.openxmlformats.org/drawingml/2006/main">
          <a:blip xmlns:r="http://schemas.openxmlformats.org/officeDocument/2006/relationships" r:embed="R110f7a87f01d4e03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E3969E06-0C81-48D2-BB37-515771E13DC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476500" y="3238500"/>
            <a:ext cx="10972800" cy="12382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2">
            <a:extLst xmlns:a="http://schemas.openxmlformats.org/drawingml/2006/main">
              <a:ext uri="{FF2B5EF4-FFF2-40B4-BE49-F238E27FC236}">
                <a16:creationId xmlns:a16="http://schemas.microsoft.com/office/drawing/2014/main" id="{590865AA-9D35-4748-91A3-B387D561BA4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048000" y="4714875"/>
            <a:ext cx="9829800" cy="8572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按一下以新增章節說明</a:t>
            </a:r>
          </a:p>
        </p:txBody>
      </p:sp>
    </p:spTree>
  </p:cSld>
  <p:hf sldNum="1" hdr="0" ftr="0" dt="0"/>
</p:sldLayout>
</file>

<file path=ppt/slideLayouts/slideLayout3.xml><?xml version="1.0" encoding="utf-8"?>
<p:sldLayout xmlns:p="http://schemas.openxmlformats.org/presentationml/2006/main" type="obj" preserve="1">
  <p:cSld name="標題及內容">
    <p:bg>
      <p:bgPr>
        <a:blipFill xmlns:a="http://schemas.openxmlformats.org/drawingml/2006/main">
          <a:blip xmlns:r="http://schemas.openxmlformats.org/officeDocument/2006/relationships" r:embed="R2cc4e8421ff74b8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6EC4DF72-535F-4440-B07D-46BAD5D2A2AE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353937-B2B6-48C4-A2B5-2F27B15E716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2425B3F-3430-4EDE-B5B3-73C027E72E1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4.xml><?xml version="1.0" encoding="utf-8"?>
<p:sldLayout xmlns:p="http://schemas.openxmlformats.org/presentationml/2006/main" type="twoObj" preserve="1">
  <p:cSld name="兩項內容">
    <p:bg>
      <p:bgPr>
        <a:blipFill xmlns:a="http://schemas.openxmlformats.org/drawingml/2006/main">
          <a:blip xmlns:r="http://schemas.openxmlformats.org/officeDocument/2006/relationships" r:embed="R833697d99e7d49e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A4791D8-472B-4CB1-9BF5-68D6DDA5E08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302C0C6D-C490-4DDF-92D9-E216E08E1CE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0892CF96-6BB8-469E-8C05-16E6627067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00538733-DF1C-4D96-92B6-38724A005A9A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8191500" y="2619375"/>
            <a:ext cx="6305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5.xml><?xml version="1.0" encoding="utf-8"?>
<p:sldLayout xmlns:p="http://schemas.openxmlformats.org/presentationml/2006/main" type="twoTxTwoObj" preserve="1">
  <p:cSld name="比較">
    <p:bg>
      <p:bgPr>
        <a:blipFill xmlns:a="http://schemas.openxmlformats.org/drawingml/2006/main">
          <a:blip xmlns:r="http://schemas.openxmlformats.org/officeDocument/2006/relationships" r:embed="R069f42d0ae2245f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C4DD0E43-2CD7-44D8-A8DE-10D092170A6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076D8F65-D3F7-4349-B3FE-19769F62948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E2F427F0-C955-46A6-9858-9A50C0C635E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5" name="EAGLE_4">
            <a:extLst xmlns:a="http://schemas.openxmlformats.org/drawingml/2006/main">
              <a:ext uri="{FF2B5EF4-FFF2-40B4-BE49-F238E27FC236}">
                <a16:creationId xmlns:a16="http://schemas.microsoft.com/office/drawing/2014/main" id="{3BB99614-5410-42D4-8D56-3C67339DE590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142875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3">
            <a:extLst xmlns:a="http://schemas.openxmlformats.org/drawingml/2006/main">
              <a:ext uri="{FF2B5EF4-FFF2-40B4-BE49-F238E27FC236}">
                <a16:creationId xmlns:a16="http://schemas.microsoft.com/office/drawing/2014/main" id="{A31AD1B3-6BB9-4504-B9C5-087515F7D2D4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2571750"/>
            <a:ext cx="6305550" cy="619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按一下以新增欄位標題</a:t>
            </a:r>
          </a:p>
        </p:txBody>
      </p:sp>
      <p:sp>
        <p:nvSpPr>
          <p:cNvPr id="7" name="EAGLE_5">
            <a:extLst xmlns:a="http://schemas.openxmlformats.org/drawingml/2006/main">
              <a:ext uri="{FF2B5EF4-FFF2-40B4-BE49-F238E27FC236}">
                <a16:creationId xmlns:a16="http://schemas.microsoft.com/office/drawing/2014/main" id="{31D81A76-EB56-426E-8AAB-C05D479E14FD}"/>
              </a:ext>
            </a:extLst>
          </p:cNvPr>
          <p:cNvSpPr>
            <a:spLocks xmlns:a="http://schemas.openxmlformats.org/drawingml/2006/main" noGrp="1"/>
          </p:cNvSpPr>
          <p:nvPr>
            <p:ph idx="5"/>
          </p:nvPr>
        </p:nvSpPr>
        <p:spPr>
          <a:xfrm xmlns:a="http://schemas.openxmlformats.org/drawingml/2006/main">
            <a:off x="8191500" y="3476625"/>
            <a:ext cx="6305550" cy="40481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6.xml><?xml version="1.0" encoding="utf-8"?>
<p:sldLayout xmlns:p="http://schemas.openxmlformats.org/presentationml/2006/main" preserve="1">
  <p:cSld name="三欄內容">
    <p:bg>
      <p:bgPr>
        <a:blipFill xmlns:a="http://schemas.openxmlformats.org/drawingml/2006/main">
          <a:blip xmlns:r="http://schemas.openxmlformats.org/officeDocument/2006/relationships" r:embed="Rd5a6b47087ca4fc4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D22686DD-6022-4F4D-883C-A3A2AE4FE63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6D6AF434-5A04-42F0-BBFA-BC92C5799861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FEB69765-384F-41D2-A24F-900B0409C29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BB259B69-1EC0-4318-8F78-3881E3FD7476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594360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6" name="EAGLE_4">
            <a:extLst xmlns:a="http://schemas.openxmlformats.org/drawingml/2006/main">
              <a:ext uri="{FF2B5EF4-FFF2-40B4-BE49-F238E27FC236}">
                <a16:creationId xmlns:a16="http://schemas.microsoft.com/office/drawing/2014/main" id="{86B9ECF8-06DD-4853-A29A-64E7D62F27E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10458450" y="2619375"/>
            <a:ext cx="40386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</p:spTree>
  </p:cSld>
  <p:hf sldNum="1" hdr="0" ftr="0" dt="0"/>
</p:sldLayout>
</file>

<file path=ppt/slideLayouts/slideLayout7.xml><?xml version="1.0" encoding="utf-8"?>
<p:sldLayout xmlns:p="http://schemas.openxmlformats.org/presentationml/2006/main" type="picTx" preserve="1">
  <p:cSld name="圖片及標題">
    <p:bg>
      <p:bgPr>
        <a:blipFill xmlns:a="http://schemas.openxmlformats.org/drawingml/2006/main">
          <a:blip xmlns:r="http://schemas.openxmlformats.org/officeDocument/2006/relationships" r:embed="R88bdd14de1f14a17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93752F55-AC4A-40BE-B03B-0C040D71840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8B7D0469-A4AB-493F-ACBF-E8CB73C3A60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9089290D-C95F-4404-8DFC-D4901DA1C1B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2000250" y="2476500"/>
            <a:ext cx="11925300" cy="461962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D1E03D6F-4B50-441D-9B62-7C7CF72080CE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2000250" y="7334250"/>
            <a:ext cx="11925300" cy="66675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按一下以新增圖片說明</a:t>
            </a:r>
          </a:p>
        </p:txBody>
      </p:sp>
    </p:spTree>
  </p:cSld>
  <p:hf sldNum="1" hdr="0" ftr="0" dt="0"/>
</p:sldLayout>
</file>

<file path=ppt/slideLayouts/slideLayout8.xml><?xml version="1.0" encoding="utf-8"?>
<p:sldLayout xmlns:p="http://schemas.openxmlformats.org/presentationml/2006/main" type="objTx" preserve="1">
  <p:cSld name="內容與圖片">
    <p:bg>
      <p:bgPr>
        <a:blipFill xmlns:a="http://schemas.openxmlformats.org/drawingml/2006/main">
          <a:blip xmlns:r="http://schemas.openxmlformats.org/officeDocument/2006/relationships" r:embed="Rf6ce9e7c4ac2467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4E1AFFBC-8DD7-4858-BE9E-DF7B9E84524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1E591F6-4009-4737-9C0E-3381B92FB0A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277AB01-EE8D-4317-87D9-BEC820CCC3C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5476875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按一下以新增內容</a:t>
            </a:r>
          </a:p>
        </p:txBody>
      </p:sp>
      <p:sp>
        <p:nvSpPr>
          <p:cNvPr id="5" name="EAGLE_3">
            <a:extLst xmlns:a="http://schemas.openxmlformats.org/drawingml/2006/main">
              <a:ext uri="{FF2B5EF4-FFF2-40B4-BE49-F238E27FC236}">
                <a16:creationId xmlns:a16="http://schemas.microsoft.com/office/drawing/2014/main" id="{882ACEB2-431F-4BBF-8F1B-4F07F63851B4}"/>
              </a:ext>
            </a:extLst>
          </p:cNvPr>
          <p:cNvSpPr>
            <a:spLocks xmlns:a="http://schemas.openxmlformats.org/drawingml/2006/main" noGrp="1"/>
          </p:cNvSpPr>
          <p:nvPr>
            <p:ph idx="3"/>
          </p:nvPr>
        </p:nvSpPr>
        <p:spPr>
          <a:xfrm xmlns:a="http://schemas.openxmlformats.org/drawingml/2006/main">
            <a:off x="7429500" y="2619375"/>
            <a:ext cx="706755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按一下以新增圖片</a:t>
            </a:r>
          </a:p>
        </p:txBody>
      </p:sp>
    </p:spTree>
  </p:cSld>
  <p:hf sldNum="1" hdr="0" ftr="0" dt="0"/>
</p:sldLayout>
</file>

<file path=ppt/slideLayouts/slideLayout9.xml><?xml version="1.0" encoding="utf-8"?>
<p:sldLayout xmlns:p="http://schemas.openxmlformats.org/presentationml/2006/main" preserve="1">
  <p:cSld name="標題及表格">
    <p:bg>
      <p:bgPr>
        <a:blipFill xmlns:a="http://schemas.openxmlformats.org/drawingml/2006/main">
          <a:blip xmlns:r="http://schemas.openxmlformats.org/officeDocument/2006/relationships" r:embed="Re8850012748844e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3F380ADE-E8BD-4361-83D4-34B395C514E3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198BEF13-EEB7-4982-8834-382B045AD4BD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72D86C95-69D7-4516-97E8-EFF008A8DEC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按一下以新增表格</a:t>
            </a:r>
          </a:p>
        </p:txBody>
      </p:sp>
    </p:spTree>
  </p:cSld>
  <p:hf sldNum="1" hdr="0" ftr="0" dt="0"/>
</p:sldLayout>
</file>

<file path=ppt/slideLayouts/slideLayout10.xml><?xml version="1.0" encoding="utf-8"?>
<p:sldLayout xmlns:p="http://schemas.openxmlformats.org/presentationml/2006/main" preserve="1">
  <p:cSld name="標題及圖表">
    <p:bg>
      <p:bgPr>
        <a:blipFill xmlns:a="http://schemas.openxmlformats.org/drawingml/2006/main">
          <a:blip xmlns:r="http://schemas.openxmlformats.org/officeDocument/2006/relationships" r:embed="Rfd5fafe170bf4bc2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1A30452A-65F7-44A3-A2FA-1CF1F34140E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C07D963E-74AF-48B2-8248-0768C947D07F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  <p:sp>
        <p:nvSpPr>
          <p:cNvPr id="4" name="EAGLE_2">
            <a:extLst xmlns:a="http://schemas.openxmlformats.org/drawingml/2006/main">
              <a:ext uri="{FF2B5EF4-FFF2-40B4-BE49-F238E27FC236}">
                <a16:creationId xmlns:a16="http://schemas.microsoft.com/office/drawing/2014/main" id="{6394422A-37D3-4C97-96C5-AF5AE3C8DC4D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1428750" y="2619375"/>
            <a:ext cx="13068300" cy="4905375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按一下以新增圖表</a:t>
            </a:r>
          </a:p>
        </p:txBody>
      </p:sp>
    </p:spTree>
  </p:cSld>
  <p:hf sldNum="1" hdr="0" ftr="0" dt="0"/>
</p:sldLayout>
</file>

<file path=ppt/slideLayouts/slideLayout11.xml><?xml version="1.0" encoding="utf-8"?>
<p:sldLayout xmlns:p="http://schemas.openxmlformats.org/presentationml/2006/main" type="titleOnly" preserve="1">
  <p:cSld name="僅標題">
    <p:bg>
      <p:bgPr>
        <a:blipFill xmlns:a="http://schemas.openxmlformats.org/drawingml/2006/main">
          <a:blip xmlns:r="http://schemas.openxmlformats.org/officeDocument/2006/relationships" r:embed="Rbebd21b291de4e1f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EAGLE_0">
            <a:extLst xmlns:a="http://schemas.openxmlformats.org/drawingml/2006/main">
              <a:ext uri="{FF2B5EF4-FFF2-40B4-BE49-F238E27FC236}">
                <a16:creationId xmlns:a16="http://schemas.microsoft.com/office/drawing/2014/main" id="{2F1A0662-494B-4627-BCEA-708F46AE5F7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2286000" y="438150"/>
            <a:ext cx="11353800" cy="104775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按一下以新增標題</a:t>
            </a:r>
          </a:p>
        </p:txBody>
      </p:sp>
      <p:sp>
        <p:nvSpPr>
          <p:cNvPr id="3" name="EAGLE_1">
            <a:extLst xmlns:a="http://schemas.openxmlformats.org/drawingml/2006/main">
              <a:ext uri="{FF2B5EF4-FFF2-40B4-BE49-F238E27FC236}">
                <a16:creationId xmlns:a16="http://schemas.microsoft.com/office/drawing/2014/main" id="{5E4D67E8-1093-453A-AE8D-20B1DE405F8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2476500" y="1571625"/>
            <a:ext cx="10972800" cy="4572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按一下以新增副標題</a:t>
            </a:r>
          </a:p>
        </p:txBody>
      </p:sp>
    </p:spTree>
  </p:cSld>
  <p:hf sldNum="1" hdr="0" ftr="0" dt="0"/>
</p:sldLayout>
</file>

<file path=ppt/slideLayouts/slideLayout12.xml><?xml version="1.0" encoding="utf-8"?>
<p:sldLayout xmlns:p="http://schemas.openxmlformats.org/presentationml/2006/main" type="blank" preserve="1">
  <p:cSld name="空白">
    <p:bg>
      <p:bgPr>
        <a:blipFill xmlns:a="http://schemas.openxmlformats.org/drawingml/2006/main">
          <a:blip xmlns:r="http://schemas.openxmlformats.org/officeDocument/2006/relationships" r:embed="Rfcfc185ff9ee4b9d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hf sldNum="1" hdr="0" ftr="0" dt="0"/>
</p:sldLayout>
</file>

<file path=ppt/slideLayouts/slideLayout13.xml><?xml version="1.0" encoding="utf-8"?>
<p:sldLayout xmlns:p="http://schemas.openxmlformats.org/presentationml/2006/main">
  <p:cSld name="圖解流程">
    <p:bg>
      <p:bgPr>
        <a:blipFill xmlns:a="http://schemas.openxmlformats.org/drawingml/2006/main">
          <a:blip xmlns:r="http://schemas.openxmlformats.org/officeDocument/2006/relationships" r:embed="R42fc9641655e42f8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D343BEC8-4FF7-4C42-BAEF-F0844276C6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35EDE28A-4D88-4410-BC81-78BFC4EC6E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>
  <p:cSld name="選項與對應">
    <p:bg>
      <p:bgPr>
        <a:blipFill xmlns:a="http://schemas.openxmlformats.org/drawingml/2006/main">
          <a:blip xmlns:r="http://schemas.openxmlformats.org/officeDocument/2006/relationships" r:embed="R437337388e744329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4063884-4286-4891-AA5D-7C3B4BB71A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F8EBEDCD-38A6-4A18-B993-A6629EBE864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>
  <p:cSld name="矩陣與規則">
    <p:bg>
      <p:bgPr>
        <a:blipFill xmlns:a="http://schemas.openxmlformats.org/drawingml/2006/main">
          <a:blip xmlns:r="http://schemas.openxmlformats.org/officeDocument/2006/relationships" r:embed="R1e4f6b406c304aae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57CDC979-F021-4DD3-93B8-5791616220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5941E485-AEDA-4F60-96AE-4786D06AA13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>
  <p:cSld name="結果圖表">
    <p:bg>
      <p:bgPr>
        <a:blipFill xmlns:a="http://schemas.openxmlformats.org/drawingml/2006/main">
          <a:blip xmlns:r="http://schemas.openxmlformats.org/officeDocument/2006/relationships" r:embed="R858da63e60e54cea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10FE843-5F5D-44F6-8534-992DD6B04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E7F0DFC5-FDFC-411F-8AFF-0CCFD1D0DC8E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>
  <p:cSld name="比較與表格">
    <p:bg>
      <p:bgPr>
        <a:blipFill xmlns:a="http://schemas.openxmlformats.org/drawingml/2006/main">
          <a:blip xmlns:r="http://schemas.openxmlformats.org/officeDocument/2006/relationships" r:embed="Rdbb7779a30854816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11908C93-299A-4840-A83C-8DFB8C7698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732E4084-ECCD-42BC-B2EB-24E9E56DEF1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>
  <p:cSld name="時間與證據">
    <p:bg>
      <p:bgPr>
        <a:blipFill xmlns:a="http://schemas.openxmlformats.org/drawingml/2006/main">
          <a:blip xmlns:r="http://schemas.openxmlformats.org/officeDocument/2006/relationships" r:embed="R7fa91e991017462c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_1">
            <a:extLst xmlns:a="http://schemas.openxmlformats.org/drawingml/2006/main">
              <a:ext uri="{FF2B5EF4-FFF2-40B4-BE49-F238E27FC236}">
                <a16:creationId xmlns:a16="http://schemas.microsoft.com/office/drawing/2014/main" id="{9A00B9BD-58B5-4528-8865-4DD50EE311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[研究主題]</a:t>
            </a:r>
          </a:p>
        </p:txBody>
      </p:sp>
      <p:sp>
        <p:nvSpPr>
          <p:cNvPr id="2" name="placeholder_2">
            <a:extLst xmlns:a="http://schemas.openxmlformats.org/drawingml/2006/main">
              <a:ext uri="{FF2B5EF4-FFF2-40B4-BE49-F238E27FC236}">
                <a16:creationId xmlns:a16="http://schemas.microsoft.com/office/drawing/2014/main" id="{4DA766BB-A1C0-4031-B5CA-AB449914F27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>
              <a:buNone/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[必要的實驗口徑或圖例]</a:t>
            </a: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31790ec73b854d15" /><Relationship Type="http://schemas.openxmlformats.org/officeDocument/2006/relationships/theme" Target="/ppt/slideMasters/theme/theme2.xml" Id="R9f061e42b84943a4" /><Relationship Type="http://schemas.openxmlformats.org/officeDocument/2006/relationships/slideLayout" Target="/ppt/slideLayouts/slideLayout1.xml" Id="R607591da6f08400e" /><Relationship Type="http://schemas.openxmlformats.org/officeDocument/2006/relationships/slideLayout" Target="/ppt/slideLayouts/slideLayout2.xml" Id="R1fc155a1728b46bd" /><Relationship Type="http://schemas.openxmlformats.org/officeDocument/2006/relationships/slideLayout" Target="/ppt/slideLayouts/slideLayout3.xml" Id="R1e44e59a7e2c4974" /><Relationship Type="http://schemas.openxmlformats.org/officeDocument/2006/relationships/slideLayout" Target="/ppt/slideLayouts/slideLayout4.xml" Id="R62192f5facc74fae" /><Relationship Type="http://schemas.openxmlformats.org/officeDocument/2006/relationships/slideLayout" Target="/ppt/slideLayouts/slideLayout5.xml" Id="R066eb3d7ef0e443a" /><Relationship Type="http://schemas.openxmlformats.org/officeDocument/2006/relationships/slideLayout" Target="/ppt/slideLayouts/slideLayout6.xml" Id="R062c1e08ca0e4410" /><Relationship Type="http://schemas.openxmlformats.org/officeDocument/2006/relationships/slideLayout" Target="/ppt/slideLayouts/slideLayout7.xml" Id="R1a00dbdc1fb24f6a" /><Relationship Type="http://schemas.openxmlformats.org/officeDocument/2006/relationships/slideLayout" Target="/ppt/slideLayouts/slideLayout8.xml" Id="Re4633549af7e4df7" /><Relationship Type="http://schemas.openxmlformats.org/officeDocument/2006/relationships/slideLayout" Target="/ppt/slideLayouts/slideLayout9.xml" Id="R82dcb4a3a91746b1" /><Relationship Type="http://schemas.openxmlformats.org/officeDocument/2006/relationships/slideLayout" Target="/ppt/slideLayouts/slideLayout10.xml" Id="R5689b9d399ca442b" /><Relationship Type="http://schemas.openxmlformats.org/officeDocument/2006/relationships/slideLayout" Target="/ppt/slideLayouts/slideLayout11.xml" Id="Re8d04005ee474c55" /><Relationship Type="http://schemas.openxmlformats.org/officeDocument/2006/relationships/slideLayout" Target="/ppt/slideLayouts/slideLayout12.xml" Id="R99835e9653864f9c" /><Relationship Type="http://schemas.openxmlformats.org/officeDocument/2006/relationships/slideLayout" Target="/ppt/slideLayouts/slideLayout13.xml" Id="Ra17e96776f8e4d78" /><Relationship Type="http://schemas.openxmlformats.org/officeDocument/2006/relationships/slideLayout" Target="/ppt/slideLayouts/slideLayout14.xml" Id="Rc92add765e2d4523" /><Relationship Type="http://schemas.openxmlformats.org/officeDocument/2006/relationships/slideLayout" Target="/ppt/slideLayouts/slideLayout15.xml" Id="R89d13fae97524c04" /><Relationship Type="http://schemas.openxmlformats.org/officeDocument/2006/relationships/slideLayout" Target="/ppt/slideLayouts/slideLayout16.xml" Id="Rc6d79ec2da124539" /><Relationship Type="http://schemas.openxmlformats.org/officeDocument/2006/relationships/slideLayout" Target="/ppt/slideLayouts/slideLayout17.xml" Id="R585219801b2f483f" /><Relationship Type="http://schemas.openxmlformats.org/officeDocument/2006/relationships/slideLayout" Target="/ppt/slideLayouts/slideLayout18.xml" Id="Rde7e5697ef1543da" /></Relationships>
</file>

<file path=ppt/slideMasters/slideMaster1.xml><?xml version="1.0" encoding="utf-8"?>
<p:sldMaster xmlns:p="http://schemas.openxmlformats.org/presentationml/2006/main">
  <p:cSld name="EAGLE">
    <p:bg>
      <p:bgPr>
        <a:blipFill xmlns:a="http://schemas.openxmlformats.org/drawingml/2006/main">
          <a:blip xmlns:r="http://schemas.openxmlformats.org/officeDocument/2006/relationships" r:embed="R31790ec73b854d15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07591da6f08400e"/>
    <p:sldLayoutId xmlns:r="http://schemas.openxmlformats.org/officeDocument/2006/relationships" id="2147483650" r:id="R1fc155a1728b46bd"/>
    <p:sldLayoutId xmlns:r="http://schemas.openxmlformats.org/officeDocument/2006/relationships" id="2147483651" r:id="R1e44e59a7e2c4974"/>
    <p:sldLayoutId xmlns:r="http://schemas.openxmlformats.org/officeDocument/2006/relationships" id="2147483652" r:id="R62192f5facc74fae"/>
    <p:sldLayoutId xmlns:r="http://schemas.openxmlformats.org/officeDocument/2006/relationships" id="2147483653" r:id="R066eb3d7ef0e443a"/>
    <p:sldLayoutId xmlns:r="http://schemas.openxmlformats.org/officeDocument/2006/relationships" id="2147483654" r:id="R062c1e08ca0e4410"/>
    <p:sldLayoutId xmlns:r="http://schemas.openxmlformats.org/officeDocument/2006/relationships" id="2147483655" r:id="R1a00dbdc1fb24f6a"/>
    <p:sldLayoutId xmlns:r="http://schemas.openxmlformats.org/officeDocument/2006/relationships" id="2147483656" r:id="Re4633549af7e4df7"/>
    <p:sldLayoutId xmlns:r="http://schemas.openxmlformats.org/officeDocument/2006/relationships" id="2147483657" r:id="R82dcb4a3a91746b1"/>
    <p:sldLayoutId xmlns:r="http://schemas.openxmlformats.org/officeDocument/2006/relationships" id="2147483658" r:id="R5689b9d399ca442b"/>
    <p:sldLayoutId xmlns:r="http://schemas.openxmlformats.org/officeDocument/2006/relationships" id="2147483659" r:id="Re8d04005ee474c55"/>
    <p:sldLayoutId xmlns:r="http://schemas.openxmlformats.org/officeDocument/2006/relationships" id="2147483660" r:id="R99835e9653864f9c"/>
    <p:sldLayoutId xmlns:r="http://schemas.openxmlformats.org/officeDocument/2006/relationships" id="2147483661" r:id="Ra17e96776f8e4d78"/>
    <p:sldLayoutId xmlns:r="http://schemas.openxmlformats.org/officeDocument/2006/relationships" id="2147483662" r:id="Rc92add765e2d4523"/>
    <p:sldLayoutId xmlns:r="http://schemas.openxmlformats.org/officeDocument/2006/relationships" id="2147483663" r:id="R89d13fae97524c04"/>
    <p:sldLayoutId xmlns:r="http://schemas.openxmlformats.org/officeDocument/2006/relationships" id="2147483664" r:id="Rc6d79ec2da124539"/>
    <p:sldLayoutId xmlns:r="http://schemas.openxmlformats.org/officeDocument/2006/relationships" id="2147483665" r:id="R585219801b2f483f"/>
    <p:sldLayoutId xmlns:r="http://schemas.openxmlformats.org/officeDocument/2006/relationships" id="2147483666" r:id="Rde7e5697ef1543da"/>
  </p:sldLayoutIdLst>
  <p:hf sldNum="1" hdr="0" ftr="0" dt="0"/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None/>
        <a:defRPr sz="2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None/>
        <a:defRPr sz="24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None/>
        <a:defRPr sz="20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Source Han Serif TW"/>
          <a:ea typeface="Source Han Serif TW"/>
          <a:cs typeface="Source Han Serif TW"/>
        </a:defRPr>
      </a:lvl9pPr>
    </p:otherStyle>
  </p:txStyles>
</p:sldMaster>
</file>

<file path=ppt/slideMasters/theme/theme2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d91ad3d213470d" /><Relationship Type="http://schemas.openxmlformats.org/officeDocument/2006/relationships/image" Target="/ppt/media/image.png" Id="Rf42df6cff0c646ad" /><Relationship Type="http://schemas.openxmlformats.org/officeDocument/2006/relationships/notesSlide" Target="/ppt/notesSlides/notesSlide1.xml" Id="R5c12e00a09714b9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93b03e4f9bb4fa1" /><Relationship Type="http://schemas.openxmlformats.org/officeDocument/2006/relationships/image" Target="/ppt/media/image.png" Id="R547378c1a41740fb" /><Relationship Type="http://schemas.openxmlformats.org/officeDocument/2006/relationships/notesSlide" Target="/ppt/notesSlides/notesSlide2.xml" Id="Rad5f3fd19ad14a1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a8be2e0f21e44e9" /><Relationship Type="http://schemas.openxmlformats.org/officeDocument/2006/relationships/image" Target="/ppt/media/image.png" Id="R91d5a9996e584592" /><Relationship Type="http://schemas.openxmlformats.org/officeDocument/2006/relationships/notesSlide" Target="/ppt/notesSlides/notesSlide3.xml" Id="Rfba5bd72277546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be9f0286964069" /><Relationship Type="http://schemas.openxmlformats.org/officeDocument/2006/relationships/image" Target="/ppt/media/image.png" Id="Rbfddf9e9659841bc" /><Relationship Type="http://schemas.openxmlformats.org/officeDocument/2006/relationships/notesSlide" Target="/ppt/notesSlides/notesSlide4.xml" Id="R3ccb99f09d894fe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1f0cb90e4f34d2f" /><Relationship Type="http://schemas.openxmlformats.org/officeDocument/2006/relationships/image" Target="/ppt/media/image.png" Id="Rd27e1e5501ec4b07" /><Relationship Type="http://schemas.openxmlformats.org/officeDocument/2006/relationships/notesSlide" Target="/ppt/notesSlides/notesSlide5.xml" Id="R762914de954a4c1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287943aa0534230" /><Relationship Type="http://schemas.openxmlformats.org/officeDocument/2006/relationships/image" Target="/ppt/media/image.png" Id="Re6991f153cd54a2b" /><Relationship Type="http://schemas.openxmlformats.org/officeDocument/2006/relationships/notesSlide" Target="/ppt/notesSlides/notesSlide6.xml" Id="Ra120e4fa1b62413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6597b05ab5542db" /><Relationship Type="http://schemas.openxmlformats.org/officeDocument/2006/relationships/image" Target="/ppt/media/image.png" Id="R43d271470c3f4fb6" /><Relationship Type="http://schemas.openxmlformats.org/officeDocument/2006/relationships/notesSlide" Target="/ppt/notesSlides/notesSlide7.xml" Id="R2f589459a86346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a3d01bd7c094914" /><Relationship Type="http://schemas.openxmlformats.org/officeDocument/2006/relationships/image" Target="/ppt/media/image.png" Id="Ra71402c8fa274034" /><Relationship Type="http://schemas.openxmlformats.org/officeDocument/2006/relationships/notesSlide" Target="/ppt/notesSlides/notesSlide8.xml" Id="R9a43a53d6d7b4d3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fee42c375e4ded" /><Relationship Type="http://schemas.openxmlformats.org/officeDocument/2006/relationships/image" Target="/ppt/media/image.png" Id="R8cf12c809ce1453f" /><Relationship Type="http://schemas.openxmlformats.org/officeDocument/2006/relationships/notesSlide" Target="/ppt/notesSlides/notesSlide9.xml" Id="R6e5036aaffe741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70ed1d8848c46a9" /><Relationship Type="http://schemas.openxmlformats.org/officeDocument/2006/relationships/image" Target="/ppt/media/image.png" Id="R837574d36a214f39" /><Relationship Type="http://schemas.openxmlformats.org/officeDocument/2006/relationships/notesSlide" Target="/ppt/notesSlides/notesSlide10.xml" Id="R5122368d8ef6454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a54e9a3021c4f97" /><Relationship Type="http://schemas.openxmlformats.org/officeDocument/2006/relationships/image" Target="/ppt/media/image.png" Id="R0a68541e77024cd7" /><Relationship Type="http://schemas.openxmlformats.org/officeDocument/2006/relationships/notesSlide" Target="/ppt/notesSlides/notesSlide11.xml" Id="Rbba42b3ed85941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ecb52049f0e4548" /><Relationship Type="http://schemas.openxmlformats.org/officeDocument/2006/relationships/image" Target="/ppt/media/image.png" Id="R8312237ff1194a82" /><Relationship Type="http://schemas.openxmlformats.org/officeDocument/2006/relationships/notesSlide" Target="/ppt/notesSlides/notesSlide12.xml" Id="R89effbbd29d843c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506d4f2f8b1a45f3" /><Relationship Type="http://schemas.openxmlformats.org/officeDocument/2006/relationships/image" Target="/ppt/media/image.png" Id="R539ae0e8067a4fab" /><Relationship Type="http://schemas.openxmlformats.org/officeDocument/2006/relationships/notesSlide" Target="/ppt/notesSlides/notesSlide13.xml" Id="R2c6adb0bae13496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d77fdb6e240487c" /><Relationship Type="http://schemas.openxmlformats.org/officeDocument/2006/relationships/image" Target="/ppt/media/image.png" Id="R9d16747a5c16485f" /><Relationship Type="http://schemas.openxmlformats.org/officeDocument/2006/relationships/notesSlide" Target="/ppt/notesSlides/notesSlide14.xml" Id="Rc94068f3139443b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2daf82fda6e4584" /><Relationship Type="http://schemas.openxmlformats.org/officeDocument/2006/relationships/image" Target="/ppt/media/image.png" Id="Rd58425c2b7f9484b" /><Relationship Type="http://schemas.openxmlformats.org/officeDocument/2006/relationships/notesSlide" Target="/ppt/notesSlides/notesSlide15.xml" Id="R1d1759e1180b4c92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87aa961d41e4c16" /><Relationship Type="http://schemas.openxmlformats.org/officeDocument/2006/relationships/image" Target="/ppt/media/image.png" Id="R41d885a40bcc458d" /><Relationship Type="http://schemas.openxmlformats.org/officeDocument/2006/relationships/notesSlide" Target="/ppt/notesSlides/notesSlide16.xml" Id="R9673fc62ac3f472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10eb808c81945bb" /><Relationship Type="http://schemas.openxmlformats.org/officeDocument/2006/relationships/image" Target="/ppt/media/image.png" Id="Rd27314b811314f9e" /><Relationship Type="http://schemas.openxmlformats.org/officeDocument/2006/relationships/notesSlide" Target="/ppt/notesSlides/notesSlide17.xml" Id="Rcb2e82474c1f45d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e519de2ad2044ad" /><Relationship Type="http://schemas.openxmlformats.org/officeDocument/2006/relationships/image" Target="/ppt/media/image.png" Id="R2d0c765610ae46f7" /><Relationship Type="http://schemas.openxmlformats.org/officeDocument/2006/relationships/notesSlide" Target="/ppt/notesSlides/notesSlide18.xml" Id="R14c9a287c369433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62428edc1054bfc" /><Relationship Type="http://schemas.openxmlformats.org/officeDocument/2006/relationships/image" Target="/ppt/media/image.png" Id="R0500dbe6861a49a8" /><Relationship Type="http://schemas.openxmlformats.org/officeDocument/2006/relationships/notesSlide" Target="/ppt/notesSlides/notesSlide19.xml" Id="R723e3ebfc46e4372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99fa603995e4775" /><Relationship Type="http://schemas.openxmlformats.org/officeDocument/2006/relationships/image" Target="/ppt/media/image.png" Id="Rdd3e6bdfd34b4820" /><Relationship Type="http://schemas.openxmlformats.org/officeDocument/2006/relationships/notesSlide" Target="/ppt/notesSlides/notesSlide20.xml" Id="R57574951e5b84db5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20e08285e8a471f" /><Relationship Type="http://schemas.openxmlformats.org/officeDocument/2006/relationships/image" Target="/ppt/media/image.png" Id="R45e0d94b81934ea4" /><Relationship Type="http://schemas.openxmlformats.org/officeDocument/2006/relationships/notesSlide" Target="/ppt/notesSlides/notesSlide21.xml" Id="Rabc68ccc2637441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06a80fcc3f14319" /><Relationship Type="http://schemas.openxmlformats.org/officeDocument/2006/relationships/image" Target="/ppt/media/image.png" Id="R9fa686c678c34a2c" /><Relationship Type="http://schemas.openxmlformats.org/officeDocument/2006/relationships/notesSlide" Target="/ppt/notesSlides/notesSlide22.xml" Id="R569005530d164db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1afda81621d4c32" /><Relationship Type="http://schemas.openxmlformats.org/officeDocument/2006/relationships/image" Target="/ppt/media/image.png" Id="R8d0f10cd5548449a" /><Relationship Type="http://schemas.openxmlformats.org/officeDocument/2006/relationships/notesSlide" Target="/ppt/notesSlides/notesSlide23.xml" Id="Re96808e39e1549f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7090f125751f41dc" /><Relationship Type="http://schemas.openxmlformats.org/officeDocument/2006/relationships/image" Target="/ppt/media/image.png" Id="Rcb610cb899b24d15" /><Relationship Type="http://schemas.openxmlformats.org/officeDocument/2006/relationships/notesSlide" Target="/ppt/notesSlides/notesSlide24.xml" Id="Rea54225d6b664da4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4a197a26c87340b3" /><Relationship Type="http://schemas.openxmlformats.org/officeDocument/2006/relationships/image" Target="/ppt/media/image.png" Id="Rb3fdad1cf6724287" /><Relationship Type="http://schemas.openxmlformats.org/officeDocument/2006/relationships/notesSlide" Target="/ppt/notesSlides/notesSlide25.xml" Id="R719804c676a24b2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2d6a337f4b04c64" /><Relationship Type="http://schemas.openxmlformats.org/officeDocument/2006/relationships/image" Target="/ppt/media/image.png" Id="R51d0a983896c49c2" /><Relationship Type="http://schemas.openxmlformats.org/officeDocument/2006/relationships/notesSlide" Target="/ppt/notesSlides/notesSlide26.xml" Id="Rcd7b78438ee1406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82d732324954507" /><Relationship Type="http://schemas.openxmlformats.org/officeDocument/2006/relationships/image" Target="/ppt/media/image.png" Id="R2e74cb98054841b5" /><Relationship Type="http://schemas.openxmlformats.org/officeDocument/2006/relationships/notesSlide" Target="/ppt/notesSlides/notesSlide27.xml" Id="R12c3fc4ef2f944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35e3d0a4a5fe45d3" /><Relationship Type="http://schemas.openxmlformats.org/officeDocument/2006/relationships/image" Target="/ppt/media/image.png" Id="Rb371218041c441c9" /><Relationship Type="http://schemas.openxmlformats.org/officeDocument/2006/relationships/notesSlide" Target="/ppt/notesSlides/notesSlide28.xml" Id="R0ee5f59cb5e249db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9b6705b0f7d40ec" /><Relationship Type="http://schemas.openxmlformats.org/officeDocument/2006/relationships/image" Target="/ppt/media/image.png" Id="Rad36e1575dff46d8" /><Relationship Type="http://schemas.openxmlformats.org/officeDocument/2006/relationships/notesSlide" Target="/ppt/notesSlides/notesSlide29.xml" Id="R4c70b63a05fd40f5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a14bece150f494b" /><Relationship Type="http://schemas.openxmlformats.org/officeDocument/2006/relationships/image" Target="/ppt/media/image.png" Id="R39aa919e06f041b8" /><Relationship Type="http://schemas.openxmlformats.org/officeDocument/2006/relationships/notesSlide" Target="/ppt/notesSlides/notesSlide30.xml" Id="Rd615ec1db07541e6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e2c1ed7cf5642a3" /><Relationship Type="http://schemas.openxmlformats.org/officeDocument/2006/relationships/image" Target="/ppt/media/image.png" Id="Rb611ad08989844b2" /><Relationship Type="http://schemas.openxmlformats.org/officeDocument/2006/relationships/notesSlide" Target="/ppt/notesSlides/notesSlide31.xml" Id="R74c3066e70ce4940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bd995074e4b4691" /><Relationship Type="http://schemas.openxmlformats.org/officeDocument/2006/relationships/image" Target="/ppt/media/image.png" Id="Rbf25ae4f781344d7" /><Relationship Type="http://schemas.openxmlformats.org/officeDocument/2006/relationships/notesSlide" Target="/ppt/notesSlides/notesSlide32.xml" Id="Ree1606bb6eb74e02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988ebc88098443b6" /><Relationship Type="http://schemas.openxmlformats.org/officeDocument/2006/relationships/image" Target="/ppt/media/image.png" Id="R5a577b2a0dca4acc" /><Relationship Type="http://schemas.openxmlformats.org/officeDocument/2006/relationships/notesSlide" Target="/ppt/notesSlides/notesSlide33.xml" Id="R4780ac4b940249a6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13ed3cf164794c70" /><Relationship Type="http://schemas.openxmlformats.org/officeDocument/2006/relationships/image" Target="/ppt/media/image.png" Id="Rc035835cc20c4583" /><Relationship Type="http://schemas.openxmlformats.org/officeDocument/2006/relationships/notesSlide" Target="/ppt/notesSlides/notesSlide34.xml" Id="R111c94a97b2b4fd8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ffaa94afe744e9b" /><Relationship Type="http://schemas.openxmlformats.org/officeDocument/2006/relationships/image" Target="/ppt/media/image.png" Id="R426355b743ba407e" /><Relationship Type="http://schemas.openxmlformats.org/officeDocument/2006/relationships/notesSlide" Target="/ppt/notesSlides/notesSlide35.xml" Id="Rfed0e536000e4dc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a543fdf81674869" /><Relationship Type="http://schemas.openxmlformats.org/officeDocument/2006/relationships/image" Target="/ppt/media/image.png" Id="Rf5b90bbc9c2c4e78" /><Relationship Type="http://schemas.openxmlformats.org/officeDocument/2006/relationships/notesSlide" Target="/ppt/notesSlides/notesSlide36.xml" Id="R5ec34ca13e1f4ff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e920fe9a7b74af7" /><Relationship Type="http://schemas.openxmlformats.org/officeDocument/2006/relationships/image" Target="/ppt/media/image.png" Id="R2dfadb5a01d34ae3" /><Relationship Type="http://schemas.openxmlformats.org/officeDocument/2006/relationships/notesSlide" Target="/ppt/notesSlides/notesSlide37.xml" Id="R2da4a87ae0e344ea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05386f2c407048e1" /><Relationship Type="http://schemas.openxmlformats.org/officeDocument/2006/relationships/image" Target="/ppt/media/image.png" Id="R0da6fe4cd8ba4499" /><Relationship Type="http://schemas.openxmlformats.org/officeDocument/2006/relationships/notesSlide" Target="/ppt/notesSlides/notesSlide38.xml" Id="R273a2a98f4b64a46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53c08c40c2d4216" /><Relationship Type="http://schemas.openxmlformats.org/officeDocument/2006/relationships/image" Target="/ppt/media/image.png" Id="R9eb1148cdeaa4d42" /><Relationship Type="http://schemas.openxmlformats.org/officeDocument/2006/relationships/notesSlide" Target="/ppt/notesSlides/notesSlide39.xml" Id="R20bd959f85c9461b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2b1bee9b0ff434e" /><Relationship Type="http://schemas.openxmlformats.org/officeDocument/2006/relationships/image" Target="/ppt/media/image.png" Id="Ra4ecfa734d3347e5" /><Relationship Type="http://schemas.openxmlformats.org/officeDocument/2006/relationships/chart" Target="/ppt/slides/charts/chart1.xml" Id="R1e94fb0376bb475f" /><Relationship Type="http://schemas.openxmlformats.org/officeDocument/2006/relationships/notesSlide" Target="/ppt/notesSlides/notesSlide40.xml" Id="Rd586ebae53064e8e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b9fcbf4dc0ac4ad9" /><Relationship Type="http://schemas.openxmlformats.org/officeDocument/2006/relationships/image" Target="/ppt/media/image.png" Id="Re342b5c1fb9a47bf" /><Relationship Type="http://schemas.openxmlformats.org/officeDocument/2006/relationships/chart" Target="/ppt/slides/charts/chart2.xml" Id="Rbde6fdfcb9c148b7" /><Relationship Type="http://schemas.openxmlformats.org/officeDocument/2006/relationships/chart" Target="/ppt/slides/charts/chart3.xml" Id="Re65f8654b2394e31" /><Relationship Type="http://schemas.openxmlformats.org/officeDocument/2006/relationships/chart" Target="/ppt/slides/charts/chart4.xml" Id="R59f2038f5e214e08" /><Relationship Type="http://schemas.openxmlformats.org/officeDocument/2006/relationships/chart" Target="/ppt/slides/charts/chart5.xml" Id="R4a113d4761934ac9" /><Relationship Type="http://schemas.openxmlformats.org/officeDocument/2006/relationships/chart" Target="/ppt/slides/charts/chart6.xml" Id="R0ed86b1fa6b34743" /><Relationship Type="http://schemas.openxmlformats.org/officeDocument/2006/relationships/chart" Target="/ppt/slides/charts/chart7.xml" Id="Rf4fb6d39500d4530" /><Relationship Type="http://schemas.openxmlformats.org/officeDocument/2006/relationships/notesSlide" Target="/ppt/notesSlides/notesSlide41.xml" Id="R3f22bd8cada64f90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99a168ad74f4d9e" /><Relationship Type="http://schemas.openxmlformats.org/officeDocument/2006/relationships/image" Target="/ppt/media/image.png" Id="Ra9baaa2faaaf4336" /><Relationship Type="http://schemas.openxmlformats.org/officeDocument/2006/relationships/chart" Target="/ppt/slides/charts/chart8.xml" Id="R2da96646bbe8459e" /><Relationship Type="http://schemas.openxmlformats.org/officeDocument/2006/relationships/notesSlide" Target="/ppt/notesSlides/notesSlide42.xml" Id="R153a5231b3ee493c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c9d8823b9aa548fa" /><Relationship Type="http://schemas.openxmlformats.org/officeDocument/2006/relationships/image" Target="/ppt/media/image.png" Id="R07a35557375e4e22" /><Relationship Type="http://schemas.openxmlformats.org/officeDocument/2006/relationships/notesSlide" Target="/ppt/notesSlides/notesSlide43.xml" Id="Rfa6ae6712e2b490e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fe31e93f3d734392" /><Relationship Type="http://schemas.openxmlformats.org/officeDocument/2006/relationships/image" Target="/ppt/media/image.png" Id="R021cc1b46bcf494e" /><Relationship Type="http://schemas.openxmlformats.org/officeDocument/2006/relationships/chart" Target="/ppt/slides/charts/chart9.xml" Id="R84e3b0b8894846a3" /><Relationship Type="http://schemas.openxmlformats.org/officeDocument/2006/relationships/notesSlide" Target="/ppt/notesSlides/notesSlide44.xml" Id="Rbbeb5646be494b26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209eccc99b2e4287" /><Relationship Type="http://schemas.openxmlformats.org/officeDocument/2006/relationships/image" Target="/ppt/media/image.png" Id="R2deed84c2dfb4d3b" /><Relationship Type="http://schemas.openxmlformats.org/officeDocument/2006/relationships/notesSlide" Target="/ppt/notesSlides/notesSlide45.xml" Id="R63ba394506f8491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_rels/chart7.xml.rels><Relationships xmlns="http://schemas.openxmlformats.org/package/2006/relationships"><Relationship Id="rIdChartSnapshot1" Type="http://schemas.openxmlformats.org/officeDocument/2006/relationships/package" Target="../../embeddings/chart-data-snapshot-007.xlsx"/></Relationships>
</file>

<file path=ppt/slides/charts/_rels/chart8.xml.rels><Relationships xmlns="http://schemas.openxmlformats.org/package/2006/relationships"><Relationship Id="rIdChartSnapshot1" Type="http://schemas.openxmlformats.org/officeDocument/2006/relationships/package" Target="../../embeddings/chart-data-snapshot-008.xlsx"/></Relationships>
</file>

<file path=ppt/slides/charts/_rels/chart9.xml.rels><Relationships xmlns="http://schemas.openxmlformats.org/package/2006/relationships"><Relationship Id="rIdChartSnapshot1" Type="http://schemas.openxmlformats.org/officeDocument/2006/relationships/package" Target="../../embeddings/chart-data-snapshot-009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5.592004</c:v>
                </c:pt>
                <c:pt idx="1">
                  <c:v>25.732783</c:v>
                </c:pt>
                <c:pt idx="2">
                  <c:v>-32.036904</c:v>
                </c:pt>
                <c:pt idx="3">
                  <c:v>10.988062</c:v>
                </c:pt>
                <c:pt idx="4">
                  <c:v>6.760507</c:v>
                </c:pt>
                <c:pt idx="5">
                  <c:v>18.267322</c:v>
                </c:pt>
              </c:numCache>
            </c:numRef>
          </c:val>
        </c:ser>
        <c:ser>
          <c:idx val="1"/>
          <c:order val="1"/>
          <c:tx>
            <c:v>本次已完成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-3.341748</c:v>
                </c:pt>
                <c:pt idx="1">
                  <c:v>22.99951</c:v>
                </c:pt>
                <c:pt idx="2">
                  <c:v>-32.033214</c:v>
                </c:pt>
                <c:pt idx="3">
                  <c:v>13.117691</c:v>
                </c:pt>
                <c:pt idx="4">
                  <c:v>8.560747</c:v>
                </c:pt>
                <c:pt idx="5">
                  <c:v>22.949003</c:v>
                </c:pt>
              </c:numCache>
            </c:numRef>
          </c:val>
        </c:ser>
        <c:dLbls>
          <c:numFmt formatCode="0.00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47171C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35"/>
          <c:min val="-45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0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-57.327551</c:v>
                </c:pt>
                <c:pt idx="1">
                  <c:v>-1.36018</c:v>
                </c:pt>
                <c:pt idx="2">
                  <c:v>6.183734</c:v>
                </c:pt>
                <c:pt idx="3">
                  <c:v>5.123898</c:v>
                </c:pt>
                <c:pt idx="4">
                  <c:v>5.592004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-57.338081</c:v>
                </c:pt>
                <c:pt idx="1">
                  <c:v>-1.107881</c:v>
                </c:pt>
                <c:pt idx="2">
                  <c:v>5.642987</c:v>
                </c:pt>
                <c:pt idx="3">
                  <c:v>5.716487</c:v>
                </c:pt>
                <c:pt idx="4">
                  <c:v>-3.341748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-71.713681</c:v>
                </c:pt>
                <c:pt idx="1">
                  <c:v>-58.546765</c:v>
                </c:pt>
                <c:pt idx="2">
                  <c:v>-18.482364</c:v>
                </c:pt>
                <c:pt idx="3">
                  <c:v>22.950039</c:v>
                </c:pt>
                <c:pt idx="4">
                  <c:v>25.732783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-71.712625</c:v>
                </c:pt>
                <c:pt idx="1">
                  <c:v>-58.571535</c:v>
                </c:pt>
                <c:pt idx="2">
                  <c:v>-19.243351</c:v>
                </c:pt>
                <c:pt idx="3">
                  <c:v>22.495612</c:v>
                </c:pt>
                <c:pt idx="4">
                  <c:v>22.99951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-70.591722</c:v>
                </c:pt>
                <c:pt idx="1">
                  <c:v>-49.131152</c:v>
                </c:pt>
                <c:pt idx="2">
                  <c:v>-41.481331</c:v>
                </c:pt>
                <c:pt idx="3">
                  <c:v>-14.999246</c:v>
                </c:pt>
                <c:pt idx="4">
                  <c:v>-32.036904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-70.590025</c:v>
                </c:pt>
                <c:pt idx="1">
                  <c:v>-49.136225</c:v>
                </c:pt>
                <c:pt idx="2">
                  <c:v>-41.492792</c:v>
                </c:pt>
                <c:pt idx="3">
                  <c:v>-15.00325</c:v>
                </c:pt>
                <c:pt idx="4">
                  <c:v>-32.033214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-69.303636</c:v>
                </c:pt>
                <c:pt idx="1">
                  <c:v>4.585921</c:v>
                </c:pt>
                <c:pt idx="2">
                  <c:v>24.209648</c:v>
                </c:pt>
                <c:pt idx="3">
                  <c:v>22.449908</c:v>
                </c:pt>
                <c:pt idx="4">
                  <c:v>10.988062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-69.299692</c:v>
                </c:pt>
                <c:pt idx="1">
                  <c:v>7.34023</c:v>
                </c:pt>
                <c:pt idx="2">
                  <c:v>20.63283</c:v>
                </c:pt>
                <c:pt idx="3">
                  <c:v>24.229256</c:v>
                </c:pt>
                <c:pt idx="4">
                  <c:v>13.117691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-70.456543</c:v>
                </c:pt>
                <c:pt idx="1">
                  <c:v>0.009543</c:v>
                </c:pt>
                <c:pt idx="2">
                  <c:v>9.67842</c:v>
                </c:pt>
                <c:pt idx="3">
                  <c:v>23.497715</c:v>
                </c:pt>
                <c:pt idx="4">
                  <c:v>6.760507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-70.450812</c:v>
                </c:pt>
                <c:pt idx="1">
                  <c:v>0.006855</c:v>
                </c:pt>
                <c:pt idx="2">
                  <c:v>12.554927</c:v>
                </c:pt>
                <c:pt idx="3">
                  <c:v>24.649235</c:v>
                </c:pt>
                <c:pt idx="4">
                  <c:v>8.560747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7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上次</c:v>
          </c:tx>
          <c:spPr>
            <a:ln xmlns:a="http://schemas.openxmlformats.org/drawingml/2006/main" w="28575">
              <a:solidFill>
                <a:srgbClr val="CF8792"/>
              </a:solidFill>
            </a:ln>
          </c:spPr>
          <c:marker>
            <c:symbol val="circle"/>
            <c:size val="5"/>
            <c:spPr>
              <a:solidFill xmlns:a="http://schemas.openxmlformats.org/drawingml/2006/main">
                <a:srgbClr val="CF8792"/>
              </a:solidFill>
            </c:spPr>
          </c:marker>
          <c:cat>
            <c:strRef>
              <c:f>'Chart Data'!$A$2:$A$6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Data'!$B$2:$B$6</c:f>
              <c:numCache>
                <c:formatCode>General</c:formatCode>
                <c:ptCount val="5"/>
                <c:pt idx="0">
                  <c:v>-70.967267</c:v>
                </c:pt>
                <c:pt idx="1">
                  <c:v>-11.476352</c:v>
                </c:pt>
                <c:pt idx="2">
                  <c:v>-2.79877</c:v>
                </c:pt>
                <c:pt idx="3">
                  <c:v>-5.854624</c:v>
                </c:pt>
                <c:pt idx="4">
                  <c:v>18.267322</c:v>
                </c:pt>
              </c:numCache>
            </c:numRef>
          </c:val>
          <c:smooth val="0"/>
        </c:ser>
        <c:ser>
          <c:idx val="1"/>
          <c:order val="1"/>
          <c:tx>
            <c:v>本次</c:v>
          </c:tx>
          <c:spPr>
            <a:ln xmlns:a="http://schemas.openxmlformats.org/drawingml/2006/main" w="28575">
              <a:solidFill>
                <a:srgbClr val="47171C"/>
              </a:solidFill>
            </a:ln>
          </c:spPr>
          <c:marker>
            <c:symbol val="diamond"/>
            <c:size val="5"/>
            <c:spPr>
              <a:solidFill xmlns:a="http://schemas.openxmlformats.org/drawingml/2006/main">
                <a:srgbClr val="47171C"/>
              </a:solidFill>
            </c:spPr>
          </c:marker>
          <c:cat>
            <c:strRef>
              <c:f>'Chart Data'!$C$2:$C$6</c:f>
              <c:strCache>
                <c:ptCount val="5"/>
                <c:pt idx="0">
                  <c:v>G0</c:v>
                </c:pt>
                <c:pt idx="1">
                  <c:v>G5</c:v>
                </c:pt>
                <c:pt idx="2">
                  <c:v>G10</c:v>
                </c:pt>
                <c:pt idx="3">
                  <c:v>G15</c:v>
                </c:pt>
                <c:pt idx="4">
                  <c:v>G20</c:v>
                </c:pt>
              </c:strCache>
            </c:strRef>
          </c:cat>
          <c:val>
            <c:numRef>
              <c:f>'Chart Data'!$D$2:$D$6</c:f>
              <c:numCache>
                <c:formatCode>General</c:formatCode>
                <c:ptCount val="5"/>
                <c:pt idx="0">
                  <c:v>-70.96479</c:v>
                </c:pt>
                <c:pt idx="1">
                  <c:v>-11.474718</c:v>
                </c:pt>
                <c:pt idx="2">
                  <c:v>-3.014888</c:v>
                </c:pt>
                <c:pt idx="3">
                  <c:v>1.579132</c:v>
                </c:pt>
                <c:pt idx="4">
                  <c:v>22.949003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Source Han Serif TW"/>
                  <a:ea typeface="Source Han Serif TW"/>
                  <a:cs typeface="Source Han Serif TW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40"/>
          <c:min val="-80"/>
        </c:scaling>
        <c:delete val="0"/>
        <c:axPos val="l"/>
        <c:majorGridlines>
          <c:spPr>
            <a:ln xmlns:a="http://schemas.openxmlformats.org/drawingml/2006/main" w="4763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40"/>
      </c:valAx>
      <c:spPr>
        <a:solidFill xmlns:a="http://schemas.openxmlformats.org/drawingml/2006/main">
          <a:srgbClr val="FCF8F5"/>
        </a:solidFill>
      </c:spPr>
    </c:plotArea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8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stacked"/>
        <c:varyColors val="0"/>
        <c:ser>
          <c:idx val="0"/>
          <c:order val="0"/>
          <c:tx>
            <c:v>勝 W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strRef>
              <c:f>'Chart Data'!$A$2:$A$3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Data'!$B$2:$B$3</c:f>
              <c:numCache>
                <c:formatCode>0"%"</c:formatCode>
                <c:ptCount val="2"/>
                <c:pt idx="0">
                  <c:v>32.3333</c:v>
                </c:pt>
                <c:pt idx="1">
                  <c:v>31.1667</c:v>
                </c:pt>
              </c:numCache>
            </c:numRef>
          </c:val>
        </c:ser>
        <c:ser>
          <c:idx val="1"/>
          <c:order val="1"/>
          <c:tx>
            <c:v>和 D</c:v>
          </c:tx>
          <c:spPr>
            <a:solidFill xmlns:a="http://schemas.openxmlformats.org/drawingml/2006/main">
              <a:srgbClr val="FAEDC6"/>
            </a:solidFill>
          </c:spPr>
          <c:invertIfNegative val="0"/>
          <c:dLbls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strRef>
              <c:f>'Chart Data'!$C$2:$C$3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Data'!$D$2:$D$3</c:f>
              <c:numCache>
                <c:formatCode>0"%"</c:formatCode>
                <c:ptCount val="2"/>
                <c:pt idx="0">
                  <c:v>4.2222</c:v>
                </c:pt>
                <c:pt idx="1">
                  <c:v>4.1111</c:v>
                </c:pt>
              </c:numCache>
            </c:numRef>
          </c:val>
        </c:ser>
        <c:ser>
          <c:idx val="2"/>
          <c:order val="2"/>
          <c:tx>
            <c:v>敗 L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strRef>
              <c:f>'Chart Data'!$E$2:$E$3</c:f>
              <c:strCache>
                <c:ptCount val="2"/>
                <c:pt idx="0">
                  <c:v>上次｜6 runs，3600 場</c:v>
                </c:pt>
                <c:pt idx="1">
                  <c:v>本次｜6 runs，3600 場</c:v>
                </c:pt>
              </c:strCache>
            </c:strRef>
          </c:cat>
          <c:val>
            <c:numRef>
              <c:f>'Chart Data'!$F$2:$F$3</c:f>
              <c:numCache>
                <c:formatCode>0"%"</c:formatCode>
                <c:ptCount val="2"/>
                <c:pt idx="0">
                  <c:v>63.4444</c:v>
                </c:pt>
                <c:pt idx="1">
                  <c:v>64.7222</c:v>
                </c:pt>
              </c:numCache>
            </c:numRef>
          </c:val>
        </c:ser>
        <c:dLbls>
          <c:numFmt formatCode="0.0&quot;%&quot;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00">
                  <a:solidFill>
                    <a:srgbClr val="FCF8F5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70"/>
        <c:overlap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0&quot;%&quot;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5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charts/chart9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上次</c:v>
          </c:tx>
          <c:spPr>
            <a:solidFill xmlns:a="http://schemas.openxmlformats.org/drawingml/2006/main">
              <a:srgbClr val="CF8792"/>
            </a:solidFill>
          </c:spPr>
          <c:invertIfNegative val="0"/>
          <c:cat>
            <c:numRef>
              <c:f>'Chart Data'!$A$2:$A$7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Data'!$B$2:$B$7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4</c:v>
                </c:pt>
              </c:numCache>
            </c:numRef>
          </c:val>
        </c:ser>
        <c:ser>
          <c:idx val="1"/>
          <c:order val="1"/>
          <c:tx>
            <c:v>本次已完成</c:v>
          </c:tx>
          <c:spPr>
            <a:solidFill xmlns:a="http://schemas.openxmlformats.org/drawingml/2006/main">
              <a:srgbClr val="47171C"/>
            </a:solidFill>
          </c:spPr>
          <c:invertIfNegative val="0"/>
          <c:cat>
            <c:numRef>
              <c:f>'Chart Data'!$C$2:$C$7</c:f>
              <c:numCache>
                <c:formatCode>General</c:formatCode>
                <c:ptCount val="6"/>
                <c:pt idx="0">
                  <c:v>8</c:v>
                </c:pt>
                <c:pt idx="1">
                  <c:v>9</c:v>
                </c:pt>
                <c:pt idx="2">
                  <c:v>10</c:v>
                </c:pt>
                <c:pt idx="3">
                  <c:v>11</c:v>
                </c:pt>
                <c:pt idx="4">
                  <c:v>12</c:v>
                </c:pt>
                <c:pt idx="5">
                  <c:v>13</c:v>
                </c:pt>
              </c:numCache>
            </c:numRef>
          </c:cat>
          <c:val>
            <c:numRef>
              <c:f>'Chart Data'!$D$2:$D$7</c:f>
              <c:numCache>
                <c:formatCode>General</c:formatCode>
                <c:ptCount val="6"/>
                <c:pt idx="0">
                  <c:v>3</c:v>
                </c:pt>
                <c:pt idx="1">
                  <c:v>1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  <c:pt idx="5">
                  <c:v>5</c:v>
                </c:pt>
              </c:numCache>
            </c:numRef>
          </c:val>
        </c:ser>
        <c:dLbls>
          <c:numFmt formatCode="0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175">
                  <a:solidFill>
                    <a:srgbClr val="47171C"/>
                  </a:solidFill>
                  <a:latin typeface="Source Han Serif TW"/>
                  <a:ea typeface="Source Han Serif TW"/>
                  <a:cs typeface="Source Han Serif TW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1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72768"/>
      </c:catAx>
      <c:valAx>
        <c:axId val="48672768"/>
        <c:scaling>
          <c:orientation val="minMax"/>
          <c:max val="10"/>
          <c:min val="0"/>
        </c:scaling>
        <c:delete val="0"/>
        <c:axPos val="l"/>
        <c:majorGridlines>
          <c:spPr>
            <a:ln xmlns:a="http://schemas.openxmlformats.org/drawingml/2006/main" w="5715">
              <a:solidFill>
                <a:srgbClr val="DEB4BA"/>
              </a:solidFill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</a:p>
        </c:txPr>
        <c:crossAx val="48650112"/>
        <c:crossBetween val="between"/>
        <c:majorUnit val="2"/>
      </c:valAx>
      <c:spPr>
        <a:solidFill xmlns:a="http://schemas.openxmlformats.org/drawingml/2006/main">
          <a:srgbClr val="FCF8F5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650">
              <a:solidFill>
                <a:srgbClr val="423C3B"/>
              </a:solidFill>
              <a:latin typeface="Source Han Serif TW"/>
              <a:ea typeface="Source Han Serif TW"/>
              <a:cs typeface="Source Han Serif TW"/>
            </a:defRPr>
          </a:pPr>
        </a:p>
      </c:txPr>
    </c:legend>
    <c:plotVisOnly val="1"/>
  </c:chart>
  <c:spPr>
    <a:solidFill xmlns:a="http://schemas.openxmlformats.org/drawingml/2006/main">
      <a:srgbClr val="FCF8F5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42df6cff0c646ad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6B5EA-7053-4260-A16E-9CF7F5C589B2}"/>
              </a:ext>
            </a:extLst>
          </p:cNvPr>
          <p:cNvCxnSpPr>
            <a:stCxn xmlns:a="http://schemas.openxmlformats.org/drawingml/2006/main" id="7" idx="1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7667625" y="2705100"/>
            <a:ext cx="0" cy="3390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59FE1-13D1-4011-8002-520163E0B1F2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10810875" y="4895850"/>
            <a:ext cx="2238375" cy="1200150"/>
          </a:xfrm>
          <a:prstGeom xmlns:a="http://schemas.openxmlformats.org/drawingml/2006/main" prst="bentConnector5">
            <a:avLst>
              <a:gd name="adj1" fmla="val 0"/>
              <a:gd name="adj2" fmla="val 19048"/>
              <a:gd name="adj3" fmla="val 89787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0FAF73-7307-403E-8F6D-E3B28971283F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810875" y="2705100"/>
            <a:ext cx="666750" cy="1695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85D4CD-6594-4D5F-8BEF-5170D40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EAGLE Opponent Pool 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0B768-1FD9-47D5-84C7-B58652D8B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以歷代策略維護對手池，再用凍結的 4＋6 名單評估候選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B806C9-EB6D-4698-9298-7CDEFECA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離線演化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E87D5B-1891-4F8A-8C51-6FA3ED88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95650"/>
            <a:ext cx="5619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Java agent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28E2ECB-B08A-42B5-A9C8-69E2BBF4A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098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策略／控制基因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D7F78-E7F8-4077-80CA-9B015E4A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390525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386D1-3E17-42B9-BAB1-F8557F2A5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600700"/>
            <a:ext cx="31432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對戰證據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115CF2-6145-49A1-8E0C-2CFDDED58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77625" y="2552700"/>
            <a:ext cx="31432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85A1FB-8093-4D03-8C62-FD35E9510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4673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評估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7D65CF-CC61-4C22-9C5A-39FC9A69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9811" y="4019550"/>
            <a:ext cx="2571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反思與選擇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DAEF6F-DA0C-402B-9D27-0A4879EF4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05375"/>
            <a:ext cx="4000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對戰時直接執行 Java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A01728-72E7-4E99-B7A9-4B02836A1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524500"/>
            <a:ext cx="5429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演化與 LLM 工作在對戰之前完成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58F5A-A8FF-467F-935F-D3E25AEE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991350"/>
            <a:ext cx="476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2026-10-21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20BACA-2B44-4349-99C8-E7D6A0125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搜尋採 opponent pool；正式 Final Test 使用獨立的固定基準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E152619-68C8-48AB-83BB-EAB1D777767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5F19631-3B5A-4A4E-82B6-C007DD1258D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477942312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47378c1a41740f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C1727-0AFC-41B5-BF2B-6657D9D3C03A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1" idx="3"/>
          </p:cNvCxnSpPr>
          <p:nvPr/>
        </p:nvCxnSpPr>
        <p:spPr>
          <a:xfrm xmlns:a="http://schemas.openxmlformats.org/drawingml/2006/main" flipH="1">
            <a:off x="4048125" y="7072313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746C6-49DC-46C7-92A8-FD3866D0E4DB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8429625" y="707231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F57C4-FB87-4FD0-A88D-18DECDEED28D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2001500" y="5334000"/>
            <a:ext cx="0" cy="1143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1A05EB-D5DE-4EA2-8524-114E33C938EA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8810625" y="466725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C3DA10-56F1-4C1B-AACE-D201533BE959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048125" y="46672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C01063-A94E-44FE-AF80-6BAB0DBC299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 flipH="1">
            <a:off x="2500313" y="3095625"/>
            <a:ext cx="928688" cy="1095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6B28470-31DB-4435-A877-FEECA7BC8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搜尋流程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65A3FB-C2FC-4903-8259-88F46C1CC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目前搜尋協定：self_play ＋ tournament-v1 opponent pool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A8775-B611-4348-8F99-886700877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52625"/>
            <a:ext cx="14668500" cy="1381125"/>
          </a:xfrm>
          <a:prstGeom xmlns:a="http://schemas.openxmlformats.org/drawingml/2006/main" prst="roundRect">
            <a:avLst>
              <a:gd name="adj" fmla="val 1103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2BCA68-F8A1-4888-B300-CAAB1FA3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5143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GPT 產生 Java framework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0DCAF4C-66C9-4D41-95C8-BEB92A44D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7429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暫時人工由 ChatGPT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生成固定 framework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E51E2-1577-47DA-8A5D-3778A316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91000"/>
            <a:ext cx="3095625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 G0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十個內建對手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C159341-272E-43CC-AD94-16C70EA0E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191000"/>
            <a:ext cx="3810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候選初評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策略開始累積入池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9F8F0C-E75B-4A91-84CC-2693428B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000500"/>
            <a:ext cx="4000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到期刷新 4＋6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父代重評、選擇與變異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577EEE-55EE-454D-B2BA-01B19A1E7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477000"/>
            <a:ext cx="4191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子代評估與倖存選擇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opponent pool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676B17-51CE-4AB4-B229-651FD22E1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6572250"/>
            <a:ext cx="342900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停止條件？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0328FB-E974-45B8-99C7-56AB94389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572250"/>
            <a:ext cx="30956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970588-76E4-476B-9B97-FFC1641DE234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6715125" y="57150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23D54C-C71F-48F8-A08D-12AA7EE2E36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715125" y="5715000"/>
            <a:ext cx="7715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6C4ECF-69EF-4005-BBED-1E6D03973788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14430375" y="466725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52E064-A9E8-4C33-A281-6FBFDA3842B2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4001750" y="4667250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42D7CF-13D3-4F65-A1EC-D7938A7FA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5381625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否：下一代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B17936-3848-4DC8-90AE-C422EBE27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6391275"/>
            <a:ext cx="66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2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6E93E10-C4D3-484E-9A87-EBCCF729864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1DF944-7A9D-4D27-A48D-EB462CF5E4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66355761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1d5a9996e58459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19B9BA-41D5-4848-A034-835DBB9A456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975360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EDAE93-0204-4923-9301-682192014CD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514850" y="3357563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2B45E3-C814-4F9D-8278-19CBD2AB3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策略 DSL 的執行語意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ABDEDC-1D2E-4676-9785-3D8B2EF8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一條規則決定：誰，在什麼條件下，嘗試什麼動作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A6DD2-408E-4FEC-914A-1F67524BB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actor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執行對象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F0F199-AC0B-402B-B20A-0C91228F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when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可觀察條件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8AE5D4-5FBA-4597-94F3-22DF6F60F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72850" y="2524125"/>
            <a:ext cx="3619500" cy="1666875"/>
          </a:xfrm>
          <a:prstGeom xmlns:a="http://schemas.openxmlformats.org/drawingml/2006/main" prst="roundRect">
            <a:avLst>
              <a:gd name="adj" fmla="val 914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action</a:t>
            </a:r>
          </a:p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候選動作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1384BD-996F-4AB2-A823-FE7340F59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40970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9525">
            <a:solidFill>
              <a:srgbClr val="DEB4BA"/>
            </a:solidFill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規則 1   →   規則 2   →   規則 3   →   …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E9C409B-C75C-4EE0-867D-7E67895777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6724650"/>
            <a:ext cx="342900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可合法發出動作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4D4440-D75E-4E44-A649-F4AC210C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6724650"/>
            <a:ext cx="4476750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無法發出：繼續下一條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92588B-373B-4492-BF32-629CBEDC28D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95300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EBA449-D9CB-4371-9463-37DF7E7E409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63250" y="6191250"/>
            <a:ext cx="0" cy="5334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14E71B-BCCB-4D8F-9234-236F43AF4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離線轉為 Java；對戰不執行文字指令。空 rules 代表 idle</a:t>
            </a:r>
          </a:p>
        </p:txBody>
      </p:sp>
      <p:sp>
        <p:nvSpPr>
          <p:cNvPr id="1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969307D-867D-41F2-8961-84A95A3732D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2001185-A70D-4B87-9E55-A069410019E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56434741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fddf9e9659841bc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C694AD-5B4D-4F9D-818A-41F7593AEBDD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9858375" y="4619625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C74B1-E356-45D6-8263-7E931CC49A9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 flipV="1">
            <a:off x="4895850" y="4619625"/>
            <a:ext cx="1247775" cy="762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68CF5-CAF3-43D8-B1C1-3D9FEA369DE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895850" y="2809875"/>
            <a:ext cx="1247775" cy="18097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1529AE-DDE7-4655-8846-E9697DA8C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的一次性建立與凍結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C1784-0341-4077-924A-814CE5740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架構建立一次；模板、槽位與表達式在搜尋期間保持固定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A8A807-8665-49E5-BA91-04725DC9F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812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新建立 framework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68C85-F65F-41FE-B2DD-27BCE57E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5300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已有外部 bundle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A74C4-6FC8-4153-B479-581D4AE4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419475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design_brief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Groq／Mistral／local bootstrap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EFF421-F9D9-4A4D-BD6A-85869A02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6000750"/>
            <a:ext cx="4286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人工準備或共用架構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指定 bundle_path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29A7F7-7DB6-4217-95AF-6185DC69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3857625"/>
            <a:ext cx="3714750" cy="1524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Schema</a:t>
            </a:r>
          </a:p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與 Java 契約驗證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A9FCE5-D6D2-4413-B9C9-C255FF40B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714750"/>
            <a:ext cx="3905250" cy="1809750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bundle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0F2510-4468-486A-BB2B-CED049B4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590550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exact bytes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823DAE-F6F3-497E-9252-76D83329A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0" y="5905500"/>
            <a:ext cx="1714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SHA-256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017AC3-43D8-43CC-A16D-4484A906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之後只演化 control_genome；resume 讀凍結版本，不重新 bootstrap</a:t>
            </a:r>
          </a:p>
        </p:txBody>
      </p:sp>
      <p:sp>
        <p:nvSpPr>
          <p:cNvPr id="1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52489C-F1EE-4A7A-B3B4-9E1C84189AE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3D0BE725-4528-4529-9551-521BFB33DD50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831477718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27e1e5501ec4b07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3B10690-5523-45AE-8836-D771C669EB09}"/>
              </a:ext>
            </a:extLst>
          </p:cNvPr>
          <p:cNvCxnSpPr>
            <a:stCxn xmlns:a="http://schemas.openxmlformats.org/drawingml/2006/main" id="36" idx="3"/>
            <a:endCxn xmlns:a="http://schemas.openxmlformats.org/drawingml/2006/main" id="37" idx="1"/>
          </p:cNvCxnSpPr>
          <p:nvPr/>
        </p:nvCxnSpPr>
        <p:spPr>
          <a:xfrm xmlns:a="http://schemas.openxmlformats.org/drawingml/2006/main">
            <a:off x="6429375" y="771525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E06C15B-F031-404F-A615-90E51705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的有限選項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C6AA5-03CE-432B-9532-CFE5A1F9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slot 是固定 Java 裡的可替換位置；演化只改選值，Java 骨架保持固定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7D5DE1-A134-4A05-A3AB-B7E70EF05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3143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槽位的意義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1BF7D9-BD92-43AC-8DF4-105A3AA8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1857375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bundle 定義的合法選項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93F88F-2768-40CB-AB9A-E2B11DDDB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1857375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候選保存的值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2E95273-D4E4-46A8-8CEA-E00C94E60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14625"/>
            <a:ext cx="314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integer｜工人數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16196A-EB44-4DA9-ACDF-C7363CCDD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81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worker_target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25D768-BB5C-4CFF-B1CC-8075EB103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D67D7-7955-4948-9CD6-AF03A4D29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B257BE-1196-4E85-9F86-0155F7E9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5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F5508-07E8-477E-9DEF-EAF4BA10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4A9C6C-B8C9-4012-8EBF-116907F6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0567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6903DF-C5BC-4546-9829-1A6E8378A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66D244-5B2E-4CAC-B768-A41239AFA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2762250"/>
            <a:ext cx="6477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35B6E-4565-441E-A7E7-C899FC07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3486150"/>
            <a:ext cx="619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2，max = 8，step = 1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608087-0510-45D6-82F9-FB53C58896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31718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4439AB-E7C0-4C0C-91D9-E3B5468D0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7622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worker_target: 6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52AB9B-83A4-4768-82C6-26143034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number｜數值權重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31F7B1-9A44-4E01-9FDF-D2FD5494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006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attack_weight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89DC0B-E080-4D85-B3DF-442FBD36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35C740-3415-4536-9626-6A5EF4D0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8C8C25-FB1F-4BC8-A595-750C81831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2975582-48D0-4A7A-83AD-2115707C9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0.75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1615F74-5FED-4A9F-BD8C-5F7AD47B8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4381500"/>
            <a:ext cx="952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7F312F1-1AFB-4749-ADC9-2446346CE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5105400"/>
            <a:ext cx="638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min = 0，max = 1，step = 0.25</a:t>
            </a:r>
          </a:p>
        </p:txBody>
      </p: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23D06A-A199-454C-9416-7D7F26AB52A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479107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4436FE5-3363-4D49-9009-7C2D116D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438150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attack_weight: 0.75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EF0375-DA86-4E78-853D-BA712544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53125"/>
            <a:ext cx="3238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expression_choice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C0E588-C1FC-4C7E-B65C-FAD3B1AC4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41985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攻擊目標 target_policy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9DA2C4-A5D8-43C4-8693-D89B045E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最近敵人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B8543C3-01F3-4E7C-AF87-ED7DA87D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最低血量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CA1603-27A5-4251-8325-FCB4778C7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6000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敵方基地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F56E3CC-176E-4ADA-A3B8-B04992372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43375" y="6762750"/>
            <a:ext cx="657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choice_id 已對應一段固定 Java 表達式</a:t>
            </a:r>
          </a:p>
        </p:txBody>
      </p:sp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6C60838-A760-49EF-8001-FCD6E67E68C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953625" y="6410325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FEDBECA-DCB5-4D26-87C0-28268608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000750"/>
            <a:ext cx="4476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target_policy: "lowest_hp"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3429F6-B655-446C-BD3D-74B66630C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419975"/>
            <a:ext cx="57150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填滿全部 slot，組成完整 genome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6EBD80-3671-439A-841C-9F3E91A4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7419975"/>
            <a:ext cx="7286625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驗證選值，再填入固定模板產生 Java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3A1149D-6241-4311-94FD-D3A9B5CA4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簡化示例，實際選單由 bundle 決定。number 也只能選離散格點，不能任意填小數</a:t>
            </a:r>
          </a:p>
        </p:txBody>
      </p:sp>
      <p:sp>
        <p:nvSpPr>
          <p:cNvPr id="4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BE50C44-B37C-4E59-AA59-F284000979C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EB47FB2F-19B8-4CFD-B2AA-B057EA05B25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48660173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6991f153cd54a2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D69C5A-91CC-4CBB-A7D0-A6153240DD5C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8001000" y="6019800"/>
            <a:ext cx="3810000" cy="11239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392270-993C-4E59-8342-D0E76580DB5C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4095750" y="5895975"/>
            <a:ext cx="3905250" cy="1247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00D978-7E68-45AD-86DD-358A90638D2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811000" y="4276725"/>
            <a:ext cx="0" cy="6762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0440C6-ACB6-4E12-AF00-138307F1BF61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095750" y="4276725"/>
            <a:ext cx="0" cy="819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6DBCCB2-FDEE-40D4-A668-9F6FE037B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的 local 與 llm_coach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EB94AF-53CF-46D4-93CD-16A4FAAA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兩種演化政策，共用相同的凍結 framework 與下游評估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06897C-8C48-4245-9523-3BB2E8412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44055D-E7E2-4981-84C3-AC968BBF9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95500"/>
            <a:ext cx="6858000" cy="4572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02A25-1AD5-4B76-B7FD-417D5B632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local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6002E3-3E7D-4222-8013-FAB0AF1B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314575"/>
            <a:ext cx="609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llm_coach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39632-DBE6-4924-8DEB-B95E384D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初始：有限域採樣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E2DECC-B208-4C3A-BE8E-0B325F5F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逐槽交配，至多一槽突變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FEFF2B-9E48-4550-86F5-440CF37ED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590550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初始：LLM 選完整 genome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EFDA69-E92E-44B3-8A27-172A9BF61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953000"/>
            <a:ext cx="5905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最差單場賽評＋Coach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回傳完整 genome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B624D-5FF7-4615-907C-F0C6D5A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7143750"/>
            <a:ext cx="752475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本地渲染 Java，再驗證與對戰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36E160-0459-41FB-8D7B-E7932301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Coach 回應不合法：保留突變前的完整 genome，標記失敗，不隨機補值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529F1DE-60D3-4166-9BCF-0F420D00630C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23A1FF-4E71-4CE4-BB54-3D44B85A17C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760140676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3d271470c3f4fb6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A79D20-1D2A-4606-9A7C-0B86C5D17560}"/>
              </a:ext>
            </a:extLst>
          </p:cNvPr>
          <p:cNvCxnSpPr>
            <a:stCxn xmlns:a="http://schemas.openxmlformats.org/drawingml/2006/main" id="21" idx="0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2381250" y="2971800"/>
            <a:ext cx="2714625" cy="3267075"/>
          </a:xfrm>
          <a:prstGeom xmlns:a="http://schemas.openxmlformats.org/drawingml/2006/main" prst="bentConnector5">
            <a:avLst>
              <a:gd name="adj1" fmla="val 0"/>
              <a:gd name="adj2" fmla="val 6997"/>
              <a:gd name="adj3" fmla="val 91579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CA9ED5F-6FAB-4BF4-AB65-7FAE27002A90}"/>
              </a:ext>
            </a:extLst>
          </p:cNvPr>
          <p:cNvCxnSpPr>
            <a:stCxn xmlns:a="http://schemas.openxmlformats.org/drawingml/2006/main" id="19" idx="1"/>
            <a:endCxn xmlns:a="http://schemas.openxmlformats.org/drawingml/2006/main" id="21" idx="3"/>
          </p:cNvCxnSpPr>
          <p:nvPr/>
        </p:nvCxnSpPr>
        <p:spPr>
          <a:xfrm xmlns:a="http://schemas.openxmlformats.org/drawingml/2006/main" flipH="1">
            <a:off x="3952875" y="6810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0CF94-CAC7-4600-966D-6DDB0165E8D4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3"/>
          </p:cNvCxnSpPr>
          <p:nvPr/>
        </p:nvCxnSpPr>
        <p:spPr>
          <a:xfrm xmlns:a="http://schemas.openxmlformats.org/drawingml/2006/main" flipH="1">
            <a:off x="7953375" y="5667375"/>
            <a:ext cx="4143375" cy="1143000"/>
          </a:xfrm>
          <a:prstGeom xmlns:a="http://schemas.openxmlformats.org/drawingml/2006/main" prst="bentConnector5">
            <a:avLst>
              <a:gd name="adj1" fmla="val 0"/>
              <a:gd name="adj2" fmla="val 20000"/>
              <a:gd name="adj3" fmla="val 94483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1C3749-8167-4803-A17C-379EC9A3338C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096750" y="3419475"/>
            <a:ext cx="0" cy="12001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59CCE27-4095-4E0F-9B59-A8198FAE66E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7953375" y="2971800"/>
            <a:ext cx="2190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5B97D-F095-4A84-AAC0-AD3FE8C3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的每個世代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DEBC7F-52EA-4A5F-8601-2DCE0C5B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同一凍結快照內，10 位父代與 10 位子代選出 10 位下一代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D7FD34-BD5F-4F34-840C-390DCE1D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1907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7F513C-A125-440F-A737-803E4CE03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2CB9B3-B6B8-4625-ACF1-F7CCDA0BE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6B9693-6437-4A5F-889A-C2BE55006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77E2C6-4E38-4A83-976C-F2E01D0CE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ADE6FA-B616-49D8-873C-319A8B0A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04800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9EFF128-9C38-473C-B2DC-417B915AF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179ABD-5D0A-40FF-B600-DDE95C9FB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E25682-004F-424C-BFFD-585C2403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043B12-1779-4E8E-870E-9DD3659E6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ECA779-A217-414F-9352-FDA25C1A5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714750"/>
            <a:ext cx="533400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68C875-8136-4CFF-BCC1-02ECAB12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24125"/>
            <a:ext cx="285750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選父代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01B25C-9418-411F-A75D-6FEDAEB80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2524125"/>
            <a:ext cx="39052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交配與突變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E3CCA38-2D92-4552-A40D-EA85D31D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619625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Java、驗證與子代評估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86F8682-3C11-4030-9CF4-05ED5E002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238875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父代＋子代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選下一代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3EEEC16-0F77-40EE-B716-9E810EACC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38875"/>
            <a:ext cx="31432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更新 pool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checkpoint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C5C4C-35AD-4ED4-BC37-8CDC179B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029075"/>
            <a:ext cx="8953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對手快照到期刷新時，繁殖前先重評父代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B9D937-D02D-439D-89E5-3BEA03C1F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世代提交後才前進；新入池成員等下一次快照刷新才可能成為對手</a:t>
            </a:r>
          </a:p>
        </p:txBody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13BFBFEE-0650-4990-A277-B38E011F0C75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6CBF837-4B58-431F-A5F3-CC916326A8C2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3580373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71402c8fa274034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CC9991-3918-4438-95D5-46D9FBA7BA69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10334625" y="2905125"/>
            <a:ext cx="1381125" cy="4048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027EF9-054E-4274-A255-B71085130AD0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714875" y="3309938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A855D-6F5C-42AE-BE4D-683A3903E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的繁殖父代選擇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777BD9-9E8C-497B-B2C5-9DEE80BB1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先用 Game Performance 決定頂層，再在這一層中選繁殖父代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F77DA7-A661-4EB0-B574-C3CB0EC55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67000"/>
            <a:ext cx="395287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當代候選族群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同一對手快照，已有 fitness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0CD56-6209-4E4E-B937-851198BB9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2667000"/>
            <a:ext cx="4381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只留分數頂層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≥ 最高分 − 1.0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B5F7DC-80FF-4A2F-BF69-284AB1060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2381250"/>
            <a:ext cx="32861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抽樣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ED1ECC-664E-43CF-AD87-AC2E14A1C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5619750"/>
            <a:ext cx="3286125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優先挑離 A 較遠者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C4C1293-0E59-41AD-A0FB-1E0CE09255F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334625" y="3714750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84E388-BAB7-4C0A-92B4-547A37583D8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3714750"/>
            <a:ext cx="0" cy="24955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F36BD6-2D5E-41FD-8DBA-B8EAB20DF0A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62103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8C374D-AFA9-4B9D-B78B-89BA49B52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4191000"/>
            <a:ext cx="3619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在同一頂層再選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93DC9B-7264-48E7-9918-2253B5667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9048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語意距離來自固定狀態中的 Java 動作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EDD810-E739-4175-90E1-E8C7EC2E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86500"/>
            <a:ext cx="904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低分者不能只靠行為新穎跨越分數頂層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C6146-0602-4E11-89DA-9AF9E9C0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繁殖父代提供基因；opponent pool 提供評估對手。沒有相容簽章時採 seeded fallback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A289962B-DCE4-4950-94A1-FC934C4C8BD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1FFCA84-7688-4E8A-9F46-E8F1DB7F0FD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11436892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cf12c809ce1453f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8FAE12-C054-4C39-855D-85F69B7946EF}"/>
              </a:ext>
            </a:extLst>
          </p:cNvPr>
          <p:cNvCxnSpPr>
            <a:stCxn xmlns:a="http://schemas.openxmlformats.org/drawingml/2006/main" id="19" idx="2"/>
            <a:endCxn xmlns:a="http://schemas.openxmlformats.org/drawingml/2006/main" id="21" idx="0"/>
          </p:cNvCxnSpPr>
          <p:nvPr/>
        </p:nvCxnSpPr>
        <p:spPr>
          <a:xfrm xmlns:a="http://schemas.openxmlformats.org/drawingml/2006/main">
            <a:off x="11477625" y="5667375"/>
            <a:ext cx="0" cy="1000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2BBCF-7E24-4E94-81D1-ACC509E610C1}"/>
              </a:ext>
            </a:extLst>
          </p:cNvPr>
          <p:cNvCxnSpPr>
            <a:stCxn xmlns:a="http://schemas.openxmlformats.org/drawingml/2006/main" id="18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1477625" y="3390900"/>
            <a:ext cx="0" cy="1085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51CED8-713F-4E0F-87F2-4C94D7287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的父代選擇示例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8F3D2C-A253-4CCB-98ED-A83AD3D05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教學示例：最高分 100，頂層門檻為 99.0；只在這層中比較行為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7618A5-A45A-481A-BB34-4451B6514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785826-1ED0-49E3-9296-5900213B8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62E6248-03DA-453D-95F2-CBF59288C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3336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距候選 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261675-48BB-4E9D-B2E0-E05E657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5C6F82-2F63-43CC-853E-E2BD0E91E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64BED-A534-472F-9653-58399C9E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3242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9C2A56-92C9-4F90-86FD-71EFEB4FC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9FF6A0-CAD7-444F-86CB-6474BD83B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C11DE8-5137-48EA-A59D-6D707E57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148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59E672-0698-4B5E-8EF3-D1FFD0256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01C679-4E33-4465-89C0-9B8DA98E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99.0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979927-4E81-404F-9A90-A0C72B202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054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2／9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22D2AD-88E1-40FB-98E2-957AA23D6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545572-1501-4202-9A6B-93EE9A674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98.8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CAAC2-4C69-4943-AD23-37695B70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6296025"/>
            <a:ext cx="17430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不比較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277389-9B83-4CD1-BD58-262FA439E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476500"/>
            <a:ext cx="628650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第一父代：seeded 抽中候選 B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77EB9-3E8C-4D1F-B9C7-03DC2C03F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466725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在 A、B、C 中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比較與 B 的語意距離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A55BC9-8270-4D3D-BBD5-9FAEF164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6667500"/>
            <a:ext cx="4667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第二父代選候選 A</a:t>
            </a:r>
          </a:p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8／9 是最大距離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8A599A2-1BAD-4F60-A0D1-553139954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91400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 低於 99.0，不能靠新穎性入選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079EE69-6635-4A10-97CB-D6FD8F9E6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本頁為示例，非實驗結果。分數差 1.0 包含邊界；距離來自相容的九個動作探針</a:t>
            </a:r>
          </a:p>
        </p:txBody>
      </p:sp>
      <p:sp>
        <p:nvSpPr>
          <p:cNvPr id="2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A9FC058-6212-458A-B17B-990B1F6BCBF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4AB0D5B-67A7-4501-A4DF-003AD2D4EDA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519663436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37574d36a214f39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A7E528-859E-4F21-BFD4-09FAF38521B3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4610100" y="602932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A703BB6-891C-4857-B338-8C0CA2F860F0}"/>
              </a:ext>
            </a:extLst>
          </p:cNvPr>
          <p:cNvCxnSpPr>
            <a:stCxn xmlns:a="http://schemas.openxmlformats.org/drawingml/2006/main" id="9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9791700" y="4743450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93933D-83D8-4FC1-93BE-88BBDE8072B7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10100" y="3457575"/>
            <a:ext cx="14668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A5426D-5DB6-4BAA-B0A1-A99AB8CF0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交配與來源譜系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05739-B9F0-496C-9ADE-2A59F6B8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直接父代與各成分的真正來源，分開保存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AE6D15-736D-4860-9D38-C08DA6EA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B3D1A4-1027-47B1-B94D-340BDC51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14312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DED2CA-0619-439A-AAF2-7AD9D6A12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0E0F30-5461-4E28-94F9-6251F44C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39225-B530-4C8F-86DB-B3B25D632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B33931-43AE-4872-89FE-4F8382B0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4800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A45F51-3BB7-4E99-B8B0-9FB444BDB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333875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58BF93-348E-4548-B792-9EAEEBD6C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619750"/>
            <a:ext cx="38100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CF4AA8-38AF-4183-9105-DB05529CF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4800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 DSL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BF27DE-16A1-49A0-AB4A-B5571BA0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33875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 prompt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FE77D-DBDA-420E-AF0F-F8A4223A9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619750"/>
            <a:ext cx="3714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inherited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A2285F-18B4-4FCF-802C-177DF0788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143125"/>
            <a:ext cx="4286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子代：成分獨立選來源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2AC485-CE28-47C6-AE67-8B2B1037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6972300"/>
            <a:ext cx="6762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Java 這一列只在 inherited 模式啟用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9C3B90-CD84-40E2-9A20-CDC30B307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DSL 模式複製完整 policy；framework 模式改為每個 slot 獨立交配並保存 donor</a:t>
            </a:r>
          </a:p>
        </p:txBody>
      </p:sp>
      <p:sp>
        <p:nvSpPr>
          <p:cNvPr id="2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5CE4142-4AD1-413C-852E-C1604D62CAE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3689F8D-A4C5-418C-B3CC-D8556E97F0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513379580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a68541e77024cd7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EFF77-2B84-4A3A-9495-0B5739DD7204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7143750" y="4619625"/>
            <a:ext cx="476250" cy="24384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C8FA70-53DA-4B3A-BCD3-6A6DB4E1841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11430000" y="514350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CE7D0F-EA84-4A27-953C-625A596B33FE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52875"/>
            <a:ext cx="1714500" cy="8572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4E2DB1-D38F-4466-8739-975677E9E463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1430000" y="2762250"/>
            <a:ext cx="1262063" cy="190500"/>
          </a:xfrm>
          <a:prstGeom xmlns:a="http://schemas.openxmlformats.org/drawingml/2006/main" prst="bentConnector4">
            <a:avLst>
              <a:gd name="adj1" fmla="val 0"/>
              <a:gd name="adj2" fmla="val 6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1749A7-45A8-4640-809D-32145E19C54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8858250" y="2428875"/>
            <a:ext cx="1714500" cy="1524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733DE8-3420-4350-8608-59AB5D12140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905250" y="395287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196400-FF4C-49CB-85A2-77B068E2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模式的交配前 Code gate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AA942-F9DF-49CA-843E-E1FECE936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僅 LLM 模式執行；每位實際來源先對照自己的策略與 Java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F3DD07-A716-497B-A49F-3C7D31230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314325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 policy</a:t>
            </a:r>
          </a:p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＋原始 Java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A587DB-5483-40B1-BD20-C1099758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286125"/>
            <a:ext cx="34290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Code 診斷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8E1A189-63EF-40D7-9A47-321E20AC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09550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健康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B9113D-D905-4887-A07B-3F1D178BE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952750"/>
            <a:ext cx="42386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正常交配與突變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CF1D20-ACE8-493E-B842-12FA0C8F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4476750"/>
            <a:ext cx="1714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有缺陷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A0D435-8F01-487B-A74A-64E8A37B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5334000"/>
            <a:ext cx="4238625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單一父代修正 Java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保留原 prompt 基因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5F2C7-3777-403F-9FEB-A92A39E7A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58025"/>
            <a:ext cx="76200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診斷失敗：保留證據，標記失敗子代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8589AB-059E-4E05-96FF-A8D3E2F00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Code gate 只診斷策略忠實度與程式正確性，不使用勝率作修正依據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C64232EE-B88D-476A-A83B-37A254E0163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D8B93FB-9260-4AC4-976D-6E22A5A617D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019719800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312237ff1194a8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0BA7E4-B1F0-409B-BB10-3EA804993E4C}"/>
              </a:ext>
            </a:extLst>
          </p:cNvPr>
          <p:cNvCxnSpPr>
            <a:stCxn xmlns:a="http://schemas.openxmlformats.org/drawingml/2006/main" id="27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2787313" y="5172075"/>
            <a:ext cx="0" cy="15335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5219D5-B10B-4921-8386-3BFB9AD1CACA}"/>
              </a:ext>
            </a:extLst>
          </p:cNvPr>
          <p:cNvCxnSpPr>
            <a:stCxn xmlns:a="http://schemas.openxmlformats.org/drawingml/2006/main" id="26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>
            <a:off x="9429750" y="3190875"/>
            <a:ext cx="1428750" cy="1409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C4B8F0-FC74-4B41-8B55-EACB76A375E9}"/>
              </a:ext>
            </a:extLst>
          </p:cNvPr>
          <p:cNvCxnSpPr>
            <a:stCxn xmlns:a="http://schemas.openxmlformats.org/drawingml/2006/main" id="24" idx="3"/>
            <a:endCxn xmlns:a="http://schemas.openxmlformats.org/drawingml/2006/main" id="27" idx="1"/>
          </p:cNvCxnSpPr>
          <p:nvPr/>
        </p:nvCxnSpPr>
        <p:spPr>
          <a:xfrm xmlns:a="http://schemas.openxmlformats.org/drawingml/2006/main" flipV="1">
            <a:off x="9429750" y="4600575"/>
            <a:ext cx="1428750" cy="13525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001AEA4-CB45-4E59-A42C-D1B1ECDE2D27}"/>
              </a:ext>
            </a:extLst>
          </p:cNvPr>
          <p:cNvCxnSpPr>
            <a:stCxn xmlns:a="http://schemas.openxmlformats.org/drawingml/2006/main" id="23" idx="3"/>
            <a:endCxn xmlns:a="http://schemas.openxmlformats.org/drawingml/2006/main" id="24" idx="1"/>
          </p:cNvCxnSpPr>
          <p:nvPr/>
        </p:nvCxnSpPr>
        <p:spPr>
          <a:xfrm xmlns:a="http://schemas.openxmlformats.org/drawingml/2006/main">
            <a:off x="4191000" y="5867400"/>
            <a:ext cx="1333500" cy="857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EF12E2D-9018-45F5-A445-6E7094B10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Strategy Reflection 的證據路徑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C08AA2-B9B8-4CB3-AC34-14EA7E406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Coach 同時看全局摘要，但詳細賽評只取策略來源父代的一場最差對戰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2F4FBE-8E65-42FA-B41D-E75D1D77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47875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父代已完成對戰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70CC67-B27C-4778-85A8-29D4E504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C824D4B-EF5C-4454-91C2-A34E08DA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DB97FF-B35B-4C6A-BD00-979771951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C6351B-486D-401C-8624-8BC96E55E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9B65FE-079E-4EF1-BAA0-958E6C117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3A7EF0-C9E7-41FC-95EC-FE54365D9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8575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F2CBEC-EA2D-4852-B779-4D503BDB2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034E37-35A9-456C-9384-A291058E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7CEA14-4FFA-4BE2-9E7C-3A818AB39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948BC-0F05-4D50-990F-F468287A0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205B8D-04A4-4894-A64E-1D691BA4E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90EC5-2F22-43BC-A21C-4B659849D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E181A6-1800-455D-9095-7ADE016E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F86C84-6EF0-487E-A3B6-F43EF8B3D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B8FCF-340C-4E58-B8AE-A50F43BC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0A5F0C-93D2-4FD9-805E-C73252B41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812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999C55-B858-4A99-804E-FAA630CF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3922F1-8065-4676-B64F-AF3135028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03860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B7394E-22D3-4137-B0FA-58B252D2D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0725" y="3448050"/>
            <a:ext cx="485775" cy="485775"/>
          </a:xfrm>
          <a:prstGeom xmlns:a="http://schemas.openxmlformats.org/drawingml/2006/main" prst="roundRect">
            <a:avLst>
              <a:gd name="adj" fmla="val 3137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97F590-127F-433C-9838-4EE831E66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476875"/>
            <a:ext cx="3333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 場詳細 trace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56B69B-41A7-46C7-A7CE-0DADE0D65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5429250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Match Commentator</a:t>
            </a:r>
          </a:p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診斷轉折與失誤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9F3A3E1-97B1-4CEB-A8B8-AF48CAFD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733675"/>
            <a:ext cx="3905250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全場 global summary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14498DD-E2B6-49F8-A7F8-899168409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4029075"/>
            <a:ext cx="3857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6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Coach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84CB3A-C673-44EA-8A9F-3F82C1072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6705600"/>
            <a:ext cx="433387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DSL 或完整 genome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C992028-09E0-41C1-843F-B5FDC9ACA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667250"/>
            <a:ext cx="4000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圖中場次方塊為示意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07A54A6-B282-436A-A117-3AB7EAFB4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找不到該場 trace 或賽評失敗，不另挑替代賽事；原基因與證據保留</a:t>
            </a:r>
          </a:p>
        </p:txBody>
      </p:sp>
      <p:sp>
        <p:nvSpPr>
          <p:cNvPr id="3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1974AD5-C155-4415-9BBD-5F126C53FB51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5961325-30D6-40A6-90BC-42900D3269D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307316969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39ae0e8067a4fa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A2486-FAD0-4FDC-881A-B3F62EAAA101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762375" y="4095750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1C8B24-3279-41A4-BB19-1502ADFA6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最差場次與策略回應的驗證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172EB7-C109-4FEE-B593-271373C65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先選對證據，再驗證 Coach 提出的完整規則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647CAD-488C-4C0D-ABA5-A3564F4CE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最差已完成場次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30EAA1-5768-4237-81AD-62EC38F2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2190750"/>
            <a:ext cx="6191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JSONL 逐行規則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09356C-A027-43D2-938D-401D828E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performance 為有限值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選最低值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05D4F-1BBB-41B8-9C00-43AB4075F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14875"/>
            <a:ext cx="58102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缺值時：敗 −100、和 0、勝 100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92652E-FF38-48B0-9DCE-C094F3CDE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6134100"/>
            <a:ext cx="600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同分按 match_id；失敗比賽排除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355272-FEBE-499A-932B-735F7BFF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143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1　保留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D0EB4D-55B0-44BD-9F08-136B910A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4767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非法整行規則　捨棄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BBE7E2-E33F-4710-84AD-FF008A6C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5810250"/>
            <a:ext cx="590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合法規則 3　保留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DF9342-BBCF-4F92-AA85-1CA1B5222D8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381250"/>
            <a:ext cx="0" cy="48577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DEB4BA"/>
            </a:solidFill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B28DD8-9F2F-41B3-B233-071A5F7A7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合法規則保留原順序；至少一條才成功。Framework 回應仍要求完整 genome</a:t>
            </a:r>
          </a:p>
        </p:txBody>
      </p:sp>
      <p:sp>
        <p:nvSpPr>
          <p:cNvPr id="1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F26CA8EE-62CA-491F-8B44-40BDFD9DB276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E1AA0EC-FDD1-4336-89F1-4F14C1DE57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211347916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d16747a5c16485f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26387D-4A96-463A-B2E5-E63EF5F414E0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2" idx="3"/>
          </p:cNvCxnSpPr>
          <p:nvPr/>
        </p:nvCxnSpPr>
        <p:spPr>
          <a:xfrm xmlns:a="http://schemas.openxmlformats.org/drawingml/2006/main" flipH="1">
            <a:off x="4095750" y="6048375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5A309D-0A9A-4353-A843-F9543E742A49}"/>
              </a:ext>
            </a:extLst>
          </p:cNvPr>
          <p:cNvCxnSpPr>
            <a:stCxn xmlns:a="http://schemas.openxmlformats.org/drawingml/2006/main" id="8" idx="1"/>
            <a:endCxn xmlns:a="http://schemas.openxmlformats.org/drawingml/2006/main" id="10" idx="3"/>
          </p:cNvCxnSpPr>
          <p:nvPr/>
        </p:nvCxnSpPr>
        <p:spPr>
          <a:xfrm xmlns:a="http://schemas.openxmlformats.org/drawingml/2006/main" flipH="1">
            <a:off x="9334500" y="6048375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70EABA-A9B4-4350-8395-DC6483A86C1E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12620625" y="4095750"/>
            <a:ext cx="3333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937B0-1F56-4C0D-9083-2EB698FD9DE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3619500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B6D6D37-5165-4B18-A5AE-5B973381DCA1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5143500" y="3619500"/>
            <a:ext cx="1190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CC51A1-7056-4B9A-8412-CEF9D38B6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Prompt Reflection 的資料邊界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594E31-043A-4AED-B0AE-1D118B8B8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改進「如何把策略翻成 Java」的可重用規則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B28D36-F86A-4E12-A2DD-CA54C292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19375"/>
            <a:ext cx="4381500" cy="2000250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Policy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可編輯 Java 區域</a:t>
            </a:r>
          </a:p>
          <a:p xmlns:a="http://schemas.openxmlformats.org/drawingml/2006/main">
            <a:pPr algn="ctr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相符的 validation／compiler 診斷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12A2CB-9133-4D65-B90A-0C32DB3C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143250"/>
            <a:ext cx="323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Reviewer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EC3366-ADD3-4B48-A715-B02A7A9C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96625" y="3143250"/>
            <a:ext cx="37147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9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Rewriter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5D3D2-24A6-4CB7-BD21-1D4E496F4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619750"/>
            <a:ext cx="438150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Reusable-rule delta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5B060-DA89-40F0-881F-F40CBF99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619750"/>
            <a:ext cx="4095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generation_prompt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15BC5D-0A5D-43BA-AC2B-D91E9AC60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197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 Generator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BF7C280-9ED5-49DF-9931-09FF23155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105650"/>
            <a:ext cx="4095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策略基因保留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6B1B9E-2251-4AC1-BE6F-C733BB3E4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Reviewer 不接收勝敗、fitness、對手分數或比賽 trace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3C446D4-3551-44C6-9F8F-FAC28FDDF70F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F3CBFB0-C22E-4AAE-928C-F1E060BB194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10772141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58425c2b7f9484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FA80EA-D33F-4F16-A3DB-DA7E8A91EE19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8072438" y="6048375"/>
            <a:ext cx="48672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1040EC-9D13-4C0C-B00F-7416C6CB8AA0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7958138" y="6048375"/>
            <a:ext cx="2414588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DDF6318-038C-42FC-BCF7-1B95A9B4C447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2976563" y="6048375"/>
            <a:ext cx="5095875" cy="12382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5DD697B-2D40-475E-810E-361E30EE8E8E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293971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0EF0DD-7299-4E88-B05A-AABF0E96CEBF}"/>
              </a:ext>
            </a:extLst>
          </p:cNvPr>
          <p:cNvCxnSpPr>
            <a:stCxn xmlns:a="http://schemas.openxmlformats.org/drawingml/2006/main" id="9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7958138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77E2E4-FD40-44A1-AE72-9250FBA722C7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 flipH="1">
            <a:off x="2976563" y="4524375"/>
            <a:ext cx="4763" cy="7143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DBC727-B5BB-43C6-A862-F4FE0CF0E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三條 Java 產生路徑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4E832-0FA3-460E-8505-9921AB791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不同基因表示，匯入同一條 Java 驗證與對戰路徑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05F7B8-B8FA-4344-AF09-2B422BE5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D5CF29-F24E-4DB6-AFD8-3DF850F37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策略＋generation prompt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選配 inherited Java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1FA677-2CA1-458B-8758-CD104F32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E3461-BC6E-4E60-9ED5-516BA74F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有界生成／編譯修復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E71231-B449-4BDF-9F4C-AD0595EF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Deterministic DSL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9D21D8-FC57-4F68-A5B0-59B17D41D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Canonical policy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本地 typed IR 編譯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9E9941-7B85-4F26-886B-ED066B1B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CF0F29-73B8-4BBB-8BA1-1BD95DC4F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0D13F4-38FE-4805-B98D-3DFF307A2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2143125"/>
            <a:ext cx="45910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9C6E67-F313-4854-864E-452777F17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3238500"/>
            <a:ext cx="45910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凍結 template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＋完整 control_genome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B2ADEA-FADF-41B5-9C47-E51CF1D06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5238750"/>
            <a:ext cx="3476625" cy="809625"/>
          </a:xfrm>
          <a:prstGeom xmlns:a="http://schemas.openxmlformats.org/drawingml/2006/main" prst="roundRect">
            <a:avLst>
              <a:gd name="adj" fmla="val 1882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6FE415-693F-452B-B894-ECD1640C9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48950" y="6400800"/>
            <a:ext cx="45910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失敗不呼叫 LLM 修復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13A677-F694-4A1D-886E-BC35CEF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286625"/>
            <a:ext cx="9096375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Validation → javac → Integration → MicroRTS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2888D7-D237-4096-97CA-59A5D5A67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必須啟用語意 probe，用於行為去重與分數層內的選擇</a:t>
            </a:r>
          </a:p>
        </p:txBody>
      </p:sp>
      <p:sp>
        <p:nvSpPr>
          <p:cNvPr id="2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51A8F88-1638-459B-A680-0A9703C68B6F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CB92F-6773-424D-8B1C-9757D5D910C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107006218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1d885a40bcc458d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EE5C4E-4522-429A-A84F-8ECFDA9E4447}"/>
              </a:ext>
            </a:extLst>
          </p:cNvPr>
          <p:cNvCxnSpPr>
            <a:stCxn xmlns:a="http://schemas.openxmlformats.org/drawingml/2006/main" id="10" idx="1"/>
            <a:endCxn xmlns:a="http://schemas.openxmlformats.org/drawingml/2006/main" id="16" idx="3"/>
          </p:cNvCxnSpPr>
          <p:nvPr/>
        </p:nvCxnSpPr>
        <p:spPr>
          <a:xfrm xmlns:a="http://schemas.openxmlformats.org/drawingml/2006/main" flipH="1">
            <a:off x="4048125" y="6405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58AD95-AA25-4E31-BB8C-E99E0E6B7713}"/>
              </a:ext>
            </a:extLst>
          </p:cNvPr>
          <p:cNvCxnSpPr>
            <a:stCxn xmlns:a="http://schemas.openxmlformats.org/drawingml/2006/main" id="10" idx="0"/>
            <a:endCxn xmlns:a="http://schemas.openxmlformats.org/drawingml/2006/main" id="4" idx="2"/>
          </p:cNvCxnSpPr>
          <p:nvPr/>
        </p:nvCxnSpPr>
        <p:spPr>
          <a:xfrm xmlns:a="http://schemas.openxmlformats.org/drawingml/2006/main" flipV="1">
            <a:off x="6553200" y="4000500"/>
            <a:ext cx="1209675" cy="19050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01034-CC2A-4544-87BB-5463B544FF2F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3192125" y="4000500"/>
            <a:ext cx="23813" cy="1905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5A2373-DA4D-4E07-B713-F110D4F17062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715500" y="3357563"/>
            <a:ext cx="1476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485911-FCBA-46DD-8C18-8EEE63EF2ED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48125" y="3357563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4D4D293-3F50-4EA4-BA46-EC564293D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LLM 生成與有界修復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FA71BC-A0D7-4524-96FE-2709FFC32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第一份驗證與編譯成功的 source／classes，成為唯一 canonical 表型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40A386-7419-444B-BC71-128F0199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14625"/>
            <a:ext cx="3286125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權威基因</a:t>
            </a:r>
          </a:p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＋固定 scaffold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9F8045F-DD96-4322-9F4B-AE28801A4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14625"/>
            <a:ext cx="3905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6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 Java 回應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E13F0-C2D5-4767-8D69-AB15BB2A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91875" y="2714625"/>
            <a:ext cx="40005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外框／normalize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Validation＋javac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B5C9E1-C333-4BFC-86D6-2053CBDB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5905500"/>
            <a:ext cx="376237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成功 → 提升表型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DD495-EC46-49CC-8AFB-345DCAEC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905500"/>
            <a:ext cx="3905250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前次完整 source</a:t>
            </a:r>
          </a:p>
          <a:p xmlns:a="http://schemas.openxmlformats.org/drawingml/2006/main">
            <a:pPr algn="ctr">
              <a:def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＋當次結構化診斷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B64FBA-ABEA-4D37-9075-9C89AE83A8EF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0477500" y="367665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774A3D8-BBB3-436A-9DE3-D45CF3ECB05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477500" y="3676650"/>
            <a:ext cx="0" cy="27527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0AC6F57-D179-4B17-95B5-0B968B598FA6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9715500" y="6429375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A646F-6103-4852-9638-2BE18F2F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810125"/>
            <a:ext cx="31432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失敗，尚有 attempt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2BBF20-3B99-4B7D-9888-6DEBE4E2F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05500"/>
            <a:ext cx="3286125" cy="1000125"/>
          </a:xfrm>
          <a:prstGeom xmlns:a="http://schemas.openxmlformats.org/drawingml/2006/main" prst="roundRect">
            <a:avLst>
              <a:gd name="adj" fmla="val 15238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耗盡上限</a:t>
            </a:r>
          </a:p>
          <a:p xmlns:a="http://schemas.openxmlformats.org/drawingml/2006/main">
            <a:pPr algn="ctr">
              <a:def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保留失敗證據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6123DA-C8FD-4CBA-BD08-498DE4AA7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Integration／runtime 失敗不回到 decoder；確定性兩種模式沒有此修復迴圈</a:t>
            </a:r>
          </a:p>
        </p:txBody>
      </p:sp>
      <p:sp>
        <p:nvSpPr>
          <p:cNvPr id="19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200CD7C8-F4BE-422D-8A68-43BE479BFE4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DE34E6B-4719-4EEB-9CDF-6047224E3D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811861351"/>
      </p:ext>
    </p:extLst>
  </p:cSld>
</p:sld>
</file>

<file path=ppt/slides/slide1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27314b811314f9e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8DDAB2-E5A8-4398-A379-73254428D66E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8107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93A8FC-DCC5-4EF8-ADB8-4B81F0B946E5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5048250" y="2733675"/>
            <a:ext cx="1047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096492-A6BF-488D-BF51-15B7E17A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Validation、編譯與七項 Integration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A278D0-CD1F-4AF0-B950-305C932D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先檢查 source，再編譯；可載入不代表能合法執行對戰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878779F-86D8-46AA-A4EA-28B8EA3CE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7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EE397C-D86B-4B67-9100-7A3773FA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76625"/>
            <a:ext cx="409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package／class／固定 scaffold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單一策略 marker／合法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520BDD-8B74-4EDA-AE34-0D08BDACA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33625"/>
            <a:ext cx="37147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1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DD9217-C373-4851-BB30-BE112FBC2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76625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每個 attempt 最多一次</a:t>
            </a:r>
          </a:p>
          <a:p xmlns:a="http://schemas.openxmlformats.org/drawingml/2006/main">
            <a:pPr algn="l">
              <a:def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提升成功 class tree，不重編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FC4D2-05DD-497E-90BD-A5B0B8AA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333625"/>
            <a:ext cx="4286250" cy="80010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8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10864F-90B4-4A7E-97EA-F63DAB6F2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8B17A4-2F8E-4DA9-8644-1223B4EBF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載入</a:t>
            </a:r>
          </a:p>
        </p:txBody>
      </p: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3A44BD-7A4F-471B-8359-48E0EAEB250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4573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9B9C606-2521-45FB-9E82-72B4540F1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3BC0BA-2B69-4586-A2BA-043094D5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AI 繼承</a:t>
            </a:r>
          </a:p>
        </p:txBody>
      </p: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82C0E0-7E97-4A7A-BA4C-B06798C1101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5337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D81B22-7C0F-499C-B65F-6F439C7BA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5FE2D0-8556-478F-8633-E9ABD65E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建構子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BE7C6A-0DA6-4C90-9D52-54B8EF7827E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6102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98A3DA5-95FA-43F5-AC78-B11C03426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B9F29E-EA6D-4991-81C7-E8226A6B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reset</a:t>
            </a:r>
          </a:p>
        </p:txBody>
      </p: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3E0F8-590A-43C6-A42C-2F42CD8F26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6866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0FD4CE-FD6C-44D1-AF9D-55048EF7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08BD1E-9455-43B7-B061-FB9EF0777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clone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0DDB61-7A6E-4EBD-88EE-24864943767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976312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D7EED-74DA-46B8-85CA-4BEC8AB7C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BB43785-A065-4220-9CC1-AFAEC77D6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getAction</a:t>
            </a:r>
          </a:p>
        </p:txBody>
      </p: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974C598-2C7E-4109-AF0C-06A3668208B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1839575" y="5934075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8822A93-3827-464D-B644-2792AE34A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96900" y="566737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7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E96D3F2-4B05-4E5D-BD9D-B62183F9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34950" y="6438900"/>
            <a:ext cx="1485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PlayerAction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1FE0EB-2F00-47B9-B971-70D48CC35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真實 8×8 地圖、雙方位置與獨立狀態檢查動作和一個 cycle；前置失敗阻擋後續</a:t>
            </a:r>
          </a:p>
        </p:txBody>
      </p:sp>
      <p:sp>
        <p:nvSpPr>
          <p:cNvPr id="3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21810FA-ADFE-4022-AA86-D42E7C12B70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747FEEA-C873-47E8-8FAF-379C59E0BC06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425271040"/>
      </p:ext>
    </p:extLst>
  </p:cSld>
</p:sld>
</file>

<file path=ppt/slides/slide1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d0c765610ae46f7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46F307-9324-4211-8A10-557FAE7C4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搜尋評估的 180 場矩陣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71963E-FB98-49DD-BA6D-5D8C3B0CD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同一份 Java 與 classes，覆蓋所有對手、地圖、回合與位置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341A12-DB50-4BB3-93F9-EB9ABF2A9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15EEEE-54EA-400F-A047-0FD8E83A2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對手欄位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D1DC38-D0D0-4972-A234-26C269D1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3C612C-6A11-46BC-887D-EB04EC1C5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699864-CA98-41E7-AD74-86C07F869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B1D4F7-E79B-498E-9304-29A1197AD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751E56-CF15-4756-962B-C717A0D39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B672C0-DD16-4ADA-8F9A-EDCC34EE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回合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E51EAB-EE31-4ADD-A939-2B0AA4B2A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0" y="2571750"/>
            <a:ext cx="666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×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3CF7D2-BA1B-4440-8312-F66CFEF6C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190750"/>
            <a:ext cx="2952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90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DFDA6F-5BEF-4EB6-AC8E-3547A941A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095750"/>
            <a:ext cx="2952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雙方位置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C2CDC2-4F88-4AE0-9CC8-8BC4838E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619750"/>
            <a:ext cx="7429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1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180 場／候選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2DD84D-91F5-484C-BF89-D1E6A490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000750"/>
            <a:ext cx="29051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 18 場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34553B3-47AE-4D1D-A013-CD44B4969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5848350"/>
            <a:ext cx="2905125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每張地圖可設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tick_limit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89DA2AA-E93E-428B-A749-D7FCDF47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對手快照固定為 4 個保護成員＋6 個抽樣成員；同一快照內的候選共用名單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E428B81-F257-47CF-A48C-84E9FE082B46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5603C3A-9975-4BBB-A270-D36F977D6A2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074936317"/>
      </p:ext>
    </p:extLst>
  </p:cSld>
</p:sld>
</file>

<file path=ppt/slides/slide1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500dbe6861a49a8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EA7ABB-D3F2-4C54-AFF7-A1EAA90C14F6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6096000" y="6858000"/>
            <a:ext cx="2000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6B06E47-B787-4A0D-885D-4E995CCF9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Game Performance 與分數彙總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1C980-29E6-46FB-B37D-15A5CEAF0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單場結果分數，加上最多 ±10 的物資、資源與存活 shaping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A0DD78-D41D-4830-BD0F-1EF4295FA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敗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48092-67E3-494D-AB7A-CDF1C34F0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EEE24D-4B5B-4FDA-8943-41A6DD3E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CC4662-2D46-4864-BA40-3DF1090A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D75829-6246-4854-B908-DF4C8EB00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D5FBA-2E1E-452B-A0EF-BF8CFCEC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0333315-2075-4B8C-B74F-E16A471E6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143125"/>
            <a:ext cx="42862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0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268D0-FEDF-4267-89ED-32CEF4BF8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952750"/>
            <a:ext cx="4286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7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＋100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428ED-08A8-4462-ABC1-5F5B2954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667250"/>
            <a:ext cx="428625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−10 ≤ shaping ≤ ＋10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2FE827-BD09-4D82-93C9-B80A0742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238875"/>
            <a:ext cx="52387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每個對手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場分數取平均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84B747-2385-46CE-89C0-D588C6C5E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6238875"/>
            <a:ext cx="695325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10 個對手等權平均</a:t>
            </a:r>
          </a:p>
          <a:p xmlns:a="http://schemas.openxmlformats.org/drawingml/2006/main">
            <a:pPr algn="ctr">
              <a:def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＝候選的唯一 fitness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0C39C5-378C-4204-9BFD-57D939E06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完整 180 場才有有效 fitness；語意差異只在分數同層內輔助選擇，不另加分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22F5A4F-7BA8-4BB0-9467-0C71BC12CE75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DA00CFF-6EB1-43D4-9A2D-BCCB4B8B4B5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553873515"/>
      </p:ext>
    </p:extLst>
  </p:cSld>
</p:sld>
</file>

<file path=ppt/slides/slide2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dd3e6bdfd34b4820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B4A9C0-33C8-4AC1-A8A9-7C978DDE7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的十個起始對手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221A26-1CF1-4F4E-98D5-70817D636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使用全部十個內建對手；之後從持續累積的池中抽取 4＋6 名單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E0A654-F181-4A96-AE32-BAB8BD85E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可替換｜基礎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0F9947-3E80-4A8F-9FF7-AE8FFC77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28B1FD-8412-48F4-B66C-AE0456993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D49456-04B2-4690-90D4-FADE3126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333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E2B6B1-8C28-41C9-AB5A-153692D75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957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可替換｜Rush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3081EF-D834-47EE-B963-A2B59170A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B93D95-6972-4CFC-B94D-93CBA0074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700BDA-4F75-4AAF-9A73-E04569B6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40481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54DC7B-1DB8-44A2-B4B9-7B93EFD8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永久保護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05B0A3-E4EB-4586-87D4-C17D795B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C06D6-488E-44A5-86C6-9C656565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0CDFED-DB5A-4378-831C-C863B856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7B3D7E-058B-4495-BB40-6D14C3943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06325" y="5762625"/>
            <a:ext cx="251460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825B07-53B8-43C1-B015-C45136F3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7477125"/>
            <a:ext cx="127635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前 6 個可被歷代候選替換；後 4 個永久保留。評分時十欄等權</a:t>
            </a:r>
          </a:p>
        </p:txBody>
      </p:sp>
      <p:sp>
        <p:nvSpPr>
          <p:cNvPr id="1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95B6549-822B-4C8E-B056-BE2F522FBBEE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D88AAD1A-D297-4D19-82C7-D2B38B53186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846518438"/>
      </p:ext>
    </p:extLst>
  </p:cSld>
</p:sld>
</file>

<file path=ppt/slides/slide2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5e0d94b81934ea4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0BBF87-3F8D-4DD7-AAFB-4E6920724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的起始與容量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B9B4E2-CE40-408D-A6C7-4DED01A25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047875"/>
            <a:ext cx="13830300" cy="5429250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FCF8F5"/>
          </a:solidFill>
          <a:ln xmlns:a="http://schemas.openxmlformats.org/drawingml/2006/main" w="19050">
            <a:solidFill>
              <a:srgbClr val="DEB4BA"/>
            </a:solidFill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0D15C-1529-498B-B404-50F42563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619375"/>
            <a:ext cx="2286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84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247DC4-AA01-4DE9-970F-EDC2CD22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67175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總容量上限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5862DF-A806-4873-AE9B-3855EF4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19650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預設 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2B9A95-45F1-44BF-94B3-DCB90CAC7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362575"/>
            <a:ext cx="1524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EE9E4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最低 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0EFE2E-6388-4001-85C9-71C2B86ED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266950"/>
            <a:ext cx="838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4 個固定保護：永久保留，不淘汰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1FE4FB-4CD1-46F1-BAD3-3F9B3797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AllInBot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BFBC0E-3427-4A9C-9946-49CF360D1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Mayari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508494-9A20-4061-8D1E-BAB288257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DA0EB2-E75D-4978-A41A-F2BE74567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87100" y="3000375"/>
            <a:ext cx="180975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TMA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52F2F0-7DB1-4E2B-80B2-A18E0B47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19550"/>
            <a:ext cx="828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起始另有 6 個可替換基準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D073EF-665E-406C-8994-2D763D171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PassiveAI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70ECF2C-9067-4727-9F12-92AFBEE6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3BC1AD-9F7E-456E-AA96-6151F2C2E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54342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RandomBiasedAI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8C365D-DE62-48DE-A31B-69B2FF239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LightRush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06B1C9-8813-4F31-8F68-B342944A0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HeavyRush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4298FE2-2F62-437E-9080-5D50E54C2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324475"/>
            <a:ext cx="2543175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WorkerRush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46031C-4699-4EF9-B64C-40DCF5453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6400800"/>
            <a:ext cx="2381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歷代策略累積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E6AA48-9D98-4B32-8D9D-876238544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540F97-1FC8-4AEF-B247-F85E8BA4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82578D7-6D1A-493D-B57B-3CD4AA90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7E2A52-0355-44BB-A3C5-522516490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81BC02-99A4-437A-B3A9-91C4DE943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4E5B2B-562A-438B-9241-34A3AFB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64389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846A727-CA0C-42F3-8A8A-30BFE1724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7667625"/>
            <a:ext cx="11239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評估名單 = 4 個保護對手 ＋ 從池中抽取 6 名動態對手</a:t>
            </a:r>
          </a:p>
        </p:txBody>
      </p:sp>
      <p:sp>
        <p:nvSpPr>
          <p:cNvPr id="2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B83563E-A014-42D3-AA80-56E2ECCC05F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6F334AE-8D88-4CE1-8A25-8C9CF58634A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335226297"/>
      </p:ext>
    </p:extLst>
  </p:cSld>
</p:sld>
</file>

<file path=ppt/slides/slide2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fa686c678c34a2c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F183D8-F419-4FCC-9A71-F8B82BDDEF9B}"/>
              </a:ext>
            </a:extLst>
          </p:cNvPr>
          <p:cNvCxnSpPr>
            <a:stCxn xmlns:a="http://schemas.openxmlformats.org/drawingml/2006/main" id="6" idx="1"/>
            <a:endCxn xmlns:a="http://schemas.openxmlformats.org/drawingml/2006/main" id="7" idx="3"/>
          </p:cNvCxnSpPr>
          <p:nvPr/>
        </p:nvCxnSpPr>
        <p:spPr>
          <a:xfrm xmlns:a="http://schemas.openxmlformats.org/drawingml/2006/main" flipH="1">
            <a:off x="3714750" y="5524500"/>
            <a:ext cx="809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C0447A-C01C-41D8-8397-A35C6D21F117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8001000" y="5524500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ED04F-87AD-4D81-8182-0B3D450AB7D0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6381750" y="4248150"/>
            <a:ext cx="4714875" cy="7048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8F3F8C-AF42-4732-866B-469A1B3DC548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 flipV="1">
            <a:off x="8048625" y="3048000"/>
            <a:ext cx="2238375" cy="3619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B8016E-9095-4547-863A-8A1974B69B8C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714750" y="3409950"/>
            <a:ext cx="1000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C943C4-5B49-4904-BBD4-6C214209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新策略的來源與入池挑戰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870330-301F-424F-8966-EAB64C9F0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285750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來源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 初始族群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每代已評估子代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E42C16-C5AD-41AA-95A2-C6C556E0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71750"/>
            <a:ext cx="3333750" cy="16764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入池資格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可執行、完整評估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ID／來源／表型去重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1DB24D-5E74-4E59-BCD1-FEE9B9A8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未滿容量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直接加入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C966A-D40F-4939-9811-AD4C5E88A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953000"/>
            <a:ext cx="3714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已滿容量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seeded 抽 1 位非保護守擂者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A528E-EFB8-47D6-A513-4FB78A51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4953000"/>
            <a:ext cx="347662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 場挑戰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957729-F74D-49BD-949E-A4112E557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2857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完整且無錯誤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勝場 &gt; 敗場才替換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1735F23-87FF-42C0-8436-5069D4213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496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平手、失敗或未完成：保留原守擂者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A675E8-41A8-4AE7-AF84-96F0AD29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7096125"/>
            <a:ext cx="8286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候選入池不要求先成為下一代倖存者</a:t>
            </a:r>
          </a:p>
        </p:txBody>
      </p:sp>
      <p:sp>
        <p:nvSpPr>
          <p:cNvPr id="1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B982DDE-2525-44FD-B3F5-1C55DD7F8036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BD47620-6D7D-4B3B-8023-E4F3A89B7FD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302635615"/>
      </p:ext>
    </p:extLst>
  </p:cSld>
</p:sld>
</file>

<file path=ppt/slides/slide2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8d0f10cd5548449a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541327-77DD-4580-A6C4-F72EA69903D7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10906125" y="5372100"/>
            <a:ext cx="1571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4E1D52-E12A-45A4-8756-857206624DC2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191375" y="5372100"/>
            <a:ext cx="1619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E0A459-91DF-48B6-AF51-BB300F176CBF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238500" y="5372100"/>
            <a:ext cx="18573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8D6AD2D-D91E-4966-AD9E-E90A17FC6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凍結的十個評估對手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8655C8-2CEA-4AEB-9FF5-F185DF4E2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 4 個保護欄位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7DA3D8-5B83-42C5-8E07-CEB5D2A07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838450"/>
            <a:ext cx="3952875" cy="118110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個內建保護對手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跨快照維持相同 case 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1BB1F-B6C3-4843-9850-DCE84322A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419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每個快照再抽 6 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7F3CD9-102B-410F-A13A-EC5B5034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BB79A-7537-4E2F-81A5-BB9B4F86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ADB44E-CB33-4A24-920C-7335E9601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CAC997-65AF-4EEF-8AA2-5D520F1D1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395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ECE251-C301-4390-B278-83FEFA508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490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B9AC6A-4636-439C-9702-64F86FDDB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124200"/>
            <a:ext cx="647700" cy="64770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r>
              <a:t/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29EB2-EF9F-4271-B8EA-58D11AFEC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000500"/>
            <a:ext cx="5429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從歷代累積的可替換成員抽樣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19148E-03C8-4146-807F-1270AC910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53000"/>
            <a:ext cx="1524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67483-2255-413A-B9CB-9CB29371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G1–5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512B7F-887C-497D-B51F-FE88DCF69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G6–10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78B93B-3AB4-47AB-BC01-440B3B8DB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4953000"/>
            <a:ext cx="20955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G11–15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D4B4D4-E022-4B89-AD31-8DC40C68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60007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全部 10 個內建對手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28AFA4-BA8E-4D90-B42D-60A2686D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首個抽樣快照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AF218-7561-4725-865B-8FDB03CF0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000750"/>
            <a:ext cx="228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刷新預設每 5 代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822B393-2C2D-4E29-AF44-D861CD23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000750"/>
            <a:ext cx="2095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G16… 持續刷新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A7BDB7-1D2F-41A0-BCBE-BE43AF9BE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6934200"/>
            <a:ext cx="10287000" cy="552450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每個快照固定評估 10 個欄位：4 個保護成員 ＋ 6 個動態成員</a:t>
            </a:r>
          </a:p>
        </p:txBody>
      </p:sp>
      <p:sp>
        <p:nvSpPr>
          <p:cNvPr id="24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E374E5F-12AD-4E13-AA58-12A8D7E173FC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2F1E2DF-6AFE-4ADE-8DF8-187CE71D236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387915680"/>
      </p:ext>
    </p:extLst>
  </p:cSld>
</p:sld>
</file>

<file path=ppt/slides/slide2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b610cb899b24d15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7D2A9E-5BD7-45ED-BD5B-28AD31EE28B0}"/>
              </a:ext>
            </a:extLst>
          </p:cNvPr>
          <p:cNvCxnSpPr>
            <a:stCxn xmlns:a="http://schemas.openxmlformats.org/drawingml/2006/main" id="13" idx="1"/>
            <a:endCxn xmlns:a="http://schemas.openxmlformats.org/drawingml/2006/main" id="14" idx="3"/>
          </p:cNvCxnSpPr>
          <p:nvPr/>
        </p:nvCxnSpPr>
        <p:spPr>
          <a:xfrm xmlns:a="http://schemas.openxmlformats.org/drawingml/2006/main" flipH="1">
            <a:off x="7429500" y="62388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FC7280-5AC2-4511-8961-4A5802D6F6EF}"/>
              </a:ext>
            </a:extLst>
          </p:cNvPr>
          <p:cNvCxnSpPr>
            <a:stCxn xmlns:a="http://schemas.openxmlformats.org/drawingml/2006/main" id="10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10429875" y="4610100"/>
            <a:ext cx="1571625" cy="12001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866932-FEB6-4415-B2DA-8A1C285C646A}"/>
              </a:ext>
            </a:extLst>
          </p:cNvPr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858250" y="3924300"/>
            <a:ext cx="14287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CE534D-3827-4D43-8154-A005F73C47C3}"/>
              </a:ext>
            </a:extLst>
          </p:cNvPr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857625" y="3924300"/>
            <a:ext cx="1762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CA4203F-B835-4077-968B-8C32E110C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對手快照刷新與父代重評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44A9B9-48A3-4B2F-B8A2-13B9E6959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D7943B-5FBB-4261-8C96-8119310C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凍結對手名單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96E69-0D95-427D-98B1-B4DF1E8D4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A9F2F-F8CB-476A-846F-3E1EFBCF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建立父代複本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647CBF-8ABC-4168-940A-FB7E683F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47650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1A2DAF-1C01-4C4A-A877-CA7150E3E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6600" y="2457450"/>
            <a:ext cx="3286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新情境重評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9F0DC-BC40-443A-AFC7-4DC389C67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2857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4＋6 對手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 context hash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562DF31-2BB2-444F-90B4-9E648ABF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32385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每位父代保留 phenotype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配置新 candidate ID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9D3FE3-AFB0-4F5C-BC6D-2037D27B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3238500"/>
            <a:ext cx="3429000" cy="13716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新情境重新評估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不覆寫舊分數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4186DF-D61A-412B-B4CB-A366F3999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10250"/>
            <a:ext cx="3333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context 完成評分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23D8F8-FA29-4E0A-B50B-A70C8222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810250"/>
            <a:ext cx="3714750" cy="857250"/>
          </a:xfrm>
          <a:prstGeom xmlns:a="http://schemas.openxmlformats.org/drawingml/2006/main" prst="roundRect">
            <a:avLst>
              <a:gd name="adj" fmla="val 1777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再進入同一情境的繁殖選擇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F0D842-433F-4D1B-A3D7-330BEDF7C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7048500"/>
            <a:ext cx="904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不同對手情境的分數不混在同一選擇池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27B9D9E-FA60-4572-81B6-9547E7EA73E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14EC92F-7374-4FDB-8D00-803FAC6080ED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768886629"/>
      </p:ext>
    </p:extLst>
  </p:cSld>
</p:sld>
</file>

<file path=ppt/slides/slide2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3fdad1cf6724287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DB5EFA-C355-4C18-AE0D-C80FD9BA2CF3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 flipH="1">
            <a:off x="7953375" y="5429250"/>
            <a:ext cx="39528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5C5DF6-90C4-4979-803D-DEFD0EE5CF65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4000500" y="5429250"/>
            <a:ext cx="3952875" cy="1524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028D4E-BE71-4DAF-8FA8-B4F97717D8CD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11906250" y="3209925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C5640D-F5CA-4B90-9A95-54DF92A47FE6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>
            <a:off x="4000500" y="3209925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8553F8-711A-489A-9903-67FB2481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父代重用與對手快照重評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C7147C-689C-4929-AB2B-A058CB0AE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6096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對手快照未改變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2F023-E3B3-487A-B776-1FC377FD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33625"/>
            <a:ext cx="6096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對手快照到期刷新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F5C6D4-CDFB-404E-92F0-0D42C54B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143375"/>
            <a:ext cx="609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沿用同情境的已完成分數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9D1508-17B4-4CBF-A8B8-0BA308ED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43375"/>
            <a:ext cx="609600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沿用父代 Java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新 ID 複本，對新名單跑 180 場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6753C-0838-445E-978A-55FC4D0E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953250"/>
            <a:ext cx="10763250" cy="762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先完成父代情境校準，再繁殖；子代也用同一快照評估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6F283D-C921-4BF9-83C7-0DD3B3568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8001000"/>
            <a:ext cx="12477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本流程要求 parent_evaluation_mode = reuse_cached；快照刷新自動執行表型不變的父代重評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E361C6C-A855-455D-832D-14D7346FF3FF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BB7C915-34E1-4FBE-9F3E-93925538895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884810135"/>
      </p:ext>
    </p:extLst>
  </p:cSld>
</p:sld>
</file>

<file path=ppt/slides/slide2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1d0a983896c49c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F732AB-A1E4-4777-89E7-E39BB9C93478}"/>
              </a:ext>
            </a:extLst>
          </p:cNvPr>
          <p:cNvCxnSpPr>
            <a:stCxn xmlns:a="http://schemas.openxmlformats.org/drawingml/2006/main" id="17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 flipH="1">
            <a:off x="10906125" y="4076700"/>
            <a:ext cx="2095500" cy="1257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177107-48F1-4338-BFD7-518ECA9EBB20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10191750" y="3486150"/>
            <a:ext cx="1143000" cy="2857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00ED4D-4EF0-4A1B-AE1F-57AF0B336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語意探針與同分處理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FCB5CE-7FB6-4924-AC74-1B363A36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28600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固定狀態探針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6C9D1A-8059-4030-9B8A-D32021BF4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2004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小地圖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FA4174-2E79-4BBD-A80D-BE7F10D35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ACC83A-27C3-46F1-BE12-0C78E2E09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892830-321E-4653-84C9-4D2E0E12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1051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2F5823-DE7B-4E4A-9A77-9F673BF2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36245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中地圖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CEAD02-03EB-4CEE-9B1C-90F08C038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0E7AAB-2C9E-401E-9BDB-4AD8D721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6540438-F792-4600-8484-1D34B415B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26720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26F65-6DAF-4A07-8B88-67A5C61F1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24500"/>
            <a:ext cx="152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大地圖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A59FED-0550-40AB-B5F5-A04FC3492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早期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985EB8-CF5F-4736-BB76-E4DB2EB5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中期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77F7AE-3C4E-4A85-9057-9650F457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5429250"/>
            <a:ext cx="1000125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後期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79B8A3-F80F-4733-B2C0-4889EB366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6953250"/>
            <a:ext cx="514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3 地圖 × 3 階段 = 9 個動作簽章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5F3ADF-ACC1-4134-A91B-0D2949F23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48000"/>
            <a:ext cx="23812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同分層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8977CB-FFB9-43F9-9C78-0C37960CE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952750"/>
            <a:ext cx="3333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比較九個 probe 的動作差異</a:t>
            </a:r>
          </a:p>
          <a:p xmlns:a="http://schemas.openxmlformats.org/drawingml/2006/main">
            <a:pPr algn="ctr">
              <a:def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距離 = 不同 probe 數 ÷ 9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A0EEF8-6658-4814-9255-ED66A642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334000"/>
            <a:ext cx="47625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父代：頂層挑行為較遠者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倖存者：切分同層時採 max-min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6848A7-5FFE-46EB-ABC3-D1B0AFD32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6819900"/>
            <a:ext cx="495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語意探針只解決同分，不另加搜尋目標</a:t>
            </a:r>
          </a:p>
        </p:txBody>
      </p:sp>
      <p:sp>
        <p:nvSpPr>
          <p:cNvPr id="2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B7A7DA2-EFDE-4EA2-B288-741F624A21F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AC14261-B182-4558-9878-DD2357B147A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950749507"/>
      </p:ext>
    </p:extLst>
  </p:cSld>
</p:sld>
</file>

<file path=ppt/slides/slide2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e74cb98054841b5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06811-6E15-4DC9-B6DF-8BFA7672AB34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8858250" y="307181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5EBEB7-7362-436E-A9EA-E4FF0DB2FA11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572000" y="3071813"/>
            <a:ext cx="1238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912664-0AF6-4E75-A087-63424438C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的倖存者選擇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F88D90-6BA5-4461-9D8C-72BF374FF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3810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N 父代＋N 子代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合併、依 ID 去重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80D920-6E09-46C8-AB00-C12E1739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76500"/>
            <a:ext cx="3048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只留下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完整評估者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EE4AEE-1AA7-4D3B-931D-25EECEF6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476500"/>
            <a:ext cx="4762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 fitness 由高至低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以每層最高分 − 1.0 分層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0CFCC3-EB83-41D5-B133-B144C85D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9530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整層放得下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708DC6-E8AF-4EE1-829E-2B1F9C10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62625"/>
            <a:ext cx="45720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整層保留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再處理下一個分數層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EDD0BC-044B-4635-B466-85F10485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7429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剩餘名額切在同一層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F39971-531D-4AF5-A66D-A98C1041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62625"/>
            <a:ext cx="7429500" cy="1190625"/>
          </a:xfrm>
          <a:prstGeom xmlns:a="http://schemas.openxmlformats.org/drawingml/2006/main" prst="roundRect">
            <a:avLst>
              <a:gd name="adj" fmla="val 128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只在該層用 seeded max-min 選子集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優先保留與已選者行為較遠的候選</a:t>
            </a:r>
          </a:p>
        </p:txBody>
      </p: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E10E46-DDE6-4832-BDC3-51CCBE93993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477750" y="3667125"/>
            <a:ext cx="0" cy="619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9AA97D-3707-406D-91C5-82261D6D4A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4286250"/>
            <a:ext cx="9334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E53243-81E6-4718-B70B-C9B895CEEFB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143250" y="4286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81659C-C372-4DBB-9D80-64A8766F245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953750" y="42862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2CF74D-7322-458C-87A1-DB06B61A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7858125"/>
            <a:ext cx="13049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選滿固定 N 位；低分層不能靠新穎性越級。完成者不足 N，run 明確失敗。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66249DDE-B6AB-4A39-A74B-6833E22350E5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8C7BF47-17B0-45A1-B6B1-1B6FA94F1C1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620273745"/>
      </p:ext>
    </p:extLst>
  </p:cSld>
</p:sld>
</file>

<file path=ppt/slides/slide2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371218041c441c9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33D46B-CF3C-4E96-85B6-82BA7F1C8C5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12906375" y="4048125"/>
            <a:ext cx="0" cy="21431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768729-0683-473B-80E6-B79AF859CC7A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 flipV="1">
            <a:off x="9334500" y="3405188"/>
            <a:ext cx="1428750" cy="214313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27CDA8-4465-41C8-90B8-C949EF1FE0CA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000500" y="3619500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0BC2FEA-F6D3-461E-864C-7398D358A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Opponent Pool 的靜態突變操作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2141A2-DB66-4950-9E2F-C60E76E1C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57375"/>
            <a:ext cx="13239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self_play 要求 reflection_operator_mode = static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59B67-9115-4CCD-AD66-1C175CB10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3238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交配後的子代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D14FDE-0686-47E8-9624-5419CC8CE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143250"/>
            <a:ext cx="4000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 mutation_rate</a:t>
            </a:r>
          </a:p>
          <a:p xmlns:a="http://schemas.openxmlformats.org/drawingml/2006/main">
            <a:pPr algn="ctr">
              <a:def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決定是否突變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17FE13-A476-4C85-8137-48CC1613D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2762250"/>
            <a:ext cx="4286250" cy="1285875"/>
          </a:xfrm>
          <a:prstGeom xmlns:a="http://schemas.openxmlformats.org/drawingml/2006/main" prst="roundRect">
            <a:avLst>
              <a:gd name="adj" fmla="val 1185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依已設定的靜態規則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執行可用突變操作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ACB7B9-8868-4590-8945-BE5A4353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191250"/>
            <a:ext cx="428625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進入 Java 與評估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113B1F-F621-482B-B4E3-B4ECDD1E639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4095750"/>
            <a:ext cx="0" cy="25717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1595D5-642C-4719-82C1-96495AD05A0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334250" y="6667500"/>
            <a:ext cx="3429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5D63A-F279-4F61-A357-AADB2933C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2863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否：保留交配後基因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1B7E73-A76A-44DD-89B4-C1B98B2B8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76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CBFC14-92C0-4D57-ADE2-E9BF76C7F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00625"/>
            <a:ext cx="6000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local：至多改一槽</a:t>
            </a:r>
          </a:p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Coach：回傳完整 genome</a:t>
            </a:r>
          </a:p>
          <a:p xmlns:a="http://schemas.openxmlformats.org/drawingml/2006/main">
            <a:pPr algn="l">
              <a:def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LLM／DSL：依可用操作與固定配比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057DD7-DC82-4A6B-9957-222E4F9F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7858125"/>
            <a:ext cx="1266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對戰結果提供 fitness 與反思證據；本流程不以 reward 動態更新操作機率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8D68C638-C428-4035-B93F-A8AF793D131D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703ABF2-19A9-4156-8071-04A57406249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384659989"/>
      </p:ext>
    </p:extLst>
  </p:cSld>
</p:sld>
</file>

<file path=ppt/slides/slide2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d36e1575dff46d8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9DDAF9-A928-4FE5-8637-92447957FF00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 flipH="1">
            <a:off x="10929938" y="3162300"/>
            <a:ext cx="2381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2C4B9D-2ED5-422C-BA31-F8BCBFE9FAF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8501063" y="3162300"/>
            <a:ext cx="119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83DEFB-9E52-434C-9528-F6A62E7CF9A4}"/>
              </a:ext>
            </a:extLst>
          </p:cNvPr>
          <p:cNvCxnSpPr>
            <a:stCxn xmlns:a="http://schemas.openxmlformats.org/drawingml/2006/main" id="13" idx="0"/>
            <a:endCxn xmlns:a="http://schemas.openxmlformats.org/drawingml/2006/main" id="2" idx="2"/>
          </p:cNvCxnSpPr>
          <p:nvPr/>
        </p:nvCxnSpPr>
        <p:spPr>
          <a:xfrm xmlns:a="http://schemas.openxmlformats.org/drawingml/2006/main" flipH="1" flipV="1">
            <a:off x="1619250" y="3162300"/>
            <a:ext cx="3405188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E52721A-DB06-4E7C-8D48-AEBB570C67F6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024438" y="3162300"/>
            <a:ext cx="12620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3E1912-DBA8-44BA-A071-C4BAE29D7B87}"/>
              </a:ext>
            </a:extLst>
          </p:cNvPr>
          <p:cNvCxnSpPr>
            <a:stCxn xmlns:a="http://schemas.openxmlformats.org/drawingml/2006/main" id="3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3952875" y="3162300"/>
            <a:ext cx="1071563" cy="9334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66601A-AF2D-4847-91B3-3158AEED42B6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119062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BC03A7-8E9D-43AB-ABAB-4957C5836A6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57262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D5E4E5-3FC9-4C49-ACBA-604CC80B2614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23900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160C41-6DF4-4A79-809E-97ADB32361E3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905375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4E098E-8128-48F7-AE8B-F984209C8FBF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2571750" y="2771775"/>
            <a:ext cx="4286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5CA156E-BE33-4DEC-86EC-382E2F15F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失敗、重試與停止的邊界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E5DEBC-AC9D-47D0-B0C6-90C3A37EF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LLM 產生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6911C8-6376-4E40-A94C-8A58EADB8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Validation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203322-9800-436C-94FC-D31356B77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javac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488BB8-257C-4F48-A485-7F16F94A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A68253-2245-41E6-9EBC-929C0F5E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381250"/>
            <a:ext cx="1905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場評估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451701-4611-4ED0-9383-1217CEC15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2381250"/>
            <a:ext cx="2286000" cy="781050"/>
          </a:xfrm>
          <a:prstGeom xmlns:a="http://schemas.openxmlformats.org/drawingml/2006/main" prst="roundRect">
            <a:avLst>
              <a:gd name="adj" fmla="val 1951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候選篩選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420B64-E30B-4F8A-A581-D67C2D55A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095750"/>
            <a:ext cx="4524375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有界修復重試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模式限 generation_max_attempts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B3D249-C2BC-4291-9AE3-4B150E72A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095750"/>
            <a:ext cx="2047875" cy="9144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Integration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失敗，候選終止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240FE5-6AEC-4FFD-965B-EDC07FCD7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095750"/>
            <a:ext cx="2047875" cy="742950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矩陣未完成</a:t>
            </a:r>
          </a:p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候選終止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028F20F-35C0-4B39-808C-D88266D1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5133975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DSL／framework 編譯失敗亦直接終止候選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480AD-7BB9-4899-80F9-38A09121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686425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失敗候選 sentinel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D5189AB-08F1-4D15-84C5-B14EF2677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5476875"/>
            <a:ext cx="23336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3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−1000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DDBF22-4EFD-491E-993F-C1D55791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≥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父代足夠時仍可延續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43FF40E-D164-4EEB-BCD9-023837F76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6572250"/>
            <a:ext cx="485775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完成者 &lt; N</a:t>
            </a:r>
          </a:p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明確失敗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6952E9-5611-4F5F-8D6C-AC12D6897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572375"/>
            <a:ext cx="962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中斷：取消排隊工作、等待執行中工作，再從最後提交世代恢復</a:t>
            </a:r>
          </a:p>
        </p:txBody>
      </p:sp>
      <p:sp>
        <p:nvSpPr>
          <p:cNvPr id="27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9576A76-4739-4217-970F-EE6D2D5EB2EF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750010D7-A5F9-44AC-B802-21D625AE5830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29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452119633"/>
      </p:ext>
    </p:extLst>
  </p:cSld>
</p:sld>
</file>

<file path=ppt/slides/slide3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39aa919e06f041b8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A21ED4-6439-4E5F-BFAD-30503774ADF8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4524375" y="2762250"/>
            <a:ext cx="3476625" cy="295275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A76DB8-8D0A-40AA-82D9-6B7745B3D128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8001000" y="2762250"/>
            <a:ext cx="5810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E541B2-E068-4D39-B644-FA59451E9C10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8001000" y="2762250"/>
            <a:ext cx="2381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C7F8105-15CB-4501-9F56-F1C4B07BD748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4" idx="0"/>
          </p:cNvCxnSpPr>
          <p:nvPr/>
        </p:nvCxnSpPr>
        <p:spPr>
          <a:xfrm xmlns:a="http://schemas.openxmlformats.org/drawingml/2006/main" flipH="1">
            <a:off x="6667500" y="2762250"/>
            <a:ext cx="133350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8602B-6182-4CA5-BD5A-DF35BE13692E}"/>
              </a:ext>
            </a:extLst>
          </p:cNvPr>
          <p:cNvCxnSpPr>
            <a:stCxn xmlns:a="http://schemas.openxmlformats.org/drawingml/2006/main" id="2" idx="2"/>
            <a:endCxn xmlns:a="http://schemas.openxmlformats.org/drawingml/2006/main" id="3" idx="0"/>
          </p:cNvCxnSpPr>
          <p:nvPr/>
        </p:nvCxnSpPr>
        <p:spPr>
          <a:xfrm xmlns:a="http://schemas.openxmlformats.org/drawingml/2006/main" flipH="1">
            <a:off x="2952750" y="2762250"/>
            <a:ext cx="5048250" cy="80962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938E53-1C02-47D7-9C75-32719B4A1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每個 run 的保存與稽核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E0059B-F9E8-496F-8606-13A0CD03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095500"/>
            <a:ext cx="47625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runs/&lt;run_id&gt;/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501285-F1B3-465A-9470-F0A54A52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config.yaml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manifest.json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summary.json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6EB1A5-34B3-4464-8421-7CC3BAF64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generations/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候選快照與 latest_generation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11762C-7BBE-4629-A630-88CF2DC05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71875"/>
            <a:ext cx="34290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candidates/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基因、譜系、逐階段證據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8ABCBB-D21B-4558-9216-F79B1F5EE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0" y="3571875"/>
            <a:ext cx="2857500" cy="1352550"/>
          </a:xfrm>
          <a:prstGeom xmlns:a="http://schemas.openxmlformats.org/drawingml/2006/main" prst="roundRect">
            <a:avLst>
              <a:gd name="adj" fmla="val 1126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archives/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操作、錯誤與 opponent pool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5D25D3-29D4-4B23-84B4-7EE95518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5715000"/>
            <a:ext cx="4762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framework/bundle.json</a:t>
            </a:r>
          </a:p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Framework slots 凍結來源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ACDE4D-8136-41A4-A73F-213EE0F96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715000"/>
            <a:ext cx="4000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timing.jsonl：append-only 階段與 LLM request 時間線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A51242-2209-4D61-8258-72247E02E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715000"/>
            <a:ext cx="28575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final_test/</a:t>
            </a:r>
          </a:p>
          <a:p xmlns:a="http://schemas.openxmlformats.org/drawingml/2006/main">
            <a:pPr algn="ctr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獨立正式測試證據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914DDE-E0B1-499E-AA13-55E637B3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7096125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generation snapshot 原子寫入成功後，manifest 才前進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4BD89A1-AEF7-4FE2-851F-73468F566AE5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2B548972-FC65-47D5-B387-688AD63636B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265639566"/>
      </p:ext>
    </p:extLst>
  </p:cSld>
</p:sld>
</file>

<file path=ppt/slides/slide3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611ad08989844b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EAD26F-C5F6-4382-84E0-245556277C0C}"/>
              </a:ext>
            </a:extLst>
          </p:cNvPr>
          <p:cNvCxnSpPr>
            <a:stCxn xmlns:a="http://schemas.openxmlformats.org/drawingml/2006/main" id="5" idx="1"/>
            <a:endCxn xmlns:a="http://schemas.openxmlformats.org/drawingml/2006/main" id="6" idx="3"/>
          </p:cNvCxnSpPr>
          <p:nvPr/>
        </p:nvCxnSpPr>
        <p:spPr>
          <a:xfrm xmlns:a="http://schemas.openxmlformats.org/drawingml/2006/main" flipH="1">
            <a:off x="6667500" y="5915025"/>
            <a:ext cx="1524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301B86-7DFE-4D75-B1F2-857FF4EE9F6C}"/>
              </a:ext>
            </a:extLst>
          </p:cNvPr>
          <p:cNvCxnSpPr>
            <a:stCxn xmlns:a="http://schemas.openxmlformats.org/drawingml/2006/main" id="4" idx="2"/>
            <a:endCxn xmlns:a="http://schemas.openxmlformats.org/drawingml/2006/main" id="5" idx="0"/>
          </p:cNvCxnSpPr>
          <p:nvPr/>
        </p:nvCxnSpPr>
        <p:spPr>
          <a:xfrm xmlns:a="http://schemas.openxmlformats.org/drawingml/2006/main">
            <a:off x="9810750" y="3733800"/>
            <a:ext cx="0" cy="1600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D81EC1-B4AB-4440-9FDA-EA89D25FD38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771525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7F71F-9F48-457F-91D6-9645ACFD30CB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000500" y="3152775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9541B-BF86-464D-89D0-15CA0B53F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中斷後的恢復流程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B78630-AC99-4B7F-A797-58F74C843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1  最後提交快照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manifest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latest_generation = Gk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BC1926-F985-4198-AB25-62EEC664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2  身分相容檢查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protocol · config · hash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B06CEAA-6497-449A-8535-8D8F6B125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57175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3  封存未提交工作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interrupted_work/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61E877-2C02-4D22-961D-364875523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 還原 population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操作器、pool 與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F12E02-E28D-481B-87CA-CF81710D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334000"/>
            <a:ext cx="323850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  重播並繼續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從 Gk + 1 開始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E3BF037-DFEC-40BF-820B-4D581F523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048500"/>
            <a:ext cx="10668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身分不符即拒絕；不沿用半成品，也不重新 bootstrap</a:t>
            </a:r>
          </a:p>
        </p:txBody>
      </p:sp>
      <p:sp>
        <p:nvSpPr>
          <p:cNvPr id="1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A0D8F27-379B-40AF-A664-53BD13C49498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A5F3731F-9F25-4800-B585-48C75276686C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641793263"/>
      </p:ext>
    </p:extLst>
  </p:cSld>
</p:sld>
</file>

<file path=ppt/slides/slide3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bf25ae4f781344d7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0FB98E-031A-4CE4-8BB0-0F4A40E4F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多組設定、replicate 與資料夾續跑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B88774-0401-48D7-BD55-C023AA734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71700"/>
            <a:ext cx="676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設定資料夾依 YAML 檔名順序逐組執行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243C1D-612D-449C-8A29-0999656B5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3BE465-59C2-4F17-9A77-B57913DF2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D6D10E-B7B2-465B-BF48-22F005FFE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8F1CB-7792-4EA5-A727-5A346DDFA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DA20BB-DD5F-4F34-811B-A8610AC57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200508-3639-49A5-8A65-A6EEB759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E949B3-5B8C-459E-9EF5-D88C197F2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000375"/>
            <a:ext cx="1714500" cy="6096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設定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F705E2-4F36-4F8E-8F88-AC0450DF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E0AD6B-A53F-4152-9CFC-49E2C5C8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06375" y="3905250"/>
            <a:ext cx="161925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Run 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14CC99-E659-40F2-B994-AFFB2AD58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7210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random_seeds × runs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51906-323A-4FE9-A2B5-6956DA9E5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D2F9C14-93C7-4EFC-A1E1-8BD1C9A3A2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8864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895A451-0F6A-41EC-91FC-8AC39E00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7</a:t>
            </a:r>
          </a:p>
        </p:txBody>
      </p:sp>
      <p:cxnSp>
        <p:nvCxn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5C54B3-0428-4732-AC1D-2F673E9D85E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4295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6AA1AE-6DB7-4B17-B2EE-975B472DF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AEB946-CB95-4EB2-893D-DDF8F9C47C91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89725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3BDAE7-E2DB-4DA4-A0B7-8BF0732F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0FB7A5-8B5B-41A6-B96D-E0DE7BD2C90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51560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AC229-7F7B-44AE-A97B-E01262DC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9657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D6C6F6-25EE-48DE-AC3B-70C3EBD70F3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058650" y="5600700"/>
            <a:ext cx="1333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9419B8-ECF7-4583-ADAF-1A8E2235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39625" y="5286375"/>
            <a:ext cx="1333500" cy="628650"/>
          </a:xfrm>
          <a:prstGeom xmlns:a="http://schemas.openxmlformats.org/drawingml/2006/main" prst="roundRect">
            <a:avLst>
              <a:gd name="adj" fmla="val 24242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375A0CC-4682-4FAE-8A41-7FD19D316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6667500"/>
            <a:ext cx="11049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experiment.yaml 以有序 slot 記錄 run 路徑；未完成優先恢復，完整項目可跳過。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E0163A5-9BFF-4190-9A84-60FD72DD3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7286625"/>
            <a:ext cx="1104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正式 run 需 Final Test 摘要才算 slot 完成；缺 G0 證據則建立替代 run。</a:t>
            </a:r>
          </a:p>
        </p:txBody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9456AADC-656A-4BF2-8BB7-35E2647B63C2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D8EEA06-1F25-4605-967A-998F0965FBF9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548003682"/>
      </p:ext>
    </p:extLst>
  </p:cSld>
</p:sld>
</file>

<file path=ppt/slides/slide3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5a577b2a0dca4acc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BA2BAC-688D-4EDA-A961-C999F6FF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可重現性與相同版本續跑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50141F-A442-4809-BDAA-EBEADBE96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095500"/>
            <a:ext cx="41910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root seed</a:t>
            </a:r>
          </a:p>
          <a:p xmlns:a="http://schemas.openxmlformats.org/drawingml/2006/main">
            <a:pPr algn="ctr">
              <a:def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task identity + input index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80DBF-091D-44B3-BE8F-1FD2DC034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初始化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D402C6-D0B7-42EB-B3E5-33FDC4D1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DBE99-6E7A-4F19-9787-BC199CD20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操作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DFF35F-8871-4B69-952D-A574EDC1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LLM request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75547E-4712-44BC-87B8-7B5D8A74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0" y="4095750"/>
            <a:ext cx="2286000" cy="8382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MicroRTS match</a:t>
            </a:r>
          </a:p>
        </p:txBody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57F6699-306B-4C53-A49E-98F3847F1F7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2971800"/>
            <a:ext cx="0" cy="5048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0AADD8-9728-4986-9B30-155CACB0EA7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11620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F8BDE5-E229-4B6F-B709-E67FA4008A1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20955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A6B640-5328-42AC-B99D-9F6078B2F73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00062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542B0-7829-4307-A48D-942EEE6D696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0575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DD5480-AAD5-4AE8-A4A9-D43B8A8135F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810875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F76A62-A181-4650-BA40-1B8D2E547E9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716000" y="3476625"/>
            <a:ext cx="0" cy="5524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6AE72F-CA25-42A6-9AA9-A3B4B5A3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286375"/>
            <a:ext cx="5334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保存與核對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config · source · map · runtime · bundle hashes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E2DBA3-A82D-4593-81F5-AE267B01C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86375"/>
            <a:ext cx="457200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仍可能改變</a:t>
            </a:r>
          </a:p>
          <a:p xmlns:a="http://schemas.openxmlformats.org/drawingml/2006/main">
            <a:pPr algn="ctr">
              <a:def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外部模型、GPU 執行、私有 RNG、時間上限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B09134-DCB1-4A84-A66B-0D6BE1C6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7010400"/>
            <a:ext cx="9620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相同 seed 建立可控隨機流，不保證外部服務逐位元相同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76C9EB9C-6747-4B18-8C20-DE851DFBF63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323B6CE-7F02-4A00-8A91-9F8449A9F38E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93781718"/>
      </p:ext>
    </p:extLst>
  </p:cSld>
</p:sld>
</file>

<file path=ppt/slides/slide3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c035835cc20c4583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465D4C-CC35-4CD9-9E66-47459B8F79D9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13049250" y="3448050"/>
            <a:ext cx="95250" cy="2190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DFD654-2E74-454A-B7E7-D4C56B440C58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382250" y="2914650"/>
            <a:ext cx="952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ED2EEE-EB6E-4BB1-BFBB-E46DF42B0A5D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 flipV="1">
            <a:off x="6858000" y="2914650"/>
            <a:ext cx="666750" cy="1619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10A3934-5BA1-4E23-BEA3-2AC882154F5F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3381375" y="307657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E102A3-31AB-414C-AFBD-4E3A66F01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停止條件與正式 Final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7F4505-BEE5-4E1A-B509-B79C60AC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667000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停止條件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198AB-1E5E-4A80-ABEC-FEC08A09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476500"/>
            <a:ext cx="285750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世代上限</a:t>
            </a:r>
          </a:p>
          <a:p xmlns:a="http://schemas.openxmlformats.org/drawingml/2006/main">
            <a:pPr algn="ctr">
              <a:def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或 stagnation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65637-02A6-47D7-8290-7D98C841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381250"/>
            <a:ext cx="28575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選可執行代表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通常取末代候選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30BB80-0F9D-46B2-B20C-3C7A0F314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381250"/>
            <a:ext cx="34290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獨立 recompile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＋七項 Integration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85109B-8DDF-460B-AB58-3A1C121C7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0" y="3667125"/>
            <a:ext cx="3238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固定十個內建對手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16DD62-507E-4FFB-9767-269B0073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33875"/>
            <a:ext cx="762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三種對戰矩陣各有用途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3F2F65-4AD3-4D1A-82EB-FCECC620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609FEA-CD13-4930-8465-904F2ACE5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搜尋評估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90D4400-49AF-48F1-BB1C-96D5ABC3B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3 回合 × 2 邊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B6428-E442-4CDD-ACE2-C8442AD79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18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1D0832-9586-4DCF-BAA0-65330E8D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Pool 挑戰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3BF357-7A28-4ACA-A1E9-5D0F46226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 地圖 × 3 回合 × 2 邊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9BB824-8E52-4D88-99CA-BD1A9EAA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381625"/>
            <a:ext cx="266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57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600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A02BC8-DCB4-4AE8-8419-20F7B1B3D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34125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3727891-1EA8-4FB4-AB52-9862CD0B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858000"/>
            <a:ext cx="3429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10 對手 × 3 地圖 × 10 回合 × 2 邊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1DB5E-184E-4E84-8F8E-EA3665325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848100"/>
            <a:ext cx="3810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mock 與 --skip-final-test 可略過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DA2587-53E0-4D12-A94F-EEA80EFB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7743825"/>
            <a:ext cx="1266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搜尋名單會刷新；正式測試名單固定，兩者分開保存結果</a:t>
            </a:r>
          </a:p>
        </p:txBody>
      </p:sp>
      <p:sp>
        <p:nvSpPr>
          <p:cNvPr id="23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D7104A72-ECEE-49AF-B6AB-67DED029789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75C77AC-8138-4959-BE25-7C926F116B11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396115517"/>
      </p:ext>
    </p:extLst>
  </p:cSld>
</p:sld>
</file>

<file path=ppt/slides/slide3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426355b743ba407e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DA8CEC-3A11-4D5E-A9DC-D0F20EF4E254}"/>
              </a:ext>
            </a:extLst>
          </p:cNvPr>
          <p:cNvCxnSpPr>
            <a:stCxn xmlns:a="http://schemas.openxmlformats.org/drawingml/2006/main" id="17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12573000" y="4219575"/>
            <a:ext cx="476250" cy="9525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4874D-9247-4328-8F2D-D860209157AF}"/>
              </a:ext>
            </a:extLst>
          </p:cNvPr>
          <p:cNvCxnSpPr>
            <a:stCxn xmlns:a="http://schemas.openxmlformats.org/drawingml/2006/main" id="16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7526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2B1912-BBC2-4CE6-B92D-617F971A70BE}"/>
              </a:ext>
            </a:extLst>
          </p:cNvPr>
          <p:cNvCxnSpPr>
            <a:stCxn xmlns:a="http://schemas.openxmlformats.org/drawingml/2006/main" id="15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10287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0EEFA2-B0B4-4903-900C-A8342CE09D5C}"/>
              </a:ext>
            </a:extLst>
          </p:cNvPr>
          <p:cNvCxnSpPr>
            <a:stCxn xmlns:a="http://schemas.openxmlformats.org/drawingml/2006/main" id="14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 flipV="1">
            <a:off x="8334375" y="4219575"/>
            <a:ext cx="1285875" cy="3048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C4D6828-50BF-4882-B053-1762BC70C65F}"/>
              </a:ext>
            </a:extLst>
          </p:cNvPr>
          <p:cNvCxnSpPr>
            <a:stCxn xmlns:a="http://schemas.openxmlformats.org/drawingml/2006/main" id="13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800475"/>
            <a:ext cx="1285875" cy="419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AF9BC1-7F56-4F94-B54F-715364351B48}"/>
              </a:ext>
            </a:extLst>
          </p:cNvPr>
          <p:cNvCxnSpPr>
            <a:stCxn xmlns:a="http://schemas.openxmlformats.org/drawingml/2006/main" id="12" idx="3"/>
            <a:endCxn xmlns:a="http://schemas.openxmlformats.org/drawingml/2006/main" id="17" idx="1"/>
          </p:cNvCxnSpPr>
          <p:nvPr/>
        </p:nvCxnSpPr>
        <p:spPr>
          <a:xfrm xmlns:a="http://schemas.openxmlformats.org/drawingml/2006/main">
            <a:off x="8334375" y="3076575"/>
            <a:ext cx="1285875" cy="11430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581BF9-CF62-49D5-B25E-7BB3AE2A6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跨世代的公平比較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7D1EB4-B6F6-41AF-97E4-1E5A01AC2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590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搜尋：對手快照隨世代改變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00A3B9-8883-47F5-8ECC-231C8040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1A8BA-0151-4AD7-8084-3DCA508BF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內建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7AAAFD-B96E-4E23-A6F7-8EABBE4C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526CCF-D0B4-4A88-B368-91C42A28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BEB0FB-E7FE-42F1-8E3C-F73FC9B6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76550"/>
            <a:ext cx="1428750" cy="514350"/>
          </a:xfrm>
          <a:prstGeom xmlns:a="http://schemas.openxmlformats.org/drawingml/2006/main" prst="roundRect">
            <a:avLst>
              <a:gd name="adj" fmla="val 2963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F3805-2D97-4F2A-A7C4-679335E23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14725"/>
            <a:ext cx="1428750" cy="895350"/>
          </a:xfrm>
          <a:prstGeom xmlns:a="http://schemas.openxmlformats.org/drawingml/2006/main" prst="roundRect">
            <a:avLst>
              <a:gd name="adj" fmla="val 1702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4 保護</a:t>
            </a:r>
          </a:p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＋6 抽樣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DAA4E0-A3D8-4F04-B12F-2EA649177B9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952625" y="4714875"/>
            <a:ext cx="3619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24B749-0C57-4A50-88E7-98E559F38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143500"/>
            <a:ext cx="4476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fitness 隨情境變動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每個候選 180 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D7D6D-0138-4C4F-A8B4-465C6C26F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7905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公平比較：一份凍結 protocol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B6EDF5-AC58-4806-B79A-7F652120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098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22377A-CB36-4F2E-87D9-9D7DA109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337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G5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020A991-7C09-4904-BBE6-B6A84A46E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576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25B6DD-13A8-4EED-9094-CFA114DE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815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G15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0A8E77-D728-400C-8E04-17EC952F0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705475"/>
            <a:ext cx="1095375" cy="5334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G20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8DBD0-1476-4DCE-856A-DE4F9ABE5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638550"/>
            <a:ext cx="2952750" cy="11620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同一固定 protocol</a:t>
            </a:r>
          </a:p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固定對手、地圖、規則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92D0D0-FFE1-4473-8375-2704CB8D5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9250" y="3752850"/>
            <a:ext cx="2095500" cy="9525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每個代表 600 場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paired seeds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F1FFB7-5454-4340-8EAB-31679707B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6858000"/>
            <a:ext cx="914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不同快照的搜尋分數，不能當成同條件能力比較。</a:t>
            </a:r>
          </a:p>
        </p:txBody>
      </p:sp>
      <p:sp>
        <p:nvSpPr>
          <p:cNvPr id="2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59649D7-F1B6-43C2-900A-15439288DE4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51D2668-9AF7-486E-8B24-54D9875B9E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433794742"/>
      </p:ext>
    </p:extLst>
  </p:cSld>
</p:sld>
</file>

<file path=ppt/slides/slide36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f5b90bbc9c2c4e78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FA4A98D-85B2-41CF-97A4-9325E8B61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結果、時間與比較的解讀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BB8038-908A-439B-A07B-A0321F953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95500"/>
            <a:ext cx="2714625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排程示意，非量測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C03ABA-DE37-4B8F-B19E-BD1B49162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000375"/>
            <a:ext cx="2095500" cy="102870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G0 初始化</a:t>
            </a:r>
          </a:p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獨立工作量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74A72-5772-48E1-9A97-A57F0735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22383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後續演化世代的重疊工作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B61534-8157-4F14-BECF-A4208ABF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095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準備子代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D8F04-D6CE-43B2-B0BA-086E79F5B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5000625"/>
            <a:ext cx="1762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十工人對戰矩陣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EC696E-3B72-4DB3-92AE-299612E3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DD5159-E0D9-43E0-A177-E445F0FA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5AB766-BE6C-4DA0-87E0-A2780711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000375"/>
            <a:ext cx="247650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準備批次 C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A87ACE6-5A39-49BB-93A2-64EE96D2B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8AC523-9B75-4737-9597-A4C36662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4905375"/>
            <a:ext cx="2952750" cy="819150"/>
          </a:xfrm>
          <a:prstGeom xmlns:a="http://schemas.openxmlformats.org/drawingml/2006/main" prst="roundRect">
            <a:avLst>
              <a:gd name="adj" fmla="val 1860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對戰 B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11C28-4F2B-4214-9E76-45A10D59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4048125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 對戰期間，B 的準備已開始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85F7EB-BCDA-4FC8-845E-0B954D776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953125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 對戰期間，C 的準備已開始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55086E-479F-4AED-B065-7E0A36A33F92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429250" y="6762750"/>
            <a:ext cx="88582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47171C"/>
            </a:solidFill>
            <a:tailEnd type="triangle" w="med" len="me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F2F969-7457-4858-8ADC-F79449D0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53250"/>
            <a:ext cx="8858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wall time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3275C9-F6F3-4C04-A0AD-A0724CC0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7343775"/>
            <a:ext cx="1085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57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G0 初始化另行記錄；世代／階段時間以實際 timing artifacts 為準。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3DC2F1-EBC7-418F-AC0A-DA528FB27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7791450"/>
            <a:ext cx="6858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目前未有 live 多主機 speedup benchmark</a:t>
            </a:r>
          </a:p>
        </p:txBody>
      </p:sp>
      <p:sp>
        <p:nvSpPr>
          <p:cNvPr id="1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9DEB509-E761-4056-958B-67FC84B9DD2D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64349F9-7B4A-45E9-9C55-AE7C5C7AFF8B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36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93370242"/>
      </p:ext>
    </p:extLst>
  </p:cSld>
</p:sld>
</file>

<file path=ppt/slides/slide37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dfadb5a01d34ae3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C0A840-B71B-4D9F-8491-544F31D9EB32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9572625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3790F-DE3C-4224-A131-919D6D1FC432}"/>
              </a:ext>
            </a:extLst>
          </p:cNvPr>
          <p:cNvCxnSpPr>
            <a:stCxn xmlns:a="http://schemas.openxmlformats.org/drawingml/2006/main" id="2" idx="3"/>
            <a:endCxn xmlns:a="http://schemas.openxmlformats.org/drawingml/2006/main" id="3" idx="1"/>
          </p:cNvCxnSpPr>
          <p:nvPr/>
        </p:nvCxnSpPr>
        <p:spPr>
          <a:xfrm xmlns:a="http://schemas.openxmlformats.org/drawingml/2006/main">
            <a:off x="4667250" y="3405188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9370D8-2FAB-448D-9857-E80126223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GUI、監看與離線分析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9AE1D8-3C75-4936-A572-AB8E79534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5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GUI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700356-0479-4863-8374-4A4AFA50C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Monitor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AFC953-118F-47DD-BA63-F273AFF6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857500"/>
            <a:ext cx="3238500" cy="1095375"/>
          </a:xfrm>
          <a:prstGeom xmlns:a="http://schemas.openxmlformats.org/drawingml/2006/main" prst="roundRect">
            <a:avLst>
              <a:gd name="adj" fmla="val 13913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4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Analyze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302011-4140-4CC1-B53B-849CF038C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選設定、啟停／續跑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瀏覽族群與視覺觀戰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C900ED-2BB1-47F1-8939-00C76C7E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 manifest 與已提交快照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狀態監看唯讀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80CB92-ABC0-42A9-BFCB-D61E4E9B7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619625"/>
            <a:ext cx="3905250" cy="1219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讀保存的快照與證據</a:t>
            </a:r>
          </a:p>
          <a:p xmlns:a="http://schemas.openxmlformats.org/drawingml/2006/main">
            <a:pPr algn="ctr">
              <a:def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離線產生報表與圖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572B3C-0CE5-4EBD-8FA4-1DF00458C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6675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使用工具檢視證據，不改寫演化 fitness</a:t>
            </a:r>
          </a:p>
        </p:txBody>
      </p:sp>
      <p:sp>
        <p:nvSpPr>
          <p:cNvPr id="11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BDE5844C-9F00-43D9-B262-4F8EFA3F86D0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C96ABABF-5F57-47C7-BCCC-CF3E6864617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37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628282990"/>
      </p:ext>
    </p:extLst>
  </p:cSld>
</p:sld>
</file>

<file path=ppt/slides/slide38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da6fe4cd8ba4499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D9996B-45FB-4C53-8780-AFC4F4E20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目前 Framework Coach 設定範例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B5E07-71B1-42AC-B5F3-7ACA805E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4095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47171C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FFFFFF"/>
                </a:solidFill>
                <a:latin typeface="Source Han Serif TW"/>
                <a:ea typeface="Source Han Serif TW"/>
                <a:cs typeface="Source Han Serif TW"/>
              </a:rPr>
              <a:t>Framework slots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A40BB3-6C18-4A68-ACA6-A35E1EBA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4325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Coach 使用完整控制 genome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EF9F4D-1B31-49E7-BE7D-234941E6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86000"/>
            <a:ext cx="381000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 bootstrap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CF93CC-0D2F-4663-B959-E4E6BAABA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432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mistral-small-latest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7BED50-AC0C-43EA-8AE7-1B877075B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2286000"/>
            <a:ext cx="37147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CF879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Qwen 3.5 9B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5F832-9C74-44E1-9EDE-10A79BCD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3143250"/>
            <a:ext cx="3714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主模型＋外部 additional endpoint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EB6C039-9AFE-47E2-A199-D0A63499E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20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49DD81-7A99-478B-8DD4-3166B3FEC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演化世代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AF71C5-7D6A-488E-9314-B72040559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10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7343CE-DF56-443E-8959-839CF836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population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F7084-2A46-4943-B181-B88006CF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CF8792"/>
                </a:solidFill>
                <a:latin typeface="Source Han Serif TW"/>
                <a:ea typeface="Source Han Serif TW"/>
                <a:cs typeface="Source Han Serif TW"/>
              </a:rPr>
              <a:t>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516EF1C-0562-44E9-AB0D-93B5C198B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seed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3E89D9-113F-4494-A4DD-51EC64062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4429125"/>
            <a:ext cx="2857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50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DD9EE5-10BD-4A3A-8F25-F85A2E789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0" y="53340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pool capacity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8CD558-CC09-492B-9EE2-489D6252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6191250"/>
            <a:ext cx="10382250" cy="6858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每次評估：4 個保護對手 ＋ 6 個抽樣對手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CB657-1AC1-402C-88C2-555EA6BF7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7219950"/>
            <a:ext cx="1809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refresh 5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6305777-9E92-428E-BBD9-AB07E3F5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219950"/>
            <a:ext cx="22860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crossover 0.75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416F3E-FEF6-45C5-A765-42204E5BD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7219950"/>
            <a:ext cx="219075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mutation 1.0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64DAA2-0439-41F0-8497-1ED3AA960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7219950"/>
            <a:ext cx="36195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tick caps 1500／3000／4000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F4CA9B-77A1-45A0-8FEE-305373A9F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7781925"/>
            <a:ext cx="723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650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這是 checked-in 範例設定，不代表全域預設或已執行實驗。</a:t>
            </a:r>
          </a:p>
        </p:txBody>
      </p:sp>
      <p:sp>
        <p:nvSpPr>
          <p:cNvPr id="22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47004293-04B5-4D0B-89EA-904EBE66295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9D1D5520-960A-4860-BFCC-BDC6DE84250A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38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137331362"/>
      </p:ext>
    </p:extLst>
  </p:cSld>
</p:sld>
</file>

<file path=ppt/slides/slide39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9eb1148cdeaa4d4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4DBC8-A147-4A16-B5E4-4F85C96A5FDC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0096500" y="2762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DF5B4E-2BE6-4273-BD9B-806A2E170FCB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4857750" y="27622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F8792"/>
            </a:solidFill>
            <a:tailEnd type="triangle" w="med" len="me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C30320-9DEF-4390-A8A3-319F1432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實驗批次與完成場數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E45AB3-70F7-486B-8E9C-6ECC4C89C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Framework local＋Opponent Pool｜兩批各 6 個 seed，12 個 run 均完成 G20 與 Final Test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F71C4D-4633-47DB-8AE3-3C58CC37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AEDC6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同一凍結 bundle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b2daa0d4…0939b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A74C8-5DC2-453B-A6BA-1AFEC5341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238375"/>
            <a:ext cx="40957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4E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local 有限槽位演化</a:t>
            </a:r>
          </a:p>
          <a:p xmlns:a="http://schemas.openxmlformats.org/drawingml/2006/main">
            <a:pPr algn="ctr">
              <a:def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搜尋期間無 LLM 呼叫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ADB5B3-C6DE-4B77-A2D5-243CF1C6A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2238375"/>
            <a:ext cx="3905250" cy="1047750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DEB4B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114300" tIns="114300" rIns="114300" bIns="11430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人口 10 × 演化 20 代</a:t>
            </a:r>
          </a:p>
          <a:p xmlns:a="http://schemas.openxmlformats.org/drawingml/2006/main">
            <a:pPr algn="ctr">
              <a:def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75" b="1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180 場搜尋／600 場測試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0B6036-8ADA-40FF-816D-B82B8A140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9433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7D7AA5-934C-4653-BA0C-2A6DBFFD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已完成 run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0439C7-517A-47E6-BE00-A3D0C9B1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39433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4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1800／1800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1ABF7-0098-4CCD-B84B-F112E21EA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5048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每個 run 的 G20 對戰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162E8A-FA15-4E41-95F4-15E1B0CA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3943350"/>
            <a:ext cx="4762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64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ECF193-63B3-4A7C-BFEC-462B422C9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0375" y="5048250"/>
            <a:ext cx="476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ctr">
              <a:def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Final Test 的 errors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0652B7-4CCD-45B4-A192-D781AB4666C5}"/>
              </a:ext>
            </a:extLst>
          </p:cNvPr>
          <p:cNvGraphicFramePr/>
          <p:nvPr/>
        </p:nvGraphicFramePr>
        <p:xfrm>
          <a:off xmlns:a="http://schemas.openxmlformats.org/drawingml/2006/main" x="762000" y="6076950"/>
          <a:ext xmlns:a="http://schemas.openxmlformats.org/drawingml/2006/main" cx="14382750" cy="16573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19500"/>
                <a:gridCol w="4381500"/>
                <a:gridCol w="2857500"/>
                <a:gridCol w="3524250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 範圍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 代完成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Final Test 完成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8–13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6／6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 × 600 場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A2F1B2-2827-4D6F-A518-2D38770A0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數據截點：2026-10-22；兩批各 3600 場 Final Test，合計 7200 場</a:t>
            </a:r>
          </a:p>
        </p:txBody>
      </p:sp>
      <p:sp>
        <p:nvSpPr>
          <p:cNvPr id="1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83081B5-E60D-4EEB-B488-20F9FB51354A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BF07096C-40B6-4E6A-8F7B-A33DE026BF64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39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403535122"/>
      </p:ext>
    </p:extLst>
  </p:cSld>
</p:sld>
</file>

<file path=ppt/slides/slide40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4ecfa734d3347e5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98C0CE-FF54-4B93-8441-ABAE634E6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搜尋分數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9D3636-18CC-4B2D-B7BC-B57F79A3E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population best Game Performance；兩批均包含 seed 8–13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41279574-4196-4D8A-9EF1-080ACA592D33}"/>
              </a:ext>
            </a:extLst>
          </p:cNvPr>
          <p:cNvGraphicFramePr/>
          <p:nvPr/>
        </p:nvGraphicFramePr>
        <p:xfrm>
          <a:off xmlns:a="http://schemas.openxmlformats.org/drawingml/2006/main" x="714375" y="2143125"/>
          <a:ext xmlns:a="http://schemas.openxmlformats.org/drawingml/2006/main" cx="10763250" cy="5000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e94fb0376bb475f"/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99974C-9B6D-4379-B580-1AE8F36D4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2333625"/>
            <a:ext cx="323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10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跨 seed 的 best 平均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7CBC37-A4F6-4BAC-8181-FAF01257E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0" y="3000375"/>
            <a:ext cx="32385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 6 seed</a:t>
            </a:r>
          </a:p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5.884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 6 seed</a:t>
            </a:r>
          </a:p>
          <a:p xmlns:a="http://schemas.openxmlformats.org/drawingml/2006/main">
            <a:pPr algn="l">
              <a:def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3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5.375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36720-4FA3-493B-9474-C626069FD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24725"/>
            <a:ext cx="1438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 − 上次（seed 8→13）：-8.934、-2.733、+0.004、+2.130、+1.800、+4.682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A9A33E-02C0-4894-81EF-88A8591A7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population best；跨 seed 平均的樣本數：每批 6 runs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B45608F-CDE1-4429-9D28-B3E12998FBA5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4662EAE5-6DA9-4088-AF95-6EFAB1F01017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40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42906972"/>
      </p:ext>
    </p:extLst>
  </p:cSld>
</p:sld>
</file>

<file path=ppt/slides/slide41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e342b5c1fb9a47bf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180BDC-36E1-409E-8027-E5E56ACFF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G0–G20 搜尋分數紀錄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04C78-CC59-4873-86AD-F364C4605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population best｜相同縱軸 −80～40；各點代表該代當下的對手快照</a:t>
            </a:r>
          </a:p>
        </p:txBody>
      </p:sp>
      <p:cxnSp>
        <p:nvCxn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8533E4-B581-4387-BDB3-C355E9AEF34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668000" y="18288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CF8792"/>
            </a:solidFill>
          </a:ln>
        </p:spPr>
      </p:cxn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6A9BB88-79B6-49C7-BD3E-D05F91C8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1638300"/>
            <a:ext cx="1143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上次</a:t>
            </a:r>
          </a:p>
        </p:txBody>
      </p:sp>
      <p:cxnSp>
        <p:nvCxn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D85CA2-0575-487B-AC06-EC35A60A8D1D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2668250" y="1828800"/>
            <a:ext cx="47625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47171C"/>
            </a:solidFill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1DC85-BA56-4240-99DD-B443AAF42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87375" y="1638300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725" b="0">
                <a:solidFill>
                  <a:srgbClr val="423C3B"/>
                </a:solidFill>
                <a:latin typeface="Source Han Serif TW"/>
                <a:ea typeface="Source Han Serif TW"/>
                <a:cs typeface="Source Han Serif TW"/>
              </a:rPr>
              <a:t>本次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8CF83E-6C25-4222-896F-77F6BEE46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057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8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02C0BEF5-7E4B-41C5-BAAC-001CDEE31298}"/>
              </a:ext>
            </a:extLst>
          </p:cNvPr>
          <p:cNvGraphicFramePr/>
          <p:nvPr/>
        </p:nvGraphicFramePr>
        <p:xfrm>
          <a:off xmlns:a="http://schemas.openxmlformats.org/drawingml/2006/main" x="619125" y="249555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de6fdfcb9c148b7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3A3F66C-6AFF-47BD-99F8-1B56F9BB7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57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9</a:t>
            </a:r>
          </a:p>
        </p:txBody>
      </p:sp>
      <p:graphicFrame>
        <p:nvGraphicFramePr>
          <p:cNvPr id="10" name="Chart">
            <a:extLst xmlns:a="http://schemas.openxmlformats.org/drawingml/2006/main">
              <a:ext uri="{FF2B5EF4-FFF2-40B4-BE49-F238E27FC236}">
                <a16:creationId xmlns:a16="http://schemas.microsoft.com/office/drawing/2014/main" id="{3AD3E0C8-8912-49EB-8412-7B06CE222E9D}"/>
              </a:ext>
            </a:extLst>
          </p:cNvPr>
          <p:cNvGraphicFramePr/>
          <p:nvPr/>
        </p:nvGraphicFramePr>
        <p:xfrm>
          <a:off xmlns:a="http://schemas.openxmlformats.org/drawingml/2006/main" x="5715000" y="249555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65f8654b2394e31"/>
          </a:graphicData>
        </a:graphic>
      </p:graphicFrame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F10DB3-99AF-43F9-BA93-C28CA267F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0574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10</a:t>
            </a:r>
          </a:p>
        </p:txBody>
      </p:sp>
      <p:graphicFrame>
        <p:nvGraphicFramePr>
          <p:cNvPr id="12" name="Chart">
            <a:extLst xmlns:a="http://schemas.openxmlformats.org/drawingml/2006/main">
              <a:ext uri="{FF2B5EF4-FFF2-40B4-BE49-F238E27FC236}">
                <a16:creationId xmlns:a16="http://schemas.microsoft.com/office/drawing/2014/main" id="{E1D62A82-683F-40C4-BEA0-6A6D0CD4B692}"/>
              </a:ext>
            </a:extLst>
          </p:cNvPr>
          <p:cNvGraphicFramePr/>
          <p:nvPr/>
        </p:nvGraphicFramePr>
        <p:xfrm>
          <a:off xmlns:a="http://schemas.openxmlformats.org/drawingml/2006/main" x="10810875" y="249555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f2038f5e214e08"/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C0AE00-7DA3-4AFA-B73E-DE239FC70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19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11</a:t>
            </a:r>
          </a:p>
        </p:txBody>
      </p:sp>
      <p:graphicFrame>
        <p:nvGraphicFramePr>
          <p:cNvPr id="14" name="Chart">
            <a:extLst xmlns:a="http://schemas.openxmlformats.org/drawingml/2006/main">
              <a:ext uri="{FF2B5EF4-FFF2-40B4-BE49-F238E27FC236}">
                <a16:creationId xmlns:a16="http://schemas.microsoft.com/office/drawing/2014/main" id="{9A2A3187-536F-4AFD-8FDE-789994AD9CC1}"/>
              </a:ext>
            </a:extLst>
          </p:cNvPr>
          <p:cNvGraphicFramePr/>
          <p:nvPr/>
        </p:nvGraphicFramePr>
        <p:xfrm>
          <a:off xmlns:a="http://schemas.openxmlformats.org/drawingml/2006/main" x="619125" y="525780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a113d4761934ac9"/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CD1D63-2F2C-4CAB-A549-13F9E6C88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819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12</a:t>
            </a:r>
          </a:p>
        </p:txBody>
      </p:sp>
      <p:graphicFrame>
        <p:nvGraphicFramePr>
          <p:cNvPr id="16" name="Chart">
            <a:extLst xmlns:a="http://schemas.openxmlformats.org/drawingml/2006/main">
              <a:ext uri="{FF2B5EF4-FFF2-40B4-BE49-F238E27FC236}">
                <a16:creationId xmlns:a16="http://schemas.microsoft.com/office/drawing/2014/main" id="{31C98144-8B0A-425E-8B47-52174F4E74D4}"/>
              </a:ext>
            </a:extLst>
          </p:cNvPr>
          <p:cNvGraphicFramePr/>
          <p:nvPr/>
        </p:nvGraphicFramePr>
        <p:xfrm>
          <a:off xmlns:a="http://schemas.openxmlformats.org/drawingml/2006/main" x="5715000" y="525780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ed86b1fa6b34743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A1D58A-9904-4929-AD0E-BEE95B41B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81965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9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seed 13</a:t>
            </a:r>
          </a:p>
        </p:txBody>
      </p:sp>
      <p:graphicFrame>
        <p:nvGraphicFramePr>
          <p:cNvPr id="18" name="Chart">
            <a:extLst xmlns:a="http://schemas.openxmlformats.org/drawingml/2006/main">
              <a:ext uri="{FF2B5EF4-FFF2-40B4-BE49-F238E27FC236}">
                <a16:creationId xmlns:a16="http://schemas.microsoft.com/office/drawing/2014/main" id="{9D1FE776-DBFC-4F55-BF40-6CA0AE89056B}"/>
              </a:ext>
            </a:extLst>
          </p:cNvPr>
          <p:cNvGraphicFramePr/>
          <p:nvPr/>
        </p:nvGraphicFramePr>
        <p:xfrm>
          <a:off xmlns:a="http://schemas.openxmlformats.org/drawingml/2006/main" x="10810875" y="5257800"/>
          <a:ext xmlns:a="http://schemas.openxmlformats.org/drawingml/2006/main" cx="4810125" cy="22574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4fb6d39500d4530"/>
          </a:graphicData>
        </a:graphic>
      </p:graphicFrame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E14ACB-B906-44D6-A0CC-72D91659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兩批各 6 個 seed；各圖為 G0、G5、G10、G15、G20 的 population best</a:t>
            </a:r>
          </a:p>
        </p:txBody>
      </p:sp>
      <p:sp>
        <p:nvSpPr>
          <p:cNvPr id="20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6B84F70-0E0D-4C4A-83DB-0494FBA6935F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1EB4CB4C-077C-49B8-A4B4-DD8F899E228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41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105484577"/>
      </p:ext>
    </p:extLst>
  </p:cSld>
</p:sld>
</file>

<file path=ppt/slides/slide42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a9baaa2faaaf4336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E5F2C8-E4CA-4731-A915-425A1275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正式測試：勝、和、負與錯誤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5E519-B651-45CE-B8B0-EC401A4B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每 run 600 場；兩批各 6 runs。圖示 W／D／L 百分比，表列實際場數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C17606D-6713-442E-A13C-35C7F962640B}"/>
              </a:ext>
            </a:extLst>
          </p:cNvPr>
          <p:cNvGraphicFramePr/>
          <p:nvPr/>
        </p:nvGraphicFramePr>
        <p:xfrm>
          <a:off xmlns:a="http://schemas.openxmlformats.org/drawingml/2006/main" x="762000" y="2143125"/>
          <a:ext xmlns:a="http://schemas.openxmlformats.org/drawingml/2006/main" cx="14382750" cy="39624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da96646bbe8459e"/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2D2C90-118D-4B35-9BC4-BA67F3EC65F0}"/>
              </a:ext>
            </a:extLst>
          </p:cNvPr>
          <p:cNvGraphicFramePr/>
          <p:nvPr/>
        </p:nvGraphicFramePr>
        <p:xfrm>
          <a:off xmlns:a="http://schemas.openxmlformats.org/drawingml/2006/main" x="762000" y="6429375"/>
          <a:ext xmlns:a="http://schemas.openxmlformats.org/drawingml/2006/main" cx="14382750" cy="142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905000"/>
                <a:gridCol w="1905000"/>
                <a:gridCol w="1905000"/>
                <a:gridCol w="1905000"/>
                <a:gridCol w="285750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勝率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1164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32.33%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本次（6 runs）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1122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148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2330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95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31.17%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BDF727-65A1-45ED-A334-B4BA7E82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Final Test：10 對手 × 3 地圖 × 每邊 10 場＝600 場／run；勝率＝勝 W／總場數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EDA7EA9B-B645-4124-91D2-6383EC4384D9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6BF5BF8D-E048-4918-ACB4-44CD9EBB1AC5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42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795812311"/>
      </p:ext>
    </p:extLst>
  </p:cSld>
</p:sld>
</file>

<file path=ppt/slides/slide43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7a35557375e4e22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32D0CFB-2014-44DC-AEFA-518932B89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對手別正式測試場數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06875E-0F93-4C09-8FA3-915630B2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兩批均為 seed 8–13；每個對手 6 runs × 60 場＝360 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9FF880-BA89-4A1D-9A51-C4BFBCE56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76425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上次｜6 runs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CD87F6-FF05-4D4C-B141-9320ABCFEC4E}"/>
              </a:ext>
            </a:extLst>
          </p:cNvPr>
          <p:cNvGraphicFramePr/>
          <p:nvPr/>
        </p:nvGraphicFramePr>
        <p:xfrm>
          <a:off xmlns:a="http://schemas.openxmlformats.org/drawingml/2006/main" x="762000" y="2476500"/>
          <a:ext xmlns:a="http://schemas.openxmlformats.org/drawingml/2006/main" cx="70485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047750"/>
                <a:gridCol w="1047750"/>
                <a:gridCol w="1047750"/>
                <a:gridCol w="104775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A626DF-F99F-4820-BA5F-80962F631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76425"/>
            <a:ext cx="7048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250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本次｜6 runs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67A98A-8E1C-4E9E-8BD7-963CFD035AAE}"/>
              </a:ext>
            </a:extLst>
          </p:cNvPr>
          <p:cNvGraphicFramePr/>
          <p:nvPr/>
        </p:nvGraphicFramePr>
        <p:xfrm>
          <a:off xmlns:a="http://schemas.openxmlformats.org/drawingml/2006/main" x="8096250" y="2476500"/>
          <a:ext xmlns:a="http://schemas.openxmlformats.org/drawingml/2006/main" cx="7048500" cy="5238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857500"/>
                <a:gridCol w="1047750"/>
                <a:gridCol w="1047750"/>
                <a:gridCol w="1047750"/>
                <a:gridCol w="1047750"/>
              </a:tblGrid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對手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passive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randombias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292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lightrush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60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heavyrush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workerrush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320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allinbot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mayari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coac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762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tma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360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00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C6F3E-B110-4E9C-9699-19B691E9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每批：10 個對手 × 360 場＝3600 場；W＝勝、D＝和、L＝負、E＝錯誤</a:t>
            </a:r>
          </a:p>
        </p:txBody>
      </p:sp>
      <p:sp>
        <p:nvSpPr>
          <p:cNvPr id="8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00EBEA0B-46AB-4AB3-A62E-29B4F9CEA1FD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0E0EDB4F-1CA8-49FC-8262-8102929C26C3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43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676975501"/>
      </p:ext>
    </p:extLst>
  </p:cSld>
</p:sld>
</file>

<file path=ppt/slides/slide44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021cc1b46bcf494e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00CB0C-994E-4AD3-9D33-BD917832C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G20 行為簽章數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9321EA-881F-4689-925A-CB90E357F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G20 semantic unique／人口 10；三張地圖 × 三個階段的動作簽章</a:t>
            </a:r>
          </a:p>
        </p:txBody>
      </p:sp>
      <p:graphicFrame>
        <p:nvGraphicFramePr>
          <p:cNvPr id="3" name="Chart">
            <a:extLst xmlns:a="http://schemas.openxmlformats.org/drawingml/2006/main">
              <a:ext uri="{FF2B5EF4-FFF2-40B4-BE49-F238E27FC236}">
                <a16:creationId xmlns:a16="http://schemas.microsoft.com/office/drawing/2014/main" id="{7E26D414-9A6D-48BD-851E-070E925791B7}"/>
              </a:ext>
            </a:extLst>
          </p:cNvPr>
          <p:cNvGraphicFramePr/>
          <p:nvPr/>
        </p:nvGraphicFramePr>
        <p:xfrm>
          <a:off xmlns:a="http://schemas.openxmlformats.org/drawingml/2006/main" x="714375" y="2286000"/>
          <a:ext xmlns:a="http://schemas.openxmlformats.org/drawingml/2006/main" cx="10763250" cy="514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4e3b0b8894846a3"/>
          </a:graphicData>
        </a:graphic>
      </p:graphicFrame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A3E43-FCE3-4D2E-94E9-83D990996421}"/>
              </a:ext>
            </a:extLst>
          </p:cNvPr>
          <p:cNvGraphicFramePr/>
          <p:nvPr/>
        </p:nvGraphicFramePr>
        <p:xfrm>
          <a:off xmlns:a="http://schemas.openxmlformats.org/drawingml/2006/main" x="11811000" y="2667000"/>
          <a:ext xmlns:a="http://schemas.openxmlformats.org/drawingml/2006/main" cx="3333750" cy="4000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952500"/>
                <a:gridCol w="1190625"/>
                <a:gridCol w="1190625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5715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87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256877-2170-4830-B9FF-263FFBFA4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指標：G20 semantic unique；兩批各 seed 8–13；每個 run 的 population＝10</a:t>
            </a:r>
          </a:p>
        </p:txBody>
      </p:sp>
      <p:sp>
        <p:nvSpPr>
          <p:cNvPr id="6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51414DE9-B659-41D1-9960-F4AF8BB773EC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FB8F6497-9699-4B1F-A621-E67E80BD6F3F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44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1487055550"/>
      </p:ext>
    </p:extLst>
  </p:cSld>
</p:sld>
</file>

<file path=ppt/slides/slide45.xml><?xml version="1.0" encoding="utf-8"?>
<p:sld xmlns:p="http://schemas.openxmlformats.org/presentationml/2006/main">
  <p:cSld>
    <p:bg>
      <p:bgPr>
        <a:blipFill xmlns:a="http://schemas.openxmlformats.org/drawingml/2006/main">
          <a:blip xmlns:r="http://schemas.openxmlformats.org/officeDocument/2006/relationships" r:embed="R2deed84c2dfb4d3b"/>
          <a:stretch/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0D1645-0C6D-4D0C-BC27-9D4EC01A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"/>
            <a:ext cx="147066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3975" b="1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各 seed 的耗時與勝負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85E3A07-3D2A-40E7-82A3-E348F3C1A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144589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20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兩批各 seed 8–13｜時間單位 hh:mm:ss；勝／和／負為各 run 的 600 場 Final Test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58BE7-3E43-4B4A-9F66-9770D0B0F62F}"/>
              </a:ext>
            </a:extLst>
          </p:cNvPr>
          <p:cNvGraphicFramePr/>
          <p:nvPr/>
        </p:nvGraphicFramePr>
        <p:xfrm>
          <a:off xmlns:a="http://schemas.openxmlformats.org/drawingml/2006/main" x="762000" y="2238375"/>
          <a:ext xmlns:a="http://schemas.openxmlformats.org/drawingml/2006/main" cx="14382750" cy="54483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43000"/>
                <a:gridCol w="762000"/>
                <a:gridCol w="2190750"/>
                <a:gridCol w="1714500"/>
                <a:gridCol w="2190750"/>
                <a:gridCol w="2095500"/>
                <a:gridCol w="1143000"/>
                <a:gridCol w="952500"/>
                <a:gridCol w="1143000"/>
                <a:gridCol w="1047750"/>
              </a:tblGrid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批次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seed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搜尋 wall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G1–20 合計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測試對戰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勝 W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和 D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敗 L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1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錯誤 E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T w="5715">
                      <a:solidFill>
                        <a:srgbClr val="DEB4BA"/>
                      </a:solidFill>
                    </a:lnT>
                    <a:lnB w="5715">
                      <a:solidFill>
                        <a:srgbClr val="DEB4BA"/>
                      </a:solidFill>
                    </a:lnB>
                    <a:solidFill>
                      <a:srgbClr val="DEB4BA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02:52:55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00:08:43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02:44:08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239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03:24:18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03:15:56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251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348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04:49:22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00:08:35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04:40:43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03:09:03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00:09:31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02:59:31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02:51:49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00:08:18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02:43:29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00:02:03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上次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03:28:29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00:08:07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03:20:21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00:01:33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03:18:28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03:09:12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00:01:56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209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03:53:36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03:44:12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00:02:12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05:25:54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05:16:30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00:02:54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79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97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424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11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03:38:18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00:09:18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03:28:57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00:02:27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228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357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03:23:04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00:09:27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03:13:34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00:02:32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179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26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395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  <a:tr h="4191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本次</a:t>
                      </a:r>
                    </a:p>
                  </a:txBody>
                  <a:tcPr marL="95250" marR="95250" marT="28575" marB="28575">
                    <a:lnL w="5715">
                      <a:solidFill>
                        <a:srgbClr val="DEB4BA"/>
                      </a:solidFill>
                    </a:lnL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13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03:56:15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00:09:09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03:47:03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00:01:43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217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380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ctr"/>
                      <a:r>
                        <a:rPr sz="1725" b="0">
                          <a:solidFill>
                            <a:srgbClr val="423C3B"/>
                          </a:solidFill>
                          <a:latin typeface="Source Han Serif TW"/>
                          <a:ea typeface="Source Han Serif TW"/>
                          <a:cs typeface="Source Han Serif TW"/>
                        </a:rPr>
                        <a:t>0</a:t>
                      </a:r>
                    </a:p>
                  </a:txBody>
                  <a:tcPr marL="95250" marR="95250" marT="28575" marB="28575">
                    <a:lnR w="5715">
                      <a:solidFill>
                        <a:srgbClr val="DEB4BA"/>
                      </a:solidFill>
                    </a:lnR>
                    <a:lnB w="5715">
                      <a:solidFill>
                        <a:srgbClr val="DEB4BA"/>
                      </a:solidFill>
                    </a:lnB>
                    <a:solidFill>
                      <a:srgbClr val="FCF8F5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2D9E73-DB8E-4A50-A3C1-56530A615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077200"/>
            <a:ext cx="139541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defRPr>
            </a:pPr>
            <a:r>
              <a:rPr sz="1800" b="0">
                <a:solidFill>
                  <a:srgbClr val="47171C"/>
                </a:solidFill>
                <a:latin typeface="Source Han Serif TW"/>
                <a:ea typeface="Source Han Serif TW"/>
                <a:cs typeface="Source Han Serif TW"/>
              </a:rPr>
              <a:t>搜尋 wall：G0→G20；G1–20：世代耗時加總；測試對戰：600 場時間跨度，排除編譯與 Integration</a:t>
            </a:r>
          </a:p>
        </p:txBody>
      </p:sp>
      <p:sp>
        <p:nvSpPr>
          <p:cNvPr id="5" name="Slide Number">
            <a:extLst xmlns:a="http://schemas.openxmlformats.org/drawingml/2006/main">
              <a:ext uri="{FF2B5EF4-FFF2-40B4-BE49-F238E27FC236}">
                <a16:creationId xmlns:a16="http://schemas.microsoft.com/office/drawing/2014/main" id="{352ED16F-CE03-44CF-9C5C-D9DE152651D7}"/>
              </a:ext>
            </a:extLst>
          </p:cNvPr>
          <p:cNvSpPr>
            <a:spLocks xmlns:a="http://schemas.openxmlformats.org/drawingml/2006/main" noGrp="1"/>
          </p:cNvSpPr>
          <p:nvPr>
            <p:ph type="sldNum" idx="90"/>
          </p:nvPr>
        </p:nvSpPr>
        <p:spPr>
          <a:xfrm xmlns:a="http://schemas.openxmlformats.org/drawingml/2006/main">
            <a:off x="13811250" y="8629650"/>
            <a:ext cx="1476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defPPr>
            <a:lvl1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1pPr>
            <a:lvl2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2pPr>
            <a:lvl3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3pPr>
            <a:lvl4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4pPr>
            <a:lvl5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5pPr>
            <a:lvl6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6pPr>
            <a:lvl7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7pPr>
            <a:lvl8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8pPr>
            <a:lvl9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defRPr>
            </a:pPr>
            <a:fld id="{5BAC0FA6-7C69-45C2-9C69-62B5D3AB4712}" type="slidenum"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45</a:t>
            </a:fld>
            <a:r>
              <a:rPr sz="1425" b="0">
                <a:solidFill>
                  <a:srgbClr val="887575"/>
                </a:solidFill>
                <a:latin typeface="Source Han Serif TW"/>
                <a:ea typeface="Source Han Serif TW"/>
                <a:cs typeface="Source Han Serif TW"/>
              </a:rPr>
              <a:t> / 45</a:t>
            </a:r>
          </a:p>
        </p:txBody>
      </p:sp>
    </p:spTree>
    <p:extLst>
      <p:ext uri="{BB962C8B-B14F-4D97-AF65-F5344CB8AC3E}">
        <p14:creationId xmlns:p14="http://schemas.microsoft.com/office/powerpoint/2010/main" val="2011555597"/>
      </p:ext>
    </p:extLst>
  </p:cSld>
</p:sld>
</file>

<file path=ppt/theme/theme1.xml><?xml version="1.0" encoding="utf-8"?>
<a:theme xmlns:a="http://schemas.openxmlformats.org/drawingml/2006/main" name="EAGLE">
  <a:themeElements>
    <a:clrScheme name="Meeting 0830 Rose &amp; Gold">
      <a:dk1>
        <a:srgbClr val="47171C"/>
      </a:dk1>
      <a:lt1>
        <a:srgbClr val="FCF8F5"/>
      </a:lt1>
      <a:dk2>
        <a:srgbClr val="423C3B"/>
      </a:dk2>
      <a:lt2>
        <a:srgbClr val="FFFFFF"/>
      </a:lt2>
      <a:accent1>
        <a:srgbClr val="CF8792"/>
      </a:accent1>
      <a:accent2>
        <a:srgbClr val="47171C"/>
      </a:accent2>
      <a:accent3>
        <a:srgbClr val="CF9BA5"/>
      </a:accent3>
      <a:accent4>
        <a:srgbClr val="C69B45"/>
      </a:accent4>
      <a:accent5>
        <a:srgbClr val="FAEDC6"/>
      </a:accent5>
      <a:accent6>
        <a:srgbClr val="423C3B"/>
      </a:accent6>
      <a:hlink>
        <a:srgbClr val="CF8792"/>
      </a:hlink>
      <a:folHlink>
        <a:srgbClr val="C69B45"/>
      </a:folHlink>
    </a:clrScheme>
    <a:fontScheme name="Office">
      <a:majorFont>
        <a:latin typeface="Source Han Serif TW"/>
        <a:ea typeface="Source Han Serif TW"/>
        <a:cs typeface="Source Han Serif TW"/>
      </a:majorFont>
      <a:minorFont>
        <a:latin typeface="Source Han Serif TW"/>
        <a:ea typeface="Source Han Serif TW"/>
        <a:cs typeface="Source Han Serif TW"/>
      </a:minorFont>
    </a:fontScheme>
    <a:fmtScheme name="Meeting 0830 Rose &amp; Gold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2026-10-21T16:35:41.0090000Z</dcterms:created>
  <dcterms:modified xsi:type="dcterms:W3CDTF">2026-10-21T16:35:41.0090000Z</dcterms:modified>
</coreProperties>
</file>