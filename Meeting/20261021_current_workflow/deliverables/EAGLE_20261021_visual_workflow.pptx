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0505b67b39479d" /><Relationship Type="http://schemas.openxmlformats.org/officeDocument/2006/relationships/extended-properties" Target="/docProps/app.xml" Id="R0148b9ccb5704aa2" /><Relationship Type="http://schemas.openxmlformats.org/officeDocument/2006/relationships/officeDocument" Target="/ppt/presentation.xml" Id="R3b726a1ccb654e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73dacc69a6475f"/>
  </p:sldMasterIdLst>
  <p:notesMasterIdLst>
    <p:notesMasterId xmlns:r="http://schemas.openxmlformats.org/officeDocument/2006/relationships" r:id="R51b790ba287945cb"/>
  </p:notesMasterIdLst>
  <p:sldIdLst>
    <p:sldId xmlns:r="http://schemas.openxmlformats.org/officeDocument/2006/relationships" id="256" r:id="R8e3337ef340841c8"/>
    <p:sldId xmlns:r="http://schemas.openxmlformats.org/officeDocument/2006/relationships" id="257" r:id="R82bc039d344b4e78"/>
    <p:sldId xmlns:r="http://schemas.openxmlformats.org/officeDocument/2006/relationships" id="258" r:id="Rd90d5921b6c649cc"/>
    <p:sldId xmlns:r="http://schemas.openxmlformats.org/officeDocument/2006/relationships" id="259" r:id="R98cfa4db0dee4305"/>
    <p:sldId xmlns:r="http://schemas.openxmlformats.org/officeDocument/2006/relationships" id="260" r:id="Re638ba070c9944f5"/>
    <p:sldId xmlns:r="http://schemas.openxmlformats.org/officeDocument/2006/relationships" id="261" r:id="R5cc66961247c4eb2"/>
    <p:sldId xmlns:r="http://schemas.openxmlformats.org/officeDocument/2006/relationships" id="262" r:id="R07a6c4a133bd4f1e"/>
    <p:sldId xmlns:r="http://schemas.openxmlformats.org/officeDocument/2006/relationships" id="263" r:id="R0430c5c929ca4247"/>
    <p:sldId xmlns:r="http://schemas.openxmlformats.org/officeDocument/2006/relationships" id="264" r:id="R8e3204ffc3e34591"/>
    <p:sldId xmlns:r="http://schemas.openxmlformats.org/officeDocument/2006/relationships" id="265" r:id="Refff188ce349415c"/>
    <p:sldId xmlns:r="http://schemas.openxmlformats.org/officeDocument/2006/relationships" id="266" r:id="Rdac198bb897348f7"/>
    <p:sldId xmlns:r="http://schemas.openxmlformats.org/officeDocument/2006/relationships" id="267" r:id="R889c8765070a41ae"/>
    <p:sldId xmlns:r="http://schemas.openxmlformats.org/officeDocument/2006/relationships" id="268" r:id="R0193018a34da47e9"/>
    <p:sldId xmlns:r="http://schemas.openxmlformats.org/officeDocument/2006/relationships" id="269" r:id="Rb92ba2b3d27d4f97"/>
    <p:sldId xmlns:r="http://schemas.openxmlformats.org/officeDocument/2006/relationships" id="270" r:id="Rd5216dcde3204e2e"/>
    <p:sldId xmlns:r="http://schemas.openxmlformats.org/officeDocument/2006/relationships" id="271" r:id="R0ac17dca27dc47bb"/>
    <p:sldId xmlns:r="http://schemas.openxmlformats.org/officeDocument/2006/relationships" id="272" r:id="Rb67e0b40419442bb"/>
    <p:sldId xmlns:r="http://schemas.openxmlformats.org/officeDocument/2006/relationships" id="273" r:id="R946a7d9bd2874cc7"/>
    <p:sldId xmlns:r="http://schemas.openxmlformats.org/officeDocument/2006/relationships" id="274" r:id="R1f8d81eb9aae43eb"/>
    <p:sldId xmlns:r="http://schemas.openxmlformats.org/officeDocument/2006/relationships" id="275" r:id="R2aafe3dec781419f"/>
    <p:sldId xmlns:r="http://schemas.openxmlformats.org/officeDocument/2006/relationships" id="276" r:id="R303b1a34b84d4e4c"/>
    <p:sldId xmlns:r="http://schemas.openxmlformats.org/officeDocument/2006/relationships" id="277" r:id="Ra59716878b2640f0"/>
    <p:sldId xmlns:r="http://schemas.openxmlformats.org/officeDocument/2006/relationships" id="278" r:id="Ra37990f0a4fb4846"/>
    <p:sldId xmlns:r="http://schemas.openxmlformats.org/officeDocument/2006/relationships" id="279" r:id="R34d8e193c90a46e1"/>
    <p:sldId xmlns:r="http://schemas.openxmlformats.org/officeDocument/2006/relationships" id="280" r:id="R5ca790d7627a45d0"/>
    <p:sldId xmlns:r="http://schemas.openxmlformats.org/officeDocument/2006/relationships" id="281" r:id="Ra89e4eeed8ae4c48"/>
    <p:sldId xmlns:r="http://schemas.openxmlformats.org/officeDocument/2006/relationships" id="282" r:id="R93cce4312fd44f05"/>
    <p:sldId xmlns:r="http://schemas.openxmlformats.org/officeDocument/2006/relationships" id="283" r:id="R106b7a48e7064ff4"/>
    <p:sldId xmlns:r="http://schemas.openxmlformats.org/officeDocument/2006/relationships" id="284" r:id="R063162e5da304718"/>
    <p:sldId xmlns:r="http://schemas.openxmlformats.org/officeDocument/2006/relationships" id="285" r:id="R3d323abfa56547d4"/>
    <p:sldId xmlns:r="http://schemas.openxmlformats.org/officeDocument/2006/relationships" id="286" r:id="R8a4fa9a719674ce9"/>
    <p:sldId xmlns:r="http://schemas.openxmlformats.org/officeDocument/2006/relationships" id="287" r:id="R0d1919f8bc0d44d4"/>
    <p:sldId xmlns:r="http://schemas.openxmlformats.org/officeDocument/2006/relationships" id="288" r:id="R64fc9511e0124b72"/>
    <p:sldId xmlns:r="http://schemas.openxmlformats.org/officeDocument/2006/relationships" id="289" r:id="R57891b14544c43b7"/>
    <p:sldId xmlns:r="http://schemas.openxmlformats.org/officeDocument/2006/relationships" id="290" r:id="R4f45d2354fb84d0a"/>
    <p:sldId xmlns:r="http://schemas.openxmlformats.org/officeDocument/2006/relationships" id="291" r:id="R41d557d89ce94824"/>
    <p:sldId xmlns:r="http://schemas.openxmlformats.org/officeDocument/2006/relationships" id="292" r:id="R0730962efa7c4290"/>
    <p:sldId xmlns:r="http://schemas.openxmlformats.org/officeDocument/2006/relationships" id="293" r:id="R8a4bada08a6d4908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72775162f84601" /><Relationship Type="http://schemas.openxmlformats.org/officeDocument/2006/relationships/slideMaster" Target="/ppt/slideMasters/slideMaster1.xml" Id="Ra373dacc69a6475f" /><Relationship Type="http://schemas.openxmlformats.org/officeDocument/2006/relationships/notesMaster" Target="/ppt/notesMasters/notesMaster1.xml" Id="R51b790ba287945cb" /><Relationship Type="http://schemas.openxmlformats.org/officeDocument/2006/relationships/presProps" Target="/ppt/presProps.xml" Id="Rf6afd5ee58f74a9d" /><Relationship Type="http://schemas.openxmlformats.org/officeDocument/2006/relationships/tableStyles" Target="/ppt/tableStyles.xml" Id="Rac5cf61f53b745dc" /><Relationship Type="http://schemas.openxmlformats.org/officeDocument/2006/relationships/slide" Target="/ppt/slides/slide1.xml" Id="R8e3337ef340841c8" /><Relationship Type="http://schemas.openxmlformats.org/officeDocument/2006/relationships/slide" Target="/ppt/slides/slide2.xml" Id="R82bc039d344b4e78" /><Relationship Type="http://schemas.openxmlformats.org/officeDocument/2006/relationships/slide" Target="/ppt/slides/slide3.xml" Id="Rd90d5921b6c649cc" /><Relationship Type="http://schemas.openxmlformats.org/officeDocument/2006/relationships/slide" Target="/ppt/slides/slide4.xml" Id="R98cfa4db0dee4305" /><Relationship Type="http://schemas.openxmlformats.org/officeDocument/2006/relationships/slide" Target="/ppt/slides/slide5.xml" Id="Re638ba070c9944f5" /><Relationship Type="http://schemas.openxmlformats.org/officeDocument/2006/relationships/slide" Target="/ppt/slides/slide6.xml" Id="R5cc66961247c4eb2" /><Relationship Type="http://schemas.openxmlformats.org/officeDocument/2006/relationships/slide" Target="/ppt/slides/slide7.xml" Id="R07a6c4a133bd4f1e" /><Relationship Type="http://schemas.openxmlformats.org/officeDocument/2006/relationships/slide" Target="/ppt/slides/slide8.xml" Id="R0430c5c929ca4247" /><Relationship Type="http://schemas.openxmlformats.org/officeDocument/2006/relationships/slide" Target="/ppt/slides/slide9.xml" Id="R8e3204ffc3e34591" /><Relationship Type="http://schemas.openxmlformats.org/officeDocument/2006/relationships/slide" Target="/ppt/slides/slide10.xml" Id="Refff188ce349415c" /><Relationship Type="http://schemas.openxmlformats.org/officeDocument/2006/relationships/slide" Target="/ppt/slides/slide11.xml" Id="Rdac198bb897348f7" /><Relationship Type="http://schemas.openxmlformats.org/officeDocument/2006/relationships/slide" Target="/ppt/slides/slide12.xml" Id="R889c8765070a41ae" /><Relationship Type="http://schemas.openxmlformats.org/officeDocument/2006/relationships/slide" Target="/ppt/slides/slide13.xml" Id="R0193018a34da47e9" /><Relationship Type="http://schemas.openxmlformats.org/officeDocument/2006/relationships/slide" Target="/ppt/slides/slide14.xml" Id="Rb92ba2b3d27d4f97" /><Relationship Type="http://schemas.openxmlformats.org/officeDocument/2006/relationships/slide" Target="/ppt/slides/slide15.xml" Id="Rd5216dcde3204e2e" /><Relationship Type="http://schemas.openxmlformats.org/officeDocument/2006/relationships/slide" Target="/ppt/slides/slide16.xml" Id="R0ac17dca27dc47bb" /><Relationship Type="http://schemas.openxmlformats.org/officeDocument/2006/relationships/slide" Target="/ppt/slides/slide17.xml" Id="Rb67e0b40419442bb" /><Relationship Type="http://schemas.openxmlformats.org/officeDocument/2006/relationships/slide" Target="/ppt/slides/slide18.xml" Id="R946a7d9bd2874cc7" /><Relationship Type="http://schemas.openxmlformats.org/officeDocument/2006/relationships/slide" Target="/ppt/slides/slide19.xml" Id="R1f8d81eb9aae43eb" /><Relationship Type="http://schemas.openxmlformats.org/officeDocument/2006/relationships/slide" Target="/ppt/slides/slide20.xml" Id="R2aafe3dec781419f" /><Relationship Type="http://schemas.openxmlformats.org/officeDocument/2006/relationships/slide" Target="/ppt/slides/slide21.xml" Id="R303b1a34b84d4e4c" /><Relationship Type="http://schemas.openxmlformats.org/officeDocument/2006/relationships/slide" Target="/ppt/slides/slide22.xml" Id="Ra59716878b2640f0" /><Relationship Type="http://schemas.openxmlformats.org/officeDocument/2006/relationships/slide" Target="/ppt/slides/slide23.xml" Id="Ra37990f0a4fb4846" /><Relationship Type="http://schemas.openxmlformats.org/officeDocument/2006/relationships/slide" Target="/ppt/slides/slide24.xml" Id="R34d8e193c90a46e1" /><Relationship Type="http://schemas.openxmlformats.org/officeDocument/2006/relationships/slide" Target="/ppt/slides/slide25.xml" Id="R5ca790d7627a45d0" /><Relationship Type="http://schemas.openxmlformats.org/officeDocument/2006/relationships/slide" Target="/ppt/slides/slide26.xml" Id="Ra89e4eeed8ae4c48" /><Relationship Type="http://schemas.openxmlformats.org/officeDocument/2006/relationships/slide" Target="/ppt/slides/slide27.xml" Id="R93cce4312fd44f05" /><Relationship Type="http://schemas.openxmlformats.org/officeDocument/2006/relationships/slide" Target="/ppt/slides/slide28.xml" Id="R106b7a48e7064ff4" /><Relationship Type="http://schemas.openxmlformats.org/officeDocument/2006/relationships/slide" Target="/ppt/slides/slide29.xml" Id="R063162e5da304718" /><Relationship Type="http://schemas.openxmlformats.org/officeDocument/2006/relationships/slide" Target="/ppt/slides/slide30.xml" Id="R3d323abfa56547d4" /><Relationship Type="http://schemas.openxmlformats.org/officeDocument/2006/relationships/slide" Target="/ppt/slides/slide31.xml" Id="R8a4fa9a719674ce9" /><Relationship Type="http://schemas.openxmlformats.org/officeDocument/2006/relationships/slide" Target="/ppt/slides/slide32.xml" Id="R0d1919f8bc0d44d4" /><Relationship Type="http://schemas.openxmlformats.org/officeDocument/2006/relationships/slide" Target="/ppt/slides/slide33.xml" Id="R64fc9511e0124b72" /><Relationship Type="http://schemas.openxmlformats.org/officeDocument/2006/relationships/slide" Target="/ppt/slides/slide34.xml" Id="R57891b14544c43b7" /><Relationship Type="http://schemas.openxmlformats.org/officeDocument/2006/relationships/slide" Target="/ppt/slides/slide35.xml" Id="R4f45d2354fb84d0a" /><Relationship Type="http://schemas.openxmlformats.org/officeDocument/2006/relationships/slide" Target="/ppt/slides/slide36.xml" Id="R41d557d89ce94824" /><Relationship Type="http://schemas.openxmlformats.org/officeDocument/2006/relationships/slide" Target="/ppt/slides/slide37.xml" Id="R0730962efa7c4290" /><Relationship Type="http://schemas.openxmlformats.org/officeDocument/2006/relationships/slide" Target="/ppt/slides/slide38.xml" Id="R8a4bada08a6d49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3d218fd5aa4a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73a9bbfa054539" /><Relationship Type="http://schemas.openxmlformats.org/officeDocument/2006/relationships/notesMaster" Target="/ppt/notesMasters/notesMaster1.xml" Id="Rdfb546ad0d2941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55ac0aee374b4b" /><Relationship Type="http://schemas.openxmlformats.org/officeDocument/2006/relationships/notesMaster" Target="/ppt/notesMasters/notesMaster1.xml" Id="Re9c51f61ee644b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df63f236a941de" /><Relationship Type="http://schemas.openxmlformats.org/officeDocument/2006/relationships/notesMaster" Target="/ppt/notesMasters/notesMaster1.xml" Id="Raf2341d26b7041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2b56bbce5945b3" /><Relationship Type="http://schemas.openxmlformats.org/officeDocument/2006/relationships/notesMaster" Target="/ppt/notesMasters/notesMaster1.xml" Id="R3ddd18e5347d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70e61e4014179" /><Relationship Type="http://schemas.openxmlformats.org/officeDocument/2006/relationships/notesMaster" Target="/ppt/notesMasters/notesMaster1.xml" Id="R5e2d4c2caf9441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0d0226b1a14dc5" /><Relationship Type="http://schemas.openxmlformats.org/officeDocument/2006/relationships/notesMaster" Target="/ppt/notesMasters/notesMaster1.xml" Id="R29ae7619458c4a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d05204b0d54029" /><Relationship Type="http://schemas.openxmlformats.org/officeDocument/2006/relationships/notesMaster" Target="/ppt/notesMasters/notesMaster1.xml" Id="R8ea590b015a14c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4d416028a2444e" /><Relationship Type="http://schemas.openxmlformats.org/officeDocument/2006/relationships/notesMaster" Target="/ppt/notesMasters/notesMaster1.xml" Id="Reba5dfda1a6e4c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b7eb8f12fb4f40" /><Relationship Type="http://schemas.openxmlformats.org/officeDocument/2006/relationships/notesMaster" Target="/ppt/notesMasters/notesMaster1.xml" Id="R18cd45bcd4ec44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e88b84fdea4093" /><Relationship Type="http://schemas.openxmlformats.org/officeDocument/2006/relationships/notesMaster" Target="/ppt/notesMasters/notesMaster1.xml" Id="R3c9a53769f3940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2e8db36a7246b9" /><Relationship Type="http://schemas.openxmlformats.org/officeDocument/2006/relationships/notesMaster" Target="/ppt/notesMasters/notesMaster1.xml" Id="R2141c2ef2e6d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5a083149d048aa" /><Relationship Type="http://schemas.openxmlformats.org/officeDocument/2006/relationships/notesMaster" Target="/ppt/notesMasters/notesMaster1.xml" Id="Rcfa7ecc5792b4b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f151f2edcf44b5" /><Relationship Type="http://schemas.openxmlformats.org/officeDocument/2006/relationships/notesMaster" Target="/ppt/notesMasters/notesMaster1.xml" Id="R76154257945743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b8166023334270" /><Relationship Type="http://schemas.openxmlformats.org/officeDocument/2006/relationships/notesMaster" Target="/ppt/notesMasters/notesMaster1.xml" Id="Rf59799409e3646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a29a2089a94dae" /><Relationship Type="http://schemas.openxmlformats.org/officeDocument/2006/relationships/notesMaster" Target="/ppt/notesMasters/notesMaster1.xml" Id="Rbe6a81bfc2274b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e2be25eb1747df" /><Relationship Type="http://schemas.openxmlformats.org/officeDocument/2006/relationships/notesMaster" Target="/ppt/notesMasters/notesMaster1.xml" Id="R10a6e2687e5944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79e22a76b341bc" /><Relationship Type="http://schemas.openxmlformats.org/officeDocument/2006/relationships/notesMaster" Target="/ppt/notesMasters/notesMaster1.xml" Id="R96ce191b6a5445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b9c49218ab4e8f" /><Relationship Type="http://schemas.openxmlformats.org/officeDocument/2006/relationships/notesMaster" Target="/ppt/notesMasters/notesMaster1.xml" Id="R5e263edbd9c84d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c2deba71a14672" /><Relationship Type="http://schemas.openxmlformats.org/officeDocument/2006/relationships/notesMaster" Target="/ppt/notesMasters/notesMaster1.xml" Id="Rdbd437a62f9e44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a0e606d58f43b3" /><Relationship Type="http://schemas.openxmlformats.org/officeDocument/2006/relationships/notesMaster" Target="/ppt/notesMasters/notesMaster1.xml" Id="Rdd3eadc3b93947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827ee5dc3a44a9" /><Relationship Type="http://schemas.openxmlformats.org/officeDocument/2006/relationships/notesMaster" Target="/ppt/notesMasters/notesMaster1.xml" Id="R830a4e59b1ef41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8206a741694ec1" /><Relationship Type="http://schemas.openxmlformats.org/officeDocument/2006/relationships/notesMaster" Target="/ppt/notesMasters/notesMaster1.xml" Id="Rf833c5c9c74043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323ea5852f4677" /><Relationship Type="http://schemas.openxmlformats.org/officeDocument/2006/relationships/notesMaster" Target="/ppt/notesMasters/notesMaster1.xml" Id="Re4859551f9324a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34fa7846a1a4274" /><Relationship Type="http://schemas.openxmlformats.org/officeDocument/2006/relationships/notesMaster" Target="/ppt/notesMasters/notesMaster1.xml" Id="R5348a565df21490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e155786d014881" /><Relationship Type="http://schemas.openxmlformats.org/officeDocument/2006/relationships/notesMaster" Target="/ppt/notesMasters/notesMaster1.xml" Id="R2eb47337092d47a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9ac8f9819de4924" /><Relationship Type="http://schemas.openxmlformats.org/officeDocument/2006/relationships/notesMaster" Target="/ppt/notesMasters/notesMaster1.xml" Id="Rb1c5baf361ea492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aef4768b494d79" /><Relationship Type="http://schemas.openxmlformats.org/officeDocument/2006/relationships/notesMaster" Target="/ppt/notesMasters/notesMaster1.xml" Id="R3b5e8f4e7d0941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d55ad2222c4fcf" /><Relationship Type="http://schemas.openxmlformats.org/officeDocument/2006/relationships/notesMaster" Target="/ppt/notesMasters/notesMaster1.xml" Id="R0df8cfedec0342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3f8d833b4024d25" /><Relationship Type="http://schemas.openxmlformats.org/officeDocument/2006/relationships/notesMaster" Target="/ppt/notesMasters/notesMaster1.xml" Id="Rfb15fa5d693e479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9c4e96562348be" /><Relationship Type="http://schemas.openxmlformats.org/officeDocument/2006/relationships/notesMaster" Target="/ppt/notesMasters/notesMaster1.xml" Id="Re3b85a3211cb46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f016063d09249ad" /><Relationship Type="http://schemas.openxmlformats.org/officeDocument/2006/relationships/notesMaster" Target="/ppt/notesMasters/notesMaster1.xml" Id="R55bad04a79f04f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084c54f703e4170" /><Relationship Type="http://schemas.openxmlformats.org/officeDocument/2006/relationships/notesMaster" Target="/ppt/notesMasters/notesMaster1.xml" Id="Rb92f27464ce6497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e9ad9d54a694aa4" /><Relationship Type="http://schemas.openxmlformats.org/officeDocument/2006/relationships/notesMaster" Target="/ppt/notesMasters/notesMaster1.xml" Id="R34395321793744e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6e3c61a3e1a462c" /><Relationship Type="http://schemas.openxmlformats.org/officeDocument/2006/relationships/notesMaster" Target="/ppt/notesMasters/notesMaster1.xml" Id="Rd8c5bb23da68497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376cbb684545db" /><Relationship Type="http://schemas.openxmlformats.org/officeDocument/2006/relationships/notesMaster" Target="/ppt/notesMasters/notesMaster1.xml" Id="R6a356e74ab1a4e2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f627baec858405c" /><Relationship Type="http://schemas.openxmlformats.org/officeDocument/2006/relationships/notesMaster" Target="/ppt/notesMasters/notesMaster1.xml" Id="Rf2802f8238e746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681a0fbbc414f8d" /><Relationship Type="http://schemas.openxmlformats.org/officeDocument/2006/relationships/notesMaster" Target="/ppt/notesMasters/notesMaster1.xml" Id="R50ed27d27d4442d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ab545fe2fe74642" /><Relationship Type="http://schemas.openxmlformats.org/officeDocument/2006/relationships/notesMaster" Target="/ppt/notesMasters/notesMaster1.xml" Id="Re80f39a3718a4c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EAGLE 在對戰之前以演化與選配的 LLM 工作改良候選策略。對戰當中執行的是完整 Java agent，沒有即時 LLM 決策。本簡報以目前程式為準，涵蓋所有啟用中的模式。各機制分頁說明，實驗設定範例不等於全域預設。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docs/eagle_architecture_spec.md:9-47</a:t>
            </a:r>
          </a:p>
          <a:p xmlns:a="http://schemas.openxmlformats.org/drawingml/2006/main">
            <a:r>
              <a:t>docs/architecture/overview.md:1-35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策略、Java 與對戰證據的演化迴圈</a:t>
            </a:r>
          </a:p>
          <a:p xmlns:a="http://schemas.openxmlformats.org/drawingml/2006/main">
            <a:r>
              <a:t>離線演化 MicroRTS Java agent</a:t>
            </a:r>
          </a:p>
          <a:p xmlns:a="http://schemas.openxmlformats.org/drawingml/2006/main">
            <a:r>
              <a:t>三種 Java 產生模式與兩種評估模式</a:t>
            </a:r>
          </a:p>
          <a:p xmlns:a="http://schemas.openxmlformats.org/drawingml/2006/main">
            <a:r>
              <a:t>來源截點 2026-10-21　版本 fcc8b770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設定解析後先準備模型端點；framework 模式會在搜尋前建立並凍結 bundle。第 0 代完成評估後才有可供繁殖的族群。每個演化世代先確保父代分數與評估情境有效，再產生與評估固定數量子代，選出下一代並原子保存。未達停止條件就回到下一代，停止後由 experiment orchestrator 執行正式最終測試。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docs/eagle_architecture_spec.md:80-160</a:t>
            </a:r>
          </a:p>
          <a:p xmlns:a="http://schemas.openxmlformats.org/drawingml/2006/main">
            <a:r>
              <a:t>eagle/evolution/search.py:119-270</a:t>
            </a:r>
          </a:p>
          <a:p xmlns:a="http://schemas.openxmlformats.org/drawingml/2006/main">
            <a:r>
              <a:t>eagle/experiment.py:355-423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初始化一次，之後重複世代迴圈</a:t>
            </a:r>
          </a:p>
          <a:p xmlns:a="http://schemas.openxmlformats.org/drawingml/2006/main">
            <a:r>
              <a:t>GPT 產生Java framework</a:t>
            </a:r>
          </a:p>
          <a:p xmlns:a="http://schemas.openxmlformats.org/drawingml/2006/main">
            <a:r>
              <a:t>初始化第 0 代</a:t>
            </a:r>
          </a:p>
          <a:p xmlns:a="http://schemas.openxmlformats.org/drawingml/2006/main">
            <a:r>
              <a:t>產生 Java 與初始評估</a:t>
            </a:r>
          </a:p>
          <a:p xmlns:a="http://schemas.openxmlformats.org/drawingml/2006/main">
            <a:r>
              <a:t>刷新情境、選父代與變異</a:t>
            </a:r>
          </a:p>
          <a:p xmlns:a="http://schemas.openxmlformats.org/drawingml/2006/main">
            <a:r>
              <a:t>子代評估、選倖存者</a:t>
            </a:r>
          </a:p>
          <a:p xmlns:a="http://schemas.openxmlformats.org/drawingml/2006/main">
            <a:r>
              <a:t>達到停止條件？</a:t>
            </a:r>
          </a:p>
          <a:p xmlns:a="http://schemas.openxmlformats.org/drawingml/2006/main">
            <a:r>
              <a:t>Final Test</a:t>
            </a:r>
          </a:p>
          <a:p xmlns:a="http://schemas.openxmlformats.org/drawingml/2006/main">
            <a:r>
              <a:t>否：下一代</a:t>
            </a:r>
          </a:p>
          <a:p xmlns:a="http://schemas.openxmlformats.org/drawingml/2006/main">
            <a:r>
              <a:t>是</a:t>
            </a:r>
          </a:p>
          <a:p xmlns:a="http://schemas.openxmlformats.org/drawingml/2006/main">
            <a:r>
              <a:t>暫時人工由 ChatGPT 生成一個固定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策略的 actor、when、action 都使用閉合的 MicroRTS 詞彙與可觀察狀態，允許合法策略多樣性。DSL 是基因資料，不是對戰時呼叫 LLM 的文字指令。deterministic_dsl 會經 typed IR 編譯；llm 則要求 Generator 實作同一份 DSL。合法動作守衛與 fallthrough 規則屬於共用語意。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eagle/strategy_dsl.py:1-120</a:t>
            </a:r>
          </a:p>
          <a:p xmlns:a="http://schemas.openxmlformats.org/drawingml/2006/main">
            <a:r>
              <a:t>docs/architecture/overview.md:112-127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version 固定為 eagle-strategy-dsl-v1，規則依序包含 actor、when、action</a:t>
            </a:r>
          </a:p>
          <a:p xmlns:a="http://schemas.openxmlformats.org/drawingml/2006/main">
            <a:r>
              <a:t>先匹配單位與條件，再檢查內建合法動作限制；無法發出動作時繼續後續規則</a:t>
            </a:r>
          </a:p>
          <a:p xmlns:a="http://schemas.openxmlformats.org/drawingml/2006/main">
            <a:r>
              <a:t>策略離線轉成 Java；對戰時直接執行 Java，空 rules 代表 idle</a:t>
            </a:r>
          </a:p>
          <a:p xmlns:a="http://schemas.openxmlformats.org/drawingml/2006/main">
            <a:r>
              <a:t>LLM 產生的新策略必須通過詞彙與結構驗證，歷史自然語言策略僅供讀取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有外部 bundle_path 時直接驗證該檔並凍結 run-owned copy，不再呼叫 bootstrap。沒有時依 backend 建立，預設 Groq，亦支援 Mistral 與 local。原始回應在解析前保存，失敗有界重試。每個 replicate 預設各自 bootstrap；要共用架構必須明確指定同一個 bundle。搜尋期間 Java 模板、槽位 domain 與表達式不變，resume 也不重新設計。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>docs/eagle_architecture_spec.md:747-820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未指定 bundle_path</a:t>
            </a:r>
          </a:p>
          <a:p xmlns:a="http://schemas.openxmlformats.org/drawingml/2006/main">
            <a:r>
              <a:t>design_brief</a:t>
            </a:r>
          </a:p>
          <a:p xmlns:a="http://schemas.openxmlformats.org/drawingml/2006/main">
            <a:r>
              <a:t>Groq / Mistral / local</a:t>
            </a:r>
          </a:p>
          <a:p xmlns:a="http://schemas.openxmlformats.org/drawingml/2006/main">
            <a:r>
              <a:t>有界 bootstrap</a:t>
            </a:r>
          </a:p>
          <a:p xmlns:a="http://schemas.openxmlformats.org/drawingml/2006/main">
            <a:r>
              <a:t>完整 schema 與 Java 檢查</a:t>
            </a:r>
          </a:p>
          <a:p xmlns:a="http://schemas.openxmlformats.org/drawingml/2006/main">
            <a:r>
              <a:t>已有 bundle_path</a:t>
            </a:r>
          </a:p>
          <a:p xmlns:a="http://schemas.openxmlformats.org/drawingml/2006/main">
            <a:r>
              <a:t>讀取外部 bundle</a:t>
            </a:r>
          </a:p>
          <a:p xmlns:a="http://schemas.openxmlformats.org/drawingml/2006/main">
            <a:r>
              <a:t>完整 schema 與 Java 檢查</a:t>
            </a:r>
          </a:p>
          <a:p xmlns:a="http://schemas.openxmlformats.org/drawingml/2006/main">
            <a:r>
              <a:t>凍結 exact bytes 與 hash</a:t>
            </a:r>
          </a:p>
          <a:p xmlns:a="http://schemas.openxmlformats.org/drawingml/2006/main">
            <a:r>
              <a:t>開始 genome 演化</a:t>
            </a:r>
          </a:p>
          <a:p xmlns:a="http://schemas.openxmlformats.org/drawingml/2006/main">
            <a:r>
              <a:t>Bootstrap 屬於搜尋啟動階段；EA 只改 control_genome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槽位類型 / 合法值 / 演化時保存的內容</a:t>
            </a:r>
          </a:p>
          <a:p xmlns:a="http://schemas.openxmlformats.org/drawingml/2006/main">
            <a:r>
              <a:t>integer / minimum 到 maximum 的 step 格點 / 一個合法整數</a:t>
            </a:r>
          </a:p>
          <a:p xmlns:a="http://schemas.openxmlformats.org/drawingml/2006/main">
            <a:r>
              <a:t>number / minimum 到 maximum 的有限格點 / 一個合法數值</a:t>
            </a:r>
          </a:p>
          <a:p xmlns:a="http://schemas.openxmlformats.org/drawingml/2006/main">
            <a:r>
              <a:t>expression_choice / bundle 事先宣告的 choices / choice_id；Java expression 保持凍結</a:t>
            </a:r>
          </a:p>
          <a:p xmlns:a="http://schemas.openxmlformats.org/drawingml/2006/main">
            <a:r>
              <a:t>完整 genome / 每個 slot_id 恰好一次 / 拒絕缺項、未知 key 與越界值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兩種政策共享相同凍結 bundle、hash、renderer、下游評估與倖存者規則。llm_coach 回應必須恰好包含 schema_version、framework_bundle_sha256 與完整 control_genome。突變失敗不隨機改寫、不部分套用；初始選擇失敗保留採樣 genome 並在初始化階段標記該候選失敗。兩種模式都不進行 Prompt Reflection、Code gate、Java Generation 或 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>eagle/operators/strategy.py:448-865</a:t>
            </a:r>
          </a:p>
          <a:p xmlns:a="http://schemas.openxmlformats.org/drawingml/2006/main">
            <a:r>
              <a:t>eagle/operators/framework_slots.py:1-200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階段 / local / llm_coach</a:t>
            </a:r>
          </a:p>
          <a:p xmlns:a="http://schemas.openxmlformats.org/drawingml/2006/main">
            <a:r>
              <a:t>初始族群 / seeded 有限域採樣 / LLM 每位選完整合法 genome</a:t>
            </a:r>
          </a:p>
          <a:p xmlns:a="http://schemas.openxmlformats.org/drawingml/2006/main">
            <a:r>
              <a:t>交配 / 逐槽獨立 uniform crossover / 同樣逐槽交配並記錄 donor</a:t>
            </a:r>
          </a:p>
          <a:p xmlns:a="http://schemas.openxmlformats.org/drawingml/2006/main">
            <a:r>
              <a:t>策略突變 / 至多一個槽位改成另一合法值 / 最差單場賽評＋Coach</a:t>
            </a:r>
          </a:p>
          <a:p xmlns:a="http://schemas.openxmlformats.org/drawingml/2006/main">
            <a:r>
              <a:t>回傳完整 genome</a:t>
            </a:r>
          </a:p>
          <a:p xmlns:a="http://schemas.openxmlformats.org/drawingml/2006/main">
            <a:r>
              <a:t>Java 與失敗 / 本地渲染，沒有 LLM 修復 / 本地渲染；非法 Coach 回應</a:t>
            </a:r>
          </a:p>
          <a:p xmlns:a="http://schemas.openxmlformats.org/drawingml/2006/main">
            <a:r>
              <a:t>保留原 genome 並標記失敗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模式在變異前還有每個來源獨立 Code gate，DSL 與 framework 略過此 gate。一般 generation 產生 population_size 個子代。AOS 僅在設定的 adaptive 模式下於子代評估後收 reward。self-play pool 於選擇之後更新，使用所有已評估子代而非只有倖存者。最後原子保存 generation，再更新 manifest。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eagle/evolution/generation.py:62-285</a:t>
            </a:r>
          </a:p>
          <a:p xmlns:a="http://schemas.openxmlformats.org/drawingml/2006/main">
            <a:r>
              <a:t>docs/eagle_architecture_spec.md:99-160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必要時刷新 self-play 情境</a:t>
            </a:r>
          </a:p>
          <a:p xmlns:a="http://schemas.openxmlformats.org/drawingml/2006/main">
            <a:r>
              <a:t>先重評父代</a:t>
            </a:r>
          </a:p>
          <a:p xmlns:a="http://schemas.openxmlformats.org/drawingml/2006/main">
            <a:r>
              <a:t>依評估模式選父代</a:t>
            </a:r>
          </a:p>
          <a:p xmlns:a="http://schemas.openxmlformats.org/drawingml/2006/main">
            <a:r>
              <a:t>依 Java 模式交配與突變</a:t>
            </a:r>
          </a:p>
          <a:p xmlns:a="http://schemas.openxmlformats.org/drawingml/2006/main">
            <a:r>
              <a:t>每個子代產生 Java 並評估</a:t>
            </a:r>
          </a:p>
          <a:p xmlns:a="http://schemas.openxmlformats.org/drawingml/2006/main">
            <a:r>
              <a:t>父代＋子代選下一代</a:t>
            </a:r>
          </a:p>
          <a:p xmlns:a="http://schemas.openxmlformats.org/drawingml/2006/main">
            <a:r>
              <a:t>更新 pool 與 checkpoint</a:t>
            </a:r>
          </a:p>
          <a:p xmlns:a="http://schemas.openxmlformats.org/drawingml/2006/main">
            <a:r>
              <a:t>人口為 10 的例子：10 位父代＋10 位子代，選出 10 位下一代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繁殖父代用來提供下一批子代的基因。這個抽樣既不是從 opponent pool 挑對手，也不是世代結束時的倖存者選擇。Self-play 的語意距離只在適應度容忍範圍內破同分，不能讓明顯低分候選因新穎而越級。第二父代缺少相容完整行為簽章時保留 seeded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eagle/operators/selection.py:23-68</a:t>
            </a:r>
          </a:p>
          <a:p xmlns:a="http://schemas.openxmlformats.org/drawingml/2006/main">
            <a:r>
              <a:t>eagle/evolution/offspring.py:101-123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 / 第一父代 / 第二父代與限制</a:t>
            </a:r>
          </a:p>
          <a:p xmlns:a="http://schemas.openxmlformats.org/drawingml/2006/main">
            <a:r>
              <a:t>Fixed roster / 隨機排列十個案例</a:t>
            </a:r>
          </a:p>
          <a:p xmlns:a="http://schemas.openxmlformats.org/drawingml/2006/main">
            <a:r>
              <a:t>依序留下當案最高分者 / 獨立 seeded lexicase 抽樣</a:t>
            </a:r>
          </a:p>
          <a:p xmlns:a="http://schemas.openxmlformats.org/drawingml/2006/main">
            <a:r>
              <a:t>可與第一父代相同</a:t>
            </a:r>
          </a:p>
          <a:p xmlns:a="http://schemas.openxmlformats.org/drawingml/2006/main">
            <a:r>
              <a:t>Self-play / 距最高 Game Performance</a:t>
            </a:r>
          </a:p>
          <a:p xmlns:a="http://schemas.openxmlformats.org/drawingml/2006/main">
            <a:r>
              <a:t>不超過 1.0 的頂層中選取 / 同分層內可優先選與第一父代</a:t>
            </a:r>
          </a:p>
          <a:p xmlns:a="http://schemas.openxmlformats.org/drawingml/2006/main">
            <a:r>
              <a:t>行為距離較遠者</a:t>
            </a:r>
          </a:p>
          <a:p xmlns:a="http://schemas.openxmlformats.org/drawingml/2006/main">
            <a:r>
              <a:t>共同規則 / 使用當前已評估族群 / root seed 衍生獨立 RNG</a:t>
            </a:r>
          </a:p>
          <a:p xmlns:a="http://schemas.openxmlformats.org/drawingml/2006/main">
            <a:r>
              <a:t>父代選擇不讀 code_quality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教學示例只顯示兩個案例，正式固定名單使用十個。若本次案例順序是 X、Y，第一輪保留 A 與 B，第二輪選 B。若順序是 Y、X，第一輪直接選 C。因此某個特定對手的專長可以影響被選機會，不等同於依總分排序。每次重新抽父代或不放回抽倖存者時都產生自己的 seeded 案例順序。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eagle/operators/selection.py:23-40</a:t>
            </a:r>
          </a:p>
          <a:p xmlns:a="http://schemas.openxmlformats.org/drawingml/2006/main">
            <a:r>
              <a:t>eagle/opponent_cases.py:1-60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教學示例，非實驗量測</a:t>
            </a:r>
          </a:p>
          <a:p xmlns:a="http://schemas.openxmlformats.org/drawingml/2006/main">
            <a:r>
              <a:t>順序 X、Y 選 B；順序 Y、X 選 C</a:t>
            </a:r>
          </a:p>
          <a:p xmlns:a="http://schemas.openxmlformats.org/drawingml/2006/main">
            <a:r>
              <a:t>候選策略 / 對手案例 X / 對手案例 Y</a:t>
            </a:r>
          </a:p>
          <a:p xmlns:a="http://schemas.openxmlformats.org/drawingml/2006/main">
            <a:r>
              <a:t>A / 90 / 20</a:t>
            </a:r>
          </a:p>
          <a:p xmlns:a="http://schemas.openxmlformats.org/drawingml/2006/main">
            <a:r>
              <a:t>B / 90 / 70</a:t>
            </a:r>
          </a:p>
          <a:p xmlns:a="http://schemas.openxmlformats.org/drawingml/2006/main">
            <a:r>
              <a:t>C / 80 / 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docs/eagle_architecture_spec.md:216-223</a:t>
            </a:r>
          </a:p>
          <a:p xmlns:a="http://schemas.openxmlformats.org/drawingml/2006/main">
            <a:r>
              <a:t>eagle/operators/crossover.py:1-170</a:t>
            </a:r>
          </a:p>
          <a:p xmlns:a="http://schemas.openxmlformats.org/drawingml/2006/main">
            <a:r>
              <a:t>eagle/operators/framework_slots.py:1-155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 / 交配單位 / 必須保留的來源</a:t>
            </a:r>
          </a:p>
          <a:p xmlns:a="http://schemas.openxmlformats.org/drawingml/2006/main">
            <a:r>
              <a:t>LLM phenotype / 策略與 generation prompt 各自選 A 或 B / strategy_parent_id</a:t>
            </a:r>
          </a:p>
          <a:p xmlns:a="http://schemas.openxmlformats.org/drawingml/2006/main">
            <a:r>
              <a:t>generation_prompt_parent_id</a:t>
            </a:r>
          </a:p>
          <a:p xmlns:a="http://schemas.openxmlformats.org/drawingml/2006/main">
            <a:r>
              <a:t>LLM inherited / 再獨立選完整 Java 成分 / 另保留 java_parent_id 與生成前 Java</a:t>
            </a:r>
          </a:p>
          <a:p xmlns:a="http://schemas.openxmlformats.org/drawingml/2006/main">
            <a:r>
              <a:t>Deterministic DSL / 整個 policy 的複製／交配 / 完整策略來源；不做 rule 級交配</a:t>
            </a:r>
          </a:p>
          <a:p xmlns:a="http://schemas.openxmlformats.org/drawingml/2006/main">
            <a:r>
              <a:t>Framework slots / 每個 slot 分別選 A 或 B / slot_parent_ids；Coach 另記 evidence parent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eagle/operators/code.py:29-180</a:t>
            </a:r>
          </a:p>
          <a:p xmlns:a="http://schemas.openxmlformats.org/drawingml/2006/main">
            <a:r>
              <a:t>eagle/evolution/offspring.py:125-280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每個被選中的來源</a:t>
            </a:r>
          </a:p>
          <a:p xmlns:a="http://schemas.openxmlformats.org/drawingml/2006/main">
            <a:r>
              <a:t>自己的 policy＋自己的 Java</a:t>
            </a:r>
          </a:p>
          <a:p xmlns:a="http://schemas.openxmlformats.org/drawingml/2006/main">
            <a:r>
              <a:t>獨立 Code 診斷</a:t>
            </a:r>
          </a:p>
          <a:p xmlns:a="http://schemas.openxmlformats.org/drawingml/2006/main">
            <a:r>
              <a:t>健康</a:t>
            </a:r>
          </a:p>
          <a:p xmlns:a="http://schemas.openxmlformats.org/drawingml/2006/main">
            <a:r>
              <a:t>正常交配與 Strategy／Prompt</a:t>
            </a:r>
          </a:p>
          <a:p xmlns:a="http://schemas.openxmlformats.org/drawingml/2006/main">
            <a:r>
              <a:t>缺陷</a:t>
            </a:r>
          </a:p>
          <a:p xmlns:a="http://schemas.openxmlformats.org/drawingml/2006/main">
            <a:r>
              <a:t>單一父代 corrective child</a:t>
            </a:r>
          </a:p>
          <a:p xmlns:a="http://schemas.openxmlformats.org/drawingml/2006/main">
            <a:r>
              <a:t>診斷失敗</a:t>
            </a:r>
          </a:p>
          <a:p xmlns:a="http://schemas.openxmlformats.org/drawingml/2006/main">
            <a:r>
              <a:t>失敗子代與證據</a:t>
            </a:r>
          </a:p>
          <a:p xmlns:a="http://schemas.openxmlformats.org/drawingml/2006/main">
            <a:r>
              <a:t>依診斷修正原 Java</a:t>
            </a:r>
          </a:p>
          <a:p xmlns:a="http://schemas.openxmlformats.org/drawingml/2006/main">
            <a:r>
              <a:t>保留兩個 prompt 基因</a:t>
            </a:r>
          </a:p>
          <a:p xmlns:a="http://schemas.openxmlformats.org/drawingml/2006/main">
            <a:r>
              <a:t>修正 Java 的輸出直接進入 materialization，不再被普通 Generator 覆寫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eagle/operators/strategy.py:202-447</a:t>
            </a:r>
          </a:p>
          <a:p xmlns:a="http://schemas.openxmlformats.org/drawingml/2006/main">
            <a:r>
              <a:t>eagle/operators/strategy.py:576-865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策略來源父代</a:t>
            </a:r>
          </a:p>
          <a:p xmlns:a="http://schemas.openxmlformats.org/drawingml/2006/main">
            <a:r>
              <a:t>或 framework evidence parent</a:t>
            </a:r>
          </a:p>
          <a:p xmlns:a="http://schemas.openxmlformats.org/drawingml/2006/main">
            <a:r>
              <a:t>該父代的一場</a:t>
            </a:r>
          </a:p>
          <a:p xmlns:a="http://schemas.openxmlformats.org/drawingml/2006/main">
            <a:r>
              <a:t>最差已完成對戰</a:t>
            </a:r>
          </a:p>
          <a:p xmlns:a="http://schemas.openxmlformats.org/drawingml/2006/main">
            <a:r>
              <a:t>Match Commentator</a:t>
            </a:r>
          </a:p>
          <a:p xmlns:a="http://schemas.openxmlformats.org/drawingml/2006/main">
            <a:r>
              <a:t>分析該場 trace</a:t>
            </a:r>
          </a:p>
          <a:p xmlns:a="http://schemas.openxmlformats.org/drawingml/2006/main">
            <a:r>
              <a:t>Coach：全場摘要</a:t>
            </a:r>
          </a:p>
          <a:p xmlns:a="http://schemas.openxmlformats.org/drawingml/2006/main">
            <a:r>
              <a:t>＋該一場診斷</a:t>
            </a:r>
          </a:p>
          <a:p xmlns:a="http://schemas.openxmlformats.org/drawingml/2006/main">
            <a:r>
              <a:t>驗證新 DSL</a:t>
            </a:r>
          </a:p>
          <a:p xmlns:a="http://schemas.openxmlformats.org/drawingml/2006/main">
            <a:r>
              <a:t>或完整 control_genome</a:t>
            </a:r>
          </a:p>
          <a:p xmlns:a="http://schemas.openxmlformats.org/drawingml/2006/main">
            <a:r>
              <a:t>離線產生 Java</a:t>
            </a:r>
          </a:p>
          <a:p xmlns:a="http://schemas.openxmlformats.org/drawingml/2006/main">
            <a:r>
              <a:t>再走正常評估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>eagle/operators/strategy.py:1638-1710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優先取最低有限 per-match performance；缺值時以敗 −100、和 0、勝 100 排序</a:t>
            </a:r>
          </a:p>
          <a:p xmlns:a="http://schemas.openxmlformats.org/drawingml/2006/main">
            <a:r>
              <a:t>平分用穩定 match_id 排序，排除失敗比賽；trace 不可用時不改選另一場</a:t>
            </a:r>
          </a:p>
          <a:p xmlns:a="http://schemas.openxmlformats.org/drawingml/2006/main">
            <a:r>
              <a:t>DSL Coach 以 JSONL 逐行輸出完整規則；保留合法規則的原順序</a:t>
            </a:r>
          </a:p>
          <a:p xmlns:a="http://schemas.openxmlformats.org/drawingml/2006/main">
            <a:r>
              <a:t>非法整行規則捨棄並記錄；至少一條合法規則才成功，不修補規則的子樹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docs/eagle_architecture_spec.md:277-309</a:t>
            </a:r>
          </a:p>
          <a:p xmlns:a="http://schemas.openxmlformats.org/drawingml/2006/main">
            <a:r>
              <a:t>eagle/operators/prompt.py:268-525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Policy＋可編輯 Java 區域</a:t>
            </a:r>
          </a:p>
          <a:p xmlns:a="http://schemas.openxmlformats.org/drawingml/2006/main">
            <a:r>
              <a:t>＋對應 compiler／validation</a:t>
            </a:r>
          </a:p>
          <a:p xmlns:a="http://schemas.openxmlformats.org/drawingml/2006/main">
            <a:r>
              <a:t>Prompt Reviewer</a:t>
            </a:r>
          </a:p>
          <a:p xmlns:a="http://schemas.openxmlformats.org/drawingml/2006/main">
            <a:r>
              <a:t>分析翻譯實作問題</a:t>
            </a:r>
          </a:p>
          <a:p xmlns:a="http://schemas.openxmlformats.org/drawingml/2006/main">
            <a:r>
              <a:t>Prompt Rewriter</a:t>
            </a:r>
          </a:p>
          <a:p xmlns:a="http://schemas.openxmlformats.org/drawingml/2006/main">
            <a:r>
              <a:t>產生 reusable-rule delta</a:t>
            </a:r>
          </a:p>
          <a:p xmlns:a="http://schemas.openxmlformats.org/drawingml/2006/main">
            <a:r>
              <a:t>僅更新 generation_prompt</a:t>
            </a:r>
          </a:p>
          <a:p xmlns:a="http://schemas.openxmlformats.org/drawingml/2006/main">
            <a:r>
              <a:t>普通 Java Generator</a:t>
            </a:r>
          </a:p>
          <a:p xmlns:a="http://schemas.openxmlformats.org/drawingml/2006/main">
            <a:r>
              <a:t>驗證與對戰評估</a:t>
            </a:r>
          </a:p>
          <a:p xmlns:a="http://schemas.openxmlformats.org/drawingml/2006/main">
            <a:r>
              <a:t>Strategy Reflection 改「策略」；Prompt Reflection 改「如何把策略翻成 Java」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docs/eagle_architecture_spec.md:313-405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eagle/evaluation/decoding.py:1-130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路徑 / 輸入與處理 / 成功輸出與失敗政策</a:t>
            </a:r>
          </a:p>
          <a:p xmlns:a="http://schemas.openxmlformats.org/drawingml/2006/main">
            <a:r>
              <a:t>LLM / 策略＋generation prompt</a:t>
            </a:r>
          </a:p>
          <a:p xmlns:a="http://schemas.openxmlformats.org/drawingml/2006/main">
            <a:r>
              <a:t>＋選配 inherited Java / 完整 Java；允許有界 validation／compile 修復</a:t>
            </a:r>
          </a:p>
          <a:p xmlns:a="http://schemas.openxmlformats.org/drawingml/2006/main">
            <a:r>
              <a:t>Deterministic DSL / Canonical DSL 經 typed IR 編譯 / 完整 Java；編譯器或 javac 失敗即終止</a:t>
            </a:r>
          </a:p>
          <a:p xmlns:a="http://schemas.openxmlformats.org/drawingml/2006/main">
            <a:r>
              <a:t>Framework slots / 凍結 template＋完整 control_genome / 完整 Java；渲染失敗即終止</a:t>
            </a:r>
          </a:p>
          <a:p xmlns:a="http://schemas.openxmlformats.org/drawingml/2006/main">
            <a:r>
              <a:t>共同下游 / Validation、javac、Integration</a:t>
            </a:r>
          </a:p>
          <a:p xmlns:a="http://schemas.openxmlformats.org/drawingml/2006/main">
            <a:r>
              <a:t>MicroRTS；語意 probe 可選配 / Self-play 必須啟用 probe</a:t>
            </a:r>
          </a:p>
          <a:p xmlns:a="http://schemas.openxmlformats.org/drawingml/2006/main">
            <a:r>
              <a:t>成功的 source／classes 才可對戰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docs/eagle_architecture_spec.md:350-405</a:t>
            </a:r>
          </a:p>
          <a:p xmlns:a="http://schemas.openxmlformats.org/drawingml/2006/main">
            <a:r>
              <a:t>eagle/evaluation/decoding.py:1-160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權威基因與固定 scaffold</a:t>
            </a:r>
          </a:p>
          <a:p xmlns:a="http://schemas.openxmlformats.org/drawingml/2006/main">
            <a:r>
              <a:t>完整 Java 回應與抽取</a:t>
            </a:r>
          </a:p>
          <a:p xmlns:a="http://schemas.openxmlformats.org/drawingml/2006/main">
            <a:r>
              <a:t>外框檢查、normalize</a:t>
            </a:r>
          </a:p>
          <a:p xmlns:a="http://schemas.openxmlformats.org/drawingml/2006/main">
            <a:r>
              <a:t>Validation＋javac</a:t>
            </a:r>
          </a:p>
          <a:p xmlns:a="http://schemas.openxmlformats.org/drawingml/2006/main">
            <a:r>
              <a:t>前次完整 Java＋該次診斷</a:t>
            </a:r>
          </a:p>
          <a:p xmlns:a="http://schemas.openxmlformats.org/drawingml/2006/main">
            <a:r>
              <a:t>保持策略與基因不變</a:t>
            </a:r>
          </a:p>
          <a:p xmlns:a="http://schemas.openxmlformats.org/drawingml/2006/main">
            <a:r>
              <a:t>耗盡 attempts</a:t>
            </a:r>
          </a:p>
          <a:p xmlns:a="http://schemas.openxmlformats.org/drawingml/2006/main">
            <a:r>
              <a:t>標記最後失敗階段</a:t>
            </a:r>
          </a:p>
          <a:p xmlns:a="http://schemas.openxmlformats.org/drawingml/2006/main">
            <a:r>
              <a:t>第一份成功的 source／classes</a:t>
            </a:r>
          </a:p>
          <a:p xmlns:a="http://schemas.openxmlformats.org/drawingml/2006/main">
            <a:r>
              <a:t>提升為唯一 canonical 表型</a:t>
            </a:r>
          </a:p>
          <a:p xmlns:a="http://schemas.openxmlformats.org/drawingml/2006/main">
            <a:r>
              <a:t>圖中的重試僅適用 llm；Integration／runtime 失敗不觸發 compile repair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docs/eagle_architecture_spec.md:378-424</a:t>
            </a:r>
          </a:p>
          <a:p xmlns:a="http://schemas.openxmlformats.org/drawingml/2006/main">
            <a:r>
              <a:t>eagle/generation/java_agent_generator.py:256-329</a:t>
            </a:r>
          </a:p>
          <a:p xmlns:a="http://schemas.openxmlformats.org/drawingml/2006/main">
            <a:r>
              <a:t>eagle/evaluation/microrts_runner.py:1-140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Validation：package、CandidateAgent 外框、固定 scaffold、策略 marker 與 API 安全限制</a:t>
            </a:r>
          </a:p>
          <a:p xmlns:a="http://schemas.openxmlformats.org/drawingml/2006/main">
            <a:r>
              <a:t>javac：每個 attempt 最多編譯一次，成功 class tree 直接提升，不重複編譯</a:t>
            </a:r>
          </a:p>
          <a:p xmlns:a="http://schemas.openxmlformats.org/drawingml/2006/main">
            <a:r>
              <a:t>Integration：載入、繼承、建構子、reset、clone、getAction、有效 PlayerAction</a:t>
            </a:r>
          </a:p>
          <a:p xmlns:a="http://schemas.openxmlformats.org/drawingml/2006/main">
            <a:r>
              <a:t>getAction 在真實 8×8 地圖、雙方位置、獨立狀態驗證動作與一個 cycle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只有通過 materialization、validation、compilation 與 Integration 的候選才能進入對戰。每場有獨立衍生 seed、地圖、回合、位置與 timeout。每個對手欄位 18 場，矩陣依 canonical order 聚合。每張地圖 tick cap 會沿用到普通評估、AOS head-to-head 與 final test。候選的矩陣必須完整才有有效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docs/eagle_architecture_spec.md:425-459</a:t>
            </a:r>
          </a:p>
          <a:p xmlns:a="http://schemas.openxmlformats.org/drawingml/2006/main">
            <a:r>
              <a:t>eagle/evaluation/match_matrix.py:1-180</a:t>
            </a:r>
          </a:p>
          <a:p xmlns:a="http://schemas.openxmlformats.org/drawingml/2006/main">
            <a:r>
              <a:t>eagle/evaluation/matches.py:1-125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維度 / 數量 / 意義</a:t>
            </a:r>
          </a:p>
          <a:p xmlns:a="http://schemas.openxmlformats.org/drawingml/2006/main">
            <a:r>
              <a:t>對手欄位 / 10 / 固定名單或凍結 self-play 名單</a:t>
            </a:r>
          </a:p>
          <a:p xmlns:a="http://schemas.openxmlformats.org/drawingml/2006/main">
            <a:r>
              <a:t>地圖 / 3 / 可設定每張 tick_limit</a:t>
            </a:r>
          </a:p>
          <a:p xmlns:a="http://schemas.openxmlformats.org/drawingml/2006/main">
            <a:r>
              <a:t>回合與位置 / 3 × 2 / 不同 round_index，候選分別在 p0／p1</a:t>
            </a:r>
          </a:p>
          <a:p xmlns:a="http://schemas.openxmlformats.org/drawingml/2006/main">
            <a:r>
              <a:t>每個候選總場數 / 10 × 3 × 3 × 2 = 180 / 同一份 Java 與 classes 跑完整矩陣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固定名單的三個弱基準各權重 0.5，三個 Rush 各 1，四個保護級對手各 2，總分母 12.5。這個報表加權平均不替代 lexicase 的十個分量。self-play 各欄位等權平均，語意只在同分範圍內輔助選擇。任一 required stage 失敗或矩陣未完成，fitness 使用 −1000 sentinel，部分對戰仍保留。AllInBot 被 adapter containment 的上游故障以中性零分和局記錄並另列 opponent 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docs/evaluation/game_performance.md:1-57</a:t>
            </a:r>
          </a:p>
          <a:p xmlns:a="http://schemas.openxmlformats.org/drawingml/2006/main">
            <a:r>
              <a:t>eagle/evaluation/game_performance.py:207-219</a:t>
            </a:r>
          </a:p>
          <a:p xmlns:a="http://schemas.openxmlformats.org/drawingml/2006/main">
            <a:r>
              <a:t>eagle/opponent_cases.py:22-70</a:t>
            </a:r>
          </a:p>
          <a:p xmlns:a="http://schemas.openxmlformats.org/drawingml/2006/main">
            <a:r>
              <a:t>docs/eagle_architecture_spec.md:451-459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單場分數＝結果分數＋bounded shaping；勝 +100、和 0、敗 −100</a:t>
            </a:r>
          </a:p>
          <a:p xmlns:a="http://schemas.openxmlformats.org/drawingml/2006/main">
            <a:r>
              <a:t>Shaping 合併物資、終局資源與存活時間，總範圍限制在 [−10, +10]</a:t>
            </a:r>
          </a:p>
          <a:p xmlns:a="http://schemas.openxmlformats.org/drawingml/2006/main">
            <a:r>
              <a:t>Fixed roster：十個對手分數各為一個案例；0.5／1／2 加權均分只用於報表</a:t>
            </a:r>
          </a:p>
          <a:p xmlns:a="http://schemas.openxmlformats.org/drawingml/2006/main">
            <a:r>
              <a:t>Self-play：十個欄位等權平均，game_performance 是唯一演化目標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對手名單由 SEARCH_OPPONENT_REGISTRY 定義，普通 fixed_roster 評估沒有從歷代策略抽換對手。進階基準權重只影響 Game Performance 報表代表，不讓它在 lexicase 過濾時自動重複或加權。Self-play 起始同樣使用這十個內建來源，但後續採另一個 pool 維護與快照抽樣機制。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docs/eagle_architecture_spec.md:433-459</a:t>
            </a:r>
          </a:p>
          <a:p xmlns:a="http://schemas.openxmlformats.org/drawingml/2006/main">
            <a:r>
              <a:t>eagle/opponents.py:1-145</a:t>
            </a:r>
          </a:p>
          <a:p xmlns:a="http://schemas.openxmlformats.org/drawingml/2006/main">
            <a:r>
              <a:t>eagle/opponent_cases.py:22-70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對手群 / 完整名單 / 報表權重</a:t>
            </a:r>
          </a:p>
          <a:p xmlns:a="http://schemas.openxmlformats.org/drawingml/2006/main">
            <a:r>
              <a:t>基礎基準 / PassiveAI、RandomAI、RandomBiasedAI / 每個 0.5</a:t>
            </a:r>
          </a:p>
          <a:p xmlns:a="http://schemas.openxmlformats.org/drawingml/2006/main">
            <a:r>
              <a:t>Rush 基準 / LightRush、HeavyRush、WorkerRush / 每個 1</a:t>
            </a:r>
          </a:p>
          <a:p xmlns:a="http://schemas.openxmlformats.org/drawingml/2006/main">
            <a:r>
              <a:t>進階基準 / AllInBot、Mayari、COAC、TMA / 每個 2</a:t>
            </a:r>
          </a:p>
          <a:p xmlns:a="http://schemas.openxmlformats.org/drawingml/2006/main">
            <a:r>
              <a:t>演化用目標 / 每個對手的 18 場平均各成一個案例 / 十案例 lexicase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docs/eagle_architecture_spec.md:461-481</a:t>
            </a:r>
          </a:p>
          <a:p xmlns:a="http://schemas.openxmlformats.org/drawingml/2006/main">
            <a:r>
              <a:t>eagle/opponent_pool.py:22-35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成員區域 / 起始內容 / 後續規則</a:t>
            </a:r>
          </a:p>
          <a:p xmlns:a="http://schemas.openxmlformats.org/drawingml/2006/main">
            <a:r>
              <a:t>永久保護 4 個 / AllInBot、Mayari、COAC、TMA / 不參加 pool 挑戰賽、不被替換</a:t>
            </a:r>
          </a:p>
          <a:p xmlns:a="http://schemas.openxmlformats.org/drawingml/2006/main">
            <a:r>
              <a:t>可替換基準 6 個 / Passive、Random、RandomBiased</a:t>
            </a:r>
          </a:p>
          <a:p xmlns:a="http://schemas.openxmlformats.org/drawingml/2006/main">
            <a:r>
              <a:t>LightRush、HeavyRush</a:t>
            </a:r>
          </a:p>
          <a:p xmlns:a="http://schemas.openxmlformats.org/drawingml/2006/main">
            <a:r>
              <a:t>WorkerRush / 可作為守擂者被挑戰</a:t>
            </a:r>
          </a:p>
          <a:p xmlns:a="http://schemas.openxmlformats.org/drawingml/2006/main">
            <a:r>
              <a:t>歷代入池策略 / 初始時尚無生成候選成員 / 跨代累積；滿額後挑戰替換</a:t>
            </a:r>
          </a:p>
          <a:p xmlns:a="http://schemas.openxmlformats.org/drawingml/2006/main">
            <a:r>
              <a:t>容量 / 預設總容量 50，最少 10 / 包含 4 個保護成員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第 0 代初始族群</a:t>
            </a:r>
          </a:p>
          <a:p xmlns:a="http://schemas.openxmlformats.org/drawingml/2006/main">
            <a:r>
              <a:t>＋後續每代已評估子代</a:t>
            </a:r>
          </a:p>
          <a:p xmlns:a="http://schemas.openxmlformats.org/drawingml/2006/main">
            <a:r>
              <a:t>可執行、完整評估、去重</a:t>
            </a:r>
          </a:p>
          <a:p xmlns:a="http://schemas.openxmlformats.org/drawingml/2006/main">
            <a:r>
              <a:t>ID／source／語意表型</a:t>
            </a:r>
          </a:p>
          <a:p xmlns:a="http://schemas.openxmlformats.org/drawingml/2006/main">
            <a:r>
              <a:t>未滿：直接加入 pool</a:t>
            </a:r>
          </a:p>
          <a:p xmlns:a="http://schemas.openxmlformats.org/drawingml/2006/main">
            <a:r>
              <a:t>已滿：seeded 抽 1 個</a:t>
            </a:r>
          </a:p>
          <a:p xmlns:a="http://schemas.openxmlformats.org/drawingml/2006/main">
            <a:r>
              <a:t>非保護守擂者</a:t>
            </a:r>
          </a:p>
          <a:p xmlns:a="http://schemas.openxmlformats.org/drawingml/2006/main">
            <a:r>
              <a:t>18 場挑戰賽</a:t>
            </a:r>
          </a:p>
          <a:p xmlns:a="http://schemas.openxmlformats.org/drawingml/2006/main">
            <a:r>
              <a:t>3 地圖 × 3 回合 × 2 邊</a:t>
            </a:r>
          </a:p>
          <a:p xmlns:a="http://schemas.openxmlformats.org/drawingml/2006/main">
            <a:r>
              <a:t>完整、無錯誤且勝場 &gt; 敗場</a:t>
            </a:r>
          </a:p>
          <a:p xmlns:a="http://schemas.openxmlformats.org/drawingml/2006/main">
            <a:r>
              <a:t>才替換守擂者</a:t>
            </a:r>
          </a:p>
          <a:p xmlns:a="http://schemas.openxmlformats.org/drawingml/2006/main">
            <a:r>
              <a:t>入池資格不要求先成為倖存者；pool 的成功入池成員可留到後續世代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docs/eagle_architecture_spec.md:482-511</a:t>
            </a:r>
          </a:p>
          <a:p xmlns:a="http://schemas.openxmlformats.org/drawingml/2006/main">
            <a:r>
              <a:t>eagle/opponent_pool.py:136-159</a:t>
            </a:r>
          </a:p>
          <a:p xmlns:a="http://schemas.openxmlformats.org/drawingml/2006/main">
            <a:r>
              <a:t>eagle/self_play.py:24-79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使用期間 / 固定成分 / 六個變動欄位</a:t>
            </a:r>
          </a:p>
          <a:p xmlns:a="http://schemas.openxmlformats.org/drawingml/2006/main">
            <a:r>
              <a:t>第 0 代 / 保護 4 個 / 其餘 6 個內建基準</a:t>
            </a:r>
          </a:p>
          <a:p xmlns:a="http://schemas.openxmlformats.org/drawingml/2006/main">
            <a:r>
              <a:t>第 1–5 代 / 同樣保護 4 個 / 第 1 代從非保護 pool seeded 抽 6 個</a:t>
            </a:r>
          </a:p>
          <a:p xmlns:a="http://schemas.openxmlformats.org/drawingml/2006/main">
            <a:r>
              <a:t>第 6–10 代 / 同樣保護 4 個 / 第 6 代刷新後維持不變</a:t>
            </a:r>
          </a:p>
          <a:p xmlns:a="http://schemas.openxmlformats.org/drawingml/2006/main">
            <a:r>
              <a:t>之後每 5 代 / 依設定 refresh_interval / 第 11、16…代再取新快照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平常 reuse_cached 保留父代 Java 與分數，但 self-play 評估對手變更是必要例外。刷新時 Java 表型不重生，透過新 ID 複本保存重評結果，避免覆寫舊情境的證據。父代分數是繁殖選擇的輸入，所以刷新評估必須先完成。新舊 context 的分數不能直接混入同一選擇池；context 與 runtime/map 身分也用於快取與 resume 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eagle/evolution/generation.py:94-170</a:t>
            </a:r>
          </a:p>
          <a:p xmlns:a="http://schemas.openxmlformats.org/drawingml/2006/main">
            <a:r>
              <a:t>docs/eagle_architecture_spec.md:493-511</a:t>
            </a:r>
          </a:p>
          <a:p xmlns:a="http://schemas.openxmlformats.org/drawingml/2006/main">
            <a:r>
              <a:t>eagle/evolution/parent_refresh.py:1-160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到達 self-play 刷新邊界</a:t>
            </a:r>
          </a:p>
          <a:p xmlns:a="http://schemas.openxmlformats.org/drawingml/2006/main">
            <a:r>
              <a:t>凍結 4＋6 名單</a:t>
            </a:r>
          </a:p>
          <a:p xmlns:a="http://schemas.openxmlformats.org/drawingml/2006/main">
            <a:r>
              <a:t>保存 context hash</a:t>
            </a:r>
          </a:p>
          <a:p xmlns:a="http://schemas.openxmlformats.org/drawingml/2006/main">
            <a:r>
              <a:t>父代保留 phenotype</a:t>
            </a:r>
          </a:p>
          <a:p xmlns:a="http://schemas.openxmlformats.org/drawingml/2006/main">
            <a:r>
              <a:t>建立新 ID 複本</a:t>
            </a:r>
          </a:p>
          <a:p xmlns:a="http://schemas.openxmlformats.org/drawingml/2006/main">
            <a:r>
              <a:t>以新情境重跑父代評估</a:t>
            </a:r>
          </a:p>
          <a:p xmlns:a="http://schemas.openxmlformats.org/drawingml/2006/main">
            <a:r>
              <a:t>再選繁殖父代與產生子代</a:t>
            </a:r>
          </a:p>
          <a:p xmlns:a="http://schemas.openxmlformats.org/drawingml/2006/main">
            <a:r>
              <a:t>同一 context 下選下一代</a:t>
            </a:r>
          </a:p>
          <a:p xmlns:a="http://schemas.openxmlformats.org/drawingml/2006/main">
            <a:r>
              <a:t>不能把不同對手名單下的 search fitness 直接當作跨世代改進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第三列的 self-play refresh 是正常協定的一部分。第四列是明確的非正式診斷處理，將同一基因重新 materialize，因此同時量到 Java 再生成與對戰重新抽樣的總效應，不能視為只改變一個 selection 選項。舊父代 artifacts 不被覆寫，sidecar 保存來源與新複本 hash、評估和是否倖存。Deterministic DSL 與 framework_slots 不允許這個診斷模式。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docs/eagle_architecture_spec.md:124-140</a:t>
            </a:r>
          </a:p>
          <a:p xmlns:a="http://schemas.openxmlformats.org/drawingml/2006/main">
            <a:r>
              <a:t>eagle/evolution/parent_refresh.py:1-160</a:t>
            </a:r>
          </a:p>
          <a:p xmlns:a="http://schemas.openxmlformats.org/drawingml/2006/main">
            <a:r>
              <a:t>docs/architecture/evolutionary_flow.md:75-91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情境 / Java 是否重生 / 選擇使用的候選</a:t>
            </a:r>
          </a:p>
          <a:p xmlns:a="http://schemas.openxmlformats.org/drawingml/2006/main">
            <a:r>
              <a:t>reuse_cached，正式預設 / 保留既有 Java 與 classes / 一般世代沿用既有父代評估</a:t>
            </a:r>
          </a:p>
          <a:p xmlns:a="http://schemas.openxmlformats.org/drawingml/2006/main">
            <a:r>
              <a:t>Self-play 對手快照刷新 / 保留 phenotype，新 ID 重評 / 同一新 context 的父代複本＋子代</a:t>
            </a:r>
          </a:p>
          <a:p xmlns:a="http://schemas.openxmlformats.org/drawingml/2006/main">
            <a:r>
              <a:t>regenerate_same_genotype / 基因不變，但重新 Generator 與評估 / 僅限 inherited Java＋static</a:t>
            </a:r>
          </a:p>
          <a:p xmlns:a="http://schemas.openxmlformats.org/drawingml/2006/main">
            <a:r>
              <a:t>用新父代複本＋子代，排除舊 ID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語意距離來自實際 Java 在固定 map×phase states 的動作，不是 LLM 的文字評分，也不是 code_quality。Dataset、probe 順序與 action hash 必須相容才比較。只在 inclusive 1.0 score tier 內破同分，不形成額外演化目標。精確相同行為可協助 pool 去重與離線等價類分析。探針開關與相關限制依設定驗證。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docs/eagle_architecture_spec.md:523-551</a:t>
            </a:r>
          </a:p>
          <a:p xmlns:a="http://schemas.openxmlformats.org/drawingml/2006/main">
            <a:r>
              <a:t>eagle/operators/selection.py:42-68</a:t>
            </a:r>
          </a:p>
          <a:p xmlns:a="http://schemas.openxmlformats.org/drawingml/2006/main">
            <a:r>
              <a:t>eagle/operators/selection.py:174-215</a:t>
            </a:r>
          </a:p>
          <a:p xmlns:a="http://schemas.openxmlformats.org/drawingml/2006/main">
            <a:r>
              <a:t>docs/architecture/overview.md:173-188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 / 實際取得的內容 / 用途</a:t>
            </a:r>
          </a:p>
          <a:p xmlns:a="http://schemas.openxmlformats.org/drawingml/2006/main">
            <a:r>
              <a:t>Probe dataset / 3 地圖 × 3 階段，共 9 個固定狀態 / 讓同一 agent 回答一組可重現狀態</a:t>
            </a:r>
          </a:p>
          <a:p xmlns:a="http://schemas.openxmlformats.org/drawingml/2006/main">
            <a:r>
              <a:t>Action signature / 各 probe 的完整動作與 hash</a:t>
            </a:r>
          </a:p>
          <a:p xmlns:a="http://schemas.openxmlformats.org/drawingml/2006/main">
            <a:r>
              <a:t>再保存 global hash / 精確辨識行為是否相同</a:t>
            </a:r>
          </a:p>
          <a:p xmlns:a="http://schemas.openxmlformats.org/drawingml/2006/main">
            <a:r>
              <a:t>Parent tie / 同一 Game Performance 頂層 / 第二父代可最大化與第一父代距離</a:t>
            </a:r>
          </a:p>
          <a:p xmlns:a="http://schemas.openxmlformats.org/drawingml/2006/main">
            <a:r>
              <a:t>Survivor tie / 只在分數層的邊界需要淘汰時 / seeded max-min 距離選子集合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一般情況下父代與子代各 N，從 2N 中選 N，是 mu_plus_lambda。若所有子代失敗但仍有 N 位完成評估的父代，父代可以完整留下。Self-play 每層用剩餘者當前最高分作錨點，差距不超過 1.0 的人屬同一層；不以相鄰分數一路串接。例：100、99.2、98.4 只把前兩者歸在第一層。這個例子只解釋分層規則，不是實驗結果。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eagle/operators/selection.py:70-145</a:t>
            </a:r>
          </a:p>
          <a:p xmlns:a="http://schemas.openxmlformats.org/drawingml/2006/main">
            <a:r>
              <a:t>eagle/operators/selection.py:174-225</a:t>
            </a:r>
          </a:p>
          <a:p xmlns:a="http://schemas.openxmlformats.org/drawingml/2006/main">
            <a:r>
              <a:t>docs/eagle_architecture_spec.md:119-130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步驟 / Fixed roster / Self-play</a:t>
            </a:r>
          </a:p>
          <a:p xmlns:a="http://schemas.openxmlformats.org/drawingml/2006/main">
            <a:r>
              <a:t>候選集合 / 父代與子代聯集，依 ID 去重 / 同一 context 的父代與子代聯集</a:t>
            </a:r>
          </a:p>
          <a:p xmlns:a="http://schemas.openxmlformats.org/drawingml/2006/main">
            <a:r>
              <a:t>有效資格 / 只用完整評估的候選填人口 / 相同；失敗者保留診斷</a:t>
            </a:r>
          </a:p>
          <a:p xmlns:a="http://schemas.openxmlformats.org/drawingml/2006/main">
            <a:r>
              <a:t>選擇方式 / 重複 lexicase，選出者移除 / 由高到低建立非串連的分數層</a:t>
            </a:r>
          </a:p>
          <a:p xmlns:a="http://schemas.openxmlformats.org/drawingml/2006/main">
            <a:r>
              <a:t>邊界與不足 / 選滿 population_size、不放回</a:t>
            </a:r>
          </a:p>
          <a:p xmlns:a="http://schemas.openxmlformats.org/drawingml/2006/main">
            <a:r>
              <a:t>完成者不足就明確失敗 / 切分同分層才用語意 max-min</a:t>
            </a:r>
          </a:p>
          <a:p xmlns:a="http://schemas.openxmlformats.org/drawingml/2006/main">
            <a:r>
              <a:t>年齡不破同分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AOS 比較父代依 mutation context 的實際成分來源決定：Strategy 用 strategy_parent_id；預設 Prompt 用 generation_prompt_parent_id；inherited Prompt 用 java_parent_id。它不是直接父代列表的固定第一位。Opponent reward 是 execution-first：修復可執行性、破壞可執行性與雙方失敗各有對應分支，雙方成功才比較 rank。Head-to-head 只在 child 與比較父代都可執行時加 18 場；其分數不加入搜尋 fitness 或 final test，不能執行時走對應 reward。兩種 adaptive 模式都只改未來操作機率，不改 fitness 契約。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docs/eagle_architecture_spec.md:224-247</a:t>
            </a:r>
          </a:p>
          <a:p xmlns:a="http://schemas.openxmlformats.org/drawingml/2006/main">
            <a:r>
              <a:t>eagle/operators/adaptive.py:410-442</a:t>
            </a:r>
          </a:p>
          <a:p xmlns:a="http://schemas.openxmlformats.org/drawingml/2006/main">
            <a:r>
              <a:t>eagle/operators/adaptive.py:730-833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 / Reward 來源 / 額外工作與限制</a:t>
            </a:r>
          </a:p>
          <a:p xmlns:a="http://schemas.openxmlformats.org/drawingml/2006/main">
            <a:r>
              <a:t>static / 固定 Strategy／Prompt 機率 / 不計 reward；framework 與 self-play 使用此模式</a:t>
            </a:r>
          </a:p>
          <a:p xmlns:a="http://schemas.openxmlformats.org/drawingml/2006/main">
            <a:r>
              <a:t>aos_opponent / 雙方可執行時比較十對手 rank</a:t>
            </a:r>
          </a:p>
          <a:p xmlns:a="http://schemas.openxmlformats.org/drawingml/2006/main">
            <a:r>
              <a:t>否則先按執行狀態給 reward / 不加對戰；只適用固定名單</a:t>
            </a:r>
          </a:p>
          <a:p xmlns:a="http://schemas.openxmlformats.org/drawingml/2006/main">
            <a:r>
              <a:t>aos_head2head / mutation evidence parent 對 offspring / 雙方可執行才加 18 場</a:t>
            </a:r>
          </a:p>
          <a:p xmlns:a="http://schemas.openxmlformats.org/drawingml/2006/main">
            <a:r>
              <a:t>失敗時跳過，改用執行狀態 reward</a:t>
            </a:r>
          </a:p>
          <a:p xmlns:a="http://schemas.openxmlformats.org/drawingml/2006/main">
            <a:r>
              <a:t>共用 updater / EMA α = 0.20</a:t>
            </a:r>
          </a:p>
          <a:p xmlns:a="http://schemas.openxmlformats.org/drawingml/2006/main">
            <a:r>
              <a:t>probability matching＋最低機率 / 更新操作選擇；Code gate 不計 AOS credit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docs/eagle_architecture_spec.md:350-424</a:t>
            </a:r>
          </a:p>
          <a:p xmlns:a="http://schemas.openxmlformats.org/drawingml/2006/main">
            <a:r>
              <a:t>docs/evaluation/game_performance.md:33-40</a:t>
            </a:r>
          </a:p>
          <a:p xmlns:a="http://schemas.openxmlformats.org/drawingml/2006/main">
            <a:r>
              <a:t>eagle/operators/selection.py:99-123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發生位置 / 允許的處理 / 留下的結果</a:t>
            </a:r>
          </a:p>
          <a:p xmlns:a="http://schemas.openxmlformats.org/drawingml/2006/main">
            <a:r>
              <a:t>Bootstrap／LLM 回應 / 各自 attempts 內重試，原始回應先保存 / 失敗 manifest 或候選失敗與診斷</a:t>
            </a:r>
          </a:p>
          <a:p xmlns:a="http://schemas.openxmlformats.org/drawingml/2006/main">
            <a:r>
              <a:t>LLM validation／compile / 在 generation_max_attempts 內修復 / 最後 attempt 決定失敗階段</a:t>
            </a:r>
          </a:p>
          <a:p xmlns:a="http://schemas.openxmlformats.org/drawingml/2006/main">
            <a:r>
              <a:t>DSL／Framework 或 Integration / 終止該候選，不回到 LLM 修 Java / 保留既有基因與失敗證據</a:t>
            </a:r>
          </a:p>
          <a:p xmlns:a="http://schemas.openxmlformats.org/drawingml/2006/main">
            <a:r>
              <a:t>Runtime／矩陣／選擇 / 未完成矩陣無有效 fitness</a:t>
            </a:r>
          </a:p>
          <a:p xmlns:a="http://schemas.openxmlformats.org/drawingml/2006/main">
            <a:r>
              <a:t>不足有效人口則終止 run / −1000 sentinel、部分對戰、可恢復 checkpoint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eagle/run_artifacts.py:160-197</a:t>
            </a:r>
          </a:p>
          <a:p xmlns:a="http://schemas.openxmlformats.org/drawingml/2006/main">
            <a:r>
              <a:t>eagle/run_artifacts.py:363-375</a:t>
            </a:r>
          </a:p>
          <a:p xmlns:a="http://schemas.openxmlformats.org/drawingml/2006/main">
            <a:r>
              <a:t>docs/artifacts/artifact_schema.md:37-92</a:t>
            </a:r>
          </a:p>
          <a:p xmlns:a="http://schemas.openxmlformats.org/drawingml/2006/main">
            <a:r>
              <a:t>docs/eagle_architecture_spec.md:567-629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 / 主要內容 / 支持的追查</a:t>
            </a:r>
          </a:p>
          <a:p xmlns:a="http://schemas.openxmlformats.org/drawingml/2006/main">
            <a:r>
              <a:t>config.yaml</a:t>
            </a:r>
          </a:p>
          <a:p xmlns:a="http://schemas.openxmlformats.org/drawingml/2006/main">
            <a:r>
              <a:t>manifest.json / resolved config、狀態</a:t>
            </a:r>
          </a:p>
          <a:p xmlns:a="http://schemas.openxmlformats.org/drawingml/2006/main">
            <a:r>
              <a:t>與 latest_generation / 知道實際設定與完成邊界</a:t>
            </a:r>
          </a:p>
          <a:p xmlns:a="http://schemas.openxmlformats.org/drawingml/2006/main">
            <a:r>
              <a:t>generations/</a:t>
            </a:r>
          </a:p>
          <a:p xmlns:a="http://schemas.openxmlformats.org/drawingml/2006/main">
            <a:r>
              <a:t>candidates/ / 族群快照、基因、譜系</a:t>
            </a:r>
          </a:p>
          <a:p xmlns:a="http://schemas.openxmlformats.org/drawingml/2006/main">
            <a:r>
              <a:t>LLM 與評估證據 / 重建每個成分如何產生與被選</a:t>
            </a:r>
          </a:p>
          <a:p xmlns:a="http://schemas.openxmlformats.org/drawingml/2006/main">
            <a:r>
              <a:t>framework/</a:t>
            </a:r>
          </a:p>
          <a:p xmlns:a="http://schemas.openxmlformats.org/drawingml/2006/main">
            <a:r>
              <a:t>archives/ / 凍結 bundle、pool、context</a:t>
            </a:r>
          </a:p>
          <a:p xmlns:a="http://schemas.openxmlformats.org/drawingml/2006/main">
            <a:r>
              <a:t>與未提交工作的封存 / 恢復架構與對手情境</a:t>
            </a:r>
          </a:p>
          <a:p xmlns:a="http://schemas.openxmlformats.org/drawingml/2006/main">
            <a:r>
              <a:t>timing.jsonl</a:t>
            </a:r>
          </a:p>
          <a:p xmlns:a="http://schemas.openxmlformats.org/drawingml/2006/main">
            <a:r>
              <a:t>final_test/ / 時間事件、對戰結果與最終測試 / 區分各階段成本與獨立 benchmark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eagle/evolution/resume.py:1-150</a:t>
            </a:r>
          </a:p>
          <a:p xmlns:a="http://schemas.openxmlformats.org/drawingml/2006/main">
            <a:r>
              <a:t>eagle/run_artifacts.py:686-703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docs/architecture/framework_slots.md:140-149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讀 manifest 的最後完成世代</a:t>
            </a:r>
          </a:p>
          <a:p xmlns:a="http://schemas.openxmlformats.org/drawingml/2006/main">
            <a:r>
              <a:t>檢查 protocol、config</a:t>
            </a:r>
          </a:p>
          <a:p xmlns:a="http://schemas.openxmlformats.org/drawingml/2006/main">
            <a:r>
              <a:t>bundle／runtime／map identity</a:t>
            </a:r>
          </a:p>
          <a:p xmlns:a="http://schemas.openxmlformats.org/drawingml/2006/main">
            <a:r>
              <a:t>保留未提交工作</a:t>
            </a:r>
          </a:p>
          <a:p xmlns:a="http://schemas.openxmlformats.org/drawingml/2006/main">
            <a:r>
              <a:t>interrupted_work/</a:t>
            </a:r>
          </a:p>
          <a:p xmlns:a="http://schemas.openxmlformats.org/drawingml/2006/main">
            <a:r>
              <a:t>還原族群、pool 與 context</a:t>
            </a:r>
          </a:p>
          <a:p xmlns:a="http://schemas.openxmlformats.org/drawingml/2006/main">
            <a:r>
              <a:t>操作狀態、archive 與停滯計數</a:t>
            </a:r>
          </a:p>
          <a:p xmlns:a="http://schemas.openxmlformats.org/drawingml/2006/main">
            <a:r>
              <a:t>用穩定 ID 與 seed 重播</a:t>
            </a:r>
          </a:p>
          <a:p xmlns:a="http://schemas.openxmlformats.org/drawingml/2006/main">
            <a:r>
              <a:t>未完成世代</a:t>
            </a:r>
          </a:p>
          <a:p xmlns:a="http://schemas.openxmlformats.org/drawingml/2006/main">
            <a:r>
              <a:t>繼續演化與 Final Test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eagle/config.py:863-879</a:t>
            </a:r>
          </a:p>
          <a:p xmlns:a="http://schemas.openxmlformats.org/drawingml/2006/main">
            <a:r>
              <a:t>eagle/experiment.py:355-540</a:t>
            </a:r>
          </a:p>
          <a:p xmlns:a="http://schemas.openxmlformats.org/drawingml/2006/main">
            <a:r>
              <a:t>docs/artifacts/artifact_schema.md:491-529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層級 / 排程方式 / 恢復判斷</a:t>
            </a:r>
          </a:p>
          <a:p xmlns:a="http://schemas.openxmlformats.org/drawingml/2006/main">
            <a:r>
              <a:t>設定資料夾 / 依 YAML 檔名排序，逐組執行 / experiment.yaml 記每組 run slots</a:t>
            </a:r>
          </a:p>
          <a:p xmlns:a="http://schemas.openxmlformats.org/drawingml/2006/main">
            <a:r>
              <a:t>明確 seeds / random_seeds: [7,8,9]，runs: 2 / 依序排 7,7,8,8,9,9</a:t>
            </a:r>
          </a:p>
          <a:p xmlns:a="http://schemas.openxmlformats.org/drawingml/2006/main">
            <a:r>
              <a:t>每個 replicate / 獨立 run 目錄與 resolved config / 未完成優先；已完成可跳過</a:t>
            </a:r>
          </a:p>
          <a:p xmlns:a="http://schemas.openxmlformats.org/drawingml/2006/main">
            <a:r>
              <a:t>完成條件 / 完整 EA manifest；正式 run 還需 Final Test / 可恢復中斷、補 final test</a:t>
            </a:r>
          </a:p>
          <a:p xmlns:a="http://schemas.openxmlformats.org/drawingml/2006/main">
            <a:r>
              <a:t>未提交 G0 可建立替代 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eagle/evaluation/determinism.py:1-170</a:t>
            </a:r>
          </a:p>
          <a:p xmlns:a="http://schemas.openxmlformats.org/drawingml/2006/main">
            <a:r>
              <a:t>eagle/execution.py:14-68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Root random_seed 衍生初始化、選擇、操作、LLM request 與每場 JVM seed</a:t>
            </a:r>
          </a:p>
          <a:p xmlns:a="http://schemas.openxmlformats.org/drawingml/2006/main">
            <a:r>
              <a:t>Seed 與 endpoint 由固定 task identity／index 決定，不依 thread 或完成順序</a:t>
            </a:r>
          </a:p>
          <a:p xmlns:a="http://schemas.openxmlformats.org/drawingml/2006/main">
            <a:r>
              <a:t>保存 source、bundle、runtime、map 與 request／response hashes 以核對身分</a:t>
            </a:r>
          </a:p>
          <a:p xmlns:a="http://schemas.openxmlformats.org/drawingml/2006/main">
            <a:r>
              <a:t>相同輸出才有相同軌跡；外部模型、GPU kernel、私有 RNG 與時間上限仍有變異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generations=20 包括 G0 初始化後的演化世代 1 到 20。stagnation 依 active selection-state signature 判斷，不是只看平均分數。正式 experiment run 在 EA 完成後執行 Final Test；mock 或 skip-final-test 可略過。Final Test 使用固定十內建對手與獨立 classes；明確 candidate-id 不可自動替代，預設末代無可執行策略才搜尋較新的已完成世代代表。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eagle/final_test.py:1-125</a:t>
            </a:r>
          </a:p>
          <a:p xmlns:a="http://schemas.openxmlformats.org/drawingml/2006/main">
            <a:r>
              <a:t>docs/evaluation/evaluation_pipeline.md:152-158</a:t>
            </a:r>
          </a:p>
          <a:p xmlns:a="http://schemas.openxmlformats.org/drawingml/2006/main">
            <a:r>
              <a:t>eagle/experiment.py:409-423</a:t>
            </a:r>
          </a:p>
          <a:p xmlns:a="http://schemas.openxmlformats.org/drawingml/2006/main">
            <a:r>
              <a:t>docs/operations/running_eagle.md:258-268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generations 上限</a:t>
            </a:r>
          </a:p>
          <a:p xmlns:a="http://schemas.openxmlformats.org/drawingml/2006/main">
            <a:r>
              <a:t>或 stagnation 條件</a:t>
            </a:r>
          </a:p>
          <a:p xmlns:a="http://schemas.openxmlformats.org/drawingml/2006/main">
            <a:r>
              <a:t>選可執行代表策略</a:t>
            </a:r>
          </a:p>
          <a:p xmlns:a="http://schemas.openxmlformats.org/drawingml/2006/main">
            <a:r>
              <a:t>保留原 canonical Java</a:t>
            </a:r>
          </a:p>
          <a:p xmlns:a="http://schemas.openxmlformats.org/drawingml/2006/main">
            <a:r>
              <a:t>獨立 recompile</a:t>
            </a:r>
          </a:p>
          <a:p xmlns:a="http://schemas.openxmlformats.org/drawingml/2006/main">
            <a:r>
              <a:t>再執行七項 Integration</a:t>
            </a:r>
          </a:p>
          <a:p xmlns:a="http://schemas.openxmlformats.org/drawingml/2006/main">
            <a:r>
              <a:t>10 對手 × 3 地圖</a:t>
            </a:r>
          </a:p>
          <a:p xmlns:a="http://schemas.openxmlformats.org/drawingml/2006/main">
            <a:r>
              <a:t>× 每邊 10 場 × 2 邊</a:t>
            </a:r>
          </a:p>
          <a:p xmlns:a="http://schemas.openxmlformats.org/drawingml/2006/main">
            <a:r>
              <a:t>600 場結果</a:t>
            </a:r>
          </a:p>
          <a:p xmlns:a="http://schemas.openxmlformats.org/drawingml/2006/main">
            <a:r>
              <a:t>W／L／D／E 與分數</a:t>
            </a:r>
          </a:p>
          <a:p xmlns:a="http://schemas.openxmlformats.org/drawingml/2006/main">
            <a:r>
              <a:t>輸出 JSON／CSV／Markdown</a:t>
            </a:r>
          </a:p>
          <a:p xmlns:a="http://schemas.openxmlformats.org/drawingml/2006/main">
            <a:r>
              <a:t>完成 run 交付</a:t>
            </a:r>
          </a:p>
          <a:p xmlns:a="http://schemas.openxmlformats.org/drawingml/2006/main">
            <a:r>
              <a:t>搜尋每位 180 場；pool 挑戰 18 場；正式最終測試 600 場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docs/evaluation/evaluation_pipeline.md:160-166</a:t>
            </a:r>
          </a:p>
          <a:p xmlns:a="http://schemas.openxmlformats.org/drawingml/2006/main">
            <a:r>
              <a:t>eagle/fixed_evaluation.py:1-170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項目 / Search fitness / 固定跨世代 benchmark</a:t>
            </a:r>
          </a:p>
          <a:p xmlns:a="http://schemas.openxmlformats.org/drawingml/2006/main">
            <a:r>
              <a:t>對手情境 / Self-play 隨快照刷新 / 所有代表使用同一固定 protocol</a:t>
            </a:r>
          </a:p>
          <a:p xmlns:a="http://schemas.openxmlformats.org/drawingml/2006/main">
            <a:r>
              <a:t>代表選擇 / 用於當代演化選擇 / 各指定快照內最高有限 GP 的 runnable survivor</a:t>
            </a:r>
          </a:p>
          <a:p xmlns:a="http://schemas.openxmlformats.org/drawingml/2006/main">
            <a:r>
              <a:t>測試規模 / 每位 180 場 / 每個代表各 600 場</a:t>
            </a:r>
          </a:p>
          <a:p xmlns:a="http://schemas.openxmlformats.org/drawingml/2006/main">
            <a:r>
              <a:t>Seed 與輸出 / 候選與對手身分衍生 / paired seeds 不依候選 ID／出生代</a:t>
            </a:r>
          </a:p>
          <a:p xmlns:a="http://schemas.openxmlformats.org/drawingml/2006/main">
            <a:r>
              <a:t>fixed_evaluation/ 與搜尋證據分開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>依 generation snapshot 檢視倖存者軌跡，另保留 birth_generation 與逐場分佈</a:t>
            </a:r>
          </a:p>
          <a:p xmlns:a="http://schemas.openxmlformats.org/drawingml/2006/main">
            <a:r>
              <a:t>總 wall time、初始化與已完成演化世代分開報；stage sums 可能因重疊大於 wall time</a:t>
            </a:r>
          </a:p>
          <a:p xmlns:a="http://schemas.openxmlformats.org/drawingml/2006/main">
            <a:r>
              <a:t>比較策略能力先固定 benchmark；比較速度另控制模型、硬體、seed、工作量與失敗比例</a:t>
            </a:r>
          </a:p>
          <a:p xmlns:a="http://schemas.openxmlformats.org/drawingml/2006/main">
            <a:r>
              <a:t>目前沒有多主機 live speedup benchmark；不能由串流排程設計推論已加速多少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docs/implementation/current_status.md:42-66</a:t>
            </a:r>
          </a:p>
          <a:p xmlns:a="http://schemas.openxmlformats.org/drawingml/2006/main">
            <a:r>
              <a:t>docs/architecture/evolutionary_flow.md:169-200</a:t>
            </a:r>
          </a:p>
          <a:p xmlns:a="http://schemas.openxmlformats.org/drawingml/2006/main">
            <a:r>
              <a:t>eagle/analysis/report.py:1-130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 / 支援工作 / 與搜尋狀態的關係</a:t>
            </a:r>
          </a:p>
          <a:p xmlns:a="http://schemas.openxmlformats.org/drawingml/2006/main">
            <a:r>
              <a:t>eagle gui / 設定選項、YAML、啟停、resume</a:t>
            </a:r>
          </a:p>
          <a:p xmlns:a="http://schemas.openxmlformats.org/drawingml/2006/main">
            <a:r>
              <a:t>瀏覽族群與視覺對戰 / 啟動前凍結 launch snapshot</a:t>
            </a:r>
          </a:p>
          <a:p xmlns:a="http://schemas.openxmlformats.org/drawingml/2006/main">
            <a:r>
              <a:t>eagle monitor / 原子狀態、PID／liveness、資源與失敗摘要 / 唯讀；異常結束與正常完成分開</a:t>
            </a:r>
          </a:p>
          <a:p xmlns:a="http://schemas.openxmlformats.org/drawingml/2006/main">
            <a:r>
              <a:t>eagle analyze / 各對手分數、勝率、單場分佈與 AOS 圖表 / 由保存的快照與證據產生</a:t>
            </a:r>
          </a:p>
          <a:p xmlns:a="http://schemas.openxmlformats.org/drawingml/2006/main">
            <a:r>
              <a:t>analyze --semantics / 探針表、唯一性與精確等價類 / 讀既有 wrapper／cache，不重跑 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configs/framework_coach.yaml:1-98</a:t>
            </a:r>
          </a:p>
          <a:p xmlns:a="http://schemas.openxmlformats.org/drawingml/2006/main">
            <a:r>
              <a:t>eagle/config.py:580-658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保留的原稿文字：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項目 / configs/framework_coach.yaml 的值 / 意義</a:t>
            </a:r>
          </a:p>
          <a:p xmlns:a="http://schemas.openxmlformats.org/drawingml/2006/main">
            <a:r>
              <a:t>架構與演化 / framework_slots＋llm_coach</a:t>
            </a:r>
          </a:p>
          <a:p xmlns:a="http://schemas.openxmlformats.org/drawingml/2006/main">
            <a:r>
              <a:t>Mistral bootstrap / 一次建立框架，之後選完整槽值</a:t>
            </a:r>
          </a:p>
          <a:p xmlns:a="http://schemas.openxmlformats.org/drawingml/2006/main">
            <a:r>
              <a:t>搜尋預算 / 20 generations，population 10</a:t>
            </a:r>
          </a:p>
          <a:p xmlns:a="http://schemas.openxmlformats.org/drawingml/2006/main">
            <a:r>
              <a:t>runs 1，seed 8 / G0 之後最多 20 個演化世代</a:t>
            </a:r>
          </a:p>
          <a:p xmlns:a="http://schemas.openxmlformats.org/drawingml/2006/main">
            <a:r>
              <a:t>評估與 pool / self_play，refresh 5，capacity 50 / 固定四保護與抽樣六對手</a:t>
            </a:r>
          </a:p>
          <a:p xmlns:a="http://schemas.openxmlformats.org/drawingml/2006/main">
            <a:r>
              <a:t>操作與對戰 / crossover 0.75，mutation 1.0</a:t>
            </a:r>
          </a:p>
          <a:p xmlns:a="http://schemas.openxmlformats.org/drawingml/2006/main">
            <a:r>
              <a:t>地圖 tick caps 1500／3000／4000 / 全部採 Strategy 路徑；數值屬範例設定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46a8ff18f413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57b8afd254c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eb248444749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7aa06edae45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593984c454b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8be77da32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7FB633-6634-4A0F-AE3F-7BB1FBA1C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27B2BD-60D1-4E06-8C9A-0FDF225572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44BC4C-B85C-4EDA-8CB6-A7126D65E7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AB5664-2722-445B-9FBE-3D42AF7B84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2F306A-E4D4-4266-AE15-44ED2F52CF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64CD3D-9530-4759-AAAC-14618DCF0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9566C6-0AAF-4C97-AA89-DBD7F74903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5E9436-5D72-41A0-8F11-5D1268397A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8C992D-4EEB-496A-9CA0-D3F9980D62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E62DC1-2D1A-4D0A-BDD8-03A3F50C48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9675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9489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9304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9118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933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68747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085624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483769" indent="-298609" algn="l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de9d7e507f4026" /><Relationship Type="http://schemas.openxmlformats.org/officeDocument/2006/relationships/slideLayout" Target="/ppt/slideLayouts/slideLayout1.xml" Id="R9e3a385a03c94edf" /><Relationship Type="http://schemas.openxmlformats.org/officeDocument/2006/relationships/slideLayout" Target="/ppt/slideLayouts/slideLayout2.xml" Id="R2954efb814094b40" /><Relationship Type="http://schemas.openxmlformats.org/officeDocument/2006/relationships/slideLayout" Target="/ppt/slideLayouts/slideLayout3.xml" Id="R7633f79d8b044da9" /><Relationship Type="http://schemas.openxmlformats.org/officeDocument/2006/relationships/slideLayout" Target="/ppt/slideLayouts/slideLayout4.xml" Id="R937fe9c172db4680" /><Relationship Type="http://schemas.openxmlformats.org/officeDocument/2006/relationships/slideLayout" Target="/ppt/slideLayouts/slideLayout5.xml" Id="R721e9c2bc37045a6" /><Relationship Type="http://schemas.openxmlformats.org/officeDocument/2006/relationships/slideLayout" Target="/ppt/slideLayouts/slideLayout6.xml" Id="R7fc777e47faa46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3a385a03c94edf"/>
    <p:sldLayoutId xmlns:r="http://schemas.openxmlformats.org/officeDocument/2006/relationships" id="2147483650" r:id="R2954efb814094b40"/>
    <p:sldLayoutId xmlns:r="http://schemas.openxmlformats.org/officeDocument/2006/relationships" id="2147483651" r:id="R7633f79d8b044da9"/>
    <p:sldLayoutId xmlns:r="http://schemas.openxmlformats.org/officeDocument/2006/relationships" id="2147483652" r:id="R937fe9c172db4680"/>
    <p:sldLayoutId xmlns:r="http://schemas.openxmlformats.org/officeDocument/2006/relationships" id="2147483653" r:id="R721e9c2bc37045a6"/>
    <p:sldLayoutId xmlns:r="http://schemas.openxmlformats.org/officeDocument/2006/relationships" id="2147483654" r:id="R7fc777e47faa46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1f9933d054f80" /><Relationship Type="http://schemas.openxmlformats.org/officeDocument/2006/relationships/notesSlide" Target="/ppt/notesSlides/notesSlide1.xml" Id="R6ee9c1683138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a7f8285e54fb0" /><Relationship Type="http://schemas.openxmlformats.org/officeDocument/2006/relationships/notesSlide" Target="/ppt/notesSlides/notesSlide2.xml" Id="Rba423b62b88d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1fa5b79234645" /><Relationship Type="http://schemas.openxmlformats.org/officeDocument/2006/relationships/notesSlide" Target="/ppt/notesSlides/notesSlide3.xml" Id="R3651c951db1c4b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afaa5792c44cd" /><Relationship Type="http://schemas.openxmlformats.org/officeDocument/2006/relationships/notesSlide" Target="/ppt/notesSlides/notesSlide4.xml" Id="Raf57bb7422c9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93488f74a423b" /><Relationship Type="http://schemas.openxmlformats.org/officeDocument/2006/relationships/notesSlide" Target="/ppt/notesSlides/notesSlide5.xml" Id="R70b1dce3c21b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92dc442af4b1a" /><Relationship Type="http://schemas.openxmlformats.org/officeDocument/2006/relationships/notesSlide" Target="/ppt/notesSlides/notesSlide6.xml" Id="Rbd7aba6a06cc40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56c81ec7764a6a" /><Relationship Type="http://schemas.openxmlformats.org/officeDocument/2006/relationships/notesSlide" Target="/ppt/notesSlides/notesSlide7.xml" Id="R40d406d985b349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bcb39752744de" /><Relationship Type="http://schemas.openxmlformats.org/officeDocument/2006/relationships/notesSlide" Target="/ppt/notesSlides/notesSlide8.xml" Id="Rc294282fc2424f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6f7dd1a9240ea" /><Relationship Type="http://schemas.openxmlformats.org/officeDocument/2006/relationships/notesSlide" Target="/ppt/notesSlides/notesSlide9.xml" Id="R7abcc8f5d8054c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82d2d5d9e48c5" /><Relationship Type="http://schemas.openxmlformats.org/officeDocument/2006/relationships/notesSlide" Target="/ppt/notesSlides/notesSlide10.xml" Id="R6b1a9d2e612e43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b7a47a8a446fc" /><Relationship Type="http://schemas.openxmlformats.org/officeDocument/2006/relationships/notesSlide" Target="/ppt/notesSlides/notesSlide11.xml" Id="R0e4f70f2ebda4a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1bd77ef134f8e" /><Relationship Type="http://schemas.openxmlformats.org/officeDocument/2006/relationships/notesSlide" Target="/ppt/notesSlides/notesSlide12.xml" Id="Re69db2e61f9d46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96c00bcf0b4c2c" /><Relationship Type="http://schemas.openxmlformats.org/officeDocument/2006/relationships/notesSlide" Target="/ppt/notesSlides/notesSlide13.xml" Id="R6f846a48fca94e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7ed0daf524102" /><Relationship Type="http://schemas.openxmlformats.org/officeDocument/2006/relationships/notesSlide" Target="/ppt/notesSlides/notesSlide14.xml" Id="R8a5924988e5e4d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f36263ae444c5" /><Relationship Type="http://schemas.openxmlformats.org/officeDocument/2006/relationships/notesSlide" Target="/ppt/notesSlides/notesSlide15.xml" Id="R80504a70b28444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30dddc64745a8" /><Relationship Type="http://schemas.openxmlformats.org/officeDocument/2006/relationships/notesSlide" Target="/ppt/notesSlides/notesSlide16.xml" Id="R38d82d3a04e548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3956412cf4a12" /><Relationship Type="http://schemas.openxmlformats.org/officeDocument/2006/relationships/notesSlide" Target="/ppt/notesSlides/notesSlide17.xml" Id="Re134b97eb67243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05c53031264202" /><Relationship Type="http://schemas.openxmlformats.org/officeDocument/2006/relationships/notesSlide" Target="/ppt/notesSlides/notesSlide18.xml" Id="Ra25078d2d88242d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c3cfb41ed4d15" /><Relationship Type="http://schemas.openxmlformats.org/officeDocument/2006/relationships/notesSlide" Target="/ppt/notesSlides/notesSlide19.xml" Id="R19a6beeb26334f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c5710aa6aa493c" /><Relationship Type="http://schemas.openxmlformats.org/officeDocument/2006/relationships/notesSlide" Target="/ppt/notesSlides/notesSlide20.xml" Id="Rea4a387a5279472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2adaff1ed4b90" /><Relationship Type="http://schemas.openxmlformats.org/officeDocument/2006/relationships/notesSlide" Target="/ppt/notesSlides/notesSlide21.xml" Id="R5c74aa80e2cb4a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cbe43d9704a50" /><Relationship Type="http://schemas.openxmlformats.org/officeDocument/2006/relationships/notesSlide" Target="/ppt/notesSlides/notesSlide22.xml" Id="Rec96cf03f2b54da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851a999614f5c" /><Relationship Type="http://schemas.openxmlformats.org/officeDocument/2006/relationships/notesSlide" Target="/ppt/notesSlides/notesSlide23.xml" Id="R6308de0f76bc4c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0e985fdd14765" /><Relationship Type="http://schemas.openxmlformats.org/officeDocument/2006/relationships/notesSlide" Target="/ppt/notesSlides/notesSlide24.xml" Id="R0979d80fd69d4b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304a85e784e3b" /><Relationship Type="http://schemas.openxmlformats.org/officeDocument/2006/relationships/notesSlide" Target="/ppt/notesSlides/notesSlide25.xml" Id="R61f7cf8ad7c34a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6ed4114364cff" /><Relationship Type="http://schemas.openxmlformats.org/officeDocument/2006/relationships/notesSlide" Target="/ppt/notesSlides/notesSlide26.xml" Id="Ref1227d4542440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f7fc55b30a476a" /><Relationship Type="http://schemas.openxmlformats.org/officeDocument/2006/relationships/notesSlide" Target="/ppt/notesSlides/notesSlide27.xml" Id="R2697f40a8a484a2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7c09d1b53493d" /><Relationship Type="http://schemas.openxmlformats.org/officeDocument/2006/relationships/notesSlide" Target="/ppt/notesSlides/notesSlide28.xml" Id="Rba7222659f7b4b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6c39d01004459" /><Relationship Type="http://schemas.openxmlformats.org/officeDocument/2006/relationships/notesSlide" Target="/ppt/notesSlides/notesSlide29.xml" Id="R8294cdb2e3e841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327b801474abf" /><Relationship Type="http://schemas.openxmlformats.org/officeDocument/2006/relationships/notesSlide" Target="/ppt/notesSlides/notesSlide30.xml" Id="R416c0f347fa0440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9951fa8bf4cb0" /><Relationship Type="http://schemas.openxmlformats.org/officeDocument/2006/relationships/notesSlide" Target="/ppt/notesSlides/notesSlide31.xml" Id="Rc8d42a2e0b0d4c6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74347e3b648a5" /><Relationship Type="http://schemas.openxmlformats.org/officeDocument/2006/relationships/notesSlide" Target="/ppt/notesSlides/notesSlide32.xml" Id="Re349fa514c75452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dc6aff57f4c34" /><Relationship Type="http://schemas.openxmlformats.org/officeDocument/2006/relationships/notesSlide" Target="/ppt/notesSlides/notesSlide33.xml" Id="Rbc804278669f481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9144db10841bb" /><Relationship Type="http://schemas.openxmlformats.org/officeDocument/2006/relationships/notesSlide" Target="/ppt/notesSlides/notesSlide34.xml" Id="R1bb06d9120c8444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211e31ef542b6" /><Relationship Type="http://schemas.openxmlformats.org/officeDocument/2006/relationships/notesSlide" Target="/ppt/notesSlides/notesSlide35.xml" Id="Ree47c8516dab483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80392bff9844b6" /><Relationship Type="http://schemas.openxmlformats.org/officeDocument/2006/relationships/notesSlide" Target="/ppt/notesSlides/notesSlide36.xml" Id="R086f46e904c3447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66f836e17494f" /><Relationship Type="http://schemas.openxmlformats.org/officeDocument/2006/relationships/notesSlide" Target="/ppt/notesSlides/notesSlide37.xml" Id="R8d88685c6771476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0d6956a0647e6" /><Relationship Type="http://schemas.openxmlformats.org/officeDocument/2006/relationships/notesSlide" Target="/ppt/notesSlides/notesSlide38.xml" Id="R4c3f50292ae647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D9470-5EE3-41E5-8C6C-EAF5ED94270B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667625" y="2705100"/>
            <a:ext cx="0" cy="3390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36EAA-FE83-40B8-9DB2-DA249B857AE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0810875" y="4895850"/>
            <a:ext cx="2238375" cy="1200150"/>
          </a:xfrm>
          <a:prstGeom xmlns:a="http://schemas.openxmlformats.org/drawingml/2006/main" prst="bentConnector5">
            <a:avLst>
              <a:gd name="adj1" fmla="val 0"/>
              <a:gd name="adj2" fmla="val 19048"/>
              <a:gd name="adj3" fmla="val 89787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B7B80-BBC5-4366-970E-1D867BB61E1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810875" y="2705100"/>
            <a:ext cx="666750" cy="1695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1DE300-AB54-4E23-98E4-6EBD699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B681D-CDDE-413F-A852-0FF79FF6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策略、Java 與對戰證據的演化迴圈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87480-2B6C-48B1-B3D3-E249B0F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D7272-0FAE-49CF-842A-A1472DE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C63A3-5FEC-42EA-A1C9-055C15F2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CB243-1744-4374-B8FC-99B1820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9052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594CE-BAF8-4B7E-B547-48A1C41D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007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58164-70A1-4550-A675-CB07826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52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CEE1B-4AB6-441A-867E-967C1088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67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BB1CA-75A4-4732-A889-A8CF03C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95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88B5D-F3C8-4BEA-A096-818C3F6D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67551-C89D-4FC2-9027-D2C3E041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8092A-C6CC-4642-BA89-8F29BF2D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91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6292B-49FA-421D-A32E-72BD5287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以對戰證據反思策略，再由演化選擇保留候選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D1D51-A9C3-497A-95E1-D42A7048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 / 38</a:t>
            </a:r>
          </a:p>
        </p:txBody>
      </p:sp>
    </p:spTree>
    <p:extLst>
      <p:ext uri="{BB962C8B-B14F-4D97-AF65-F5344CB8AC3E}">
        <p14:creationId xmlns:p14="http://schemas.microsoft.com/office/powerpoint/2010/main" val="1026193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86135-B425-4B43-9B60-4344A31C12E7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48125" y="7072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A0138-26B8-4977-978C-043B54BABB4B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9625" y="70723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1D7F75-87ED-4F9D-8AD8-1F61250CA1A9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001500" y="5334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0F0AF-A0AB-4EC6-8B82-1DB23428A8B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4667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DFECB-CC01-47A5-B2E5-8796EF746CC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C00D8-810C-49A5-99D2-781A425C95C2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00313" y="3095625"/>
            <a:ext cx="9286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14308-468E-4D1C-BC8A-9D3FB132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399CE-543C-4DBF-ACF4-700B31C7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先固定 framework，再進入第 0 代與演化迴圈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DE0F7-0690-4197-A915-89F4D3DC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466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9A8BE-8552-4380-A13F-C2A69712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2C705-0D03-4893-B307-BCF22F28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B4C70-B7AA-4DCE-A95C-AF00349D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95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001A1-4396-4AAB-93ED-8CE223C8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810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與初始評估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21FBB-7F24-4E5C-B693-5A96FA8C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000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刷新情境</a:t>
            </a:r>
          </a:p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選父代與變異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00D64-11DA-4DAA-90E8-587BB0D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4191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父代＋子代選倖存者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512BE-7194-4160-AAF0-5409E264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572250"/>
            <a:ext cx="3429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FF7D0-A4EC-4C71-97CF-6D1EB6F4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309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CD147-45D9-4BEE-8A5A-FA7E951BDBB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15125" y="5715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955CC-EFA3-4901-9469-2B3290654B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15125" y="5715000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68695-2CE9-45C4-B41F-D4469D2103C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430375" y="4667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21F3A-D6F7-4C0B-A8AF-82AA3F879AA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001750" y="4667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978F18-80F3-4731-B6FE-5E029EAD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1D663-0F97-424C-A1CA-E668FFC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91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BAD724-EF5F-448F-990F-2DBEDA6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 / 38</a:t>
            </a:r>
          </a:p>
        </p:txBody>
      </p:sp>
    </p:spTree>
    <p:extLst>
      <p:ext uri="{BB962C8B-B14F-4D97-AF65-F5344CB8AC3E}">
        <p14:creationId xmlns:p14="http://schemas.microsoft.com/office/powerpoint/2010/main" val="1104918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4174F-83A3-4692-AFB0-459FF412C6F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75360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8A116-72C9-4A32-82A5-A5D985C6BB1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51485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837FB-DBE2-47C0-909C-A3F65525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 DSL 的執行語意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733B6-DDB2-4E29-8213-AFC38183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一條規則決定：誰，在什麼條件下，嘗試什麼動作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14932-911E-4AE7-BC57-258729A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actor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執行對象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42C72-5A39-480E-AE5B-65D19180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可觀察條件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96B38-23AE-4387-9899-A5ADF9A8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候選動作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6F477-52AA-4769-AE3C-CED41E9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4097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9525">
            <a:solidFill>
              <a:srgbClr val="DEB4B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 1   →   規則 2   →   規則 3   →  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2ED7C-99AF-4FA9-978E-91EA0192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724650"/>
            <a:ext cx="34290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可合法發出動作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310C9-4816-428E-8336-01990C30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724650"/>
            <a:ext cx="44767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無法發出：繼續下一條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47A43-100A-4994-851E-2C7B6672CE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602D7-574F-47B9-98A6-94C64A5180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4A2BE-768D-4279-96BE-21A5B206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離線轉為 Java；對戰不執行文字指令。空 rules 代表 idle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FFE80-86D6-4DC7-8027-5256F4C5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/ 38</a:t>
            </a:r>
          </a:p>
        </p:txBody>
      </p:sp>
    </p:spTree>
    <p:extLst>
      <p:ext uri="{BB962C8B-B14F-4D97-AF65-F5344CB8AC3E}">
        <p14:creationId xmlns:p14="http://schemas.microsoft.com/office/powerpoint/2010/main" val="1345081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F6BE4-CA2D-48B9-B8E5-B00051DEF28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58375" y="46196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C7CCE-D108-4C92-93F6-738CE5DDDCA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95850" y="4619625"/>
            <a:ext cx="1247775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08A5F-DCF7-4F23-A1C3-AD30EE13633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95850" y="2809875"/>
            <a:ext cx="1247775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141D9-A72D-443A-A446-24E0F469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的一次性建立與凍結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AC933-257D-4A28-89E1-9246C315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架構建立一次；模板、槽位與表達式在搜尋期間保持固定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3AB13-034A-4797-9D3A-0BB5123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新建立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99B20-AC4F-42F6-A1C7-3357427A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已有外部 bundle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5DB6F-7EAA-449A-A816-1C8A6688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194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design_brief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Groq／Mistral／local bootstrap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E6911-73A1-4E98-A425-E06F8A12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人工準備或共用架構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指定 bundle_path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DE893-DCC5-498F-B85D-2249D175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714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</a:t>
            </a:r>
          </a:p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Java 契約驗證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D200E-95E3-406F-B38D-59F34FB0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3905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01F27-AF2E-427D-BD08-9992AB8C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exact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06678-BACC-4E54-BEFA-4A14AAFC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90550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039BB-61DE-4032-AEA3-04D7D2DE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之後只演化 control_genome；resume 讀凍結版本，不重新 bootstrap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62F91-D90E-45D2-9015-181CA4EB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 / 38</a:t>
            </a:r>
          </a:p>
        </p:txBody>
      </p:sp>
    </p:spTree>
    <p:extLst>
      <p:ext uri="{BB962C8B-B14F-4D97-AF65-F5344CB8AC3E}">
        <p14:creationId xmlns:p14="http://schemas.microsoft.com/office/powerpoint/2010/main" val="1699629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5B45C-177D-4706-B7C1-9DA5EBEF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8EF99-D38A-4314-A86C-48C4761A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候選只選值；Java 結構與每個選項的意義由 bundle 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3DF4B-3307-4E6C-B95B-8F5B83E6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B6065-16E3-455B-87D7-F25C8EFF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離散整數格點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90F3F-ECBF-4E78-9361-1FB5AEF7B2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310515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EB4BA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1C3B6-29B1-40EF-BD75-FEF750FF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DA8F9-14A5-4246-8C20-4B2A1467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873FD-51E0-417E-9F77-681DF203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76555-7DCB-412D-B081-AA1C3D54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min＋step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96163-16D5-4860-97A7-CF64A2B2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D4753-48A9-4774-B9F9-46A8FA4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333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E3938-8CD0-4E28-8754-5341AE4F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914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4F21F-01E2-499F-A0A0-D6250946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333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9805C-EC55-44AD-BE03-ADE75456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137E6-2784-43BE-B093-1669E37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宣告的有限數值格點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7B1F5-D112-446C-B38B-071988D19E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5010150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EB4BA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724F2-1470-4BF4-B587-00A46B03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96F28-A789-4A48-94D1-FE23C831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1B3EC-D01D-4D8A-826B-3D28FD59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04B5A-D8A8-44DC-9CF6-914AB388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A0DAC-45F9-443D-8CDB-BFDEA67E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AEFAD-3E44-4125-82D7-CB19F219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9B779-E647-4CD9-BF24-F13EE0B6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05EFA-12A5-4B4B-91B7-D3EEF9BC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32947-6D8D-45E9-87DC-62957794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857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0FED7-09C7-42CE-B83C-78856584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58C7D-0E6B-4AE5-9576-6867A09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722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只保存 choice_id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E33EE-183E-4E4A-8E00-108309DD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34125"/>
            <a:ext cx="2095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選項 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8599E-D085-4EA8-93A9-9FC891CF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6334125"/>
            <a:ext cx="2095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選項 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81057-4A8F-40E5-9C49-0B0C65A4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34125"/>
            <a:ext cx="2095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選項 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5EC418-CD5E-4761-8D5C-7829031B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334125"/>
            <a:ext cx="2095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B2F81D-6EBC-4704-9F47-DF3681AD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genome 必須包含每個 slot_id，拒絕缺項、未知 key 與越界值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D9C23C-26B5-46C8-8171-1B3DB21E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 / 38</a:t>
            </a:r>
          </a:p>
        </p:txBody>
      </p:sp>
    </p:spTree>
    <p:extLst>
      <p:ext uri="{BB962C8B-B14F-4D97-AF65-F5344CB8AC3E}">
        <p14:creationId xmlns:p14="http://schemas.microsoft.com/office/powerpoint/2010/main" val="188540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ED579-AA32-466C-B8CA-83D458B44EF2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001000" y="6019800"/>
            <a:ext cx="38100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4E63A-250C-489F-BA76-1A566CEF937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095750" y="5895975"/>
            <a:ext cx="3905250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43832-1404-45D4-84A8-1EFBD65CDDA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811000" y="427672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2B896-0291-4121-ADDC-FC52B95B0F43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95750" y="427672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D4662-AF64-4BF9-9E94-3065008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與 llm_coach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C00B8-5E08-4569-A2BC-479B3CFE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兩種演化政策，共用相同的凍結 framework 與下游評估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B7011-D237-4B74-994F-E0422F1C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3DF06-479A-4027-9279-5BFF1DD9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48FAC-B40C-4C3C-BBB1-E47A4228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B29BE-C6BA-48B3-8761-EB68B0FE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llm_coach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62E00-A7F3-4777-A3BB-FB37DEA5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初始：有限域採樣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FE805-9AAC-4657-9A9D-547D9A13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逐槽交配，至多一槽突變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F06E4-227B-4FC1-99EA-3E287204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初始：LLM 選完整 genome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3D525-FBD0-483D-A2F4-0C91DE8D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590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最差單場賽評＋Coach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回傳完整 genome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FF5ED-F6D6-4080-ABB7-B50483FC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43750"/>
            <a:ext cx="752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本地渲染 Java，再驗證與對戰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DA3B9-4569-4D5D-94F1-199A2F4B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回應不合法：保留突變前的完整 genome，標記失敗，不隨機補值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1A909-FD3F-46FF-BCAC-E17A0E6D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6 / 38</a:t>
            </a:r>
          </a:p>
        </p:txBody>
      </p:sp>
    </p:spTree>
    <p:extLst>
      <p:ext uri="{BB962C8B-B14F-4D97-AF65-F5344CB8AC3E}">
        <p14:creationId xmlns:p14="http://schemas.microsoft.com/office/powerpoint/2010/main" val="1536695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D0961-8783-4637-AECD-9442D836BC2F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381250" y="2971800"/>
            <a:ext cx="2714625" cy="3267075"/>
          </a:xfrm>
          <a:prstGeom xmlns:a="http://schemas.openxmlformats.org/drawingml/2006/main" prst="bentConnector5">
            <a:avLst>
              <a:gd name="adj1" fmla="val 0"/>
              <a:gd name="adj2" fmla="val 6997"/>
              <a:gd name="adj3" fmla="val 91579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1B300-F5A6-4496-AC42-11135A50ECEA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952875" y="681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31DA3-0633-4AB7-9787-CB54BCF74F6E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953375" y="5667375"/>
            <a:ext cx="41433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9448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39D52-E2B3-4F52-9E2A-258AFACD19D4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096750" y="3419475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82B82-AEB9-44EE-93A3-87BAD6C498F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53375" y="29718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83C15-51B3-44AD-9BF3-DDE55DC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每一個演化世代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E555E-23FF-4FCA-BCF9-79B4E823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例：10 位父代與 10 位子代，選出固定 10 位下一代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972BD-DA50-448E-8713-A18C226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F056B-46EE-4B14-9422-31DA1382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03563-9856-4279-858A-F8D5DCE5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1644E-1F94-4CC8-B0AD-9F712365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7D065-CEE8-4B2A-95BF-E8668D20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EADB1-DCD7-4DE9-93BE-75FF9B45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E725A-50DB-4765-BE7E-1F0EB35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BAFC4-CDAD-43B0-BC64-D476DAE3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934BF-9EB5-4304-8F7C-2876769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69DC9-A5C3-4318-B48B-95BBE21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514D5-1577-43C0-A4C6-F75C907C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821CE-439A-4C36-9496-5308700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24125"/>
            <a:ext cx="285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63F12-1AE0-4574-9536-01E2069F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24125"/>
            <a:ext cx="3905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交配與突變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6A15-CBD4-4F84-BB6A-793880C8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1962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Java、驗證與子代評估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B4CBE-1204-456B-A0DB-628BE06F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23887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選下一代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12DC6-C0E9-4244-84D7-BD697D1C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F70504-30EA-443B-8E40-9ED2E341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29075"/>
            <a:ext cx="8953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 刷新時，繁殖前先重評父代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D01103-9F45-4902-82EE-FA8CAA7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世代提交後才前進；新入池成員等下一次快照刷新才可能成為對手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B0494-1123-4700-AC9B-4248E8D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 / 38</a:t>
            </a:r>
          </a:p>
        </p:txBody>
      </p:sp>
    </p:spTree>
    <p:extLst>
      <p:ext uri="{BB962C8B-B14F-4D97-AF65-F5344CB8AC3E}">
        <p14:creationId xmlns:p14="http://schemas.microsoft.com/office/powerpoint/2010/main" val="1803218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EE7E0-BC6F-47F4-A16E-288930AB2AD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715750" y="4676775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B06B2-C155-4307-ADF9-6229FC341DB5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810000" y="4676775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1A8AC-99D4-4901-93E6-BFF11D33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繁殖父代如何選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A6E10-E458-47D4-B53D-D9A85999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繁殖父代提供基因；評估對手與倖存者選擇是另外兩個環節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B73BE-D5F6-4620-8E80-01F9ED4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Fixed roster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880E9-76D6-4194-8EEA-321A56F9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97FE9-6D35-46B8-90B4-5C1954AB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905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十案例 lexicase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6918E-9F93-467C-968F-E15DF5B9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5905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Game Performance 頂層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642F8-79CD-437D-8210-007CE30C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57625"/>
            <a:ext cx="5143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打亂案例順序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48FD5-0D1F-432C-94D3-FA28104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5143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依案例留下最高分者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06943-5017-4B26-A3C0-9CC27B4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5143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距最高分 ≤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D1EF3-332B-4E8E-815E-5B79BFCF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76875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第二父代可優先選</a:t>
            </a:r>
          </a:p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行為差異較遠者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244D26-84E5-4612-A642-D3217A1715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238375"/>
            <a:ext cx="0" cy="5048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36153-921E-406C-96A9-E2627C84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913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兩次獨立抽樣，可選中同一父代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7B0B2-8B7D-4B80-816E-59569CEA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913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語意距離只在同分範圍內作用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9B8B1-177B-402A-A898-5652BB4A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 / 38</a:t>
            </a:r>
          </a:p>
        </p:txBody>
      </p:sp>
    </p:spTree>
    <p:extLst>
      <p:ext uri="{BB962C8B-B14F-4D97-AF65-F5344CB8AC3E}">
        <p14:creationId xmlns:p14="http://schemas.microsoft.com/office/powerpoint/2010/main" val="2071475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2D075-16A5-4DE8-9485-D0CCC308D3B9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39250" y="64865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FA381-C7D7-49D9-A54C-21B09673C9A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2096750" y="36290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C3EC3-C86D-4E87-BFB9-31F093BE790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39250" y="36290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EAD4B6-E1AD-44B7-8F9F-AD32A266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Lexicase 的案例篩選示例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E710C-123C-4132-AD30-FDF6EE5A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教學示例：改變案例檢查順序，專長不同的策略都有機會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C8858-C947-4802-BBA4-F98028AD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52A5A-DDA6-4278-84A6-5EB61BA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7650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058FC-0145-482A-B40B-47CB1F5F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05B91-2F65-442B-A08E-B206168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FFDA2-5EC7-43A8-B0A9-AA7E8F85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7187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B55D7-818E-44EC-AEFA-4002597F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7187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C7775-EDA4-4733-8226-89177C2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28BFF-8E6E-4DD4-A2C5-BB760227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6725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5F0E0-8A83-4F33-B46F-D3F25505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67250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36B79-1276-4F4E-988C-5A29B034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6262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6850A-CDAB-4287-9202-F7F3CB43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6262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29BC4-BBDD-41E8-9027-CFD360E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62625"/>
            <a:ext cx="14287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6027B-891D-4875-A68C-55F542D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順序 X、Y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085D8-09B9-4733-8337-177CB73E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3850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A、B、C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C6A8E-27E6-4990-B4AD-BD503E58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A、B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89F0A-D8EE-41A1-861D-64340128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238500"/>
            <a:ext cx="1524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5BBA5-6F07-4547-9FCC-7095C41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098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X 最高分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8B8E65-9F23-4909-BCBE-2DD6BA89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8098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Y 最高分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6779B-F39B-42F3-9972-BC57486F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3875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順序 Y、X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C6C7B-3E25-4C9F-821A-3174DD40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9600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A、B、C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D9DE0-D2FD-4917-9E8D-E5B2FBBB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9600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8837C-83AB-4EAA-AD0B-0EEB3566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6769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Y 已剩一位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FE870A-1724-4DFA-A890-38A81380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正式流程使用十個對手案例；本頁數值只說明篩選機制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59223F-46EF-46FF-B409-F337AE1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 / 38</a:t>
            </a:r>
          </a:p>
        </p:txBody>
      </p:sp>
    </p:spTree>
    <p:extLst>
      <p:ext uri="{BB962C8B-B14F-4D97-AF65-F5344CB8AC3E}">
        <p14:creationId xmlns:p14="http://schemas.microsoft.com/office/powerpoint/2010/main" val="19093695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B14D5-5192-4333-9692-FFD0CCFAE2A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0100" y="60293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70D32-771C-446B-8568-F711002DE7D8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9791700" y="47434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9E1E3-0E80-419C-B713-3FD0F37C37F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10100" y="345757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2743D-726D-43AA-8D30-F4C1A9C4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DFF7E-339B-45C3-8DEF-7EADC36F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E004A-7F34-43B4-BE01-73A45F50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E23BC-7565-406D-A5B7-6BC07DD0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7D93C-9C66-4DE5-BFCB-954E346C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FED65-8FD3-4211-A398-BA43D45E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3776B-0E20-4040-BA49-0E4CCD81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2D284-7701-44A7-B735-682F1226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0C376-91A5-45E0-A39A-AAFDE49F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C07B5-5446-4B44-893B-BC976A75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B43AD-4A77-46B5-99A6-C69F207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74844-2164-4F69-9E87-5434B3C1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E6B98-931E-4812-8B1B-E13844C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5F020-45E4-49CB-961D-C9509827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43125"/>
            <a:ext cx="4286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A1BDD-0061-491C-A35D-E7BD544C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723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09679-B30D-41F1-97E8-F8B16FEE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718B6-C9C7-4095-9A2F-7D572BA0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/ 38</a:t>
            </a:r>
          </a:p>
        </p:txBody>
      </p:sp>
    </p:spTree>
    <p:extLst>
      <p:ext uri="{BB962C8B-B14F-4D97-AF65-F5344CB8AC3E}">
        <p14:creationId xmlns:p14="http://schemas.microsoft.com/office/powerpoint/2010/main" val="8562686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BA5E5-6F6E-44C9-A138-086DAE12F81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143750" y="4619625"/>
            <a:ext cx="476250" cy="2438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F2C85-0536-4022-9571-DD23E48E1BD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430000" y="514350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497C6-3263-41FF-BF56-43E09C6FFC7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52875"/>
            <a:ext cx="17145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384F1-74DF-4034-91F3-74E3BB79A4E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1430000" y="276225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7858C-604A-4E4D-8D05-1D0C12A143E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858250" y="2428875"/>
            <a:ext cx="1714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2813B-2076-4BF3-A186-BA2539AF791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952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35BA4-2ECA-46E0-A627-E0CFA4DE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8DF48-7351-46D9-8236-CDEAA874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3F925-453B-43FA-AC06-1A6F6286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1432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4864F-5AE9-4FCC-BAF8-22B345DB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3429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DDFDE-46B5-454A-93AA-8A83D48C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DE492-9BB4-427D-BFB2-9EE7AD9F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42386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63256-FE0E-4495-BAC1-9F9C1F2D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39EC4-40FD-48F8-AD0A-F51EB0FB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4238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DBE1F-DC39-49E8-8D3D-0440A7F6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58025"/>
            <a:ext cx="7620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C0D46-F368-4E5D-ADCD-E4D78C8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只修策略忠實度與程式正確性；Code gate 不靠勝率評分，也不計 AOS credit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E3C30-70A5-4BAE-AF35-276D3A5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 / 38</a:t>
            </a:r>
          </a:p>
        </p:txBody>
      </p:sp>
    </p:spTree>
    <p:extLst>
      <p:ext uri="{BB962C8B-B14F-4D97-AF65-F5344CB8AC3E}">
        <p14:creationId xmlns:p14="http://schemas.microsoft.com/office/powerpoint/2010/main" val="13996475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31237E-3529-4314-811B-CD36BFDB6484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787313" y="5172075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7442A-5A21-4796-90E3-368E7CC764F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29750" y="3190875"/>
            <a:ext cx="14287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8EF8D9-E1CA-4F8C-BBDE-345123099B5F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429750" y="4600575"/>
            <a:ext cx="14287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7059B8-42BB-44B8-A4AB-F94D4A7BB10A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91000" y="5867400"/>
            <a:ext cx="13335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DA917-1DAE-4F8F-9919-2872456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70070-E5CA-4300-9DC8-322788A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64044-0113-4313-B1F9-8C9CDFB6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52A72-15A1-4BF8-8443-7E2588F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2415E-454D-4A48-98C6-859EB3D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6420B-D20B-443D-AAD8-77EDB56A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57E79-85F8-4B86-B0E0-05FC261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37721-988C-4F65-846C-9125AE92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1E304-7E77-4DD0-989A-0DFA0349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F9892-0DC1-47E0-93C3-85820524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2614A-5AA5-4186-A326-D9C4DBB1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1BEE6-D51D-4F7A-91FA-80870A0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0783C-27E1-41D4-893B-FDE31D4F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336E7-11D2-4A36-AAB2-102CF73E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F5014-C168-4B71-855C-3E4BD36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944F8-D40F-47AF-A9FF-FF1E5C7C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E5935-6A0D-41B9-AB2D-1FC02DC3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C9B67-0389-402E-9F86-9B505E75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BAC4C-F86E-4732-A7E0-92F030A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5C161-30F3-4949-8199-6D172D4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1C25C-4C2D-42CD-884F-08FE0E8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AB493-111A-41D6-A2BA-50596F6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D922F-A1A3-4C7E-8700-56233314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F4A46-A9A2-47D1-9943-000A81CC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FCE8A-F045-4B4B-8C09-A9D181BF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3905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F51BD4-D20E-4EDE-B28A-4A1A3FD1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29075"/>
            <a:ext cx="3857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5E1EB-9512-4D18-AA51-4B8F9CC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705600"/>
            <a:ext cx="43338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CB2F3-553F-42F3-A9E5-BE4CF65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0B488-5ED3-4C93-9C6F-0EA2445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006170-B7D2-49C1-BD2D-A7CFF031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 / 38</a:t>
            </a:r>
          </a:p>
        </p:txBody>
      </p:sp>
    </p:spTree>
    <p:extLst>
      <p:ext uri="{BB962C8B-B14F-4D97-AF65-F5344CB8AC3E}">
        <p14:creationId xmlns:p14="http://schemas.microsoft.com/office/powerpoint/2010/main" val="16061889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3601C-A9DE-4C09-A196-E7618776307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762375" y="4095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17915-08E5-4B43-995E-53FE046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60019-B653-4FAB-B1DD-6C1BFD6E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DFF6A-E7FB-47FB-B6B9-285B5FA6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BEBED-628B-4B27-A41A-8F8A3F01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24658-D4C7-4B29-9C77-8DC65102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815FF-8E24-4713-BAC5-51DFA98C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5810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75DCA-5A8D-4C07-A365-2B4CA046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5FF4A-DB73-46E1-99AD-6D3C72D0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969A6-C4C1-412D-B4D6-0D4583F3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D8575-D24E-4E2E-84E3-BF935B97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05C93-8E1C-4DE6-B804-3892EC393C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381250"/>
            <a:ext cx="0" cy="4857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881C7-DEB1-4E02-A32D-9D4FAE1F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94E5F-EFAA-4C96-A0ED-C104496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 / 38</a:t>
            </a:r>
          </a:p>
        </p:txBody>
      </p:sp>
    </p:spTree>
    <p:extLst>
      <p:ext uri="{BB962C8B-B14F-4D97-AF65-F5344CB8AC3E}">
        <p14:creationId xmlns:p14="http://schemas.microsoft.com/office/powerpoint/2010/main" val="20147957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DDCEF-54BE-4110-9BB0-416B9A4AA668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095750" y="6048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65A95-7A9E-4528-A9E3-EAF1E319B7B0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334500" y="60483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B44F0-89FC-49E8-8467-CD182F3A762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620625" y="4095750"/>
            <a:ext cx="3333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A608B-6F8C-4C22-9EAA-DBC2C4AE734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07622-E993-4E34-9EEC-F668E700BC6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143500" y="3619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72C06-A634-4431-AF73-3298CF8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34F44-7835-4227-8414-3AC28AA3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CFDEB-0126-486D-9C48-21450EA9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381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74DB6-3E50-49C1-9231-B13A007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F0D7E-4DB8-4C00-B1B1-449BFFF7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43250"/>
            <a:ext cx="3714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9FB82-BE6D-4F15-91DB-41282D7C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19750"/>
            <a:ext cx="4381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39D7A-50F3-482E-963B-F4215E05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B81CA-E444-4419-B4C2-7D36A583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59EA-2ECA-4F78-9D89-FE46B7A6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05650"/>
            <a:ext cx="4095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AA863-FAE5-4DF4-B8D1-F2FFEE45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D443E5-678E-45DA-AA6B-075BAC4F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 / 38</a:t>
            </a:r>
          </a:p>
        </p:txBody>
      </p:sp>
    </p:spTree>
    <p:extLst>
      <p:ext uri="{BB962C8B-B14F-4D97-AF65-F5344CB8AC3E}">
        <p14:creationId xmlns:p14="http://schemas.microsoft.com/office/powerpoint/2010/main" val="5834403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04C7A9-1646-414C-88D6-556796918DE5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072438" y="6048375"/>
            <a:ext cx="48672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35652-F59D-4FB7-AA77-5A44D819BDC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958138" y="6048375"/>
            <a:ext cx="2414588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9F503-FBFF-4E6E-9BB6-3CCD370072B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976563" y="6048375"/>
            <a:ext cx="50958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9443C-993E-41CC-A768-FE428C352C81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293971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4CD38-8384-4216-8E62-4D21F2B551DC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58138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C6C27-F0C5-4512-93CD-03C1E255CA6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97656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9B8D6-C971-474D-8D17-B4B9D0D2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40024-9710-4804-942D-D44FF488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4BC82-DAA8-46E7-8DD9-A17DA784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E63C1-F6C3-4BB3-8FEC-F482F744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461AA-66F2-4ABF-BCDC-FB809360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9C07C-5EB9-47BC-9CF2-8929C84B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107A70-B337-4515-A469-76E5F289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F41F4-DD7A-4298-9B29-4938E303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8C280-B2C2-4E1F-8923-47CFC428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AFC88-417B-4F55-BFA1-EC5A2C33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9B244-9260-421C-8175-41F0252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44DBF-61D6-4AB0-A9FE-63FC514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64A7D-625D-4032-BA15-0C9817F2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FC67E-0109-435C-9367-3BBECAAB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92F9B-DB87-4AA1-B409-F508B45E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86625"/>
            <a:ext cx="9096375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408B5-EFC0-47E1-9C52-91AFBB0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 probe 為選配診斷，self-play 必須啟用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62DAD-41D0-4E1A-AEC8-21F0DBDA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 / 38</a:t>
            </a:r>
          </a:p>
        </p:txBody>
      </p:sp>
    </p:spTree>
    <p:extLst>
      <p:ext uri="{BB962C8B-B14F-4D97-AF65-F5344CB8AC3E}">
        <p14:creationId xmlns:p14="http://schemas.microsoft.com/office/powerpoint/2010/main" val="9339171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D5243-C580-4401-9A8F-1311E1F5DF41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048125" y="6405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41C7C-94A5-44E4-B504-3DA5AD82C216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553200" y="4000500"/>
            <a:ext cx="1209675" cy="1905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92DD1-DBA8-4146-BE93-6246172A294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192125" y="4000500"/>
            <a:ext cx="23813" cy="1905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BC2AB-0309-4C7A-A773-53EC9CE3303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715500" y="335756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F86D2-11AC-41DB-A81E-91AFDD96FA2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48125" y="3357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C00C8-39FA-4ADD-AB61-B8D13B8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4D98-B9AF-4AEA-98E4-80273A5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533C3-DD4A-4391-BF24-69B561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2861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892AC-7B23-4874-B084-84C89B0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3905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4C473-B2F9-4B76-AEB3-BA4DB833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14625"/>
            <a:ext cx="4000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A703D-CE5C-4D33-B030-60AF1884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37623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517D5-DAD6-4C94-B00F-D58823C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905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F8231-03A8-4EE0-81E6-614F1203EB0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477500" y="36766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17A43-1BD1-4830-976E-AEEE839341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77500" y="3676650"/>
            <a:ext cx="0" cy="2752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249A0-8F1D-47C7-A08E-1CEF682B6BDC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715500" y="642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3D8A8-5085-476A-A87C-EC1FD1BD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3143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169CE-47FF-4911-B8D8-075A97C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861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3B6DE-5C71-4BCB-BE71-64B2BBE2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64996-5E3F-4D4C-98C9-EE53A72A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 / 38</a:t>
            </a:r>
          </a:p>
        </p:txBody>
      </p:sp>
    </p:spTree>
    <p:extLst>
      <p:ext uri="{BB962C8B-B14F-4D97-AF65-F5344CB8AC3E}">
        <p14:creationId xmlns:p14="http://schemas.microsoft.com/office/powerpoint/2010/main" val="2111908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C8A1B-5C05-45B4-B5A3-3EEE56AFAFE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07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24827-B1E1-485B-9D20-CBF93DB2893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482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99FF6-908C-420B-A5CB-C546DBFB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2A8B4-1E76-44B9-B448-745C2DFB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95041-6A01-410C-B4CC-7140718E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DB3DE-E20D-4596-9830-5CF826C7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5921A-FF89-4AF4-A809-18BC5B75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3714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3FD94-8114-4DB1-8778-EE1E3A95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D6D7E-0A82-474E-9A4C-1D2B6BE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B532E-BC66-443A-A006-A067E5F3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F2B00-31A8-4AB2-86C2-3DE186B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D193A-B688-4CE8-9821-6D7F58FB98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AC9D6-E27D-460D-9BCD-C0D5EA08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AE6B4-B37F-4092-95E7-E3C2BD5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2E241-2DE9-4CBE-9F24-47E5CF7C52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337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B40EB-5059-46BC-9F08-C6D8901A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B6899-410D-4221-914E-320C4D4F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C24C3-4AF0-4508-810C-BFB3F09151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02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D6593-74AB-4229-8C6C-00E52B47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EEB93-23D5-4096-A98E-558AE617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546D3-ED9F-444D-B166-8B9E5EB8EC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866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CA761-0389-4726-B694-59BFEFE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2E457-A447-4C65-BEBB-A40C634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DA5AC-F6C1-4A70-A88F-453CB549A3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631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05ED8-EF37-4738-ADBD-ADA1357E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002B4-70EA-49BF-969F-665318BF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78939-0243-4AF3-A259-E332CFC2AF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395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A77000-16CA-4BB4-A2FF-F398B8E3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40639-D179-4ABD-86E3-9D35A160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11A15-A51E-4198-930B-88D5DD05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5808BB-FAEA-40ED-8A63-A79BF46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 / 38</a:t>
            </a:r>
          </a:p>
        </p:txBody>
      </p:sp>
    </p:spTree>
    <p:extLst>
      <p:ext uri="{BB962C8B-B14F-4D97-AF65-F5344CB8AC3E}">
        <p14:creationId xmlns:p14="http://schemas.microsoft.com/office/powerpoint/2010/main" val="14111125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2C4BC1-56A7-4986-9286-3DF7CB53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3D85F-F4FC-41E5-A149-CDD25448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C089C-DAFB-4A09-AC68-044A467E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4EB52-B8F5-4663-9B80-C3AC290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2C820-9D43-4881-8A81-29E0FDA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95F76-373C-4E97-999E-EEFC9534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7B20E-7ABC-44FD-A7CE-4FBCD239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A5D00-DD3A-4C7B-8A6D-67027E70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30DF2-FF97-41D0-992A-F70D7622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F4A81-83C7-426F-87D9-D9A355CD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BD9F9-B10D-45D5-B23D-DD336A56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BCD47-3BCD-4965-9949-EEF0876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BD24B-02D4-4DC8-A6DD-574A5C43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54EE8-5C2E-4368-9C94-5A6D5BC1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7429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FAE01-6ACF-4AEF-9A04-58D36B6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905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CEE29-7DFF-4816-9D9E-E7BC823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48350"/>
            <a:ext cx="2905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E9E2F-00EF-4CC3-B275-15A0A3AD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固定十對手或凍結的 self-play 4＋6 名單，都維持相同矩陣規模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DB36E-F187-4C45-95CD-01C8DE44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 / 38</a:t>
            </a:r>
          </a:p>
        </p:txBody>
      </p:sp>
    </p:spTree>
    <p:extLst>
      <p:ext uri="{BB962C8B-B14F-4D97-AF65-F5344CB8AC3E}">
        <p14:creationId xmlns:p14="http://schemas.microsoft.com/office/powerpoint/2010/main" val="1115208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40216-D588-4D27-860F-B8BE2170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1F67D-2D02-4F9C-AD57-6B78BD2E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60C88-86AB-48AE-AD50-64297F5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BFFCE-1837-4F80-8519-F3C9B0D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4E5C2-AE3F-4D23-9A1F-B5FE6FB6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A223-A6E9-4D63-8D07-5F1CF869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7E67F-264F-4567-AE94-5BDE45B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6EDC0-AE90-4CB1-9BCD-227EBAE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758A3-1595-4F49-9C9A-12965F98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14EEF-84CB-45AF-8B0E-A770E6F9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3B971-4BE4-4738-8B97-E8B66F05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DA639-8664-465F-B116-C9C7B170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38875"/>
            <a:ext cx="6762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 roster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十個對手分數各自成一個案例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54D8B-CCC9-4482-8893-778D64E8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38875"/>
            <a:ext cx="6572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十欄等權平均＝唯一 fitness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0B243-241D-4493-B03D-9AD0276E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固定名單的 0.5／1／2 加權均分只用於報表與代表選擇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E5A89-1176-4C79-A3D4-CEF1ACB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 / 38</a:t>
            </a:r>
          </a:p>
        </p:txBody>
      </p:sp>
    </p:spTree>
    <p:extLst>
      <p:ext uri="{BB962C8B-B14F-4D97-AF65-F5344CB8AC3E}">
        <p14:creationId xmlns:p14="http://schemas.microsoft.com/office/powerpoint/2010/main" val="5748431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69944-AF4B-40AA-82B3-07B3A771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Fixed roster 的十個對手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44281-0AC2-4265-9051-97841E7C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每個對手 18 場；演化選擇保留十個獨立案例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23112-004A-48ED-A495-BED273B8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基礎基準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5436B-4522-4FDF-831F-4788182B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33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AF9E6-9C02-46E6-9E21-039C3B20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AEDD4-56E5-4C46-A61B-F6DFA59F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9D58B-7664-4548-86F5-36D6B032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B4AC5-14F3-406E-A24F-AA7FABFA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Rush 基準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AFE00-D964-4BDD-8B31-F5BADEE1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81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98127-E6B9-4F9A-A81A-5F351BC6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4B0F3-8121-41B9-BEDD-B9C3E1C0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DF746-A436-47EF-9B1B-E288BCBA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40173-FF7A-43F7-8A36-6B16832A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進階基準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A6A41-ACC4-4C61-AAAD-47100C9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6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16A65-6F49-4A8C-8C52-03813BCA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BF570-B43C-4DCC-9D3F-648E4D41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28F17-CF74-4F75-B541-578E0513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EE6C1-7613-468E-8F5F-AAED575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E625A-FF60-480E-B051-9083C85F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72375"/>
            <a:ext cx="4191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報表權重總和 12.5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C7187-2CC2-4139-A74D-88A99D2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505700"/>
            <a:ext cx="890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Lexicase 使用案例，不以加權總分過濾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CEC1D-507A-4A73-8CB6-500EE733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 / 38</a:t>
            </a:r>
          </a:p>
        </p:txBody>
      </p:sp>
    </p:spTree>
    <p:extLst>
      <p:ext uri="{BB962C8B-B14F-4D97-AF65-F5344CB8AC3E}">
        <p14:creationId xmlns:p14="http://schemas.microsoft.com/office/powerpoint/2010/main" val="12435186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DC62F-2BE4-4D93-8F97-C3C506D7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Opponent Pool 的起始與容量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F6D77-279D-4D87-AB4D-6C4E5F9B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3830300" cy="5429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19050">
            <a:solidFill>
              <a:srgbClr val="DEB4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7465D-15DD-490F-8766-8BDE573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B320A-7547-4FC2-8773-26442BD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894DD-E207-40A2-8883-234D056E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7D273-BC9D-4191-BA2F-E3336CA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A1520-98D7-4973-87C3-5FD5D4C7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64889-6E06-4077-85C2-D2BF380E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2DDA0-F249-4F19-81C9-7C3C28CD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240296-4880-4620-B7D0-4850013B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10BB8-1C75-42A0-8134-69901A23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29293-4CDA-4B39-8233-73204DD9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C0E3CD-C23B-45EB-9081-80A42273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F3770-811E-43FB-8C22-7C609F6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AF422-9752-4942-B07A-5DD0C5F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4805D-4ECD-4EFF-82C6-7B2B0DD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D2C4D-3493-48DD-AAEA-2F765FE0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BC959-3C7D-4A05-BA54-35D507B9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D34CE-503D-47E8-95F0-E81F3AA6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400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26490-1F29-47FC-8EDF-5C08FF69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03809-5127-4F0E-B98A-A1500422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D873B-8F75-4336-A4AC-B427E7BA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CAB81-0652-4D11-8AE9-00F80927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D9AFE-AFF1-4175-BF32-23FA9974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353725-20C7-4283-AA07-BB03BBE1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5F2EB-1716-4021-9865-90E1950D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676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3EEB5-962F-47A8-B956-28A8EAE0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 / 38</a:t>
            </a:r>
          </a:p>
        </p:txBody>
      </p:sp>
    </p:spTree>
    <p:extLst>
      <p:ext uri="{BB962C8B-B14F-4D97-AF65-F5344CB8AC3E}">
        <p14:creationId xmlns:p14="http://schemas.microsoft.com/office/powerpoint/2010/main" val="14724985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F9BDF-9F9E-499B-BB17-A92B88C7A11F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5524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E7FFA-ADF2-4CE2-922A-1B75ED29ADB4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5524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ABE52-5090-40A5-8B71-C61D4587376D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381750" y="4248150"/>
            <a:ext cx="47148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438C3-D669-4D64-8B22-40B1B8EF3F1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048625" y="3048000"/>
            <a:ext cx="22383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7308B-0F2E-46E0-A86A-EB65D5E35B76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14750" y="34099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28679-9C26-45E2-A500-687CFEFA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E1A48-9C41-46AF-8EEC-3A89CA3C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347C2-5708-47D7-A6D1-E9A3FBC8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6FCE4-8E8E-46C6-9075-3F4D771A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1CFAA-9130-4967-8420-C232B61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714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F0F17-4CE6-40FD-9C4D-E788A74A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476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FCC0F-F908-4E73-A2CA-C4CDCF2E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4AD51-D125-497F-99E3-8A36A85E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496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1FC87-FF00-4A9B-8759-026401FC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96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C29E6-0AC0-4B67-808B-C86C9ACC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 / 38</a:t>
            </a:r>
          </a:p>
        </p:txBody>
      </p:sp>
    </p:spTree>
    <p:extLst>
      <p:ext uri="{BB962C8B-B14F-4D97-AF65-F5344CB8AC3E}">
        <p14:creationId xmlns:p14="http://schemas.microsoft.com/office/powerpoint/2010/main" val="19366763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36A13-E04D-4069-8F73-B06AA2863DD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06125" y="53721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6A9B3-8CC8-4D04-9D08-CA5A0CD519E3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53721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9D23E-E07E-43D3-8CE9-08454AEDE1D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53721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F60983-F80E-455D-9CEA-92437CC0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FCCD3-614B-46DF-AB41-FAA5DF8E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4C57A-59B9-47F9-896A-AD1E8A2F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95287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D87A4-0CD6-4CFB-8269-32B2F26C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0C1D3-2C51-45A0-9A48-73C1AC58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A55A2-C689-418C-B29B-17F6603F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333FE-F057-4010-A5FB-8EED427F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D121B-2BD8-423C-B662-3EFB38E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B24D-FA8F-4C09-B457-798B1F6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5E87D-DFB8-4ADA-870C-0C7BE8D1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924E8-CAE1-4C80-BBEC-FF3DDC40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6CF6D-21C7-4D58-A68D-03255632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72F69-B231-4C59-9FDC-C3C79D51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BF5C9-739D-464D-A517-D12B982A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3CADE-6128-49A6-8593-DDCEF840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324C8-9509-4B48-BDD9-613988D2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68857-9F47-48FF-8B1F-F7BB0338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08402-7774-45E9-8542-37CD469A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939F9-E4A5-440C-9B29-0006EAC8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0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52C6A-CB83-4FE0-A07C-D6B8761A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34200"/>
            <a:ext cx="10287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D6113A-5CF6-4E17-B7CF-8F1CA8C8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 / 38</a:t>
            </a:r>
          </a:p>
        </p:txBody>
      </p:sp>
    </p:spTree>
    <p:extLst>
      <p:ext uri="{BB962C8B-B14F-4D97-AF65-F5344CB8AC3E}">
        <p14:creationId xmlns:p14="http://schemas.microsoft.com/office/powerpoint/2010/main" val="4781003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B0B65-6086-478E-BCDF-C0EC6F698211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29500" y="6238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39ECC-99B7-4D7F-8F5B-AFEE3FD286B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0429875" y="4610100"/>
            <a:ext cx="1571625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049FE-392D-49F7-A1D6-DEB69ECC0B2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24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92389-A1BB-4E0E-AEF6-30FF9F0C59B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9243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F9CE6-9DEF-403B-8CCB-A2AB9AC8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BDF6B-67AD-4321-A700-62A35D07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51D9C-AC55-492B-9712-EDDA030E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461F7-4AD9-4AF9-85CA-53CA649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BE0A3-0294-4A8C-9E89-31AB44A6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DD997-29AD-4166-B3D6-59293F0C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25F32-3579-479C-8D74-8D3D74E4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2A447-89F4-49E4-9269-92E93D4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857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A26BB-070E-4756-BC99-9CF1A07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3238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02EA-E752-42A5-B49E-DD191717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8FFE6-4972-44C7-B65D-933A242D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9391C-F3E2-43A1-9D41-C37101B5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3714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3E55E-3DE5-49FB-8369-8F15427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048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37425-B26D-4B8C-8A39-3489B2F8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 / 38</a:t>
            </a:r>
          </a:p>
        </p:txBody>
      </p:sp>
    </p:spTree>
    <p:extLst>
      <p:ext uri="{BB962C8B-B14F-4D97-AF65-F5344CB8AC3E}">
        <p14:creationId xmlns:p14="http://schemas.microsoft.com/office/powerpoint/2010/main" val="96018628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D3477-2948-4533-8AB5-62F11F79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父代重用與兩種重評情境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40393-8452-4D8C-8250-2CC6C538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3857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reuse_cached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正式預設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65FA1-F53F-448A-B701-A6C48C7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76500"/>
            <a:ext cx="3857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 快照刷新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正常評估例外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CA653-33FE-407A-9545-47CDEDF4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0"/>
            <a:ext cx="3857625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regenerate_same_genotype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F634E-8024-4140-8FA6-C4852F4D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3857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 與已完成分數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96B2D-5357-481B-9583-CC7B9C65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57625"/>
            <a:ext cx="3857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 Java 表型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ID、換名單重新評估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A24D8-FA89-4287-BE9D-EE8A9A15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857625"/>
            <a:ext cx="385762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基因不變，重新 Generator 與評估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05AC2-B64D-43DE-834D-6D13175B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一般世代直接重用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2E938-6E94-4DCE-B54A-F5CBD132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保留舊情境證據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A10B9-2F5D-40B8-BCC6-18B4643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inherited Java ＋ static；新複本取代舊 ID 參選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88C30-45C2-409E-A8A2-38AC473B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76275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diagnostic 同時包含再生成與重新對戰的影響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DD382-AC1C-422E-9A84-E936207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 / 38</a:t>
            </a:r>
          </a:p>
        </p:txBody>
      </p:sp>
    </p:spTree>
    <p:extLst>
      <p:ext uri="{BB962C8B-B14F-4D97-AF65-F5344CB8AC3E}">
        <p14:creationId xmlns:p14="http://schemas.microsoft.com/office/powerpoint/2010/main" val="15634483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211BC-C577-4034-B5C4-3ABE14003733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0906125" y="4076700"/>
            <a:ext cx="2095500" cy="1257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BCF50-153C-431D-BD4A-4EA613E21B71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1750" y="3486150"/>
            <a:ext cx="11430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1BF53B-A1A2-42D9-9F20-7364E7A5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467E4-A378-4796-9E75-3F83924F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DD5A8-54C5-4B66-93F8-12E0C94F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04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CE35B-1925-4FD3-B8B5-A2C36566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2B162-E698-4EDF-9671-4FFAD172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CDAD0-FB5E-41F4-9DA9-BE3E3811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E28C2-9570-4583-A3F0-1FF24BA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A797B-660C-4795-AF19-45BEF4E8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67C04-1AD7-4E24-BDE3-84A8907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4FF94-1937-4F79-9A6C-AE2EDD01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1477F-7B9F-40A2-A3DF-AFD4E795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02229-849F-4928-A486-506B27A0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65BA7-8407-4848-8229-AAEA210B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8F4BC-5AEE-4D26-B646-7DE85922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B0311-8D72-4B6E-8C51-157C1CDB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5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4ADF2-3D7B-4B50-93A9-4FAD35C6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180B0-B87C-467A-8D40-88E9E3E9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0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C12D7-D3FF-46D9-A087-8FEF3AD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只在分數邊界需要取捨時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於 ≤ 1.0 的同分層採 seeded max-min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50DB0-F001-411F-B696-AE0D2E73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819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15DF3-38B1-4522-B1DA-1245DA5A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 / 38</a:t>
            </a:r>
          </a:p>
        </p:txBody>
      </p:sp>
    </p:spTree>
    <p:extLst>
      <p:ext uri="{BB962C8B-B14F-4D97-AF65-F5344CB8AC3E}">
        <p14:creationId xmlns:p14="http://schemas.microsoft.com/office/powerpoint/2010/main" val="9311100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F1FF1-22CB-41A6-B353-D2718EB49E43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3049250" y="4676775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C5E25-222D-4F6B-9E60-E1EDCD097D24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3049250" y="34004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62C46-7CA8-4332-AD00-BF958852F75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668000" y="3438525"/>
            <a:ext cx="1333500" cy="962025"/>
          </a:xfrm>
          <a:prstGeom xmlns:a="http://schemas.openxmlformats.org/drawingml/2006/main" prst="bentConnector3">
            <a:avLst>
              <a:gd name="adj1" fmla="val 1714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07757-9541-4C4D-8CC8-238E6450A60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43750" y="34385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9CDD6-8E02-4364-8B19-C72123B5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倖存者選擇與固定人口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CD9E7-C51E-46EF-8C2F-B8535450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μ + 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AB4BD-0D73-449A-89A0-5945FEB3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N 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3F8E8-9D0C-4E9E-AD06-F4E50B83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4C3AF-83AC-4E7D-998D-FE92643C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19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N 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99DD9-8411-4ED7-A3AA-608B5E16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2N 候選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ID 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501C8-8464-4948-8C34-AF768CF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266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只讓完整評估者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填入固定人口 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26D4F-FD80-4A8A-9594-2ED06B61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1243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評估模式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CC3234-05FA-434E-8841-D1A53B1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333625"/>
            <a:ext cx="3524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 roster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十案例 lexicase，選出即移除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57719-1327-4998-91BF-7B9A0306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286375"/>
            <a:ext cx="3524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最高分錨定非串連分層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≤ 1.0 只在切分邊界破同分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2A93F-261D-4393-9FCD-EF161EAF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8580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完成者不足 N：選擇明確失敗。失敗候選仍保留診斷證據。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CB1BE-6725-439A-BFA7-C1B521E4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 / 38</a:t>
            </a:r>
          </a:p>
        </p:txBody>
      </p:sp>
    </p:spTree>
    <p:extLst>
      <p:ext uri="{BB962C8B-B14F-4D97-AF65-F5344CB8AC3E}">
        <p14:creationId xmlns:p14="http://schemas.microsoft.com/office/powerpoint/2010/main" val="7838969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5CE84-B506-4622-8DD6-A16E64FF93A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477500" y="4762500"/>
            <a:ext cx="3810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565D8-CE4E-492E-89F2-880214FB2C8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0477500" y="4286250"/>
            <a:ext cx="38100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60627-A821-49C5-B6DF-BBAA7EA2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反思操作的 static 與 AOS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AF9F1-0670-4AC7-AD00-A117C7A4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33625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A6342-F814-4A50-9034-8952174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33625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5DF1E-9296-47DF-8C66-E50458CE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固定操作機率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0CB8D-2F0A-417D-9864-F1E3A692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147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reward 更新後續選擇機率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AF1EB-F5BE-4186-A816-2DC2DF8F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81500"/>
            <a:ext cx="1809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2D22A-E122-410A-B377-09416343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1809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3FBA5-587E-4797-AF99-48214F27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43550"/>
            <a:ext cx="1905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固定配比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8088C-C7B1-4CC4-95EF-51E5368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190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執行狀態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是否可執行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A1978-4855-4A8C-802A-D1189EB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2381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Opponents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十案例 rank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CCE34-B0CE-47CD-B36C-395910F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0"/>
            <a:ext cx="2381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Head-to-head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條件式 18 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CA096-1BDA-4BC1-8F6E-C77BAD2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770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EMA α = 0.20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F9884-B9D2-4606-980F-049A1978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05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Probability matching ＋最低機率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C39A8-7AAD-4B1C-A61E-C2ACB638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315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reward 不加入搜尋 fitness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990DE-C0F7-432C-AD5F-58E5D2EA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 / 38</a:t>
            </a:r>
          </a:p>
        </p:txBody>
      </p:sp>
    </p:spTree>
    <p:extLst>
      <p:ext uri="{BB962C8B-B14F-4D97-AF65-F5344CB8AC3E}">
        <p14:creationId xmlns:p14="http://schemas.microsoft.com/office/powerpoint/2010/main" val="3573460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25388-61A3-4820-AC84-1F22E3E30F7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929938" y="3162300"/>
            <a:ext cx="2381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24D5A-4217-4143-A427-925627A5276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501063" y="3162300"/>
            <a:ext cx="119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CDF9A-30AB-4D01-A4A0-2A0960DFAEBE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1619250" y="3162300"/>
            <a:ext cx="3405188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D3F0C-E5FC-465A-8461-44E7D64FE0A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24438" y="3162300"/>
            <a:ext cx="1262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9ABA-C74D-4630-B616-DE73650D684B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952875" y="3162300"/>
            <a:ext cx="10715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5407F-C954-4CDF-8298-523CA21BEB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9062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FE3B9-AC5F-4BCB-AB25-63F0622AE00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5C604-1C13-4585-87AA-B0386D4FB72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073BC-B0BC-411B-8999-8CA2F5E3598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5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E8D5A-A768-43C9-B884-CDBD164BA5BC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717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4EB46-DB84-4BF5-960C-39218916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E8179-3265-48FF-AA6B-0C881FC0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EA0E5-6C39-4C3B-9AFF-66015B3D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F9687-57E3-41C3-9332-3768F82E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49D23-8DB8-46CF-AEF2-99110FC1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65864-E698-42A0-A9B5-5416A6E4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A5DD4-9BFE-405F-B732-93B2056D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38125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76022-8E07-4F02-8459-D3286FE2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0527B-D307-4C89-A30B-A6ECA8C7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204787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E1552-1C5D-45E3-9B96-E1E29EA4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0478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9611A-E672-4FCE-B918-9B40B41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08171-98CD-4B82-A380-C063B714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86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3B9E8-81C4-49AE-AFB8-C152EC0E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6AB68-E60B-4084-9DDE-28A4B504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BB327-5F52-4043-9652-88857BFB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FB08E-DCBE-49BD-8741-D63010DB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72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DE08F-B9C8-49AE-B148-D3A7D0BD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 / 38</a:t>
            </a:r>
          </a:p>
        </p:txBody>
      </p:sp>
    </p:spTree>
    <p:extLst>
      <p:ext uri="{BB962C8B-B14F-4D97-AF65-F5344CB8AC3E}">
        <p14:creationId xmlns:p14="http://schemas.microsoft.com/office/powerpoint/2010/main" val="11306047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1A967-3293-4376-A7B5-394CA75FBBCC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24375" y="2762250"/>
            <a:ext cx="3476625" cy="2952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688DD-F4A1-43F3-9170-774548A40111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01000" y="2762250"/>
            <a:ext cx="5810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A10FB-9C57-492B-B0A4-7C896D50CF52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001000" y="2762250"/>
            <a:ext cx="2381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03BAE-E692-4E27-BB9D-3B67010D6A5B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667500" y="2762250"/>
            <a:ext cx="1333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616D8-720C-48A2-B22E-079B8B8681D6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2952750" y="2762250"/>
            <a:ext cx="5048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BB180-08E6-40D4-8504-DABD543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6D3C4-BA80-4244-87FE-EAAA529F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D9C04-071D-41A6-B975-D599DD61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931CE-7C13-447A-B0FA-BBC536B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9DB07-7621-48FB-9094-5BE860A4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F5DAF-8F6D-457C-8F32-B53C6E5D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71875"/>
            <a:ext cx="2857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1FF74-AD2A-4740-8B2C-9E567DA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476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EC99E-7F4D-4E61-B213-15F80981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000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D2ED4-7150-4371-9EEB-7AF5788C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15000"/>
            <a:ext cx="2857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9BF7B-EF6A-4548-9DA5-3AF8E4C0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96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74764-FE89-45E2-8059-A62F72D0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 / 38</a:t>
            </a:r>
          </a:p>
        </p:txBody>
      </p:sp>
    </p:spTree>
    <p:extLst>
      <p:ext uri="{BB962C8B-B14F-4D97-AF65-F5344CB8AC3E}">
        <p14:creationId xmlns:p14="http://schemas.microsoft.com/office/powerpoint/2010/main" val="16153649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E9455-D5C8-45CA-86A0-792149D75910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6667500" y="59150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BA2AA-0A88-49D4-A61B-86CBFBB9814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810750" y="3733800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602B-E3F1-466C-8ECA-8E0F131D2B9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1525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E3896-395A-430B-BA5C-517EA9AFC63E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0050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55276-1C6C-4093-8ECD-978D693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0DFE4-DA67-47F5-9DB7-A0630A43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01BF3-4F6A-439A-BC47-CECD279D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2178B-E8A3-43ED-9FAC-20D73EA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A5DAB-73F6-4DE3-9930-2EFE8FD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0C4F7-DD4D-43C6-BACD-C5ACEDFC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4F674-CD06-46DF-875A-3C570F62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48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71D4C-CFE3-422B-BFEA-1594595C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 / 38</a:t>
            </a:r>
          </a:p>
        </p:txBody>
      </p:sp>
    </p:spTree>
    <p:extLst>
      <p:ext uri="{BB962C8B-B14F-4D97-AF65-F5344CB8AC3E}">
        <p14:creationId xmlns:p14="http://schemas.microsoft.com/office/powerpoint/2010/main" val="51450124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FBBC4-8853-4208-8A76-2DF73AA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51570-BDFC-4538-8176-146E5524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ECD6F-50C3-41DD-92DF-7A5AE981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54A9A-C9FF-4BF8-AFBF-917EDEFF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F0451-7E07-4106-A427-7AED7CB8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3C6F9-9C45-47D8-B92C-D9A09A31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D5151-B913-4476-8A4B-2E9A2F75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77973-D482-4149-9D6E-C36611DD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28707-47B4-40F5-B1D2-80E46ADC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DDCBA-3AEE-4DE9-8F89-1E6EC012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E2947-A197-4880-AD7B-DC321D0D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2FA32-3EAF-4D22-8026-9EB27BD6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79E7C-2478-474F-B144-889F91C2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ACE27-D9B2-40D9-9370-11003B767A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864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796D4-864A-434D-9D74-AF98CB33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1B517-09C1-4598-9DAA-92A460707D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295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26D32-961C-407A-B83C-08BEF5CD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54BC7-5CC5-4816-B25E-BE1FEDBD3B6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725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EBB5F5-F242-4D5A-B894-2BAC32AC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498CC-3C75-4029-BBE5-6D6BE70777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156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D34CE-29A2-4E47-BB1D-ADBF8B20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F09BB-C67A-4E3A-A7E0-B8EF1FEF51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586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88231-1711-4F36-94EF-CA7655FD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DB61C-9533-4C1B-AD58-86EAEA1F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67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4C5BB-EB5D-4FAB-BF68-96CBAE6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86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28A9D-D7A3-4C2A-A115-C83C4073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 / 38</a:t>
            </a:r>
          </a:p>
        </p:txBody>
      </p:sp>
    </p:spTree>
    <p:extLst>
      <p:ext uri="{BB962C8B-B14F-4D97-AF65-F5344CB8AC3E}">
        <p14:creationId xmlns:p14="http://schemas.microsoft.com/office/powerpoint/2010/main" val="8086652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B5812-C51A-4309-920A-72C02921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E0287-D47E-469A-BC31-4BBCE31E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191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9C991-7574-45B2-AFDF-CCCB91FA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6DC34-DB60-4E46-90DA-C32577E6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4CC0D-A443-48A9-8D51-F24E08CA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D9ED6-4D3D-45B9-8AD4-EAE9017F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5FCFA-2FDD-4BE0-B63E-3CFBEE4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26CDC-0F53-484A-8C5D-7F2F6951FC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9718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FCB60-65EF-4761-99E2-9BBF10EE1F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1162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00B86-29FC-4893-B45B-3950C836FF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E713E-627D-45D2-8891-F21B0DB04E5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49D05-24F5-410C-A12A-17F7D1FBB2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4B819-981E-4AEC-AB3E-02625D846BD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6A0CF-1CB4-4DCD-940B-05B81911DE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7160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4AB58-48EA-4B5D-BFC8-CC61C91A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533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4E7D0-F5AF-43A8-A9DD-669F4883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4572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DB5DA-B696-472B-B329-742E382C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104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1D96E-C76D-4422-868D-13D9AF42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 / 38</a:t>
            </a:r>
          </a:p>
        </p:txBody>
      </p:sp>
    </p:spTree>
    <p:extLst>
      <p:ext uri="{BB962C8B-B14F-4D97-AF65-F5344CB8AC3E}">
        <p14:creationId xmlns:p14="http://schemas.microsoft.com/office/powerpoint/2010/main" val="19762776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4A0BB-28E6-4E2D-BB2C-678857F07D9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3049250" y="3448050"/>
            <a:ext cx="9525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1B6EB-3D2C-482D-A6A4-713D431F4F9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382250" y="29146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2ABF3-68A8-4557-B643-229D1226A4D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858000" y="2914650"/>
            <a:ext cx="6667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35D65-8F57-4368-951A-7A03A1AAD43A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381375" y="3076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144BF8-7EC8-473B-B6FC-C683733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6CF40-19A1-48C2-B444-12AD92E5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60C70-EF61-424B-99DD-5C37820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585D4-BD89-4F7A-9542-D583EEEC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857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92F0D-FCF6-45AE-A8CC-5C53B310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D7B99-B4D3-44AA-AD4A-5551B833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67125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0B781-C6D7-429D-94AD-BC0BC860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 Final Test 矩陣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F4349-E7F7-49BB-A86B-9B589D4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115BA-7DFB-4602-ABB8-88A12248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E2A26-E60B-4010-B1B7-22F8127B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2EE87-26A7-4676-A596-0C669918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559DE-0DBC-430C-9C51-2FC7AD0B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7704B-656A-46A9-AFE6-B020341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D6524-87F9-43D8-BD20-E03ACE49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D6A77-0D5A-45D9-848A-BCE6F145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897A76-7545-4C05-8E30-49AAD4B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場 × 2 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9B6A3E-8B64-4460-A28B-AA55D94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F8052-970F-42BC-A2F3-43998392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 / 38</a:t>
            </a:r>
          </a:p>
        </p:txBody>
      </p:sp>
    </p:spTree>
    <p:extLst>
      <p:ext uri="{BB962C8B-B14F-4D97-AF65-F5344CB8AC3E}">
        <p14:creationId xmlns:p14="http://schemas.microsoft.com/office/powerpoint/2010/main" val="101651480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1769D-E5D7-421B-A6CC-F048FA2F2D85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573000" y="4219575"/>
            <a:ext cx="476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4A142-D40D-45D2-B7CE-0B36876D5F4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B705F6-6317-4980-B009-F1928BF5320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79FB4-A2BF-4327-A697-E042EF41E97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96BE3-FCE8-4387-B40D-D0ABFC90F6E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800475"/>
            <a:ext cx="128587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58158-1C2E-4C7B-BD1E-E6F3BFF03F8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076575"/>
            <a:ext cx="12858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10019-713A-481F-A6A8-20C19663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88764-5AE8-4A07-8E56-78464794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DFE4B-BF75-4C32-8878-38D9AFAB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ADD68-8306-44A0-8ECD-95D3F9C3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7AEA3-CF92-415D-9D5F-A736B32E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309C4-EEBA-46ED-AD92-8B18FE7A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844E9-7EFC-48D9-B377-3FA39D45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BFD76-F166-4C0A-B0E1-30C74917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1BB41-380D-4013-8E6B-597E1F8A49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4714875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9E7D9-FB01-412D-8BF7-6455144A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15FED-6054-49F1-BBA8-FF2992CE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699A2-9EE4-4A6D-93AF-444BE907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9DF06-0657-4C5B-8CAD-7F65FFCC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37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3A2DC-FE2F-49FE-B72A-08FE3DA8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47CBB-DC7E-46E3-AC4A-62F40053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3D055-EC62-476B-B472-941B9336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054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32611-3723-4593-A1F3-EC344E91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2952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36B6B-EBFB-4EDA-9F57-31529A8F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7528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E2043-BC60-4504-8F96-CEF18077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CE8627-E36A-4E5C-8573-73856207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 / 38</a:t>
            </a:r>
          </a:p>
        </p:txBody>
      </p:sp>
    </p:spTree>
    <p:extLst>
      <p:ext uri="{BB962C8B-B14F-4D97-AF65-F5344CB8AC3E}">
        <p14:creationId xmlns:p14="http://schemas.microsoft.com/office/powerpoint/2010/main" val="47602935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D63C2-7374-4242-9866-48C8C8DC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56DA3-4955-4A8A-A36B-6B2E78D0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7146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7536E-3B1C-41D9-BABC-9D4C8CED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51F8C-A068-4840-A116-849583E5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77248-CB13-4004-AB57-2CA029F9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591B4-F79D-4995-9E4A-E40C0AC4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FE2F5-548B-420C-BC92-E2488597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EA520-E227-4622-9EBE-CC138BC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76BC3-1ECA-457C-9872-7FE5F110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4B882-5BCE-4533-82AC-7108F36C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F6272-C94A-4DF8-A34F-8C6C2AB4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E91FE-7D84-4228-A340-0DB5E36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F865A-E145-49C4-A4B5-1A923E8D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5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8EAAC-3B65-4253-AA2E-89CDFB848D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6762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A96D7-1B18-4DAB-B3A9-9F253BE0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53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CF875-D33D-42B3-982A-7A733F7A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437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C6B52-97E0-4DC2-9EB1-CBD541A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91450"/>
            <a:ext cx="6858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50236-D2DF-42BB-BB54-88407CA3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 / 38</a:t>
            </a:r>
          </a:p>
        </p:txBody>
      </p:sp>
    </p:spTree>
    <p:extLst>
      <p:ext uri="{BB962C8B-B14F-4D97-AF65-F5344CB8AC3E}">
        <p14:creationId xmlns:p14="http://schemas.microsoft.com/office/powerpoint/2010/main" val="19144797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69609-1842-4A9F-8F7B-E71AB9DDC96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572625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75D4E-17F2-4281-8B96-325A50D2CE50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667250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3E03C-ACBA-4E11-9018-F7C7C571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60558-EB43-430A-A5D8-323F82F6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B9641-23C6-46A8-B7BE-F6C488B2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9AAA1-E8F9-4AFE-A7B9-6D6A2050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E2F3E-65B2-4D37-ADB9-38372D42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78F31-5FD9-406A-90DF-EF0482F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23DFE-C94C-46D8-BDCF-B1A3335F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6AEBE-0D6E-4393-A975-BF07660A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67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9520A-C223-4AB4-A5F1-F21A1005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 / 38</a:t>
            </a:r>
          </a:p>
        </p:txBody>
      </p:sp>
    </p:spTree>
    <p:extLst>
      <p:ext uri="{BB962C8B-B14F-4D97-AF65-F5344CB8AC3E}">
        <p14:creationId xmlns:p14="http://schemas.microsoft.com/office/powerpoint/2010/main" val="645040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8BFDE-A550-4684-9C51-E744DCF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08E55-BB41-449A-9704-D61B9E16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95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FB108-05E7-4B21-B2E5-9251B1A4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F807B-A2FB-441C-82DC-C4068EE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3810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1E351-A02F-4473-96B6-B009D136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57BB8-A26D-49A8-AB20-EB6F3FA8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0"/>
            <a:ext cx="3714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E0EA3-1684-477A-A0D9-FF0BB39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A4809-1731-4D82-9328-6456C22D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4DB46-E4A5-41FE-B6E9-0D341F13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02B05-E20A-4B50-88D1-11ED3AAB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A1724-86E8-42F5-85A6-9D5A4B83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F0B8B-1237-4CDB-BA3D-C54B48D4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6C6DC-8045-4339-9745-A214B417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F9F94-7336-4E29-88B8-4D396AC3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F364E-6886-465F-89FB-C3BBAC74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F6519-4A23-45E1-BC69-54A9952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1038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2E5D8-80F3-4B5A-BF27-084AFE20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199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7BEA4-C6C0-49A1-A80C-D850668E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219950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3D65D-9690-41C8-87CB-8BBCED6F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2190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22CE1-AD0C-4EA7-9A80-EA5C9231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19950"/>
            <a:ext cx="3619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9D239-478D-4F7D-9320-922F98B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781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ED9570-D27F-46C1-ACEC-5154F39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 / 38</a:t>
            </a:r>
          </a:p>
        </p:txBody>
      </p:sp>
    </p:spTree>
    <p:extLst>
      <p:ext uri="{BB962C8B-B14F-4D97-AF65-F5344CB8AC3E}">
        <p14:creationId xmlns:p14="http://schemas.microsoft.com/office/powerpoint/2010/main" val="159046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2026-10-21T11:32:59.0020000Z</dcterms:created>
  <dcterms:modified xsi:type="dcterms:W3CDTF">2026-10-21T11:32:59.0020000Z</dcterms:modified>
</coreProperties>
</file>