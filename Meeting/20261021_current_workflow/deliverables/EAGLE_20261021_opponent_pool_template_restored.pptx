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slides/charts/chart1.xml" ContentType="application/vnd.openxmlformats-officedocument.drawingml.chart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slides/charts/chart8.xml" ContentType="application/vnd.openxmlformats-officedocument.drawingml.chart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slides/charts/chart9.xml" ContentType="application/vnd.openxmlformats-officedocument.drawingml.chart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slides/charts/chart10.xml" ContentType="application/vnd.openxmlformats-officedocument.drawingml.chart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c57d07163743ab" /><Relationship Type="http://schemas.openxmlformats.org/officeDocument/2006/relationships/extended-properties" Target="/docProps/app.xml" Id="R6291beabfdb74984" /><Relationship Type="http://schemas.openxmlformats.org/officeDocument/2006/relationships/officeDocument" Target="/ppt/presentation.xml" Id="R1ac22833994c46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41b1a9844c42e6"/>
  </p:sldMasterIdLst>
  <p:notesMasterIdLst>
    <p:notesMasterId xmlns:r="http://schemas.openxmlformats.org/officeDocument/2006/relationships" r:id="R792ee9b1c3cb4e6d"/>
  </p:notesMasterIdLst>
  <p:sldIdLst>
    <p:sldId xmlns:r="http://schemas.openxmlformats.org/officeDocument/2006/relationships" id="256" r:id="R3072b4a3d23943cf"/>
    <p:sldId xmlns:r="http://schemas.openxmlformats.org/officeDocument/2006/relationships" id="257" r:id="Rece290d094ca4f33"/>
    <p:sldId xmlns:r="http://schemas.openxmlformats.org/officeDocument/2006/relationships" id="258" r:id="R34d97b8b27274f35"/>
    <p:sldId xmlns:r="http://schemas.openxmlformats.org/officeDocument/2006/relationships" id="259" r:id="R175496d964e74906"/>
    <p:sldId xmlns:r="http://schemas.openxmlformats.org/officeDocument/2006/relationships" id="260" r:id="R7db64811b3fd4e19"/>
    <p:sldId xmlns:r="http://schemas.openxmlformats.org/officeDocument/2006/relationships" id="261" r:id="R1b0f04fb19cb4430"/>
    <p:sldId xmlns:r="http://schemas.openxmlformats.org/officeDocument/2006/relationships" id="262" r:id="Rf6ce320b90874a76"/>
    <p:sldId xmlns:r="http://schemas.openxmlformats.org/officeDocument/2006/relationships" id="263" r:id="R7e2997801e524b29"/>
    <p:sldId xmlns:r="http://schemas.openxmlformats.org/officeDocument/2006/relationships" id="264" r:id="R6928bc0d5dae4d32"/>
    <p:sldId xmlns:r="http://schemas.openxmlformats.org/officeDocument/2006/relationships" id="265" r:id="R0c04b2e771a1468a"/>
    <p:sldId xmlns:r="http://schemas.openxmlformats.org/officeDocument/2006/relationships" id="266" r:id="Rf32a976fb3994fb6"/>
    <p:sldId xmlns:r="http://schemas.openxmlformats.org/officeDocument/2006/relationships" id="267" r:id="R21817d1cfc8e4645"/>
    <p:sldId xmlns:r="http://schemas.openxmlformats.org/officeDocument/2006/relationships" id="268" r:id="Redc802ca62824128"/>
    <p:sldId xmlns:r="http://schemas.openxmlformats.org/officeDocument/2006/relationships" id="269" r:id="R44a3e3ee35d0422f"/>
    <p:sldId xmlns:r="http://schemas.openxmlformats.org/officeDocument/2006/relationships" id="270" r:id="R8470110d15924337"/>
    <p:sldId xmlns:r="http://schemas.openxmlformats.org/officeDocument/2006/relationships" id="271" r:id="R6e022f29df904a8d"/>
    <p:sldId xmlns:r="http://schemas.openxmlformats.org/officeDocument/2006/relationships" id="272" r:id="R21f3b981285d452d"/>
    <p:sldId xmlns:r="http://schemas.openxmlformats.org/officeDocument/2006/relationships" id="273" r:id="R5f34e95e6b274dc0"/>
    <p:sldId xmlns:r="http://schemas.openxmlformats.org/officeDocument/2006/relationships" id="274" r:id="R93ad57b656e841b2"/>
    <p:sldId xmlns:r="http://schemas.openxmlformats.org/officeDocument/2006/relationships" id="275" r:id="Ra8e219da9b414ab4"/>
    <p:sldId xmlns:r="http://schemas.openxmlformats.org/officeDocument/2006/relationships" id="276" r:id="R23a4e2e1d8bf4150"/>
    <p:sldId xmlns:r="http://schemas.openxmlformats.org/officeDocument/2006/relationships" id="277" r:id="Rd395d96b961349b6"/>
    <p:sldId xmlns:r="http://schemas.openxmlformats.org/officeDocument/2006/relationships" id="278" r:id="Rf03a73a2e44d43c5"/>
    <p:sldId xmlns:r="http://schemas.openxmlformats.org/officeDocument/2006/relationships" id="279" r:id="R4b69fc30d3fb4c98"/>
    <p:sldId xmlns:r="http://schemas.openxmlformats.org/officeDocument/2006/relationships" id="280" r:id="R2b616a8835344544"/>
    <p:sldId xmlns:r="http://schemas.openxmlformats.org/officeDocument/2006/relationships" id="281" r:id="R5d33860b8af24811"/>
    <p:sldId xmlns:r="http://schemas.openxmlformats.org/officeDocument/2006/relationships" id="282" r:id="R390302ef89b843ac"/>
    <p:sldId xmlns:r="http://schemas.openxmlformats.org/officeDocument/2006/relationships" id="283" r:id="R2914400761074fbe"/>
    <p:sldId xmlns:r="http://schemas.openxmlformats.org/officeDocument/2006/relationships" id="284" r:id="R092f22f2777f410f"/>
    <p:sldId xmlns:r="http://schemas.openxmlformats.org/officeDocument/2006/relationships" id="285" r:id="R9bd114e3accc4f51"/>
    <p:sldId xmlns:r="http://schemas.openxmlformats.org/officeDocument/2006/relationships" id="286" r:id="R73e3725942f44f6c"/>
    <p:sldId xmlns:r="http://schemas.openxmlformats.org/officeDocument/2006/relationships" id="287" r:id="R91a5f7604f2542fa"/>
    <p:sldId xmlns:r="http://schemas.openxmlformats.org/officeDocument/2006/relationships" id="288" r:id="R9bdb058d71ec4ad6"/>
    <p:sldId xmlns:r="http://schemas.openxmlformats.org/officeDocument/2006/relationships" id="289" r:id="R1b5afa38bbff4803"/>
    <p:sldId xmlns:r="http://schemas.openxmlformats.org/officeDocument/2006/relationships" id="290" r:id="R3dc5cd2703d14499"/>
    <p:sldId xmlns:r="http://schemas.openxmlformats.org/officeDocument/2006/relationships" id="291" r:id="R433ec8262f024f61"/>
    <p:sldId xmlns:r="http://schemas.openxmlformats.org/officeDocument/2006/relationships" id="292" r:id="R687d130636464014"/>
    <p:sldId xmlns:r="http://schemas.openxmlformats.org/officeDocument/2006/relationships" id="293" r:id="R27c8e3f238b64532"/>
    <p:sldId xmlns:r="http://schemas.openxmlformats.org/officeDocument/2006/relationships" id="294" r:id="R86c54cf698884188"/>
    <p:sldId xmlns:r="http://schemas.openxmlformats.org/officeDocument/2006/relationships" id="295" r:id="R9b781fdcb72d4bfd"/>
    <p:sldId xmlns:r="http://schemas.openxmlformats.org/officeDocument/2006/relationships" id="296" r:id="R975b8bd7456e4781"/>
    <p:sldId xmlns:r="http://schemas.openxmlformats.org/officeDocument/2006/relationships" id="297" r:id="R10c6ef64cda24eb8"/>
    <p:sldId xmlns:r="http://schemas.openxmlformats.org/officeDocument/2006/relationships" id="298" r:id="R2f19003c91bd4574"/>
    <p:sldId xmlns:r="http://schemas.openxmlformats.org/officeDocument/2006/relationships" id="299" r:id="Recee3548d7164fef"/>
    <p:sldId xmlns:r="http://schemas.openxmlformats.org/officeDocument/2006/relationships" id="300" r:id="R4a1a410dc9db400c"/>
  </p:sldIdLst>
  <p:sldSz cx="15925800" cy="8963025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8497E131-5584-4FF0-9A17-202609170001}">
  <a:tblStyle styleId="{8497E131-5584-4FF0-9A17-202609170001}" styleName="EAGLE 0917 Rose">
    <a:wholeTbl>
      <a:tcTxStyle b="off">
        <a:fontRef idx="minor">
          <a:srgbClr val="423C3B"/>
        </a:fontRef>
        <a:srgbClr val="423C3B"/>
      </a:tcTxStyle>
      <a:tcStyle>
        <a:tcBdr>
          <a:left>
            <a:ln w="6350">
              <a:solidFill>
                <a:srgbClr val="423C3B"/>
              </a:solidFill>
              <a:prstDash val="solid"/>
            </a:ln>
          </a:left>
          <a:right>
            <a:ln w="6350">
              <a:solidFill>
                <a:srgbClr val="423C3B"/>
              </a:solidFill>
              <a:prstDash val="solid"/>
            </a:ln>
          </a:right>
          <a:top>
            <a:ln w="6350">
              <a:solidFill>
                <a:srgbClr val="423C3B"/>
              </a:solidFill>
              <a:prstDash val="solid"/>
            </a:ln>
          </a:top>
          <a:bottom>
            <a:ln w="6350">
              <a:solidFill>
                <a:srgbClr val="423C3B"/>
              </a:solidFill>
              <a:prstDash val="solid"/>
            </a:ln>
          </a:bottom>
          <a:insideH>
            <a:ln w="6350">
              <a:solidFill>
                <a:srgbClr val="423C3B"/>
              </a:solidFill>
              <a:prstDash val="solid"/>
            </a:ln>
          </a:insideH>
          <a:insideV>
            <a:ln w="6350">
              <a:solidFill>
                <a:srgbClr val="423C3B"/>
              </a:solidFill>
              <a:prstDash val="solid"/>
            </a:ln>
          </a:insideV>
        </a:tcBdr>
        <a:fill>
          <a:solidFill>
            <a:srgbClr val="FCF8F5"/>
          </a:solidFill>
        </a:fill>
      </a:tcStyle>
    </a:wholeTbl>
    <a:firstRow>
      <a:tcTxStyle b="on">
        <a:fontRef idx="minor">
          <a:srgbClr val="423C3B"/>
        </a:fontRef>
        <a:srgbClr val="423C3B"/>
      </a:tcTxStyle>
      <a:tcStyle>
        <a:tcBdr>
          <a:left>
            <a:ln w="6350">
              <a:solidFill>
                <a:srgbClr val="423C3B"/>
              </a:solidFill>
              <a:prstDash val="solid"/>
            </a:ln>
          </a:left>
          <a:right>
            <a:ln w="6350">
              <a:solidFill>
                <a:srgbClr val="423C3B"/>
              </a:solidFill>
              <a:prstDash val="solid"/>
            </a:ln>
          </a:right>
          <a:top>
            <a:ln w="6350">
              <a:solidFill>
                <a:srgbClr val="423C3B"/>
              </a:solidFill>
              <a:prstDash val="solid"/>
            </a:ln>
          </a:top>
          <a:bottom>
            <a:ln w="6350">
              <a:solidFill>
                <a:srgbClr val="423C3B"/>
              </a:solidFill>
              <a:prstDash val="solid"/>
            </a:ln>
          </a:bottom>
          <a:insideH>
            <a:ln w="6350">
              <a:solidFill>
                <a:srgbClr val="423C3B"/>
              </a:solidFill>
              <a:prstDash val="solid"/>
            </a:ln>
          </a:insideH>
          <a:insideV>
            <a:ln w="6350">
              <a:solidFill>
                <a:srgbClr val="423C3B"/>
              </a:solidFill>
              <a:prstDash val="solid"/>
            </a:ln>
          </a:insideV>
        </a:tcBdr>
        <a:fill>
          <a:solidFill>
            <a:srgbClr val="DEB4BA"/>
          </a:solidFill>
        </a:fill>
      </a:tcStyle>
    </a:firstRow>
    <a:lastRow>
      <a:tcTxStyle b="on">
        <a:fontRef idx="minor">
          <a:srgbClr val="423C3B"/>
        </a:fontRef>
        <a:srgbClr val="423C3B"/>
      </a:tcTxStyle>
      <a:tcStyle>
        <a:tcBdr>
          <a:left>
            <a:ln w="6350">
              <a:solidFill>
                <a:srgbClr val="423C3B"/>
              </a:solidFill>
              <a:prstDash val="solid"/>
            </a:ln>
          </a:left>
          <a:right>
            <a:ln w="6350">
              <a:solidFill>
                <a:srgbClr val="423C3B"/>
              </a:solidFill>
              <a:prstDash val="solid"/>
            </a:ln>
          </a:right>
          <a:top>
            <a:ln w="6350">
              <a:solidFill>
                <a:srgbClr val="423C3B"/>
              </a:solidFill>
              <a:prstDash val="solid"/>
            </a:ln>
          </a:top>
          <a:bottom>
            <a:ln w="6350">
              <a:solidFill>
                <a:srgbClr val="423C3B"/>
              </a:solidFill>
              <a:prstDash val="solid"/>
            </a:ln>
          </a:bottom>
          <a:insideH>
            <a:ln w="6350">
              <a:solidFill>
                <a:srgbClr val="423C3B"/>
              </a:solidFill>
              <a:prstDash val="solid"/>
            </a:ln>
          </a:insideH>
          <a:insideV>
            <a:ln w="6350">
              <a:solidFill>
                <a:srgbClr val="423C3B"/>
              </a:solidFill>
              <a:prstDash val="solid"/>
            </a:ln>
          </a:insideV>
        </a:tcBdr>
        <a:fill>
          <a:solidFill>
            <a:srgbClr val="FAEDC6"/>
          </a:solidFill>
        </a:fill>
      </a:tcStyle>
    </a:la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4b6b7ab58440ce" /><Relationship Type="http://schemas.openxmlformats.org/officeDocument/2006/relationships/slideMaster" Target="/ppt/slideMasters/slideMaster1.xml" Id="R4c41b1a9844c42e6" /><Relationship Type="http://schemas.openxmlformats.org/officeDocument/2006/relationships/notesMaster" Target="/ppt/notesMasters/notesMaster1.xml" Id="R792ee9b1c3cb4e6d" /><Relationship Type="http://schemas.openxmlformats.org/officeDocument/2006/relationships/presProps" Target="/ppt/presProps.xml" Id="Ree792b9b8c8e4931" /><Relationship Type="http://schemas.openxmlformats.org/officeDocument/2006/relationships/viewProps" Target="/ppt/viewProps.xml" Id="Rf3e9ba47ac6244d2" /><Relationship Type="http://schemas.openxmlformats.org/officeDocument/2006/relationships/tableStyles" Target="/ppt/tableStyles.xml" Id="R9f10876f65604797" /><Relationship Type="http://schemas.openxmlformats.org/officeDocument/2006/relationships/slide" Target="/ppt/slides/slide1.xml" Id="R3072b4a3d23943cf" /><Relationship Type="http://schemas.openxmlformats.org/officeDocument/2006/relationships/slide" Target="/ppt/slides/slide2.xml" Id="Rece290d094ca4f33" /><Relationship Type="http://schemas.openxmlformats.org/officeDocument/2006/relationships/slide" Target="/ppt/slides/slide3.xml" Id="R34d97b8b27274f35" /><Relationship Type="http://schemas.openxmlformats.org/officeDocument/2006/relationships/slide" Target="/ppt/slides/slide4.xml" Id="R175496d964e74906" /><Relationship Type="http://schemas.openxmlformats.org/officeDocument/2006/relationships/slide" Target="/ppt/slides/slide5.xml" Id="R7db64811b3fd4e19" /><Relationship Type="http://schemas.openxmlformats.org/officeDocument/2006/relationships/slide" Target="/ppt/slides/slide6.xml" Id="R1b0f04fb19cb4430" /><Relationship Type="http://schemas.openxmlformats.org/officeDocument/2006/relationships/slide" Target="/ppt/slides/slide7.xml" Id="Rf6ce320b90874a76" /><Relationship Type="http://schemas.openxmlformats.org/officeDocument/2006/relationships/slide" Target="/ppt/slides/slide8.xml" Id="R7e2997801e524b29" /><Relationship Type="http://schemas.openxmlformats.org/officeDocument/2006/relationships/slide" Target="/ppt/slides/slide9.xml" Id="R6928bc0d5dae4d32" /><Relationship Type="http://schemas.openxmlformats.org/officeDocument/2006/relationships/slide" Target="/ppt/slides/slide10.xml" Id="R0c04b2e771a1468a" /><Relationship Type="http://schemas.openxmlformats.org/officeDocument/2006/relationships/slide" Target="/ppt/slides/slide11.xml" Id="Rf32a976fb3994fb6" /><Relationship Type="http://schemas.openxmlformats.org/officeDocument/2006/relationships/slide" Target="/ppt/slides/slide12.xml" Id="R21817d1cfc8e4645" /><Relationship Type="http://schemas.openxmlformats.org/officeDocument/2006/relationships/slide" Target="/ppt/slides/slide13.xml" Id="Redc802ca62824128" /><Relationship Type="http://schemas.openxmlformats.org/officeDocument/2006/relationships/slide" Target="/ppt/slides/slide14.xml" Id="R44a3e3ee35d0422f" /><Relationship Type="http://schemas.openxmlformats.org/officeDocument/2006/relationships/slide" Target="/ppt/slides/slide15.xml" Id="R8470110d15924337" /><Relationship Type="http://schemas.openxmlformats.org/officeDocument/2006/relationships/slide" Target="/ppt/slides/slide16.xml" Id="R6e022f29df904a8d" /><Relationship Type="http://schemas.openxmlformats.org/officeDocument/2006/relationships/slide" Target="/ppt/slides/slide17.xml" Id="R21f3b981285d452d" /><Relationship Type="http://schemas.openxmlformats.org/officeDocument/2006/relationships/slide" Target="/ppt/slides/slide18.xml" Id="R5f34e95e6b274dc0" /><Relationship Type="http://schemas.openxmlformats.org/officeDocument/2006/relationships/slide" Target="/ppt/slides/slide19.xml" Id="R93ad57b656e841b2" /><Relationship Type="http://schemas.openxmlformats.org/officeDocument/2006/relationships/slide" Target="/ppt/slides/slide20.xml" Id="Ra8e219da9b414ab4" /><Relationship Type="http://schemas.openxmlformats.org/officeDocument/2006/relationships/slide" Target="/ppt/slides/slide21.xml" Id="R23a4e2e1d8bf4150" /><Relationship Type="http://schemas.openxmlformats.org/officeDocument/2006/relationships/slide" Target="/ppt/slides/slide22.xml" Id="Rd395d96b961349b6" /><Relationship Type="http://schemas.openxmlformats.org/officeDocument/2006/relationships/slide" Target="/ppt/slides/slide23.xml" Id="Rf03a73a2e44d43c5" /><Relationship Type="http://schemas.openxmlformats.org/officeDocument/2006/relationships/slide" Target="/ppt/slides/slide24.xml" Id="R4b69fc30d3fb4c98" /><Relationship Type="http://schemas.openxmlformats.org/officeDocument/2006/relationships/slide" Target="/ppt/slides/slide25.xml" Id="R2b616a8835344544" /><Relationship Type="http://schemas.openxmlformats.org/officeDocument/2006/relationships/slide" Target="/ppt/slides/slide26.xml" Id="R5d33860b8af24811" /><Relationship Type="http://schemas.openxmlformats.org/officeDocument/2006/relationships/slide" Target="/ppt/slides/slide27.xml" Id="R390302ef89b843ac" /><Relationship Type="http://schemas.openxmlformats.org/officeDocument/2006/relationships/slide" Target="/ppt/slides/slide28.xml" Id="R2914400761074fbe" /><Relationship Type="http://schemas.openxmlformats.org/officeDocument/2006/relationships/slide" Target="/ppt/slides/slide29.xml" Id="R092f22f2777f410f" /><Relationship Type="http://schemas.openxmlformats.org/officeDocument/2006/relationships/slide" Target="/ppt/slides/slide30.xml" Id="R9bd114e3accc4f51" /><Relationship Type="http://schemas.openxmlformats.org/officeDocument/2006/relationships/slide" Target="/ppt/slides/slide31.xml" Id="R73e3725942f44f6c" /><Relationship Type="http://schemas.openxmlformats.org/officeDocument/2006/relationships/slide" Target="/ppt/slides/slide32.xml" Id="R91a5f7604f2542fa" /><Relationship Type="http://schemas.openxmlformats.org/officeDocument/2006/relationships/slide" Target="/ppt/slides/slide33.xml" Id="R9bdb058d71ec4ad6" /><Relationship Type="http://schemas.openxmlformats.org/officeDocument/2006/relationships/slide" Target="/ppt/slides/slide34.xml" Id="R1b5afa38bbff4803" /><Relationship Type="http://schemas.openxmlformats.org/officeDocument/2006/relationships/slide" Target="/ppt/slides/slide35.xml" Id="R3dc5cd2703d14499" /><Relationship Type="http://schemas.openxmlformats.org/officeDocument/2006/relationships/slide" Target="/ppt/slides/slide36.xml" Id="R433ec8262f024f61" /><Relationship Type="http://schemas.openxmlformats.org/officeDocument/2006/relationships/slide" Target="/ppt/slides/slide37.xml" Id="R687d130636464014" /><Relationship Type="http://schemas.openxmlformats.org/officeDocument/2006/relationships/slide" Target="/ppt/slides/slide38.xml" Id="R27c8e3f238b64532" /><Relationship Type="http://schemas.openxmlformats.org/officeDocument/2006/relationships/slide" Target="/ppt/slides/slide39.xml" Id="R86c54cf698884188" /><Relationship Type="http://schemas.openxmlformats.org/officeDocument/2006/relationships/slide" Target="/ppt/slides/slide40.xml" Id="R9b781fdcb72d4bfd" /><Relationship Type="http://schemas.openxmlformats.org/officeDocument/2006/relationships/slide" Target="/ppt/slides/slide41.xml" Id="R975b8bd7456e4781" /><Relationship Type="http://schemas.openxmlformats.org/officeDocument/2006/relationships/slide" Target="/ppt/slides/slide42.xml" Id="R10c6ef64cda24eb8" /><Relationship Type="http://schemas.openxmlformats.org/officeDocument/2006/relationships/slide" Target="/ppt/slides/slide43.xml" Id="R2f19003c91bd4574" /><Relationship Type="http://schemas.openxmlformats.org/officeDocument/2006/relationships/slide" Target="/ppt/slides/slide44.xml" Id="Recee3548d7164fef" /><Relationship Type="http://schemas.openxmlformats.org/officeDocument/2006/relationships/slide" Target="/ppt/slides/slide45.xml" Id="R4a1a410dc9db40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621256985646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EAGLE">
  <a:themeElements>
    <a:clrScheme name="Meeting 0830 Rose &amp; Gold">
      <a:dk1>
        <a:srgbClr val="47171C"/>
      </a:dk1>
      <a:lt1>
        <a:srgbClr val="FCF8F5"/>
      </a:lt1>
      <a:dk2>
        <a:srgbClr val="423C3B"/>
      </a:dk2>
      <a:lt2>
        <a:srgbClr val="FFFFFF"/>
      </a:lt2>
      <a:accent1>
        <a:srgbClr val="CF8792"/>
      </a:accent1>
      <a:accent2>
        <a:srgbClr val="47171C"/>
      </a:accent2>
      <a:accent3>
        <a:srgbClr val="CF9BA5"/>
      </a:accent3>
      <a:accent4>
        <a:srgbClr val="C69B45"/>
      </a:accent4>
      <a:accent5>
        <a:srgbClr val="FAEDC6"/>
      </a:accent5>
      <a:accent6>
        <a:srgbClr val="423C3B"/>
      </a:accent6>
      <a:hlink>
        <a:srgbClr val="CF8792"/>
      </a:hlink>
      <a:folHlink>
        <a:srgbClr val="C69B45"/>
      </a:folHlink>
    </a:clrScheme>
    <a:fontScheme name="Office">
      <a:majorFont>
        <a:latin typeface="Source Han Serif TW"/>
        <a:ea typeface="Source Han Serif TW"/>
        <a:cs typeface="Source Han Serif TW"/>
      </a:majorFont>
      <a:minorFont>
        <a:latin typeface="Source Han Serif TW"/>
        <a:ea typeface="Source Han Serif TW"/>
        <a:cs typeface="Source Han Serif TW"/>
      </a:minorFont>
    </a:fontScheme>
    <a:fmtScheme name="Meeting 0830 Rose &amp; Gol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9169db4ec84da9" /><Relationship Type="http://schemas.openxmlformats.org/officeDocument/2006/relationships/notesMaster" Target="/ppt/notesMasters/notesMaster1.xml" Id="R55bafba4c39d40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78a1a415524a9e" /><Relationship Type="http://schemas.openxmlformats.org/officeDocument/2006/relationships/notesMaster" Target="/ppt/notesMasters/notesMaster1.xml" Id="R51591dc3c7b044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d227ed1618493e" /><Relationship Type="http://schemas.openxmlformats.org/officeDocument/2006/relationships/notesMaster" Target="/ppt/notesMasters/notesMaster1.xml" Id="Rc41a4bdb90864d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0aef18550242fd" /><Relationship Type="http://schemas.openxmlformats.org/officeDocument/2006/relationships/notesMaster" Target="/ppt/notesMasters/notesMaster1.xml" Id="R914b8d28256b40d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a504524f9f4610" /><Relationship Type="http://schemas.openxmlformats.org/officeDocument/2006/relationships/notesMaster" Target="/ppt/notesMasters/notesMaster1.xml" Id="R8e542187b76d47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96e8333815c4476" /><Relationship Type="http://schemas.openxmlformats.org/officeDocument/2006/relationships/notesMaster" Target="/ppt/notesMasters/notesMaster1.xml" Id="R008206a3d3ca45e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e262ab8df404e47" /><Relationship Type="http://schemas.openxmlformats.org/officeDocument/2006/relationships/notesMaster" Target="/ppt/notesMasters/notesMaster1.xml" Id="R18e95393083c4a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55f4890572743e8" /><Relationship Type="http://schemas.openxmlformats.org/officeDocument/2006/relationships/notesMaster" Target="/ppt/notesMasters/notesMaster1.xml" Id="R51d950d9ea56475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732f3a532ab4ab3" /><Relationship Type="http://schemas.openxmlformats.org/officeDocument/2006/relationships/notesMaster" Target="/ppt/notesMasters/notesMaster1.xml" Id="Rbe7833917cca44d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50552e6283c4a76" /><Relationship Type="http://schemas.openxmlformats.org/officeDocument/2006/relationships/notesMaster" Target="/ppt/notesMasters/notesMaster1.xml" Id="R0775510900e8459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8440f9e29c94953" /><Relationship Type="http://schemas.openxmlformats.org/officeDocument/2006/relationships/notesMaster" Target="/ppt/notesMasters/notesMaster1.xml" Id="R9c14443218d7412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3c87d317ade4072" /><Relationship Type="http://schemas.openxmlformats.org/officeDocument/2006/relationships/notesMaster" Target="/ppt/notesMasters/notesMaster1.xml" Id="Re8ceaa90c673482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f8403e1d8224a0f" /><Relationship Type="http://schemas.openxmlformats.org/officeDocument/2006/relationships/notesMaster" Target="/ppt/notesMasters/notesMaster1.xml" Id="R8d93c9f1d2824f9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6f3f5ac3bd74b02" /><Relationship Type="http://schemas.openxmlformats.org/officeDocument/2006/relationships/notesMaster" Target="/ppt/notesMasters/notesMaster1.xml" Id="R50a8694e2af644f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3c0df0933d946a6" /><Relationship Type="http://schemas.openxmlformats.org/officeDocument/2006/relationships/notesMaster" Target="/ppt/notesMasters/notesMaster1.xml" Id="R41faf13af612423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a797a2d4ebf4e7c" /><Relationship Type="http://schemas.openxmlformats.org/officeDocument/2006/relationships/notesMaster" Target="/ppt/notesMasters/notesMaster1.xml" Id="R7f00015c1f784be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337d76785d84b21" /><Relationship Type="http://schemas.openxmlformats.org/officeDocument/2006/relationships/notesMaster" Target="/ppt/notesMasters/notesMaster1.xml" Id="R9a253c99ffdd46a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92f0774b7404eb2" /><Relationship Type="http://schemas.openxmlformats.org/officeDocument/2006/relationships/notesMaster" Target="/ppt/notesMasters/notesMaster1.xml" Id="R30a3023feec04f2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129a9ea816749d4" /><Relationship Type="http://schemas.openxmlformats.org/officeDocument/2006/relationships/notesMaster" Target="/ppt/notesMasters/notesMaster1.xml" Id="R21f880e71a8c451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27cba394b1e46d9" /><Relationship Type="http://schemas.openxmlformats.org/officeDocument/2006/relationships/notesMaster" Target="/ppt/notesMasters/notesMaster1.xml" Id="R644c0e99cc394d9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b11dfb856b44ccc" /><Relationship Type="http://schemas.openxmlformats.org/officeDocument/2006/relationships/notesMaster" Target="/ppt/notesMasters/notesMaster1.xml" Id="R517c18ee9ecb410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27fa2772b894c05" /><Relationship Type="http://schemas.openxmlformats.org/officeDocument/2006/relationships/notesMaster" Target="/ppt/notesMasters/notesMaster1.xml" Id="R58d55833b5d04ea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a1cd6321b64420a" /><Relationship Type="http://schemas.openxmlformats.org/officeDocument/2006/relationships/notesMaster" Target="/ppt/notesMasters/notesMaster1.xml" Id="R557d3b4e1153473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23c9537fa994dd2" /><Relationship Type="http://schemas.openxmlformats.org/officeDocument/2006/relationships/notesMaster" Target="/ppt/notesMasters/notesMaster1.xml" Id="Rd414fd7c5d1a418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03464a216c84a02" /><Relationship Type="http://schemas.openxmlformats.org/officeDocument/2006/relationships/notesMaster" Target="/ppt/notesMasters/notesMaster1.xml" Id="R2edd8557ef6d4c6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50f99eba2b84b43" /><Relationship Type="http://schemas.openxmlformats.org/officeDocument/2006/relationships/notesMaster" Target="/ppt/notesMasters/notesMaster1.xml" Id="Raa195aeaf5db410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8e0956fed594536" /><Relationship Type="http://schemas.openxmlformats.org/officeDocument/2006/relationships/notesMaster" Target="/ppt/notesMasters/notesMaster1.xml" Id="R6a3576da25534d3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afb26fbecee4e27" /><Relationship Type="http://schemas.openxmlformats.org/officeDocument/2006/relationships/notesMaster" Target="/ppt/notesMasters/notesMaster1.xml" Id="R92a5251070c24fd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a0b748b63c545b7" /><Relationship Type="http://schemas.openxmlformats.org/officeDocument/2006/relationships/notesMaster" Target="/ppt/notesMasters/notesMaster1.xml" Id="R377143aa1b8a4d9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19ce334dec34bac" /><Relationship Type="http://schemas.openxmlformats.org/officeDocument/2006/relationships/notesMaster" Target="/ppt/notesMasters/notesMaster1.xml" Id="Rce2ffe37e49e41d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6625cf03030469a" /><Relationship Type="http://schemas.openxmlformats.org/officeDocument/2006/relationships/notesMaster" Target="/ppt/notesMasters/notesMaster1.xml" Id="R1ddbe6d4d55b4c9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bccb5d44e614312" /><Relationship Type="http://schemas.openxmlformats.org/officeDocument/2006/relationships/notesMaster" Target="/ppt/notesMasters/notesMaster1.xml" Id="R3e9687c5b010414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8e8877210ee45ec" /><Relationship Type="http://schemas.openxmlformats.org/officeDocument/2006/relationships/notesMaster" Target="/ppt/notesMasters/notesMaster1.xml" Id="R4efde72c6f7146bd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5a1d1fea6c544cf" /><Relationship Type="http://schemas.openxmlformats.org/officeDocument/2006/relationships/notesMaster" Target="/ppt/notesMasters/notesMaster1.xml" Id="R5c1bfaf9d457428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d336f070efa4135" /><Relationship Type="http://schemas.openxmlformats.org/officeDocument/2006/relationships/notesMaster" Target="/ppt/notesMasters/notesMaster1.xml" Id="Rb3aefd27f1cc420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7432cc245bfa4d56" /><Relationship Type="http://schemas.openxmlformats.org/officeDocument/2006/relationships/notesMaster" Target="/ppt/notesMasters/notesMaster1.xml" Id="Rc155c523509344b2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8715fd39a91848b5" /><Relationship Type="http://schemas.openxmlformats.org/officeDocument/2006/relationships/notesMaster" Target="/ppt/notesMasters/notesMaster1.xml" Id="R028df3b069a344c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6fe86200a94d4c30" /><Relationship Type="http://schemas.openxmlformats.org/officeDocument/2006/relationships/notesMaster" Target="/ppt/notesMasters/notesMaster1.xml" Id="Rbec24350ebe34035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908d65b4e22e4985" /><Relationship Type="http://schemas.openxmlformats.org/officeDocument/2006/relationships/notesMaster" Target="/ppt/notesMasters/notesMaster1.xml" Id="Re710147ea8ae4c24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64b01dfb5cd64299" /><Relationship Type="http://schemas.openxmlformats.org/officeDocument/2006/relationships/notesMaster" Target="/ppt/notesMasters/notesMaster1.xml" Id="R2dcdd7261d19402e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c4139f7381d04101" /><Relationship Type="http://schemas.openxmlformats.org/officeDocument/2006/relationships/notesMaster" Target="/ppt/notesMasters/notesMaster1.xml" Id="R336eb9cb6bec4d77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8ed05ee30e6a428d" /><Relationship Type="http://schemas.openxmlformats.org/officeDocument/2006/relationships/notesMaster" Target="/ppt/notesMasters/notesMaster1.xml" Id="Ra025e734c1f64f23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6100daab57584122" /><Relationship Type="http://schemas.openxmlformats.org/officeDocument/2006/relationships/notesMaster" Target="/ppt/notesMasters/notesMaster1.xml" Id="R5e9e4b9659984c21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91883cf42f0d4015" /><Relationship Type="http://schemas.openxmlformats.org/officeDocument/2006/relationships/notesMaster" Target="/ppt/notesMasters/notesMaster1.xml" Id="Ra8cba7e5116e477f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16ef196cbe9d4c66" /><Relationship Type="http://schemas.openxmlformats.org/officeDocument/2006/relationships/notesMaster" Target="/ppt/notesMasters/notesMaster1.xml" Id="R010db099d28b45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本流程固定採 evaluation.mode=self_play 與 self_play_pool_policy=tournament-v1。長期 opponent pool 保存內建對手與經入池規則保留的歷代策略；每個評估快照只用十個對手欄位。候選對戰時執行完整 Java，沒有即時 LLM 決策。Java materialization 與反思方式仍依所選模式啟用，但搜尋評估與選擇規則統一使用 opponent pool。正式 Final Test 是獨立的固定基準測試。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來源：eagle/config.py:360-388、747-760；eagle/opponent_pool.py:136-219；eagle/final_test.py。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本流程先由 ChatGPT 人工準備固定 Java framework。G0 用十個內建對手完成初始候選評估，已評估族群開始按規則加入長期 opponent pool。後續每代在刷新到期時凍結四個保護對手加六個抽樣對手，保留父代 Java 並重新評估其分數，才選繁殖父代。子代評估使用同一快照；合併父代與子代選下一代後，所有已評估子代按入池規則挑戰或加入 pool，最後保存世代。尚未停止則繼續；停止後獨立執行固定內建對手的 Final Test。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來源：eagle/evolution/search.py:208-270；eagle/evolution/generation.py:94-285；eagle/opponent_pool.py:136-219。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策略的 actor、when、action 都使用閉合的 MicroRTS 詞彙與可觀察狀態，允許合法策略多樣性。DSL 是基因資料，不是對戰時呼叫 LLM 的文字指令。deterministic_dsl 會經 typed IR 編譯；llm 則要求 Generator 實作同一份 DSL。合法動作守衛與 fallthrough 規則屬於共用語意。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docs/eagle_architecture_spec.md:49-78</a:t>
            </a:r>
          </a:p>
          <a:p xmlns:a="http://schemas.openxmlformats.org/drawingml/2006/main">
            <a:r>
              <a:t>eagle/strategy_dsl.py:1-120</a:t>
            </a:r>
          </a:p>
          <a:p xmlns:a="http://schemas.openxmlformats.org/drawingml/2006/main">
            <a:r>
              <a:t>docs/architecture/overview.md:112-127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有外部 bundle_path 時直接驗證該檔並凍結 run-owned copy，不再呼叫 bootstrap。沒有時依 backend 建立，預設 Groq，亦支援 Mistral 與 local。原始回應在解析前保存，失敗有界重試。每個 replicate 預設各自 bootstrap；要共用架構必須明確指定同一個 bundle。搜尋期間 Java 模板、槽位 domain 與表達式不變，resume 也不重新設計。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docs/architecture/framework_slots.md:24-75</a:t>
            </a:r>
          </a:p>
          <a:p xmlns:a="http://schemas.openxmlformats.org/drawingml/2006/main">
            <a:r>
              <a:t>docs/architecture/framework_slots.md:113-157</a:t>
            </a:r>
          </a:p>
          <a:p xmlns:a="http://schemas.openxmlformats.org/drawingml/2006/main">
            <a:r>
              <a:t>docs/eagle_architecture_spec.md:747-820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slot 是固定 Java 模板中的可替換位置。bundle 先定義每個 slot 的型別、合法值與表達式選單；候選只保存值或 choice_id。範例中 worker_target 從 2 到 8 的整數選 6，attack_weight 從 0、0.25、0.5、0.75、1 選 0.75，target_policy 選 lowest_hp。attack_weight、target_policy 與其選單為型別教學示例，不代表目前 bundle 的實際欄位。number 同樣是有限離散選單，0.6 在此例不合法。expression_choice 保存最低血量選項的 ID，由 bundle 中預先定義的 Java 表達式取代模板 marker，不生成新表達式。完整 genome 必須包含該 bundle 的全部 slot，不能只交這三項。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程式來源：eagle/generation/framework_slots.py:304-340、445-470。worker_target 實例來源：configs/framework_bundles/fixed_worker_combat/bundle.json。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初始設計提示要求至少 24 個非恆定槽位，含至少 6 個 expression_choice 且各有至少 4 個選項，覆蓋經濟、生產、目標、戰鬥、條件與優先順序。這是設計目標，不能保證行為多樣性。候選人只保存槽值或 choice_id，不能生成新的 Java 表達式。相同 bundle、genome 與 materializer 應產生相同 Java bytes。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docs/architecture/framework_slots.md:24-75</a:t>
            </a:r>
          </a:p>
          <a:p xmlns:a="http://schemas.openxmlformats.org/drawingml/2006/main">
            <a:r>
              <a:t>eagle/generation/framework_slots.py:189-340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兩種政策共享相同凍結 bundle、hash、renderer、下游評估與倖存者規則。llm_coach 回應必須恰好包含 schema_version、framework_bundle_sha256 與完整 control_genome。突變失敗不隨機改寫、不部分套用；初始選擇失敗保留採樣 genome 並在初始化階段標記該候選失敗。兩種模式都不進行 Prompt Reflection、Code gate、Java Generation 或 compile repair。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docs/architecture/framework_slots.md:13-75</a:t>
            </a:r>
          </a:p>
          <a:p xmlns:a="http://schemas.openxmlformats.org/drawingml/2006/main">
            <a:r>
              <a:t>eagle/operators/strategy.py:448-865</a:t>
            </a:r>
          </a:p>
          <a:p xmlns:a="http://schemas.openxmlformats.org/drawingml/2006/main">
            <a:r>
              <a:t>eagle/operators/framework_slots.py:1-200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一般世代產生 population_size 個子代；到期刷新對手快照時，繁殖前先重評父代。父代與子代必須在同一快照下比較。完成者以 Game Performance 分層，語意差異僅在層內輔助選擇。選擇之後更新 opponent pool，入池來源為所有已評估子代，不限倖存者。self_play 要求 static 反思操作；對手池挑戰與更新不會立即改變已凍結的評估快照。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來源：eagle/evolution/generation.py:94-285；eagle/config.py:747-760。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繁殖父代來自目前 population，與用來提供評估對手的歷史 opponent pool 分開。使用單一 Game Performance fitness；從目前最高分往下 tolerance 以內形成頂層，預設 tolerance=1.0 且包含邊界，不採相鄰分數串連。第一父代以 seeded RNG 從有完整語意簽章者抽樣；若沒有完整簽章則從頂層候選抽樣。第二父代以第一父代為參照，優先選相容動作簽章距離最大者，距離相同時 seeded 抽樣；沒有可比資料時保留 fallback。兩次選擇沒有強制父代 ID 相異。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來源：eagle/operators/selection.py:42-68、200-215、245-282；eagle/evolution/offspring.py:91-119。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教學示例，非實驗結果。A、B、C、D 的 fitness 分別為 100、99.4、99.0、98.8，tolerance=1.0，因此頂層只有 A、B、C。C 剛好在含邊界的門檻；D 不會因距離 C 很近而串連進來。假設第一父代 seeded 選到 B，且相容的九個 probes 中 A 與 B 有八個動作不同，C 與 B 有兩個不同，則第二父代選 A。D 已在頂層外，不能因行為新穎而越級。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來源：eagle/operators/selection.py:42-68、200-215、245-282、311-320。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直接父代列表與每個成分實際來源是不同資訊，均需保存。兩位父代可以提供不同成分，即使文字或值相同也不能省略來源。Framework 的 Coach 證據父代是 parent A，不會因某槽位從 donor B 繼承就改用 B 的比賽。crossover_rate 控制是否交配，未交配時沿用單一來源。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docs/eagle_architecture_spec.md:216-223</a:t>
            </a:r>
          </a:p>
          <a:p xmlns:a="http://schemas.openxmlformats.org/drawingml/2006/main">
            <a:r>
              <a:t>eagle/operators/crossover.py:1-170</a:t>
            </a:r>
          </a:p>
          <a:p xmlns:a="http://schemas.openxmlformats.org/drawingml/2006/main">
            <a:r>
              <a:t>eagle/operators/framework_slots.py:1-155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所有實際貢獻來源都必須健康才可進入正常交配與突變。Code v6 只檢查 strategy_fidelity 與 code_correctness；不因勝率、外觀或可簡化而要求修正。ambiguous_strategy 配合正確 Java 不需 revision。有缺陷就產生一位保留原基因的 corrective child，跳過交配與一般突變；診斷失敗也不能當健康通過。Code gate 沒有 AOS 操作機率。DSL 與 framework 模式不執行此 gate。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docs/eagle_architecture_spec.md:49-78</a:t>
            </a:r>
          </a:p>
          <a:p xmlns:a="http://schemas.openxmlformats.org/drawingml/2006/main">
            <a:r>
              <a:t>eagle/operators/code.py:29-180</a:t>
            </a:r>
          </a:p>
          <a:p xmlns:a="http://schemas.openxmlformats.org/drawingml/2006/main">
            <a:r>
              <a:t>eagle/evolution/offspring.py:125-280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最差場次只從記錄的策略來源父代中取，不能任意從 child、donor 或整個 run 換一場。Match Commentator 看一場詳細 trace；Coach 同時取得全場 global summary 與此一 diagnosis，以免只看局部比賽。LLM/DSL 模式改 policy，framework llm_coach 則改完整 genome。策略反思失敗保留既有資料並走失敗分支，沒有自動換賽事補救。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docs/eagle_architecture_spec.md:248-275</a:t>
            </a:r>
          </a:p>
          <a:p xmlns:a="http://schemas.openxmlformats.org/drawingml/2006/main">
            <a:r>
              <a:t>eagle/operators/strategy.py:202-447</a:t>
            </a:r>
          </a:p>
          <a:p xmlns:a="http://schemas.openxmlformats.org/drawingml/2006/main">
            <a:r>
              <a:t>eagle/operators/strategy.py:576-865</a:t>
            </a:r>
          </a:p>
          <a:p xmlns:a="http://schemas.openxmlformats.org/drawingml/2006/main">
            <a:r>
              <a:t>eagle/operators/strategy.py:1222-1308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每場 performance 包含 shaping，因此同為敗場也能分辨較差表現。JSONL 是 field-targeted 完整規則紀錄，不能把零碎 condition/action 修成另一個沒有被模型完整提出的規則。舊的整份 JSON 回應仍採 all-or-nothing 驗證。framework Coach 使用另一份完整 genome schema，不能套用 DSL 的合法子集合邏輯。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docs/eagle_architecture_spec.md:248-275</a:t>
            </a:r>
          </a:p>
          <a:p xmlns:a="http://schemas.openxmlformats.org/drawingml/2006/main">
            <a:r>
              <a:t>eagle/operators/strategy.py:1222-1308</a:t>
            </a:r>
          </a:p>
          <a:p xmlns:a="http://schemas.openxmlformats.org/drawingml/2006/main">
            <a:r>
              <a:t>eagle/operators/strategy.py:1638-1710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Prompt Reflection 改良的是可重用的 policy-to-Java 翻譯規則。Reviewer 不接收勝敗、fitness、對手分數、比賽 trace 或其他 gameplay evidence。預設模式比較來源父代的 policy 與 Java；inherited 模式比較 child 選中的 policy 與 inherited Java。新 prompt 不直接修改策略基因，最後仍由 Generator 生成 Java。只在 llm materialization 啟用。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docs/eagle_architecture_spec.md:277-309</a:t>
            </a:r>
          </a:p>
          <a:p xmlns:a="http://schemas.openxmlformats.org/drawingml/2006/main">
            <a:r>
              <a:t>eagle/operators/prompt.py:268-525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LLM 回應必須先滿足完整檔案的 package、class、建構子、lifecycle 與單一 strategy-marker 區域等外框，再以固定 scaffold 加上抽出的策略區域建立 normalized Java。固定區域中的模型改動保留為證據，但不進表型。結構非法的回應不能靠 normalization 變成合法。確定性兩條路徑沒有 LLM fallback。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docs/eagle_architecture_spec.md:313-405</a:t>
            </a:r>
          </a:p>
          <a:p xmlns:a="http://schemas.openxmlformats.org/drawingml/2006/main">
            <a:r>
              <a:t>docs/eagle_architecture_spec.md:700-820</a:t>
            </a:r>
          </a:p>
          <a:p xmlns:a="http://schemas.openxmlformats.org/drawingml/2006/main">
            <a:r>
              <a:t>eagle/evaluation/decoding.py:1-130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attempt 1 通常是普通生成，corrective child 則直接使用 Code Reflection 已回傳的完整 Java。完整 source 的驗證或編譯失敗可在 generation_max_attempts 內用專門 compile-repair prompt 修復。每次 request、raw response、抽取 source、normalized source 與 hash 都保存。第一個 validation＋compilation 成功即停止；Integration 或 runtime 失敗不回到 decoder。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docs/eagle_architecture_spec.md:350-405</a:t>
            </a:r>
          </a:p>
          <a:p xmlns:a="http://schemas.openxmlformats.org/drawingml/2006/main">
            <a:r>
              <a:t>eagle/evaluation/decoding.py:1-160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Java contract 同時限制 network、process execution、未授權 I/O 與 runtime modification；它不是一般用途 Java sandbox。編譯保留結構化去重診斷與 warning。Integration 前置檢查失敗會阻擋後面的檢查與對戰。獨立實例檢查確保 getAction 與 PlayerAction 在有單位的真實地圖可運作，成功仍不能證明所有對戰情境都正確。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docs/eagle_architecture_spec.md:378-424</a:t>
            </a:r>
          </a:p>
          <a:p xmlns:a="http://schemas.openxmlformats.org/drawingml/2006/main">
            <a:r>
              <a:t>eagle/generation/java_agent_generator.py:256-329</a:t>
            </a:r>
          </a:p>
          <a:p xmlns:a="http://schemas.openxmlformats.org/drawingml/2006/main">
            <a:r>
              <a:t>eagle/evaluation/microrts_runner.py:1-140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搜尋評估使用凍結的 opponent-pool 十欄快照：四個保護對手與六個抽樣對手。只有通過 materialization、validation、compilation 與 Integration 的候選能進入對戰。每欄三張地圖、三回合、雙方位置，共十八場，十欄共一百八十場。每場使用衍生 seed、地圖 tick cap 與 timeout。矩陣必須完整才有有效 fitness。同一快照內父代與子代使用同一名單；長期 pool 更新不立即更換這個名單。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來源：eagle/evaluation/match_matrix.py；eagle/evaluation/matches.py；eagle/self_play.py:24-79。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Opponent-pool 搜尋使用單一 Game Performance fitness。單場結果的敗、和、勝基分為 -100、0、100，再加最多正負十的物資、資源與存活 shaping。每個對手十八場先取平均，十個對手欄位再等權平均；因每欄場數相同，也等於完整一百八十場的平均。四個保護對手沒有較高評分權重。語意距離只在分數同層內輔助選擇，不另加 fitness。必要階段失敗或矩陣未完成使用 -1000 sentinel；失敗候選保留診斷但不能擠掉足夠的完整評估候選。AllInBot 被 adapter containment 的上游故障以中性零分和局記錄，另列 opponent fault。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來源：eagle/evaluation/game_performance.py:207-219；eagle/config.py:372-388；eagle/operators/selection.py:93-129；eagle/evaluation/matches.py。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初始 pool 含十個內建來源。PassiveAI、RandomAI、RandomBiasedAI、LightRush、HeavyRush、WorkerRush 是六個可替換成員；AllInBot、Mayari、COAC、TMA 是四個永久保護成員。G0 評估使用全部十個內建對手。後續可替換區累積經規則入池的歷代策略，每個刷新快照保留四個保護對手，再從非保護成員抽六名。這是 pool 的初始化名單，並不表示整個演化期間固定對戰這十位。搜尋評分十欄等權。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來源：eagle/opponents.py:1-145；eagle/opponent_pool.py:22-35、136-219；eagle/self_play.py:24-79。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長期 opponent pool 與每次凍結的十個評估欄位分開保存。Pool 初始是所有十個內建對手，之後納入合法且新穎的歷代候選策略。它不是只存當代十個策略，也不是只收歷代冠軍。總容量 50 是設定預設，不代表每次評估要跑五十個對手。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docs/eagle_architecture_spec.md:461-481</a:t>
            </a:r>
          </a:p>
          <a:p xmlns:a="http://schemas.openxmlformats.org/drawingml/2006/main">
            <a:r>
              <a:t>eagle/opponent_pool.py:22-35</a:t>
            </a:r>
          </a:p>
          <a:p xmlns:a="http://schemas.openxmlformats.org/drawingml/2006/main">
            <a:r>
              <a:t>eagle/opponent_pool.py:162-219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第 0 代 update_pool 接收 evaluated_population，後續每代接收 evaluated_offspring，並非只傳下一代倖存者。候選須通過可執行與完整評估條件，去除 ID、source 或 semantic phenotype 的重複項。滿池時每個 novel entrant 對一個 seeded 守擂者跑完 18 場；勝和敗分別計 1、0.5、0，只有 wins &gt; losses 才 promotion，平手保留守擂者。失敗或未完成保留證據但不能晉級。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eagle/evolution/search.py:208-219</a:t>
            </a:r>
          </a:p>
          <a:p xmlns:a="http://schemas.openxmlformats.org/drawingml/2006/main">
            <a:r>
              <a:t>eagle/evolution/generation.py:254-262</a:t>
            </a:r>
          </a:p>
          <a:p xmlns:a="http://schemas.openxmlformats.org/drawingml/2006/main">
            <a:r>
              <a:t>eagle/opponent_pool.py:162-219</a:t>
            </a:r>
          </a:p>
          <a:p xmlns:a="http://schemas.openxmlformats.org/drawingml/2006/main">
            <a:r>
              <a:t>eagle/opponent_pool.py:400-430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這裡的十個是評估對手欄位，不是當代子代人口數。刷新預設 interval 5，第 1 代即刷新，之後第 6、11、16 代。Pool 在世代結束可以更新，但已凍結 context 不立即跟著改變。新入池策略要等後續快照刷新才可能被抽到。四保護 case IDs 固定，六個動態 diagnostic slots 為 self_play_000 到 self_play_005，來源寫在 context rows。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docs/eagle_architecture_spec.md:482-511</a:t>
            </a:r>
          </a:p>
          <a:p xmlns:a="http://schemas.openxmlformats.org/drawingml/2006/main">
            <a:r>
              <a:t>eagle/opponent_pool.py:136-159</a:t>
            </a:r>
          </a:p>
          <a:p xmlns:a="http://schemas.openxmlformats.org/drawingml/2006/main">
            <a:r>
              <a:t>eagle/self_play.py:24-79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self_play 要求 parent_evaluation_mode=reuse_cached。快照不變時沿用父代 Java 與已完成分數。快照刷新是協定內的必要重評：建立新 ID 父代複本，保留原 Java 表型，使用新十欄名單跑完評估，不覆寫舊 context 的分數與證據。刷新評估先完成，才做繁殖選擇；子代也在該快照中評估，讓父代與子代的 fitness 可在倖存選擇時比較。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來源：eagle/config.py:747-760；eagle/evolution/generation.py:94-170；eagle/evolution/parent_refresh.py。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本流程只有兩種父代評估情境。對手快照不變時，reuse_cached 保留 Java 與原分數；到期刷新時，快照協定自動建立父代評估複本，用新名單重新對戰，但不重新生成 Java。self_play 設定驗證要求 reuse_cached，不能使用 regenerate_same_genotype 診斷模式。父代先完成新情境評分才能繁殖，子代隨後使用同一快照完成評估。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來源：eagle/config.py:747-760；eagle/evolution/generation.py:94-170；eagle/evolution/parent_refresh.py。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Opponent-pool 流程強制啟用語意探針。固定三張地圖的三個階段共九個 probe，記錄實際 Java 動作簽章，距離為動作 hash 不同的 probe 比例；dataset、probe 次序與簽章需相容。繁殖時第二父代在頂層內偏好與第一父代距離較遠者。倖存者只有名額切分同一分數層時才使用 seeded max-min 子集，不能越過分數層。精確相同行為亦用於 opponent pool 的表型去重。語意不構成另一個 fitness 目標。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來源：eagle/config.py:747-750；eagle/operators/selection.py:174-282、311-320；eagle/opponent_pool.py:499-540。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將當代父代與已評估子代合併並按 ID 去重，只讓完整評估候選參與下一代。目標為固定人口 N。依當前剩餘候選的最高分作錨點，往下預設 1.0 分以內形成一層，不採相鄰串連；例如 100、99.2 同層，98.4 屬下一層。整層放得下就整層保留；名額切在一層內才用 seeded farthest-first max-min，最大化對已選者與本層已挑者的最小語意距離。低分層不能靠新穎性越級。若所有子代失敗但仍有 N 位完整評估父代，父代可全數留下；完整者不足 N 時 run 明確失敗。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來源：eagle/operators/selection.py:70-145、174-282；eagle/evolution/generation.py:214-229。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self_play 設定明確要求 reflection_operator_mode=static，不使用 AOS Opponents rank、EMA 或 head-to-head reward 更新機率。交配後依固定 mutation_rate 決定是否突變；未觸發時保留交配後基因。Framework local 至多更換一個槽位為另一合法值；Framework Coach 回傳完整 control_genome。LLM／DSL 依各自可用的反思操作與靜態配比選擇，功能是否啟用仍由 materialization 模式決定。對戰提供 Game Performance 與反思證據，不動態調整操作機率。十八場 pool 入池挑戰是另一個機制，不能和 AOS head-to-head 混用。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來源：eagle/config.py:747-760；eagle/evolution/offspring.py:281-300、430-480；eagle/operators/adaptive.py:215-230。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失敗分類包括初始化、反思、生成、驗證、編譯、Integration 與 runtime 等。候選失敗與 run 失敗需分開：只要完成的父代與子代足夠，下一代仍可成立。程序中斷會取消排隊工作、drain active worker，保留未完成證據後從最後完成世代恢復。Pipeline 安全邊界不能以看起來可執行的 fallback 代替。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docs/eagle_architecture_spec.md:350-424</a:t>
            </a:r>
          </a:p>
          <a:p xmlns:a="http://schemas.openxmlformats.org/drawingml/2006/main">
            <a:r>
              <a:t>docs/evaluation/game_performance.md:33-40</a:t>
            </a:r>
          </a:p>
          <a:p xmlns:a="http://schemas.openxmlformats.org/drawingml/2006/main">
            <a:r>
              <a:t>eagle/operators/selection.py:99-123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Generation snapshot 先原子寫成功，再更新 manifest.latest_generation。只有 manifest 指定的完成快照作為 resume 起點，不能因資料夾有較新檔就推論已提交世代。每次 LLM request 的 endpoint/model、prompt、raw response、attempt、hash 與 timing 都屬證據；秘密憑證不可寫入。compact artifact 模式省去 XML replay，但保留需要的 trace 與對戰摘要。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eagle/run_artifacts.py:160-197</a:t>
            </a:r>
          </a:p>
          <a:p xmlns:a="http://schemas.openxmlformats.org/drawingml/2006/main">
            <a:r>
              <a:t>eagle/run_artifacts.py:363-375</a:t>
            </a:r>
          </a:p>
          <a:p xmlns:a="http://schemas.openxmlformats.org/drawingml/2006/main">
            <a:r>
              <a:t>docs/artifacts/artifact_schema.md:37-92</a:t>
            </a:r>
          </a:p>
          <a:p xmlns:a="http://schemas.openxmlformats.org/drawingml/2006/main">
            <a:r>
              <a:t>docs/eagle_architecture_spec.md:567-629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Resume 不是繼續使用任意半成品，也不重新 bootstrap。先檢查目前版本與凍結身分能否相容；protocol、bundle hash、framework evolution mode 或 runtime/map 身分不合時拒絕。未提交候選與 LLM 證據先移入 interrupted_work，保留後再以穩定 ID 重播。這維持可追查性，但外部 LLM 回應與 wall-clock timeout 仍可能讓重播結果不同。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eagle/evolution/resume.py:1-150</a:t>
            </a:r>
          </a:p>
          <a:p xmlns:a="http://schemas.openxmlformats.org/drawingml/2006/main">
            <a:r>
              <a:t>eagle/run_artifacts.py:686-703</a:t>
            </a:r>
          </a:p>
          <a:p xmlns:a="http://schemas.openxmlformats.org/drawingml/2006/main">
            <a:r>
              <a:t>docs/eagle_architecture_spec.md:162-215</a:t>
            </a:r>
          </a:p>
          <a:p xmlns:a="http://schemas.openxmlformats.org/drawingml/2006/main">
            <a:r>
              <a:t>docs/architecture/framework_slots.md:140-149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明確 random_seeds 時 runs 是每個 seed 的重複次數。省略 random_seeds 則沿用 random_seed、random_seed+1 的歷史排程。Index 保存有序的 absolute run paths，每個 slot 都檢查 seed 與 config 身分。Framework fresh replicate 預設各自生成 bundle，若研究需控制架構差異，必須指定相同外部 bundle。Folder rerun 會處理未開始、未完成與缺 final test 的不同情況。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eagle/config.py:863-879</a:t>
            </a:r>
          </a:p>
          <a:p xmlns:a="http://schemas.openxmlformats.org/drawingml/2006/main">
            <a:r>
              <a:t>eagle/experiment.py:355-540</a:t>
            </a:r>
          </a:p>
          <a:p xmlns:a="http://schemas.openxmlformats.org/drawingml/2006/main">
            <a:r>
              <a:t>docs/artifacts/artifact_schema.md:491-529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執行總是對可控制的隨機性設 seed，沒有另一個 deterministic_mode 開關。模型 provider 可能忽略 seed 或更新權重；GPU batching、浮點數、第三方對手二進位與 wall-clock 搜尋都可能改變結果。Deterministic materialization 的 byte-identical Java 契約不等於整場實驗逐位元相同。重現承諾需限定同程式、資料、設定與確定的 task outputs。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docs/eagle_architecture_spec.md:162-215</a:t>
            </a:r>
          </a:p>
          <a:p xmlns:a="http://schemas.openxmlformats.org/drawingml/2006/main">
            <a:r>
              <a:t>eagle/evaluation/determinism.py:1-170</a:t>
            </a:r>
          </a:p>
          <a:p xmlns:a="http://schemas.openxmlformats.org/drawingml/2006/main">
            <a:r>
              <a:t>eagle/execution.py:14-68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搜尋階段使用會刷新的 opponent-pool 快照，停止後的正式 Final Test 另外使用固定十個內建對手，是獨立 benchmark，不改變搜尋協定。停止條件為演化世代上限或 active selection-state signature 的 stagnation。預設從末代選可執行代表，獨立重新編譯並跑七項 Integration，再執行十對手、三地圖、十回合、雙方位置，共六百場。mock 或 skip-final-test 可略過。十八場入池挑戰只決定長期池成員替換，一百八十場搜尋評估決定 fitness，六百場 Final Test 作正式測試，三者各自保存證據。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來源：eagle/final_test.py；eagle/experiment.py:409-423；eagle/opponent_pool.py:217-430。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python -m eagle.fixed_evaluation 只讀取 completed run 的明確指定世代，不缺代替代、不用 run-wide best 取代 snapshot 代表。每位代表重編與 Integration，不呼叫 LLM。protocol 記錄對手、地圖 hash、tick cap、scoring 與 runtime source identity。缺場或錯誤矩陣的 aggregate score 與 win rate 為 null 並 nonzero exit。mean_match_score 是不加權 benchmark 平均，不能直接當搜尋 fitness。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docs/evaluation/evaluation_pipeline.md:160-166</a:t>
            </a:r>
          </a:p>
          <a:p xmlns:a="http://schemas.openxmlformats.org/drawingml/2006/main">
            <a:r>
              <a:t>eagle/fixed_evaluation.py:1-170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時間來源以已提交 generation timing 與 run records 為準，不能將 partial terminal output 當單代耗時。當對手情境改變，search fitness 的跨代上升並不能單獨證明一般化能力。比較現行多主機串流與先前排程時，需要相同模型、硬體、seed、候選規模與失敗條件下的獨立速度實驗。實作文件尚無這組 live benchmark，不能報出加速比。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docs/evaluation/game_performance.md:42-57</a:t>
            </a:r>
          </a:p>
          <a:p xmlns:a="http://schemas.openxmlformats.org/drawingml/2006/main">
            <a:r>
              <a:t>docs/artifacts/timing_schema.md:1-65</a:t>
            </a:r>
          </a:p>
          <a:p xmlns:a="http://schemas.openxmlformats.org/drawingml/2006/main">
            <a:r>
              <a:t>docs/implementation/current_status.md:21-34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GUI 提供 config parsing 支持的固定選項，儲存前驗證並原子寫入，觀察比賽不改變 fitness。Monitor 從 manifest 和最新已提交 generation 讀取，不控制實驗。離線分析的 generation 指倖存快照世代，birth_generation 才是候選出生時間。使用者可以從這些工具回查分數、行為與 LLM evidence，無需改動 canonical search artifacts。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docs/implementation/current_status.md:42-66</a:t>
            </a:r>
          </a:p>
          <a:p xmlns:a="http://schemas.openxmlformats.org/drawingml/2006/main">
            <a:r>
              <a:t>docs/architecture/evolutionary_flow.md:169-200</a:t>
            </a:r>
          </a:p>
          <a:p xmlns:a="http://schemas.openxmlformats.org/drawingml/2006/main">
            <a:r>
              <a:t>eagle/analysis/report.py:1-130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這頁是目前 checked-in config 的具體範例，不是所有模式的預設。頂層 model 為 Qwen 3.5-9B，含本地 managed primary 與一個外部 additional endpoint；機器路徑與位址需配合實際環境。bootstrap_backend 為 mistral、framework.model 為 mistral-small-latest。此配置示範完整流程的實際連接，並不宣稱本次已啟動或完成這組實驗。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configs/framework_coach.yaml:1-98</a:t>
            </a:r>
          </a:p>
          <a:p xmlns:a="http://schemas.openxmlformats.org/drawingml/2006/main">
            <a:r>
              <a:t>eagle/config.py:580-658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來源：reports/1021_framework_stability_comparison.md；SHA-256 09f96e8b825f43e9e47a40d578afd85dd5108d626332b2b1bad61f28283dde87。報告快照：2026-10-21 13:35 Asia/Taipei。未刷新即時批次狀態。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兩批均為 framework_slots、framework.evolution_mode=local、population_size=10、演化 G1–20、self_play 與 tournament-v1。相同 bundle SHA-256：b2daa0d4baac80e446d46e5d32f6fd94a4300bec51f23b4816723c6d8f90939b。靜態操作，搜尋期間不呼叫 candidate-time LLM。報告指出 resolved config 的實質差異僅 experiment name、seed 清單與 run-owned bundle 路徑，bundle bytes 相同。上次六 run 為 10/19–10/20，本次批次為 10/21。11 個完成 run 的 G20 均 1800/1800、failure_count=0；每個 Final Test 均 600 場、Integration success、0 errors。這支持已測配置與矩陣的執行可靠性，不代表所有情境無錯誤。</a:t>
            </a:r>
          </a:p>
          <a:p xmlns:a="http://schemas.openxmlformats.org/drawingml/2006/main">
            <a:r>
              <a:t>完整 run 索引：{"columns":["cohort","seed","run_id","generations_completed","generations_target","final_test_completed","final_test_target","status"],"rows":[{"cohort":"上次","seed":8,"run_id":"20261019_152601_037528","generations_completed":20,"generations_target":20,"final_test_completed":600,"final_test_target":600,"status":"complete"},{"cohort":"上次","seed":9,"run_id":"20261019_182037_312877","generations_completed":20,"generations_target":20,"final_test_completed":600,"final_test_target":600,"status":"complete"},{"cohort":"上次","seed":10,"run_id":"20261019_103405_871333","generations_completed":20,"generations_target":20,"final_test_completed":600,"final_test_target":600,"status":"complete"},{"cohort":"上次","seed":11,"run_id":"20261020_135403_027378","generations_completed":20,"generations_target":20,"final_test_completed":600,"final_test_target":600,"status":"complete"},{"cohort":"上次","seed":12,"run_id":"20261020_170514_392422","generations_completed":20,"generations_target":20,"final_test_completed":600,"final_test_target":600,"status":"complete"},{"cohort":"上次","seed":13,"run_id":"20261020_195907_969170","generations_completed":20,"generations_target":20,"final_test_completed":600,"final_test_target":600,"status":"complete"},{"cohort":"本次","seed":8,"run_id":"20261021_002848_496277","generations_completed":20,"generations_target":20,"final_test_completed":600,"final_test_target":600,"status":"complete"},{"cohort":"本次","seed":9,"run_id":"20261021_034914_985024","generations_completed":20,"generations_target":20,"final_test_completed":600,"final_test_target":600,"status":"complete"},{"cohort":"本次","seed":10,"run_id":"20261021_074505_348782","generations_completed":20,"generations_target":20,"final_test_completed":600,"final_test_target":600,"status":"complete"},{"cohort":"本次","seed":11,"run_id":"20261021_131355_062329","generations_completed":20,"generations_target":20,"final_test_completed":600,"final_test_target":600,"status":"complete"},{"cohort":"本次","seed":12,"run_id":"20261021_165442_013504","generations_completed":20,"generations_target":20,"final_test_completed":600,"final_test_target":600,"status":"complete"},{"cohort":"本次","seed":13,"run_id":"20261021_202021_187555","generations_completed":4,"generations_target":20,"final_test_completed":null,"final_test_target":null,"status":"running"}],"reported_completed_runs":11,"reported_pending_runs":1}</a:t>
            </a:r>
          </a:p>
          <a:p xmlns:a="http://schemas.openxmlformats.org/drawingml/2006/main">
            <a:r>
              <a:t>未完成項：{"cohort":"本次","seed":13,"run_id":"20261021_202021_187555","status_at_report_snapshot":"running","report_snapshot_generations":"4/20","final_test_status":"尚未開始","generation_0_to_4_each_matches":"1800/1800","generation_0_to_4_failure_count":0,"generation_4_best":-11.475,"generation_4_population_mean":-12.435,"live_status_checked":false,"note":"僅保存報告截點，不代表目前即時狀態。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來源：reports/1021_framework_stability_comparison.md；SHA-256 09f96e8b825f43e9e47a40d578afd85dd5108d626332b2b1bad61f28283dde87。報告快照：2026-10-21 13:35 Asia/Taipei。未刷新即時批次狀態。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縱軸為各 run G20 population best Game Performance，非 population mean。主圖只並列 seed 8–12；上次 seed13 另列，避免將本次未完成 seed13 填成零。各 run 的 opponent-pool 快照可能不同，這些值只描述各自搜尋情境，不是固定難度的能力比較。上次六 seed best 平均 5.884，本次五 seed 1.861；樣本不齊，不能以 -4.023 推論架構退化。seed10 的兩個 G20 best 差 0.004 是觀察，不足以歸因其他 run 差異的原因。</a:t>
            </a:r>
          </a:p>
          <a:p xmlns:a="http://schemas.openxmlformats.org/drawingml/2006/main">
            <a:r>
              <a:t>G20 全部 best、population mean、population sd、semantic unique：{"previous":{"runs":6,"columns":["seed","best","population_mean","population_sd","semantic_unique","population_size"],"rows":[{"seed":8,"best":5.592,"population_mean":4.307,"population_sd":0.675,"semantic_unique":1,"population_size":10},{"seed":9,"best":25.733,"population_mean":24.711,"population_sd":0.691,"semantic_unique":2,"population_size":10},{"seed":10,"best":-32.037,"population_mean":-38.789,"population_sd":3.609,"semantic_unique":2,"population_size":10},{"seed":11,"best":10.988,"population_mean":9.419,"population_sd":0.696,"semantic_unique":1,"population_size":10},{"seed":12,"best":6.761,"population_mean":5.639,"population_sd":0.698,"semantic_unique":1,"population_size":10},{"seed":13,"best":18.267,"population_mean":15.719,"population_sd":1.029,"semantic_unique":4,"population_size":10}],"reported_mean_best":5.884,"computed_mean_best_from_displayed_rows":5.884,"semantic_unique_counts":[1,2,2,1,1,4]},"current_completed":{"runs":5,"columns":["seed","best","population_mean","population_sd","semantic_unique","population_size"],"rows":[{"seed":8,"best":-3.342,"population_mean":-5.262,"population_sd":0.801,"semantic_unique":3,"population_size":10},{"seed":9,"best":23,"population_mean":21.126,"population_sd":1.073,"semantic_unique":1,"population_size":10},{"seed":10,"best":-32.033,"population_mean":-38.788,"population_sd":3.613,"semantic_unique":2,"population_size":10},{"seed":11,"best":13.118,"population_mean":12.466,"population_sd":0.307,"semantic_unique":1,"population_size":10},{"seed":12,"best":8.561,"population_mean":7.886,"population_sd":0.41,"semantic_unique":1,"population_size":10}],"reported_mean_best":1.861,"computed_mean_best_from_displayed_rows":1.8608,"semantic_unique_counts":[3,1,2,1,1]},"reported_mean_best_delta_current_minus_previous":-4.023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來源：reports/1021_framework_stability_comparison.md；SHA-256 09f96e8b825f43e9e47a40d578afd85dd5108d626332b2b1bad61f28283dde87。報告快照：2026-10-21 13:35 Asia/Taipei。未刷新即時批次狀態。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六個圖共用相同縱軸 -80 到 40，橫軸 G0、G5、G10、G15、G20，數值為該世代 population best。上次用玫瑰色，本次用酒紅色。seed13 只有上次完整軌跡，本次 G4 不放入 G20 曲線。對手快照會刷新，曲線僅描述 run 內的搜尋情境，不能視為固定對手難度下的能力成長。seed10 兩次軌跡接近且 G20 回落至約 -32；這是可觀察的搜尋路徑，不能單憑曲線判定因果。</a:t>
            </a:r>
          </a:p>
          <a:p xmlns:a="http://schemas.openxmlformats.org/drawingml/2006/main">
            <a:r>
              <a:t>完整軌跡：{"columns":["seed","cohort","g0","g5","g10","g15","g20"],"rows":[{"seed":8,"cohort":"上次","g0":-57.328,"g5":-1.36,"g10":6.184,"g15":5.124,"g20":5.592},{"seed":8,"cohort":"本次","g0":-57.338,"g5":-1.108,"g10":5.643,"g15":5.716,"g20":-3.342},{"seed":9,"cohort":"上次","g0":-71.714,"g5":-58.547,"g10":-18.482,"g15":22.95,"g20":25.733},{"seed":9,"cohort":"本次","g0":-71.713,"g5":-58.572,"g10":-19.243,"g15":22.496,"g20":23},{"seed":10,"cohort":"上次","g0":-70.592,"g5":-49.131,"g10":-41.481,"g15":-14.999,"g20":-32.037},{"seed":10,"cohort":"本次","g0":-70.59,"g5":-49.136,"g10":-41.493,"g15":-15.003,"g20":-32.033},{"seed":11,"cohort":"上次","g0":-69.304,"g5":4.586,"g10":24.21,"g15":22.45,"g20":10.988},{"seed":11,"cohort":"本次","g0":-69.3,"g5":7.34,"g10":20.633,"g15":24.229,"g20":13.118},{"seed":12,"cohort":"上次","g0":-70.457,"g5":0.01,"g10":9.678,"g15":23.498,"g20":6.761},{"seed":12,"cohort":"本次","g0":-70.451,"g5":0.007,"g10":12.555,"g15":24.649,"g20":8.561},{"seed":13,"cohort":"上次","g0":-70.967,"g5":-11.476,"g10":-2.799,"g15":-5.855,"g20":18.267}]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來源：reports/1021_framework_stability_comparison.md；SHA-256 09f96e8b825f43e9e47a40d578afd85dd5108d626332b2b1bad61f28283dde87。報告快照：2026-10-21 13:35 Asia/Taipei。未刷新即時批次狀態。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相同正式測試協定，每 run 為十對手、三地圖、每邊十場，共六百場。圖中各組百分比由 W、D、L 除以該組 matches 計算；W/D/L/E 欄位順序固定。兩批分母為 3600 與 3000，本次排除 seed13。報告勝率 32.33% 與 30.17% 是各批聚合，不是相同 seed 配對效果，不能據此判定架構退化。所有 11 個完成 Final Test Integration success、0 errors。</a:t>
            </a:r>
          </a:p>
          <a:p xmlns:a="http://schemas.openxmlformats.org/drawingml/2006/main">
            <a:r>
              <a:t>完整正式測試資料：{"protocol_matches_per_run":600,"columns":["cohort","runs","wins","losses","draws","errors","matches","aggregate_win_rate_percent"],"cohorts":[{"cohort":"上次六 seed","runs":6,"wins":1164,"losses":2284,"draws":152,"errors":0,"matches":3600,"aggregate_win_rate_percent":32.33},{"cohort":"本次已完成五 seed","runs":5,"wins":905,"losses":1950,"draws":145,"errors":0,"matches":3000,"aggregate_win_rate_percent":30.17}],"source_note":"Cohort counts are report totals; win rate is wins divided by all matches."}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來源：reports/1021_framework_stability_comparison.md；SHA-256 09f96e8b825f43e9e47a40d578afd85dd5108d626332b2b1bad61f28283dde87。報告快照：2026-10-21 13:35 Asia/Taipei。未刷新即時批次狀態。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本次已完成 seed8–12，每個對手五 run × 六十場=三百場。AllInBot、Mayari、COAC、TMA 合計 1200 場、11 勝、14 和、1175 敗、0 errors；勝率 0.92% 為計算值。COAC 的十勝集中於 seed11。其餘能力剖面依報告：PassiveAI／RandomAI 穩定取勝或打平；RandomBiasedAI 有較多勝場但 seed 間差異明顯；三種 Rush 尚無一致 counter。報告未提供這六個對手的逐項勝和敗數，不另造數值。</a:t>
            </a:r>
          </a:p>
          <a:p xmlns:a="http://schemas.openxmlformats.org/drawingml/2006/main">
            <a:r>
              <a:t>四個 hard opponents 原始資料：{"cohort":"本次已完成 seed 8–12","runs":5,"columns":["opponent","wins","draws","losses","errors","matches","runs"],"rows":[{"opponent":"AllInBot","wins":1,"draws":3,"losses":296,"errors":0,"matches":300,"runs":5},{"opponent":"Mayari","wins":0,"draws":11,"losses":289,"errors":0,"matches":300,"runs":5},{"opponent":"COAC","wins":10,"draws":0,"losses":290,"errors":0,"matches":300,"runs":5},{"opponent":"TMA","wins":0,"draws":0,"losses":300,"errors":0,"matches":300,"runs":5}],"source_note":"Errors are 0 per report statement that all five completed final tests had zero errors."}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來源：reports/1021_framework_stability_comparison.md；SHA-256 09f96e8b825f43e9e47a40d578afd85dd5108d626332b2b1bad61f28283dde87。報告快照：2026-10-21 13:35 Asia/Taipei。未刷新即時批次狀態。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圖中為 G20 semantic unique／population10，並列 seed8–12；上次 seed13=4 另列，本次 seed13未納入。上次六 run 為 [1,2,2,1,1,4]，本次五 run 為 [3,1,2,1,1]。多數 run 在九個固定探針中只剩一到兩種行為簽章，不等於在所有遊戲狀態中只有一到兩種行為。Framework 不使用 Strategy DSL niche；known_signature_count=0 不能拿來判定 framework 行為沒有多樣性。population mean 和 population sd 請見完整 G20 資料。</a:t>
            </a:r>
          </a:p>
          <a:p xmlns:a="http://schemas.openxmlformats.org/drawingml/2006/main">
            <a:r>
              <a:t>完整 G20 資料：{"previous":{"runs":6,"columns":["seed","best","population_mean","population_sd","semantic_unique","population_size"],"rows":[{"seed":8,"best":5.592,"population_mean":4.307,"population_sd":0.675,"semantic_unique":1,"population_size":10},{"seed":9,"best":25.733,"population_mean":24.711,"population_sd":0.691,"semantic_unique":2,"population_size":10},{"seed":10,"best":-32.037,"population_mean":-38.789,"population_sd":3.609,"semantic_unique":2,"population_size":10},{"seed":11,"best":10.988,"population_mean":9.419,"population_sd":0.696,"semantic_unique":1,"population_size":10},{"seed":12,"best":6.761,"population_mean":5.639,"population_sd":0.698,"semantic_unique":1,"population_size":10},{"seed":13,"best":18.267,"population_mean":15.719,"population_sd":1.029,"semantic_unique":4,"population_size":10}],"reported_mean_best":5.884,"computed_mean_best_from_displayed_rows":5.884,"semantic_unique_counts":[1,2,2,1,1,4]},"current_completed":{"runs":5,"columns":["seed","best","population_mean","population_sd","semantic_unique","population_size"],"rows":[{"seed":8,"best":-3.342,"population_mean":-5.262,"population_sd":0.801,"semantic_unique":3,"population_size":10},{"seed":9,"best":23,"population_mean":21.126,"population_sd":1.073,"semantic_unique":1,"population_size":10},{"seed":10,"best":-32.033,"population_mean":-38.788,"population_sd":3.613,"semantic_unique":2,"population_size":10},{"seed":11,"best":13.118,"population_mean":12.466,"population_sd":0.307,"semantic_unique":1,"population_size":10},{"seed":12,"best":8.561,"population_mean":7.886,"population_sd":0.41,"semantic_unique":1,"population_size":10}],"reported_mean_best":1.861,"computed_mean_best_from_displayed_rows":1.8608,"semantic_unique_counts":[3,1,2,1,1]},"reported_mean_best_delta_current_minus_previous":-4.023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來源：reports/1021_framework_stability_comparison.md；SHA-256 09f96e8b825f43e9e47a40d578afd85dd5108d626332b2b1bad61f28283dde87。報告快照：2026-10-21 13:35 Asia/Taipei。未刷新即時批次狀態。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報告結論分開理解：11 個已完成 run 支持此配置與已測矩陣的執行可靠性；跨 seed 結果與 hard-opponent 能力仍不一致；末代九狀態簽章多為一到兩類。現有搜尋分數受快照情境影響，不足以作架構退化或一般化能力改善的因果判定。建議先等報告中的 seed13完成，再補齊同六 seed 的正式測試比較；若目標是策略品質，控制條件測試語意探索與 hard-opponent coverage，而非先改 materialization。建議尚未執行，沒有啟動新實驗。</a:t>
            </a:r>
          </a:p>
          <a:p xmlns:a="http://schemas.openxmlformats.org/drawingml/2006/main">
            <a:r>
              <a:t>耗時證據缺口：{"available":false,"scope":"No measured wall-time value was accessible from the named run artifacts in this checkout.","sample_run_ids_checked":["20261019_152601_037528","20261021_002848_496277","20261021_165442_013504"],"missing_paths_checked":["runs/20261019_152601_037528/manifest.json","runs/20261019_152601_037528/summary.json","runs/20261019_152601_037528/timing.jsonl","runs/20261019_152601_037528/final_test/final_test_summary.json","runs/20261021_002848_496277/manifest.json","runs/20261021_002848_496277/summary.json","runs/20261021_002848_496277/timing.jsonl","runs/20261021_002848_496277/final_test/final_test_summary.json","runs/20261021_165442_013504/manifest.json","runs/20261021_165442_013504/summary.json","runs/20261021_165442_013504/timing.jsonl","runs/20261021_165442_013504/final_test/final_test_summary.json"],"initialization_separation":"No timing.jsonl was available to separate initialization from completed evolutionary generations. Do not derive per-generation or total wall time from the report tables."}。報告沒有 run wall time、G0 與 G1–20 完成世代耗時；不能由分數表推導時間，也不報加速比。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201c7cfd624b53" /><Relationship Type="http://schemas.openxmlformats.org/officeDocument/2006/relationships/image" Target="/ppt/media/image.png" Id="Rc97f706ca8cc479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91c990da9f4897" /><Relationship Type="http://schemas.openxmlformats.org/officeDocument/2006/relationships/image" Target="/ppt/media/image.png" Id="R85f7776a62ff4f8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e94959a4eb4ac8" /><Relationship Type="http://schemas.openxmlformats.org/officeDocument/2006/relationships/image" Target="/ppt/media/image.png" Id="Re396903506d24e9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caa56b9f924e5f" /><Relationship Type="http://schemas.openxmlformats.org/officeDocument/2006/relationships/image" Target="/ppt/media/image.png" Id="R5d7faabc115d46a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bff1203c114e08" /><Relationship Type="http://schemas.openxmlformats.org/officeDocument/2006/relationships/image" Target="/ppt/media/image.png" Id="R93a71e30bf594cd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d141bd290948f1" /><Relationship Type="http://schemas.openxmlformats.org/officeDocument/2006/relationships/image" Target="/ppt/media/image.png" Id="R649f27c753f5430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a49fc135ea4f83" /><Relationship Type="http://schemas.openxmlformats.org/officeDocument/2006/relationships/image" Target="/ppt/media/image.png" Id="R209e6a839bfe441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d98b8b2c474f2c" /><Relationship Type="http://schemas.openxmlformats.org/officeDocument/2006/relationships/image" Target="/ppt/media/image.png" Id="R3bc8b6e7cbd3448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d0433246ee4410" /><Relationship Type="http://schemas.openxmlformats.org/officeDocument/2006/relationships/image" Target="/ppt/media/image.png" Id="Rb3ded9e2670a4ed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5f6fb947514a08" /><Relationship Type="http://schemas.openxmlformats.org/officeDocument/2006/relationships/image" Target="/ppt/media/image.png" Id="R2b841853a703400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fe9bef1db74f4c" /><Relationship Type="http://schemas.openxmlformats.org/officeDocument/2006/relationships/image" Target="/ppt/media/image.png" Id="Rc074abaac2b744a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ce0995be864cf3" /><Relationship Type="http://schemas.openxmlformats.org/officeDocument/2006/relationships/image" Target="/ppt/media/image.png" Id="R57fe175bbc6346be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b2a994289144ff" /><Relationship Type="http://schemas.openxmlformats.org/officeDocument/2006/relationships/image" Target="/ppt/media/image.png" Id="Re38535ae7baf476a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07928037574f65" /><Relationship Type="http://schemas.openxmlformats.org/officeDocument/2006/relationships/image" Target="/ppt/media/image.png" Id="Rff7edbbd43b24691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cba704130e45f5" /><Relationship Type="http://schemas.openxmlformats.org/officeDocument/2006/relationships/image" Target="/ppt/media/image.png" Id="Rc9389c94319744fb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daa485a0b94e2e" /><Relationship Type="http://schemas.openxmlformats.org/officeDocument/2006/relationships/image" Target="/ppt/media/image.png" Id="Rf2e4b695ed504c84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4519b04b9f4817" /><Relationship Type="http://schemas.openxmlformats.org/officeDocument/2006/relationships/image" Target="/ppt/media/image.png" Id="R94298237495c4394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90fadb9b5b4e47" /><Relationship Type="http://schemas.openxmlformats.org/officeDocument/2006/relationships/image" Target="/ppt/media/image.png" Id="R2670f75d02e543f5" /></Relationships>
</file>

<file path=ppt/slideLayouts/slideLayout1.xml><?xml version="1.0" encoding="utf-8"?>
<p:sldLayout xmlns:p="http://schemas.openxmlformats.org/presentationml/2006/main" type="title" preserve="1">
  <p:cSld name="封面">
    <p:bg>
      <p:bgPr>
        <a:blipFill xmlns:a="http://schemas.openxmlformats.org/drawingml/2006/main">
          <a:blip xmlns:r="http://schemas.openxmlformats.org/officeDocument/2006/relationships" r:embed="Rc97f706ca8cc4796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2F34C9E6-C370-4CE6-8C49-57861F01F240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476500" y="2762250"/>
            <a:ext cx="10972800" cy="13335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7A0C5AD2-9560-46CF-A557-9D96775B73B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857500" y="4429125"/>
            <a:ext cx="10210800" cy="9525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</p:spTree>
  </p:cSld>
  <p:hf sldNum="1" hdr="0" ftr="0" dt="0"/>
</p:sldLayout>
</file>

<file path=ppt/slideLayouts/slideLayout2.xml><?xml version="1.0" encoding="utf-8"?>
<p:sldLayout xmlns:p="http://schemas.openxmlformats.org/presentationml/2006/main" type="secHead" preserve="1">
  <p:cSld name="章節標題">
    <p:bg>
      <p:bgPr>
        <a:blipFill xmlns:a="http://schemas.openxmlformats.org/drawingml/2006/main">
          <a:blip xmlns:r="http://schemas.openxmlformats.org/officeDocument/2006/relationships" r:embed="R85f7776a62ff4f8b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E3969E06-0C81-48D2-BB37-515771E13DCE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476500" y="3238500"/>
            <a:ext cx="10972800" cy="12382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2">
            <a:extLst xmlns:a="http://schemas.openxmlformats.org/drawingml/2006/main">
              <a:ext uri="{FF2B5EF4-FFF2-40B4-BE49-F238E27FC236}">
                <a16:creationId xmlns:a16="http://schemas.microsoft.com/office/drawing/2014/main" id="{590865AA-9D35-4748-91A3-B387D561BA4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048000" y="4714875"/>
            <a:ext cx="9829800" cy="8572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按一下以新增章節說明</a:t>
            </a:r>
          </a:p>
        </p:txBody>
      </p:sp>
    </p:spTree>
  </p:cSld>
  <p:hf sldNum="1" hdr="0" ftr="0" dt="0"/>
</p:sldLayout>
</file>

<file path=ppt/slideLayouts/slideLayout3.xml><?xml version="1.0" encoding="utf-8"?>
<p:sldLayout xmlns:p="http://schemas.openxmlformats.org/presentationml/2006/main" type="obj" preserve="1">
  <p:cSld name="標題及內容">
    <p:bg>
      <p:bgPr>
        <a:blipFill xmlns:a="http://schemas.openxmlformats.org/drawingml/2006/main">
          <a:blip xmlns:r="http://schemas.openxmlformats.org/officeDocument/2006/relationships" r:embed="Re396903506d24e99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6EC4DF72-535F-4440-B07D-46BAD5D2A2AE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51353937-B2B6-48C4-A2B5-2F27B15E716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92425B3F-3430-4EDE-B5B3-73C027E72E1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130683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</p:spTree>
  </p:cSld>
  <p:hf sldNum="1" hdr="0" ftr="0" dt="0"/>
</p:sldLayout>
</file>

<file path=ppt/slideLayouts/slideLayout4.xml><?xml version="1.0" encoding="utf-8"?>
<p:sldLayout xmlns:p="http://schemas.openxmlformats.org/presentationml/2006/main" type="twoObj" preserve="1">
  <p:cSld name="兩項內容">
    <p:bg>
      <p:bgPr>
        <a:blipFill xmlns:a="http://schemas.openxmlformats.org/drawingml/2006/main">
          <a:blip xmlns:r="http://schemas.openxmlformats.org/officeDocument/2006/relationships" r:embed="R5d7faabc115d46a9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3A4791D8-472B-4CB1-9BF5-68D6DDA5E08C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302C0C6D-C490-4DDF-92D9-E216E08E1CE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0892CF96-6BB8-469E-8C05-16E66270671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630555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5" name="EAGLE_3">
            <a:extLst xmlns:a="http://schemas.openxmlformats.org/drawingml/2006/main">
              <a:ext uri="{FF2B5EF4-FFF2-40B4-BE49-F238E27FC236}">
                <a16:creationId xmlns:a16="http://schemas.microsoft.com/office/drawing/2014/main" id="{00538733-DF1C-4D96-92B6-38724A005A9A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8191500" y="2619375"/>
            <a:ext cx="630555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</p:spTree>
  </p:cSld>
  <p:hf sldNum="1" hdr="0" ftr="0" dt="0"/>
</p:sldLayout>
</file>

<file path=ppt/slideLayouts/slideLayout5.xml><?xml version="1.0" encoding="utf-8"?>
<p:sldLayout xmlns:p="http://schemas.openxmlformats.org/presentationml/2006/main" type="twoTxTwoObj" preserve="1">
  <p:cSld name="比較">
    <p:bg>
      <p:bgPr>
        <a:blipFill xmlns:a="http://schemas.openxmlformats.org/drawingml/2006/main">
          <a:blip xmlns:r="http://schemas.openxmlformats.org/officeDocument/2006/relationships" r:embed="R93a71e30bf594cd2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C4DD0E43-2CD7-44D8-A8DE-10D092170A60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076D8F65-D3F7-4349-B3FE-19769F62948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E2F427F0-C955-46A6-9858-9A50C0C635E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571750"/>
            <a:ext cx="6305550" cy="6191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按一下以新增欄位標題</a:t>
            </a:r>
          </a:p>
        </p:txBody>
      </p:sp>
      <p:sp>
        <p:nvSpPr>
          <p:cNvPr id="5" name="EAGLE_4">
            <a:extLst xmlns:a="http://schemas.openxmlformats.org/drawingml/2006/main">
              <a:ext uri="{FF2B5EF4-FFF2-40B4-BE49-F238E27FC236}">
                <a16:creationId xmlns:a16="http://schemas.microsoft.com/office/drawing/2014/main" id="{3BB99614-5410-42D4-8D56-3C67339DE590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1428750" y="3476625"/>
            <a:ext cx="6305550" cy="40481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6" name="EAGLE_3">
            <a:extLst xmlns:a="http://schemas.openxmlformats.org/drawingml/2006/main">
              <a:ext uri="{FF2B5EF4-FFF2-40B4-BE49-F238E27FC236}">
                <a16:creationId xmlns:a16="http://schemas.microsoft.com/office/drawing/2014/main" id="{A31AD1B3-6BB9-4504-B9C5-087515F7D2D4}"/>
              </a:ext>
            </a:extLst>
          </p:cNvPr>
          <p:cNvSpPr>
            <a:spLocks xmlns:a="http://schemas.openxmlformats.org/drawingml/2006/main" noGrp="1"/>
          </p:cNvSpPr>
          <p:nvPr>
            <p:ph idx="5"/>
          </p:nvPr>
        </p:nvSpPr>
        <p:spPr>
          <a:xfrm xmlns:a="http://schemas.openxmlformats.org/drawingml/2006/main">
            <a:off x="8191500" y="2571750"/>
            <a:ext cx="6305550" cy="6191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按一下以新增欄位標題</a:t>
            </a:r>
          </a:p>
        </p:txBody>
      </p:sp>
      <p:sp>
        <p:nvSpPr>
          <p:cNvPr id="7" name="EAGLE_5">
            <a:extLst xmlns:a="http://schemas.openxmlformats.org/drawingml/2006/main">
              <a:ext uri="{FF2B5EF4-FFF2-40B4-BE49-F238E27FC236}">
                <a16:creationId xmlns:a16="http://schemas.microsoft.com/office/drawing/2014/main" id="{31D81A76-EB56-426E-8AAB-C05D479E14FD}"/>
              </a:ext>
            </a:extLst>
          </p:cNvPr>
          <p:cNvSpPr>
            <a:spLocks xmlns:a="http://schemas.openxmlformats.org/drawingml/2006/main" noGrp="1"/>
          </p:cNvSpPr>
          <p:nvPr>
            <p:ph idx="5"/>
          </p:nvPr>
        </p:nvSpPr>
        <p:spPr>
          <a:xfrm xmlns:a="http://schemas.openxmlformats.org/drawingml/2006/main">
            <a:off x="8191500" y="3476625"/>
            <a:ext cx="6305550" cy="40481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</p:spTree>
  </p:cSld>
  <p:hf sldNum="1" hdr="0" ftr="0" dt="0"/>
</p:sldLayout>
</file>

<file path=ppt/slideLayouts/slideLayout6.xml><?xml version="1.0" encoding="utf-8"?>
<p:sldLayout xmlns:p="http://schemas.openxmlformats.org/presentationml/2006/main" preserve="1">
  <p:cSld name="三欄內容">
    <p:bg>
      <p:bgPr>
        <a:blipFill xmlns:a="http://schemas.openxmlformats.org/drawingml/2006/main">
          <a:blip xmlns:r="http://schemas.openxmlformats.org/officeDocument/2006/relationships" r:embed="R649f27c753f5430c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D22686DD-6022-4F4D-883C-A3A2AE4FE63B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6D6AF434-5A04-42F0-BBFA-BC92C579986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FEB69765-384F-41D2-A24F-900B0409C29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40386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5" name="EAGLE_3">
            <a:extLst xmlns:a="http://schemas.openxmlformats.org/drawingml/2006/main">
              <a:ext uri="{FF2B5EF4-FFF2-40B4-BE49-F238E27FC236}">
                <a16:creationId xmlns:a16="http://schemas.microsoft.com/office/drawing/2014/main" id="{BB259B69-1EC0-4318-8F78-3881E3FD7476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5943600" y="2619375"/>
            <a:ext cx="40386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6" name="EAGLE_4">
            <a:extLst xmlns:a="http://schemas.openxmlformats.org/drawingml/2006/main">
              <a:ext uri="{FF2B5EF4-FFF2-40B4-BE49-F238E27FC236}">
                <a16:creationId xmlns:a16="http://schemas.microsoft.com/office/drawing/2014/main" id="{86B9ECF8-06DD-4853-A29A-64E7D62F27E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10458450" y="2619375"/>
            <a:ext cx="40386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</p:spTree>
  </p:cSld>
  <p:hf sldNum="1" hdr="0" ftr="0" dt="0"/>
</p:sldLayout>
</file>

<file path=ppt/slideLayouts/slideLayout7.xml><?xml version="1.0" encoding="utf-8"?>
<p:sldLayout xmlns:p="http://schemas.openxmlformats.org/presentationml/2006/main" type="picTx" preserve="1">
  <p:cSld name="圖片及標題">
    <p:bg>
      <p:bgPr>
        <a:blipFill xmlns:a="http://schemas.openxmlformats.org/drawingml/2006/main">
          <a:blip xmlns:r="http://schemas.openxmlformats.org/officeDocument/2006/relationships" r:embed="R209e6a839bfe4415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93752F55-AC4A-40BE-B03B-0C040D718409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8B7D0469-A4AB-493F-ACBF-E8CB73C3A60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9089290D-C95F-4404-8DFC-D4901DA1C1B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2000250" y="2476500"/>
            <a:ext cx="11925300" cy="46196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按一下以新增圖片</a:t>
            </a:r>
          </a:p>
        </p:txBody>
      </p:sp>
      <p:sp>
        <p:nvSpPr>
          <p:cNvPr id="5" name="EAGLE_3">
            <a:extLst xmlns:a="http://schemas.openxmlformats.org/drawingml/2006/main">
              <a:ext uri="{FF2B5EF4-FFF2-40B4-BE49-F238E27FC236}">
                <a16:creationId xmlns:a16="http://schemas.microsoft.com/office/drawing/2014/main" id="{D1E03D6F-4B50-441D-9B62-7C7CF72080CE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2000250" y="7334250"/>
            <a:ext cx="11925300" cy="6667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按一下以新增圖片說明</a:t>
            </a:r>
          </a:p>
        </p:txBody>
      </p:sp>
    </p:spTree>
  </p:cSld>
  <p:hf sldNum="1" hdr="0" ftr="0" dt="0"/>
</p:sldLayout>
</file>

<file path=ppt/slideLayouts/slideLayout8.xml><?xml version="1.0" encoding="utf-8"?>
<p:sldLayout xmlns:p="http://schemas.openxmlformats.org/presentationml/2006/main" type="objTx" preserve="1">
  <p:cSld name="內容與圖片">
    <p:bg>
      <p:bgPr>
        <a:blipFill xmlns:a="http://schemas.openxmlformats.org/drawingml/2006/main">
          <a:blip xmlns:r="http://schemas.openxmlformats.org/officeDocument/2006/relationships" r:embed="R3bc8b6e7cbd3448e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4E1AFFBC-8DD7-4858-BE9E-DF7B9E845243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51E591F6-4009-4737-9C0E-3381B92FB0A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6277AB01-EE8D-4317-87D9-BEC820CCC3C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5476875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5" name="EAGLE_3">
            <a:extLst xmlns:a="http://schemas.openxmlformats.org/drawingml/2006/main">
              <a:ext uri="{FF2B5EF4-FFF2-40B4-BE49-F238E27FC236}">
                <a16:creationId xmlns:a16="http://schemas.microsoft.com/office/drawing/2014/main" id="{882ACEB2-431F-4BBF-8F1B-4F07F63851B4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7429500" y="2619375"/>
            <a:ext cx="706755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按一下以新增圖片</a:t>
            </a:r>
          </a:p>
        </p:txBody>
      </p:sp>
    </p:spTree>
  </p:cSld>
  <p:hf sldNum="1" hdr="0" ftr="0" dt="0"/>
</p:sldLayout>
</file>

<file path=ppt/slideLayouts/slideLayout9.xml><?xml version="1.0" encoding="utf-8"?>
<p:sldLayout xmlns:p="http://schemas.openxmlformats.org/presentationml/2006/main" preserve="1">
  <p:cSld name="標題及表格">
    <p:bg>
      <p:bgPr>
        <a:blipFill xmlns:a="http://schemas.openxmlformats.org/drawingml/2006/main">
          <a:blip xmlns:r="http://schemas.openxmlformats.org/officeDocument/2006/relationships" r:embed="Rb3ded9e2670a4edc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3F380ADE-E8BD-4361-83D4-34B395C514E3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198BEF13-EEB7-4982-8834-382B045AD4B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72D86C95-69D7-4516-97E8-EFF008A8DEC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130683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按一下以新增表格</a:t>
            </a:r>
          </a:p>
        </p:txBody>
      </p:sp>
    </p:spTree>
  </p:cSld>
  <p:hf sldNum="1" hdr="0" ftr="0" dt="0"/>
</p:sldLayout>
</file>

<file path=ppt/slideLayouts/slideLayout10.xml><?xml version="1.0" encoding="utf-8"?>
<p:sldLayout xmlns:p="http://schemas.openxmlformats.org/presentationml/2006/main" preserve="1">
  <p:cSld name="標題及圖表">
    <p:bg>
      <p:bgPr>
        <a:blipFill xmlns:a="http://schemas.openxmlformats.org/drawingml/2006/main">
          <a:blip xmlns:r="http://schemas.openxmlformats.org/officeDocument/2006/relationships" r:embed="R2b841853a703400a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1A30452A-65F7-44A3-A2FA-1CF1F34140ED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C07D963E-74AF-48B2-8248-0768C947D07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6394422A-37D3-4C97-96C5-AF5AE3C8DC4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130683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按一下以新增圖表</a:t>
            </a:r>
          </a:p>
        </p:txBody>
      </p:sp>
    </p:spTree>
  </p:cSld>
  <p:hf sldNum="1" hdr="0" ftr="0" dt="0"/>
</p:sldLayout>
</file>

<file path=ppt/slideLayouts/slideLayout11.xml><?xml version="1.0" encoding="utf-8"?>
<p:sldLayout xmlns:p="http://schemas.openxmlformats.org/presentationml/2006/main" type="titleOnly" preserve="1">
  <p:cSld name="僅標題">
    <p:bg>
      <p:bgPr>
        <a:blipFill xmlns:a="http://schemas.openxmlformats.org/drawingml/2006/main">
          <a:blip xmlns:r="http://schemas.openxmlformats.org/officeDocument/2006/relationships" r:embed="Rc074abaac2b744ae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2F1A0662-494B-4627-BCEA-708F46AE5F74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5E4D67E8-1093-453A-AE8D-20B1DE405F8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</p:spTree>
  </p:cSld>
  <p:hf sldNum="1" hdr="0" ftr="0" dt="0"/>
</p:sldLayout>
</file>

<file path=ppt/slideLayouts/slideLayout12.xml><?xml version="1.0" encoding="utf-8"?>
<p:sldLayout xmlns:p="http://schemas.openxmlformats.org/presentationml/2006/main" type="blank" preserve="1">
  <p:cSld name="空白">
    <p:bg>
      <p:bgPr>
        <a:blipFill xmlns:a="http://schemas.openxmlformats.org/drawingml/2006/main">
          <a:blip xmlns:r="http://schemas.openxmlformats.org/officeDocument/2006/relationships" r:embed="R57fe175bbc6346be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hf sldNum="1" hdr="0" ftr="0" dt="0"/>
</p:sldLayout>
</file>

<file path=ppt/slideLayouts/slideLayout13.xml><?xml version="1.0" encoding="utf-8"?>
<p:sldLayout xmlns:p="http://schemas.openxmlformats.org/presentationml/2006/main">
  <p:cSld name="圖解流程">
    <p:bg>
      <p:bgPr>
        <a:blipFill xmlns:a="http://schemas.openxmlformats.org/drawingml/2006/main">
          <a:blip xmlns:r="http://schemas.openxmlformats.org/officeDocument/2006/relationships" r:embed="Re38535ae7baf476a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90958561-D480-4FD6-AEA3-AE405DD936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28249B21-4AA7-45A6-AE72-76F0C4F467C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>
  <p:cSld name="選項與對應">
    <p:bg>
      <p:bgPr>
        <a:blipFill xmlns:a="http://schemas.openxmlformats.org/drawingml/2006/main">
          <a:blip xmlns:r="http://schemas.openxmlformats.org/officeDocument/2006/relationships" r:embed="Rff7edbbd43b24691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21C3BE94-0B35-4824-9471-C3492E14F8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2455C33E-BA03-40B2-86B7-AD467ECF0B9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>
  <p:cSld name="矩陣與規則">
    <p:bg>
      <p:bgPr>
        <a:blipFill xmlns:a="http://schemas.openxmlformats.org/drawingml/2006/main">
          <a:blip xmlns:r="http://schemas.openxmlformats.org/officeDocument/2006/relationships" r:embed="Rc9389c94319744fb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DE2EB5AE-9FB3-403D-980E-9B70020641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115D69C5-4CEA-4BB7-B1AC-0CE9D3E30D8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>
  <p:cSld name="結果圖表">
    <p:bg>
      <p:bgPr>
        <a:blipFill xmlns:a="http://schemas.openxmlformats.org/drawingml/2006/main">
          <a:blip xmlns:r="http://schemas.openxmlformats.org/officeDocument/2006/relationships" r:embed="Rf2e4b695ed504c84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540B4963-30DF-4742-A09C-0612328C6D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E80159F4-CEDF-4809-9F33-34B58BB0D7C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>
  <p:cSld name="比較與表格">
    <p:bg>
      <p:bgPr>
        <a:blipFill xmlns:a="http://schemas.openxmlformats.org/drawingml/2006/main">
          <a:blip xmlns:r="http://schemas.openxmlformats.org/officeDocument/2006/relationships" r:embed="R94298237495c4394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8E212262-74C0-4D5D-A463-835E938F26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E9AAAB86-1A26-4467-9AC7-1DACE6455B9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</p:spTree>
  </p:cSld>
</p:sldLayout>
</file>

<file path=ppt/slideLayouts/slideLayout18.xml><?xml version="1.0" encoding="utf-8"?>
<p:sldLayout xmlns:p="http://schemas.openxmlformats.org/presentationml/2006/main">
  <p:cSld name="時間與證據">
    <p:bg>
      <p:bgPr>
        <a:blipFill xmlns:a="http://schemas.openxmlformats.org/drawingml/2006/main">
          <a:blip xmlns:r="http://schemas.openxmlformats.org/officeDocument/2006/relationships" r:embed="R2670f75d02e543f5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4E18C077-56BD-487C-B53E-9A4AA3539D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680F4FDE-F4C9-4E91-9C02-3102F32469B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9c50960b1c0b4a7a" /><Relationship Type="http://schemas.openxmlformats.org/officeDocument/2006/relationships/theme" Target="/ppt/slideMasters/theme/theme2.xml" Id="R1f7fd369e0e24780" /><Relationship Type="http://schemas.openxmlformats.org/officeDocument/2006/relationships/slideLayout" Target="/ppt/slideLayouts/slideLayout1.xml" Id="R664771c80b2a4b0c" /><Relationship Type="http://schemas.openxmlformats.org/officeDocument/2006/relationships/slideLayout" Target="/ppt/slideLayouts/slideLayout2.xml" Id="R80493dddac6f4d7f" /><Relationship Type="http://schemas.openxmlformats.org/officeDocument/2006/relationships/slideLayout" Target="/ppt/slideLayouts/slideLayout3.xml" Id="Rf92cebcf4e034192" /><Relationship Type="http://schemas.openxmlformats.org/officeDocument/2006/relationships/slideLayout" Target="/ppt/slideLayouts/slideLayout4.xml" Id="R9c3dc2960b02443c" /><Relationship Type="http://schemas.openxmlformats.org/officeDocument/2006/relationships/slideLayout" Target="/ppt/slideLayouts/slideLayout5.xml" Id="Reb11c28aa3fe4c73" /><Relationship Type="http://schemas.openxmlformats.org/officeDocument/2006/relationships/slideLayout" Target="/ppt/slideLayouts/slideLayout6.xml" Id="Re53b4943784548fb" /><Relationship Type="http://schemas.openxmlformats.org/officeDocument/2006/relationships/slideLayout" Target="/ppt/slideLayouts/slideLayout7.xml" Id="Ree83c546c3234210" /><Relationship Type="http://schemas.openxmlformats.org/officeDocument/2006/relationships/slideLayout" Target="/ppt/slideLayouts/slideLayout8.xml" Id="Re02066e9b72846a6" /><Relationship Type="http://schemas.openxmlformats.org/officeDocument/2006/relationships/slideLayout" Target="/ppt/slideLayouts/slideLayout9.xml" Id="R2cc08a735bc74ce5" /><Relationship Type="http://schemas.openxmlformats.org/officeDocument/2006/relationships/slideLayout" Target="/ppt/slideLayouts/slideLayout10.xml" Id="R14334d0ae5754701" /><Relationship Type="http://schemas.openxmlformats.org/officeDocument/2006/relationships/slideLayout" Target="/ppt/slideLayouts/slideLayout11.xml" Id="R95e93f3c4fd84306" /><Relationship Type="http://schemas.openxmlformats.org/officeDocument/2006/relationships/slideLayout" Target="/ppt/slideLayouts/slideLayout12.xml" Id="R10b71bc5bb364a4e" /><Relationship Type="http://schemas.openxmlformats.org/officeDocument/2006/relationships/slideLayout" Target="/ppt/slideLayouts/slideLayout13.xml" Id="Racd4b022cf864ccd" /><Relationship Type="http://schemas.openxmlformats.org/officeDocument/2006/relationships/slideLayout" Target="/ppt/slideLayouts/slideLayout14.xml" Id="R5e1804bc5efa4957" /><Relationship Type="http://schemas.openxmlformats.org/officeDocument/2006/relationships/slideLayout" Target="/ppt/slideLayouts/slideLayout15.xml" Id="Rc8e8e709d63c4b7f" /><Relationship Type="http://schemas.openxmlformats.org/officeDocument/2006/relationships/slideLayout" Target="/ppt/slideLayouts/slideLayout16.xml" Id="R3d0f2b95b04d4507" /><Relationship Type="http://schemas.openxmlformats.org/officeDocument/2006/relationships/slideLayout" Target="/ppt/slideLayouts/slideLayout17.xml" Id="R14d266089f7144d2" /><Relationship Type="http://schemas.openxmlformats.org/officeDocument/2006/relationships/slideLayout" Target="/ppt/slideLayouts/slideLayout18.xml" Id="R7d463a9c8ef14548" /></Relationships>
</file>

<file path=ppt/slideMasters/slideMaster1.xml><?xml version="1.0" encoding="utf-8"?>
<p:sldMaster xmlns:p="http://schemas.openxmlformats.org/presentationml/2006/main">
  <p:cSld name="EAGLE">
    <p:bg>
      <p:bgPr>
        <a:blipFill xmlns:a="http://schemas.openxmlformats.org/drawingml/2006/main">
          <a:blip xmlns:r="http://schemas.openxmlformats.org/officeDocument/2006/relationships" r:embed="R9c50960b1c0b4a7a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E6D51BCC-125E-4BD0-B589-F0B8D042F671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1EF59180-F28C-4D3C-827B-A13D3A0A3AE5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4771c80b2a4b0c"/>
    <p:sldLayoutId xmlns:r="http://schemas.openxmlformats.org/officeDocument/2006/relationships" id="2147483650" r:id="R80493dddac6f4d7f"/>
    <p:sldLayoutId xmlns:r="http://schemas.openxmlformats.org/officeDocument/2006/relationships" id="2147483651" r:id="Rf92cebcf4e034192"/>
    <p:sldLayoutId xmlns:r="http://schemas.openxmlformats.org/officeDocument/2006/relationships" id="2147483652" r:id="R9c3dc2960b02443c"/>
    <p:sldLayoutId xmlns:r="http://schemas.openxmlformats.org/officeDocument/2006/relationships" id="2147483653" r:id="Reb11c28aa3fe4c73"/>
    <p:sldLayoutId xmlns:r="http://schemas.openxmlformats.org/officeDocument/2006/relationships" id="2147483654" r:id="Re53b4943784548fb"/>
    <p:sldLayoutId xmlns:r="http://schemas.openxmlformats.org/officeDocument/2006/relationships" id="2147483655" r:id="Ree83c546c3234210"/>
    <p:sldLayoutId xmlns:r="http://schemas.openxmlformats.org/officeDocument/2006/relationships" id="2147483656" r:id="Re02066e9b72846a6"/>
    <p:sldLayoutId xmlns:r="http://schemas.openxmlformats.org/officeDocument/2006/relationships" id="2147483657" r:id="R2cc08a735bc74ce5"/>
    <p:sldLayoutId xmlns:r="http://schemas.openxmlformats.org/officeDocument/2006/relationships" id="2147483658" r:id="R14334d0ae5754701"/>
    <p:sldLayoutId xmlns:r="http://schemas.openxmlformats.org/officeDocument/2006/relationships" id="2147483659" r:id="R95e93f3c4fd84306"/>
    <p:sldLayoutId xmlns:r="http://schemas.openxmlformats.org/officeDocument/2006/relationships" id="2147483660" r:id="R10b71bc5bb364a4e"/>
    <p:sldLayoutId xmlns:r="http://schemas.openxmlformats.org/officeDocument/2006/relationships" id="2147483661" r:id="Racd4b022cf864ccd"/>
    <p:sldLayoutId xmlns:r="http://schemas.openxmlformats.org/officeDocument/2006/relationships" id="2147483662" r:id="R5e1804bc5efa4957"/>
    <p:sldLayoutId xmlns:r="http://schemas.openxmlformats.org/officeDocument/2006/relationships" id="2147483663" r:id="Rc8e8e709d63c4b7f"/>
    <p:sldLayoutId xmlns:r="http://schemas.openxmlformats.org/officeDocument/2006/relationships" id="2147483664" r:id="R3d0f2b95b04d4507"/>
    <p:sldLayoutId xmlns:r="http://schemas.openxmlformats.org/officeDocument/2006/relationships" id="2147483665" r:id="R14d266089f7144d2"/>
    <p:sldLayoutId xmlns:r="http://schemas.openxmlformats.org/officeDocument/2006/relationships" id="2147483666" r:id="R7d463a9c8ef14548"/>
  </p:sldLayoutIdLst>
  <p:hf sldNum="1" hdr="0" ftr="0" dt="0"/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Source Han Serif TW"/>
          <a:ea typeface="Source Han Serif TW"/>
          <a:cs typeface="Source Han Serif TW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Source Han Serif TW"/>
          <a:ea typeface="Source Han Serif TW"/>
          <a:cs typeface="Source Han Serif TW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Source Han Serif TW"/>
          <a:ea typeface="Source Han Serif TW"/>
          <a:cs typeface="Source Han Serif TW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Source Han Serif TW"/>
          <a:ea typeface="Source Han Serif TW"/>
          <a:cs typeface="Source Han Serif TW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9pPr>
    </p:otherStyle>
  </p:txStyles>
</p:sldMaster>
</file>

<file path=ppt/slideMasters/theme/theme2.xml><?xml version="1.0" encoding="utf-8"?>
<a:theme xmlns:a="http://schemas.openxmlformats.org/drawingml/2006/main" name="EAGLE">
  <a:themeElements>
    <a:clrScheme name="Meeting 0830 Rose &amp; Gold">
      <a:dk1>
        <a:srgbClr val="47171C"/>
      </a:dk1>
      <a:lt1>
        <a:srgbClr val="FCF8F5"/>
      </a:lt1>
      <a:dk2>
        <a:srgbClr val="423C3B"/>
      </a:dk2>
      <a:lt2>
        <a:srgbClr val="FFFFFF"/>
      </a:lt2>
      <a:accent1>
        <a:srgbClr val="CF8792"/>
      </a:accent1>
      <a:accent2>
        <a:srgbClr val="47171C"/>
      </a:accent2>
      <a:accent3>
        <a:srgbClr val="CF9BA5"/>
      </a:accent3>
      <a:accent4>
        <a:srgbClr val="C69B45"/>
      </a:accent4>
      <a:accent5>
        <a:srgbClr val="FAEDC6"/>
      </a:accent5>
      <a:accent6>
        <a:srgbClr val="423C3B"/>
      </a:accent6>
      <a:hlink>
        <a:srgbClr val="CF8792"/>
      </a:hlink>
      <a:folHlink>
        <a:srgbClr val="C69B45"/>
      </a:folHlink>
    </a:clrScheme>
    <a:fontScheme name="Office">
      <a:majorFont>
        <a:latin typeface="Source Han Serif TW"/>
        <a:ea typeface="Source Han Serif TW"/>
        <a:cs typeface="Source Han Serif TW"/>
      </a:majorFont>
      <a:minorFont>
        <a:latin typeface="Source Han Serif TW"/>
        <a:ea typeface="Source Han Serif TW"/>
        <a:cs typeface="Source Han Serif TW"/>
      </a:minorFont>
    </a:fontScheme>
    <a:fmtScheme name="Meeting 0830 Rose &amp; Gol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69b21522be2447e" /><Relationship Type="http://schemas.openxmlformats.org/officeDocument/2006/relationships/image" Target="/ppt/media/image.png" Id="Rc9fc9781161a4efb" /><Relationship Type="http://schemas.openxmlformats.org/officeDocument/2006/relationships/notesSlide" Target="/ppt/notesSlides/notesSlide1.xml" Id="Rd72f1517b57443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718025cc1b54706" /><Relationship Type="http://schemas.openxmlformats.org/officeDocument/2006/relationships/image" Target="/ppt/media/image.png" Id="Rdf0f43ea6bdc441f" /><Relationship Type="http://schemas.openxmlformats.org/officeDocument/2006/relationships/notesSlide" Target="/ppt/notesSlides/notesSlide2.xml" Id="R450cebffd1844f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b3c5116d4bd4730" /><Relationship Type="http://schemas.openxmlformats.org/officeDocument/2006/relationships/image" Target="/ppt/media/image.png" Id="R8d9697a85ca24578" /><Relationship Type="http://schemas.openxmlformats.org/officeDocument/2006/relationships/notesSlide" Target="/ppt/notesSlides/notesSlide3.xml" Id="R5ac43c0ebe8f4d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8f13cfcc7f24db8" /><Relationship Type="http://schemas.openxmlformats.org/officeDocument/2006/relationships/image" Target="/ppt/media/image.png" Id="R3595966dcb8e4e0c" /><Relationship Type="http://schemas.openxmlformats.org/officeDocument/2006/relationships/notesSlide" Target="/ppt/notesSlides/notesSlide4.xml" Id="Re778c6ebfe024b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84b46de092b4eb8" /><Relationship Type="http://schemas.openxmlformats.org/officeDocument/2006/relationships/image" Target="/ppt/media/image.png" Id="R1f893a8e7c0f4913" /><Relationship Type="http://schemas.openxmlformats.org/officeDocument/2006/relationships/notesSlide" Target="/ppt/notesSlides/notesSlide5.xml" Id="Rc3fd5b3223c5487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57ddc0350304719" /><Relationship Type="http://schemas.openxmlformats.org/officeDocument/2006/relationships/image" Target="/ppt/media/image.png" Id="R4e0efc213977436f" /><Relationship Type="http://schemas.openxmlformats.org/officeDocument/2006/relationships/notesSlide" Target="/ppt/notesSlides/notesSlide6.xml" Id="R6df28706220e4de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c8a28b6ca2348c7" /><Relationship Type="http://schemas.openxmlformats.org/officeDocument/2006/relationships/image" Target="/ppt/media/image.png" Id="Ra06af6319ede4717" /><Relationship Type="http://schemas.openxmlformats.org/officeDocument/2006/relationships/notesSlide" Target="/ppt/notesSlides/notesSlide7.xml" Id="R018cc19fadad46e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86e1f52c01f401f" /><Relationship Type="http://schemas.openxmlformats.org/officeDocument/2006/relationships/image" Target="/ppt/media/image.png" Id="R93b00d6454a1470c" /><Relationship Type="http://schemas.openxmlformats.org/officeDocument/2006/relationships/notesSlide" Target="/ppt/notesSlides/notesSlide8.xml" Id="Rdfa7493987f745b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789c374bb254acc" /><Relationship Type="http://schemas.openxmlformats.org/officeDocument/2006/relationships/image" Target="/ppt/media/image.png" Id="R613cbb50850b46fb" /><Relationship Type="http://schemas.openxmlformats.org/officeDocument/2006/relationships/notesSlide" Target="/ppt/notesSlides/notesSlide9.xml" Id="R27f1ea79af3c4fe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67c3d3f06aa45e2" /><Relationship Type="http://schemas.openxmlformats.org/officeDocument/2006/relationships/image" Target="/ppt/media/image.png" Id="Rdf940dade95b4a87" /><Relationship Type="http://schemas.openxmlformats.org/officeDocument/2006/relationships/notesSlide" Target="/ppt/notesSlides/notesSlide10.xml" Id="R3341ea5146e3443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0707a3f108a44fc" /><Relationship Type="http://schemas.openxmlformats.org/officeDocument/2006/relationships/image" Target="/ppt/media/image.png" Id="Rf4a9ba8d88fd4089" /><Relationship Type="http://schemas.openxmlformats.org/officeDocument/2006/relationships/notesSlide" Target="/ppt/notesSlides/notesSlide11.xml" Id="R56f8e3debc95482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4e0484006fb4af3" /><Relationship Type="http://schemas.openxmlformats.org/officeDocument/2006/relationships/image" Target="/ppt/media/image.png" Id="R234ac1fd923c4e43" /><Relationship Type="http://schemas.openxmlformats.org/officeDocument/2006/relationships/notesSlide" Target="/ppt/notesSlides/notesSlide12.xml" Id="Rdb5da0f9c73e45c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e3f73db3b0a4c3b" /><Relationship Type="http://schemas.openxmlformats.org/officeDocument/2006/relationships/image" Target="/ppt/media/image.png" Id="R8a89d8b31ced40ae" /><Relationship Type="http://schemas.openxmlformats.org/officeDocument/2006/relationships/notesSlide" Target="/ppt/notesSlides/notesSlide13.xml" Id="Rc9e6be7c898e45f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c841ca2f4744aad" /><Relationship Type="http://schemas.openxmlformats.org/officeDocument/2006/relationships/image" Target="/ppt/media/image.png" Id="R52a14740d30d4c2c" /><Relationship Type="http://schemas.openxmlformats.org/officeDocument/2006/relationships/notesSlide" Target="/ppt/notesSlides/notesSlide14.xml" Id="R0e62de0a8a1a45a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cc5ea0ea9d34906" /><Relationship Type="http://schemas.openxmlformats.org/officeDocument/2006/relationships/image" Target="/ppt/media/image.png" Id="Rfbe89ae479c146ba" /><Relationship Type="http://schemas.openxmlformats.org/officeDocument/2006/relationships/notesSlide" Target="/ppt/notesSlides/notesSlide15.xml" Id="R4d09e734a0de4b1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150be2c6ad24e80" /><Relationship Type="http://schemas.openxmlformats.org/officeDocument/2006/relationships/image" Target="/ppt/media/image.png" Id="R205add02d29d4f60" /><Relationship Type="http://schemas.openxmlformats.org/officeDocument/2006/relationships/notesSlide" Target="/ppt/notesSlides/notesSlide16.xml" Id="Rdbf18ed77c3d486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7b6341b3c864075" /><Relationship Type="http://schemas.openxmlformats.org/officeDocument/2006/relationships/image" Target="/ppt/media/image.png" Id="R1f15e5f11d274613" /><Relationship Type="http://schemas.openxmlformats.org/officeDocument/2006/relationships/notesSlide" Target="/ppt/notesSlides/notesSlide17.xml" Id="Rb46afd170a64419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c51c604affd42e4" /><Relationship Type="http://schemas.openxmlformats.org/officeDocument/2006/relationships/image" Target="/ppt/media/image.png" Id="Ra30ca2e1ee5344cf" /><Relationship Type="http://schemas.openxmlformats.org/officeDocument/2006/relationships/notesSlide" Target="/ppt/notesSlides/notesSlide18.xml" Id="R9cf5d2ebc1d1465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da6c8b9990343df" /><Relationship Type="http://schemas.openxmlformats.org/officeDocument/2006/relationships/image" Target="/ppt/media/image.png" Id="R8667d53546a940de" /><Relationship Type="http://schemas.openxmlformats.org/officeDocument/2006/relationships/notesSlide" Target="/ppt/notesSlides/notesSlide19.xml" Id="Rb395578dbff94cb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15cd30f8931463e" /><Relationship Type="http://schemas.openxmlformats.org/officeDocument/2006/relationships/image" Target="/ppt/media/image.png" Id="R8aaa7cf05c744125" /><Relationship Type="http://schemas.openxmlformats.org/officeDocument/2006/relationships/notesSlide" Target="/ppt/notesSlides/notesSlide20.xml" Id="R387aa3a2055b4e6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c04b14b543f4c63" /><Relationship Type="http://schemas.openxmlformats.org/officeDocument/2006/relationships/image" Target="/ppt/media/image.png" Id="R450eb3a21d034d7b" /><Relationship Type="http://schemas.openxmlformats.org/officeDocument/2006/relationships/notesSlide" Target="/ppt/notesSlides/notesSlide21.xml" Id="Ref8c47240b0943b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f1cb97aea4a4673" /><Relationship Type="http://schemas.openxmlformats.org/officeDocument/2006/relationships/image" Target="/ppt/media/image.png" Id="R9ec240190d4d4edd" /><Relationship Type="http://schemas.openxmlformats.org/officeDocument/2006/relationships/notesSlide" Target="/ppt/notesSlides/notesSlide22.xml" Id="R4c6637182f3347c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58f6d502ada4073" /><Relationship Type="http://schemas.openxmlformats.org/officeDocument/2006/relationships/image" Target="/ppt/media/image.png" Id="R9c103835c42f456c" /><Relationship Type="http://schemas.openxmlformats.org/officeDocument/2006/relationships/notesSlide" Target="/ppt/notesSlides/notesSlide23.xml" Id="Ra182675fef884ea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218cb8471e84d9f" /><Relationship Type="http://schemas.openxmlformats.org/officeDocument/2006/relationships/image" Target="/ppt/media/image.png" Id="Rbf864bbeafdb42ab" /><Relationship Type="http://schemas.openxmlformats.org/officeDocument/2006/relationships/notesSlide" Target="/ppt/notesSlides/notesSlide24.xml" Id="R3ebfd55855b94c7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f59f23bfa494393" /><Relationship Type="http://schemas.openxmlformats.org/officeDocument/2006/relationships/image" Target="/ppt/media/image.png" Id="R4ccff26109794309" /><Relationship Type="http://schemas.openxmlformats.org/officeDocument/2006/relationships/notesSlide" Target="/ppt/notesSlides/notesSlide25.xml" Id="R449b9679e7ed463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c266e7260554bcb" /><Relationship Type="http://schemas.openxmlformats.org/officeDocument/2006/relationships/image" Target="/ppt/media/image.png" Id="R1624a0ecd481454e" /><Relationship Type="http://schemas.openxmlformats.org/officeDocument/2006/relationships/notesSlide" Target="/ppt/notesSlides/notesSlide26.xml" Id="R468bddeeaf32413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1767a36ab5d45e0" /><Relationship Type="http://schemas.openxmlformats.org/officeDocument/2006/relationships/image" Target="/ppt/media/image.png" Id="Rd4d98d600e9849af" /><Relationship Type="http://schemas.openxmlformats.org/officeDocument/2006/relationships/notesSlide" Target="/ppt/notesSlides/notesSlide27.xml" Id="R446d1b415e20487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b492ac8bc4f4f73" /><Relationship Type="http://schemas.openxmlformats.org/officeDocument/2006/relationships/image" Target="/ppt/media/image.png" Id="R7118c39463a242cb" /><Relationship Type="http://schemas.openxmlformats.org/officeDocument/2006/relationships/notesSlide" Target="/ppt/notesSlides/notesSlide28.xml" Id="R871253f58eb241a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6ed994556ba407e" /><Relationship Type="http://schemas.openxmlformats.org/officeDocument/2006/relationships/image" Target="/ppt/media/image.png" Id="R07cdac80121d4b58" /><Relationship Type="http://schemas.openxmlformats.org/officeDocument/2006/relationships/notesSlide" Target="/ppt/notesSlides/notesSlide29.xml" Id="R43a4882dd5234e5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f1dbf330e3c4810" /><Relationship Type="http://schemas.openxmlformats.org/officeDocument/2006/relationships/image" Target="/ppt/media/image.png" Id="R21ea2e9553bb4494" /><Relationship Type="http://schemas.openxmlformats.org/officeDocument/2006/relationships/notesSlide" Target="/ppt/notesSlides/notesSlide30.xml" Id="Rfe7345655b0c4b0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aa430622f6a44c5" /><Relationship Type="http://schemas.openxmlformats.org/officeDocument/2006/relationships/image" Target="/ppt/media/image.png" Id="R4e6c5fab4c4345ce" /><Relationship Type="http://schemas.openxmlformats.org/officeDocument/2006/relationships/notesSlide" Target="/ppt/notesSlides/notesSlide31.xml" Id="R30a3948b984a4da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683ba6160a1434c" /><Relationship Type="http://schemas.openxmlformats.org/officeDocument/2006/relationships/image" Target="/ppt/media/image.png" Id="R567017870f0a4ec3" /><Relationship Type="http://schemas.openxmlformats.org/officeDocument/2006/relationships/notesSlide" Target="/ppt/notesSlides/notesSlide32.xml" Id="R1fb3e929d523472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92e7513306241b3" /><Relationship Type="http://schemas.openxmlformats.org/officeDocument/2006/relationships/image" Target="/ppt/media/image.png" Id="Rcb679fb7480a41b6" /><Relationship Type="http://schemas.openxmlformats.org/officeDocument/2006/relationships/notesSlide" Target="/ppt/notesSlides/notesSlide33.xml" Id="Rd0f21909ab544162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10fd25383bc41fb" /><Relationship Type="http://schemas.openxmlformats.org/officeDocument/2006/relationships/image" Target="/ppt/media/image.png" Id="Reb17f3fe0d32461d" /><Relationship Type="http://schemas.openxmlformats.org/officeDocument/2006/relationships/notesSlide" Target="/ppt/notesSlides/notesSlide34.xml" Id="R666718e6c71f403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e213fef139e4861" /><Relationship Type="http://schemas.openxmlformats.org/officeDocument/2006/relationships/image" Target="/ppt/media/image.png" Id="Rf359c74b2a654aa7" /><Relationship Type="http://schemas.openxmlformats.org/officeDocument/2006/relationships/notesSlide" Target="/ppt/notesSlides/notesSlide35.xml" Id="Rc203d4e618084089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ef07a0b0a754d9e" /><Relationship Type="http://schemas.openxmlformats.org/officeDocument/2006/relationships/image" Target="/ppt/media/image.png" Id="R6f061e1566e546cc" /><Relationship Type="http://schemas.openxmlformats.org/officeDocument/2006/relationships/notesSlide" Target="/ppt/notesSlides/notesSlide36.xml" Id="R0668cba3e0f040f4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46bb89c3d7c423e" /><Relationship Type="http://schemas.openxmlformats.org/officeDocument/2006/relationships/image" Target="/ppt/media/image.png" Id="R7764b09a8c8a4a51" /><Relationship Type="http://schemas.openxmlformats.org/officeDocument/2006/relationships/notesSlide" Target="/ppt/notesSlides/notesSlide37.xml" Id="Ra4e4f9be995f488b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62b7034590e4103" /><Relationship Type="http://schemas.openxmlformats.org/officeDocument/2006/relationships/image" Target="/ppt/media/image.png" Id="R72076f43e98845c2" /><Relationship Type="http://schemas.openxmlformats.org/officeDocument/2006/relationships/notesSlide" Target="/ppt/notesSlides/notesSlide38.xml" Id="Ra64b458b23df498f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abf32ee30694f17" /><Relationship Type="http://schemas.openxmlformats.org/officeDocument/2006/relationships/image" Target="/ppt/media/image.png" Id="R4219347ee90d4b9a" /><Relationship Type="http://schemas.openxmlformats.org/officeDocument/2006/relationships/notesSlide" Target="/ppt/notesSlides/notesSlide39.xml" Id="R0ecc9b24e0524f26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b462861fad748f5" /><Relationship Type="http://schemas.openxmlformats.org/officeDocument/2006/relationships/image" Target="/ppt/media/image.png" Id="R9a05963576eb45bf" /><Relationship Type="http://schemas.openxmlformats.org/officeDocument/2006/relationships/chart" Target="/ppt/slides/charts/chart1.xml" Id="Rd42a98ff30404ed0" /><Relationship Type="http://schemas.openxmlformats.org/officeDocument/2006/relationships/notesSlide" Target="/ppt/notesSlides/notesSlide40.xml" Id="R6d72b87b8a0142dd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ab523f42d8d4e89" /><Relationship Type="http://schemas.openxmlformats.org/officeDocument/2006/relationships/image" Target="/ppt/media/image.png" Id="Rf0e4c259628b4ffa" /><Relationship Type="http://schemas.openxmlformats.org/officeDocument/2006/relationships/chart" Target="/ppt/slides/charts/chart2.xml" Id="Re3360fc5dbea49be" /><Relationship Type="http://schemas.openxmlformats.org/officeDocument/2006/relationships/chart" Target="/ppt/slides/charts/chart3.xml" Id="Rc5f5a1e8984241e3" /><Relationship Type="http://schemas.openxmlformats.org/officeDocument/2006/relationships/chart" Target="/ppt/slides/charts/chart4.xml" Id="Rcf2396ef7a7f484f" /><Relationship Type="http://schemas.openxmlformats.org/officeDocument/2006/relationships/chart" Target="/ppt/slides/charts/chart5.xml" Id="Rbc27345d6c654fb1" /><Relationship Type="http://schemas.openxmlformats.org/officeDocument/2006/relationships/chart" Target="/ppt/slides/charts/chart6.xml" Id="R07eefff1229f4e0c" /><Relationship Type="http://schemas.openxmlformats.org/officeDocument/2006/relationships/chart" Target="/ppt/slides/charts/chart7.xml" Id="Rd5990f5d69c14c12" /><Relationship Type="http://schemas.openxmlformats.org/officeDocument/2006/relationships/notesSlide" Target="/ppt/notesSlides/notesSlide41.xml" Id="R3bfd0e0220974c1d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bce83ccf99a45d9" /><Relationship Type="http://schemas.openxmlformats.org/officeDocument/2006/relationships/image" Target="/ppt/media/image.png" Id="R7930727b9a3c4571" /><Relationship Type="http://schemas.openxmlformats.org/officeDocument/2006/relationships/chart" Target="/ppt/slides/charts/chart8.xml" Id="Reb1f15446f494db3" /><Relationship Type="http://schemas.openxmlformats.org/officeDocument/2006/relationships/notesSlide" Target="/ppt/notesSlides/notesSlide42.xml" Id="Rc480dd15ec2f4525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97f38c14a754030" /><Relationship Type="http://schemas.openxmlformats.org/officeDocument/2006/relationships/image" Target="/ppt/media/image.png" Id="Rf4de69748d184e4c" /><Relationship Type="http://schemas.openxmlformats.org/officeDocument/2006/relationships/chart" Target="/ppt/slides/charts/chart9.xml" Id="R4dc8de355d5141d7" /><Relationship Type="http://schemas.openxmlformats.org/officeDocument/2006/relationships/notesSlide" Target="/ppt/notesSlides/notesSlide43.xml" Id="R8a9d264f5aff4f03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bf458eea8214f73" /><Relationship Type="http://schemas.openxmlformats.org/officeDocument/2006/relationships/image" Target="/ppt/media/image.png" Id="Rd1181c440f1d4729" /><Relationship Type="http://schemas.openxmlformats.org/officeDocument/2006/relationships/chart" Target="/ppt/slides/charts/chart10.xml" Id="R256fb5eff2504f6b" /><Relationship Type="http://schemas.openxmlformats.org/officeDocument/2006/relationships/notesSlide" Target="/ppt/notesSlides/notesSlide44.xml" Id="R8708d992bf3a4667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d954d6fd6b24975" /><Relationship Type="http://schemas.openxmlformats.org/officeDocument/2006/relationships/image" Target="/ppt/media/image.png" Id="R053d77c8803b45f5" /><Relationship Type="http://schemas.openxmlformats.org/officeDocument/2006/relationships/notesSlide" Target="/ppt/notesSlides/notesSlide45.xml" Id="R072889d1b5a1473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上次</c:v>
          </c:tx>
          <c:spPr>
            <a:solidFill xmlns:a="http://schemas.openxmlformats.org/drawingml/2006/main">
              <a:srgbClr val="CF8792"/>
            </a:solidFill>
          </c:spPr>
          <c:invertIfNegative val="0"/>
          <c:cat>
            <c:numRef>
              <c:f>'Chart Data'!$A$2:$A$6</c:f>
              <c:numCache>
                <c:formatCode>General</c:formatCode>
                <c:ptCount val="5"/>
                <c:pt idx="0">
                  <c:v>8</c:v>
                </c:pt>
                <c:pt idx="1">
                  <c:v>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</c:numCache>
            </c:num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5.592</c:v>
                </c:pt>
                <c:pt idx="1">
                  <c:v>25.733</c:v>
                </c:pt>
                <c:pt idx="2">
                  <c:v>-32.037</c:v>
                </c:pt>
                <c:pt idx="3">
                  <c:v>10.988</c:v>
                </c:pt>
                <c:pt idx="4">
                  <c:v>6.761</c:v>
                </c:pt>
              </c:numCache>
            </c:numRef>
          </c:val>
        </c:ser>
        <c:ser>
          <c:idx val="1"/>
          <c:order val="1"/>
          <c:tx>
            <c:v>本次已完成</c:v>
          </c:tx>
          <c:spPr>
            <a:solidFill xmlns:a="http://schemas.openxmlformats.org/drawingml/2006/main">
              <a:srgbClr val="47171C"/>
            </a:solidFill>
          </c:spPr>
          <c:invertIfNegative val="0"/>
          <c:cat>
            <c:numRef>
              <c:f>'Chart Data'!$C$2:$C$6</c:f>
              <c:numCache>
                <c:formatCode>General</c:formatCode>
                <c:ptCount val="5"/>
                <c:pt idx="0">
                  <c:v>8</c:v>
                </c:pt>
                <c:pt idx="1">
                  <c:v>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</c:numCache>
            </c:num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-3.342</c:v>
                </c:pt>
                <c:pt idx="1">
                  <c:v>23</c:v>
                </c:pt>
                <c:pt idx="2">
                  <c:v>-32.033</c:v>
                </c:pt>
                <c:pt idx="3">
                  <c:v>13.118</c:v>
                </c:pt>
                <c:pt idx="4">
                  <c:v>8.561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47171C"/>
                  </a:solidFill>
                  <a:latin typeface="Source Han Serif TW"/>
                  <a:ea typeface="Source Han Serif TW"/>
                  <a:cs typeface="Source Han Serif TW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</a:p>
        </c:txPr>
        <c:crossAx val="48672768"/>
      </c:catAx>
      <c:valAx>
        <c:axId val="48672768"/>
        <c:scaling>
          <c:orientation val="minMax"/>
          <c:max val="35"/>
          <c:min val="-45"/>
        </c:scaling>
        <c:delete val="0"/>
        <c:axPos val="l"/>
        <c:majorGridlines>
          <c:spPr>
            <a:ln xmlns:a="http://schemas.openxmlformats.org/drawingml/2006/main" w="5715">
              <a:solidFill>
                <a:srgbClr val="DEB4BA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CF8F5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defRPr>
          </a:pPr>
        </a:p>
      </c:txPr>
    </c:legend>
    <c:plotVisOnly val="1"/>
  </c:chart>
  <c:spPr>
    <a:solidFill xmlns:a="http://schemas.openxmlformats.org/drawingml/2006/main">
      <a:srgbClr val="FCF8F5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上次</c:v>
          </c:tx>
          <c:spPr>
            <a:ln xmlns:a="http://schemas.openxmlformats.org/drawingml/2006/main" w="28575">
              <a:solidFill>
                <a:srgbClr val="CF8792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CF8792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-57.328</c:v>
                </c:pt>
                <c:pt idx="1">
                  <c:v>-1.36</c:v>
                </c:pt>
                <c:pt idx="2">
                  <c:v>6.184</c:v>
                </c:pt>
                <c:pt idx="3">
                  <c:v>5.124</c:v>
                </c:pt>
                <c:pt idx="4">
                  <c:v>5.592</c:v>
                </c:pt>
              </c:numCache>
            </c:numRef>
          </c:val>
          <c:smooth val="0"/>
        </c:ser>
        <c:ser>
          <c:idx val="1"/>
          <c:order val="1"/>
          <c:tx>
            <c:v>本次</c:v>
          </c:tx>
          <c:spPr>
            <a:ln xmlns:a="http://schemas.openxmlformats.org/drawingml/2006/main" w="28575">
              <a:solidFill>
                <a:srgbClr val="47171C"/>
              </a:solidFill>
            </a:ln>
          </c:spPr>
          <c:marker>
            <c:symbol val="diamond"/>
            <c:size val="5"/>
            <c:spPr>
              <a:solidFill xmlns:a="http://schemas.openxmlformats.org/drawingml/2006/main">
                <a:srgbClr val="47171C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-57.338</c:v>
                </c:pt>
                <c:pt idx="1">
                  <c:v>-1.108</c:v>
                </c:pt>
                <c:pt idx="2">
                  <c:v>5.643</c:v>
                </c:pt>
                <c:pt idx="3">
                  <c:v>5.716</c:v>
                </c:pt>
                <c:pt idx="4">
                  <c:v>-3.342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ource Han Serif TW"/>
                  <a:ea typeface="Source Han Serif TW"/>
                  <a:cs typeface="Source Han Serif TW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-8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EB4BA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</a:p>
        </c:txPr>
        <c:crossAx val="48650112"/>
        <c:crossBetween val="between"/>
        <c:majorUnit val="40"/>
      </c:valAx>
      <c:spPr>
        <a:solidFill xmlns:a="http://schemas.openxmlformats.org/drawingml/2006/main">
          <a:srgbClr val="FCF8F5"/>
        </a:solidFill>
      </c:spPr>
    </c:plotArea>
    <c:plotVisOnly val="1"/>
  </c:chart>
  <c:spPr>
    <a:solidFill xmlns:a="http://schemas.openxmlformats.org/drawingml/2006/main">
      <a:srgbClr val="FCF8F5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上次</c:v>
          </c:tx>
          <c:spPr>
            <a:ln xmlns:a="http://schemas.openxmlformats.org/drawingml/2006/main" w="28575">
              <a:solidFill>
                <a:srgbClr val="CF8792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CF8792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-71.714</c:v>
                </c:pt>
                <c:pt idx="1">
                  <c:v>-58.547</c:v>
                </c:pt>
                <c:pt idx="2">
                  <c:v>-18.482</c:v>
                </c:pt>
                <c:pt idx="3">
                  <c:v>22.95</c:v>
                </c:pt>
                <c:pt idx="4">
                  <c:v>25.733</c:v>
                </c:pt>
              </c:numCache>
            </c:numRef>
          </c:val>
          <c:smooth val="0"/>
        </c:ser>
        <c:ser>
          <c:idx val="1"/>
          <c:order val="1"/>
          <c:tx>
            <c:v>本次</c:v>
          </c:tx>
          <c:spPr>
            <a:ln xmlns:a="http://schemas.openxmlformats.org/drawingml/2006/main" w="28575">
              <a:solidFill>
                <a:srgbClr val="47171C"/>
              </a:solidFill>
            </a:ln>
          </c:spPr>
          <c:marker>
            <c:symbol val="diamond"/>
            <c:size val="5"/>
            <c:spPr>
              <a:solidFill xmlns:a="http://schemas.openxmlformats.org/drawingml/2006/main">
                <a:srgbClr val="47171C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-71.713</c:v>
                </c:pt>
                <c:pt idx="1">
                  <c:v>-58.572</c:v>
                </c:pt>
                <c:pt idx="2">
                  <c:v>-19.243</c:v>
                </c:pt>
                <c:pt idx="3">
                  <c:v>22.496</c:v>
                </c:pt>
                <c:pt idx="4">
                  <c:v>23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ource Han Serif TW"/>
                  <a:ea typeface="Source Han Serif TW"/>
                  <a:cs typeface="Source Han Serif TW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-8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EB4BA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</a:p>
        </c:txPr>
        <c:crossAx val="48650112"/>
        <c:crossBetween val="between"/>
        <c:majorUnit val="40"/>
      </c:valAx>
      <c:spPr>
        <a:solidFill xmlns:a="http://schemas.openxmlformats.org/drawingml/2006/main">
          <a:srgbClr val="FCF8F5"/>
        </a:solidFill>
      </c:spPr>
    </c:plotArea>
    <c:plotVisOnly val="1"/>
  </c:chart>
  <c:spPr>
    <a:solidFill xmlns:a="http://schemas.openxmlformats.org/drawingml/2006/main">
      <a:srgbClr val="FCF8F5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上次</c:v>
          </c:tx>
          <c:spPr>
            <a:ln xmlns:a="http://schemas.openxmlformats.org/drawingml/2006/main" w="28575">
              <a:solidFill>
                <a:srgbClr val="CF8792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CF8792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-70.592</c:v>
                </c:pt>
                <c:pt idx="1">
                  <c:v>-49.131</c:v>
                </c:pt>
                <c:pt idx="2">
                  <c:v>-41.481</c:v>
                </c:pt>
                <c:pt idx="3">
                  <c:v>-14.999</c:v>
                </c:pt>
                <c:pt idx="4">
                  <c:v>-32.037</c:v>
                </c:pt>
              </c:numCache>
            </c:numRef>
          </c:val>
          <c:smooth val="0"/>
        </c:ser>
        <c:ser>
          <c:idx val="1"/>
          <c:order val="1"/>
          <c:tx>
            <c:v>本次</c:v>
          </c:tx>
          <c:spPr>
            <a:ln xmlns:a="http://schemas.openxmlformats.org/drawingml/2006/main" w="28575">
              <a:solidFill>
                <a:srgbClr val="47171C"/>
              </a:solidFill>
            </a:ln>
          </c:spPr>
          <c:marker>
            <c:symbol val="diamond"/>
            <c:size val="5"/>
            <c:spPr>
              <a:solidFill xmlns:a="http://schemas.openxmlformats.org/drawingml/2006/main">
                <a:srgbClr val="47171C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-70.59</c:v>
                </c:pt>
                <c:pt idx="1">
                  <c:v>-49.136</c:v>
                </c:pt>
                <c:pt idx="2">
                  <c:v>-41.493</c:v>
                </c:pt>
                <c:pt idx="3">
                  <c:v>-15.003</c:v>
                </c:pt>
                <c:pt idx="4">
                  <c:v>-32.033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ource Han Serif TW"/>
                  <a:ea typeface="Source Han Serif TW"/>
                  <a:cs typeface="Source Han Serif TW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-8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EB4BA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</a:p>
        </c:txPr>
        <c:crossAx val="48650112"/>
        <c:crossBetween val="between"/>
        <c:majorUnit val="40"/>
      </c:valAx>
      <c:spPr>
        <a:solidFill xmlns:a="http://schemas.openxmlformats.org/drawingml/2006/main">
          <a:srgbClr val="FCF8F5"/>
        </a:solidFill>
      </c:spPr>
    </c:plotArea>
    <c:plotVisOnly val="1"/>
  </c:chart>
  <c:spPr>
    <a:solidFill xmlns:a="http://schemas.openxmlformats.org/drawingml/2006/main">
      <a:srgbClr val="FCF8F5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上次</c:v>
          </c:tx>
          <c:spPr>
            <a:ln xmlns:a="http://schemas.openxmlformats.org/drawingml/2006/main" w="28575">
              <a:solidFill>
                <a:srgbClr val="CF8792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CF8792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-69.304</c:v>
                </c:pt>
                <c:pt idx="1">
                  <c:v>4.586</c:v>
                </c:pt>
                <c:pt idx="2">
                  <c:v>24.21</c:v>
                </c:pt>
                <c:pt idx="3">
                  <c:v>22.45</c:v>
                </c:pt>
                <c:pt idx="4">
                  <c:v>10.988</c:v>
                </c:pt>
              </c:numCache>
            </c:numRef>
          </c:val>
          <c:smooth val="0"/>
        </c:ser>
        <c:ser>
          <c:idx val="1"/>
          <c:order val="1"/>
          <c:tx>
            <c:v>本次</c:v>
          </c:tx>
          <c:spPr>
            <a:ln xmlns:a="http://schemas.openxmlformats.org/drawingml/2006/main" w="28575">
              <a:solidFill>
                <a:srgbClr val="47171C"/>
              </a:solidFill>
            </a:ln>
          </c:spPr>
          <c:marker>
            <c:symbol val="diamond"/>
            <c:size val="5"/>
            <c:spPr>
              <a:solidFill xmlns:a="http://schemas.openxmlformats.org/drawingml/2006/main">
                <a:srgbClr val="47171C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-69.3</c:v>
                </c:pt>
                <c:pt idx="1">
                  <c:v>7.34</c:v>
                </c:pt>
                <c:pt idx="2">
                  <c:v>20.633</c:v>
                </c:pt>
                <c:pt idx="3">
                  <c:v>24.229</c:v>
                </c:pt>
                <c:pt idx="4">
                  <c:v>13.118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ource Han Serif TW"/>
                  <a:ea typeface="Source Han Serif TW"/>
                  <a:cs typeface="Source Han Serif TW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-8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EB4BA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</a:p>
        </c:txPr>
        <c:crossAx val="48650112"/>
        <c:crossBetween val="between"/>
        <c:majorUnit val="40"/>
      </c:valAx>
      <c:spPr>
        <a:solidFill xmlns:a="http://schemas.openxmlformats.org/drawingml/2006/main">
          <a:srgbClr val="FCF8F5"/>
        </a:solidFill>
      </c:spPr>
    </c:plotArea>
    <c:plotVisOnly val="1"/>
  </c:chart>
  <c:spPr>
    <a:solidFill xmlns:a="http://schemas.openxmlformats.org/drawingml/2006/main">
      <a:srgbClr val="FCF8F5"/>
    </a:solidFill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上次</c:v>
          </c:tx>
          <c:spPr>
            <a:ln xmlns:a="http://schemas.openxmlformats.org/drawingml/2006/main" w="28575">
              <a:solidFill>
                <a:srgbClr val="CF8792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CF8792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-70.457</c:v>
                </c:pt>
                <c:pt idx="1">
                  <c:v>0.01</c:v>
                </c:pt>
                <c:pt idx="2">
                  <c:v>9.678</c:v>
                </c:pt>
                <c:pt idx="3">
                  <c:v>23.498</c:v>
                </c:pt>
                <c:pt idx="4">
                  <c:v>6.761</c:v>
                </c:pt>
              </c:numCache>
            </c:numRef>
          </c:val>
          <c:smooth val="0"/>
        </c:ser>
        <c:ser>
          <c:idx val="1"/>
          <c:order val="1"/>
          <c:tx>
            <c:v>本次</c:v>
          </c:tx>
          <c:spPr>
            <a:ln xmlns:a="http://schemas.openxmlformats.org/drawingml/2006/main" w="28575">
              <a:solidFill>
                <a:srgbClr val="47171C"/>
              </a:solidFill>
            </a:ln>
          </c:spPr>
          <c:marker>
            <c:symbol val="diamond"/>
            <c:size val="5"/>
            <c:spPr>
              <a:solidFill xmlns:a="http://schemas.openxmlformats.org/drawingml/2006/main">
                <a:srgbClr val="47171C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-70.451</c:v>
                </c:pt>
                <c:pt idx="1">
                  <c:v>0.007</c:v>
                </c:pt>
                <c:pt idx="2">
                  <c:v>12.555</c:v>
                </c:pt>
                <c:pt idx="3">
                  <c:v>24.649</c:v>
                </c:pt>
                <c:pt idx="4">
                  <c:v>8.561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ource Han Serif TW"/>
                  <a:ea typeface="Source Han Serif TW"/>
                  <a:cs typeface="Source Han Serif TW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-8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EB4BA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</a:p>
        </c:txPr>
        <c:crossAx val="48650112"/>
        <c:crossBetween val="between"/>
        <c:majorUnit val="40"/>
      </c:valAx>
      <c:spPr>
        <a:solidFill xmlns:a="http://schemas.openxmlformats.org/drawingml/2006/main">
          <a:srgbClr val="FCF8F5"/>
        </a:solidFill>
      </c:spPr>
    </c:plotArea>
    <c:plotVisOnly val="1"/>
  </c:chart>
  <c:spPr>
    <a:solidFill xmlns:a="http://schemas.openxmlformats.org/drawingml/2006/main">
      <a:srgbClr val="FCF8F5"/>
    </a:solidFill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上次</c:v>
          </c:tx>
          <c:spPr>
            <a:ln xmlns:a="http://schemas.openxmlformats.org/drawingml/2006/main" w="28575">
              <a:solidFill>
                <a:srgbClr val="CF8792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CF8792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-70.967</c:v>
                </c:pt>
                <c:pt idx="1">
                  <c:v>-11.476</c:v>
                </c:pt>
                <c:pt idx="2">
                  <c:v>-2.799</c:v>
                </c:pt>
                <c:pt idx="3">
                  <c:v>-5.855</c:v>
                </c:pt>
                <c:pt idx="4">
                  <c:v>18.267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ource Han Serif TW"/>
                  <a:ea typeface="Source Han Serif TW"/>
                  <a:cs typeface="Source Han Serif TW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-8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EB4BA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</a:p>
        </c:txPr>
        <c:crossAx val="48650112"/>
        <c:crossBetween val="between"/>
        <c:majorUnit val="40"/>
      </c:valAx>
      <c:spPr>
        <a:solidFill xmlns:a="http://schemas.openxmlformats.org/drawingml/2006/main">
          <a:srgbClr val="FCF8F5"/>
        </a:solidFill>
      </c:spPr>
    </c:plotArea>
    <c:plotVisOnly val="1"/>
  </c:chart>
  <c:spPr>
    <a:solidFill xmlns:a="http://schemas.openxmlformats.org/drawingml/2006/main">
      <a:srgbClr val="FCF8F5"/>
    </a:solidFill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stacked"/>
        <c:varyColors val="0"/>
        <c:ser>
          <c:idx val="0"/>
          <c:order val="0"/>
          <c:tx>
            <c:v>勝 W</c:v>
          </c:tx>
          <c:spPr>
            <a:solidFill xmlns:a="http://schemas.openxmlformats.org/drawingml/2006/main">
              <a:srgbClr val="CF8792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上次｜6 runs，3600 場</c:v>
                </c:pt>
                <c:pt idx="1">
                  <c:v>本次｜5 runs，3000 場</c:v>
                </c:pt>
              </c:strCache>
            </c:strRef>
          </c:cat>
          <c:val>
            <c:numRef>
              <c:f>'Chart Data'!$B$2:$B$3</c:f>
              <c:numCache>
                <c:formatCode>0"%"</c:formatCode>
                <c:ptCount val="2"/>
                <c:pt idx="0">
                  <c:v>32.3333</c:v>
                </c:pt>
                <c:pt idx="1">
                  <c:v>30.1667</c:v>
                </c:pt>
              </c:numCache>
            </c:numRef>
          </c:val>
        </c:ser>
        <c:ser>
          <c:idx val="1"/>
          <c:order val="1"/>
          <c:tx>
            <c:v>和 D</c:v>
          </c:tx>
          <c:spPr>
            <a:solidFill xmlns:a="http://schemas.openxmlformats.org/drawingml/2006/main">
              <a:srgbClr val="FAEDC6"/>
            </a:solidFill>
          </c:spPr>
          <c:invertIfNegative val="0"/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Data'!$C$2:$C$3</c:f>
              <c:strCache>
                <c:ptCount val="2"/>
                <c:pt idx="0">
                  <c:v>上次｜6 runs，3600 場</c:v>
                </c:pt>
                <c:pt idx="1">
                  <c:v>本次｜5 runs，3000 場</c:v>
                </c:pt>
              </c:strCache>
            </c:strRef>
          </c:cat>
          <c:val>
            <c:numRef>
              <c:f>'Chart Data'!$D$2:$D$3</c:f>
              <c:numCache>
                <c:formatCode>0"%"</c:formatCode>
                <c:ptCount val="2"/>
                <c:pt idx="0">
                  <c:v>4.2222</c:v>
                </c:pt>
                <c:pt idx="1">
                  <c:v>4.8333</c:v>
                </c:pt>
              </c:numCache>
            </c:numRef>
          </c:val>
        </c:ser>
        <c:ser>
          <c:idx val="2"/>
          <c:order val="2"/>
          <c:tx>
            <c:v>敗 L</c:v>
          </c:tx>
          <c:spPr>
            <a:solidFill xmlns:a="http://schemas.openxmlformats.org/drawingml/2006/main">
              <a:srgbClr val="47171C"/>
            </a:solidFill>
          </c:spPr>
          <c:invertIfNegative val="0"/>
          <c:cat>
            <c:strRef>
              <c:f>'Chart Data'!$E$2:$E$3</c:f>
              <c:strCache>
                <c:ptCount val="2"/>
                <c:pt idx="0">
                  <c:v>上次｜6 runs，3600 場</c:v>
                </c:pt>
                <c:pt idx="1">
                  <c:v>本次｜5 runs，3000 場</c:v>
                </c:pt>
              </c:strCache>
            </c:strRef>
          </c:cat>
          <c:val>
            <c:numRef>
              <c:f>'Chart Data'!$F$2:$F$3</c:f>
              <c:numCache>
                <c:formatCode>0"%"</c:formatCode>
                <c:ptCount val="2"/>
                <c:pt idx="0">
                  <c:v>63.4444</c:v>
                </c:pt>
                <c:pt idx="1">
                  <c:v>65</c:v>
                </c:pt>
              </c:numCache>
            </c:numRef>
          </c:val>
        </c:ser>
        <c:dLbls>
          <c:numFmt formatCode="0.0&quot;%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FCF8F5"/>
                  </a:solidFill>
                  <a:latin typeface="Source Han Serif TW"/>
                  <a:ea typeface="Source Han Serif TW"/>
                  <a:cs typeface="Source Han Serif TW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7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EB4BA"/>
              </a:solidFill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CF8F5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defRPr>
          </a:pPr>
        </a:p>
      </c:txPr>
    </c:legend>
    <c:plotVisOnly val="1"/>
  </c:chart>
  <c:spPr>
    <a:solidFill xmlns:a="http://schemas.openxmlformats.org/drawingml/2006/main">
      <a:srgbClr val="FCF8F5"/>
    </a:solidFill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stacked"/>
        <c:varyColors val="0"/>
        <c:ser>
          <c:idx val="0"/>
          <c:order val="0"/>
          <c:tx>
            <c:v>勝 W</c:v>
          </c:tx>
          <c:spPr>
            <a:solidFill xmlns:a="http://schemas.openxmlformats.org/drawingml/2006/main">
              <a:srgbClr val="CF8792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AllInBot</c:v>
                </c:pt>
                <c:pt idx="1">
                  <c:v>Mayari</c:v>
                </c:pt>
                <c:pt idx="2">
                  <c:v>COAC</c:v>
                </c:pt>
                <c:pt idx="3">
                  <c:v>TMA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1</c:v>
                </c:pt>
                <c:pt idx="1">
                  <c:v>0</c:v>
                </c:pt>
                <c:pt idx="2">
                  <c:v>10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v>和 D</c:v>
          </c:tx>
          <c:spPr>
            <a:solidFill xmlns:a="http://schemas.openxmlformats.org/drawingml/2006/main">
              <a:srgbClr val="FAEDC6"/>
            </a:solidFill>
          </c:spPr>
          <c:invertIfNegative val="0"/>
          <c:cat>
            <c:strRef>
              <c:f>'Chart Data'!$C$2:$C$5</c:f>
              <c:strCache>
                <c:ptCount val="4"/>
                <c:pt idx="0">
                  <c:v>AllInBot</c:v>
                </c:pt>
                <c:pt idx="1">
                  <c:v>Mayari</c:v>
                </c:pt>
                <c:pt idx="2">
                  <c:v>COAC</c:v>
                </c:pt>
                <c:pt idx="3">
                  <c:v>TMA</c:v>
                </c:pt>
              </c:strCache>
            </c:strRef>
          </c:cat>
          <c:val>
            <c:numRef>
              <c:f>'Chart Data'!$D$2:$D$5</c:f>
              <c:numCache>
                <c:formatCode>General</c:formatCode>
                <c:ptCount val="4"/>
                <c:pt idx="0">
                  <c:v>3</c:v>
                </c:pt>
                <c:pt idx="1">
                  <c:v>11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2"/>
          <c:order val="2"/>
          <c:tx>
            <c:v>敗 L</c:v>
          </c:tx>
          <c:spPr>
            <a:solidFill xmlns:a="http://schemas.openxmlformats.org/drawingml/2006/main">
              <a:srgbClr val="47171C"/>
            </a:solidFill>
          </c:spPr>
          <c:invertIfNegative val="0"/>
          <c:cat>
            <c:strRef>
              <c:f>'Chart Data'!$E$2:$E$5</c:f>
              <c:strCache>
                <c:ptCount val="4"/>
                <c:pt idx="0">
                  <c:v>AllInBot</c:v>
                </c:pt>
                <c:pt idx="1">
                  <c:v>Mayari</c:v>
                </c:pt>
                <c:pt idx="2">
                  <c:v>COAC</c:v>
                </c:pt>
                <c:pt idx="3">
                  <c:v>TMA</c:v>
                </c:pt>
              </c:strCache>
            </c:strRef>
          </c:cat>
          <c:val>
            <c:numRef>
              <c:f>'Chart Data'!$F$2:$F$5</c:f>
              <c:numCache>
                <c:formatCode>General</c:formatCode>
                <c:ptCount val="4"/>
                <c:pt idx="0">
                  <c:v>296</c:v>
                </c:pt>
                <c:pt idx="1">
                  <c:v>289</c:v>
                </c:pt>
                <c:pt idx="2">
                  <c:v>290</c:v>
                </c:pt>
                <c:pt idx="3">
                  <c:v>300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ource Han Serif TW"/>
                  <a:ea typeface="Source Han Serif TW"/>
                  <a:cs typeface="Source Han Serif TW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</a:p>
        </c:txPr>
        <c:crossAx val="48672768"/>
      </c:catAx>
      <c:valAx>
        <c:axId val="48672768"/>
        <c:scaling>
          <c:orientation val="minMax"/>
          <c:max val="3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EB4BA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</a:p>
        </c:txPr>
        <c:crossAx val="48650112"/>
        <c:crossBetween val="between"/>
        <c:majorUnit val="100"/>
      </c:valAx>
      <c:spPr>
        <a:solidFill xmlns:a="http://schemas.openxmlformats.org/drawingml/2006/main">
          <a:srgbClr val="FCF8F5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defRPr>
          </a:pPr>
        </a:p>
      </c:txPr>
    </c:legend>
    <c:plotVisOnly val="1"/>
  </c:chart>
  <c:spPr>
    <a:solidFill xmlns:a="http://schemas.openxmlformats.org/drawingml/2006/main">
      <a:srgbClr val="FCF8F5"/>
    </a:solidFill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上次</c:v>
          </c:tx>
          <c:spPr>
            <a:solidFill xmlns:a="http://schemas.openxmlformats.org/drawingml/2006/main">
              <a:srgbClr val="CF8792"/>
            </a:solidFill>
          </c:spPr>
          <c:invertIfNegative val="0"/>
          <c:cat>
            <c:numRef>
              <c:f>'Chart Data'!$A$2:$A$6</c:f>
              <c:numCache>
                <c:formatCode>General</c:formatCode>
                <c:ptCount val="5"/>
                <c:pt idx="0">
                  <c:v>8</c:v>
                </c:pt>
                <c:pt idx="1">
                  <c:v>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</c:numCache>
            </c:num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ser>
          <c:idx val="1"/>
          <c:order val="1"/>
          <c:tx>
            <c:v>本次已完成</c:v>
          </c:tx>
          <c:spPr>
            <a:solidFill xmlns:a="http://schemas.openxmlformats.org/drawingml/2006/main">
              <a:srgbClr val="47171C"/>
            </a:solidFill>
          </c:spPr>
          <c:invertIfNegative val="0"/>
          <c:cat>
            <c:numRef>
              <c:f>'Chart Data'!$C$2:$C$6</c:f>
              <c:numCache>
                <c:formatCode>General</c:formatCode>
                <c:ptCount val="5"/>
                <c:pt idx="0">
                  <c:v>8</c:v>
                </c:pt>
                <c:pt idx="1">
                  <c:v>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</c:numCache>
            </c:num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3</c:v>
                </c:pt>
                <c:pt idx="1">
                  <c:v>1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>
                  <a:solidFill>
                    <a:srgbClr val="47171C"/>
                  </a:solidFill>
                  <a:latin typeface="Source Han Serif TW"/>
                  <a:ea typeface="Source Han Serif TW"/>
                  <a:cs typeface="Source Han Serif TW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</a:p>
        </c:txPr>
        <c:crossAx val="48672768"/>
      </c:catAx>
      <c:valAx>
        <c:axId val="48672768"/>
        <c:scaling>
          <c:orientation val="minMax"/>
          <c:max val="1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EB4BA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CF8F5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defRPr>
          </a:pPr>
        </a:p>
      </c:txPr>
    </c:legend>
    <c:plotVisOnly val="1"/>
  </c:chart>
  <c:spPr>
    <a:solidFill xmlns:a="http://schemas.openxmlformats.org/drawingml/2006/main">
      <a:srgbClr val="FCF8F5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c9fc9781161a4efb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2289EB-A716-41A1-A4D2-9448737195FD}"/>
              </a:ext>
            </a:extLst>
          </p:cNvPr>
          <p:cNvCxnSpPr>
            <a:stCxn xmlns:a="http://schemas.openxmlformats.org/drawingml/2006/main" id="7" idx="1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7667625" y="2705100"/>
            <a:ext cx="0" cy="3390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C46E3C-4E57-422C-868E-A80618688843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10810875" y="4895850"/>
            <a:ext cx="2238375" cy="1200150"/>
          </a:xfrm>
          <a:prstGeom xmlns:a="http://schemas.openxmlformats.org/drawingml/2006/main" prst="bentConnector5">
            <a:avLst>
              <a:gd name="adj1" fmla="val 0"/>
              <a:gd name="adj2" fmla="val 19048"/>
              <a:gd name="adj3" fmla="val 89787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51C685-837E-4972-A76B-0BBA62A9D43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0810875" y="2705100"/>
            <a:ext cx="666750" cy="16954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0D31FF-041F-46D7-B964-7670095B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EAGLE Opponent Pool 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CE31E7-E2DE-49FA-A619-32EC40A7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以歷代策略維護對手池，再用凍結的 4＋6 名單評估候選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1DCDE8-EF69-4F40-9026-21F828BB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離線演化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923FFD-4801-45BB-A941-E410F505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561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MicroRTS Java 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3B105F-5395-4D14-916E-D2F9556E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09800"/>
            <a:ext cx="31432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策略／控制基因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75FCED-ECCA-455D-A5F7-5B0984B7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3905250"/>
            <a:ext cx="31432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 Java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9BD373-D872-49B0-A17A-B8A8A2E1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600700"/>
            <a:ext cx="31432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對戰證據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D99060-1714-4BB4-9B27-41A4931F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255270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生成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63C281-464A-46EE-90A3-93C7CABC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54673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評估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C99186-F6AE-41FD-91B6-FD9ACB8A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9811" y="4019550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反思與選擇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408C48-8CE4-4B10-B68E-EFCB82C3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05375"/>
            <a:ext cx="40005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對戰時直接執行 Java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130567-2EDB-4782-8DA9-5FADAC88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0"/>
            <a:ext cx="542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演化與 LLM 工作在對戰之前完成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F13D54-2984-480E-B79B-04254EA9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9913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2026-10-21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A60D92-D238-4598-AA7D-D44A04DA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搜尋採 opponent pool；正式 Final Test 使用獨立的固定基準</a:t>
            </a:r>
          </a:p>
        </p:txBody>
      </p:sp>
      <p:sp>
        <p:nvSpPr>
          <p:cNvPr id="18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E6D51BCC-125E-4BD0-B589-F0B8D042F671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1EF59180-F28C-4D3C-827B-A13D3A0A3AE5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1500113845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df0f43ea6bdc441f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3DA465-E10D-46D2-8F41-00D52C06CC61}"/>
              </a:ext>
            </a:extLst>
          </p:cNvPr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4048125" y="7072313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5205B1-19C8-422C-B09B-246DAC5A3B76}"/>
              </a:ext>
            </a:extLst>
          </p:cNvPr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8429625" y="7072313"/>
            <a:ext cx="1476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139B8E-F401-41F7-8428-F0F57C01A79C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2001500" y="5334000"/>
            <a:ext cx="0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20B208-32DD-41AD-BD6F-CEAB2D39871D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810625" y="466725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D65FAE-6BCB-49A5-9D87-657DEB8D9DA8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048125" y="466725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B6D11C-9BCA-4FB9-AC42-40063CF22F9E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2500313" y="3095625"/>
            <a:ext cx="928688" cy="1095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CD901D-3526-4B5C-8364-35583E69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 搜尋流程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1A6FFF-F2F7-44C1-B205-AA2AF001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目前搜尋協定：self_play ＋ tournament-v1 opponent pool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738243-6321-4598-8F60-AEB224A8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1466850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28228B-05AA-45D4-A383-5B482B7B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5143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GPT 產生 Java framework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DAF3C2-3CFE-4E67-8B8C-5DB32DE1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47900"/>
            <a:ext cx="742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暫時人工由 ChatGPT</a:t>
            </a:r>
          </a:p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生成固定 framework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458EC0-6E6B-4905-9BBD-793F2BA5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91000"/>
            <a:ext cx="3095625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初始化 G0</a:t>
            </a:r>
          </a:p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十個內建對手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B27F4E-D1A0-4F45-89D1-C7CFE696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191000"/>
            <a:ext cx="38100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候選初評</a:t>
            </a:r>
          </a:p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策略開始累積入池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3A8D22-241A-4CA7-9C29-A8CBC898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000500"/>
            <a:ext cx="40005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到期刷新 4＋6</a:t>
            </a:r>
          </a:p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父代重評、選擇與變異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262F41-A2E6-4F95-837C-600B8E9D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77000"/>
            <a:ext cx="419100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子代評估與倖存選擇</a:t>
            </a:r>
          </a:p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更新 opponent pool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0338EB-1BF0-4800-86F1-2670CD74E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6572250"/>
            <a:ext cx="3429000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停止條件？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1143A5-5877-4C24-BEC9-4252E501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572250"/>
            <a:ext cx="3095625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Final Test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BFA76E-1C2C-4F65-A7E3-7EF21D4115FE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6715125" y="57150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6D520B-B66B-438D-A1D6-3F82D530352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715125" y="5715000"/>
            <a:ext cx="7715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C4E39B-C4DE-4205-AE55-3C4D82DC90A2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4430375" y="4667250"/>
            <a:ext cx="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943B4E-51C5-41A1-A4A0-F182C55F6A83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14001750" y="46672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9C7B07-8237-4482-8E51-4B7468BC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381625"/>
            <a:ext cx="22860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CF8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否：下一代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ABC931-342F-4E52-B1CC-28307142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391275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是</a:t>
            </a:r>
          </a:p>
        </p:txBody>
      </p:sp>
      <p:sp>
        <p:nvSpPr>
          <p:cNvPr id="2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D30B11BD-315D-487B-AA51-1A1D59184D8E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8B590687-9921-4F4B-9A94-F58EC52ABB4C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388267246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8d9697a85ca24578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734D26-8D9E-4C85-BD16-B8E6A8B49CDA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9753600" y="3357563"/>
            <a:ext cx="1619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659C15-62BF-43E2-AC61-2AB32AF25DBB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4514850" y="3357563"/>
            <a:ext cx="1619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FB3CF1-9622-4F92-8923-02B9DDD6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策略 DSL 的執行語意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AB3EB9-C1E1-4F31-8EAE-3A8105A4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一條規則決定：誰，在什麼條件下，嘗試什麼動作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3DC784-0CA6-4FE9-94F1-DF8D1C2A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24125"/>
            <a:ext cx="3619500" cy="1666875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actor</a:t>
            </a:r>
          </a:p>
          <a:p xmlns:a="http://schemas.openxmlformats.org/drawingml/2006/main">
            <a: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執行對象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2438B2-A048-48AA-A5F8-3976E7C1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24125"/>
            <a:ext cx="3619500" cy="1666875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when</a:t>
            </a:r>
          </a:p>
          <a:p xmlns:a="http://schemas.openxmlformats.org/drawingml/2006/main">
            <a: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可觀察條件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A3FADA-CF9A-4BEC-AAAA-F633A167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524125"/>
            <a:ext cx="3619500" cy="1666875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action</a:t>
            </a:r>
          </a:p>
          <a:p xmlns:a="http://schemas.openxmlformats.org/drawingml/2006/main">
            <a: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候選動作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F45991-BA86-4A2B-BD57-DA044CD2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38750"/>
            <a:ext cx="140970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CF8F5"/>
          </a:solidFill>
          <a:ln xmlns:a="http://schemas.openxmlformats.org/drawingml/2006/main" w="9525">
            <a:solidFill>
              <a:srgbClr val="DEB4BA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規則 1   →   規則 2   →   規則 3   →   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B7B12D-670B-4466-B95C-0537DF45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724650"/>
            <a:ext cx="3429000" cy="809625"/>
          </a:xfrm>
          <a:prstGeom xmlns:a="http://schemas.openxmlformats.org/drawingml/2006/main" prst="roundRect">
            <a:avLst>
              <a:gd name="adj" fmla="val 1882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可合法發出動作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5785D6-49EA-48FC-A8F9-96FC5AC74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6724650"/>
            <a:ext cx="4476750" cy="809625"/>
          </a:xfrm>
          <a:prstGeom xmlns:a="http://schemas.openxmlformats.org/drawingml/2006/main" prst="roundRect">
            <a:avLst>
              <a:gd name="adj" fmla="val 18824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無法發出：繼續下一條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A9BE10-C292-4EFA-9E70-37E36CB8194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953000" y="6191250"/>
            <a:ext cx="0" cy="533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378827-A95B-4C31-9FAD-06357061C92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763250" y="6191250"/>
            <a:ext cx="0" cy="533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67B834-C785-4CD7-B9FB-B62D866C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DSL 離線轉為 Java；對戰不執行文字指令。空 rules 代表 idle</a:t>
            </a:r>
          </a:p>
        </p:txBody>
      </p:sp>
      <p:sp>
        <p:nvSpPr>
          <p:cNvPr id="1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0D9126B1-343B-46D9-985D-36C6C628D278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5FAD28DC-082A-4DA4-9333-C9DCC47DAD43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1208371468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3595966dcb8e4e0c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F280DB-CC8B-4CB5-BE78-50394E91F815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858375" y="4619625"/>
            <a:ext cx="1285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863D89-9051-4279-B78A-635F7AD9CAF2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4895850" y="4619625"/>
            <a:ext cx="1247775" cy="762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29077D-9B44-4F5F-A651-2E3DA596C23C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895850" y="2809875"/>
            <a:ext cx="1247775" cy="1809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58B07F-534C-4DFF-8015-06053B26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Framework 的一次性建立與凍結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0703AE-487B-47B7-A9E2-3044433B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架構建立一次；模板、槽位與表達式在搜尋期間保持固定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174F8B-E3D1-4EFA-986B-55C04CED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40957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新建立 framework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CA9BD1-5F61-4BEA-A77D-AD9129E9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40957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已有外部 bundle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2E3B08-DB9A-4F15-99B1-111F48F6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19475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design_brief</a:t>
            </a:r>
          </a:p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Groq／Mistral／local bootstrap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4F2C15-A949-4660-8ACA-DD73198B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000750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人工準備或共用架構</a:t>
            </a:r>
          </a:p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指定 bundle_path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81F4B8-4533-4831-8C0D-3B61DEC8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857625"/>
            <a:ext cx="37147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Schema</a:t>
            </a:r>
          </a:p>
          <a:p xmlns:a="http://schemas.openxmlformats.org/drawingml/2006/main">
            <a: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與 Java 契約驗證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367A41-D944-44AC-A248-FDE746D6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0"/>
            <a:ext cx="3905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凍結 bundle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1E0B20-53D4-4FE3-A817-5C60D867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5905500"/>
            <a:ext cx="18097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exact bytes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8D0265-E1F7-4DDD-99EA-24931F50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5905500"/>
            <a:ext cx="17145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SHA-256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42B182-3DF3-4D28-9AE4-DEA7CF3F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之後只演化 control_genome；resume 讀凍結版本，不重新 bootstrap</a:t>
            </a:r>
          </a:p>
        </p:txBody>
      </p:sp>
      <p:sp>
        <p:nvSpPr>
          <p:cNvPr id="15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E604979D-DD7B-4527-B370-27C9FE3DFDFB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F32A4E30-A3DB-4990-B2FF-BED63D4309BB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1354301982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1f893a8e7c0f4913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48FE56-8D0B-4C96-A64F-215D0C98B894}"/>
              </a:ext>
            </a:extLst>
          </p:cNvPr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6429375" y="771525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A73765-966C-4A05-87E4-5BA32BEC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Framework 的有限選項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25C3C3-169C-400C-A92A-3D431CD8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slot 是固定 Java 裡的可替換位置；演化只改選值，Java 骨架保持固定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FC3F55-7C91-4E19-9AD5-4E74BB3E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573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槽位的意義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0094D9-D9AE-41A8-B640-01F6292F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85737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bundle 定義的合法選項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35868E-1A8F-4786-BCF5-6AD9A48F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857375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候選保存的值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4B02C5-9058-45DA-B68E-1AA92071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146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integer｜工人數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C18858-0AB5-4DC1-96D7-3570030A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813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worker_target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1EEFFF-57D3-486A-BC80-D29CD5BB3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762250"/>
            <a:ext cx="6477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077C16-D135-4F4C-A5F0-8EE551DE4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762250"/>
            <a:ext cx="6477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BE5D46-219D-44B1-AA37-E1755C13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762250"/>
            <a:ext cx="6477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EC7002-55D0-47A2-92A4-6E39E02E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62250"/>
            <a:ext cx="6477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791089-23A7-490B-A3C0-60955691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762250"/>
            <a:ext cx="6477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B20963-103B-44BE-B134-4F27AFA7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62250"/>
            <a:ext cx="6477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D003DB-BD8F-49D0-B20A-8FEA3165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762250"/>
            <a:ext cx="6477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E2883B-980D-47A5-9B83-DCD1BD27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4861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min = 2，max = 8，step = 1</a:t>
            </a:r>
          </a:p>
        </p:txBody>
      </p: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94B742-7E7B-484A-8BE7-48EF0D7E487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953625" y="31718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0860CD-4A41-435D-9F4B-E774D6F0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762250"/>
            <a:ext cx="44767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worker_target: 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C133C3-15FF-47FD-B008-2C35FBBF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33875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number｜數值權重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1F9AAF-145D-495D-AB33-5B02D91F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006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attack_weight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CF91F0-2B64-46D3-BF8D-A361513B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381500"/>
            <a:ext cx="952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67140A-B0D3-4444-B649-25602E8B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381500"/>
            <a:ext cx="952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0.25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50CDB2-493A-40FE-B844-6D800C21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381500"/>
            <a:ext cx="952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0.5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33D824-9BFD-4E54-B256-1A3159FF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81500"/>
            <a:ext cx="952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0.75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ACA8E1-03A6-47F5-A701-8C4B5CE8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381500"/>
            <a:ext cx="952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FFEA33-B0B3-43EB-B66F-8FCA4AD2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105400"/>
            <a:ext cx="638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min = 0，max = 1，step = 0.25</a:t>
            </a:r>
          </a:p>
        </p:txBody>
      </p: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EA6DB0-4487-4AA1-B785-0F4B4AC87F7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953625" y="47910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7D3076-E5B5-4301-8D3D-AC52B95D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0"/>
            <a:ext cx="44767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attack_weight: 0.75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9E9B6F-CA27-4B66-A1C8-6CCA9D13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expression_choice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684595-D34C-482E-9999-96949FF1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198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攻擊目標 target_policy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7C751C-F480-4BAA-AFAC-90B23665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6000750"/>
            <a:ext cx="17145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最近敵人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E9E6D1-DB26-4BAE-9A38-65511493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000750"/>
            <a:ext cx="17145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最低血量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F78B6D-D13F-4AED-8A32-3DEB43F6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6000750"/>
            <a:ext cx="17145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敵方基地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DD91E4-A0DD-4ECC-BC34-8155F674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6762750"/>
            <a:ext cx="657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每個 choice_id 已對應一段固定 Java 表達式</a:t>
            </a:r>
          </a:p>
        </p:txBody>
      </p: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D933F9-478E-4E98-B3AF-537DF2C99D3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953625" y="64103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3FE1D5-3379-4CE3-BBF1-743DEC6F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000750"/>
            <a:ext cx="44767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target_policy: "lowest_hp"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DE18CC-66EB-4398-8283-0FE95CAB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419975"/>
            <a:ext cx="57150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填滿全部 slot，組成完整 genome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F800F56-1BCD-4F9E-A32F-285A351D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7419975"/>
            <a:ext cx="7286625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驗證選值，再填入固定模板產生 Java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D203BBA-D655-4E66-9817-E2E232C6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簡化示例，實際選單由 bundle 決定。number 也只能選離散格點，不能任意填小數</a:t>
            </a:r>
          </a:p>
        </p:txBody>
      </p:sp>
      <p:sp>
        <p:nvSpPr>
          <p:cNvPr id="40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F449A390-A187-4A9E-8D66-BA8C6CD96A7D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A1A0A315-681A-4F2D-8708-0D4C053649F6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5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343494681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4e0efc213977436f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262D84-5EB4-41F3-B76A-D6EFF5F15B70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8001000" y="6019800"/>
            <a:ext cx="3810000" cy="11239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482676-9916-4B1B-8B22-D8FDBA3D92EA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4095750" y="5895975"/>
            <a:ext cx="3905250" cy="12477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50919E-509A-4FB3-AA63-ED4B3ABEEBC6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1811000" y="4276725"/>
            <a:ext cx="0" cy="676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D93C46-2F7A-4A85-8FDF-D5087E33333B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4095750" y="4276725"/>
            <a:ext cx="0" cy="819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04D851-F4C9-4EDB-8B48-3BEF3B73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Framework 的 local 與 llm_coach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9E9F74-EFF6-484E-8595-FC0C1FDC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兩種演化政策，共用相同的凍結 framework 與下游評估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F0A58B-C944-4AAD-9630-9EED7F5D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6858000" cy="4572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914F0D-95F0-4CED-A5ED-839F50FD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6858000" cy="4572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30F645-1C5B-4406-B35D-897223BA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14575"/>
            <a:ext cx="609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local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8DB00E-3697-4843-9B25-969F014F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314575"/>
            <a:ext cx="609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llm_coach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C84F42-1301-4A17-B7DF-31A4217E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76625"/>
            <a:ext cx="59055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CF8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初始：有限域採樣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CD244E-D47D-44C7-96B9-8B5093F6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95875"/>
            <a:ext cx="59055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逐槽交配，至多一槽突變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C78D66-F08E-4885-BA8F-2E31CEA6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76625"/>
            <a:ext cx="59055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CF8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初始：LLM 選完整 genome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37374D-9661-428A-B9F0-6DA2E8BB9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53000"/>
            <a:ext cx="5905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最差單場賽評＋Coach</a:t>
            </a:r>
          </a:p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回傳完整 genome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AA130A-4B15-48EE-BF87-D804700E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7143750"/>
            <a:ext cx="75247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本地渲染 Java，再驗證與對戰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17994B-64ED-47F1-8D3C-86AB2A36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Coach 回應不合法：保留突變前的完整 genome，標記失敗，不隨機補值</a:t>
            </a:r>
          </a:p>
        </p:txBody>
      </p:sp>
      <p:sp>
        <p:nvSpPr>
          <p:cNvPr id="17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96FC50C5-5A30-41A5-8DB3-79ABDA024BD8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84DDFF37-55A0-41DD-9FE1-199380A24B81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6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419302840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a06af6319ede4717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3FFCC2-CFF2-4D4A-84DC-F5954AD8774D}"/>
              </a:ext>
            </a:extLst>
          </p:cNvPr>
          <p:cNvCxnSpPr>
            <a:stCxn xmlns:a="http://schemas.openxmlformats.org/drawingml/2006/main" id="21" idx="0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2381250" y="2971800"/>
            <a:ext cx="2714625" cy="3267075"/>
          </a:xfrm>
          <a:prstGeom xmlns:a="http://schemas.openxmlformats.org/drawingml/2006/main" prst="bentConnector5">
            <a:avLst>
              <a:gd name="adj1" fmla="val 0"/>
              <a:gd name="adj2" fmla="val 6997"/>
              <a:gd name="adj3" fmla="val 91579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CC5711-A647-43F5-8536-C608DA1A9CD2}"/>
              </a:ext>
            </a:extLst>
          </p:cNvPr>
          <p:cNvCxnSpPr>
            <a:stCxn xmlns:a="http://schemas.openxmlformats.org/drawingml/2006/main" id="19" idx="1"/>
            <a:endCxn xmlns:a="http://schemas.openxmlformats.org/drawingml/2006/main" id="21" idx="3"/>
          </p:cNvCxnSpPr>
          <p:nvPr/>
        </p:nvCxnSpPr>
        <p:spPr>
          <a:xfrm xmlns:a="http://schemas.openxmlformats.org/drawingml/2006/main" flipH="1">
            <a:off x="3952875" y="6810375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EA6031-995F-4D5A-966A-061D6EF342FB}"/>
              </a:ext>
            </a:extLst>
          </p:cNvPr>
          <p:cNvCxnSpPr>
            <a:stCxn xmlns:a="http://schemas.openxmlformats.org/drawingml/2006/main" id="17" idx="2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7953375" y="5667375"/>
            <a:ext cx="4143375" cy="1143000"/>
          </a:xfrm>
          <a:prstGeom xmlns:a="http://schemas.openxmlformats.org/drawingml/2006/main" prst="bentConnector5">
            <a:avLst>
              <a:gd name="adj1" fmla="val 0"/>
              <a:gd name="adj2" fmla="val 20000"/>
              <a:gd name="adj3" fmla="val 94483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F2B051-6D7A-4994-9FB9-D2F458DA76C8}"/>
              </a:ext>
            </a:extLst>
          </p:cNvPr>
          <p:cNvCxnSpPr>
            <a:stCxn xmlns:a="http://schemas.openxmlformats.org/drawingml/2006/main" id="15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12096750" y="3419475"/>
            <a:ext cx="0" cy="1200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6994EC-60AB-4C66-A98C-DF8FC3771BB0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953375" y="2971800"/>
            <a:ext cx="2190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44C27C-E409-4CD3-9CE4-2DB41F03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 的每個世代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F1C641-E28D-45B1-BC88-59BA2A542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同一凍結快照內，10 位父代與 10 位子代選出 10 位下一代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F052FC-151A-46BE-98ED-70B7450F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46C758-7045-4EB4-99E6-65E1BAF0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7B876C-A339-4D2A-BEA1-C3C49FEB7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480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77BFA1-29B6-4A1A-A7D2-AD0FB3B6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0480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3AB37D-48CC-4077-9347-3D2D0F06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0480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D201F6-5994-43EE-901C-66DCDAFF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480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020E2C-F63B-4EF3-8FCB-312CF27E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C0227E-4F7B-468B-B115-BACD3A83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1475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D1E3A9-D982-43B0-B158-C7E91E02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71475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B0FB4B-0070-4D16-9372-0D1183F3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71475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77BCFF-9235-4C5C-BC29-44E4D932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1475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3210DC-F1FD-4CEB-BD98-E87A25E5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524125"/>
            <a:ext cx="28575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選父代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CA17BB-702F-44D6-BE7B-4EF00C79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524125"/>
            <a:ext cx="390525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交配與突變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F78A68-8632-4F44-9E04-27AC9AB8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619625"/>
            <a:ext cx="39052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Java、驗證與子代評估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622860-49E3-4D6A-BF6E-3310EC85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6238875"/>
            <a:ext cx="2857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父代＋子代</a:t>
            </a:r>
          </a:p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選下一代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BD9BD5-FC07-4EBE-B457-EE45A545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38875"/>
            <a:ext cx="3143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更新 pool</a:t>
            </a:r>
          </a:p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保存 checkpoint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105B60-E915-4251-B908-200481E3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029075"/>
            <a:ext cx="89535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對手快照到期刷新時，繁殖前先重評父代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F3551A-A5EF-45E3-89DF-8C32876E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世代提交後才前進；新入池成員等下一次快照刷新才可能成為對手</a:t>
            </a:r>
          </a:p>
        </p:txBody>
      </p:sp>
      <p:sp>
        <p:nvSpPr>
          <p:cNvPr id="2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5F06CE79-5F81-412F-9413-60E50E70CBA4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39888343-4B1C-4794-B6CF-71480001CEA1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7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1682246096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93b00d6454a1470c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C5F66B-F192-48AA-8471-38556F7B1607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10334625" y="2905125"/>
            <a:ext cx="1381125" cy="404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20FC70-4EC7-487D-87F4-16BA6230BB95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4714875" y="3309938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C4BC85-E03C-4013-A4F7-38A8FA6E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 的繁殖父代選擇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A65F65-F4AA-4BC0-8B85-A440C0FA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先用 Game Performance 決定頂層，再在這一層中選繁殖父代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5F37E8-C09D-4C9E-89BF-327B176E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3952875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當代候選族群</a:t>
            </a:r>
          </a:p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同一對手快照，已有 fitness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C835CC-3B6C-47EC-8DC4-867F2987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667000"/>
            <a:ext cx="43815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只留分數頂層</a:t>
            </a:r>
          </a:p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fitness ≥ 最高分 − 1.0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0A5E42-7537-4568-A8CD-D8B60B51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2381250"/>
            <a:ext cx="3286125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 A</a:t>
            </a:r>
          </a:p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seeded 抽樣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0A6132-F2E8-499B-96E1-F2DB8792F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5619750"/>
            <a:ext cx="3286125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 B</a:t>
            </a:r>
          </a:p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優先挑離 A 較遠者</a:t>
            </a:r>
          </a:p>
        </p:txBody>
      </p: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E5AFBE-B1D4-45E7-B9AB-83B6451EB48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334625" y="371475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783DD0-D628-416C-B740-6431E83127B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953750" y="3714750"/>
            <a:ext cx="0" cy="2495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366B0C-F574-427B-B90D-122D98ABA1A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953750" y="62103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AF5BEA-70A1-4F30-8081-FFF142ED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419100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在同一頂層再選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F629DD-79A8-44E7-9303-38E7E023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90487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語意距離來自固定狀態中的 Java 動作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F93AFF-3356-466A-B6B7-F7FFF9CC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低分者不能只靠行為新穎跨越分數頂層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C760E1-C4EE-4BA1-852D-DBF80490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繁殖父代提供基因；opponent pool 提供評估對手。沒有相容簽章時採 seeded fallback</a:t>
            </a:r>
          </a:p>
        </p:txBody>
      </p:sp>
      <p:sp>
        <p:nvSpPr>
          <p:cNvPr id="1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CDD6D23D-090F-4ED8-80B6-41EF6ADFFCC3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9A6CC963-FFFC-4F6D-8BFE-0C295E9A0DDD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8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781934499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613cbb50850b46fb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45A325-1E3F-458F-B996-ADA1E20C968E}"/>
              </a:ext>
            </a:extLst>
          </p:cNvPr>
          <p:cNvCxnSpPr>
            <a:stCxn xmlns:a="http://schemas.openxmlformats.org/drawingml/2006/main" id="19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11477625" y="5667375"/>
            <a:ext cx="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8ED2B0-2D1F-4C11-B2C9-C6DD22C106FD}"/>
              </a:ext>
            </a:extLst>
          </p:cNvPr>
          <p:cNvCxnSpPr>
            <a:stCxn xmlns:a="http://schemas.openxmlformats.org/drawingml/2006/main" id="18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11477625" y="3390900"/>
            <a:ext cx="0" cy="1085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02F24B-26C1-4ACD-87C0-E8E3AD3A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 的父代選擇示例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0D3F55-B1AC-401C-85A2-816B86AC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教學示例：最高分 100，頂層門檻為 99.0；只在這層中比較行為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D37F54-C920-48D2-AA8A-DD0DCA9B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17430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候選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CF23A3-03A3-4C2F-9B33-A245842A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333625"/>
            <a:ext cx="17430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fitness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A4B8AF-4373-4B5B-9BC2-E9D5E40F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33625"/>
            <a:ext cx="17430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距候選 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02BBE6-DFA9-4C9F-8D51-5E645478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24225"/>
            <a:ext cx="17430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3D485C-8369-4ADA-81B1-A793553A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324225"/>
            <a:ext cx="17430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7C6236-D55A-42D4-9119-7E0F982B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24225"/>
            <a:ext cx="17430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8／9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77D5B9-0BA4-462D-BF7A-1F562184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17430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F9A60B-1A2A-4EE3-9517-DF4822C9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314825"/>
            <a:ext cx="17430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99.4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EEB906-B8F2-45C5-9049-8F113D30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14825"/>
            <a:ext cx="17430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2F0D77-FBD5-459C-B1E3-4EC3950D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05425"/>
            <a:ext cx="17430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A20347-380E-4C79-8129-489D4C67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305425"/>
            <a:ext cx="17430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99.0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E3C214-84F0-4923-9CE6-0581FC63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05425"/>
            <a:ext cx="17430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2／9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5E2C16-A814-43E3-98A4-118B8566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96025"/>
            <a:ext cx="17430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EE9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E9918C-6242-42FF-B53F-B96352F9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6296025"/>
            <a:ext cx="17430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EE9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98.8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078046-CCD6-44D3-8858-1F370B2F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296025"/>
            <a:ext cx="17430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EE9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不比較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A8CC40-AC07-427C-8E11-592CD601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76500"/>
            <a:ext cx="62865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第一父代：seeded 抽中候選 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ED16E3-D4FE-40FB-AD4B-ED879D27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76750"/>
            <a:ext cx="466725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在 A、B、C 中</a:t>
            </a:r>
          </a:p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比較與 B 的語意距離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DAFCF8-82D6-463C-945A-F87C247C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667500"/>
            <a:ext cx="46672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第二父代選候選 A</a:t>
            </a:r>
          </a:p>
          <a:p xmlns:a="http://schemas.openxmlformats.org/drawingml/2006/main"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8／9 是最大距離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84ECB4-9E07-4FCF-904C-3AF1077B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91400"/>
            <a:ext cx="714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D 低於 99.0，不能靠新穎性入選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DA5EE2-3BAB-4C31-BAD8-3F470CA6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本頁為示例，非實驗結果。分數差 1.0 包含邊界；距離來自相容的九個動作探針</a:t>
            </a:r>
          </a:p>
        </p:txBody>
      </p:sp>
      <p:sp>
        <p:nvSpPr>
          <p:cNvPr id="25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67DD62E2-A25D-46AE-A976-E0D487C0DA03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3D7E8045-4F00-4563-B397-1693A0DBCF5F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9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1295551247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df940dade95b4a87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735FC1-B05F-40AD-AFCE-DD8BF70E28F2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610100" y="6029325"/>
            <a:ext cx="1466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B9C604-BD6C-4575-AE15-D653EC0F48C9}"/>
              </a:ext>
            </a:extLst>
          </p:cNvPr>
          <p:cNvCxnSpPr>
            <a:stCxn xmlns:a="http://schemas.openxmlformats.org/drawingml/2006/main" id="9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9791700" y="4743450"/>
            <a:ext cx="1447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5A5347-65EA-4D7A-993B-69BD21F75E4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610100" y="3457575"/>
            <a:ext cx="1466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0B2A75-F63D-444E-AC6E-F3A99881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交配與來源譜系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83BCB8-9623-4A8D-9631-67AF5F33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直接父代與各成分的真正來源，分開保存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2C2436-4414-4E93-96F8-4599624F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431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 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2CC82F-5B18-4B12-8E6C-D82D853A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1431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 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CD05B0-0132-4654-A558-6949E198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38100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 DSL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B80B4B-5147-4145-A3A7-36AA289E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33875"/>
            <a:ext cx="38100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generation prompt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2B30E6-4BAE-4D83-B4AB-D7E07406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38100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inherited Java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8CDF04-CDBD-42FE-8982-28F392E0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048000"/>
            <a:ext cx="38100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 DSL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14677D-A9EC-4647-980A-A585EFFEE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333875"/>
            <a:ext cx="38100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generation 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6B56EB-152B-4C62-B14E-6E11579FC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619750"/>
            <a:ext cx="38100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inherited Java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E3CC33-0911-4D58-A75A-4D2B0758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48000"/>
            <a:ext cx="37147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 DSL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44C340-975D-4E01-9E7E-F358B95E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333875"/>
            <a:ext cx="37147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generation prompt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4843C3-9844-4C7A-9633-E45477DEB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19750"/>
            <a:ext cx="37147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inherited Java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9ED255-B5D1-4D74-A2EE-97A36428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143125"/>
            <a:ext cx="42862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子代：成分獨立選來源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5B489C-03C7-463A-94CF-F9B51DDF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6972300"/>
            <a:ext cx="676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Java 這一列只在 inherited 模式啟用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2AB9CB-4F11-4A4B-B1BD-17BBDEEE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DSL 模式複製完整 policy；framework 模式改為每個 slot 獨立交配並保存 donor</a:t>
            </a:r>
          </a:p>
        </p:txBody>
      </p:sp>
      <p:sp>
        <p:nvSpPr>
          <p:cNvPr id="20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46BFA18E-F39C-4D60-874E-99B45BA9EC21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0FF414F6-58C4-452A-B214-3616CD186914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10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170087378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f4a9ba8d88fd4089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7901E1-BF11-427F-A073-4AADCD2CFB59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7143750" y="4619625"/>
            <a:ext cx="476250" cy="24384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B7BAE7-6037-4B8F-B17A-92F0BB60DB12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1430000" y="5143500"/>
            <a:ext cx="1262063" cy="190500"/>
          </a:xfrm>
          <a:prstGeom xmlns:a="http://schemas.openxmlformats.org/drawingml/2006/main" prst="bentConnector4">
            <a:avLst>
              <a:gd name="adj1" fmla="val 0"/>
              <a:gd name="adj2" fmla="val 6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499B8C-FEC4-4BB2-9661-00D08D04B863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858250" y="3952875"/>
            <a:ext cx="1714500" cy="857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25C902-3512-4941-AB25-D3DB96064384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11430000" y="2762250"/>
            <a:ext cx="1262063" cy="190500"/>
          </a:xfrm>
          <a:prstGeom xmlns:a="http://schemas.openxmlformats.org/drawingml/2006/main" prst="bentConnector4">
            <a:avLst>
              <a:gd name="adj1" fmla="val 0"/>
              <a:gd name="adj2" fmla="val 6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B4DA0F-C464-4B10-8A74-33E7ED714451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8858250" y="2428875"/>
            <a:ext cx="1714500" cy="1524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3ACD81-4868-4162-B32D-7A21EF87DDC8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905250" y="3952875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93D6CE-70F6-4E41-8706-01421249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LLM 模式的交配前 Code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DC0AC2-6A90-4007-9FFF-60625C8A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僅 LLM 模式執行；每位實際來源先對照自己的策略與 Java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EEB322-FD25-4A13-BF72-A275FA0F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314325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來源 policy</a:t>
            </a:r>
          </a:p>
          <a:p xmlns:a="http://schemas.openxmlformats.org/drawingml/2006/main">
            <a: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＋原始 Java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EEDFA9-690D-4F03-A415-BFFDB3EFB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86125"/>
            <a:ext cx="34290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Code 診斷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189B34-BBA6-45C9-B19F-B2A6D48A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95500"/>
            <a:ext cx="17145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健康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457499-F7E6-4FCA-818A-55B20777B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52750"/>
            <a:ext cx="423862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正常交配與突變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DD6956-9C20-4270-8C57-50AB477B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476750"/>
            <a:ext cx="17145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有缺陷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5D8D78-EBF9-42F7-856D-E6B34DCF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334000"/>
            <a:ext cx="4238625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單一父代修正 Java</a:t>
            </a:r>
          </a:p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保留原 prompt 基因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31C770-DDB7-49B3-BE74-630587FF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7058025"/>
            <a:ext cx="76200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E9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診斷失敗：保留證據，標記失敗子代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C352C-56DF-4871-A8A1-F8CA4A859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Code gate 只診斷策略忠實度與程式正確性，不使用勝率作修正依據</a:t>
            </a:r>
          </a:p>
        </p:txBody>
      </p:sp>
      <p:sp>
        <p:nvSpPr>
          <p:cNvPr id="17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F423AC20-D7D2-4110-8FA6-52644A88C0DD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697DBCAA-1C92-4D6C-B38F-6EA6C21CF944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11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1989675874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234ac1fd923c4e43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45A3E5-6D85-4D9A-8F24-01B446EF07FE}"/>
              </a:ext>
            </a:extLst>
          </p:cNvPr>
          <p:cNvCxnSpPr>
            <a:stCxn xmlns:a="http://schemas.openxmlformats.org/drawingml/2006/main" id="27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12787313" y="5172075"/>
            <a:ext cx="0" cy="1533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FC7B09-FA69-4C9B-A9B1-197D6F0FED41}"/>
              </a:ext>
            </a:extLst>
          </p:cNvPr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9429750" y="3190875"/>
            <a:ext cx="1428750" cy="14097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0E90B5-0FEF-4FE8-BE27-D9717482A1C6}"/>
              </a:ext>
            </a:extLst>
          </p:cNvPr>
          <p:cNvCxnSpPr>
            <a:stCxn xmlns:a="http://schemas.openxmlformats.org/drawingml/2006/main" id="24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 flipV="1">
            <a:off x="9429750" y="4600575"/>
            <a:ext cx="1428750" cy="13525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D1C9B2-EA06-4F60-BEA4-9A7B0929FEB7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4191000" y="5867400"/>
            <a:ext cx="1333500" cy="857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92D00C-4B3F-43E2-A68E-3D4A22BF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Strategy Reflection 的證據路徑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2F2A8D-EC28-46B3-B7AE-B95E914F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Coach 同時看全局摘要，但詳細賽評只取策略來源父代的一場最差對戰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118664-5D8A-4368-8B05-9E910CF5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47875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父代已完成對戰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AF933C-BC9C-416B-8559-86DF2FCC4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575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154ACE-78F1-4E5E-B318-4C4E5D35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8575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7552FB-5B68-4C29-BF3B-B7E32FF3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8575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9713CE-349F-4666-A0AE-5EA44D15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8575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14EE98-8AF8-4B41-A3F4-860DC708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8575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EF110A-B490-4370-9AE7-90E19F7E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8575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B15928-76F5-413B-BC10-E2AC39CB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4805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172A7B-CAC1-4C8D-B014-D19067FF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44805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48F21B-8785-4DD3-ACC6-B2888BF5C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44805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B26B09-B2DE-4947-A7B7-0E6BC2145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44805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3F35C5-F02C-42B2-B68C-810D651F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44805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209331-13A3-43F0-9265-3DD75405F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44805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609AF8-782F-494A-ADE4-7ADD5BAFA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386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4F8EC3-4E2B-4971-BF19-41D0B40F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0386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7B0177-2C92-4888-90F4-96FEB60D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40386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C1A070-A555-40B4-B132-C0793359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0386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221329-61FB-4F34-9645-A8AF7033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0386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087B32-DB28-48D3-8CCC-02F85CE4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0386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1F9E2A-9B75-442D-9FAA-77F91879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44805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A8F663-4B5F-4C93-9D6C-A46C7AC8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33337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 場詳細 trace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E01336-88C3-4D0B-86EA-0D19C630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429250"/>
            <a:ext cx="39052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Match Commentator</a:t>
            </a:r>
          </a:p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診斷轉折與失誤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849ABA-94B7-4483-98B9-E32A3379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33675"/>
            <a:ext cx="390525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全場 global summary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F6526D-E160-4810-B130-B2AFC898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29075"/>
            <a:ext cx="3857625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Coach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FB2BD7-5C7B-4BE2-9D61-3E7FB825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705600"/>
            <a:ext cx="43338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新 DSL 或完整 genome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D9BA3D-BCAE-4902-A78F-3FF5E77B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66725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圖中場次方塊為示意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A1A0F6-4592-41BF-9976-D684ACD0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找不到該場 trace 或賽評失敗，不另挑替代賽事；原基因與證據保留</a:t>
            </a:r>
          </a:p>
        </p:txBody>
      </p:sp>
      <p:sp>
        <p:nvSpPr>
          <p:cNvPr id="3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00AA6971-7A08-4757-B137-6AF43553C550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0CB7503E-0AFE-415B-A036-649E47700961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12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1975221521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8a89d8b31ced40ae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3F944C-5D8E-4CB2-A4AB-2F44022D945B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3762375" y="4095750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E69CED-F205-4D4F-BAC8-CC0B5C7E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最差場次與策略回應的驗證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EBD08D-750E-43EF-86FC-6D155645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先選對證據，再驗證 Coach 提出的完整規則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B4FBC6-320B-4EE8-8EDD-D72A908D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最差已完成場次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05B99E-3098-4FCA-B364-EB5FAE53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90750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JSONL 逐行規則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77B0EC-7124-4922-A7D4-CBDD0212E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performance 為有限值</a:t>
            </a:r>
          </a:p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選最低值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B5557C-EB25-4EAD-9F05-53EAB121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14875"/>
            <a:ext cx="58102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缺值時：敗 −100、和 0、勝 100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9C49B8-2D20-4903-813E-CC5D7BC1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34100"/>
            <a:ext cx="600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同分按 match_id；失敗比賽排除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01EAE8-7F78-4D07-8094-5AB58E12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143250"/>
            <a:ext cx="5905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合法規則 1　保留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75223D-7D0A-40F8-9D4C-53AFB593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476750"/>
            <a:ext cx="5905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EE9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非法整行規則　捨棄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3130E3-5B7B-431C-8DC8-1A4C02B0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810250"/>
            <a:ext cx="5905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合法規則 3　保留</a:t>
            </a:r>
          </a:p>
        </p:txBody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6097D4-80EF-46BA-AD1A-CAAE34F8F41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905750" y="2381250"/>
            <a:ext cx="0" cy="48577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EB4BA"/>
            </a:solidFill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AC31A1-DBD9-40E2-8B2D-115DF50B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合法規則保留原順序；至少一條才成功。Framework 回應仍要求完整 genome</a:t>
            </a:r>
          </a:p>
        </p:txBody>
      </p:sp>
      <p:sp>
        <p:nvSpPr>
          <p:cNvPr id="1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1B06C5B6-027E-4EA3-98E3-BBEAEA96815E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34BD9CE5-7049-4190-BA91-CF8701729F2F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13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2145529080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52a14740d30d4c2c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77E3C6-E604-46F6-8E20-CAA3F7010453}"/>
              </a:ext>
            </a:extLst>
          </p:cNvPr>
          <p:cNvCxnSpPr>
            <a:stCxn xmlns:a="http://schemas.openxmlformats.org/drawingml/2006/main" id="10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4095750" y="6048375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7C12C3-D49C-4830-87FA-C579BC010D75}"/>
              </a:ext>
            </a:extLst>
          </p:cNvPr>
          <p:cNvCxnSpPr>
            <a:stCxn xmlns:a="http://schemas.openxmlformats.org/drawingml/2006/main" id="8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9334500" y="6048375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368CD4-A0DC-414A-9C75-8BFB749B12DC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12620625" y="4095750"/>
            <a:ext cx="333375" cy="1524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760A65-DDDA-4514-ADB7-8A0A4B642C61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9572625" y="3619500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10A894-7FCF-4D20-8C94-F34720C8D06A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5143500" y="361950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C85D05-53D2-4586-8C29-D3AA13DF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Prompt Reflection 的資料邊界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47BDB0-5B83-458B-B1B9-5B8597FD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改進「如何把策略翻成 Java」的可重用規則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AE2339-10FC-4637-A81F-FEBBCCD3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43815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Policy</a:t>
            </a:r>
          </a:p>
          <a:p xmlns:a="http://schemas.openxmlformats.org/drawingml/2006/main"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可編輯 Java 區域</a:t>
            </a:r>
          </a:p>
          <a:p xmlns:a="http://schemas.openxmlformats.org/drawingml/2006/main"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相符的 validation／compiler 診斷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75CAA2-B4F9-4E76-9082-FCF6232C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43250"/>
            <a:ext cx="3238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Reviewer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C14291-16A2-43B8-B98B-475DEA8E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143250"/>
            <a:ext cx="37147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Rewriter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3DEA57-1D5D-4533-83D0-0E883BA2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5619750"/>
            <a:ext cx="43815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Reusable-rule delta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D2749F-F2AD-4992-B89A-B52B673A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619750"/>
            <a:ext cx="40957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generation_prompt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3254D4-025C-43CE-8B0B-5C8621D2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33337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Java Generator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340ACB-520A-4888-9EEE-31ED5761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7105650"/>
            <a:ext cx="40957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策略基因保留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2F577F-DF2C-4F95-B953-989D5ADAB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Reviewer 不接收勝敗、fitness、對手分數或比賽 trace</a:t>
            </a:r>
          </a:p>
        </p:txBody>
      </p:sp>
      <p:sp>
        <p:nvSpPr>
          <p:cNvPr id="1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96E286ED-5D98-4961-86AA-77AFDAA58C63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9B6B5786-2CE9-4544-8D6B-F5C54CB3E577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14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1082410901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fbe89ae479c146ba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C7324E-7D00-4FF0-9225-DEDC796954CE}"/>
              </a:ext>
            </a:extLst>
          </p:cNvPr>
          <p:cNvCxnSpPr>
            <a:stCxn xmlns:a="http://schemas.openxmlformats.org/drawingml/2006/main" id="15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 flipH="1">
            <a:off x="8072438" y="6048375"/>
            <a:ext cx="4867275" cy="123825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C8D403-698A-4936-8164-EFD586F7EF3C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7958138" y="6048375"/>
            <a:ext cx="2414588" cy="123825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E13EC7-AD23-4EFA-A672-8592EF37344F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2976563" y="6048375"/>
            <a:ext cx="5095875" cy="123825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8C00F7-9DB3-4EF6-BF66-AD602E106796}"/>
              </a:ext>
            </a:extLst>
          </p:cNvPr>
          <p:cNvCxnSpPr>
            <a:stCxn xmlns:a="http://schemas.openxmlformats.org/drawingml/2006/main" id="14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 flipH="1">
            <a:off x="12939713" y="4524375"/>
            <a:ext cx="4763" cy="714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5A15B6-6A95-45A0-A0BF-FC3168D94F61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7958138" y="4524375"/>
            <a:ext cx="4763" cy="714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72A1E8-EC0F-4205-8CBF-3CDD03846E2A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 flipH="1">
            <a:off x="2976563" y="4524375"/>
            <a:ext cx="4763" cy="714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61E8D5-5E55-4B32-82D5-01911064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三條 Java 產生路徑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C894D6-8AA7-442C-A1AA-D085EB97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不同基因表示，匯入同一條 Java 驗證與對戰路徑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86D270-93A9-4E24-8ABC-6B80AFF1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4591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LLM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2A30A2-9807-4601-ABB4-EADF55E0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459105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策略＋generation prompt</a:t>
            </a:r>
          </a:p>
          <a:p xmlns:a="http://schemas.openxmlformats.org/drawingml/2006/main"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選配 inherited Java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B3B43C-D3E3-4333-BE0E-4B641E52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38750"/>
            <a:ext cx="3476625" cy="809625"/>
          </a:xfrm>
          <a:prstGeom xmlns:a="http://schemas.openxmlformats.org/drawingml/2006/main" prst="roundRect">
            <a:avLst>
              <a:gd name="adj" fmla="val 18824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 Java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1AB501-1B68-4E5B-A941-FAA93D2D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591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有界生成／編譯修復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36A958-476C-4F5D-80D4-54744C6E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143125"/>
            <a:ext cx="4591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Deterministic DSL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1FF4F5-008A-480E-A023-F717BB38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238500"/>
            <a:ext cx="459105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Canonical policy</a:t>
            </a:r>
          </a:p>
          <a:p xmlns:a="http://schemas.openxmlformats.org/drawingml/2006/main"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本地 typed IR 編譯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FF52CD-4A1E-43A9-891C-4943596F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238750"/>
            <a:ext cx="3476625" cy="809625"/>
          </a:xfrm>
          <a:prstGeom xmlns:a="http://schemas.openxmlformats.org/drawingml/2006/main" prst="roundRect">
            <a:avLst>
              <a:gd name="adj" fmla="val 18824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 Java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A86625-9605-4F12-B523-8B78FDD3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6400800"/>
            <a:ext cx="4591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失敗不呼叫 LLM 修復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0056D0-49FC-4EBC-8976-0E36A141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143125"/>
            <a:ext cx="4591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Framework slots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375A92-4F71-4722-9C85-2CFFECB9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238500"/>
            <a:ext cx="459105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凍結 template</a:t>
            </a:r>
          </a:p>
          <a:p xmlns:a="http://schemas.openxmlformats.org/drawingml/2006/main"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＋完整 control_genome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C2C24A-9957-4978-BD53-EAE0C5FB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238750"/>
            <a:ext cx="3476625" cy="809625"/>
          </a:xfrm>
          <a:prstGeom xmlns:a="http://schemas.openxmlformats.org/drawingml/2006/main" prst="roundRect">
            <a:avLst>
              <a:gd name="adj" fmla="val 1882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 Java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0C60A8-2698-4A4F-B7D9-99E0D459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00800"/>
            <a:ext cx="4591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失敗不呼叫 LLM 修復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752B99-0995-4E55-A64F-83E4B81B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7286625"/>
            <a:ext cx="9096375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Validation → javac → Integration → MicroRTS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9DAB8D-611A-4C48-94A7-807DBAA7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 必須啟用語意 probe，用於行為去重與分數層內的選擇</a:t>
            </a:r>
          </a:p>
        </p:txBody>
      </p:sp>
      <p:sp>
        <p:nvSpPr>
          <p:cNvPr id="2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420379A9-5B18-4287-BC79-1561EE224A63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291BC05C-8F95-4C63-A97E-E9FCD8090D79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15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1632495547"/>
      </p:ext>
    </p:extLst>
  </p:cSld>
</p:sld>
</file>

<file path=ppt/slides/slide16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205add02d29d4f60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912CA3-1FFE-41BE-9165-45E1B340B771}"/>
              </a:ext>
            </a:extLst>
          </p:cNvPr>
          <p:cNvCxnSpPr>
            <a:stCxn xmlns:a="http://schemas.openxmlformats.org/drawingml/2006/main" id="10" idx="1"/>
            <a:endCxn xmlns:a="http://schemas.openxmlformats.org/drawingml/2006/main" id="16" idx="3"/>
          </p:cNvCxnSpPr>
          <p:nvPr/>
        </p:nvCxnSpPr>
        <p:spPr>
          <a:xfrm xmlns:a="http://schemas.openxmlformats.org/drawingml/2006/main" flipH="1">
            <a:off x="4048125" y="6405563"/>
            <a:ext cx="1762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5C7BA6-DB68-4565-8ECD-032380944CFF}"/>
              </a:ext>
            </a:extLst>
          </p:cNvPr>
          <p:cNvCxnSpPr>
            <a:stCxn xmlns:a="http://schemas.openxmlformats.org/drawingml/2006/main" id="10" idx="0"/>
            <a:endCxn xmlns:a="http://schemas.openxmlformats.org/drawingml/2006/main" id="4" idx="2"/>
          </p:cNvCxnSpPr>
          <p:nvPr/>
        </p:nvCxnSpPr>
        <p:spPr>
          <a:xfrm xmlns:a="http://schemas.openxmlformats.org/drawingml/2006/main" flipV="1">
            <a:off x="6553200" y="4000500"/>
            <a:ext cx="1209675" cy="19050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038183-DE70-4FAD-B594-06A5B682A654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3192125" y="4000500"/>
            <a:ext cx="23813" cy="1905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95BE6E-10FF-4099-A0EA-5E37E2B46391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9715500" y="3357563"/>
            <a:ext cx="1476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8E3267-7126-4293-AC65-2757F86D5AB2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4048125" y="3357563"/>
            <a:ext cx="1762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A2E31C-ACC9-4F15-B0E3-5A464E35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LLM 生成與有界修復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33B1AD-D995-4E82-98A5-C2EA5774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第一份驗證與編譯成功的 source／classes，成為唯一 canonical 表型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A4C5FD-099A-4541-88E3-39A308B8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3286125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權威基因</a:t>
            </a:r>
          </a:p>
          <a:p xmlns:a="http://schemas.openxmlformats.org/drawingml/2006/main"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＋固定 scaffold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3C7019-8B13-47B4-9339-E04C7133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14625"/>
            <a:ext cx="390525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 Java 回應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498F52-BF24-4DC7-96C2-83C790762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714625"/>
            <a:ext cx="40005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外框／normalize</a:t>
            </a:r>
          </a:p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Validation＋javac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DC6D1E-32DD-470D-9F02-BA2AC2E2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905500"/>
            <a:ext cx="3762375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成功 → 提升表型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ADEC18-0487-4A65-A016-2C983934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905500"/>
            <a:ext cx="3905250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前次完整 source</a:t>
            </a:r>
          </a:p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＋當次結構化診斷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642335-D102-4872-B143-9AE196374DB4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10477500" y="3676650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454968-545D-47EF-84EA-444EBCBDCE3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477500" y="3676650"/>
            <a:ext cx="0" cy="27527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23CE2F-FB89-42B7-AFEE-D92FE8D5A81D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9715500" y="64293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00AD85-7D96-4ECC-A505-687FCC5E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10125"/>
            <a:ext cx="31432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CF8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失敗，尚有 attempt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D8F3D1-F23A-4A12-80D1-1B7F3990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286125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EEE9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耗盡上限</a:t>
            </a:r>
          </a:p>
          <a:p xmlns:a="http://schemas.openxmlformats.org/drawingml/2006/main"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保留失敗證據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CDEFEF-562B-4379-953C-D9142770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Integration／runtime 失敗不回到 decoder；確定性兩種模式沒有此修復迴圈</a:t>
            </a:r>
          </a:p>
        </p:txBody>
      </p:sp>
      <p:sp>
        <p:nvSpPr>
          <p:cNvPr id="19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DFED9DE0-F9A4-4392-B57A-A5F70BE0BCA4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75969A20-925B-47A2-9827-C1CA6B0FEF24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16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1838943229"/>
      </p:ext>
    </p:extLst>
  </p:cSld>
</p:sld>
</file>

<file path=ppt/slides/slide17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1f15e5f11d274613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45E71C-BDB5-42FD-A633-6534064CA19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810750" y="273367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B19D52-7C72-4CDF-92B1-7889CD276873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048250" y="273367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2098A9-26E3-4F60-B15A-CCC1B8F0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Validation、編譯與七項 Integration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131C5E-64BB-48A2-91B3-596BFEC63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先檢查 source，再編譯；可載入不代表能合法執行對戰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F89109-3119-4F8E-8F6B-3033C31D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42862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Validation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57169D-EE46-457A-B624-E7873AE8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6625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package／class／固定 scaffold</a:t>
            </a:r>
          </a:p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單一策略 marker／合法 API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F5579F-10D8-4402-AEE5-3656B0FC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33625"/>
            <a:ext cx="37147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javac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F402F7-9712-4CA2-8A10-7A1E37EE7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76625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每個 attempt 最多一次</a:t>
            </a:r>
          </a:p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提升成功 class tree，不重編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F26A6F-6EB7-4C56-9E94-5FC6B8DD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333625"/>
            <a:ext cx="42862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Integration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19BE63-D09F-4CDE-BF15-CDA5FAFB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673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5F8F98-B322-442E-B53E-3D56E88B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38900"/>
            <a:ext cx="148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載入</a:t>
            </a:r>
          </a:p>
        </p:txBody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1E601F-F524-4A4C-AB95-459DF8F8F11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457325" y="593407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2D403B-C9D2-4880-96A2-46AB31F4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6673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40659E-597C-47ED-9223-4F09E8CE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6438900"/>
            <a:ext cx="148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AI 繼承</a:t>
            </a:r>
          </a:p>
        </p:txBody>
      </p: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DB6620-C748-4956-BA17-549F0039075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533775" y="593407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6EC1A7-E55D-48B2-A959-F86B427FD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6673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2CCA66-CDF4-4C51-92DB-055DD406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6438900"/>
            <a:ext cx="148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建構子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106AEC-B404-4EE4-A59D-940B063DF79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610225" y="593407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77328D-E67D-4D4E-9569-C224BE26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6673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1A92CF-7E6E-450B-91DA-2AC1CC00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438900"/>
            <a:ext cx="148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reset</a:t>
            </a:r>
          </a:p>
        </p:txBody>
      </p: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CE68A8-C51D-447F-B1EA-6A7E7189DBC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686675" y="593407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AEB2BA-C7BF-425A-B692-D4847E41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6673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CDAEE7-0D61-49FF-BE21-AF1DD0BC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6438900"/>
            <a:ext cx="148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clone</a:t>
            </a:r>
          </a:p>
        </p:txBody>
      </p: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CEDD0E-8BD9-4333-8226-274A90DE7F1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763125" y="593407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458560-9AB9-47F0-B2B1-4B420032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6673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7060B9-6980-48ED-ABFF-21FDCFD8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148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getAction</a:t>
            </a:r>
          </a:p>
        </p:txBody>
      </p: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6A4139-6B8A-4E70-B9CC-E40FF686B32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839575" y="593407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115754-7C1A-4299-A2DB-F303EFE2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6673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3EA273-94DA-4CC9-83D8-B48E4A69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6438900"/>
            <a:ext cx="148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PlayerAction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160DB0-4917-4A19-8107-D6E5865D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真實 8×8 地圖、雙方位置與獨立狀態檢查動作和一個 cycle；前置失敗阻擋後續</a:t>
            </a:r>
          </a:p>
        </p:txBody>
      </p:sp>
      <p:sp>
        <p:nvSpPr>
          <p:cNvPr id="31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B272C1B9-2F73-48D5-B759-D895F55FF8B8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2140E736-DBBE-40D4-BB96-64A04D5092A9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17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1700396377"/>
      </p:ext>
    </p:extLst>
  </p:cSld>
</p:sld>
</file>

<file path=ppt/slides/slide18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a30ca2e1ee5344cf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982B96-F7F2-4359-B99E-3C2062F6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搜尋評估的 180 場矩陣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6F0830-7694-40B3-8B9A-CCD37F3A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同一份 Java 與 classes，覆蓋所有對手、地圖、回合與位置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64B684-BB7E-4CF9-8623-8F7457B6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295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DCAC8C-E0BF-4F16-82F6-50560A36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29527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對手欄位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699A5E-141B-48D6-BAA7-EC722C271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71750"/>
            <a:ext cx="66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720F49-D480-443D-A4DA-8B944D55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190750"/>
            <a:ext cx="295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FD9A6B-5D87-4960-9D7B-E80B8F5A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095750"/>
            <a:ext cx="29527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地圖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308126-BC56-4C0C-940F-13753B31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71750"/>
            <a:ext cx="66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4168CF-D24B-43ED-96C5-CB0FBB96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90750"/>
            <a:ext cx="295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E4B000-C3A9-4192-9FC3-57D98E57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95750"/>
            <a:ext cx="29527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回合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1364BA-F3A2-413C-AE5C-02DD1679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571750"/>
            <a:ext cx="66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0219C5-A8EC-4297-BD37-0E0976E1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2190750"/>
            <a:ext cx="295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313B1D-06CB-4556-BB2D-C6AB28FC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4095750"/>
            <a:ext cx="29527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雙方位置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249E38-AB76-46AD-8ED6-AC4FD1D6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619750"/>
            <a:ext cx="74295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180 場／候選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82D1EA-3A76-4DD4-9685-0616612A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000750"/>
            <a:ext cx="2905125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每個對手 18 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A5904B-12B7-476B-8BC9-1D327D6BD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5848350"/>
            <a:ext cx="290512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每張地圖可設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tick_limit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F2D379-85E8-43FD-AF67-682D7A87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對手快照固定為 4 個保護成員＋6 個抽樣成員；同一快照內的候選共用名單</a:t>
            </a:r>
          </a:p>
        </p:txBody>
      </p:sp>
      <p:sp>
        <p:nvSpPr>
          <p:cNvPr id="18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53F2EAAD-E14F-4603-B01F-C7A69374CD89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3A0658F1-F44D-4671-B4CA-212A2B779A23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18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98561306"/>
      </p:ext>
    </p:extLst>
  </p:cSld>
</p:sld>
</file>

<file path=ppt/slides/slide19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8667d53546a940de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F7E0F9-2EA2-4FA0-AEC2-626999A35202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096000" y="6858000"/>
            <a:ext cx="2000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3ED9DD-7482-4F79-853C-D6856108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Game Performance 與分數彙總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AB5F37-D17A-44F6-AAFB-28FDF63A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單場結果分數，加上最多 ±10 的物資、資源與存活 shaping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A6E6C3-1428-49F3-9EEA-5056C25F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428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95206C-BB07-4D38-AADC-6D68C8DA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428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−100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5DD063-1A35-47BA-9E00-5B62437D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428625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−10 ≤ shaping ≤ ＋10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C2F807-F12B-42DA-9C01-D3E4319A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43125"/>
            <a:ext cx="428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847909-8AC8-414C-B8E7-59155F2B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52750"/>
            <a:ext cx="428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673B68-7829-43A0-8DAD-9009610D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667250"/>
            <a:ext cx="428625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−10 ≤ shaping ≤ ＋10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8610EA-70B6-4D98-AC66-2733E419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143125"/>
            <a:ext cx="428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0EAC8E-F41B-4A9C-84DA-73FD248A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952750"/>
            <a:ext cx="428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＋100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6CB2A0-5854-4BDD-B414-F428F633B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0"/>
            <a:ext cx="428625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−10 ≤ shaping ≤ ＋10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254702-330C-4C3C-BE58-1FBC10F5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238875"/>
            <a:ext cx="52387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每個對手</a:t>
            </a:r>
          </a:p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18 場分數取平均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2D3E05-47BD-4293-A234-45DCEB6A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238875"/>
            <a:ext cx="6953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10 個對手等權平均</a:t>
            </a:r>
          </a:p>
          <a:p xmlns:a="http://schemas.openxmlformats.org/drawingml/2006/main">
            <a: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＝候選的唯一 fitness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669FC3-5B4C-4F20-81CA-011B480A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完整 180 場才有有效 fitness；語意差異只在分數同層內輔助選擇，不另加分</a:t>
            </a:r>
          </a:p>
        </p:txBody>
      </p:sp>
      <p:sp>
        <p:nvSpPr>
          <p:cNvPr id="1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473F7ACD-A256-47A7-8713-B07F14598252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F5005E0A-AE55-4FD4-97FB-585CAA60249D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19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2076070965"/>
      </p:ext>
    </p:extLst>
  </p:cSld>
</p:sld>
</file>

<file path=ppt/slides/slide20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8aaa7cf05c744125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E10003-0607-44E4-9915-1BD954A6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 的十個起始對手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E2595E-2FB1-4C61-AAB4-DD16915B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G0 使用全部十個內建對手；之後從持續累積的池中抽取 4＋6 名單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79B02B-4F2E-4F4A-B01D-BBC43F8E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可替換｜基礎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967428-D550-4BBB-B333-5A301308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33625"/>
            <a:ext cx="25146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PassiveAI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98688D-5D46-4CD3-885E-1EFAC21E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333625"/>
            <a:ext cx="25146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RandomAI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5AB156-F985-4D46-9418-4335DA47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333625"/>
            <a:ext cx="25146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RandomBiasedAI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062C1C-EC49-408C-8D87-C64523CD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可替換｜Rush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341B83-AB2A-4856-B1DD-C275DD61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048125"/>
            <a:ext cx="25146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LightRush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AEC404-2E7B-488D-BDB3-FD9995A7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048125"/>
            <a:ext cx="25146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HeavyRush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A8A98B-F314-42B3-BF65-B3FF580D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4048125"/>
            <a:ext cx="25146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WorkerRush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DB9F2A-BD70-40EC-93F6-AA5195DEE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永久保護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12D922-FB50-4F86-BD1C-623FD9E6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762625"/>
            <a:ext cx="25146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AllInBot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739938-DB53-48AF-8472-3C898FC7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5762625"/>
            <a:ext cx="25146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Mayari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BC64C8-552D-4312-84FE-66055BBC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762625"/>
            <a:ext cx="25146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COAC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BF2688-35F5-4E6E-82F9-27A66BC3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6325" y="5762625"/>
            <a:ext cx="25146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TMA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4B5674-C64D-4A53-9B33-4D8CE119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7477125"/>
            <a:ext cx="127635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前 6 個可被歷代候選替換；後 4 個永久保留。評分時十欄等權</a:t>
            </a:r>
          </a:p>
        </p:txBody>
      </p:sp>
      <p:sp>
        <p:nvSpPr>
          <p:cNvPr id="17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28805CA1-F017-4C3C-83EA-B2E407CBB57E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2A2E6DAD-01FB-4B9D-88BA-73634D36A70C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20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159524847"/>
      </p:ext>
    </p:extLst>
  </p:cSld>
</p:sld>
</file>

<file path=ppt/slides/slide21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450eb3a21d034d7b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583E9B-D6FC-40FC-AEF2-40827E01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 的起始與容量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E0C279-7057-400C-90B7-C9DE1D08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47875"/>
            <a:ext cx="13830300" cy="5429250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FCF8F5"/>
          </a:solidFill>
          <a:ln xmlns:a="http://schemas.openxmlformats.org/drawingml/2006/main" w="19050">
            <a:solidFill>
              <a:srgbClr val="DEB4B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41A5EB-3F39-4A67-9F12-F31EA6DC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19375"/>
            <a:ext cx="2286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50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35AE41-9D54-475C-9651-7672C9859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67175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總容量上限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604BEB-C6A3-47A4-B7E8-60A7B7FA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19650"/>
            <a:ext cx="15240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預設 50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9E0613-494B-4C90-9C43-198DFB88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62575"/>
            <a:ext cx="15240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EE9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最低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E44AA6-950E-4A82-961C-195C49C1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6695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4 個固定保護：永久保留，不淘汰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28D138-E64F-4F00-9927-9199648E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00375"/>
            <a:ext cx="18097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AllInBot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A1DDED-A76B-4469-BCAB-A956C4BC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00375"/>
            <a:ext cx="18097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Mayari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C66BBF-639B-4F60-943B-E59BAD2B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00375"/>
            <a:ext cx="18097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COAC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9FA780-2558-43F7-AA96-57E2C2E3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000375"/>
            <a:ext cx="18097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072A1E-A5AB-43E3-B52B-EE4948EF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19550"/>
            <a:ext cx="828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起始另有 6 個可替換基準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17C6F3-C390-4CA7-A2FE-ED4388D7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543425"/>
            <a:ext cx="2543175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PassiveAI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C72D66-ACAA-4675-B8C8-58A6A5F4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43425"/>
            <a:ext cx="2543175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RandomAI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9D6C08-1D34-499A-BA02-39243077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43425"/>
            <a:ext cx="2543175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RandomBiasedAI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54D848-FE0A-45F8-AA49-75971AC4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324475"/>
            <a:ext cx="2543175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LightRush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FA6721-FCF8-4820-BD01-1119A736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324475"/>
            <a:ext cx="2543175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HeavyRush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4BDB67-9B62-487D-9BD1-A8F95DB0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324475"/>
            <a:ext cx="2543175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WorkerRush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A5F6D6-0999-49B8-B726-A7518A24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4008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歷代策略累積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58B59B-FFF5-4884-87F9-42D92058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38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14A0A6-6B1D-4F5F-B91E-9B9E2C4CE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6438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534F2F-730C-4D7B-AE9D-38283173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38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DBDAD9-9363-46D8-9112-32D8D5DD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6438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DC9666-AF1A-48B6-83F8-82C7764F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061856-4356-4C12-A9E2-62E8C65E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6438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3F767C-F18E-483E-A2D5-9A380627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7667625"/>
            <a:ext cx="1123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評估名單 = 4 個保護對手 ＋ 從池中抽取 6 名動態對手</a:t>
            </a:r>
          </a:p>
        </p:txBody>
      </p:sp>
      <p:sp>
        <p:nvSpPr>
          <p:cNvPr id="27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CAA7FF2C-FC43-4E2E-B3B5-D34ADEC7FA60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441948A5-72AD-4C90-AB35-075218D639C9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21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1027664542"/>
      </p:ext>
    </p:extLst>
  </p:cSld>
</p:sld>
</file>

<file path=ppt/slides/slide22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9ec240190d4d4edd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36D0A2-52EA-453E-AFFA-0931DCD67B64}"/>
              </a:ext>
            </a:extLst>
          </p:cNvPr>
          <p:cNvCxnSpPr>
            <a:stCxn xmlns:a="http://schemas.openxmlformats.org/drawingml/2006/main" id="6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3714750" y="5524500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40B164-A490-4B76-A0AE-074BEAF3DEBD}"/>
              </a:ext>
            </a:extLst>
          </p:cNvPr>
          <p:cNvCxnSpPr>
            <a:stCxn xmlns:a="http://schemas.openxmlformats.org/drawingml/2006/main" id="5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8001000" y="5524500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141D52-60FA-4617-817F-4C7EEE1F365F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6381750" y="4248150"/>
            <a:ext cx="4714875" cy="704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3F09CF-BF69-4899-A262-624154C5F1D1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 flipV="1">
            <a:off x="8048625" y="3048000"/>
            <a:ext cx="2238375" cy="3619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D79B96-D495-4D73-A5C4-5CAE57B374CC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3714750" y="3409950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A0DBB6-64E6-4EA6-ABB6-9843B187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新策略的來源與入池挑戰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5FBE7D-090D-4687-BC70-120A2B8B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85750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來源</a:t>
            </a:r>
          </a:p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G0 初始族群</a:t>
            </a:r>
          </a:p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每代已評估子代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C9321E-1A51-4E84-85DD-BFCC5C29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571750"/>
            <a:ext cx="333375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入池資格</a:t>
            </a:r>
          </a:p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可執行、完整評估</a:t>
            </a:r>
          </a:p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ID／來源／表型去重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5A912A-3899-465E-8233-D8845B18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76500"/>
            <a:ext cx="2857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未滿容量</a:t>
            </a:r>
          </a:p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直接加入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C5FC43-AC91-4A77-B7C1-C06D3F2F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953000"/>
            <a:ext cx="37147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已滿容量</a:t>
            </a:r>
          </a:p>
          <a:p xmlns:a="http://schemas.openxmlformats.org/drawingml/2006/main">
            <a: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seeded 抽 1 位非保護守擂者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B02974-2C72-407B-A72B-84B12DF7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953000"/>
            <a:ext cx="3476625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18 場挑戰</a:t>
            </a:r>
          </a:p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3 地圖 × 3 回合 × 2 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644457-B098-4B68-8DAB-C21426E4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2857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完整且無錯誤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勝場 &gt; 敗場才替換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A20F96-5BC4-45C4-863B-8BD9C4E9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64960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平手、失敗或未完成：保留原守擂者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4BEE91-D017-4D59-B8F4-FF78AF4A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7096125"/>
            <a:ext cx="828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候選入池不要求先成為下一代倖存者</a:t>
            </a:r>
          </a:p>
        </p:txBody>
      </p:sp>
      <p:sp>
        <p:nvSpPr>
          <p:cNvPr id="15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8303B392-2A04-46ED-AAFF-00CC807CA755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62A18098-FC19-4922-A233-5CC28FE0D675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22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692800570"/>
      </p:ext>
    </p:extLst>
  </p:cSld>
</p:sld>
</file>

<file path=ppt/slides/slide23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9c103835c42f456c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159B10-DD00-4C90-BA6D-7EA91D7F8D47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10906125" y="5372100"/>
            <a:ext cx="1571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42268A-1AF6-4C6D-A93A-951D619CFEC8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191375" y="5372100"/>
            <a:ext cx="1619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3278A1-2F4B-474C-896D-1BE5DAC60CA6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238500" y="5372100"/>
            <a:ext cx="1857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1D2A7F-2960-46E2-A2FE-29CBF43E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凍結的十個評估對手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6C49B9-2930-47AD-AE8A-A3BA4B06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098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固定 4 個保護欄位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207498-1E57-4A77-99FB-CCE4E4C3E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38450"/>
            <a:ext cx="3952875" cy="1181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 個內建保護對手</a:t>
            </a:r>
          </a:p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跨快照維持相同 case ID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E49034-B086-459D-B7E5-30F13FD8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098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每個快照再抽 6 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949128-5A3E-4FAD-977B-95103774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24200"/>
            <a:ext cx="6477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9B5B25-D4FF-4612-910A-C581CE9E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124200"/>
            <a:ext cx="6477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EF53E5-40B0-4EB7-8379-03F8AC7C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124200"/>
            <a:ext cx="6477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C8AEDB-2E2A-4239-8EA0-D3E84848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3124200"/>
            <a:ext cx="6477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391E2B-FDE9-42B3-88F6-5CD15AD8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3124200"/>
            <a:ext cx="6477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114051-B504-404A-9F8E-8AD8147E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3124200"/>
            <a:ext cx="6477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420E1D-1597-4862-8762-10DDD7E5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00500"/>
            <a:ext cx="542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從歷代累積的可替換成員抽樣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049430-33EC-4223-90FB-A77CD492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53000"/>
            <a:ext cx="15240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6B63D3-84F8-4675-93A5-2890D8FF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953000"/>
            <a:ext cx="20955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G1–5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766FCA-58D5-40A5-8C85-EBE531F3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953000"/>
            <a:ext cx="20955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G6–10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A92580-6883-4BD5-B55A-4329FB23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4953000"/>
            <a:ext cx="20955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G11–15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14D8DB-2920-42D2-B1B5-2FCCCAF1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0007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全部 10 個內建對手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D1AE3B-A98F-4924-9161-F7B6568F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60007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首個抽樣快照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A92247-2494-46C8-8F7F-794EE467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0007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刷新預設每 5 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9C2CA9-43D9-464E-95BC-236D9626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6000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G16… 持續刷新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CE40C7-FDB0-479E-BFB1-5677768F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934200"/>
            <a:ext cx="102870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每個快照固定評估 10 個欄位：4 個保護成員 ＋ 6 個動態成員</a:t>
            </a:r>
          </a:p>
        </p:txBody>
      </p:sp>
      <p:sp>
        <p:nvSpPr>
          <p:cNvPr id="2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5C52EF06-EF9D-4426-A17D-D71246D801BF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A51FA185-D2C9-4E4E-A54C-2B78CF2AF597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23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1893545160"/>
      </p:ext>
    </p:extLst>
  </p:cSld>
</p:sld>
</file>

<file path=ppt/slides/slide24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bf864bbeafdb42ab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03C33B-93C2-4DFB-A55E-4C9FCDA5A657}"/>
              </a:ext>
            </a:extLst>
          </p:cNvPr>
          <p:cNvCxnSpPr>
            <a:stCxn xmlns:a="http://schemas.openxmlformats.org/drawingml/2006/main" id="13" idx="1"/>
            <a:endCxn xmlns:a="http://schemas.openxmlformats.org/drawingml/2006/main" id="14" idx="3"/>
          </p:cNvCxnSpPr>
          <p:nvPr/>
        </p:nvCxnSpPr>
        <p:spPr>
          <a:xfrm xmlns:a="http://schemas.openxmlformats.org/drawingml/2006/main" flipH="1">
            <a:off x="7429500" y="6238875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03FAFF-FF3F-4362-8C4E-F23F8EFEC2BC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10429875" y="4610100"/>
            <a:ext cx="1571625" cy="12001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81230E-14C7-47B3-B14B-B0B2315ABEE4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858250" y="392430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5DE779-D776-439F-97FF-08B1A91CFB4E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857625" y="3924300"/>
            <a:ext cx="1762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B1D32E-D5F3-4726-96A8-CF5B7096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對手快照刷新與父代重評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48E8F6-4683-4038-A562-817AF69F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76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E4F59D-85DA-4415-B74F-7C96A0C5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457450"/>
            <a:ext cx="328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凍結對手名單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A4A8DA-9FA1-491C-8FF3-7E5787C6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76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047CDC-4553-495C-97C9-F8E6474B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57450"/>
            <a:ext cx="328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建立父代複本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81CD06-0398-4ED5-8BFF-8DE38273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76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754F12-438C-46DB-98F1-B469857E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457450"/>
            <a:ext cx="328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新情境重評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17AECA-74AB-4193-AF41-678CBD5C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38500"/>
            <a:ext cx="2857500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4＋6 對手</a:t>
            </a:r>
          </a:p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保存 context hash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C8F770-40AB-4144-878B-794D6E48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38500"/>
            <a:ext cx="3238500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每位父代保留 phenotype</a:t>
            </a:r>
          </a:p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配置新 candidate 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8921FE-0EE5-4873-A33E-94942B06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0"/>
            <a:ext cx="3429000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新情境重新評估</a:t>
            </a:r>
          </a:p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不覆寫舊分數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24E425-333A-4B7B-A35B-3514A2CA3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810250"/>
            <a:ext cx="33337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新 context 完成評分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070F99-2319-458F-9A94-33C84BAB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810250"/>
            <a:ext cx="37147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再進入同一情境的繁殖選擇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83AE0A-CFC0-41C7-8F31-CB012AEB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7048500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不同對手情境的分數不混在同一選擇池</a:t>
            </a:r>
          </a:p>
        </p:txBody>
      </p:sp>
      <p:sp>
        <p:nvSpPr>
          <p:cNvPr id="18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24D834B-7FC2-4BC3-B911-43368EE1D7E5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B1D007EE-EB75-4AA8-AEC9-123A7D2C3471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24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274512019"/>
      </p:ext>
    </p:extLst>
  </p:cSld>
</p:sld>
</file>

<file path=ppt/slides/slide25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4ccff26109794309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5E9701-9800-4F90-93E3-73599CDD7638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7953375" y="5429250"/>
            <a:ext cx="3952875" cy="1524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10E11F-EC3B-431C-A6C2-5A0A752F0A3B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4000500" y="5429250"/>
            <a:ext cx="3952875" cy="1524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74C4B9-058F-4A72-AF3C-13EBA6DE4724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11906250" y="3209925"/>
            <a:ext cx="0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61C0E7-F5F3-48C8-8C70-534AB21C0413}"/>
              </a:ext>
            </a:extLst>
          </p:cNvPr>
          <p:cNvCxnSpPr>
            <a:stCxn xmlns:a="http://schemas.openxmlformats.org/drawingml/2006/main" id="2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>
            <a:off x="4000500" y="3209925"/>
            <a:ext cx="0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48CCE0-7875-4598-9021-6CD5CAD3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父代重用與對手快照重評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01521E-85F4-42C1-9935-81035B04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60960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對手快照未改變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EDAB3E-F489-4288-879A-9920E292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33625"/>
            <a:ext cx="60960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對手快照到期刷新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DF1898-72AE-4AD4-A4D8-9AD9C5E5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43375"/>
            <a:ext cx="60960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沿用父代 Java</a:t>
            </a:r>
          </a:p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沿用同情境的已完成分數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19DD31-C15F-470B-837E-78D9DA45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43375"/>
            <a:ext cx="60960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沿用父代 Java</a:t>
            </a:r>
          </a:p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新 ID 複本，對新名單跑 180 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0E7FAE-41F4-4F1A-91DE-4469EB65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953250"/>
            <a:ext cx="1076325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先完成父代情境校準，再繁殖；子代也用同一快照評估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D0833E-E76A-481F-B472-33B43CFF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8001000"/>
            <a:ext cx="1247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本流程要求 parent_evaluation_mode = reuse_cached；快照刷新自動執行表型不變的父代重評</a:t>
            </a:r>
          </a:p>
        </p:txBody>
      </p:sp>
      <p:sp>
        <p:nvSpPr>
          <p:cNvPr id="1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6254D137-E692-419D-9048-864D7F241495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82BFA06C-43CB-4F61-BE71-08FDD2F25F64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25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1375975524"/>
      </p:ext>
    </p:extLst>
  </p:cSld>
</p:sld>
</file>

<file path=ppt/slides/slide26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1624a0ecd481454e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CFB949-B63C-4F3F-92D2-C38086BB8602}"/>
              </a:ext>
            </a:extLst>
          </p:cNvPr>
          <p:cNvCxnSpPr>
            <a:stCxn xmlns:a="http://schemas.openxmlformats.org/drawingml/2006/main" id="17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flipH="1">
            <a:off x="10906125" y="4076700"/>
            <a:ext cx="2095500" cy="12573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3C5F46-7B9E-4997-AFC7-D954A11CD657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10191750" y="3486150"/>
            <a:ext cx="1143000" cy="285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01572B-C022-41FD-B728-0D9D4EAC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語意探針與同分處理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BC336F-394B-4D97-8065-79159614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28600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固定狀態探針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94E32E-8F18-4D93-879D-3D99F9BE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00400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小地圖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AED432-16F8-4729-9DD5-8C7C5112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05150"/>
            <a:ext cx="1000125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早期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F1CB31-32C5-4496-AD97-8AF9ACEA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105150"/>
            <a:ext cx="1000125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中期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1BB5C6-4172-4F02-95F6-61A574FA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05150"/>
            <a:ext cx="1000125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後期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9C4BAA-7E8C-4EC2-BC4C-87CC9AC4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362450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中地圖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C6E562-6C45-4058-A6A6-F93A8F3A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67200"/>
            <a:ext cx="1000125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早期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EA2C16-7928-436B-B080-DCAB8C2E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267200"/>
            <a:ext cx="1000125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中期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454D74-CDC6-4990-905B-712BE268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267200"/>
            <a:ext cx="1000125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後期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EB927D-E26C-45E1-B5C2-072F3425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24500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大地圖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33BB70-1B33-4B61-8798-38220218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29250"/>
            <a:ext cx="1000125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早期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0AD5E3-3733-45BE-8E08-76F4D9C3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29250"/>
            <a:ext cx="1000125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中期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A19A73-B41F-4463-BAF2-151EB719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429250"/>
            <a:ext cx="1000125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後期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606171-3555-4961-AD77-8CA19C1F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9532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3 地圖 × 3 階段 = 9 個動作簽章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4F9578-5D0F-4CD5-94A5-9C63A01B9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48000"/>
            <a:ext cx="23812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同分層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1C7187-CF3E-4AB5-8A9E-28D5BA5F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952750"/>
            <a:ext cx="33337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比較九個 probe 的動作差異</a:t>
            </a:r>
          </a:p>
          <a:p xmlns:a="http://schemas.openxmlformats.org/drawingml/2006/main">
            <a: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距離 = 不同 probe 數 ÷ 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47232A-7417-4675-B212-77EA583E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334000"/>
            <a:ext cx="4762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父代：頂層挑行為較遠者</a:t>
            </a:r>
          </a:p>
          <a:p xmlns:a="http://schemas.openxmlformats.org/drawingml/2006/main"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倖存者：切分同層時採 max-min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AB53D4-FC96-4EDF-BAEB-6148D140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8199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語意探針只解決同分，不另加搜尋目標</a:t>
            </a:r>
          </a:p>
        </p:txBody>
      </p:sp>
      <p:sp>
        <p:nvSpPr>
          <p:cNvPr id="2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5D47AE8A-B191-47E3-ADE4-1DF08A6D0965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22156D62-912B-4317-AB0A-70ADA0B1FE46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26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1947536747"/>
      </p:ext>
    </p:extLst>
  </p:cSld>
</p:sld>
</file>

<file path=ppt/slides/slide27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d4d98d600e9849af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34301A-5E5E-4131-9C8F-06C0AF690008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8858250" y="3071813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05E379-6308-4D13-9AB2-7928CD2CEDFB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4572000" y="3071813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1A4DDA-80BF-4268-93D9-646307CC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 的倖存者選擇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C6E392-1C23-4DA3-8FA8-A6943CAE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381000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N 父代＋N 子代</a:t>
            </a:r>
          </a:p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合併、依 ID 去重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F3E3DF-9854-4EDE-B505-6395410F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76500"/>
            <a:ext cx="304800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只留下</a:t>
            </a:r>
          </a:p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完整評估者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D7D97A-309E-45DF-9253-3030FB7C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76500"/>
            <a:ext cx="476250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依 fitness 由高至低</a:t>
            </a:r>
          </a:p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以每層最高分 − 1.0 分層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53F4EA-0CAD-4693-B9DD-E5411DBE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整層放得下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344870-5255-4DBC-A6F1-EFCF07C0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62625"/>
            <a:ext cx="457200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整層保留</a:t>
            </a:r>
          </a:p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再處理下一個分數層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67B184-DC58-4814-9706-689BC88F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剩餘名額切在同一層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D71136-148D-48DF-89DA-75B15E68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762625"/>
            <a:ext cx="742950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只在該層用 seeded max-min 選子集</a:t>
            </a:r>
          </a:p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優先保留與已選者行為較遠的候選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2977BC-6D14-4153-96DE-9D5455137F4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477750" y="3667125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46DB7F-973A-407A-8475-53FD83A74D3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143250" y="4286250"/>
            <a:ext cx="9334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244812-D5BB-4326-ADB4-B95CC951D84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143250" y="4286250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EF6605-D476-48EA-9159-D026FB2FE94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953750" y="4286250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D186F2-A287-4732-B84F-5A440DC2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858125"/>
            <a:ext cx="1304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選滿固定 N 位；低分層不能靠新穎性越級。完成者不足 N，run 明確失敗。</a:t>
            </a:r>
          </a:p>
        </p:txBody>
      </p:sp>
      <p:sp>
        <p:nvSpPr>
          <p:cNvPr id="1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C8D6F0AD-F64F-40D3-AF6D-1C0B500B47E9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4B43CB9B-85E1-4D8B-B7DF-21AD7DE05F5C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27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1787783320"/>
      </p:ext>
    </p:extLst>
  </p:cSld>
</p:sld>
</file>

<file path=ppt/slides/slide28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7118c39463a242cb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FE843E-7C7E-4174-A925-6E7DC2E1CFD0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2906375" y="4048125"/>
            <a:ext cx="0" cy="2143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92FAA2-EAC7-4B4C-9CCD-14B3BCADE484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9334500" y="3405188"/>
            <a:ext cx="1428750" cy="214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E8D4E6-2997-4237-A8E6-DA4611505CB0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4000500" y="3619500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2660C3-F632-4CF2-A00D-8EB0E19D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 的靜態突變操作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341040-D45A-49C3-8E87-030D8938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57375"/>
            <a:ext cx="1323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self_play 要求 reflection_operator_mode = static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D0DEDB-38D9-4B87-BA3D-F5B28FC5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238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交配後的子代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81E595-1314-4EE9-B025-3B3A7485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43250"/>
            <a:ext cx="4000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固定 mutation_rate</a:t>
            </a:r>
          </a:p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決定是否突變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7024A5-40C7-4A41-B2EF-5D374E20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762250"/>
            <a:ext cx="428625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依已設定的靜態規則</a:t>
            </a:r>
          </a:p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執行可用突變操作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EE9057-E768-4011-A446-BD1F851C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91250"/>
            <a:ext cx="42862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進入 Java 與評估</a:t>
            </a:r>
          </a:p>
        </p:txBody>
      </p: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A112FA-BBEB-4CD2-A7BD-0AFC5DD5EFB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334250" y="4095750"/>
            <a:ext cx="0" cy="2571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D79747-E272-43BC-86AC-983A6DC87DE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334250" y="6667500"/>
            <a:ext cx="3429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2AF10C-69CA-414E-95A4-F4B9CD25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863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否：保留交配後基因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2E47E5-6E91-40E8-9009-CEB85D2B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575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7F25F3-5AFC-4AA4-963E-D6666B44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00625"/>
            <a:ext cx="600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Framework local：至多改一槽</a:t>
            </a:r>
          </a:p>
          <a:p xmlns:a="http://schemas.openxmlformats.org/drawingml/2006/main"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Framework Coach：回傳完整 genome</a:t>
            </a:r>
          </a:p>
          <a:p xmlns:a="http://schemas.openxmlformats.org/drawingml/2006/main"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LLM／DSL：依可用操作與固定配比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8FF603-FC1C-4621-ACCE-90BDED7B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7858125"/>
            <a:ext cx="1266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對戰結果提供 fitness 與反思證據；本流程不以 reward 動態更新操作機率</a:t>
            </a:r>
          </a:p>
        </p:txBody>
      </p:sp>
      <p:sp>
        <p:nvSpPr>
          <p:cNvPr id="1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4C5CBD23-0371-4C91-A4AB-2528B946F45A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D2FDC042-E5BB-4CEA-8ACB-45E91B8F3EFF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28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331877658"/>
      </p:ext>
    </p:extLst>
  </p:cSld>
</p:sld>
</file>

<file path=ppt/slides/slide29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07cdac80121d4b58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E7412A-E6D6-4FD0-8F78-BB001CAD4C59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 flipH="1">
            <a:off x="10929938" y="3162300"/>
            <a:ext cx="23813" cy="9334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8E3A37-0A4B-46BD-B6BA-97BD82881E41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 flipH="1">
            <a:off x="8501063" y="3162300"/>
            <a:ext cx="119063" cy="9334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BF57E5-0C6E-4B63-A2F5-CD0851A62D49}"/>
              </a:ext>
            </a:extLst>
          </p:cNvPr>
          <p:cNvCxnSpPr>
            <a:stCxn xmlns:a="http://schemas.openxmlformats.org/drawingml/2006/main" id="13" idx="0"/>
            <a:endCxn xmlns:a="http://schemas.openxmlformats.org/drawingml/2006/main" id="2" idx="2"/>
          </p:cNvCxnSpPr>
          <p:nvPr/>
        </p:nvCxnSpPr>
        <p:spPr>
          <a:xfrm xmlns:a="http://schemas.openxmlformats.org/drawingml/2006/main" flipH="1" flipV="1">
            <a:off x="1619250" y="3162300"/>
            <a:ext cx="3405188" cy="9334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03141C-F654-4322-832D-DB497A7C787F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5024438" y="3162300"/>
            <a:ext cx="1262063" cy="9334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4FA775-3BC6-474D-B9A8-423837C89CFC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3952875" y="3162300"/>
            <a:ext cx="1071563" cy="9334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CCBBA8-0BAD-4124-861F-00A81AB49CB6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1906250" y="27717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BE1D9A-FF94-49E9-ADB3-8B60AD5015F1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9572625" y="27717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2F93AC-915F-4074-A441-97286F73C87B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239000" y="27717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9B3756-789E-403B-A0F7-644C1B624608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4905375" y="27717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3897CC-B9B3-4053-A5A8-35E4A10ACEA8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2571750" y="27717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D6B143-6550-461C-8794-48F2CF8C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失敗、重試與停止的邊界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5A01C7-8A98-46B9-BD40-A59CCF2C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9050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LLM 產生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0E6332-0C9C-4EB5-8F2C-F5C1F496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381250"/>
            <a:ext cx="19050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Validation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CE4EEC-5CE3-4D75-84F2-B85D7954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81250"/>
            <a:ext cx="19050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javac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F31F17-DFCE-471D-B743-E49A9BFD5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81250"/>
            <a:ext cx="19050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Integration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4F6441-7F22-4B53-9250-0439DDD4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381250"/>
            <a:ext cx="19050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180 場評估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A1D174-5800-4D43-9DE2-83BD6D1A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2381250"/>
            <a:ext cx="22860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候選篩選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EFA984-0BF5-438E-9B22-B45E268A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095750"/>
            <a:ext cx="4524375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有界修復重試</a:t>
            </a:r>
          </a:p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LLM 模式限 generation_max_attempts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FEF5C5-A162-487B-BE89-131EA13A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095750"/>
            <a:ext cx="2047875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Integration</a:t>
            </a:r>
          </a:p>
          <a:p xmlns:a="http://schemas.openxmlformats.org/drawingml/2006/main"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失敗，候選終止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E760EC-3E9F-4CF8-AE95-1C55B4A7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95750"/>
            <a:ext cx="2047875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矩陣未完成</a:t>
            </a:r>
          </a:p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候選終止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894617-F9CD-4C9C-B595-529046ACA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1339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DSL／framework 編譯失敗亦直接終止候選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6D4D27-6844-4590-B855-E3D64997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6864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失敗候選 sentinel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347A06-4D2B-4F19-8946-0B572659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476875"/>
            <a:ext cx="2333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−1000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42188C-5CAF-44FF-971A-996FE366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572250"/>
            <a:ext cx="48577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完成者 ≥ N</a:t>
            </a:r>
          </a:p>
          <a:p xmlns:a="http://schemas.openxmlformats.org/drawingml/2006/main"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父代足夠時仍可延續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40448D-CC80-476C-AFF2-751065E1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572250"/>
            <a:ext cx="48577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完成者 &lt; N</a:t>
            </a:r>
          </a:p>
          <a:p xmlns:a="http://schemas.openxmlformats.org/drawingml/2006/main"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明確失敗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CDDE83-CDAD-4A1B-A9D9-750D9445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572375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中斷：取消排隊工作、等待執行中工作，再從最後提交世代恢復</a:t>
            </a:r>
          </a:p>
        </p:txBody>
      </p:sp>
      <p:sp>
        <p:nvSpPr>
          <p:cNvPr id="27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002A5ED1-CAB3-47BB-B25C-8FB3486071B5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4619E8E1-A286-4DB0-9D17-75A788BC453C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29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1015126155"/>
      </p:ext>
    </p:extLst>
  </p:cSld>
</p:sld>
</file>

<file path=ppt/slides/slide30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21ea2e9553bb4494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60614C-93C5-4CF3-BAAD-C4D76DC3A4C4}"/>
              </a:ext>
            </a:extLst>
          </p:cNvPr>
          <p:cNvCxnSpPr>
            <a:stCxn xmlns:a="http://schemas.openxmlformats.org/drawingml/2006/main" id="2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4524375" y="2762250"/>
            <a:ext cx="3476625" cy="295275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7E99DC-93C5-4841-B41B-60306E050FD1}"/>
              </a:ext>
            </a:extLst>
          </p:cNvPr>
          <p:cNvCxnSpPr>
            <a:stCxn xmlns:a="http://schemas.openxmlformats.org/drawingml/2006/main" id="2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8001000" y="2762250"/>
            <a:ext cx="5810250" cy="809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084884-2D76-4A25-B9C6-63C416148572}"/>
              </a:ext>
            </a:extLst>
          </p:cNvPr>
          <p:cNvCxnSpPr>
            <a:stCxn xmlns:a="http://schemas.openxmlformats.org/drawingml/2006/main" id="2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8001000" y="2762250"/>
            <a:ext cx="2381250" cy="809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9B91D8-6202-4AEB-8BBA-3AB9F1137831}"/>
              </a:ext>
            </a:extLst>
          </p:cNvPr>
          <p:cNvCxnSpPr>
            <a:stCxn xmlns:a="http://schemas.openxmlformats.org/drawingml/2006/main" id="2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 flipH="1">
            <a:off x="6667500" y="2762250"/>
            <a:ext cx="1333500" cy="809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5EBA2F-3D77-49D2-8A1D-81F3FBD7E702}"/>
              </a:ext>
            </a:extLst>
          </p:cNvPr>
          <p:cNvCxnSpPr>
            <a:stCxn xmlns:a="http://schemas.openxmlformats.org/drawingml/2006/main" id="2" idx="2"/>
            <a:endCxn xmlns:a="http://schemas.openxmlformats.org/drawingml/2006/main" id="3" idx="0"/>
          </p:cNvCxnSpPr>
          <p:nvPr/>
        </p:nvCxnSpPr>
        <p:spPr>
          <a:xfrm xmlns:a="http://schemas.openxmlformats.org/drawingml/2006/main" flipH="1">
            <a:off x="2952750" y="2762250"/>
            <a:ext cx="5048250" cy="809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956E15-5151-402D-8451-570228A8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每個 run 的保存與稽核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2B5C27-60C3-4D2B-9F96-8808813C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95500"/>
            <a:ext cx="47625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runs/&lt;run_id&gt;/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E34DCB-B445-4E9F-B5D1-DA6B54E6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71875"/>
            <a:ext cx="34290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config.yaml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manifest.json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summary.json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B57641-3DD1-4D15-A908-510B765A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71875"/>
            <a:ext cx="34290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generations/</a:t>
            </a:r>
          </a:p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候選快照與 latest_generation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908F5C-772B-4605-934A-BE407F52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71875"/>
            <a:ext cx="34290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candidates/</a:t>
            </a:r>
          </a:p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基因、譜系、逐階段證據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E844FC-5A03-49C3-A528-EFD89AFF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571875"/>
            <a:ext cx="28575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archives/</a:t>
            </a:r>
          </a:p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操作、錯誤與 opponent pool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D42421-90D3-4262-985E-DF1F0F17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715000"/>
            <a:ext cx="47625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framework/bundle.json</a:t>
            </a:r>
          </a:p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Framework slots 凍結來源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958865-C420-4291-B707-94F2DFB6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715000"/>
            <a:ext cx="40005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timing.jsonl：append-only 階段與 LLM request 時間線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E7B5B9-934C-424A-B028-8B2B649A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5715000"/>
            <a:ext cx="28575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final_test/</a:t>
            </a:r>
          </a:p>
          <a:p xmlns:a="http://schemas.openxmlformats.org/drawingml/2006/main">
            <a: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獨立正式測試證據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9D9795-BDFB-4C12-B55E-A650AA59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96125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generation snapshot 原子寫入成功後，manifest 才前進</a:t>
            </a:r>
          </a:p>
        </p:txBody>
      </p:sp>
      <p:sp>
        <p:nvSpPr>
          <p:cNvPr id="1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397CC36F-5A6B-41D1-ACE2-9E2A3CC37659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FA28A3B5-1957-43FB-9672-64D958327437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30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1752914317"/>
      </p:ext>
    </p:extLst>
  </p:cSld>
</p:sld>
</file>

<file path=ppt/slides/slide31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4e6c5fab4c4345ce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D2AD05-8521-4CDB-96A8-1236E6900011}"/>
              </a:ext>
            </a:extLst>
          </p:cNvPr>
          <p:cNvCxnSpPr>
            <a:stCxn xmlns:a="http://schemas.openxmlformats.org/drawingml/2006/main" id="5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6667500" y="5915025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2565AB-9315-4488-BBE4-0B02BF641A74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9810750" y="3733800"/>
            <a:ext cx="0" cy="1600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B2FC09-E132-4235-AB7E-65CAC6CC1DFA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7715250" y="31527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250414-EBB6-45D7-BC77-89C9EBBE7F8B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4000500" y="31527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AED47B-47C8-45B3-8A98-8366789A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中斷後的恢復流程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291391-2D0D-45F5-96CB-1F06A55C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32385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1  最後提交快照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manifest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latest_generation = Gk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8C4F3F-BCA3-411C-B1BB-3EC9733F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32385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2  身分相容檢查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protocol · config · hash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7E8858-2BCE-404E-A687-4B1F15AE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71750"/>
            <a:ext cx="32385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3  封存未提交工作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interrupted_work/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F808CB-BFE3-4EFA-B0F1-204807E7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34000"/>
            <a:ext cx="32385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  還原 population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操作器、pool 與 context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5E539-37B3-4091-AD48-FB8E2237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334000"/>
            <a:ext cx="32385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5  重播並繼續</a:t>
            </a:r>
          </a:p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從 Gk + 1 開始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1AC2EF-37BE-4405-87C0-BF200E23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04850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身分不符即拒絕；不沿用半成品，也不重新 bootstrap</a:t>
            </a:r>
          </a:p>
        </p:txBody>
      </p:sp>
      <p:sp>
        <p:nvSpPr>
          <p:cNvPr id="1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3463DBE5-30B5-4686-AA67-D2C5382C550A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FC5C3D83-955E-416A-88EC-D6B890EE3A1D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31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549683944"/>
      </p:ext>
    </p:extLst>
  </p:cSld>
</p:sld>
</file>

<file path=ppt/slides/slide32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567017870f0a4ec3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6402B9-B014-40FF-8DA2-6EF828D2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多組設定、replicate 與資料夾續跑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4B953C-5EC8-4F6B-95AB-FEA700E3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71700"/>
            <a:ext cx="676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設定資料夾依 YAML 檔名順序逐組執行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9A0B1F-1524-4A72-B2AA-84435E31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00375"/>
            <a:ext cx="17145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設定 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6A6755-434C-4F7C-A93B-2A6BAF80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05250"/>
            <a:ext cx="16192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769457-3413-4C45-B74E-6214E5E7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905250"/>
            <a:ext cx="16192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4F7342-A301-483D-A1FF-84A55FDDF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00375"/>
            <a:ext cx="17145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設定 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C754F4-D33E-4B94-9645-97CE89375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05250"/>
            <a:ext cx="16192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9D64D8-139D-46CE-B15F-C4E62730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905250"/>
            <a:ext cx="16192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C6D679-3CC7-4D35-876E-21A39FD0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000375"/>
            <a:ext cx="17145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設定 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F6B756-0FE7-4ED6-909F-0BBE97B1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905250"/>
            <a:ext cx="16192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C716B7-19F7-47D8-9983-35A0F9E7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3905250"/>
            <a:ext cx="16192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1DA06F-9913-43FB-BCB7-C78222BC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3721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random_seeds × runs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A1145F-4F2D-4986-80D8-65915816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286375"/>
            <a:ext cx="1333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 7</a:t>
            </a:r>
          </a:p>
        </p:txBody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22E1A6-2656-4DF8-8C8D-0A241864802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886450" y="5600700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CB8D54-607F-4474-B4E0-6E57EFC5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286375"/>
            <a:ext cx="1333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 7</a:t>
            </a:r>
          </a:p>
        </p:txBody>
      </p: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3EE8D4-6099-421D-BC8D-EF67454AABD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429500" y="5600700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12AFCA-815B-4A63-A867-A61726FE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5286375"/>
            <a:ext cx="1333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 8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4AC5D4-F1F2-41A1-81CA-1F08D8C7E19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972550" y="5600700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E38B5F-EAFB-4C17-A28D-2725C38B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286375"/>
            <a:ext cx="1333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 8</a:t>
            </a:r>
          </a:p>
        </p:txBody>
      </p: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E279EE-6FE6-4DFE-A8AA-484DB85BD12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515600" y="5600700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A9BC8D-AD87-4AA6-801C-770CB556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5286375"/>
            <a:ext cx="1333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 9</a:t>
            </a:r>
          </a:p>
        </p:txBody>
      </p: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B5A4D8-5A44-426B-8FAB-828CE1C4DD1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058650" y="5600700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69883F-A302-4D10-93F4-0167D0E2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5286375"/>
            <a:ext cx="1333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 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206215-FC91-4348-BAE6-02B4AD52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6675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experiment.yaml 以有序 slot 記錄 run 路徑；未完成優先恢復，完整項目可跳過。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9F43DF-360C-478E-A23C-D0AF002B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72866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正式 run 需 Final Test 摘要才算 slot 完成；缺 G0 證據則建立替代 run。</a:t>
            </a:r>
          </a:p>
        </p:txBody>
      </p:sp>
      <p:sp>
        <p:nvSpPr>
          <p:cNvPr id="2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CEB84803-8F0F-4A01-97E9-00CA2668949B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D219021E-B54B-4EB1-92B1-BD3FD482CDAC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32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725512646"/>
      </p:ext>
    </p:extLst>
  </p:cSld>
</p:sld>
</file>

<file path=ppt/slides/slide33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cb679fb7480a41b6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8A1A44-47F6-4AB9-BADD-476E2083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可重現性與相同版本續跑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FB2510-DC5B-443C-A43C-985B78D7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95500"/>
            <a:ext cx="41910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root seed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task identity + input index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54E7F7-8636-4916-9467-60B4BB8A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22860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初始化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D069C6-CAF4-47F7-9C7B-75540DB0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095750"/>
            <a:ext cx="22860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701BCD-12FC-4666-84A9-0CB7CCDA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95750"/>
            <a:ext cx="22860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操作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57F4C5-4F10-4C54-B958-1B1530B3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95750"/>
            <a:ext cx="22860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LLM request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5EE64C-7633-4ABA-972F-FAC781A7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4095750"/>
            <a:ext cx="22860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MicroRTS match</a:t>
            </a:r>
          </a:p>
        </p:txBody>
      </p: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2F6E56-6D1D-4E2C-8CE0-2F5AA94E0A1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905750" y="2971800"/>
            <a:ext cx="0" cy="5048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EC359-613E-41D8-96C8-330DE941712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095500" y="3476625"/>
            <a:ext cx="1162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480D1F-031A-46E3-A732-7565E8DB594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095500" y="3476625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86E0AE-A333-441B-AA68-D9B5615AAC6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000625" y="3476625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9EF05B-8959-4C67-BE7F-0B910CE54A9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905750" y="3476625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F5B7C4-B664-4E6B-A7E5-0171774EEFB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810875" y="3476625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621EA9-8A81-45DE-9573-00544C57199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716000" y="3476625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4B466D-00BD-43A0-9EAA-5371E53C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53340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保存與核對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config · source · map · runtime · bundle hashes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DEA549-5B65-45F7-9FAA-FEF9DFD5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86375"/>
            <a:ext cx="45720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仍可能改變</a:t>
            </a:r>
          </a:p>
          <a:p xmlns:a="http://schemas.openxmlformats.org/drawingml/2006/main">
            <a: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外部模型、GPU 執行、私有 RNG、時間上限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B72C1B-5CF0-40CF-BDF8-E820573F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010400"/>
            <a:ext cx="962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相同 seed 建立可控隨機流，不保證外部服務逐位元相同</a:t>
            </a:r>
          </a:p>
        </p:txBody>
      </p:sp>
      <p:sp>
        <p:nvSpPr>
          <p:cNvPr id="18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54C43DBC-A715-49A6-8417-D69C2572FF88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1A728374-4B45-4735-B52D-5657BB6EE92C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33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748489038"/>
      </p:ext>
    </p:extLst>
  </p:cSld>
</p:sld>
</file>

<file path=ppt/slides/slide34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eb17f3fe0d32461d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DEE11F-FE64-4B89-B546-83EE0A07FF98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3049250" y="3448050"/>
            <a:ext cx="95250" cy="2190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5DEB82-8B48-4466-A5E4-C63C2752A87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0382250" y="291465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290902-CE0C-4C0A-AAAC-E6ABA29F4089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6858000" y="2914650"/>
            <a:ext cx="666750" cy="1619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75A00C-9039-40FF-A6C2-98342E90DC6B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3381375" y="307657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CC045E-1FA9-4809-8551-E179B87A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停止條件與正式 Final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03BD41-7660-418D-ADF7-75D0C7397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67000"/>
            <a:ext cx="2476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停止條件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0A0B27-4A7F-4E85-A270-894B04AE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76500"/>
            <a:ext cx="285750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世代上限</a:t>
            </a:r>
          </a:p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或 stagnation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095F01-BA80-46C2-A8BD-1A7B538E5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0"/>
            <a:ext cx="2857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選可執行代表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通常取末代候選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892FF3-549F-4EC5-BC12-14184E66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0"/>
            <a:ext cx="3429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獨立 recompile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＋七項 Integration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A67A36-744D-4AE1-BDAD-9036BFE8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667125"/>
            <a:ext cx="32385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Final Test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固定十個內建對手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68EA67-3C05-467C-B53B-2E37BFF7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33875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三種對戰矩陣各有用途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A654DB-FBB6-45C4-948B-1F9793E4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81625"/>
            <a:ext cx="266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180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DDDE77-6814-4988-9DB5-CCB88D6B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341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搜尋評估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BD517D-E562-4649-8E83-7C2631A0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58000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10 對手 × 3 地圖 × 3 回合 × 2 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9395FD-0FF6-486D-857F-E6D23AFC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381625"/>
            <a:ext cx="266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495A9B-B635-41D1-B09D-B632ADF6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63341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Pool 挑戰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80CC3F-8EE6-4666-A121-B81DFDD7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6858000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 地圖 × 3 回合 × 2 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1C7520-2A0F-4809-B8E6-81C3595F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381625"/>
            <a:ext cx="266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600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FD0A6E-BDF7-4A1D-99F7-916A58DF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Final Test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2510CB-158A-46FF-8C2A-9E77FFEFF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858000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10 對手 × 3 地圖 × 10 回合 × 2 邊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64B85C-9457-4A74-A1F8-68C9F696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481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mock 與 --skip-final-test 可略過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7317D9-52BD-452F-95B4-800C9377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743825"/>
            <a:ext cx="1266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搜尋名單會刷新；正式測試名單固定，兩者分開保存結果</a:t>
            </a:r>
          </a:p>
        </p:txBody>
      </p:sp>
      <p:sp>
        <p:nvSpPr>
          <p:cNvPr id="2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F75217D0-9BB2-4660-B8CC-9BAFD2C7CBD7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58410D07-0F34-49D6-9BE1-9D12E963A0FE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34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1615511503"/>
      </p:ext>
    </p:extLst>
  </p:cSld>
</p:sld>
</file>

<file path=ppt/slides/slide35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f359c74b2a654aa7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0CAB9E-FE6C-480C-B5D4-92B8238331C2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12573000" y="4219575"/>
            <a:ext cx="476250" cy="9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03C3B7-1D33-4070-A046-6B020508AAE3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8334375" y="4219575"/>
            <a:ext cx="1285875" cy="17526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F05F4D-150A-49DB-AA2A-18E7D9563DCC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8334375" y="4219575"/>
            <a:ext cx="1285875" cy="10287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264E02-0432-4BD7-925E-0FA27724CB37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8334375" y="4219575"/>
            <a:ext cx="1285875" cy="3048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C389A2-FEF2-4885-B192-EACF9D172EEF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334375" y="3800475"/>
            <a:ext cx="1285875" cy="419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712675-FC85-4CB2-B37C-D8B7687D67C5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334375" y="3076575"/>
            <a:ext cx="1285875" cy="1143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566F78-657C-4A3B-8BB3-8192EC2B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跨世代的公平比較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131989-3AC8-4371-9599-A73E871F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搜尋：對手快照隨世代改變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09FD4D-CB4D-4557-A852-C555363B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76550"/>
            <a:ext cx="142875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G0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1ED38E-0B42-4EAA-959F-F1ABEEC2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14725"/>
            <a:ext cx="142875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 保護</a:t>
            </a:r>
          </a:p>
          <a:p xmlns:a="http://schemas.openxmlformats.org/drawingml/2006/main"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＋6 內建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E041F5-3C8D-4CE8-8065-31CD54D0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76550"/>
            <a:ext cx="142875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G6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8DC73B-D857-474F-8BD3-A44D4449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14725"/>
            <a:ext cx="142875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 保護</a:t>
            </a:r>
          </a:p>
          <a:p xmlns:a="http://schemas.openxmlformats.org/drawingml/2006/main"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＋6 抽樣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A0ABDB-458F-4866-B632-FA2DFE83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76550"/>
            <a:ext cx="142875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G11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E238BE-F29D-4CB1-959F-16A72F01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14725"/>
            <a:ext cx="142875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 保護</a:t>
            </a:r>
          </a:p>
          <a:p xmlns:a="http://schemas.openxmlformats.org/drawingml/2006/main"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＋6 抽樣</a:t>
            </a:r>
          </a:p>
        </p:txBody>
      </p: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97C95E-05F8-406C-B445-916D09E1B6F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952625" y="4714875"/>
            <a:ext cx="3619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3C2DF1-8BE4-44E5-8E0C-C57F3AC0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143500"/>
            <a:ext cx="4476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fitness 隨情境變動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每個候選 180 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203E89-0B2C-4291-B0C1-EBCD37A1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095500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公平比較：一份凍結 protocol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804995-0570-4D7B-BA48-A3B6C578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09875"/>
            <a:ext cx="1095375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913FCA-D4D2-46E2-8972-75199221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33775"/>
            <a:ext cx="1095375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C973CE-AFA2-441B-917C-2EEBEBF2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57675"/>
            <a:ext cx="1095375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638AA3-604D-40C9-98E2-C69131F7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81575"/>
            <a:ext cx="1095375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G15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37BEF5-5FAF-4F79-A0CC-64B1AF5D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705475"/>
            <a:ext cx="1095375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G20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00BBBD-39E0-42E4-808D-AEA96EF9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38550"/>
            <a:ext cx="29527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同一固定 protocol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固定對手、地圖、規則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0BBA29-32B6-4EA7-B6A4-275AF7FB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752850"/>
            <a:ext cx="2095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每個代表 600 場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paired seeds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AEBEE6-6B4E-4912-9065-A7D0B284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685800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不同快照的搜尋分數，不能當成同條件能力比較。</a:t>
            </a:r>
          </a:p>
        </p:txBody>
      </p:sp>
      <p:sp>
        <p:nvSpPr>
          <p:cNvPr id="2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9E6DB633-E6B5-4E5D-96A6-A9F122F4FFE6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63CB3041-FD46-4BCF-BD71-A20D838E4D07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35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350044335"/>
      </p:ext>
    </p:extLst>
  </p:cSld>
</p:sld>
</file>

<file path=ppt/slides/slide36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6f061e1566e546cc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7C7CA6-F927-4348-988F-3ED071F7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結果、時間與比較的解讀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71C6F0-BE3B-4452-B848-9D741DE4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2714625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排程示意，非量測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7C1C7E-0672-483A-9A36-1EE229A6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0375"/>
            <a:ext cx="209550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G0 初始化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獨立工作量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0F1349-B4F7-4B55-837A-4BD60F5C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238375"/>
            <a:ext cx="962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後續演化世代的重疊工作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B8DD5F-5F93-4CFB-9BCE-006321B2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95625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準備子代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7F6070-8975-48C2-8549-81E4C573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000625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十工人對戰矩陣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EAB725-C574-4969-9B3F-C6C66006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00375"/>
            <a:ext cx="2476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準備批次 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27F1E9-58D2-4BFC-80F0-73C04F89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000375"/>
            <a:ext cx="2476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準備批次 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2B06AB-6CBB-4CA9-95B5-FD39DAFE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000375"/>
            <a:ext cx="2476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準備批次 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A8480D-3DFC-4927-BC00-E5FA82DE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05375"/>
            <a:ext cx="29527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對戰 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5F8D51-59F1-4CF9-A4AA-D2569543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905375"/>
            <a:ext cx="29527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對戰 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15DFA6-648B-464E-B21E-2EFA1EA0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0481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 對戰期間，B 的準備已開始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2FB4A5-1056-47B0-9A1B-F1080DD1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95312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B 對戰期間，C 的準備已開始</a:t>
            </a:r>
          </a:p>
        </p:txBody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3FD6D9-1830-4AA6-931D-A7BB8ECFBB1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429250" y="6762750"/>
            <a:ext cx="8858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7171C"/>
            </a:solidFill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16AF85-1B8E-479C-8D3D-C6EFAB49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95325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wall time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E9AA2F-F374-4A8A-B5A4-DAAF3415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734377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G0 初始化另行記錄；世代／階段時間以實際 timing artifacts 為準。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BB408A-1B02-4B70-B3F1-07B5BD16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7791450"/>
            <a:ext cx="68580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目前未有 live 多主機 speedup benchmark</a:t>
            </a:r>
          </a:p>
        </p:txBody>
      </p:sp>
      <p:sp>
        <p:nvSpPr>
          <p:cNvPr id="18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5AEEAF41-6B60-4F7C-809E-F4C6B6DB86D4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18B1EF65-E6C4-47D6-B6BF-098A2F262F89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36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709825981"/>
      </p:ext>
    </p:extLst>
  </p:cSld>
</p:sld>
</file>

<file path=ppt/slides/slide37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7764b09a8c8a4a51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8C1814-8D2C-4848-A266-877A71AA15C0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9572625" y="3405188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A164C0-0D8D-415F-A362-B0797D5CA955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4667250" y="3405188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8F690B-BE87-47DE-8428-170DA35C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GUI、監看與離線分析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3D23BD-3F76-46E9-9FCB-1D046E3E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0"/>
            <a:ext cx="3238500" cy="1095375"/>
          </a:xfrm>
          <a:prstGeom xmlns:a="http://schemas.openxmlformats.org/drawingml/2006/main" prst="roundRect">
            <a:avLst>
              <a:gd name="adj" fmla="val 13913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GUI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4FA437-0C96-4B70-8DF7-90F88E6A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57500"/>
            <a:ext cx="3238500" cy="1095375"/>
          </a:xfrm>
          <a:prstGeom xmlns:a="http://schemas.openxmlformats.org/drawingml/2006/main" prst="roundRect">
            <a:avLst>
              <a:gd name="adj" fmla="val 13913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Monitor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962E12-FBC7-4A65-8FDA-6408F19D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0"/>
            <a:ext cx="3238500" cy="1095375"/>
          </a:xfrm>
          <a:prstGeom xmlns:a="http://schemas.openxmlformats.org/drawingml/2006/main" prst="roundRect">
            <a:avLst>
              <a:gd name="adj" fmla="val 1391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Analyze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C778B5-DD3D-47A4-BF21-1D11DC18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619625"/>
            <a:ext cx="390525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選設定、啟停／續跑</a:t>
            </a:r>
          </a:p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瀏覽族群與視覺觀戰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F72999-1202-4F44-BA05-FBAA2B384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619625"/>
            <a:ext cx="390525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讀 manifest 與已提交快照</a:t>
            </a:r>
          </a:p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狀態監看唯讀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E21DC1-669E-4F21-8FFB-5B696CA9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4619625"/>
            <a:ext cx="390525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讀保存的快照與證據</a:t>
            </a:r>
          </a:p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離線產生報表與圖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2327DB-E5B0-4DB0-8BFB-069D000E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66750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使用工具檢視證據，不改寫演化 fitness</a:t>
            </a:r>
          </a:p>
        </p:txBody>
      </p:sp>
      <p:sp>
        <p:nvSpPr>
          <p:cNvPr id="11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086CF7C-3E62-4BB0-B526-05DA8F43C8CC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E8A1AC5E-227A-4201-9326-B7AA3EF4524B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37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1730411442"/>
      </p:ext>
    </p:extLst>
  </p:cSld>
</p:sld>
</file>

<file path=ppt/slides/slide38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72076f43e98845c2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C7F62E-DC44-4476-947E-78857FAF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目前 Framework Coach 設定範例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308468-B3B7-413C-9485-433E6A94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40957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Framework slots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F4CFA7-FE8A-41FE-888E-095753C2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Coach 使用完整控制 genome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EBC50E-B27A-4D10-9396-08A25EDEE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86000"/>
            <a:ext cx="38100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Mistral bootstrap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3AA3AB-26E7-4352-A692-0B6181E0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432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mistral-small-latest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EF15B9-8BD1-4A77-B362-DBEC7BC8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0"/>
            <a:ext cx="37147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Qwen 3.5 9B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7554C1-759F-445B-8BCD-4678BC369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1432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主模型＋外部 additional endpoint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C2BCCD-46E6-492D-AE78-167D3A4A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2912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E75680-0B7E-46FA-A578-596C37D5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340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演化世代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3DF5C6-E063-4D51-A043-CD1DE8F05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2912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905516-F403-4F3C-A89E-7BB645B8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3340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population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B41BE7-C74B-4D82-8D79-CA00E690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2912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951DC7-124E-441F-91B4-97BF459A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427B0C-13C0-4B5C-A821-74D789EB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442912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50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ABFA86-5B0F-410D-B2F2-49E2F5FF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53340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pool capacity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EF5F53-106A-4D66-902D-FCD3698D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191250"/>
            <a:ext cx="103822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每次評估：4 個保護對手 ＋ 6 個抽樣對手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E9B9A5-E9E5-4EC0-9CD5-9E980CDF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219950"/>
            <a:ext cx="18097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refresh 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997E36-A76D-459D-8BD2-64931C39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7219950"/>
            <a:ext cx="22860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crossover 0.75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9E8C9E-69F9-490D-AA87-13EC96F2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19950"/>
            <a:ext cx="21907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mutation 1.0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6F586B-25C0-4BE2-9B48-DEECCBC9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7219950"/>
            <a:ext cx="36195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tick caps 1500／3000／4000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F5F1C3-3AE4-40E2-AA2C-2CB70A72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778192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這是 checked-in 範例設定，不代表全域預設或已執行實驗。</a:t>
            </a:r>
          </a:p>
        </p:txBody>
      </p:sp>
      <p:sp>
        <p:nvSpPr>
          <p:cNvPr id="2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F6C3E823-76C5-456A-B735-5ED256E2FB44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85F6BC55-CE62-4D39-9A57-09FC31605C01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38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834780920"/>
      </p:ext>
    </p:extLst>
  </p:cSld>
</p:sld>
</file>

<file path=ppt/slides/slide39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4219347ee90d4b9a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128BB2-D670-4801-AB7C-830A85D22BBD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0096500" y="276225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8DB8C5-A5B8-427E-A3E3-7F32CE4E196D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4857750" y="276225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F83223-68DB-4F6F-9A1C-0CC6C687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穩定性比較：相同 framework，兩批重跑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2AB966-172B-4ABE-825C-D182B413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Framework local＋Opponent Pool｜上次 6 個 seed；本次完成 5 個，seed 13 尚未完成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A4EFA1-1DBC-47DF-A204-B4818DA7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40957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同一凍結 bundle</a:t>
            </a:r>
          </a:p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b2daa0d4…0939b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2583D9-2A81-40A1-AC87-3675C9AE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238375"/>
            <a:ext cx="40957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local 有限槽位演化</a:t>
            </a:r>
          </a:p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搜尋期間無 LLM 呼叫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82F65E-212D-44AC-8EEE-54432047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238375"/>
            <a:ext cx="39052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人口 10 × 演化 20 代</a:t>
            </a:r>
          </a:p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180 場搜尋／600 場測試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D145EF-BE32-4B31-9AA5-67B0A11F4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43350"/>
            <a:ext cx="4762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AAB9CC-79B2-4C32-B1B1-5F7CB347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482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已完成 run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9F3208-A456-49F0-942B-96D68263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943350"/>
            <a:ext cx="4762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1800／1800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DE88FA-CD7A-48D7-81A4-DF877C54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0482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完成 run 的 G20 對戰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2FDE35-1BBE-4927-B014-1B492A99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943350"/>
            <a:ext cx="4762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468727-D7B8-4667-89BF-785D39D41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50482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完成 Final Test 的 errors</a:t>
            </a:r>
          </a:p>
        </p:txBody>
      </p:sp>
      <p:graphicFrame>
        <p:nvGraphicFrame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8E1498-0CAA-4D03-BE11-4D60A65EE274}"/>
              </a:ext>
            </a:extLst>
          </p:cNvPr>
          <p:cNvGraphicFramePr/>
          <p:nvPr/>
        </p:nvGraphicFramePr>
        <p:xfrm>
          <a:off xmlns:a="http://schemas.openxmlformats.org/drawingml/2006/main" x="762000" y="6076950"/>
          <a:ext xmlns:a="http://schemas.openxmlformats.org/drawingml/2006/main" cx="14382750" cy="1657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4381500"/>
                <a:gridCol w="285750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批次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seed 範圍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20 代完成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Final Test 完成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上次（10/19–20）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8–13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6／6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6 × 600 場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本次（10/21）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8–12 完成；13 待完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5／6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5 × 600 場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0A78AD-B116-4871-A67C-DF404C59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依 10/21 報告快照：seed 13 在 G4／20，Final Test 尚未開始；未納入完成批次統計</a:t>
            </a:r>
          </a:p>
        </p:txBody>
      </p:sp>
      <p:sp>
        <p:nvSpPr>
          <p:cNvPr id="1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1A64F8AA-805C-4B51-85F2-430E913E1A58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1997FADD-A9CF-4276-86B0-B335A0514456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39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532501394"/>
      </p:ext>
    </p:extLst>
  </p:cSld>
</p:sld>
</file>

<file path=ppt/slides/slide40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9a05963576eb45bf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E9B29D-F00E-43D2-9CCC-20EF98EE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G20 搜尋分數：重跑差異因 seed 而異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5ED0E4-423D-4E2C-AEB6-095AB992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G20 population best Game Performance；主圖只並列已完成的 seed 8–12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EE775127-3ACB-4DE2-8809-76822E50B7E3}"/>
              </a:ext>
            </a:extLst>
          </p:cNvPr>
          <p:cNvGraphicFramePr/>
          <p:nvPr/>
        </p:nvGraphicFramePr>
        <p:xfrm>
          <a:off xmlns:a="http://schemas.openxmlformats.org/drawingml/2006/main" x="714375" y="2143125"/>
          <a:ext xmlns:a="http://schemas.openxmlformats.org/drawingml/2006/main" cx="10763250" cy="5000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42a98ff30404ed0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4DAACE-8F58-446D-88E7-B3ADDBAE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33362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跨 seed 的 best 平均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68CF0A-D67F-4C55-895C-2B25DE01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000375"/>
            <a:ext cx="3238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上次 6 seed</a:t>
            </a:r>
          </a:p>
          <a:p xmlns:a="http://schemas.openxmlformats.org/drawingml/2006/main"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5.884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本次 5 seed</a:t>
            </a:r>
          </a:p>
          <a:p xmlns:a="http://schemas.openxmlformats.org/drawingml/2006/main"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1.861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22C616-D97E-469E-B87D-1037E2D1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143625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上次 seed 13：18.267</a:t>
            </a:r>
          </a:p>
          <a:p xmlns:a="http://schemas.openxmlformats.org/drawingml/2006/main">
            <a:pPr algn="l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本次尚未完成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3E7491-4A82-4CFF-BC88-FBFC07FB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24725"/>
            <a:ext cx="1438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本次 − 上次（seed 8→12）：-8.934、-2.733、+0.004、+2.130、+1.800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F056BF-528B-406B-9C5D-6DBCAAEE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各 run 對手快照可能不同，且平均樣本數不齊；不能用這些搜尋分數判定一般化能力或架構退化</a:t>
            </a:r>
          </a:p>
        </p:txBody>
      </p:sp>
      <p:sp>
        <p:nvSpPr>
          <p:cNvPr id="9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EDF2EA79-7F96-46E5-A3F0-0C67F2A5C9B4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0227F4B3-A83E-4CD5-BFBB-72748BC209B3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40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239284032"/>
      </p:ext>
    </p:extLst>
  </p:cSld>
</p:sld>
</file>

<file path=ppt/slides/slide41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f0e4c259628b4ffa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F006A4-722E-4560-9BF5-D86BD18B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搜尋軌跡：同 seed 的形狀多次接近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D347E0-2F0A-45CE-9BCD-3A38D177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population best｜相同縱軸 −80～40；各點代表該代當下的對手快照</a:t>
            </a:r>
          </a:p>
        </p:txBody>
      </p: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57C81E-B24B-46D4-AD54-85DF27267CE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668000" y="18288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F8792"/>
            </a:solidFill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6A0A2F-E24D-483E-BB42-B4417934A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16383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上次</a:t>
            </a:r>
          </a:p>
        </p:txBody>
      </p: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D43555-B45B-4C83-AB96-7409A566A0F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668250" y="18288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47171C"/>
            </a:solidFill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2C1270-2EF4-4AE2-9F98-697E0FA6F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16383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本次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C64B59-4AC9-4FA3-9512-38946782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574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seed 8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A3DA339A-B3C7-49A7-A6ED-7296742B9F3B}"/>
              </a:ext>
            </a:extLst>
          </p:cNvPr>
          <p:cNvGraphicFramePr/>
          <p:nvPr/>
        </p:nvGraphicFramePr>
        <p:xfrm>
          <a:off xmlns:a="http://schemas.openxmlformats.org/drawingml/2006/main" x="619125" y="2495550"/>
          <a:ext xmlns:a="http://schemas.openxmlformats.org/drawingml/2006/main" cx="4810125" cy="22574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3360fc5dbea49be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3090D1-FDC5-4D1E-9BA0-8363E5E0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574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seed 9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DFFE82E3-293D-45DD-81ED-21BFD1E697BC}"/>
              </a:ext>
            </a:extLst>
          </p:cNvPr>
          <p:cNvGraphicFramePr/>
          <p:nvPr/>
        </p:nvGraphicFramePr>
        <p:xfrm>
          <a:off xmlns:a="http://schemas.openxmlformats.org/drawingml/2006/main" x="5715000" y="2495550"/>
          <a:ext xmlns:a="http://schemas.openxmlformats.org/drawingml/2006/main" cx="4810125" cy="22574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5f5a1e8984241e3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D4EB24-B3A6-452F-ABCD-1B686675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20574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seed 10</a:t>
            </a:r>
          </a:p>
        </p:txBody>
      </p:sp>
      <p:graphicFrame>
        <p:nvGraphicFramePr>
          <p:cNvPr id="12" name="Chart">
            <a:extLst xmlns:a="http://schemas.openxmlformats.org/drawingml/2006/main">
              <a:ext uri="{FF2B5EF4-FFF2-40B4-BE49-F238E27FC236}">
                <a16:creationId xmlns:a16="http://schemas.microsoft.com/office/drawing/2014/main" id="{EAD27EAA-38C4-4803-830A-E0242BA2BD21}"/>
              </a:ext>
            </a:extLst>
          </p:cNvPr>
          <p:cNvGraphicFramePr/>
          <p:nvPr/>
        </p:nvGraphicFramePr>
        <p:xfrm>
          <a:off xmlns:a="http://schemas.openxmlformats.org/drawingml/2006/main" x="10810875" y="2495550"/>
          <a:ext xmlns:a="http://schemas.openxmlformats.org/drawingml/2006/main" cx="4810125" cy="22574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f2396ef7a7f484f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AF6093-A68D-4DD0-9988-12286AAE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196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seed 11</a:t>
            </a:r>
          </a:p>
        </p:txBody>
      </p:sp>
      <p:graphicFrame>
        <p:nvGraphicFramePr>
          <p:cNvPr id="14" name="Chart">
            <a:extLst xmlns:a="http://schemas.openxmlformats.org/drawingml/2006/main">
              <a:ext uri="{FF2B5EF4-FFF2-40B4-BE49-F238E27FC236}">
                <a16:creationId xmlns:a16="http://schemas.microsoft.com/office/drawing/2014/main" id="{0BF2E12D-07C3-49ED-817C-A7037F012DAF}"/>
              </a:ext>
            </a:extLst>
          </p:cNvPr>
          <p:cNvGraphicFramePr/>
          <p:nvPr/>
        </p:nvGraphicFramePr>
        <p:xfrm>
          <a:off xmlns:a="http://schemas.openxmlformats.org/drawingml/2006/main" x="619125" y="5257800"/>
          <a:ext xmlns:a="http://schemas.openxmlformats.org/drawingml/2006/main" cx="4810125" cy="22574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c27345d6c654fb1"/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1474F5-0762-4759-8CA6-2D40FACC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196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seed 12</a:t>
            </a:r>
          </a:p>
        </p:txBody>
      </p:sp>
      <p:graphicFrame>
        <p:nvGraphicFramePr>
          <p:cNvPr id="16" name="Chart">
            <a:extLst xmlns:a="http://schemas.openxmlformats.org/drawingml/2006/main">
              <a:ext uri="{FF2B5EF4-FFF2-40B4-BE49-F238E27FC236}">
                <a16:creationId xmlns:a16="http://schemas.microsoft.com/office/drawing/2014/main" id="{69760D10-467D-427F-8413-6A4498C81385}"/>
              </a:ext>
            </a:extLst>
          </p:cNvPr>
          <p:cNvGraphicFramePr/>
          <p:nvPr/>
        </p:nvGraphicFramePr>
        <p:xfrm>
          <a:off xmlns:a="http://schemas.openxmlformats.org/drawingml/2006/main" x="5715000" y="5257800"/>
          <a:ext xmlns:a="http://schemas.openxmlformats.org/drawingml/2006/main" cx="4810125" cy="22574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7eefff1229f4e0c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AA0F61-5C30-4FF4-A51D-370449C4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8196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seed 13｜僅上次完整結果</a:t>
            </a:r>
          </a:p>
        </p:txBody>
      </p:sp>
      <p:graphicFrame>
        <p:nvGraphicFramePr>
          <p:cNvPr id="18" name="Chart">
            <a:extLst xmlns:a="http://schemas.openxmlformats.org/drawingml/2006/main">
              <a:ext uri="{FF2B5EF4-FFF2-40B4-BE49-F238E27FC236}">
                <a16:creationId xmlns:a16="http://schemas.microsoft.com/office/drawing/2014/main" id="{AA1998BB-73DA-4DC0-AA0D-C612A0362FAF}"/>
              </a:ext>
            </a:extLst>
          </p:cNvPr>
          <p:cNvGraphicFramePr/>
          <p:nvPr/>
        </p:nvGraphicFramePr>
        <p:xfrm>
          <a:off xmlns:a="http://schemas.openxmlformats.org/drawingml/2006/main" x="10810875" y="5257800"/>
          <a:ext xmlns:a="http://schemas.openxmlformats.org/drawingml/2006/main" cx="4810125" cy="22574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5990f5d69c14c12"/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879F03-E8D6-4FE0-AA0C-D14D36BE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seed 10 的重跑路徑接近；快照會刷新，曲線不能視為固定難度下的能力成長</a:t>
            </a:r>
          </a:p>
        </p:txBody>
      </p:sp>
      <p:sp>
        <p:nvSpPr>
          <p:cNvPr id="20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0BD2ADB3-B15D-408C-9EF6-9F1604F44E61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91F872BB-D980-4898-AC28-39839C90210C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41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1682526954"/>
      </p:ext>
    </p:extLst>
  </p:cSld>
</p:sld>
</file>

<file path=ppt/slides/slide42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7930727b9a3c4571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B2AF5A-85ED-489A-9515-D7A617B0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正式測試：零執行錯誤，勝率約三成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766F20-7541-4D19-8123-10B58E18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相同 600 場協定；本次排除 seed 13。圖示各批 W／D／L 百分比，表列實際場數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3740A382-CD05-44AC-92B2-73AD23011DAB}"/>
              </a:ext>
            </a:extLst>
          </p:cNvPr>
          <p:cNvGraphicFramePr/>
          <p:nvPr/>
        </p:nvGraphicFramePr>
        <p:xfrm>
          <a:off xmlns:a="http://schemas.openxmlformats.org/drawingml/2006/main" x="762000" y="2143125"/>
          <a:ext xmlns:a="http://schemas.openxmlformats.org/drawingml/2006/main" cx="14382750" cy="3962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b1f15446f494db3"/>
          </a:graphicData>
        </a:graphic>
      </p:graphicFrame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99594B-21E0-44EE-87C6-3D062FC8C719}"/>
              </a:ext>
            </a:extLst>
          </p:cNvPr>
          <p:cNvGraphicFramePr/>
          <p:nvPr/>
        </p:nvGraphicFramePr>
        <p:xfrm>
          <a:off xmlns:a="http://schemas.openxmlformats.org/drawingml/2006/main" x="762000" y="6429375"/>
          <a:ext xmlns:a="http://schemas.openxmlformats.org/drawingml/2006/main" cx="14382750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1905000"/>
                <a:gridCol w="1905000"/>
                <a:gridCol w="1905000"/>
                <a:gridCol w="1905000"/>
                <a:gridCol w="2857500"/>
              </a:tblGrid>
              <a:tr h="4762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批次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勝 W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和 D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敗 L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錯誤 E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勝率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上次（6 runs）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1164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152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2284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32.33%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本次（5 runs）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905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145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1950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30.17%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8A40F9-6BC3-4AE0-A0C1-C2499062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這是 6 run 與 5 run 的批次總勝率，非同 seed 配對效果；不足以判定架構退化</a:t>
            </a:r>
          </a:p>
        </p:txBody>
      </p:sp>
      <p:sp>
        <p:nvSpPr>
          <p:cNvPr id="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5EBB648E-4E78-4C5C-9578-31F27593A7E4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FAAC7484-78DA-4927-99DE-DE37B83356CB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42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273964276"/>
      </p:ext>
    </p:extLst>
  </p:cSld>
</p:sld>
</file>

<file path=ppt/slides/slide43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f4de69748d184e4c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AD9D03-3EB3-417D-9407-4B5BDE9A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Hard opponents 仍是共同弱點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5C5C3A-2E20-46CB-B5D3-A87A7A2A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本次已完成 seed 8–12；每個對手 5 runs × 60 場＝300 場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36C6FD78-0B61-45DA-89A8-C61E720A471C}"/>
              </a:ext>
            </a:extLst>
          </p:cNvPr>
          <p:cNvGraphicFramePr/>
          <p:nvPr/>
        </p:nvGraphicFramePr>
        <p:xfrm>
          <a:off xmlns:a="http://schemas.openxmlformats.org/drawingml/2006/main" x="762000" y="2143125"/>
          <a:ext xmlns:a="http://schemas.openxmlformats.org/drawingml/2006/main" cx="10572750" cy="3790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dc8de355d5141d7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64BB44-A5BE-4B2D-A058-C3646930B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42887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11／1200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B8A7B4-8F01-467C-B9EA-7BDDDD31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3476625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四個強敵的合計勝場</a:t>
            </a:r>
          </a:p>
          <a:p xmlns:a="http://schemas.openxmlformats.org/drawingml/2006/main">
            <a: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 errors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1A7110-10B0-4A92-9AAA-2C152378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810125"/>
            <a:ext cx="3238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COAC 的 10 勝</a:t>
            </a:r>
          </a:p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集中於 seed 11</a:t>
            </a:r>
          </a:p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Rush 對策也未一致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83402B-968A-43AB-A529-50A7DFD44817}"/>
              </a:ext>
            </a:extLst>
          </p:cNvPr>
          <p:cNvGraphicFramePr/>
          <p:nvPr/>
        </p:nvGraphicFramePr>
        <p:xfrm>
          <a:off xmlns:a="http://schemas.openxmlformats.org/drawingml/2006/main" x="762000" y="6181725"/>
          <a:ext xmlns:a="http://schemas.openxmlformats.org/drawingml/2006/main" cx="14382750" cy="1809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810250"/>
                <a:gridCol w="2857500"/>
                <a:gridCol w="2857500"/>
                <a:gridCol w="2857500"/>
              </a:tblGrid>
              <a:tr h="3619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對手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勝 W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和 D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敗 L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3619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AllInBot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296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3619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Mayari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11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289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3619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COAC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290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3619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TMA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300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EDAE93-D1AD-4C4C-914F-277441E1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完成整個矩陣表示執行鏈可用；對 hard opponents 的策略能力仍不足</a:t>
            </a:r>
          </a:p>
        </p:txBody>
      </p:sp>
      <p:sp>
        <p:nvSpPr>
          <p:cNvPr id="9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1532B165-DB61-4DF7-ACAE-4EDE849E22BD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1CFFD144-8B34-4D91-B2DA-E1B990958E44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43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1494747225"/>
      </p:ext>
    </p:extLst>
  </p:cSld>
</p:sld>
</file>

<file path=ppt/slides/slide44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d1181c440f1d4729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C49682-E370-4162-AAB8-EEC2CC3C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九狀態探針：末代行為多樣性偏低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391FE2-96DA-435A-BFFF-48C90CAEB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G20 semantic unique／人口 10；三張地圖 × 三個階段的動作簽章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5B1FEC0E-C74A-48BC-A979-FF95B1EE7B7D}"/>
              </a:ext>
            </a:extLst>
          </p:cNvPr>
          <p:cNvGraphicFramePr/>
          <p:nvPr/>
        </p:nvGraphicFramePr>
        <p:xfrm>
          <a:off xmlns:a="http://schemas.openxmlformats.org/drawingml/2006/main" x="714375" y="2286000"/>
          <a:ext xmlns:a="http://schemas.openxmlformats.org/drawingml/2006/main" cx="10763250" cy="5143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56fb5eff2504f6b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3434FC-32B9-4B3B-AB7C-8C1CB5FA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2667000"/>
            <a:ext cx="3333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3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3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3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3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3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3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3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3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3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3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3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3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末代多為</a:t>
            </a:r>
          </a:p>
          <a:p xmlns:a="http://schemas.openxmlformats.org/drawingml/2006/main">
            <a:pPr algn="l">
              <a:defRPr sz="33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3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1–2 類／10 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9EA3F8-EE76-4A0D-A53A-9634F4DD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51435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上次 seed 13：4 類</a:t>
            </a:r>
          </a:p>
          <a:p xmlns:a="http://schemas.openxmlformats.org/drawingml/2006/main">
            <a:pPr algn="l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本次 seed 13 未納入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6B4FB3-BCE3-4095-922D-F2D75066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九狀態簽章不代表所有遊戲狀態；framework 沒有 DSL niche，不能以該 niche 的 count＝0 判斷行為多樣性</a:t>
            </a:r>
          </a:p>
        </p:txBody>
      </p:sp>
      <p:sp>
        <p:nvSpPr>
          <p:cNvPr id="7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0DB97839-9E3D-4F0F-ADB0-7E053B47CF84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16FDCFFD-05AF-4661-B607-5BD5A0F36C1C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484785835"/>
      </p:ext>
    </p:extLst>
  </p:cSld>
</p:sld>
</file>

<file path=ppt/slides/slide45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053d77c8803b45f5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48A402-394A-44F9-97C3-AA90F562220C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10477500" y="7581900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4E70CD-B4D4-4B59-BB10-E64D42ADF9F8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095750" y="7581900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D50EBF-25E1-4112-A3AF-F6735131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結論：執行可靠，探索與能力仍待改善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540D23-ADF2-465D-9907-1CF751E8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觀察到執行可靠性；策略品質與一般化能力仍須分開驗證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51ABAF-ADD7-4AB6-989C-E5173D27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執行可靠性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6F1FF5-F889-4CA8-8EEF-85466050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209800"/>
            <a:ext cx="4953000" cy="1076325"/>
          </a:xfrm>
          <a:prstGeom xmlns:a="http://schemas.openxmlformats.org/drawingml/2006/main" prst="roundRect">
            <a:avLst>
              <a:gd name="adj" fmla="val 14159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11 個完成 run</a:t>
            </a:r>
          </a:p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Final Test：0 errors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131F47-1EB3-49A9-883A-05A10545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286000"/>
            <a:ext cx="5286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支持已測配置與矩陣可穩定執行</a:t>
            </a:r>
          </a:p>
        </p:txBody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977AEF-BA8E-44A8-B1F0-9FEBA928B20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810625" y="27432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CEC35D-FE91-4E81-86D9-48B45AD7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跨 seed 結果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B6F743-3160-4A96-A586-809C525F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638550"/>
            <a:ext cx="4953000" cy="1076325"/>
          </a:xfrm>
          <a:prstGeom xmlns:a="http://schemas.openxmlformats.org/drawingml/2006/main" prst="roundRect">
            <a:avLst>
              <a:gd name="adj" fmla="val 14159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 10 的 G20 差 0.004</a:t>
            </a:r>
          </a:p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其他 seed 有重跑差異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569DE1-7322-4BBC-9A04-152581A9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714750"/>
            <a:ext cx="5286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搜尋分數受快照影響，另用共同測試比較</a:t>
            </a:r>
          </a:p>
        </p:txBody>
      </p: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C759C3-FBE4-424F-B1E0-FADF5A90BEC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810625" y="41719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17C0E1-1EBC-4BF8-AEC5-647C25AF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探索與能力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0B2AC5-E2CA-46D9-AE61-A6D6E505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067300"/>
            <a:ext cx="4953000" cy="1076325"/>
          </a:xfrm>
          <a:prstGeom xmlns:a="http://schemas.openxmlformats.org/drawingml/2006/main" prst="roundRect">
            <a:avLst>
              <a:gd name="adj" fmla="val 14159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末代多為 1–2 類</a:t>
            </a:r>
          </a:p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強敵合計 11／1200 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4CD658-AC37-4E8F-9F66-34D536797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143500"/>
            <a:ext cx="5286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優先檢驗探索寬度與強敵涵蓋</a:t>
            </a:r>
          </a:p>
        </p:txBody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4D826F-F96A-4B3E-B2C1-4397EA4DC02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810625" y="56007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4E376E-3664-4B1A-BBEF-F712A200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15125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建議下一步（尚未執行）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F9BBD5-501E-4269-B49F-29FA9148A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86625"/>
            <a:ext cx="33337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補齊 seed 13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237F79-8F3B-4241-8A01-EF189A70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7286625"/>
            <a:ext cx="51435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比較同六 seed 的正式測試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C331CF-BA39-4B95-9152-4813DBA4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7286625"/>
            <a:ext cx="34290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控制條件測試探索改動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3D0761-6970-4426-BF19-50F97756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耗時比較缺測：run wall time、G0 與 G1–20 世代耗時未提供，無法判斷速度差異</a:t>
            </a:r>
          </a:p>
        </p:txBody>
      </p:sp>
      <p:sp>
        <p:nvSpPr>
          <p:cNvPr id="2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F35AE36-766E-482E-9509-2F1E92BE0C9B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4793A56B-ADCC-4C31-B5B0-9D58CC5975ED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45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1261355805"/>
      </p:ext>
    </p:extLst>
  </p:cSld>
</p:sld>
</file>

<file path=ppt/theme/theme1.xml><?xml version="1.0" encoding="utf-8"?>
<a:theme xmlns:a="http://schemas.openxmlformats.org/drawingml/2006/main" name="EAGLE">
  <a:themeElements>
    <a:clrScheme name="Meeting 0830 Rose &amp; Gold">
      <a:dk1>
        <a:srgbClr val="47171C"/>
      </a:dk1>
      <a:lt1>
        <a:srgbClr val="FCF8F5"/>
      </a:lt1>
      <a:dk2>
        <a:srgbClr val="423C3B"/>
      </a:dk2>
      <a:lt2>
        <a:srgbClr val="FFFFFF"/>
      </a:lt2>
      <a:accent1>
        <a:srgbClr val="CF8792"/>
      </a:accent1>
      <a:accent2>
        <a:srgbClr val="47171C"/>
      </a:accent2>
      <a:accent3>
        <a:srgbClr val="CF9BA5"/>
      </a:accent3>
      <a:accent4>
        <a:srgbClr val="C69B45"/>
      </a:accent4>
      <a:accent5>
        <a:srgbClr val="FAEDC6"/>
      </a:accent5>
      <a:accent6>
        <a:srgbClr val="423C3B"/>
      </a:accent6>
      <a:hlink>
        <a:srgbClr val="CF8792"/>
      </a:hlink>
      <a:folHlink>
        <a:srgbClr val="C69B45"/>
      </a:folHlink>
    </a:clrScheme>
    <a:fontScheme name="Office">
      <a:majorFont>
        <a:latin typeface="Source Han Serif TW"/>
        <a:ea typeface="Source Han Serif TW"/>
        <a:cs typeface="Source Han Serif TW"/>
      </a:majorFont>
      <a:minorFont>
        <a:latin typeface="Source Han Serif TW"/>
        <a:ea typeface="Source Han Serif TW"/>
        <a:cs typeface="Source Han Serif TW"/>
      </a:minorFont>
    </a:fontScheme>
    <a:fmtScheme name="Meeting 0830 Rose &amp; Gol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2026-10-21T15:10:55.5780000Z</dcterms:created>
  <dcterms:modified xsi:type="dcterms:W3CDTF">2026-10-21T15:10:55.5780000Z</dcterms:modified>
</coreProperties>
</file>