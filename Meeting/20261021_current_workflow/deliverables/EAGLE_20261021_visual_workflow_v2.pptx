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a6ba017f5d4863" /><Relationship Type="http://schemas.openxmlformats.org/officeDocument/2006/relationships/extended-properties" Target="/docProps/app.xml" Id="R4b96703d700b411f" /><Relationship Type="http://schemas.openxmlformats.org/officeDocument/2006/relationships/officeDocument" Target="/ppt/presentation.xml" Id="R169acf99116840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fe377c267b43ba"/>
  </p:sldMasterIdLst>
  <p:notesMasterIdLst>
    <p:notesMasterId xmlns:r="http://schemas.openxmlformats.org/officeDocument/2006/relationships" r:id="Rac90e7e37e844cfc"/>
  </p:notesMasterIdLst>
  <p:sldIdLst>
    <p:sldId xmlns:r="http://schemas.openxmlformats.org/officeDocument/2006/relationships" id="256" r:id="Rba1a3f8894974b74"/>
    <p:sldId xmlns:r="http://schemas.openxmlformats.org/officeDocument/2006/relationships" id="257" r:id="Rc691a1c6b728482a"/>
    <p:sldId xmlns:r="http://schemas.openxmlformats.org/officeDocument/2006/relationships" id="258" r:id="Rcb67e69e7cff406c"/>
    <p:sldId xmlns:r="http://schemas.openxmlformats.org/officeDocument/2006/relationships" id="259" r:id="R08f52c62ab414635"/>
    <p:sldId xmlns:r="http://schemas.openxmlformats.org/officeDocument/2006/relationships" id="260" r:id="R88046849281f4e48"/>
    <p:sldId xmlns:r="http://schemas.openxmlformats.org/officeDocument/2006/relationships" id="261" r:id="Reae9aaf081154839"/>
    <p:sldId xmlns:r="http://schemas.openxmlformats.org/officeDocument/2006/relationships" id="262" r:id="R41cb3b2871f5476f"/>
    <p:sldId xmlns:r="http://schemas.openxmlformats.org/officeDocument/2006/relationships" id="263" r:id="Rb1b25732de9c4dbb"/>
    <p:sldId xmlns:r="http://schemas.openxmlformats.org/officeDocument/2006/relationships" id="264" r:id="R72f6fc34ba2f4589"/>
    <p:sldId xmlns:r="http://schemas.openxmlformats.org/officeDocument/2006/relationships" id="265" r:id="Rc0849e6484784f50"/>
    <p:sldId xmlns:r="http://schemas.openxmlformats.org/officeDocument/2006/relationships" id="266" r:id="Rcfd27a976ee741a9"/>
    <p:sldId xmlns:r="http://schemas.openxmlformats.org/officeDocument/2006/relationships" id="267" r:id="R48d07e6a64bb4a35"/>
    <p:sldId xmlns:r="http://schemas.openxmlformats.org/officeDocument/2006/relationships" id="268" r:id="Ra1ad05aa74124c47"/>
    <p:sldId xmlns:r="http://schemas.openxmlformats.org/officeDocument/2006/relationships" id="269" r:id="R324e730184a2464b"/>
    <p:sldId xmlns:r="http://schemas.openxmlformats.org/officeDocument/2006/relationships" id="270" r:id="R59ea9de2699e40ed"/>
    <p:sldId xmlns:r="http://schemas.openxmlformats.org/officeDocument/2006/relationships" id="271" r:id="R1ffb9bc7e6114a6e"/>
    <p:sldId xmlns:r="http://schemas.openxmlformats.org/officeDocument/2006/relationships" id="272" r:id="R6fb381c2bddb44c2"/>
    <p:sldId xmlns:r="http://schemas.openxmlformats.org/officeDocument/2006/relationships" id="273" r:id="R7c37b633fa3041c2"/>
    <p:sldId xmlns:r="http://schemas.openxmlformats.org/officeDocument/2006/relationships" id="274" r:id="R3e25f30e82404127"/>
    <p:sldId xmlns:r="http://schemas.openxmlformats.org/officeDocument/2006/relationships" id="275" r:id="Rc8f3364a09054ab2"/>
    <p:sldId xmlns:r="http://schemas.openxmlformats.org/officeDocument/2006/relationships" id="276" r:id="Raf00ab0a4f2b4405"/>
    <p:sldId xmlns:r="http://schemas.openxmlformats.org/officeDocument/2006/relationships" id="277" r:id="Rb46a540eb93a4369"/>
    <p:sldId xmlns:r="http://schemas.openxmlformats.org/officeDocument/2006/relationships" id="278" r:id="Rcc1afb4a39d74132"/>
    <p:sldId xmlns:r="http://schemas.openxmlformats.org/officeDocument/2006/relationships" id="279" r:id="Rc3507f35e11a42da"/>
    <p:sldId xmlns:r="http://schemas.openxmlformats.org/officeDocument/2006/relationships" id="280" r:id="R9e699cdbb6ad4005"/>
    <p:sldId xmlns:r="http://schemas.openxmlformats.org/officeDocument/2006/relationships" id="281" r:id="Rf1e2610521b348ef"/>
    <p:sldId xmlns:r="http://schemas.openxmlformats.org/officeDocument/2006/relationships" id="282" r:id="R4aa9cd907ebe4218"/>
    <p:sldId xmlns:r="http://schemas.openxmlformats.org/officeDocument/2006/relationships" id="283" r:id="R77255cf3613047bb"/>
    <p:sldId xmlns:r="http://schemas.openxmlformats.org/officeDocument/2006/relationships" id="284" r:id="Rfb5b3282f0674f0f"/>
    <p:sldId xmlns:r="http://schemas.openxmlformats.org/officeDocument/2006/relationships" id="285" r:id="R29458ab549744011"/>
    <p:sldId xmlns:r="http://schemas.openxmlformats.org/officeDocument/2006/relationships" id="286" r:id="Rcfd619df1a3648e6"/>
    <p:sldId xmlns:r="http://schemas.openxmlformats.org/officeDocument/2006/relationships" id="287" r:id="Rb9d4ba3ed8254b90"/>
    <p:sldId xmlns:r="http://schemas.openxmlformats.org/officeDocument/2006/relationships" id="288" r:id="Raf22c721b8684b37"/>
    <p:sldId xmlns:r="http://schemas.openxmlformats.org/officeDocument/2006/relationships" id="289" r:id="R316b3f0382824713"/>
    <p:sldId xmlns:r="http://schemas.openxmlformats.org/officeDocument/2006/relationships" id="290" r:id="Rf2d1fd9ba3184371"/>
    <p:sldId xmlns:r="http://schemas.openxmlformats.org/officeDocument/2006/relationships" id="291" r:id="R38664e42243a4ef6"/>
    <p:sldId xmlns:r="http://schemas.openxmlformats.org/officeDocument/2006/relationships" id="292" r:id="Rd40f81c4a03349b8"/>
    <p:sldId xmlns:r="http://schemas.openxmlformats.org/officeDocument/2006/relationships" id="293" r:id="R82393763fb8d4acd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603f98d6a6444e" /><Relationship Type="http://schemas.openxmlformats.org/officeDocument/2006/relationships/slideMaster" Target="/ppt/slideMasters/slideMaster1.xml" Id="R2afe377c267b43ba" /><Relationship Type="http://schemas.openxmlformats.org/officeDocument/2006/relationships/notesMaster" Target="/ppt/notesMasters/notesMaster1.xml" Id="Rac90e7e37e844cfc" /><Relationship Type="http://schemas.openxmlformats.org/officeDocument/2006/relationships/presProps" Target="/ppt/presProps.xml" Id="Rc7569cfcdf0f4baf" /><Relationship Type="http://schemas.openxmlformats.org/officeDocument/2006/relationships/tableStyles" Target="/ppt/tableStyles.xml" Id="R1f1963cbad8e4b87" /><Relationship Type="http://schemas.openxmlformats.org/officeDocument/2006/relationships/slide" Target="/ppt/slides/slide1.xml" Id="Rba1a3f8894974b74" /><Relationship Type="http://schemas.openxmlformats.org/officeDocument/2006/relationships/slide" Target="/ppt/slides/slide2.xml" Id="Rc691a1c6b728482a" /><Relationship Type="http://schemas.openxmlformats.org/officeDocument/2006/relationships/slide" Target="/ppt/slides/slide3.xml" Id="Rcb67e69e7cff406c" /><Relationship Type="http://schemas.openxmlformats.org/officeDocument/2006/relationships/slide" Target="/ppt/slides/slide4.xml" Id="R08f52c62ab414635" /><Relationship Type="http://schemas.openxmlformats.org/officeDocument/2006/relationships/slide" Target="/ppt/slides/slide5.xml" Id="R88046849281f4e48" /><Relationship Type="http://schemas.openxmlformats.org/officeDocument/2006/relationships/slide" Target="/ppt/slides/slide6.xml" Id="Reae9aaf081154839" /><Relationship Type="http://schemas.openxmlformats.org/officeDocument/2006/relationships/slide" Target="/ppt/slides/slide7.xml" Id="R41cb3b2871f5476f" /><Relationship Type="http://schemas.openxmlformats.org/officeDocument/2006/relationships/slide" Target="/ppt/slides/slide8.xml" Id="Rb1b25732de9c4dbb" /><Relationship Type="http://schemas.openxmlformats.org/officeDocument/2006/relationships/slide" Target="/ppt/slides/slide9.xml" Id="R72f6fc34ba2f4589" /><Relationship Type="http://schemas.openxmlformats.org/officeDocument/2006/relationships/slide" Target="/ppt/slides/slide10.xml" Id="Rc0849e6484784f50" /><Relationship Type="http://schemas.openxmlformats.org/officeDocument/2006/relationships/slide" Target="/ppt/slides/slide11.xml" Id="Rcfd27a976ee741a9" /><Relationship Type="http://schemas.openxmlformats.org/officeDocument/2006/relationships/slide" Target="/ppt/slides/slide12.xml" Id="R48d07e6a64bb4a35" /><Relationship Type="http://schemas.openxmlformats.org/officeDocument/2006/relationships/slide" Target="/ppt/slides/slide13.xml" Id="Ra1ad05aa74124c47" /><Relationship Type="http://schemas.openxmlformats.org/officeDocument/2006/relationships/slide" Target="/ppt/slides/slide14.xml" Id="R324e730184a2464b" /><Relationship Type="http://schemas.openxmlformats.org/officeDocument/2006/relationships/slide" Target="/ppt/slides/slide15.xml" Id="R59ea9de2699e40ed" /><Relationship Type="http://schemas.openxmlformats.org/officeDocument/2006/relationships/slide" Target="/ppt/slides/slide16.xml" Id="R1ffb9bc7e6114a6e" /><Relationship Type="http://schemas.openxmlformats.org/officeDocument/2006/relationships/slide" Target="/ppt/slides/slide17.xml" Id="R6fb381c2bddb44c2" /><Relationship Type="http://schemas.openxmlformats.org/officeDocument/2006/relationships/slide" Target="/ppt/slides/slide18.xml" Id="R7c37b633fa3041c2" /><Relationship Type="http://schemas.openxmlformats.org/officeDocument/2006/relationships/slide" Target="/ppt/slides/slide19.xml" Id="R3e25f30e82404127" /><Relationship Type="http://schemas.openxmlformats.org/officeDocument/2006/relationships/slide" Target="/ppt/slides/slide20.xml" Id="Rc8f3364a09054ab2" /><Relationship Type="http://schemas.openxmlformats.org/officeDocument/2006/relationships/slide" Target="/ppt/slides/slide21.xml" Id="Raf00ab0a4f2b4405" /><Relationship Type="http://schemas.openxmlformats.org/officeDocument/2006/relationships/slide" Target="/ppt/slides/slide22.xml" Id="Rb46a540eb93a4369" /><Relationship Type="http://schemas.openxmlformats.org/officeDocument/2006/relationships/slide" Target="/ppt/slides/slide23.xml" Id="Rcc1afb4a39d74132" /><Relationship Type="http://schemas.openxmlformats.org/officeDocument/2006/relationships/slide" Target="/ppt/slides/slide24.xml" Id="Rc3507f35e11a42da" /><Relationship Type="http://schemas.openxmlformats.org/officeDocument/2006/relationships/slide" Target="/ppt/slides/slide25.xml" Id="R9e699cdbb6ad4005" /><Relationship Type="http://schemas.openxmlformats.org/officeDocument/2006/relationships/slide" Target="/ppt/slides/slide26.xml" Id="Rf1e2610521b348ef" /><Relationship Type="http://schemas.openxmlformats.org/officeDocument/2006/relationships/slide" Target="/ppt/slides/slide27.xml" Id="R4aa9cd907ebe4218" /><Relationship Type="http://schemas.openxmlformats.org/officeDocument/2006/relationships/slide" Target="/ppt/slides/slide28.xml" Id="R77255cf3613047bb" /><Relationship Type="http://schemas.openxmlformats.org/officeDocument/2006/relationships/slide" Target="/ppt/slides/slide29.xml" Id="Rfb5b3282f0674f0f" /><Relationship Type="http://schemas.openxmlformats.org/officeDocument/2006/relationships/slide" Target="/ppt/slides/slide30.xml" Id="R29458ab549744011" /><Relationship Type="http://schemas.openxmlformats.org/officeDocument/2006/relationships/slide" Target="/ppt/slides/slide31.xml" Id="Rcfd619df1a3648e6" /><Relationship Type="http://schemas.openxmlformats.org/officeDocument/2006/relationships/slide" Target="/ppt/slides/slide32.xml" Id="Rb9d4ba3ed8254b90" /><Relationship Type="http://schemas.openxmlformats.org/officeDocument/2006/relationships/slide" Target="/ppt/slides/slide33.xml" Id="Raf22c721b8684b37" /><Relationship Type="http://schemas.openxmlformats.org/officeDocument/2006/relationships/slide" Target="/ppt/slides/slide34.xml" Id="R316b3f0382824713" /><Relationship Type="http://schemas.openxmlformats.org/officeDocument/2006/relationships/slide" Target="/ppt/slides/slide35.xml" Id="Rf2d1fd9ba3184371" /><Relationship Type="http://schemas.openxmlformats.org/officeDocument/2006/relationships/slide" Target="/ppt/slides/slide36.xml" Id="R38664e42243a4ef6" /><Relationship Type="http://schemas.openxmlformats.org/officeDocument/2006/relationships/slide" Target="/ppt/slides/slide37.xml" Id="Rd40f81c4a03349b8" /><Relationship Type="http://schemas.openxmlformats.org/officeDocument/2006/relationships/slide" Target="/ppt/slides/slide38.xml" Id="R82393763fb8d4a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353d70233b4e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abeb5beece4feb" /><Relationship Type="http://schemas.openxmlformats.org/officeDocument/2006/relationships/notesMaster" Target="/ppt/notesMasters/notesMaster1.xml" Id="Ra3bc584eabe24c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2b9efaf3d744cf" /><Relationship Type="http://schemas.openxmlformats.org/officeDocument/2006/relationships/notesMaster" Target="/ppt/notesMasters/notesMaster1.xml" Id="Rbe37df897d8c44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5965182bb94eed" /><Relationship Type="http://schemas.openxmlformats.org/officeDocument/2006/relationships/notesMaster" Target="/ppt/notesMasters/notesMaster1.xml" Id="Rfaa68288abcc41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66dc21d745472a" /><Relationship Type="http://schemas.openxmlformats.org/officeDocument/2006/relationships/notesMaster" Target="/ppt/notesMasters/notesMaster1.xml" Id="R1ac3b6bec9054c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e3b7acb69f41ce" /><Relationship Type="http://schemas.openxmlformats.org/officeDocument/2006/relationships/notesMaster" Target="/ppt/notesMasters/notesMaster1.xml" Id="R9bc2c8da350047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67ada40f7c4a8b" /><Relationship Type="http://schemas.openxmlformats.org/officeDocument/2006/relationships/notesMaster" Target="/ppt/notesMasters/notesMaster1.xml" Id="Ra720ea2b61e64d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ac9d88c11942df" /><Relationship Type="http://schemas.openxmlformats.org/officeDocument/2006/relationships/notesMaster" Target="/ppt/notesMasters/notesMaster1.xml" Id="R3f2cabe1e69c42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bf5d3295e34dae" /><Relationship Type="http://schemas.openxmlformats.org/officeDocument/2006/relationships/notesMaster" Target="/ppt/notesMasters/notesMaster1.xml" Id="Rb4447dc84c094f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a8f79ede834398" /><Relationship Type="http://schemas.openxmlformats.org/officeDocument/2006/relationships/notesMaster" Target="/ppt/notesMasters/notesMaster1.xml" Id="R53226a21af3847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bcda152f0e4302" /><Relationship Type="http://schemas.openxmlformats.org/officeDocument/2006/relationships/notesMaster" Target="/ppt/notesMasters/notesMaster1.xml" Id="Rc5bb8a78a9684c1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67f5d08fcb48eb" /><Relationship Type="http://schemas.openxmlformats.org/officeDocument/2006/relationships/notesMaster" Target="/ppt/notesMasters/notesMaster1.xml" Id="R8f326d87f34948d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ae8b03c275541c5" /><Relationship Type="http://schemas.openxmlformats.org/officeDocument/2006/relationships/notesMaster" Target="/ppt/notesMasters/notesMaster1.xml" Id="Rf152366d011f418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e8d764495944f48" /><Relationship Type="http://schemas.openxmlformats.org/officeDocument/2006/relationships/notesMaster" Target="/ppt/notesMasters/notesMaster1.xml" Id="R105c31f359ab447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a741e6e6bcf454f" /><Relationship Type="http://schemas.openxmlformats.org/officeDocument/2006/relationships/notesMaster" Target="/ppt/notesMasters/notesMaster1.xml" Id="Rc4afb0bfb9eb466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aec30c1622547c4" /><Relationship Type="http://schemas.openxmlformats.org/officeDocument/2006/relationships/notesMaster" Target="/ppt/notesMasters/notesMaster1.xml" Id="R5e5aad8f11254df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5df3fda4a1b438e" /><Relationship Type="http://schemas.openxmlformats.org/officeDocument/2006/relationships/notesMaster" Target="/ppt/notesMasters/notesMaster1.xml" Id="R7fad8b600ee644c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2989e680cf04a65" /><Relationship Type="http://schemas.openxmlformats.org/officeDocument/2006/relationships/notesMaster" Target="/ppt/notesMasters/notesMaster1.xml" Id="Rf604b2d8436f4e3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ec59482139647eb" /><Relationship Type="http://schemas.openxmlformats.org/officeDocument/2006/relationships/notesMaster" Target="/ppt/notesMasters/notesMaster1.xml" Id="R731f6e97b1254d7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0dd8abb48ad4029" /><Relationship Type="http://schemas.openxmlformats.org/officeDocument/2006/relationships/notesMaster" Target="/ppt/notesMasters/notesMaster1.xml" Id="R4da7b2aaf486475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c1821936f864140" /><Relationship Type="http://schemas.openxmlformats.org/officeDocument/2006/relationships/notesMaster" Target="/ppt/notesMasters/notesMaster1.xml" Id="R2fb90cc2ee76485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28f133378fd48d5" /><Relationship Type="http://schemas.openxmlformats.org/officeDocument/2006/relationships/notesMaster" Target="/ppt/notesMasters/notesMaster1.xml" Id="R5df42c35a28c4a9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e79f1977aa54b87" /><Relationship Type="http://schemas.openxmlformats.org/officeDocument/2006/relationships/notesMaster" Target="/ppt/notesMasters/notesMaster1.xml" Id="R888d19305e154a2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916ca02e0574b29" /><Relationship Type="http://schemas.openxmlformats.org/officeDocument/2006/relationships/notesMaster" Target="/ppt/notesMasters/notesMaster1.xml" Id="R1a423c43b7b8470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556e2eda670453c" /><Relationship Type="http://schemas.openxmlformats.org/officeDocument/2006/relationships/notesMaster" Target="/ppt/notesMasters/notesMaster1.xml" Id="Ra14a6914c5684fb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d71a853609c4c59" /><Relationship Type="http://schemas.openxmlformats.org/officeDocument/2006/relationships/notesMaster" Target="/ppt/notesMasters/notesMaster1.xml" Id="Rdf601592ba5d4c6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53908e5213b4f3d" /><Relationship Type="http://schemas.openxmlformats.org/officeDocument/2006/relationships/notesMaster" Target="/ppt/notesMasters/notesMaster1.xml" Id="R829faa14971d439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42a8ee203b64024" /><Relationship Type="http://schemas.openxmlformats.org/officeDocument/2006/relationships/notesMaster" Target="/ppt/notesMasters/notesMaster1.xml" Id="Re751050cf3434c3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ba39446adf3468f" /><Relationship Type="http://schemas.openxmlformats.org/officeDocument/2006/relationships/notesMaster" Target="/ppt/notesMasters/notesMaster1.xml" Id="R3d764e0a1d8a446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cb676cf04724130" /><Relationship Type="http://schemas.openxmlformats.org/officeDocument/2006/relationships/notesMaster" Target="/ppt/notesMasters/notesMaster1.xml" Id="R0cd52012d18043c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817ad734a1e4f94" /><Relationship Type="http://schemas.openxmlformats.org/officeDocument/2006/relationships/notesMaster" Target="/ppt/notesMasters/notesMaster1.xml" Id="R2946916dcc37431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57c49af378648ab" /><Relationship Type="http://schemas.openxmlformats.org/officeDocument/2006/relationships/notesMaster" Target="/ppt/notesMasters/notesMaster1.xml" Id="R56de7913db0b4fd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c574a441b204d71" /><Relationship Type="http://schemas.openxmlformats.org/officeDocument/2006/relationships/notesMaster" Target="/ppt/notesMasters/notesMaster1.xml" Id="Rba7dd178f1df47b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7b918eacb634f5b" /><Relationship Type="http://schemas.openxmlformats.org/officeDocument/2006/relationships/notesMaster" Target="/ppt/notesMasters/notesMaster1.xml" Id="Rf6fa0580fa3a4de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010979de0b34df2" /><Relationship Type="http://schemas.openxmlformats.org/officeDocument/2006/relationships/notesMaster" Target="/ppt/notesMasters/notesMaster1.xml" Id="R6bd1d60104ba473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a40489a0b034845" /><Relationship Type="http://schemas.openxmlformats.org/officeDocument/2006/relationships/notesMaster" Target="/ppt/notesMasters/notesMaster1.xml" Id="Ra88a2245a43d4b1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4bc746344b0428e" /><Relationship Type="http://schemas.openxmlformats.org/officeDocument/2006/relationships/notesMaster" Target="/ppt/notesMasters/notesMaster1.xml" Id="R8a4e3a78104842e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e0e346509d54b94" /><Relationship Type="http://schemas.openxmlformats.org/officeDocument/2006/relationships/notesMaster" Target="/ppt/notesMasters/notesMaster1.xml" Id="R8f5ed8c9ab46405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abd0a0b9a51403b" /><Relationship Type="http://schemas.openxmlformats.org/officeDocument/2006/relationships/notesMaster" Target="/ppt/notesMasters/notesMaster1.xml" Id="Ra25a802492a847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EAGLE 在對戰之前以演化與選配的 LLM 工作改良候選策略。對戰當中執行的是完整 Java agent，沒有即時 LLM 決策。本簡報以目前程式為準，涵蓋所有啟用中的模式。各機制分頁說明，實驗設定範例不等於全域預設。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docs/eagle_architecture_spec.md:9-47</a:t>
            </a:r>
          </a:p>
          <a:p xmlns:a="http://schemas.openxmlformats.org/drawingml/2006/main">
            <a:r>
              <a:t>docs/architecture/overview.md:1-35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>策略、Java 與對戰證據的演化迴圈</a:t>
            </a:r>
          </a:p>
          <a:p xmlns:a="http://schemas.openxmlformats.org/drawingml/2006/main">
            <a:r>
              <a:t>離線演化 MicroRTS Java agent</a:t>
            </a:r>
          </a:p>
          <a:p xmlns:a="http://schemas.openxmlformats.org/drawingml/2006/main">
            <a:r>
              <a:t>三種 Java 產生模式與兩種評估模式</a:t>
            </a:r>
          </a:p>
          <a:p xmlns:a="http://schemas.openxmlformats.org/drawingml/2006/main">
            <a:r>
              <a:t>來源截點 2026-10-21　版本 fcc8b770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設定解析後先準備模型端點；framework 模式會在搜尋前建立並凍結 bundle。第 0 代完成評估後才有可供繁殖的族群。每個演化世代先確保父代分數與評估情境有效，再產生與評估固定數量子代，選出下一代並原子保存。未達停止條件就回到下一代，停止後由 experiment orchestrator 執行正式最終測試。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docs/eagle_architecture_spec.md:80-160</a:t>
            </a:r>
          </a:p>
          <a:p xmlns:a="http://schemas.openxmlformats.org/drawingml/2006/main">
            <a:r>
              <a:t>eagle/evolution/search.py:119-270</a:t>
            </a:r>
          </a:p>
          <a:p xmlns:a="http://schemas.openxmlformats.org/drawingml/2006/main">
            <a:r>
              <a:t>eagle/experiment.py:355-423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>初始化一次，之後重複世代迴圈</a:t>
            </a:r>
          </a:p>
          <a:p xmlns:a="http://schemas.openxmlformats.org/drawingml/2006/main">
            <a:r>
              <a:t>GPT 產生Java framework</a:t>
            </a:r>
          </a:p>
          <a:p xmlns:a="http://schemas.openxmlformats.org/drawingml/2006/main">
            <a:r>
              <a:t>初始化第 0 代</a:t>
            </a:r>
          </a:p>
          <a:p xmlns:a="http://schemas.openxmlformats.org/drawingml/2006/main">
            <a:r>
              <a:t>產生 Java 與初始評估</a:t>
            </a:r>
          </a:p>
          <a:p xmlns:a="http://schemas.openxmlformats.org/drawingml/2006/main">
            <a:r>
              <a:t>刷新情境、選父代與變異</a:t>
            </a:r>
          </a:p>
          <a:p xmlns:a="http://schemas.openxmlformats.org/drawingml/2006/main">
            <a:r>
              <a:t>子代評估、選倖存者</a:t>
            </a:r>
          </a:p>
          <a:p xmlns:a="http://schemas.openxmlformats.org/drawingml/2006/main">
            <a:r>
              <a:t>達到停止條件？</a:t>
            </a:r>
          </a:p>
          <a:p xmlns:a="http://schemas.openxmlformats.org/drawingml/2006/main">
            <a:r>
              <a:t>Final Test</a:t>
            </a:r>
          </a:p>
          <a:p xmlns:a="http://schemas.openxmlformats.org/drawingml/2006/main">
            <a:r>
              <a:t>否：下一代</a:t>
            </a:r>
          </a:p>
          <a:p xmlns:a="http://schemas.openxmlformats.org/drawingml/2006/main">
            <a:r>
              <a:t>是</a:t>
            </a:r>
          </a:p>
          <a:p xmlns:a="http://schemas.openxmlformats.org/drawingml/2006/main">
            <a:r>
              <a:t>暫時人工由 ChatGPT 生成一個固定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策略的 actor、when、action 都使用閉合的 MicroRTS 詞彙與可觀察狀態，允許合法策略多樣性。DSL 是基因資料，不是對戰時呼叫 LLM 的文字指令。deterministic_dsl 會經 typed IR 編譯；llm 則要求 Generator 實作同一份 DSL。合法動作守衛與 fallthrough 規則屬於共用語意。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docs/eagle_architecture_spec.md:49-78</a:t>
            </a:r>
          </a:p>
          <a:p xmlns:a="http://schemas.openxmlformats.org/drawingml/2006/main">
            <a:r>
              <a:t>eagle/strategy_dsl.py:1-120</a:t>
            </a:r>
          </a:p>
          <a:p xmlns:a="http://schemas.openxmlformats.org/drawingml/2006/main">
            <a:r>
              <a:t>docs/architecture/overview.md:112-127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>version 固定為 eagle-strategy-dsl-v1，規則依序包含 actor、when、action</a:t>
            </a:r>
          </a:p>
          <a:p xmlns:a="http://schemas.openxmlformats.org/drawingml/2006/main">
            <a:r>
              <a:t>先匹配單位與條件，再檢查內建合法動作限制；無法發出動作時繼續後續規則</a:t>
            </a:r>
          </a:p>
          <a:p xmlns:a="http://schemas.openxmlformats.org/drawingml/2006/main">
            <a:r>
              <a:t>策略離線轉成 Java；對戰時直接執行 Java，空 rules 代表 idle</a:t>
            </a:r>
          </a:p>
          <a:p xmlns:a="http://schemas.openxmlformats.org/drawingml/2006/main">
            <a:r>
              <a:t>LLM 產生的新策略必須通過詞彙與結構驗證，歷史自然語言策略僅供讀取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有外部 bundle_path 時直接驗證該檔並凍結 run-owned copy，不再呼叫 bootstrap。沒有時依 backend 建立，預設 Groq，亦支援 Mistral 與 local。原始回應在解析前保存，失敗有界重試。每個 replicate 預設各自 bootstrap；要共用架構必須明確指定同一個 bundle。搜尋期間 Java 模板、槽位 domain 與表達式不變，resume 也不重新設計。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docs/architecture/framework_slots.md:24-75</a:t>
            </a:r>
          </a:p>
          <a:p xmlns:a="http://schemas.openxmlformats.org/drawingml/2006/main">
            <a:r>
              <a:t>docs/architecture/framework_slots.md:113-157</a:t>
            </a:r>
          </a:p>
          <a:p xmlns:a="http://schemas.openxmlformats.org/drawingml/2006/main">
            <a:r>
              <a:t>docs/eagle_architecture_spec.md:747-820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>未指定 bundle_path</a:t>
            </a:r>
          </a:p>
          <a:p xmlns:a="http://schemas.openxmlformats.org/drawingml/2006/main">
            <a:r>
              <a:t>design_brief</a:t>
            </a:r>
          </a:p>
          <a:p xmlns:a="http://schemas.openxmlformats.org/drawingml/2006/main">
            <a:r>
              <a:t>Groq / Mistral / local</a:t>
            </a:r>
          </a:p>
          <a:p xmlns:a="http://schemas.openxmlformats.org/drawingml/2006/main">
            <a:r>
              <a:t>有界 bootstrap</a:t>
            </a:r>
          </a:p>
          <a:p xmlns:a="http://schemas.openxmlformats.org/drawingml/2006/main">
            <a:r>
              <a:t>完整 schema 與 Java 檢查</a:t>
            </a:r>
          </a:p>
          <a:p xmlns:a="http://schemas.openxmlformats.org/drawingml/2006/main">
            <a:r>
              <a:t>已有 bundle_path</a:t>
            </a:r>
          </a:p>
          <a:p xmlns:a="http://schemas.openxmlformats.org/drawingml/2006/main">
            <a:r>
              <a:t>讀取外部 bundle</a:t>
            </a:r>
          </a:p>
          <a:p xmlns:a="http://schemas.openxmlformats.org/drawingml/2006/main">
            <a:r>
              <a:t>完整 schema 與 Java 檢查</a:t>
            </a:r>
          </a:p>
          <a:p xmlns:a="http://schemas.openxmlformats.org/drawingml/2006/main">
            <a:r>
              <a:t>凍結 exact bytes 與 hash</a:t>
            </a:r>
          </a:p>
          <a:p xmlns:a="http://schemas.openxmlformats.org/drawingml/2006/main">
            <a:r>
              <a:t>開始 genome 演化</a:t>
            </a:r>
          </a:p>
          <a:p xmlns:a="http://schemas.openxmlformats.org/drawingml/2006/main">
            <a:r>
              <a:t>Bootstrap 屬於搜尋啟動階段；EA 只改 control_genome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slot 是固定 Java 模板中的可替換位置。bundle 先定義每個 slot 的型別、合法值與表達式選單；候選只保存值或 choice_id。範例中 worker_target 從 2 到 8 的整數選 6，attack_weight 從 0、0.25、0.5、0.75、1 選 0.75，target_policy 選 lowest_hp。attack_weight、target_policy 與其選單為型別教學示例，不代表目前 bundle 的實際欄位。number 同樣是有限離散選單，0.6 在此例不合法。expression_choice 保存最低血量選項的 ID，由 bundle 中預先定義的 Java 表達式取代模板 marker，不生成新表達式。完整 genome 必須包含該 bundle 的全部 slot，不能只交這三項。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程式來源：eagle/generation/framework_slots.py:304-340、445-470。worker_target 實例來源：configs/framework_bundles/fixed_worker_combat/bundle.json。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初始設計提示要求至少 24 個非恆定槽位，含至少 6 個 expression_choice 且各有至少 4 個選項，覆蓋經濟、生產、目標、戰鬥、條件與優先順序。這是設計目標，不能保證行為多樣性。候選人只保存槽值或 choice_id，不能生成新的 Java 表達式。相同 bundle、genome 與 materializer 應產生相同 Java bytes。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docs/architecture/framework_slots.md:24-75</a:t>
            </a:r>
          </a:p>
          <a:p xmlns:a="http://schemas.openxmlformats.org/drawingml/2006/main">
            <a:r>
              <a:t>eagle/generation/framework_slots.py:189-340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槽位類型 / 合法值 / 演化時保存的內容</a:t>
            </a:r>
          </a:p>
          <a:p xmlns:a="http://schemas.openxmlformats.org/drawingml/2006/main">
            <a:r>
              <a:t>integer / minimum 到 maximum 的 step 格點 / 一個合法整數</a:t>
            </a:r>
          </a:p>
          <a:p xmlns:a="http://schemas.openxmlformats.org/drawingml/2006/main">
            <a:r>
              <a:t>number / minimum 到 maximum 的有限格點 / 一個合法數值</a:t>
            </a:r>
          </a:p>
          <a:p xmlns:a="http://schemas.openxmlformats.org/drawingml/2006/main">
            <a:r>
              <a:t>expression_choice / bundle 事先宣告的 choices / choice_id；Java expression 保持凍結</a:t>
            </a:r>
          </a:p>
          <a:p xmlns:a="http://schemas.openxmlformats.org/drawingml/2006/main">
            <a:r>
              <a:t>完整 genome / 每個 slot_id 恰好一次 / 拒絕缺項、未知 key 與越界值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兩種政策共享相同凍結 bundle、hash、renderer、下游評估與倖存者規則。llm_coach 回應必須恰好包含 schema_version、framework_bundle_sha256 與完整 control_genome。突變失敗不隨機改寫、不部分套用；初始選擇失敗保留採樣 genome 並在初始化階段標記該候選失敗。兩種模式都不進行 Prompt Reflection、Code gate、Java Generation 或 compile repair。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docs/architecture/framework_slots.md:13-75</a:t>
            </a:r>
          </a:p>
          <a:p xmlns:a="http://schemas.openxmlformats.org/drawingml/2006/main">
            <a:r>
              <a:t>eagle/operators/strategy.py:448-865</a:t>
            </a:r>
          </a:p>
          <a:p xmlns:a="http://schemas.openxmlformats.org/drawingml/2006/main">
            <a:r>
              <a:t>eagle/operators/framework_slots.py:1-200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階段 / local / llm_coach</a:t>
            </a:r>
          </a:p>
          <a:p xmlns:a="http://schemas.openxmlformats.org/drawingml/2006/main">
            <a:r>
              <a:t>初始族群 / seeded 有限域採樣 / LLM 每位選完整合法 genome</a:t>
            </a:r>
          </a:p>
          <a:p xmlns:a="http://schemas.openxmlformats.org/drawingml/2006/main">
            <a:r>
              <a:t>交配 / 逐槽獨立 uniform crossover / 同樣逐槽交配並記錄 donor</a:t>
            </a:r>
          </a:p>
          <a:p xmlns:a="http://schemas.openxmlformats.org/drawingml/2006/main">
            <a:r>
              <a:t>策略突變 / 至多一個槽位改成另一合法值 / 最差單場賽評＋Coach</a:t>
            </a:r>
          </a:p>
          <a:p xmlns:a="http://schemas.openxmlformats.org/drawingml/2006/main">
            <a:r>
              <a:t>回傳完整 genome</a:t>
            </a:r>
          </a:p>
          <a:p xmlns:a="http://schemas.openxmlformats.org/drawingml/2006/main">
            <a:r>
              <a:t>Java 與失敗 / 本地渲染，沒有 LLM 修復 / 本地渲染；非法 Coach 回應</a:t>
            </a:r>
          </a:p>
          <a:p xmlns:a="http://schemas.openxmlformats.org/drawingml/2006/main">
            <a:r>
              <a:t>保留原 genome 並標記失敗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LLM 模式在變異前還有每個來源獨立 Code gate，DSL 與 framework 略過此 gate。一般 generation 產生 population_size 個子代。AOS 僅在設定的 adaptive 模式下於子代評估後收 reward。self-play pool 於選擇之後更新，使用所有已評估子代而非只有倖存者。最後原子保存 generation，再更新 manifest。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eagle/evolution/generation.py:62-285</a:t>
            </a:r>
          </a:p>
          <a:p xmlns:a="http://schemas.openxmlformats.org/drawingml/2006/main">
            <a:r>
              <a:t>docs/eagle_architecture_spec.md:99-160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>必要時刷新 self-play 情境</a:t>
            </a:r>
          </a:p>
          <a:p xmlns:a="http://schemas.openxmlformats.org/drawingml/2006/main">
            <a:r>
              <a:t>先重評父代</a:t>
            </a:r>
          </a:p>
          <a:p xmlns:a="http://schemas.openxmlformats.org/drawingml/2006/main">
            <a:r>
              <a:t>依評估模式選父代</a:t>
            </a:r>
          </a:p>
          <a:p xmlns:a="http://schemas.openxmlformats.org/drawingml/2006/main">
            <a:r>
              <a:t>依 Java 模式交配與突變</a:t>
            </a:r>
          </a:p>
          <a:p xmlns:a="http://schemas.openxmlformats.org/drawingml/2006/main">
            <a:r>
              <a:t>每個子代產生 Java 並評估</a:t>
            </a:r>
          </a:p>
          <a:p xmlns:a="http://schemas.openxmlformats.org/drawingml/2006/main">
            <a:r>
              <a:t>父代＋子代選下一代</a:t>
            </a:r>
          </a:p>
          <a:p xmlns:a="http://schemas.openxmlformats.org/drawingml/2006/main">
            <a:r>
              <a:t>更新 pool 與 checkpoint</a:t>
            </a:r>
          </a:p>
          <a:p xmlns:a="http://schemas.openxmlformats.org/drawingml/2006/main">
            <a:r>
              <a:t>人口為 10 的例子：10 位父代＋10 位子代，選出 10 位下一代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繁殖父代用來提供下一批子代的基因。這個抽樣既不是從 opponent pool 挑對手，也不是世代結束時的倖存者選擇。Self-play 的語意距離只在適應度容忍範圍內破同分，不能讓明顯低分候選因新穎而越級。第二父代缺少相容完整行為簽章時保留 seeded fallback。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eagle/operators/selection.py:23-68</a:t>
            </a:r>
          </a:p>
          <a:p xmlns:a="http://schemas.openxmlformats.org/drawingml/2006/main">
            <a:r>
              <a:t>eagle/evolution/offspring.py:101-123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模式 / 第一父代 / 第二父代與限制</a:t>
            </a:r>
          </a:p>
          <a:p xmlns:a="http://schemas.openxmlformats.org/drawingml/2006/main">
            <a:r>
              <a:t>Fixed roster / 隨機排列十個案例</a:t>
            </a:r>
          </a:p>
          <a:p xmlns:a="http://schemas.openxmlformats.org/drawingml/2006/main">
            <a:r>
              <a:t>依序留下當案最高分者 / 獨立 seeded lexicase 抽樣</a:t>
            </a:r>
          </a:p>
          <a:p xmlns:a="http://schemas.openxmlformats.org/drawingml/2006/main">
            <a:r>
              <a:t>可與第一父代相同</a:t>
            </a:r>
          </a:p>
          <a:p xmlns:a="http://schemas.openxmlformats.org/drawingml/2006/main">
            <a:r>
              <a:t>Self-play / 距最高 Game Performance</a:t>
            </a:r>
          </a:p>
          <a:p xmlns:a="http://schemas.openxmlformats.org/drawingml/2006/main">
            <a:r>
              <a:t>不超過 1.0 的頂層中選取 / 同分層內可優先選與第一父代</a:t>
            </a:r>
          </a:p>
          <a:p xmlns:a="http://schemas.openxmlformats.org/drawingml/2006/main">
            <a:r>
              <a:t>行為距離較遠者</a:t>
            </a:r>
          </a:p>
          <a:p xmlns:a="http://schemas.openxmlformats.org/drawingml/2006/main">
            <a:r>
              <a:t>共同規則 / 使用當前已評估族群 / root seed 衍生獨立 RNG</a:t>
            </a:r>
          </a:p>
          <a:p xmlns:a="http://schemas.openxmlformats.org/drawingml/2006/main">
            <a:r>
              <a:t>父代選擇不讀 code_quality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教學示例只顯示兩個案例，正式固定名單使用十個。若本次案例順序是 X、Y，第一輪保留 A 與 B，第二輪選 B。若順序是 Y、X，第一輪直接選 C。因此某個特定對手的專長可以影響被選機會，不等同於依總分排序。每次重新抽父代或不放回抽倖存者時都產生自己的 seeded 案例順序。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eagle/operators/selection.py:23-40</a:t>
            </a:r>
          </a:p>
          <a:p xmlns:a="http://schemas.openxmlformats.org/drawingml/2006/main">
            <a:r>
              <a:t>eagle/opponent_cases.py:1-60</a:t>
            </a:r>
          </a:p>
          <a:p xmlns:a="http://schemas.openxmlformats.org/drawingml/2006/main">
            <a:r>
              <a:t>本頁數值／個體為說明演算法的教學示例，非實驗量測。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>教學示例，非實驗量測</a:t>
            </a:r>
          </a:p>
          <a:p xmlns:a="http://schemas.openxmlformats.org/drawingml/2006/main">
            <a:r>
              <a:t>順序 X、Y 選 B；順序 Y、X 選 C</a:t>
            </a:r>
          </a:p>
          <a:p xmlns:a="http://schemas.openxmlformats.org/drawingml/2006/main">
            <a:r>
              <a:t>候選策略 / 對手案例 X / 對手案例 Y</a:t>
            </a:r>
          </a:p>
          <a:p xmlns:a="http://schemas.openxmlformats.org/drawingml/2006/main">
            <a:r>
              <a:t>A / 90 / 20</a:t>
            </a:r>
          </a:p>
          <a:p xmlns:a="http://schemas.openxmlformats.org/drawingml/2006/main">
            <a:r>
              <a:t>B / 90 / 70</a:t>
            </a:r>
          </a:p>
          <a:p xmlns:a="http://schemas.openxmlformats.org/drawingml/2006/main">
            <a:r>
              <a:t>C / 80 / 95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直接父代列表與每個成分實際來源是不同資訊，均需保存。兩位父代可以提供不同成分，即使文字或值相同也不能省略來源。Framework 的 Coach 證據父代是 parent A，不會因某槽位從 donor B 繼承就改用 B 的比賽。crossover_rate 控制是否交配，未交配時沿用單一來源。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docs/eagle_architecture_spec.md:216-223</a:t>
            </a:r>
          </a:p>
          <a:p xmlns:a="http://schemas.openxmlformats.org/drawingml/2006/main">
            <a:r>
              <a:t>eagle/operators/crossover.py:1-170</a:t>
            </a:r>
          </a:p>
          <a:p xmlns:a="http://schemas.openxmlformats.org/drawingml/2006/main">
            <a:r>
              <a:t>eagle/operators/framework_slots.py:1-155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模式 / 交配單位 / 必須保留的來源</a:t>
            </a:r>
          </a:p>
          <a:p xmlns:a="http://schemas.openxmlformats.org/drawingml/2006/main">
            <a:r>
              <a:t>LLM phenotype / 策略與 generation prompt 各自選 A 或 B / strategy_parent_id</a:t>
            </a:r>
          </a:p>
          <a:p xmlns:a="http://schemas.openxmlformats.org/drawingml/2006/main">
            <a:r>
              <a:t>generation_prompt_parent_id</a:t>
            </a:r>
          </a:p>
          <a:p xmlns:a="http://schemas.openxmlformats.org/drawingml/2006/main">
            <a:r>
              <a:t>LLM inherited / 再獨立選完整 Java 成分 / 另保留 java_parent_id 與生成前 Java</a:t>
            </a:r>
          </a:p>
          <a:p xmlns:a="http://schemas.openxmlformats.org/drawingml/2006/main">
            <a:r>
              <a:t>Deterministic DSL / 整個 policy 的複製／交配 / 完整策略來源；不做 rule 級交配</a:t>
            </a:r>
          </a:p>
          <a:p xmlns:a="http://schemas.openxmlformats.org/drawingml/2006/main">
            <a:r>
              <a:t>Framework slots / 每個 slot 分別選 A 或 B / slot_parent_ids；Coach 另記 evidence parent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所有實際貢獻來源都必須健康才可進入正常交配與突變。Code v6 只檢查 strategy_fidelity 與 code_correctness；不因勝率、外觀或可簡化而要求修正。ambiguous_strategy 配合正確 Java 不需 revision。有缺陷就產生一位保留原基因的 corrective child，跳過交配與一般突變；診斷失敗也不能當健康通過。Code gate 沒有 AOS 操作機率。DSL 與 framework 模式不執行此 gate。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docs/eagle_architecture_spec.md:49-78</a:t>
            </a:r>
          </a:p>
          <a:p xmlns:a="http://schemas.openxmlformats.org/drawingml/2006/main">
            <a:r>
              <a:t>eagle/operators/code.py:29-180</a:t>
            </a:r>
          </a:p>
          <a:p xmlns:a="http://schemas.openxmlformats.org/drawingml/2006/main">
            <a:r>
              <a:t>eagle/evolution/offspring.py:125-280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>每個被選中的來源</a:t>
            </a:r>
          </a:p>
          <a:p xmlns:a="http://schemas.openxmlformats.org/drawingml/2006/main">
            <a:r>
              <a:t>自己的 policy＋自己的 Java</a:t>
            </a:r>
          </a:p>
          <a:p xmlns:a="http://schemas.openxmlformats.org/drawingml/2006/main">
            <a:r>
              <a:t>獨立 Code 診斷</a:t>
            </a:r>
          </a:p>
          <a:p xmlns:a="http://schemas.openxmlformats.org/drawingml/2006/main">
            <a:r>
              <a:t>健康</a:t>
            </a:r>
          </a:p>
          <a:p xmlns:a="http://schemas.openxmlformats.org/drawingml/2006/main">
            <a:r>
              <a:t>正常交配與 Strategy／Prompt</a:t>
            </a:r>
          </a:p>
          <a:p xmlns:a="http://schemas.openxmlformats.org/drawingml/2006/main">
            <a:r>
              <a:t>缺陷</a:t>
            </a:r>
          </a:p>
          <a:p xmlns:a="http://schemas.openxmlformats.org/drawingml/2006/main">
            <a:r>
              <a:t>單一父代 corrective child</a:t>
            </a:r>
          </a:p>
          <a:p xmlns:a="http://schemas.openxmlformats.org/drawingml/2006/main">
            <a:r>
              <a:t>診斷失敗</a:t>
            </a:r>
          </a:p>
          <a:p xmlns:a="http://schemas.openxmlformats.org/drawingml/2006/main">
            <a:r>
              <a:t>失敗子代與證據</a:t>
            </a:r>
          </a:p>
          <a:p xmlns:a="http://schemas.openxmlformats.org/drawingml/2006/main">
            <a:r>
              <a:t>依診斷修正原 Java</a:t>
            </a:r>
          </a:p>
          <a:p xmlns:a="http://schemas.openxmlformats.org/drawingml/2006/main">
            <a:r>
              <a:t>保留兩個 prompt 基因</a:t>
            </a:r>
          </a:p>
          <a:p xmlns:a="http://schemas.openxmlformats.org/drawingml/2006/main">
            <a:r>
              <a:t>修正 Java 的輸出直接進入 materialization，不再被普通 Generator 覆寫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最差場次只從記錄的策略來源父代中取，不能任意從 child、donor 或整個 run 換一場。Match Commentator 看一場詳細 trace；Coach 同時取得全場 global summary 與此一 diagnosis，以免只看局部比賽。LLM/DSL 模式改 policy，framework llm_coach 則改完整 genome。策略反思失敗保留既有資料並走失敗分支，沒有自動換賽事補救。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docs/eagle_architecture_spec.md:248-275</a:t>
            </a:r>
          </a:p>
          <a:p xmlns:a="http://schemas.openxmlformats.org/drawingml/2006/main">
            <a:r>
              <a:t>eagle/operators/strategy.py:202-447</a:t>
            </a:r>
          </a:p>
          <a:p xmlns:a="http://schemas.openxmlformats.org/drawingml/2006/main">
            <a:r>
              <a:t>eagle/operators/strategy.py:576-865</a:t>
            </a:r>
          </a:p>
          <a:p xmlns:a="http://schemas.openxmlformats.org/drawingml/2006/main">
            <a:r>
              <a:t>eagle/operators/strategy.py:1222-1308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>策略來源父代</a:t>
            </a:r>
          </a:p>
          <a:p xmlns:a="http://schemas.openxmlformats.org/drawingml/2006/main">
            <a:r>
              <a:t>或 framework evidence parent</a:t>
            </a:r>
          </a:p>
          <a:p xmlns:a="http://schemas.openxmlformats.org/drawingml/2006/main">
            <a:r>
              <a:t>該父代的一場</a:t>
            </a:r>
          </a:p>
          <a:p xmlns:a="http://schemas.openxmlformats.org/drawingml/2006/main">
            <a:r>
              <a:t>最差已完成對戰</a:t>
            </a:r>
          </a:p>
          <a:p xmlns:a="http://schemas.openxmlformats.org/drawingml/2006/main">
            <a:r>
              <a:t>Match Commentator</a:t>
            </a:r>
          </a:p>
          <a:p xmlns:a="http://schemas.openxmlformats.org/drawingml/2006/main">
            <a:r>
              <a:t>分析該場 trace</a:t>
            </a:r>
          </a:p>
          <a:p xmlns:a="http://schemas.openxmlformats.org/drawingml/2006/main">
            <a:r>
              <a:t>Coach：全場摘要</a:t>
            </a:r>
          </a:p>
          <a:p xmlns:a="http://schemas.openxmlformats.org/drawingml/2006/main">
            <a:r>
              <a:t>＋該一場診斷</a:t>
            </a:r>
          </a:p>
          <a:p xmlns:a="http://schemas.openxmlformats.org/drawingml/2006/main">
            <a:r>
              <a:t>驗證新 DSL</a:t>
            </a:r>
          </a:p>
          <a:p xmlns:a="http://schemas.openxmlformats.org/drawingml/2006/main">
            <a:r>
              <a:t>或完整 control_genome</a:t>
            </a:r>
          </a:p>
          <a:p xmlns:a="http://schemas.openxmlformats.org/drawingml/2006/main">
            <a:r>
              <a:t>離線產生 Java</a:t>
            </a:r>
          </a:p>
          <a:p xmlns:a="http://schemas.openxmlformats.org/drawingml/2006/main">
            <a:r>
              <a:t>再走正常評估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每場 performance 包含 shaping，因此同為敗場也能分辨較差表現。JSONL 是 field-targeted 完整規則紀錄，不能把零碎 condition/action 修成另一個沒有被模型完整提出的規則。舊的整份 JSON 回應仍採 all-or-nothing 驗證。framework Coach 使用另一份完整 genome schema，不能套用 DSL 的合法子集合邏輯。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docs/eagle_architecture_spec.md:248-275</a:t>
            </a:r>
          </a:p>
          <a:p xmlns:a="http://schemas.openxmlformats.org/drawingml/2006/main">
            <a:r>
              <a:t>eagle/operators/strategy.py:1222-1308</a:t>
            </a:r>
          </a:p>
          <a:p xmlns:a="http://schemas.openxmlformats.org/drawingml/2006/main">
            <a:r>
              <a:t>eagle/operators/strategy.py:1638-1710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>優先取最低有限 per-match performance；缺值時以敗 −100、和 0、勝 100 排序</a:t>
            </a:r>
          </a:p>
          <a:p xmlns:a="http://schemas.openxmlformats.org/drawingml/2006/main">
            <a:r>
              <a:t>平分用穩定 match_id 排序，排除失敗比賽；trace 不可用時不改選另一場</a:t>
            </a:r>
          </a:p>
          <a:p xmlns:a="http://schemas.openxmlformats.org/drawingml/2006/main">
            <a:r>
              <a:t>DSL Coach 以 JSONL 逐行輸出完整規則；保留合法規則的原順序</a:t>
            </a:r>
          </a:p>
          <a:p xmlns:a="http://schemas.openxmlformats.org/drawingml/2006/main">
            <a:r>
              <a:t>非法整行規則捨棄並記錄；至少一條合法規則才成功，不修補規則的子樹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Prompt Reflection 改良的是可重用的 policy-to-Java 翻譯規則。Reviewer 不接收勝敗、fitness、對手分數、比賽 trace 或其他 gameplay evidence。預設模式比較來源父代的 policy 與 Java；inherited 模式比較 child 選中的 policy 與 inherited Java。新 prompt 不直接修改策略基因，最後仍由 Generator 生成 Java。只在 llm materialization 啟用。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docs/eagle_architecture_spec.md:277-309</a:t>
            </a:r>
          </a:p>
          <a:p xmlns:a="http://schemas.openxmlformats.org/drawingml/2006/main">
            <a:r>
              <a:t>eagle/operators/prompt.py:268-525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>Policy＋可編輯 Java 區域</a:t>
            </a:r>
          </a:p>
          <a:p xmlns:a="http://schemas.openxmlformats.org/drawingml/2006/main">
            <a:r>
              <a:t>＋對應 compiler／validation</a:t>
            </a:r>
          </a:p>
          <a:p xmlns:a="http://schemas.openxmlformats.org/drawingml/2006/main">
            <a:r>
              <a:t>Prompt Reviewer</a:t>
            </a:r>
          </a:p>
          <a:p xmlns:a="http://schemas.openxmlformats.org/drawingml/2006/main">
            <a:r>
              <a:t>分析翻譯實作問題</a:t>
            </a:r>
          </a:p>
          <a:p xmlns:a="http://schemas.openxmlformats.org/drawingml/2006/main">
            <a:r>
              <a:t>Prompt Rewriter</a:t>
            </a:r>
          </a:p>
          <a:p xmlns:a="http://schemas.openxmlformats.org/drawingml/2006/main">
            <a:r>
              <a:t>產生 reusable-rule delta</a:t>
            </a:r>
          </a:p>
          <a:p xmlns:a="http://schemas.openxmlformats.org/drawingml/2006/main">
            <a:r>
              <a:t>僅更新 generation_prompt</a:t>
            </a:r>
          </a:p>
          <a:p xmlns:a="http://schemas.openxmlformats.org/drawingml/2006/main">
            <a:r>
              <a:t>普通 Java Generator</a:t>
            </a:r>
          </a:p>
          <a:p xmlns:a="http://schemas.openxmlformats.org/drawingml/2006/main">
            <a:r>
              <a:t>驗證與對戰評估</a:t>
            </a:r>
          </a:p>
          <a:p xmlns:a="http://schemas.openxmlformats.org/drawingml/2006/main">
            <a:r>
              <a:t>Strategy Reflection 改「策略」；Prompt Reflection 改「如何把策略翻成 Java」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LLM 回應必須先滿足完整檔案的 package、class、建構子、lifecycle 與單一 strategy-marker 區域等外框，再以固定 scaffold 加上抽出的策略區域建立 normalized Java。固定區域中的模型改動保留為證據，但不進表型。結構非法的回應不能靠 normalization 變成合法。確定性兩條路徑沒有 LLM fallback。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docs/eagle_architecture_spec.md:313-405</a:t>
            </a:r>
          </a:p>
          <a:p xmlns:a="http://schemas.openxmlformats.org/drawingml/2006/main">
            <a:r>
              <a:t>docs/eagle_architecture_spec.md:700-820</a:t>
            </a:r>
          </a:p>
          <a:p xmlns:a="http://schemas.openxmlformats.org/drawingml/2006/main">
            <a:r>
              <a:t>eagle/evaluation/decoding.py:1-130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路徑 / 輸入與處理 / 成功輸出與失敗政策</a:t>
            </a:r>
          </a:p>
          <a:p xmlns:a="http://schemas.openxmlformats.org/drawingml/2006/main">
            <a:r>
              <a:t>LLM / 策略＋generation prompt</a:t>
            </a:r>
          </a:p>
          <a:p xmlns:a="http://schemas.openxmlformats.org/drawingml/2006/main">
            <a:r>
              <a:t>＋選配 inherited Java / 完整 Java；允許有界 validation／compile 修復</a:t>
            </a:r>
          </a:p>
          <a:p xmlns:a="http://schemas.openxmlformats.org/drawingml/2006/main">
            <a:r>
              <a:t>Deterministic DSL / Canonical DSL 經 typed IR 編譯 / 完整 Java；編譯器或 javac 失敗即終止</a:t>
            </a:r>
          </a:p>
          <a:p xmlns:a="http://schemas.openxmlformats.org/drawingml/2006/main">
            <a:r>
              <a:t>Framework slots / 凍結 template＋完整 control_genome / 完整 Java；渲染失敗即終止</a:t>
            </a:r>
          </a:p>
          <a:p xmlns:a="http://schemas.openxmlformats.org/drawingml/2006/main">
            <a:r>
              <a:t>共同下游 / Validation、javac、Integration</a:t>
            </a:r>
          </a:p>
          <a:p xmlns:a="http://schemas.openxmlformats.org/drawingml/2006/main">
            <a:r>
              <a:t>MicroRTS；語意 probe 可選配 / Self-play 必須啟用 probe</a:t>
            </a:r>
          </a:p>
          <a:p xmlns:a="http://schemas.openxmlformats.org/drawingml/2006/main">
            <a:r>
              <a:t>成功的 source／classes 才可對戰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attempt 1 通常是普通生成，corrective child 則直接使用 Code Reflection 已回傳的完整 Java。完整 source 的驗證或編譯失敗可在 generation_max_attempts 內用專門 compile-repair prompt 修復。每次 request、raw response、抽取 source、normalized source 與 hash 都保存。第一個 validation＋compilation 成功即停止；Integration 或 runtime 失敗不回到 decoder。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docs/eagle_architecture_spec.md:350-405</a:t>
            </a:r>
          </a:p>
          <a:p xmlns:a="http://schemas.openxmlformats.org/drawingml/2006/main">
            <a:r>
              <a:t>eagle/evaluation/decoding.py:1-160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>權威基因與固定 scaffold</a:t>
            </a:r>
          </a:p>
          <a:p xmlns:a="http://schemas.openxmlformats.org/drawingml/2006/main">
            <a:r>
              <a:t>完整 Java 回應與抽取</a:t>
            </a:r>
          </a:p>
          <a:p xmlns:a="http://schemas.openxmlformats.org/drawingml/2006/main">
            <a:r>
              <a:t>外框檢查、normalize</a:t>
            </a:r>
          </a:p>
          <a:p xmlns:a="http://schemas.openxmlformats.org/drawingml/2006/main">
            <a:r>
              <a:t>Validation＋javac</a:t>
            </a:r>
          </a:p>
          <a:p xmlns:a="http://schemas.openxmlformats.org/drawingml/2006/main">
            <a:r>
              <a:t>前次完整 Java＋該次診斷</a:t>
            </a:r>
          </a:p>
          <a:p xmlns:a="http://schemas.openxmlformats.org/drawingml/2006/main">
            <a:r>
              <a:t>保持策略與基因不變</a:t>
            </a:r>
          </a:p>
          <a:p xmlns:a="http://schemas.openxmlformats.org/drawingml/2006/main">
            <a:r>
              <a:t>耗盡 attempts</a:t>
            </a:r>
          </a:p>
          <a:p xmlns:a="http://schemas.openxmlformats.org/drawingml/2006/main">
            <a:r>
              <a:t>標記最後失敗階段</a:t>
            </a:r>
          </a:p>
          <a:p xmlns:a="http://schemas.openxmlformats.org/drawingml/2006/main">
            <a:r>
              <a:t>第一份成功的 source／classes</a:t>
            </a:r>
          </a:p>
          <a:p xmlns:a="http://schemas.openxmlformats.org/drawingml/2006/main">
            <a:r>
              <a:t>提升為唯一 canonical 表型</a:t>
            </a:r>
          </a:p>
          <a:p xmlns:a="http://schemas.openxmlformats.org/drawingml/2006/main">
            <a:r>
              <a:t>圖中的重試僅適用 llm；Integration／runtime 失敗不觸發 compile repair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Java contract 同時限制 network、process execution、未授權 I/O 與 runtime modification；它不是一般用途 Java sandbox。編譯保留結構化去重診斷與 warning。Integration 前置檢查失敗會阻擋後面的檢查與對戰。獨立實例檢查確保 getAction 與 PlayerAction 在有單位的真實地圖可運作，成功仍不能證明所有對戰情境都正確。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docs/eagle_architecture_spec.md:378-424</a:t>
            </a:r>
          </a:p>
          <a:p xmlns:a="http://schemas.openxmlformats.org/drawingml/2006/main">
            <a:r>
              <a:t>eagle/generation/java_agent_generator.py:256-329</a:t>
            </a:r>
          </a:p>
          <a:p xmlns:a="http://schemas.openxmlformats.org/drawingml/2006/main">
            <a:r>
              <a:t>eagle/evaluation/microrts_runner.py:1-140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>Validation：package、CandidateAgent 外框、固定 scaffold、策略 marker 與 API 安全限制</a:t>
            </a:r>
          </a:p>
          <a:p xmlns:a="http://schemas.openxmlformats.org/drawingml/2006/main">
            <a:r>
              <a:t>javac：每個 attempt 最多編譯一次，成功 class tree 直接提升，不重複編譯</a:t>
            </a:r>
          </a:p>
          <a:p xmlns:a="http://schemas.openxmlformats.org/drawingml/2006/main">
            <a:r>
              <a:t>Integration：載入、繼承、建構子、reset、clone、getAction、有效 PlayerAction</a:t>
            </a:r>
          </a:p>
          <a:p xmlns:a="http://schemas.openxmlformats.org/drawingml/2006/main">
            <a:r>
              <a:t>getAction 在真實 8×8 地圖、雙方位置、獨立狀態驗證動作與一個 cycle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只有通過 materialization、validation、compilation 與 Integration 的候選才能進入對戰。每場有獨立衍生 seed、地圖、回合、位置與 timeout。每個對手欄位 18 場，矩陣依 canonical order 聚合。每張地圖 tick cap 會沿用到普通評估、AOS head-to-head 與 final test。候選的矩陣必須完整才有有效 fitness。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docs/eagle_architecture_spec.md:425-459</a:t>
            </a:r>
          </a:p>
          <a:p xmlns:a="http://schemas.openxmlformats.org/drawingml/2006/main">
            <a:r>
              <a:t>eagle/evaluation/match_matrix.py:1-180</a:t>
            </a:r>
          </a:p>
          <a:p xmlns:a="http://schemas.openxmlformats.org/drawingml/2006/main">
            <a:r>
              <a:t>eagle/evaluation/matches.py:1-125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維度 / 數量 / 意義</a:t>
            </a:r>
          </a:p>
          <a:p xmlns:a="http://schemas.openxmlformats.org/drawingml/2006/main">
            <a:r>
              <a:t>對手欄位 / 10 / 固定名單或凍結 self-play 名單</a:t>
            </a:r>
          </a:p>
          <a:p xmlns:a="http://schemas.openxmlformats.org/drawingml/2006/main">
            <a:r>
              <a:t>地圖 / 3 / 可設定每張 tick_limit</a:t>
            </a:r>
          </a:p>
          <a:p xmlns:a="http://schemas.openxmlformats.org/drawingml/2006/main">
            <a:r>
              <a:t>回合與位置 / 3 × 2 / 不同 round_index，候選分別在 p0／p1</a:t>
            </a:r>
          </a:p>
          <a:p xmlns:a="http://schemas.openxmlformats.org/drawingml/2006/main">
            <a:r>
              <a:t>每個候選總場數 / 10 × 3 × 3 × 2 = 180 / 同一份 Java 與 classes 跑完整矩陣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固定名單的三個弱基準各權重 0.5，三個 Rush 各 1，四個保護級對手各 2，總分母 12.5。這個報表加權平均不替代 lexicase 的十個分量。self-play 各欄位等權平均，語意只在同分範圍內輔助選擇。任一 required stage 失敗或矩陣未完成，fitness 使用 −1000 sentinel，部分對戰仍保留。AllInBot 被 adapter containment 的上游故障以中性零分和局記錄並另列 opponent fault。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docs/evaluation/game_performance.md:1-57</a:t>
            </a:r>
          </a:p>
          <a:p xmlns:a="http://schemas.openxmlformats.org/drawingml/2006/main">
            <a:r>
              <a:t>eagle/evaluation/game_performance.py:207-219</a:t>
            </a:r>
          </a:p>
          <a:p xmlns:a="http://schemas.openxmlformats.org/drawingml/2006/main">
            <a:r>
              <a:t>eagle/opponent_cases.py:22-70</a:t>
            </a:r>
          </a:p>
          <a:p xmlns:a="http://schemas.openxmlformats.org/drawingml/2006/main">
            <a:r>
              <a:t>docs/eagle_architecture_spec.md:451-459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>單場分數＝結果分數＋bounded shaping；勝 +100、和 0、敗 −100</a:t>
            </a:r>
          </a:p>
          <a:p xmlns:a="http://schemas.openxmlformats.org/drawingml/2006/main">
            <a:r>
              <a:t>Shaping 合併物資、終局資源與存活時間，總範圍限制在 [−10, +10]</a:t>
            </a:r>
          </a:p>
          <a:p xmlns:a="http://schemas.openxmlformats.org/drawingml/2006/main">
            <a:r>
              <a:t>Fixed roster：十個對手分數各為一個案例；0.5／1／2 加權均分只用於報表</a:t>
            </a:r>
          </a:p>
          <a:p xmlns:a="http://schemas.openxmlformats.org/drawingml/2006/main">
            <a:r>
              <a:t>Self-play：十個欄位等權平均，game_performance 是唯一演化目標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對手名單由 SEARCH_OPPONENT_REGISTRY 定義，普通 fixed_roster 評估沒有從歷代策略抽換對手。進階基準權重只影響 Game Performance 報表代表，不讓它在 lexicase 過濾時自動重複或加權。Self-play 起始同樣使用這十個內建來源，但後續採另一個 pool 維護與快照抽樣機制。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docs/eagle_architecture_spec.md:433-459</a:t>
            </a:r>
          </a:p>
          <a:p xmlns:a="http://schemas.openxmlformats.org/drawingml/2006/main">
            <a:r>
              <a:t>eagle/opponents.py:1-145</a:t>
            </a:r>
          </a:p>
          <a:p xmlns:a="http://schemas.openxmlformats.org/drawingml/2006/main">
            <a:r>
              <a:t>eagle/opponent_cases.py:22-70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對手群 / 完整名單 / 報表權重</a:t>
            </a:r>
          </a:p>
          <a:p xmlns:a="http://schemas.openxmlformats.org/drawingml/2006/main">
            <a:r>
              <a:t>基礎基準 / PassiveAI、RandomAI、RandomBiasedAI / 每個 0.5</a:t>
            </a:r>
          </a:p>
          <a:p xmlns:a="http://schemas.openxmlformats.org/drawingml/2006/main">
            <a:r>
              <a:t>Rush 基準 / LightRush、HeavyRush、WorkerRush / 每個 1</a:t>
            </a:r>
          </a:p>
          <a:p xmlns:a="http://schemas.openxmlformats.org/drawingml/2006/main">
            <a:r>
              <a:t>進階基準 / AllInBot、Mayari、COAC、TMA / 每個 2</a:t>
            </a:r>
          </a:p>
          <a:p xmlns:a="http://schemas.openxmlformats.org/drawingml/2006/main">
            <a:r>
              <a:t>演化用目標 / 每個對手的 18 場平均各成一個案例 / 十案例 lexicase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長期 opponent pool 與每次凍結的十個評估欄位分開保存。Pool 初始是所有十個內建對手，之後納入合法且新穎的歷代候選策略。它不是只存當代十個策略，也不是只收歷代冠軍。總容量 50 是設定預設，不代表每次評估要跑五十個對手。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docs/eagle_architecture_spec.md:461-481</a:t>
            </a:r>
          </a:p>
          <a:p xmlns:a="http://schemas.openxmlformats.org/drawingml/2006/main">
            <a:r>
              <a:t>eagle/opponent_pool.py:22-35</a:t>
            </a:r>
          </a:p>
          <a:p xmlns:a="http://schemas.openxmlformats.org/drawingml/2006/main">
            <a:r>
              <a:t>eagle/opponent_pool.py:162-219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成員區域 / 起始內容 / 後續規則</a:t>
            </a:r>
          </a:p>
          <a:p xmlns:a="http://schemas.openxmlformats.org/drawingml/2006/main">
            <a:r>
              <a:t>永久保護 4 個 / AllInBot、Mayari、COAC、TMA / 不參加 pool 挑戰賽、不被替換</a:t>
            </a:r>
          </a:p>
          <a:p xmlns:a="http://schemas.openxmlformats.org/drawingml/2006/main">
            <a:r>
              <a:t>可替換基準 6 個 / Passive、Random、RandomBiased</a:t>
            </a:r>
          </a:p>
          <a:p xmlns:a="http://schemas.openxmlformats.org/drawingml/2006/main">
            <a:r>
              <a:t>LightRush、HeavyRush</a:t>
            </a:r>
          </a:p>
          <a:p xmlns:a="http://schemas.openxmlformats.org/drawingml/2006/main">
            <a:r>
              <a:t>WorkerRush / 可作為守擂者被挑戰</a:t>
            </a:r>
          </a:p>
          <a:p xmlns:a="http://schemas.openxmlformats.org/drawingml/2006/main">
            <a:r>
              <a:t>歷代入池策略 / 初始時尚無生成候選成員 / 跨代累積；滿額後挑戰替換</a:t>
            </a:r>
          </a:p>
          <a:p xmlns:a="http://schemas.openxmlformats.org/drawingml/2006/main">
            <a:r>
              <a:t>容量 / 預設總容量 50，最少 10 / 包含 4 個保護成員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第 0 代 update_pool 接收 evaluated_population，後續每代接收 evaluated_offspring，並非只傳下一代倖存者。候選須通過可執行與完整評估條件，去除 ID、source 或 semantic phenotype 的重複項。滿池時每個 novel entrant 對一個 seeded 守擂者跑完 18 場；勝和敗分別計 1、0.5、0，只有 wins &gt; losses 才 promotion，平手保留守擂者。失敗或未完成保留證據但不能晉級。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eagle/evolution/search.py:208-219</a:t>
            </a:r>
          </a:p>
          <a:p xmlns:a="http://schemas.openxmlformats.org/drawingml/2006/main">
            <a:r>
              <a:t>eagle/evolution/generation.py:254-262</a:t>
            </a:r>
          </a:p>
          <a:p xmlns:a="http://schemas.openxmlformats.org/drawingml/2006/main">
            <a:r>
              <a:t>eagle/opponent_pool.py:162-219</a:t>
            </a:r>
          </a:p>
          <a:p xmlns:a="http://schemas.openxmlformats.org/drawingml/2006/main">
            <a:r>
              <a:t>eagle/opponent_pool.py:400-430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>第 0 代初始族群</a:t>
            </a:r>
          </a:p>
          <a:p xmlns:a="http://schemas.openxmlformats.org/drawingml/2006/main">
            <a:r>
              <a:t>＋後續每代已評估子代</a:t>
            </a:r>
          </a:p>
          <a:p xmlns:a="http://schemas.openxmlformats.org/drawingml/2006/main">
            <a:r>
              <a:t>可執行、完整評估、去重</a:t>
            </a:r>
          </a:p>
          <a:p xmlns:a="http://schemas.openxmlformats.org/drawingml/2006/main">
            <a:r>
              <a:t>ID／source／語意表型</a:t>
            </a:r>
          </a:p>
          <a:p xmlns:a="http://schemas.openxmlformats.org/drawingml/2006/main">
            <a:r>
              <a:t>未滿：直接加入 pool</a:t>
            </a:r>
          </a:p>
          <a:p xmlns:a="http://schemas.openxmlformats.org/drawingml/2006/main">
            <a:r>
              <a:t>已滿：seeded 抽 1 個</a:t>
            </a:r>
          </a:p>
          <a:p xmlns:a="http://schemas.openxmlformats.org/drawingml/2006/main">
            <a:r>
              <a:t>非保護守擂者</a:t>
            </a:r>
          </a:p>
          <a:p xmlns:a="http://schemas.openxmlformats.org/drawingml/2006/main">
            <a:r>
              <a:t>18 場挑戰賽</a:t>
            </a:r>
          </a:p>
          <a:p xmlns:a="http://schemas.openxmlformats.org/drawingml/2006/main">
            <a:r>
              <a:t>3 地圖 × 3 回合 × 2 邊</a:t>
            </a:r>
          </a:p>
          <a:p xmlns:a="http://schemas.openxmlformats.org/drawingml/2006/main">
            <a:r>
              <a:t>完整、無錯誤且勝場 &gt; 敗場</a:t>
            </a:r>
          </a:p>
          <a:p xmlns:a="http://schemas.openxmlformats.org/drawingml/2006/main">
            <a:r>
              <a:t>才替換守擂者</a:t>
            </a:r>
          </a:p>
          <a:p xmlns:a="http://schemas.openxmlformats.org/drawingml/2006/main">
            <a:r>
              <a:t>入池資格不要求先成為倖存者；pool 的成功入池成員可留到後續世代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這裡的十個是評估對手欄位，不是當代子代人口數。刷新預設 interval 5，第 1 代即刷新，之後第 6、11、16 代。Pool 在世代結束可以更新，但已凍結 context 不立即跟著改變。新入池策略要等後續快照刷新才可能被抽到。四保護 case IDs 固定，六個動態 diagnostic slots 為 self_play_000 到 self_play_005，來源寫在 context rows。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docs/eagle_architecture_spec.md:482-511</a:t>
            </a:r>
          </a:p>
          <a:p xmlns:a="http://schemas.openxmlformats.org/drawingml/2006/main">
            <a:r>
              <a:t>eagle/opponent_pool.py:136-159</a:t>
            </a:r>
          </a:p>
          <a:p xmlns:a="http://schemas.openxmlformats.org/drawingml/2006/main">
            <a:r>
              <a:t>eagle/self_play.py:24-79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使用期間 / 固定成分 / 六個變動欄位</a:t>
            </a:r>
          </a:p>
          <a:p xmlns:a="http://schemas.openxmlformats.org/drawingml/2006/main">
            <a:r>
              <a:t>第 0 代 / 保護 4 個 / 其餘 6 個內建基準</a:t>
            </a:r>
          </a:p>
          <a:p xmlns:a="http://schemas.openxmlformats.org/drawingml/2006/main">
            <a:r>
              <a:t>第 1–5 代 / 同樣保護 4 個 / 第 1 代從非保護 pool seeded 抽 6 個</a:t>
            </a:r>
          </a:p>
          <a:p xmlns:a="http://schemas.openxmlformats.org/drawingml/2006/main">
            <a:r>
              <a:t>第 6–10 代 / 同樣保護 4 個 / 第 6 代刷新後維持不變</a:t>
            </a:r>
          </a:p>
          <a:p xmlns:a="http://schemas.openxmlformats.org/drawingml/2006/main">
            <a:r>
              <a:t>之後每 5 代 / 依設定 refresh_interval / 第 11、16…代再取新快照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平常 reuse_cached 保留父代 Java 與分數，但 self-play 評估對手變更是必要例外。刷新時 Java 表型不重生，透過新 ID 複本保存重評結果，避免覆寫舊情境的證據。父代分數是繁殖選擇的輸入，所以刷新評估必須先完成。新舊 context 的分數不能直接混入同一選擇池；context 與 runtime/map 身分也用於快取與 resume 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eagle/evolution/generation.py:94-170</a:t>
            </a:r>
          </a:p>
          <a:p xmlns:a="http://schemas.openxmlformats.org/drawingml/2006/main">
            <a:r>
              <a:t>docs/eagle_architecture_spec.md:493-511</a:t>
            </a:r>
          </a:p>
          <a:p xmlns:a="http://schemas.openxmlformats.org/drawingml/2006/main">
            <a:r>
              <a:t>eagle/evolution/parent_refresh.py:1-160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>到達 self-play 刷新邊界</a:t>
            </a:r>
          </a:p>
          <a:p xmlns:a="http://schemas.openxmlformats.org/drawingml/2006/main">
            <a:r>
              <a:t>凍結 4＋6 名單</a:t>
            </a:r>
          </a:p>
          <a:p xmlns:a="http://schemas.openxmlformats.org/drawingml/2006/main">
            <a:r>
              <a:t>保存 context hash</a:t>
            </a:r>
          </a:p>
          <a:p xmlns:a="http://schemas.openxmlformats.org/drawingml/2006/main">
            <a:r>
              <a:t>父代保留 phenotype</a:t>
            </a:r>
          </a:p>
          <a:p xmlns:a="http://schemas.openxmlformats.org/drawingml/2006/main">
            <a:r>
              <a:t>建立新 ID 複本</a:t>
            </a:r>
          </a:p>
          <a:p xmlns:a="http://schemas.openxmlformats.org/drawingml/2006/main">
            <a:r>
              <a:t>以新情境重跑父代評估</a:t>
            </a:r>
          </a:p>
          <a:p xmlns:a="http://schemas.openxmlformats.org/drawingml/2006/main">
            <a:r>
              <a:t>再選繁殖父代與產生子代</a:t>
            </a:r>
          </a:p>
          <a:p xmlns:a="http://schemas.openxmlformats.org/drawingml/2006/main">
            <a:r>
              <a:t>同一 context 下選下一代</a:t>
            </a:r>
          </a:p>
          <a:p xmlns:a="http://schemas.openxmlformats.org/drawingml/2006/main">
            <a:r>
              <a:t>不能把不同對手名單下的 search fitness 直接當作跨世代改進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第三列的 self-play refresh 是正常協定的一部分。第四列是明確的非正式診斷處理，將同一基因重新 materialize，因此同時量到 Java 再生成與對戰重新抽樣的總效應，不能視為只改變一個 selection 選項。舊父代 artifacts 不被覆寫，sidecar 保存來源與新複本 hash、評估和是否倖存。Deterministic DSL 與 framework_slots 不允許這個診斷模式。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docs/eagle_architecture_spec.md:124-140</a:t>
            </a:r>
          </a:p>
          <a:p xmlns:a="http://schemas.openxmlformats.org/drawingml/2006/main">
            <a:r>
              <a:t>eagle/evolution/parent_refresh.py:1-160</a:t>
            </a:r>
          </a:p>
          <a:p xmlns:a="http://schemas.openxmlformats.org/drawingml/2006/main">
            <a:r>
              <a:t>docs/architecture/evolutionary_flow.md:75-91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情境 / Java 是否重生 / 選擇使用的候選</a:t>
            </a:r>
          </a:p>
          <a:p xmlns:a="http://schemas.openxmlformats.org/drawingml/2006/main">
            <a:r>
              <a:t>reuse_cached，正式預設 / 保留既有 Java 與 classes / 一般世代沿用既有父代評估</a:t>
            </a:r>
          </a:p>
          <a:p xmlns:a="http://schemas.openxmlformats.org/drawingml/2006/main">
            <a:r>
              <a:t>Self-play 對手快照刷新 / 保留 phenotype，新 ID 重評 / 同一新 context 的父代複本＋子代</a:t>
            </a:r>
          </a:p>
          <a:p xmlns:a="http://schemas.openxmlformats.org/drawingml/2006/main">
            <a:r>
              <a:t>regenerate_same_genotype / 基因不變，但重新 Generator 與評估 / 僅限 inherited Java＋static</a:t>
            </a:r>
          </a:p>
          <a:p xmlns:a="http://schemas.openxmlformats.org/drawingml/2006/main">
            <a:r>
              <a:t>用新父代複本＋子代，排除舊 ID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語意距離來自實際 Java 在固定 map×phase states 的動作，不是 LLM 的文字評分，也不是 code_quality。Dataset、probe 順序與 action hash 必須相容才比較。只在 inclusive 1.0 score tier 內破同分，不形成額外演化目標。精確相同行為可協助 pool 去重與離線等價類分析。探針開關與相關限制依設定驗證。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docs/eagle_architecture_spec.md:523-551</a:t>
            </a:r>
          </a:p>
          <a:p xmlns:a="http://schemas.openxmlformats.org/drawingml/2006/main">
            <a:r>
              <a:t>eagle/operators/selection.py:42-68</a:t>
            </a:r>
          </a:p>
          <a:p xmlns:a="http://schemas.openxmlformats.org/drawingml/2006/main">
            <a:r>
              <a:t>eagle/operators/selection.py:174-215</a:t>
            </a:r>
          </a:p>
          <a:p xmlns:a="http://schemas.openxmlformats.org/drawingml/2006/main">
            <a:r>
              <a:t>docs/architecture/overview.md:173-188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 / 實際取得的內容 / 用途</a:t>
            </a:r>
          </a:p>
          <a:p xmlns:a="http://schemas.openxmlformats.org/drawingml/2006/main">
            <a:r>
              <a:t>Probe dataset / 3 地圖 × 3 階段，共 9 個固定狀態 / 讓同一 agent 回答一組可重現狀態</a:t>
            </a:r>
          </a:p>
          <a:p xmlns:a="http://schemas.openxmlformats.org/drawingml/2006/main">
            <a:r>
              <a:t>Action signature / 各 probe 的完整動作與 hash</a:t>
            </a:r>
          </a:p>
          <a:p xmlns:a="http://schemas.openxmlformats.org/drawingml/2006/main">
            <a:r>
              <a:t>再保存 global hash / 精確辨識行為是否相同</a:t>
            </a:r>
          </a:p>
          <a:p xmlns:a="http://schemas.openxmlformats.org/drawingml/2006/main">
            <a:r>
              <a:t>Parent tie / 同一 Game Performance 頂層 / 第二父代可最大化與第一父代距離</a:t>
            </a:r>
          </a:p>
          <a:p xmlns:a="http://schemas.openxmlformats.org/drawingml/2006/main">
            <a:r>
              <a:t>Survivor tie / 只在分數層的邊界需要淘汰時 / seeded max-min 距離選子集合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一般情況下父代與子代各 N，從 2N 中選 N，是 mu_plus_lambda。若所有子代失敗但仍有 N 位完成評估的父代，父代可以完整留下。Self-play 每層用剩餘者當前最高分作錨點，差距不超過 1.0 的人屬同一層；不以相鄰分數一路串接。例：100、99.2、98.4 只把前兩者歸在第一層。這個例子只解釋分層規則，不是實驗結果。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eagle/operators/selection.py:70-145</a:t>
            </a:r>
          </a:p>
          <a:p xmlns:a="http://schemas.openxmlformats.org/drawingml/2006/main">
            <a:r>
              <a:t>eagle/operators/selection.py:174-225</a:t>
            </a:r>
          </a:p>
          <a:p xmlns:a="http://schemas.openxmlformats.org/drawingml/2006/main">
            <a:r>
              <a:t>docs/eagle_architecture_spec.md:119-130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步驟 / Fixed roster / Self-play</a:t>
            </a:r>
          </a:p>
          <a:p xmlns:a="http://schemas.openxmlformats.org/drawingml/2006/main">
            <a:r>
              <a:t>候選集合 / 父代與子代聯集，依 ID 去重 / 同一 context 的父代與子代聯集</a:t>
            </a:r>
          </a:p>
          <a:p xmlns:a="http://schemas.openxmlformats.org/drawingml/2006/main">
            <a:r>
              <a:t>有效資格 / 只用完整評估的候選填人口 / 相同；失敗者保留診斷</a:t>
            </a:r>
          </a:p>
          <a:p xmlns:a="http://schemas.openxmlformats.org/drawingml/2006/main">
            <a:r>
              <a:t>選擇方式 / 重複 lexicase，選出者移除 / 由高到低建立非串連的分數層</a:t>
            </a:r>
          </a:p>
          <a:p xmlns:a="http://schemas.openxmlformats.org/drawingml/2006/main">
            <a:r>
              <a:t>邊界與不足 / 選滿 population_size、不放回</a:t>
            </a:r>
          </a:p>
          <a:p xmlns:a="http://schemas.openxmlformats.org/drawingml/2006/main">
            <a:r>
              <a:t>完成者不足就明確失敗 / 切分同分層才用語意 max-min</a:t>
            </a:r>
          </a:p>
          <a:p xmlns:a="http://schemas.openxmlformats.org/drawingml/2006/main">
            <a:r>
              <a:t>年齡不破同分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AOS 比較父代依 mutation context 的實際成分來源決定：Strategy 用 strategy_parent_id；預設 Prompt 用 generation_prompt_parent_id；inherited Prompt 用 java_parent_id。它不是直接父代列表的固定第一位。Opponent reward 是 execution-first：修復可執行性、破壞可執行性與雙方失敗各有對應分支，雙方成功才比較 rank。Head-to-head 只在 child 與比較父代都可執行時加 18 場；其分數不加入搜尋 fitness 或 final test，不能執行時走對應 reward。兩種 adaptive 模式都只改未來操作機率，不改 fitness 契約。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docs/eagle_architecture_spec.md:224-247</a:t>
            </a:r>
          </a:p>
          <a:p xmlns:a="http://schemas.openxmlformats.org/drawingml/2006/main">
            <a:r>
              <a:t>eagle/operators/adaptive.py:410-442</a:t>
            </a:r>
          </a:p>
          <a:p xmlns:a="http://schemas.openxmlformats.org/drawingml/2006/main">
            <a:r>
              <a:t>eagle/operators/adaptive.py:730-833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模式 / Reward 來源 / 額外工作與限制</a:t>
            </a:r>
          </a:p>
          <a:p xmlns:a="http://schemas.openxmlformats.org/drawingml/2006/main">
            <a:r>
              <a:t>static / 固定 Strategy／Prompt 機率 / 不計 reward；framework 與 self-play 使用此模式</a:t>
            </a:r>
          </a:p>
          <a:p xmlns:a="http://schemas.openxmlformats.org/drawingml/2006/main">
            <a:r>
              <a:t>aos_opponent / 雙方可執行時比較十對手 rank</a:t>
            </a:r>
          </a:p>
          <a:p xmlns:a="http://schemas.openxmlformats.org/drawingml/2006/main">
            <a:r>
              <a:t>否則先按執行狀態給 reward / 不加對戰；只適用固定名單</a:t>
            </a:r>
          </a:p>
          <a:p xmlns:a="http://schemas.openxmlformats.org/drawingml/2006/main">
            <a:r>
              <a:t>aos_head2head / mutation evidence parent 對 offspring / 雙方可執行才加 18 場</a:t>
            </a:r>
          </a:p>
          <a:p xmlns:a="http://schemas.openxmlformats.org/drawingml/2006/main">
            <a:r>
              <a:t>失敗時跳過，改用執行狀態 reward</a:t>
            </a:r>
          </a:p>
          <a:p xmlns:a="http://schemas.openxmlformats.org/drawingml/2006/main">
            <a:r>
              <a:t>共用 updater / EMA α = 0.20</a:t>
            </a:r>
          </a:p>
          <a:p xmlns:a="http://schemas.openxmlformats.org/drawingml/2006/main">
            <a:r>
              <a:t>probability matching＋最低機率 / 更新操作選擇；Code gate 不計 AOS credit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失敗分類包括初始化、反思、生成、驗證、編譯、Integration 與 runtime 等。候選失敗與 run 失敗需分開：只要完成的父代與子代足夠，下一代仍可成立。程序中斷會取消排隊工作、drain active worker，保留未完成證據後從最後完成世代恢復。Pipeline 安全邊界不能以看起來可執行的 fallback 代替。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docs/eagle_architecture_spec.md:350-424</a:t>
            </a:r>
          </a:p>
          <a:p xmlns:a="http://schemas.openxmlformats.org/drawingml/2006/main">
            <a:r>
              <a:t>docs/evaluation/game_performance.md:33-40</a:t>
            </a:r>
          </a:p>
          <a:p xmlns:a="http://schemas.openxmlformats.org/drawingml/2006/main">
            <a:r>
              <a:t>eagle/operators/selection.py:99-123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發生位置 / 允許的處理 / 留下的結果</a:t>
            </a:r>
          </a:p>
          <a:p xmlns:a="http://schemas.openxmlformats.org/drawingml/2006/main">
            <a:r>
              <a:t>Bootstrap／LLM 回應 / 各自 attempts 內重試，原始回應先保存 / 失敗 manifest 或候選失敗與診斷</a:t>
            </a:r>
          </a:p>
          <a:p xmlns:a="http://schemas.openxmlformats.org/drawingml/2006/main">
            <a:r>
              <a:t>LLM validation／compile / 在 generation_max_attempts 內修復 / 最後 attempt 決定失敗階段</a:t>
            </a:r>
          </a:p>
          <a:p xmlns:a="http://schemas.openxmlformats.org/drawingml/2006/main">
            <a:r>
              <a:t>DSL／Framework 或 Integration / 終止該候選，不回到 LLM 修 Java / 保留既有基因與失敗證據</a:t>
            </a:r>
          </a:p>
          <a:p xmlns:a="http://schemas.openxmlformats.org/drawingml/2006/main">
            <a:r>
              <a:t>Runtime／矩陣／選擇 / 未完成矩陣無有效 fitness</a:t>
            </a:r>
          </a:p>
          <a:p xmlns:a="http://schemas.openxmlformats.org/drawingml/2006/main">
            <a:r>
              <a:t>不足有效人口則終止 run / −1000 sentinel、部分對戰、可恢復 checkpoint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Generation snapshot 先原子寫成功，再更新 manifest.latest_generation。只有 manifest 指定的完成快照作為 resume 起點，不能因資料夾有較新檔就推論已提交世代。每次 LLM request 的 endpoint/model、prompt、raw response、attempt、hash 與 timing 都屬證據；秘密憑證不可寫入。compact artifact 模式省去 XML replay，但保留需要的 trace 與對戰摘要。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eagle/run_artifacts.py:160-197</a:t>
            </a:r>
          </a:p>
          <a:p xmlns:a="http://schemas.openxmlformats.org/drawingml/2006/main">
            <a:r>
              <a:t>eagle/run_artifacts.py:363-375</a:t>
            </a:r>
          </a:p>
          <a:p xmlns:a="http://schemas.openxmlformats.org/drawingml/2006/main">
            <a:r>
              <a:t>docs/artifacts/artifact_schema.md:37-92</a:t>
            </a:r>
          </a:p>
          <a:p xmlns:a="http://schemas.openxmlformats.org/drawingml/2006/main">
            <a:r>
              <a:t>docs/eagle_architecture_spec.md:567-629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位置 / 主要內容 / 支持的追查</a:t>
            </a:r>
          </a:p>
          <a:p xmlns:a="http://schemas.openxmlformats.org/drawingml/2006/main">
            <a:r>
              <a:t>config.yaml</a:t>
            </a:r>
          </a:p>
          <a:p xmlns:a="http://schemas.openxmlformats.org/drawingml/2006/main">
            <a:r>
              <a:t>manifest.json / resolved config、狀態</a:t>
            </a:r>
          </a:p>
          <a:p xmlns:a="http://schemas.openxmlformats.org/drawingml/2006/main">
            <a:r>
              <a:t>與 latest_generation / 知道實際設定與完成邊界</a:t>
            </a:r>
          </a:p>
          <a:p xmlns:a="http://schemas.openxmlformats.org/drawingml/2006/main">
            <a:r>
              <a:t>generations/</a:t>
            </a:r>
          </a:p>
          <a:p xmlns:a="http://schemas.openxmlformats.org/drawingml/2006/main">
            <a:r>
              <a:t>candidates/ / 族群快照、基因、譜系</a:t>
            </a:r>
          </a:p>
          <a:p xmlns:a="http://schemas.openxmlformats.org/drawingml/2006/main">
            <a:r>
              <a:t>LLM 與評估證據 / 重建每個成分如何產生與被選</a:t>
            </a:r>
          </a:p>
          <a:p xmlns:a="http://schemas.openxmlformats.org/drawingml/2006/main">
            <a:r>
              <a:t>framework/</a:t>
            </a:r>
          </a:p>
          <a:p xmlns:a="http://schemas.openxmlformats.org/drawingml/2006/main">
            <a:r>
              <a:t>archives/ / 凍結 bundle、pool、context</a:t>
            </a:r>
          </a:p>
          <a:p xmlns:a="http://schemas.openxmlformats.org/drawingml/2006/main">
            <a:r>
              <a:t>與未提交工作的封存 / 恢復架構與對手情境</a:t>
            </a:r>
          </a:p>
          <a:p xmlns:a="http://schemas.openxmlformats.org/drawingml/2006/main">
            <a:r>
              <a:t>timing.jsonl</a:t>
            </a:r>
          </a:p>
          <a:p xmlns:a="http://schemas.openxmlformats.org/drawingml/2006/main">
            <a:r>
              <a:t>final_test/ / 時間事件、對戰結果與最終測試 / 區分各階段成本與獨立 benchmark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Resume 不是繼續使用任意半成品，也不重新 bootstrap。先檢查目前版本與凍結身分能否相容；protocol、bundle hash、framework evolution mode 或 runtime/map 身分不合時拒絕。未提交候選與 LLM 證據先移入 interrupted_work，保留後再以穩定 ID 重播。這維持可追查性，但外部 LLM 回應與 wall-clock timeout 仍可能讓重播結果不同。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eagle/evolution/resume.py:1-150</a:t>
            </a:r>
          </a:p>
          <a:p xmlns:a="http://schemas.openxmlformats.org/drawingml/2006/main">
            <a:r>
              <a:t>eagle/run_artifacts.py:686-703</a:t>
            </a:r>
          </a:p>
          <a:p xmlns:a="http://schemas.openxmlformats.org/drawingml/2006/main">
            <a:r>
              <a:t>docs/eagle_architecture_spec.md:162-215</a:t>
            </a:r>
          </a:p>
          <a:p xmlns:a="http://schemas.openxmlformats.org/drawingml/2006/main">
            <a:r>
              <a:t>docs/architecture/framework_slots.md:140-149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>讀 manifest 的最後完成世代</a:t>
            </a:r>
          </a:p>
          <a:p xmlns:a="http://schemas.openxmlformats.org/drawingml/2006/main">
            <a:r>
              <a:t>檢查 protocol、config</a:t>
            </a:r>
          </a:p>
          <a:p xmlns:a="http://schemas.openxmlformats.org/drawingml/2006/main">
            <a:r>
              <a:t>bundle／runtime／map identity</a:t>
            </a:r>
          </a:p>
          <a:p xmlns:a="http://schemas.openxmlformats.org/drawingml/2006/main">
            <a:r>
              <a:t>保留未提交工作</a:t>
            </a:r>
          </a:p>
          <a:p xmlns:a="http://schemas.openxmlformats.org/drawingml/2006/main">
            <a:r>
              <a:t>interrupted_work/</a:t>
            </a:r>
          </a:p>
          <a:p xmlns:a="http://schemas.openxmlformats.org/drawingml/2006/main">
            <a:r>
              <a:t>還原族群、pool 與 context</a:t>
            </a:r>
          </a:p>
          <a:p xmlns:a="http://schemas.openxmlformats.org/drawingml/2006/main">
            <a:r>
              <a:t>操作狀態、archive 與停滯計數</a:t>
            </a:r>
          </a:p>
          <a:p xmlns:a="http://schemas.openxmlformats.org/drawingml/2006/main">
            <a:r>
              <a:t>用穩定 ID 與 seed 重播</a:t>
            </a:r>
          </a:p>
          <a:p xmlns:a="http://schemas.openxmlformats.org/drawingml/2006/main">
            <a:r>
              <a:t>未完成世代</a:t>
            </a:r>
          </a:p>
          <a:p xmlns:a="http://schemas.openxmlformats.org/drawingml/2006/main">
            <a:r>
              <a:t>繼續演化與 Final Test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明確 random_seeds 時 runs 是每個 seed 的重複次數。省略 random_seeds 則沿用 random_seed、random_seed+1 的歷史排程。Index 保存有序的 absolute run paths，每個 slot 都檢查 seed 與 config 身分。Framework fresh replicate 預設各自生成 bundle，若研究需控制架構差異，必須指定相同外部 bundle。Folder rerun 會處理未開始、未完成與缺 final test 的不同情況。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eagle/config.py:863-879</a:t>
            </a:r>
          </a:p>
          <a:p xmlns:a="http://schemas.openxmlformats.org/drawingml/2006/main">
            <a:r>
              <a:t>eagle/experiment.py:355-540</a:t>
            </a:r>
          </a:p>
          <a:p xmlns:a="http://schemas.openxmlformats.org/drawingml/2006/main">
            <a:r>
              <a:t>docs/artifacts/artifact_schema.md:491-529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層級 / 排程方式 / 恢復判斷</a:t>
            </a:r>
          </a:p>
          <a:p xmlns:a="http://schemas.openxmlformats.org/drawingml/2006/main">
            <a:r>
              <a:t>設定資料夾 / 依 YAML 檔名排序，逐組執行 / experiment.yaml 記每組 run slots</a:t>
            </a:r>
          </a:p>
          <a:p xmlns:a="http://schemas.openxmlformats.org/drawingml/2006/main">
            <a:r>
              <a:t>明確 seeds / random_seeds: [7,8,9]，runs: 2 / 依序排 7,7,8,8,9,9</a:t>
            </a:r>
          </a:p>
          <a:p xmlns:a="http://schemas.openxmlformats.org/drawingml/2006/main">
            <a:r>
              <a:t>每個 replicate / 獨立 run 目錄與 resolved config / 未完成優先；已完成可跳過</a:t>
            </a:r>
          </a:p>
          <a:p xmlns:a="http://schemas.openxmlformats.org/drawingml/2006/main">
            <a:r>
              <a:t>完成條件 / 完整 EA manifest；正式 run 還需 Final Test / 可恢復中斷、補 final test</a:t>
            </a:r>
          </a:p>
          <a:p xmlns:a="http://schemas.openxmlformats.org/drawingml/2006/main">
            <a:r>
              <a:t>未提交 G0 可建立替代 run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執行總是對可控制的隨機性設 seed，沒有另一個 deterministic_mode 開關。模型 provider 可能忽略 seed 或更新權重；GPU batching、浮點數、第三方對手二進位與 wall-clock 搜尋都可能改變結果。Deterministic materialization 的 byte-identical Java 契約不等於整場實驗逐位元相同。重現承諾需限定同程式、資料、設定與確定的 task outputs。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docs/eagle_architecture_spec.md:162-215</a:t>
            </a:r>
          </a:p>
          <a:p xmlns:a="http://schemas.openxmlformats.org/drawingml/2006/main">
            <a:r>
              <a:t>eagle/evaluation/determinism.py:1-170</a:t>
            </a:r>
          </a:p>
          <a:p xmlns:a="http://schemas.openxmlformats.org/drawingml/2006/main">
            <a:r>
              <a:t>eagle/execution.py:14-68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>Root random_seed 衍生初始化、選擇、操作、LLM request 與每場 JVM seed</a:t>
            </a:r>
          </a:p>
          <a:p xmlns:a="http://schemas.openxmlformats.org/drawingml/2006/main">
            <a:r>
              <a:t>Seed 與 endpoint 由固定 task identity／index 決定，不依 thread 或完成順序</a:t>
            </a:r>
          </a:p>
          <a:p xmlns:a="http://schemas.openxmlformats.org/drawingml/2006/main">
            <a:r>
              <a:t>保存 source、bundle、runtime、map 與 request／response hashes 以核對身分</a:t>
            </a:r>
          </a:p>
          <a:p xmlns:a="http://schemas.openxmlformats.org/drawingml/2006/main">
            <a:r>
              <a:t>相同輸出才有相同軌跡；外部模型、GPU kernel、私有 RNG 與時間上限仍有變異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generations=20 包括 G0 初始化後的演化世代 1 到 20。stagnation 依 active selection-state signature 判斷，不是只看平均分數。正式 experiment run 在 EA 完成後執行 Final Test；mock 或 skip-final-test 可略過。Final Test 使用固定十內建對手與獨立 classes；明確 candidate-id 不可自動替代，預設末代無可執行策略才搜尋較新的已完成世代代表。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eagle/final_test.py:1-125</a:t>
            </a:r>
          </a:p>
          <a:p xmlns:a="http://schemas.openxmlformats.org/drawingml/2006/main">
            <a:r>
              <a:t>docs/evaluation/evaluation_pipeline.md:152-158</a:t>
            </a:r>
          </a:p>
          <a:p xmlns:a="http://schemas.openxmlformats.org/drawingml/2006/main">
            <a:r>
              <a:t>eagle/experiment.py:409-423</a:t>
            </a:r>
          </a:p>
          <a:p xmlns:a="http://schemas.openxmlformats.org/drawingml/2006/main">
            <a:r>
              <a:t>docs/operations/running_eagle.md:258-268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>generations 上限</a:t>
            </a:r>
          </a:p>
          <a:p xmlns:a="http://schemas.openxmlformats.org/drawingml/2006/main">
            <a:r>
              <a:t>或 stagnation 條件</a:t>
            </a:r>
          </a:p>
          <a:p xmlns:a="http://schemas.openxmlformats.org/drawingml/2006/main">
            <a:r>
              <a:t>選可執行代表策略</a:t>
            </a:r>
          </a:p>
          <a:p xmlns:a="http://schemas.openxmlformats.org/drawingml/2006/main">
            <a:r>
              <a:t>保留原 canonical Java</a:t>
            </a:r>
          </a:p>
          <a:p xmlns:a="http://schemas.openxmlformats.org/drawingml/2006/main">
            <a:r>
              <a:t>獨立 recompile</a:t>
            </a:r>
          </a:p>
          <a:p xmlns:a="http://schemas.openxmlformats.org/drawingml/2006/main">
            <a:r>
              <a:t>再執行七項 Integration</a:t>
            </a:r>
          </a:p>
          <a:p xmlns:a="http://schemas.openxmlformats.org/drawingml/2006/main">
            <a:r>
              <a:t>10 對手 × 3 地圖</a:t>
            </a:r>
          </a:p>
          <a:p xmlns:a="http://schemas.openxmlformats.org/drawingml/2006/main">
            <a:r>
              <a:t>× 每邊 10 場 × 2 邊</a:t>
            </a:r>
          </a:p>
          <a:p xmlns:a="http://schemas.openxmlformats.org/drawingml/2006/main">
            <a:r>
              <a:t>600 場結果</a:t>
            </a:r>
          </a:p>
          <a:p xmlns:a="http://schemas.openxmlformats.org/drawingml/2006/main">
            <a:r>
              <a:t>W／L／D／E 與分數</a:t>
            </a:r>
          </a:p>
          <a:p xmlns:a="http://schemas.openxmlformats.org/drawingml/2006/main">
            <a:r>
              <a:t>輸出 JSON／CSV／Markdown</a:t>
            </a:r>
          </a:p>
          <a:p xmlns:a="http://schemas.openxmlformats.org/drawingml/2006/main">
            <a:r>
              <a:t>完成 run 交付</a:t>
            </a:r>
          </a:p>
          <a:p xmlns:a="http://schemas.openxmlformats.org/drawingml/2006/main">
            <a:r>
              <a:t>搜尋每位 180 場；pool 挑戰 18 場；正式最終測試 600 場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python -m eagle.fixed_evaluation 只讀取 completed run 的明確指定世代，不缺代替代、不用 run-wide best 取代 snapshot 代表。每位代表重編與 Integration，不呼叫 LLM。protocol 記錄對手、地圖 hash、tick cap、scoring 與 runtime source identity。缺場或錯誤矩陣的 aggregate score 與 win rate 為 null 並 nonzero exit。mean_match_score 是不加權 benchmark 平均，不能直接當搜尋 fitness。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docs/evaluation/evaluation_pipeline.md:160-166</a:t>
            </a:r>
          </a:p>
          <a:p xmlns:a="http://schemas.openxmlformats.org/drawingml/2006/main">
            <a:r>
              <a:t>eagle/fixed_evaluation.py:1-170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項目 / Search fitness / 固定跨世代 benchmark</a:t>
            </a:r>
          </a:p>
          <a:p xmlns:a="http://schemas.openxmlformats.org/drawingml/2006/main">
            <a:r>
              <a:t>對手情境 / Self-play 隨快照刷新 / 所有代表使用同一固定 protocol</a:t>
            </a:r>
          </a:p>
          <a:p xmlns:a="http://schemas.openxmlformats.org/drawingml/2006/main">
            <a:r>
              <a:t>代表選擇 / 用於當代演化選擇 / 各指定快照內最高有限 GP 的 runnable survivor</a:t>
            </a:r>
          </a:p>
          <a:p xmlns:a="http://schemas.openxmlformats.org/drawingml/2006/main">
            <a:r>
              <a:t>測試規模 / 每位 180 場 / 每個代表各 600 場</a:t>
            </a:r>
          </a:p>
          <a:p xmlns:a="http://schemas.openxmlformats.org/drawingml/2006/main">
            <a:r>
              <a:t>Seed 與輸出 / 候選與對手身分衍生 / paired seeds 不依候選 ID／出生代</a:t>
            </a:r>
          </a:p>
          <a:p xmlns:a="http://schemas.openxmlformats.org/drawingml/2006/main">
            <a:r>
              <a:t>fixed_evaluation/ 與搜尋證據分開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時間來源以已提交 generation timing 與 run records 為準，不能將 partial terminal output 當單代耗時。當對手情境改變，search fitness 的跨代上升並不能單獨證明一般化能力。比較現行多主機串流與先前排程時，需要相同模型、硬體、seed、候選規模與失敗條件下的獨立速度實驗。實作文件尚無這組 live benchmark，不能報出加速比。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docs/evaluation/game_performance.md:42-57</a:t>
            </a:r>
          </a:p>
          <a:p xmlns:a="http://schemas.openxmlformats.org/drawingml/2006/main">
            <a:r>
              <a:t>docs/artifacts/timing_schema.md:1-65</a:t>
            </a:r>
          </a:p>
          <a:p xmlns:a="http://schemas.openxmlformats.org/drawingml/2006/main">
            <a:r>
              <a:t>docs/implementation/current_status.md:21-34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>依 generation snapshot 檢視倖存者軌跡，另保留 birth_generation 與逐場分佈</a:t>
            </a:r>
          </a:p>
          <a:p xmlns:a="http://schemas.openxmlformats.org/drawingml/2006/main">
            <a:r>
              <a:t>總 wall time、初始化與已完成演化世代分開報；stage sums 可能因重疊大於 wall time</a:t>
            </a:r>
          </a:p>
          <a:p xmlns:a="http://schemas.openxmlformats.org/drawingml/2006/main">
            <a:r>
              <a:t>比較策略能力先固定 benchmark；比較速度另控制模型、硬體、seed、工作量與失敗比例</a:t>
            </a:r>
          </a:p>
          <a:p xmlns:a="http://schemas.openxmlformats.org/drawingml/2006/main">
            <a:r>
              <a:t>目前沒有多主機 live speedup benchmark；不能由串流排程設計推論已加速多少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GUI 提供 config parsing 支持的固定選項，儲存前驗證並原子寫入，觀察比賽不改變 fitness。Monitor 從 manifest 和最新已提交 generation 讀取，不控制實驗。離線分析的 generation 指倖存快照世代，birth_generation 才是候選出生時間。使用者可以從這些工具回查分數、行為與 LLM evidence，無需改動 canonical search artifacts。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docs/implementation/current_status.md:42-66</a:t>
            </a:r>
          </a:p>
          <a:p xmlns:a="http://schemas.openxmlformats.org/drawingml/2006/main">
            <a:r>
              <a:t>docs/architecture/evolutionary_flow.md:169-200</a:t>
            </a:r>
          </a:p>
          <a:p xmlns:a="http://schemas.openxmlformats.org/drawingml/2006/main">
            <a:r>
              <a:t>eagle/analysis/report.py:1-130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工具 / 支援工作 / 與搜尋狀態的關係</a:t>
            </a:r>
          </a:p>
          <a:p xmlns:a="http://schemas.openxmlformats.org/drawingml/2006/main">
            <a:r>
              <a:t>eagle gui / 設定選項、YAML、啟停、resume</a:t>
            </a:r>
          </a:p>
          <a:p xmlns:a="http://schemas.openxmlformats.org/drawingml/2006/main">
            <a:r>
              <a:t>瀏覽族群與視覺對戰 / 啟動前凍結 launch snapshot</a:t>
            </a:r>
          </a:p>
          <a:p xmlns:a="http://schemas.openxmlformats.org/drawingml/2006/main">
            <a:r>
              <a:t>eagle monitor / 原子狀態、PID／liveness、資源與失敗摘要 / 唯讀；異常結束與正常完成分開</a:t>
            </a:r>
          </a:p>
          <a:p xmlns:a="http://schemas.openxmlformats.org/drawingml/2006/main">
            <a:r>
              <a:t>eagle analyze / 各對手分數、勝率、單場分佈與 AOS 圖表 / 由保存的快照與證據產生</a:t>
            </a:r>
          </a:p>
          <a:p xmlns:a="http://schemas.openxmlformats.org/drawingml/2006/main">
            <a:r>
              <a:t>analyze --semantics / 探針表、唯一性與精確等價類 / 讀既有 wrapper／cache，不重跑 agent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這頁是目前 checked-in config 的具體範例，不是所有模式的預設。頂層 model 為 Qwen 3.5-9B，含本地 managed primary 與一個外部 additional endpoint；機器路徑與位址需配合實際環境。bootstrap_backend 為 mistral、framework.model 為 mistral-small-latest。此配置示範完整流程的實際連接，並不宣稱本次已啟動或完成這組實驗。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configs/framework_coach.yaml:1-98</a:t>
            </a:r>
          </a:p>
          <a:p xmlns:a="http://schemas.openxmlformats.org/drawingml/2006/main">
            <a:r>
              <a:t>eagle/config.py:580-658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項目 / configs/framework_coach.yaml 的值 / 意義</a:t>
            </a:r>
          </a:p>
          <a:p xmlns:a="http://schemas.openxmlformats.org/drawingml/2006/main">
            <a:r>
              <a:t>架構與演化 / framework_slots＋llm_coach</a:t>
            </a:r>
          </a:p>
          <a:p xmlns:a="http://schemas.openxmlformats.org/drawingml/2006/main">
            <a:r>
              <a:t>Mistral bootstrap / 一次建立框架，之後選完整槽值</a:t>
            </a:r>
          </a:p>
          <a:p xmlns:a="http://schemas.openxmlformats.org/drawingml/2006/main">
            <a:r>
              <a:t>搜尋預算 / 20 generations，population 10</a:t>
            </a:r>
          </a:p>
          <a:p xmlns:a="http://schemas.openxmlformats.org/drawingml/2006/main">
            <a:r>
              <a:t>runs 1，seed 8 / G0 之後最多 20 個演化世代</a:t>
            </a:r>
          </a:p>
          <a:p xmlns:a="http://schemas.openxmlformats.org/drawingml/2006/main">
            <a:r>
              <a:t>評估與 pool / self_play，refresh 5，capacity 50 / 固定四保護與抽樣六對手</a:t>
            </a:r>
          </a:p>
          <a:p xmlns:a="http://schemas.openxmlformats.org/drawingml/2006/main">
            <a:r>
              <a:t>操作與對戰 / crossover 0.75，mutation 1.0</a:t>
            </a:r>
          </a:p>
          <a:p xmlns:a="http://schemas.openxmlformats.org/drawingml/2006/main">
            <a:r>
              <a:t>地圖 tick caps 1500／3000／4000 / 全部採 Strategy 路徑；數值屬範例設定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432caa743f402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e3ec055ee64c2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b95932c2484c2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4ecbbda1fb4a4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6c8c98c76642e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ac2ab53d1544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BAC140-F5E0-452E-BFC3-DB36695A3C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92580" y="3386032"/>
            <a:ext cx="12740640" cy="1294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A3CBB43-75AE-4AD3-9F7E-F442B273529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388870" y="4929664"/>
            <a:ext cx="11148060" cy="995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B81281D-CAB4-4011-A02F-FEE2628708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92580" y="3734594"/>
            <a:ext cx="12740640" cy="1493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E9DDF1-5A44-4723-9153-954CC4AEB9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826" y="697124"/>
            <a:ext cx="14134147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B1E09AC-0176-4556-874E-35B676BFE3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826" y="2489729"/>
            <a:ext cx="14134147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9675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9489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9304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9118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933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68747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08562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48376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63B263C-8D64-48EA-B32B-EBE53E852A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826" y="697124"/>
            <a:ext cx="14134147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55D8506-448A-4AFD-B453-9587A8F78E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826" y="2489729"/>
            <a:ext cx="6569392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9675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9489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9304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9118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933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68747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08562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48376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715B29A-18AE-40CB-BFEC-F496AD3641E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60581" y="2489729"/>
            <a:ext cx="6569392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9675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9489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9304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9118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933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68747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08562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48376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B15F7B-0E00-428A-A6A6-E551D160D0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826" y="697124"/>
            <a:ext cx="14134147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41633A-0440-4D86-968E-E2FB07A024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826" y="2489729"/>
            <a:ext cx="6569392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9675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9489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9304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9118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933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68747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08562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48376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9add85c0cb448b" /><Relationship Type="http://schemas.openxmlformats.org/officeDocument/2006/relationships/slideLayout" Target="/ppt/slideLayouts/slideLayout1.xml" Id="R2c56680f8c9c4bae" /><Relationship Type="http://schemas.openxmlformats.org/officeDocument/2006/relationships/slideLayout" Target="/ppt/slideLayouts/slideLayout2.xml" Id="Ra6e6ab73838343ae" /><Relationship Type="http://schemas.openxmlformats.org/officeDocument/2006/relationships/slideLayout" Target="/ppt/slideLayouts/slideLayout3.xml" Id="R8166e59349f74a5f" /><Relationship Type="http://schemas.openxmlformats.org/officeDocument/2006/relationships/slideLayout" Target="/ppt/slideLayouts/slideLayout4.xml" Id="R1160eb69ac5043f8" /><Relationship Type="http://schemas.openxmlformats.org/officeDocument/2006/relationships/slideLayout" Target="/ppt/slideLayouts/slideLayout5.xml" Id="R2c8c7e2d43fc4c29" /><Relationship Type="http://schemas.openxmlformats.org/officeDocument/2006/relationships/slideLayout" Target="/ppt/slideLayouts/slideLayout6.xml" Id="Rc60ab35904bd4e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56680f8c9c4bae"/>
    <p:sldLayoutId xmlns:r="http://schemas.openxmlformats.org/officeDocument/2006/relationships" id="2147483650" r:id="Ra6e6ab73838343ae"/>
    <p:sldLayoutId xmlns:r="http://schemas.openxmlformats.org/officeDocument/2006/relationships" id="2147483651" r:id="R8166e59349f74a5f"/>
    <p:sldLayoutId xmlns:r="http://schemas.openxmlformats.org/officeDocument/2006/relationships" id="2147483652" r:id="R1160eb69ac5043f8"/>
    <p:sldLayoutId xmlns:r="http://schemas.openxmlformats.org/officeDocument/2006/relationships" id="2147483653" r:id="R2c8c7e2d43fc4c29"/>
    <p:sldLayoutId xmlns:r="http://schemas.openxmlformats.org/officeDocument/2006/relationships" id="2147483654" r:id="Rc60ab35904bd4e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c0fcd043cd4c9d" /><Relationship Type="http://schemas.openxmlformats.org/officeDocument/2006/relationships/notesSlide" Target="/ppt/notesSlides/notesSlide1.xml" Id="Rf212be8ee9954c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98073e638b4f6f" /><Relationship Type="http://schemas.openxmlformats.org/officeDocument/2006/relationships/notesSlide" Target="/ppt/notesSlides/notesSlide2.xml" Id="R7d1303a588bc46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41c1e8e55241fc" /><Relationship Type="http://schemas.openxmlformats.org/officeDocument/2006/relationships/notesSlide" Target="/ppt/notesSlides/notesSlide3.xml" Id="R67ab11e259a44b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3857b152894d84" /><Relationship Type="http://schemas.openxmlformats.org/officeDocument/2006/relationships/notesSlide" Target="/ppt/notesSlides/notesSlide4.xml" Id="R1fe4e0c1766444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2624f824b74153" /><Relationship Type="http://schemas.openxmlformats.org/officeDocument/2006/relationships/notesSlide" Target="/ppt/notesSlides/notesSlide5.xml" Id="R66240cbefd7e4a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d9ae9ef0a647f0" /><Relationship Type="http://schemas.openxmlformats.org/officeDocument/2006/relationships/notesSlide" Target="/ppt/notesSlides/notesSlide6.xml" Id="R97a2e9db27f444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9d4ee6112043b9" /><Relationship Type="http://schemas.openxmlformats.org/officeDocument/2006/relationships/notesSlide" Target="/ppt/notesSlides/notesSlide7.xml" Id="Ra7a9c72add3e4e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1b8d37d9fb49aa" /><Relationship Type="http://schemas.openxmlformats.org/officeDocument/2006/relationships/notesSlide" Target="/ppt/notesSlides/notesSlide8.xml" Id="R19cec6b029304c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f904a536dd4bbd" /><Relationship Type="http://schemas.openxmlformats.org/officeDocument/2006/relationships/notesSlide" Target="/ppt/notesSlides/notesSlide9.xml" Id="R0e202e60badc4b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85ab38f40b4f7a" /><Relationship Type="http://schemas.openxmlformats.org/officeDocument/2006/relationships/notesSlide" Target="/ppt/notesSlides/notesSlide10.xml" Id="R7800b50f15694c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a721f7adf140b8" /><Relationship Type="http://schemas.openxmlformats.org/officeDocument/2006/relationships/notesSlide" Target="/ppt/notesSlides/notesSlide11.xml" Id="Rcb35bc417b1f4dc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f1414d013a4529" /><Relationship Type="http://schemas.openxmlformats.org/officeDocument/2006/relationships/notesSlide" Target="/ppt/notesSlides/notesSlide12.xml" Id="R86c72fcb78ce45d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30af3c76c04098" /><Relationship Type="http://schemas.openxmlformats.org/officeDocument/2006/relationships/notesSlide" Target="/ppt/notesSlides/notesSlide13.xml" Id="R883dd1f6104447d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4ade90b08844c3" /><Relationship Type="http://schemas.openxmlformats.org/officeDocument/2006/relationships/notesSlide" Target="/ppt/notesSlides/notesSlide14.xml" Id="R18deef8ffca24f2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d719678140447c" /><Relationship Type="http://schemas.openxmlformats.org/officeDocument/2006/relationships/notesSlide" Target="/ppt/notesSlides/notesSlide15.xml" Id="Rb0c1feeea253474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8d1af0f25f4564" /><Relationship Type="http://schemas.openxmlformats.org/officeDocument/2006/relationships/notesSlide" Target="/ppt/notesSlides/notesSlide16.xml" Id="R616da070582c4fd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a0ca9f2536444e" /><Relationship Type="http://schemas.openxmlformats.org/officeDocument/2006/relationships/notesSlide" Target="/ppt/notesSlides/notesSlide17.xml" Id="Rc775775827204a8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c91f67b2394620" /><Relationship Type="http://schemas.openxmlformats.org/officeDocument/2006/relationships/notesSlide" Target="/ppt/notesSlides/notesSlide18.xml" Id="R43c3796718014fb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437c696bf74ad2" /><Relationship Type="http://schemas.openxmlformats.org/officeDocument/2006/relationships/notesSlide" Target="/ppt/notesSlides/notesSlide19.xml" Id="R3dda852265194ea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8ae9b1c58b4ba9" /><Relationship Type="http://schemas.openxmlformats.org/officeDocument/2006/relationships/notesSlide" Target="/ppt/notesSlides/notesSlide20.xml" Id="Rb66ba9b62f884b0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aa985cb7574ef1" /><Relationship Type="http://schemas.openxmlformats.org/officeDocument/2006/relationships/notesSlide" Target="/ppt/notesSlides/notesSlide21.xml" Id="R15d6ec28ff10464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787019f2094722" /><Relationship Type="http://schemas.openxmlformats.org/officeDocument/2006/relationships/notesSlide" Target="/ppt/notesSlides/notesSlide22.xml" Id="Rfd5053007d2a408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41be1df2b34898" /><Relationship Type="http://schemas.openxmlformats.org/officeDocument/2006/relationships/notesSlide" Target="/ppt/notesSlides/notesSlide23.xml" Id="Red14f6ae81124dd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084b0860b5434c" /><Relationship Type="http://schemas.openxmlformats.org/officeDocument/2006/relationships/notesSlide" Target="/ppt/notesSlides/notesSlide24.xml" Id="Rdaef6b130cad432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7c602d11864377" /><Relationship Type="http://schemas.openxmlformats.org/officeDocument/2006/relationships/notesSlide" Target="/ppt/notesSlides/notesSlide25.xml" Id="Rcb7295e66f73425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1fe9d261df48f5" /><Relationship Type="http://schemas.openxmlformats.org/officeDocument/2006/relationships/notesSlide" Target="/ppt/notesSlides/notesSlide26.xml" Id="R2eb184503285444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91461161104c65" /><Relationship Type="http://schemas.openxmlformats.org/officeDocument/2006/relationships/notesSlide" Target="/ppt/notesSlides/notesSlide27.xml" Id="R19b0a2d54d8b4a1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ef58e3b39a4c79" /><Relationship Type="http://schemas.openxmlformats.org/officeDocument/2006/relationships/notesSlide" Target="/ppt/notesSlides/notesSlide28.xml" Id="R29e4122c5717433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3ab7fb4d04420b" /><Relationship Type="http://schemas.openxmlformats.org/officeDocument/2006/relationships/notesSlide" Target="/ppt/notesSlides/notesSlide29.xml" Id="R6bc0e9a1dd974f2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1f952d15bb49d5" /><Relationship Type="http://schemas.openxmlformats.org/officeDocument/2006/relationships/notesSlide" Target="/ppt/notesSlides/notesSlide30.xml" Id="Rd7fbf7ef3b42448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d2cdb6d0aa4550" /><Relationship Type="http://schemas.openxmlformats.org/officeDocument/2006/relationships/notesSlide" Target="/ppt/notesSlides/notesSlide31.xml" Id="Rf64d4883898f4a2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054897ac1d479c" /><Relationship Type="http://schemas.openxmlformats.org/officeDocument/2006/relationships/notesSlide" Target="/ppt/notesSlides/notesSlide32.xml" Id="Rf97f6639e55c463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a39b8dbd844cff" /><Relationship Type="http://schemas.openxmlformats.org/officeDocument/2006/relationships/notesSlide" Target="/ppt/notesSlides/notesSlide33.xml" Id="R8042cc37aa2f416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6fde5bfa1846c9" /><Relationship Type="http://schemas.openxmlformats.org/officeDocument/2006/relationships/notesSlide" Target="/ppt/notesSlides/notesSlide34.xml" Id="R96bdd59d51db462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da0f0d7ac04da6" /><Relationship Type="http://schemas.openxmlformats.org/officeDocument/2006/relationships/notesSlide" Target="/ppt/notesSlides/notesSlide35.xml" Id="Rcae490218c7a41e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6348cd5c014cdb" /><Relationship Type="http://schemas.openxmlformats.org/officeDocument/2006/relationships/notesSlide" Target="/ppt/notesSlides/notesSlide36.xml" Id="R0be602cc49b843c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a4ce8ebcab4244" /><Relationship Type="http://schemas.openxmlformats.org/officeDocument/2006/relationships/notesSlide" Target="/ppt/notesSlides/notesSlide37.xml" Id="Radf1f5a288cf456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65f1879d3a4d3b" /><Relationship Type="http://schemas.openxmlformats.org/officeDocument/2006/relationships/notesSlide" Target="/ppt/notesSlides/notesSlide38.xml" Id="R46ee8cc2e1ba4b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3374A6-A1AB-4DCC-9692-2D81219A7470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7667625" y="2705100"/>
            <a:ext cx="0" cy="3390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23868-EA12-4319-9E9B-C386A58FDDEE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10810875" y="4895850"/>
            <a:ext cx="2238375" cy="1200150"/>
          </a:xfrm>
          <a:prstGeom xmlns:a="http://schemas.openxmlformats.org/drawingml/2006/main" prst="bentConnector5">
            <a:avLst>
              <a:gd name="adj1" fmla="val 0"/>
              <a:gd name="adj2" fmla="val 19048"/>
              <a:gd name="adj3" fmla="val 89787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47AAC-5962-462A-B4E8-F0D357A5272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0810875" y="2705100"/>
            <a:ext cx="666750" cy="1695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92C769-9234-4504-B541-67B8B6BD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EAGLE 完整流程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0FF87-7EEA-42CE-938A-E63B7CBE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策略、Java 與對戰證據的演化迴圈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85E05-C0DF-48C1-ABDB-3A2F2BBC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離線演化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BBD6F-11F6-49E5-8DEA-7ED3E75A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561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MicroRTS Java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047646-7281-4BA5-95AE-811A3EDB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09800"/>
            <a:ext cx="3143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策略／控制基因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47D1A-02DC-4E02-888E-D9D7B270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3905250"/>
            <a:ext cx="3143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C322D-B20E-4AEA-9A4B-F341F6EE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600700"/>
            <a:ext cx="3143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對戰證據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48D87-82B9-45D5-BB36-858A66CC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25527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生成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700CAC-0261-4907-A0D2-2260D812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54673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評估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47A7EB-AFBC-4E6A-B59F-E793047C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95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反思與選擇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31113-25E3-4C67-8395-A8CCEDA1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05375"/>
            <a:ext cx="40005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對戰時直接執行 Java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4968CC-5544-42A3-A1D1-D7391383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542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演化與 LLM 工作在對戰之前完成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5547B7-E349-454F-A480-7D0BA171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913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2026-10-21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16B3D0-CAB7-418A-AABC-BBD323C4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以對戰證據反思策略，再由演化選擇保留候選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138BAA-C08B-4712-AC6A-39CC3B87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 / 38</a:t>
            </a:r>
          </a:p>
        </p:txBody>
      </p:sp>
    </p:spTree>
    <p:extLst>
      <p:ext uri="{BB962C8B-B14F-4D97-AF65-F5344CB8AC3E}">
        <p14:creationId xmlns:p14="http://schemas.microsoft.com/office/powerpoint/2010/main" val="10422059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2CCFE7-19C7-443D-B2B8-A205ED0EB24C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4048125" y="7072313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EE4451-EDEF-4745-80C8-49B1CF5E4C84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8429625" y="7072313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32C81B-627F-444A-96ED-606272E9218A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2001500" y="5334000"/>
            <a:ext cx="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A81657-CD4C-4A4D-9A31-A60B5B51977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810625" y="46672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B40EED-EC57-45DD-BFFE-5E04F82D811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048125" y="46672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8FEF14-2034-45E3-91A1-DCEBA2D2D9D1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2500313" y="3095625"/>
            <a:ext cx="928688" cy="1095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70A28D-987F-4AF3-9840-0E1BB2D5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完整搜尋流程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5AA686-B783-47B0-9E7C-ED010B62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先固定 framework，再進入第 0 代與演化迴圈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E93D11-39D4-45D4-9F47-9A7E3761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146685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DB07B-95B0-46FB-BD40-6612A8D4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5143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GPT 產生 Java framework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D23C9-514D-4F10-988B-2746B47D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暫時人工由 ChatGPT</a:t>
            </a:r>
          </a:p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生成固定 framework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04B99-09A7-4EE1-AEF5-83585FBF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3095625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初始化 G0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F0346-1924-4B70-933F-EF78029D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191000"/>
            <a:ext cx="38100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 與初始評估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DC3F6-A103-4E33-A93B-52F7CEDF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00500"/>
            <a:ext cx="40005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刷新情境</a:t>
            </a:r>
          </a:p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選父代與變異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1BE822-2EF0-4737-972F-02C435D7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41910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子代評估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父代＋子代選倖存者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0F0ADF-ECED-4A54-B6B6-C1C0B45F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572250"/>
            <a:ext cx="342900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停止條件？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FB84FA-DCC6-4083-9C46-934C9E64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72250"/>
            <a:ext cx="3095625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Final Test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AE02DF-E236-4538-9ABA-B6D5166A9977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715125" y="57150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797E6B-9648-49B0-A769-35F8566A3A4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715125" y="5715000"/>
            <a:ext cx="771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B20349-B727-4E68-8EEE-3B2B8E74E928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4430375" y="466725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AA0686-1A2B-4F54-9423-FD0890C17BF7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4001750" y="46672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8E36D7-4B85-427E-81C0-F3C3A1EF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381625"/>
            <a:ext cx="22860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CF8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否：下一代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913F8B-56F8-4B29-8A14-47B9138F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391275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0D3FF0-ED5A-4F62-8B0D-E5D93A8A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 / 38</a:t>
            </a:r>
          </a:p>
        </p:txBody>
      </p:sp>
    </p:spTree>
    <p:extLst>
      <p:ext uri="{BB962C8B-B14F-4D97-AF65-F5344CB8AC3E}">
        <p14:creationId xmlns:p14="http://schemas.microsoft.com/office/powerpoint/2010/main" val="2318953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D4603-3158-4347-90E8-06E29BBD8DA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9753600" y="3357563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7300FE-4335-4274-B292-C969B8176081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514850" y="3357563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01CC9A-F6E1-4D8A-871C-8E62359A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策略 DSL 的執行語意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663EC-09E6-4D39-8FF8-0FB7976E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一條規則決定：誰，在什麼條件下，嘗試什麼動作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13F53-7DB4-4BD3-8D79-96F17A09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36195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actor</a:t>
            </a:r>
          </a:p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執行對象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112A9-28F7-4A29-AF9F-B0AA6DE0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24125"/>
            <a:ext cx="36195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when</a:t>
            </a:r>
          </a:p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可觀察條件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93BF6-2171-4213-8CF1-B6782FA5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524125"/>
            <a:ext cx="36195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action</a:t>
            </a:r>
          </a:p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候選動作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0ADDE4-DD92-4BD7-90A4-134F3160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38750"/>
            <a:ext cx="140970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CF8F5"/>
          </a:solidFill>
          <a:ln xmlns:a="http://schemas.openxmlformats.org/drawingml/2006/main" w="9525">
            <a:solidFill>
              <a:srgbClr val="DEB4BA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規則 1   →   規則 2   →   規則 3   →   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B0203-0F63-413A-AA6E-127FC03A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724650"/>
            <a:ext cx="3429000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可合法發出動作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2E862-B475-4F52-8E67-9A3531AD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724650"/>
            <a:ext cx="4476750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無法發出：繼續下一條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D2DC12-863A-4129-A31A-71FB2C58F2B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953000" y="6191250"/>
            <a:ext cx="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CAF037-AEA2-4A36-BAF6-145ABA0E46A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763250" y="6191250"/>
            <a:ext cx="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D904B-F888-4AF8-AAF2-69C9F6EB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DSL 離線轉為 Java；對戰不執行文字指令。空 rules 代表 idle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E26D4C-7E33-491D-A5A3-736DF67C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 / 38</a:t>
            </a:r>
          </a:p>
        </p:txBody>
      </p:sp>
    </p:spTree>
    <p:extLst>
      <p:ext uri="{BB962C8B-B14F-4D97-AF65-F5344CB8AC3E}">
        <p14:creationId xmlns:p14="http://schemas.microsoft.com/office/powerpoint/2010/main" val="4567588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601730-6A47-4218-9FD5-77F7C15A73A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858375" y="4619625"/>
            <a:ext cx="1285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FDABBF-3F74-405C-892A-E7FAF409C091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4895850" y="4619625"/>
            <a:ext cx="1247775" cy="762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BA1C4-6263-40A1-B0D6-AF919960086A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95850" y="2809875"/>
            <a:ext cx="1247775" cy="1809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DD9E18-006E-489F-9834-B6F1BBA1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的一次性建立與凍結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93E7D-E7FC-4682-8AC6-F64400B7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架構建立一次；模板、槽位與表達式在搜尋期間保持固定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C0A5C-DCC2-40ED-BAB7-C0C301BD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4095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新建立 framework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9866D-68C9-42C9-BEA0-80B2DA15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4095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已有外部 bundle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7E7A1-BC34-43DE-8BB8-E0EC0502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19475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design_brief</a:t>
            </a:r>
          </a:p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Groq／Mistral／local bootstrap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B6FC37-DD3C-44E8-A3FF-A58DFD0C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0075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人工準備或共用架構</a:t>
            </a:r>
          </a:p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指定 bundle_path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21CA3-2B5B-410A-812A-10DB1B23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57625"/>
            <a:ext cx="37147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Schema</a:t>
            </a:r>
          </a:p>
          <a:p xmlns:a="http://schemas.openxmlformats.org/drawingml/2006/main"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與 Java 契約驗證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0D8E29-1A99-4BA7-81CD-85203523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0"/>
            <a:ext cx="3905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凍結 bundle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B491D8-4D7F-46CD-850F-B474CAC9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5905500"/>
            <a:ext cx="1809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exact bytes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6EF6F9-98BF-4056-BCB2-88A4F563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905500"/>
            <a:ext cx="17145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SHA-256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46BFFD-C3C1-4783-9919-C5220FD0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之後只演化 control_genome；resume 讀凍結版本，不重新 bootstrap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766121-61AF-4300-B28F-F6803956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 / 38</a:t>
            </a:r>
          </a:p>
        </p:txBody>
      </p:sp>
    </p:spTree>
    <p:extLst>
      <p:ext uri="{BB962C8B-B14F-4D97-AF65-F5344CB8AC3E}">
        <p14:creationId xmlns:p14="http://schemas.microsoft.com/office/powerpoint/2010/main" val="14863440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3D915E-7450-449E-BB5D-AA76BC05DA9A}"/>
              </a:ext>
            </a:extLst>
          </p:cNvPr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6429375" y="77152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C0F2D9-00D2-479B-8F5A-1077944F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的有限選項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A2A15-4AAF-48C5-B454-81753353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slot 是固定 Java 裡的可替換位置；演化只改選值，Java 骨架保持固定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A3472-D6B7-4E0B-BB8B-2524C1A2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573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槽位的意義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0FA4C-A89C-463D-AE9F-825810EA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573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bundle 定義的合法選項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46678-2817-4AC5-A615-5BF17E2F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857375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候選保存的值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57F1A-1963-442A-BC79-1C8D62F1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146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integer｜工人數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771BAE-AD9C-412B-AFB2-C8B436AD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813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worker_target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E4AB6-1BE6-4D95-89E2-59B98756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DB8010-140B-4991-99AE-997566F2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896160-3B30-4C8C-96E6-C3BCB692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5A269-FF62-474B-B4B4-EB052F87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ED926B-7466-4C1C-97FD-2608FDF6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E190B4-1A89-4C79-B40C-F0DB6DFE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3DF41D-19BA-4B03-9E35-122ECB77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816CD3-4CD9-4BC6-8A4D-B7709CCE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486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min = 2，max = 8，step = 1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43CD5C-C4D8-4937-AC43-A7C398DF115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953625" y="31718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58DCCC-242C-4A2B-AAA5-43443611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762250"/>
            <a:ext cx="4476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worker_target: 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CFF39A-ED43-46BD-A7C1-F6E7D323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number｜數值權重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982012-78E5-4914-8907-07FA1EE9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006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attack_weight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01BED2-E415-4B8B-83D2-1A676838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381500"/>
            <a:ext cx="952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E4FF80-17CE-41D5-B281-B35337D1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81500"/>
            <a:ext cx="952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0.25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692DFC-8864-4FAE-BC75-484DACFC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81500"/>
            <a:ext cx="952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0.5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693B14-E15B-4FB1-AEFD-C63D1AED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81500"/>
            <a:ext cx="952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0.75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E31A85-E845-4F83-BD98-C8A6B696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81500"/>
            <a:ext cx="952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B1B170-12A7-4BEE-BDBF-D85FEDAD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10540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min = 0，max = 1，step = 0.25</a:t>
            </a:r>
          </a:p>
        </p:txBody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F3A912-6B8F-4B33-AEEB-25F06F65976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953625" y="47910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B15D7D-2A9F-4F41-B3A7-1EAB5A56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4476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attack_weight: 0.75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C3C01E-14CA-4DB1-97D4-9BE940DC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expression_choice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A04560-A0B6-4A40-B4C6-E3FB91BA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198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攻擊目標 target_policy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A53BFC-19E9-4270-8A04-C534E140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000750"/>
            <a:ext cx="1714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最近敵人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4EF4BD-0E56-4432-841D-4FFFE9ED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000750"/>
            <a:ext cx="1714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最低血量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16D10B-5CA6-4FFC-84FD-C3EE4D0F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6000750"/>
            <a:ext cx="1714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敵方基地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A803FD-29B0-4C7A-B40A-BFC05836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762750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每個 choice_id 已對應一段固定 Java 表達式</a:t>
            </a:r>
          </a:p>
        </p:txBody>
      </p: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B56F0B-3D95-4C9F-9D17-00DE63E4FE0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953625" y="64103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3F4DB0-265D-4C34-AD78-D3D6FF66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00750"/>
            <a:ext cx="4476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target_policy: "lowest_hp"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94BAEF-5683-4CC7-916A-31EAC17A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419975"/>
            <a:ext cx="57150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填滿全部 slot，組成完整 genome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44A034-9E2A-4E88-B677-F84110CF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419975"/>
            <a:ext cx="7286625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驗證選值，再填入固定模板產生 Java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49DE51-9172-4C73-A11D-198A0B62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簡化示例，實際選單由 bundle 決定。number 也只能選離散格點，不能任意填小數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95A47C-855E-40FA-A87C-12403CDD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5 / 38</a:t>
            </a:r>
          </a:p>
        </p:txBody>
      </p:sp>
    </p:spTree>
    <p:extLst>
      <p:ext uri="{BB962C8B-B14F-4D97-AF65-F5344CB8AC3E}">
        <p14:creationId xmlns:p14="http://schemas.microsoft.com/office/powerpoint/2010/main" val="12294356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6C2D25-C38E-488E-BA04-C2B9AD359A13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8001000" y="6019800"/>
            <a:ext cx="3810000" cy="1123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4D5F7A-76F6-4C01-AB26-E7ACA57FA31C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4095750" y="5895975"/>
            <a:ext cx="3905250" cy="1247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81470E-7FB5-4033-903A-AB4BED358DF9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1811000" y="4276725"/>
            <a:ext cx="0" cy="676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4F12AE-09C1-4B86-81F4-31342BE3E012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4095750" y="4276725"/>
            <a:ext cx="0" cy="819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EC725F-0F7C-4E2F-9331-BC0CF665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的 local 與 llm_coach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CCD08C-6A15-4C5C-8158-BCBA5072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兩種演化政策，共用相同的凍結 framework 與下游評估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85A359-A42C-4EBF-873E-E906870E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6858000" cy="4572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58429-302E-4B15-9797-C6502F8E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6858000" cy="4572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78C15-63F6-42E4-A46A-2DEE8548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14575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local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202B6-B272-43D5-B95F-D58E8A44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14575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llm_coach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6B2A30-F2D2-4543-B497-A62DB3A4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76625"/>
            <a:ext cx="59055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CF8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初始：有限域採樣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FC6685-37C6-4232-B8AF-65A750D6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59055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逐槽交配，至多一槽突變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082FFE-78D7-464E-9633-F7B1475E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76625"/>
            <a:ext cx="59055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CF8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初始：LLM 選完整 genome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8DFEA8-698B-4289-9011-29638931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53000"/>
            <a:ext cx="5905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最差單場賽評＋Coach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回傳完整 genome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E2376C-1E5D-49D5-B7A1-5937399B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7143750"/>
            <a:ext cx="75247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本地渲染 Java，再驗證與對戰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37CE13-67C4-4E59-8CD7-60B72774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Coach 回應不合法：保留突變前的完整 genome，標記失敗，不隨機補值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8E7A3F-727D-4A27-9C71-C48426D3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6 / 38</a:t>
            </a:r>
          </a:p>
        </p:txBody>
      </p:sp>
    </p:spTree>
    <p:extLst>
      <p:ext uri="{BB962C8B-B14F-4D97-AF65-F5344CB8AC3E}">
        <p14:creationId xmlns:p14="http://schemas.microsoft.com/office/powerpoint/2010/main" val="7128244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FBD4D7-909F-4A2B-A578-E52D751528CF}"/>
              </a:ext>
            </a:extLst>
          </p:cNvPr>
          <p:cNvCxnSpPr>
            <a:stCxn xmlns:a="http://schemas.openxmlformats.org/drawingml/2006/main" id="21" idx="0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2381250" y="2971800"/>
            <a:ext cx="2714625" cy="3267075"/>
          </a:xfrm>
          <a:prstGeom xmlns:a="http://schemas.openxmlformats.org/drawingml/2006/main" prst="bentConnector5">
            <a:avLst>
              <a:gd name="adj1" fmla="val 0"/>
              <a:gd name="adj2" fmla="val 6997"/>
              <a:gd name="adj3" fmla="val 91579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EDC498-F370-436E-B603-050099272855}"/>
              </a:ext>
            </a:extLst>
          </p:cNvPr>
          <p:cNvCxnSpPr>
            <a:stCxn xmlns:a="http://schemas.openxmlformats.org/drawingml/2006/main" id="19" idx="1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3952875" y="681037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6982A-66EB-4BD4-84C0-7CFB1214DA26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7953375" y="5667375"/>
            <a:ext cx="4143375" cy="1143000"/>
          </a:xfrm>
          <a:prstGeom xmlns:a="http://schemas.openxmlformats.org/drawingml/2006/main" prst="bentConnector5">
            <a:avLst>
              <a:gd name="adj1" fmla="val 0"/>
              <a:gd name="adj2" fmla="val 20000"/>
              <a:gd name="adj3" fmla="val 94483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471510-EFA1-490F-A13D-13D72D8584BB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2096750" y="3419475"/>
            <a:ext cx="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BA2167-937D-45BF-94C8-B802C387D971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953375" y="2971800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727133-9BF0-4D39-9DB3-631D15B4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每一個演化世代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AE09D-CD7C-4D36-AA62-5DE6EC15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例：10 位父代與 10 位子代，選出固定 10 位下一代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A20D4-0FE1-4ACD-BC79-2028B34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143A1-23B0-4B94-87BE-C5F48DA1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DC590-B36B-4623-B814-33E0E2B2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48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ED685-0117-4346-9AF5-0A2FBF1A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048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4753C-CF5A-4105-A890-2D932D2E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48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A5429F-5C13-43D3-9BB5-7A7CC857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48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145F34-9EDF-472F-BA02-9A2F8BCD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1F798C-510C-4525-AF89-2FE582B1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14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2516D2-2175-48D4-8787-E7F00EF9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14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99B351-9FB5-4DBE-9348-8782A002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14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E64EBC-DB78-4E99-8E80-1D672992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14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E36724-ED66-4CEF-9041-4A09B402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524125"/>
            <a:ext cx="28575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選父代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40366E-254C-44CC-AFCB-DE2D394E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524125"/>
            <a:ext cx="39052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交配與突變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B69D30-D720-4D49-A17B-ED3F9C6F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619625"/>
            <a:ext cx="3905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Java、驗證與子代評估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65A987-DAF0-47EF-AE2A-2879F6F4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238875"/>
            <a:ext cx="2857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父代＋子代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選下一代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D583AD-B2B0-4C1D-B10A-F834F1C0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38875"/>
            <a:ext cx="3143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更新 pool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保存 checkpoint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8C2176-B40D-4EAB-8153-AA417382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29075"/>
            <a:ext cx="89535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self-play 刷新時，繁殖前先重評父代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529E9D-4DE4-4353-8065-94AF9009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世代提交後才前進；新入池成員等下一次快照刷新才可能成為對手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4A8EBC-439B-4D42-A393-7F10D2B1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7 / 38</a:t>
            </a:r>
          </a:p>
        </p:txBody>
      </p:sp>
    </p:spTree>
    <p:extLst>
      <p:ext uri="{BB962C8B-B14F-4D97-AF65-F5344CB8AC3E}">
        <p14:creationId xmlns:p14="http://schemas.microsoft.com/office/powerpoint/2010/main" val="11997169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B5CF96-8396-4E32-BC59-53B0A318CBA4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1715750" y="4676775"/>
            <a:ext cx="0" cy="800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DEA2D5-FCD9-4E96-BD6E-F44D54D6BB6D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3810000" y="4676775"/>
            <a:ext cx="0" cy="895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A2DF4E-D837-433F-B0E1-2B4AABCD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繁殖父代如何選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A34314-E576-4C5B-ACE6-1911081D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繁殖父代提供基因；評估對手與倖存者選擇是另外兩個環節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8942B1-C4B8-4ED5-93D5-83239E1A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Fixed roster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41CC6-CC2F-4CF4-8A17-53A0683B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Self-play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0CBAB-1975-4CC4-9C61-BA43C8C0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59055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十案例 lexicase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B403E-F746-43E4-B60D-760A7E52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59055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Game Performance 頂層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9F5EC1-CC52-4A9F-A799-2B9B0682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57625"/>
            <a:ext cx="5143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打亂案例順序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886340-E81D-4F8D-A8A7-CCD9F375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72125"/>
            <a:ext cx="5143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依案例留下最高分者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DD4AB-11B8-4795-A67C-B5D84545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57625"/>
            <a:ext cx="5143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距最高分 ≤ 1.0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27BCA2-BDFD-4EFD-A74E-D3BFE3CB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76875"/>
            <a:ext cx="5143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第二父代可優先選</a:t>
            </a:r>
          </a:p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行為差異較遠者</a:t>
            </a:r>
          </a:p>
        </p:txBody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40B95-E71B-481A-84D9-64040204508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05750" y="2238375"/>
            <a:ext cx="0" cy="5048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EB4BA"/>
            </a:solidFill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902D49-6C4D-433B-97A2-4F89AA06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9135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兩次獨立抽樣，可選中同一父代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26B8AA-81B0-4961-94F1-E859E3F3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99135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語意距離只在同分範圍內作用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75209E-4C94-44EA-8569-40515C01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8 / 38</a:t>
            </a:r>
          </a:p>
        </p:txBody>
      </p:sp>
    </p:spTree>
    <p:extLst>
      <p:ext uri="{BB962C8B-B14F-4D97-AF65-F5344CB8AC3E}">
        <p14:creationId xmlns:p14="http://schemas.microsoft.com/office/powerpoint/2010/main" val="17720373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E74B72-89B6-414B-B627-C6A03967EB3A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239250" y="648652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CD0763-C07E-4AF5-8CEA-64CAE7BDD03F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12096750" y="36290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B43C42-0BF0-40C5-BF63-5278E5047C9E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239250" y="36290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19C0F1-EF67-4566-95DF-A587A9EE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Lexicase 的案例篩選示例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E7696-9E58-4B71-A071-5C7BDC3E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教學示例：改變案例檢查順序，專長不同的策略都有機會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9C45B-192B-4572-970C-5BE39E5C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76500"/>
            <a:ext cx="1428750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B6F43-7035-4E1D-8C05-3E97DDB1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76500"/>
            <a:ext cx="1428750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030D7-3334-45A2-8873-1BC07A3D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476500"/>
            <a:ext cx="1428750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116780-9DD5-4E25-9E53-EC95F2AE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428750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C3C2B-F68B-41BF-B415-FE92617C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571875"/>
            <a:ext cx="1428750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90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A65B9-F977-4E0A-B7EA-4307F193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71875"/>
            <a:ext cx="1428750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194038-B5DF-44CB-A440-BD5631A5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67250"/>
            <a:ext cx="1428750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37A72-71EB-404A-BD49-E463D9F4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667250"/>
            <a:ext cx="1428750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90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C9FEE2-CAB6-4C7D-9C28-69402889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667250"/>
            <a:ext cx="1428750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70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5433F3-2D36-434C-99B7-9801C870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62625"/>
            <a:ext cx="1428750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AFAADF-D94E-4389-A3AE-833A5B63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762625"/>
            <a:ext cx="1428750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80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59280A-3532-4A50-BC60-F9E0A92F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762625"/>
            <a:ext cx="1428750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95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BAE34A-6A39-4ACC-BD41-D906E670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順序 X、Y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B48595-AED6-430B-B5B7-CE8D87AD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38500"/>
            <a:ext cx="2286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A、B、C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090B55-E3ED-482E-B690-60F8119F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0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A、B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6EAEEE-1DB5-4C97-81C0-0C5EBDD7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3238500"/>
            <a:ext cx="1524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7155D2-0EFC-4CC4-9487-DC8E3B93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09875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X 最高分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EE5C69-426C-4F4E-B1B5-5E287758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2809875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Y 最高分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A2BDB3-01BE-4DDC-8A61-42B6ED13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3875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順序 Y、X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BD9E16-51DF-4CC2-9A8E-06D9AACB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96000"/>
            <a:ext cx="2286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A、B、C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1A2EE1-6BC3-4548-BCF8-0C039461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096000"/>
            <a:ext cx="2286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FF0D69-0B56-4C22-8F2D-64347D17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6769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Y 已剩一位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3CD9A5-F905-4D02-8E45-27A05CED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正式流程使用十個對手案例；本頁數值只說明篩選機制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924D58-9CDC-4E39-8304-0987A6E4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9 / 38</a:t>
            </a:r>
          </a:p>
        </p:txBody>
      </p:sp>
    </p:spTree>
    <p:extLst>
      <p:ext uri="{BB962C8B-B14F-4D97-AF65-F5344CB8AC3E}">
        <p14:creationId xmlns:p14="http://schemas.microsoft.com/office/powerpoint/2010/main" val="12784785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125111-2FB9-4700-99CB-BA84467152D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610100" y="6029325"/>
            <a:ext cx="1466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4457A3-317F-48C6-94FD-C3162F607A50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9791700" y="4743450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15A6B8-DBA1-4722-B12D-B934974271B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610100" y="3457575"/>
            <a:ext cx="1466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EADB1D-E4A5-408E-8308-8289ED1B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交配與來源譜系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C8502-1887-405E-8B96-F0F1F6AE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直接父代與各成分的真正來源，分開保存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DD6DC2-7382-43AF-B23E-D9834B78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209B3-6DA7-4C2E-B3C1-D784BAB6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1431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617FC-88E8-4C3D-BC76-984F8B81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3810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 DSL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29B97-17FB-45D8-89BF-5C153467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3810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 prompt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95E05-5A81-4558-8679-ADC5B742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3810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inherited Java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001BB-FF59-4A52-B4F2-DA528714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0"/>
            <a:ext cx="3810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 DSL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2252A-8991-4F16-92A8-05EA03A0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33875"/>
            <a:ext cx="3810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 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767013-8F5A-45CE-B027-1200E1A6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619750"/>
            <a:ext cx="3810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inherited Java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1AB124-A5EC-431A-A5DF-B8EEA0A8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48000"/>
            <a:ext cx="3714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 DSL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9E13CC-46BC-4D11-88D5-D768ECBC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33875"/>
            <a:ext cx="3714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 prompt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CAE37C-519F-46ED-B77F-FAB458B7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3714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inherited Java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E203B3-00FA-4724-8EC0-0DF493C8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143125"/>
            <a:ext cx="42862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子代：成分獨立選來源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1D6C48-C9DA-49FC-ACBF-B59E3D0C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972300"/>
            <a:ext cx="676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Java 這一列只在 inherited 模式啟用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182D34-7B5F-4F10-9DEB-6ADF51D0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DSL 模式複製完整 policy；framework 模式改為每個 slot 獨立交配並保存 donor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21A9FA-798F-449C-816C-94682A52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10 / 38</a:t>
            </a:r>
          </a:p>
        </p:txBody>
      </p:sp>
    </p:spTree>
    <p:extLst>
      <p:ext uri="{BB962C8B-B14F-4D97-AF65-F5344CB8AC3E}">
        <p14:creationId xmlns:p14="http://schemas.microsoft.com/office/powerpoint/2010/main" val="12112455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6B1854-2065-4928-A907-19F77220DCF0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7143750" y="4619625"/>
            <a:ext cx="476250" cy="2438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B2B808-7B1A-49A1-B35A-843534D00778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1430000" y="5143500"/>
            <a:ext cx="1262063" cy="190500"/>
          </a:xfrm>
          <a:prstGeom xmlns:a="http://schemas.openxmlformats.org/drawingml/2006/main" prst="bentConnector4">
            <a:avLst>
              <a:gd name="adj1" fmla="val 0"/>
              <a:gd name="adj2" fmla="val 6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AAF16E-5CE8-4030-8893-ED9B6EAECDB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858250" y="3952875"/>
            <a:ext cx="1714500" cy="857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7D5AE-602F-49A4-9409-D6F8DE458234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1430000" y="2762250"/>
            <a:ext cx="1262063" cy="190500"/>
          </a:xfrm>
          <a:prstGeom xmlns:a="http://schemas.openxmlformats.org/drawingml/2006/main" prst="bentConnector4">
            <a:avLst>
              <a:gd name="adj1" fmla="val 0"/>
              <a:gd name="adj2" fmla="val 6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BC543-1D26-4C70-AB3E-7B1996142B5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8858250" y="2428875"/>
            <a:ext cx="1714500" cy="1524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D343F-65BA-42AC-9C66-1F895399DF8F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905250" y="395287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A9B25B-80F6-497B-860F-79664035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 模式的交配前 Code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60BFD8-4F74-4B50-8B7A-0B777E40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僅 LLM 模式執行；每位實際來源先對照自己的策略與 Java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142F6-E612-468B-8233-F60FAD5C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314325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來源 policy</a:t>
            </a:r>
          </a:p>
          <a:p xmlns:a="http://schemas.openxmlformats.org/drawingml/2006/main"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＋原始 Java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15DB3-D7F0-47EF-959C-4D2A6D12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86125"/>
            <a:ext cx="34290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Code 診斷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FF221-DA0C-4FB4-B3ED-7C676E66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0"/>
            <a:ext cx="1714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健康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0CDD0-D200-4EB2-8637-2F49EA02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52750"/>
            <a:ext cx="423862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正常交配與突變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486193-E5E7-43CF-9572-E19FC22A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76750"/>
            <a:ext cx="1714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有缺陷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A557F2-6353-4DF5-8E10-C96A3069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334000"/>
            <a:ext cx="4238625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單一父代修正 Java</a:t>
            </a:r>
          </a:p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保留原 prompt 基因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25D32C-B428-4B33-9B6F-FE015B8B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7058025"/>
            <a:ext cx="76200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E9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診斷失敗：保留證據，標記失敗子代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774BAF-AFF6-48F8-BC0D-EC077EEA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只修策略忠實度與程式正確性；Code gate 不靠勝率評分，也不計 AOS credit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2116E-C514-4B1B-8B23-8BF423BA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11 / 38</a:t>
            </a:r>
          </a:p>
        </p:txBody>
      </p:sp>
    </p:spTree>
    <p:extLst>
      <p:ext uri="{BB962C8B-B14F-4D97-AF65-F5344CB8AC3E}">
        <p14:creationId xmlns:p14="http://schemas.microsoft.com/office/powerpoint/2010/main" val="13688634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95FC42-63C4-4734-82DF-F65835A9B041}"/>
              </a:ext>
            </a:extLst>
          </p:cNvPr>
          <p:cNvCxnSpPr>
            <a:stCxn xmlns:a="http://schemas.openxmlformats.org/drawingml/2006/main" id="27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12787313" y="5172075"/>
            <a:ext cx="0" cy="1533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64823C-324B-44DC-B2B4-35CAF9C2B918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429750" y="3190875"/>
            <a:ext cx="1428750" cy="1409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82C5F4-56F1-49BF-B05D-59E29B27923A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V="1">
            <a:off x="9429750" y="4600575"/>
            <a:ext cx="1428750" cy="1352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A8FD20-5608-4706-93C9-765887252971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4191000" y="5867400"/>
            <a:ext cx="1333500" cy="85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7D763C-33A3-4AF6-9CB3-A4912E24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Strategy Reflection 的證據路徑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B67C6F-6C34-4A72-B000-CED78878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Coach 同時看全局摘要，但詳細賽評只取策略來源父代的一場最差對戰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48DEFD-5124-488F-ABD1-13062B3D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父代已完成對戰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87C38-64F0-4C85-949E-916DD5AF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A2E20-3647-4461-A90E-118C8CD4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8575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CE15E2-8480-4566-B027-BCFFDC83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8575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AAD77-4D11-4DC0-92EF-5C32345B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8575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95F0C-2652-4847-8697-7909A761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8575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02AAB-893B-4C01-834C-91DAE071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575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29272A-4530-4C4A-99E1-7720F18A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555CB-C4C8-4C87-AE52-241825DF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121821-E9A0-48D3-A0A7-A97E37A6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BBE0CC-B7D6-40E0-910A-7CFB328B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A097C8-ED98-4159-8325-6E0B2017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95755B-B366-4D7E-A161-1412B1A3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D69FB8-20DD-4647-BE4D-10545B96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386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FDAD13-A9F9-40C6-951D-F3FDD0EE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0386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F156C1-311F-4863-A841-9919D0D9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0386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4FFFD5-C9F1-414D-A764-71566BA0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0386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F30B9-34F9-4407-9F7C-01CD949D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0386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2DF401-EDA4-4FFC-9BB7-1E67825A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386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366B73-9E15-45FB-B01F-A6047D76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4BFF97-E956-464C-AB6C-D9758C0D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3333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 場詳細 trace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A4B9A3-6E4C-4673-88F4-02FD5A05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429250"/>
            <a:ext cx="3905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Match Commentator</a:t>
            </a:r>
          </a:p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診斷轉折與失誤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40BC5B-517B-43DD-8C00-DA00E53C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33675"/>
            <a:ext cx="39052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全場 global summary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E1C38A-BA57-4294-9C74-676BE887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29075"/>
            <a:ext cx="385762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Coach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498B0F-B38F-4A5D-AE59-A3949C8C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705600"/>
            <a:ext cx="43338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 DSL 或完整 genome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CF81D1-3452-466E-AE3B-F1A8597B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672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圖中場次方塊為示意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4E69F5-A3CF-4E81-BDDB-8704DDB8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找不到該場 trace 或賽評失敗，不另挑替代賽事；原基因與證據保留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6FCC3F-A502-4D68-A3E0-F1EF3327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12 / 38</a:t>
            </a:r>
          </a:p>
        </p:txBody>
      </p:sp>
    </p:spTree>
    <p:extLst>
      <p:ext uri="{BB962C8B-B14F-4D97-AF65-F5344CB8AC3E}">
        <p14:creationId xmlns:p14="http://schemas.microsoft.com/office/powerpoint/2010/main" val="2220485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1B71F1-F198-4FAC-B837-648269F26E20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762375" y="40957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03BC77-DDAF-4D44-B1A4-4BD7AD91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最差場次與策略回應的驗證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D5A11-6887-4F66-9390-06A4D5AA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先選對證據，再驗證 Coach 提出的完整規則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801DA-5C0A-4F97-B0E8-BA1D19D9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最差已完成場次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22F94-A0A1-48BD-92BB-A5D64DDE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9075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JSONL 逐行規則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24347-ED4F-4A2F-9B51-2FBC3275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performance 為有限值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選最低值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379CF-24EF-415C-AAF2-F0245C80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14875"/>
            <a:ext cx="5810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缺值時：敗 −100、和 0、勝 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DAAEB-FE5A-4E6E-B747-970A47C0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34100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同分按 match_id；失敗比賽排除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A9E5F-73EF-4520-BDE9-8A50138D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43250"/>
            <a:ext cx="5905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合法規則 1　保留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FE5393-F0AF-4DCF-8991-F3ABD689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76750"/>
            <a:ext cx="5905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EE9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非法整行規則　捨棄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7EA548-FD81-4FAF-BB21-374E1A51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810250"/>
            <a:ext cx="5905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合法規則 3　保留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31E6F0-9219-442C-B93D-AD1FC10A16C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05750" y="2381250"/>
            <a:ext cx="0" cy="4857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EB4BA"/>
            </a:solidFill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6F2747-1D54-4196-80F7-85FA68A3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合法規則保留原順序；至少一條才成功。Framework 回應仍要求完整 genome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2A1B9D-6603-4F40-9B63-3C46253D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13 / 38</a:t>
            </a:r>
          </a:p>
        </p:txBody>
      </p:sp>
    </p:spTree>
    <p:extLst>
      <p:ext uri="{BB962C8B-B14F-4D97-AF65-F5344CB8AC3E}">
        <p14:creationId xmlns:p14="http://schemas.microsoft.com/office/powerpoint/2010/main" val="5392573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774C29-2E54-40DC-802A-92B0DE2C52BC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4095750" y="604837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F224E0-402F-4DBA-8D13-A0A60CBC1A35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9334500" y="6048375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E305C2-A46F-4C73-A7BB-3B48623373C6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12620625" y="4095750"/>
            <a:ext cx="333375" cy="1524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138091-961F-49E3-9F88-D944428F1F1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9572625" y="361950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98001-71CB-4BEE-8A60-90C17992E2FC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5143500" y="361950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7D6049-264D-410B-95F3-59F27D61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Prompt Reflection 的資料邊界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8BF5F-69E2-4525-8592-971F99D2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改進「如何把策略翻成 Java」的可重用規則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E5E42-94DD-4F93-BADE-E8C39334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43815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Policy</a:t>
            </a:r>
          </a:p>
          <a:p xmlns:a="http://schemas.openxmlformats.org/drawingml/2006/main"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可編輯 Java 區域</a:t>
            </a:r>
          </a:p>
          <a:p xmlns:a="http://schemas.openxmlformats.org/drawingml/2006/main"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相符的 validation／compiler 診斷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DF4E1-DBA4-4714-8DFA-711DCBBC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43250"/>
            <a:ext cx="3238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Reviewer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2C988-BC42-46CE-9BA3-35266B22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143250"/>
            <a:ext cx="37147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Rewriter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F0117-02E7-40F8-B7D7-40F6042F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619750"/>
            <a:ext cx="43815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Reusable-rule delta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96A847-6243-4099-A1D3-D0408477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19750"/>
            <a:ext cx="4095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generation_prompt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BAE462-46DF-48F9-A8FF-23EEA3BC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3333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 Generator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DE4BEC-CBB7-4127-9611-EE83B9D3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105650"/>
            <a:ext cx="4095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策略基因保留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C98576-95DE-4A91-8DFA-E362B3FB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Reviewer 不接收勝敗、fitness、對手分數或比賽 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53885C-B8ED-4275-81B1-09FC7887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14 / 38</a:t>
            </a:r>
          </a:p>
        </p:txBody>
      </p:sp>
    </p:spTree>
    <p:extLst>
      <p:ext uri="{BB962C8B-B14F-4D97-AF65-F5344CB8AC3E}">
        <p14:creationId xmlns:p14="http://schemas.microsoft.com/office/powerpoint/2010/main" val="11049284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155C69-6CAE-4874-9830-A281090F83DF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8072438" y="6048375"/>
            <a:ext cx="4867275" cy="12382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6B3BDB-9AF1-4C8D-A05D-7F4B684F0183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7958138" y="6048375"/>
            <a:ext cx="2414588" cy="12382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573D04-5F61-40F9-9BBE-04CE17C18259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2976563" y="6048375"/>
            <a:ext cx="5095875" cy="12382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5E1440-FD56-4E69-8654-99B615B17D86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12939713" y="4524375"/>
            <a:ext cx="4763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DD487-320A-4FC4-A03F-923D6F5647F8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7958138" y="4524375"/>
            <a:ext cx="4763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A7EBAB-37A4-4D51-9FF9-DEAD596929C3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2976563" y="4524375"/>
            <a:ext cx="4763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4AD79D-D92F-4647-831E-F1A26DBE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三條 Java 產生路徑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39268B-261E-428B-9B10-AAABF09E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不同基因表示，匯入同一條 Java 驗證與對戰路徑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E7C96-F979-483F-9AE2-BC51CE2B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591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0814C-13C6-4257-B2E4-CE2A961A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5910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策略＋generation prompt</a:t>
            </a:r>
          </a:p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選配 inherited Java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7ECA4-046E-4A70-835E-7E3CB082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3476625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CAD02-4326-4DA9-85CA-803BE31F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591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有界生成／編譯修復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38673F-CE88-4329-9CE0-25626825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143125"/>
            <a:ext cx="4591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Deterministic DSL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BC14B-F107-43C9-941F-A7923131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238500"/>
            <a:ext cx="45910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Canonical policy</a:t>
            </a:r>
          </a:p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本地 typed IR 編譯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969FC7-478A-44FE-9F27-E6A3CCA3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238750"/>
            <a:ext cx="3476625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F3B724-5352-4BDB-9217-C12C6CC5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6400800"/>
            <a:ext cx="4591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失敗不呼叫 LLM 修復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DB9D2F-4D52-4942-BFAD-02D1CEA4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143125"/>
            <a:ext cx="4591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slots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7384FB-28C9-4FC0-B094-A1999AC4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238500"/>
            <a:ext cx="45910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凍結 template</a:t>
            </a:r>
          </a:p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＋完整 control_genome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22A513-2769-48AB-8F03-C347A409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238750"/>
            <a:ext cx="3476625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BA38F1-4C44-4E14-B144-6E2286A4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00800"/>
            <a:ext cx="4591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失敗不呼叫 LLM 修復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37EB14-DCAF-4925-B447-926E175C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286625"/>
            <a:ext cx="9096375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Validation → javac → Integration → MicroRTS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C85F26-FB3B-481F-A50C-0907FB59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語意 probe 為選配診斷，self-play 必須啟用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7CB88C-8FC6-4319-A209-35F4A4E2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15 / 38</a:t>
            </a:r>
          </a:p>
        </p:txBody>
      </p:sp>
    </p:spTree>
    <p:extLst>
      <p:ext uri="{BB962C8B-B14F-4D97-AF65-F5344CB8AC3E}">
        <p14:creationId xmlns:p14="http://schemas.microsoft.com/office/powerpoint/2010/main" val="15823000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BF587B-AA5A-4339-9020-808CF417AD36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4048125" y="6405563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0A715D-3759-43A8-A270-EA60A1015C75}"/>
              </a:ext>
            </a:extLst>
          </p:cNvPr>
          <p:cNvCxnSpPr>
            <a:stCxn xmlns:a="http://schemas.openxmlformats.org/drawingml/2006/main" id="10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6553200" y="4000500"/>
            <a:ext cx="1209675" cy="19050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97EC34-7C04-4AF2-8AF1-380B58FD2C02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3192125" y="4000500"/>
            <a:ext cx="23813" cy="1905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1358D-83F2-4145-A994-6BA8C6A821D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9715500" y="3357563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4F244-35CC-41AD-8871-8E82658FB0B6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048125" y="3357563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190D8-2492-4DB7-8B21-096DF61A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 生成與有界修復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9C26B-645B-485E-925B-97E49A3E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第一份驗證與編譯成功的 source／classes，成為唯一 canonical 表型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A3BC3-0FC3-4300-A46D-6AD270F1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3286125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權威基因</a:t>
            </a:r>
          </a:p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＋固定 scaffold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2EE76-1C75-4845-B9EB-5AEA420B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14625"/>
            <a:ext cx="39052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 回應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048729-395D-4735-A1C8-E6286F10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714625"/>
            <a:ext cx="4000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外框／normalize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Validation＋javac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8B3F4A-A72D-4164-8013-6C76D158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905500"/>
            <a:ext cx="3762375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成功 → 提升表型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F747C-DC61-474F-B7CA-37D8A5E2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05500"/>
            <a:ext cx="39052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前次完整 source</a:t>
            </a:r>
          </a:p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＋當次結構化診斷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27C26C-5533-459C-A4A1-4F9FE37C7CF9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0477500" y="367665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4D759C-76D5-4414-9DDA-C2748F9F01A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477500" y="3676650"/>
            <a:ext cx="0" cy="2752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4F903-B091-4B03-8919-7F94B3F1CB31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9715500" y="6429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6134D5-0FAD-499B-87DA-E7E52F5C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10125"/>
            <a:ext cx="31432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CF8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失敗，尚有 attempt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30CBFE-F950-4F07-8BD7-F9754A37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286125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EEE9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耗盡上限</a:t>
            </a:r>
          </a:p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保留失敗證據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50F884-7093-4EB9-9A89-6E8329D9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Integration／runtime 失敗不回到 decoder；確定性兩種模式沒有此修復迴圈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F8F795-F651-4401-9E58-35E9F71B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16 / 38</a:t>
            </a:r>
          </a:p>
        </p:txBody>
      </p:sp>
    </p:spTree>
    <p:extLst>
      <p:ext uri="{BB962C8B-B14F-4D97-AF65-F5344CB8AC3E}">
        <p14:creationId xmlns:p14="http://schemas.microsoft.com/office/powerpoint/2010/main" val="135408023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45AAA1-5A58-4640-90B6-BC1EDFB3417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810750" y="27336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C9CAA-577D-4A8E-9219-4B65C76B04BB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048250" y="27336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20396E-910C-4922-B15A-00D09E48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Validation、編譯與七項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5E7F1-97E5-46CD-9C89-2CC40C41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先檢查 source，再編譯；可載入不代表能合法執行對戰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E4A879-7EA0-4921-94CF-1C5B751F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42862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1BC11-8549-4201-B1B1-C18894A7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package／class／固定 scaffold</a:t>
            </a:r>
          </a:p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單一策略 marker／合法 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D9D97-1A84-4302-B06E-40CDBD23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37147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F02EFE-5342-4697-9065-5B9226C3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每個 attempt 最多一次</a:t>
            </a:r>
          </a:p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提升成功 class tree，不重編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E7FC49-B272-4E64-8760-00C0B49C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333625"/>
            <a:ext cx="42862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Integration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F71A23-0C12-48BB-98AB-EC7C445A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F56C54-356B-4D21-8A9F-8CA8EB0B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載入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CD8537-B589-47B3-8C69-CB4FC476B7A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57325" y="5934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AF8CDA-EB4A-4F91-B2F1-E8FE0048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97CBB9-86D7-4861-80A8-86FCF837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AI 繼承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956E3B-0A46-4F86-B72C-DE180C0B77B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533775" y="5934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9C87F2-FC4A-470B-859B-4D93E7F1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6FD0D6-8A89-4BBF-BBB0-DFEBEFD8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建構子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D03DF4-A159-4AC2-B1DA-E27F2513153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610225" y="5934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B0AF7D-7F1E-4863-8AA5-E5E63957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919061-4B3E-460A-8F90-1B4F02AC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reset</a:t>
            </a:r>
          </a:p>
        </p:txBody>
      </p: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C6AA41-BFF7-4EEB-B7F7-ED0DF525E8D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86675" y="5934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585E21-47BD-4D0D-8F20-01147E81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2A37C5-FE04-437F-B13F-3CDA7520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clone</a:t>
            </a:r>
          </a:p>
        </p:txBody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5E03B5-511F-45C1-8FFC-F7E1F23E108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763125" y="5934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3EC264-473A-4621-8549-B3ADB8B0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B6AAB0-AAD3-49FB-BFA8-88E21BA8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getAction</a:t>
            </a:r>
          </a:p>
        </p:txBody>
      </p: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4B4D2B-0ADD-44B0-B43A-7D2D0B4FDFF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839575" y="5934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EFFE2C-82F4-4C59-BE9A-EF0C06AB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4DC750-62C8-49C8-94F9-7ADC680E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PlayerAction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B94BCE-1BF1-465E-9243-036C1E04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真實 8×8 地圖、雙方位置與獨立狀態檢查動作和一個 cycle；前置失敗阻擋後續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4E9EB8-1B7E-4478-9CCA-4CD89075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17 / 38</a:t>
            </a:r>
          </a:p>
        </p:txBody>
      </p:sp>
    </p:spTree>
    <p:extLst>
      <p:ext uri="{BB962C8B-B14F-4D97-AF65-F5344CB8AC3E}">
        <p14:creationId xmlns:p14="http://schemas.microsoft.com/office/powerpoint/2010/main" val="40901948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D81B35-D6D9-41C5-B3E5-18DB0E49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搜尋評估的 180 場矩陣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08A9D-DD53-4176-9FD9-D45DEA49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同一份 Java 與 classes，覆蓋所有對手、地圖、回合與位置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0C76E-42F4-4356-A257-BC64FB8F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3C18F-DBE3-415D-8398-A0F1BE00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2952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對手欄位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064787-B466-4150-825F-C9F6CE4F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71750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495A6-1A25-4F68-8607-F69C433B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907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E9A42F-503F-4BC5-B98C-117FB24B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95750"/>
            <a:ext cx="2952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地圖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6F96DB-5B49-491E-B11D-04755B11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71750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1CC2EE-9936-40D5-ACCD-2D2DA061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52FA79-3A8C-4BAD-A648-2133CB44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95750"/>
            <a:ext cx="2952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回合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14F7F7-69E6-4818-B6A1-228377E6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571750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A715FC-981F-4F5D-B7DC-8C652E07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21907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EF5AAD-34C0-49FF-9485-F3FC4F67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4095750"/>
            <a:ext cx="2952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雙方位置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8E43F1-36AD-42D8-A76C-60240474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19750"/>
            <a:ext cx="74295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180 場／候選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FC5FD4-DB9F-4B99-87A2-0EFAC3F6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00750"/>
            <a:ext cx="2905125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每個對手 18 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A3BB93-5A6D-490D-86F5-55A9D14A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848350"/>
            <a:ext cx="290512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每張地圖可設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tick_limit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A44EE4-4CC2-4311-95B4-626AB5C3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固定十對手或凍結的 self-play 4＋6 名單，都維持相同矩陣規模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F2834D-FEA8-40F1-A4B2-F94E6A58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18 / 38</a:t>
            </a:r>
          </a:p>
        </p:txBody>
      </p:sp>
    </p:spTree>
    <p:extLst>
      <p:ext uri="{BB962C8B-B14F-4D97-AF65-F5344CB8AC3E}">
        <p14:creationId xmlns:p14="http://schemas.microsoft.com/office/powerpoint/2010/main" val="1344577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BC35A5-E074-4944-BB93-42113094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Game Performance 與分數彙總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208DF-AE57-4FB7-A0CA-4E243EFE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單場結果分數，加上最多 ±10 的物資、資源與存活 shaping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998DB-078D-49BF-A831-CD94ADC8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8CEFB-0992-4F64-9281-8D139235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−100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20246-CFFA-453D-A66E-44023D0A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42862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−10 ≤ shaping ≤ ＋10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5CF7D-FE7D-4AE7-AC8F-37EA7E10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43125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82D60-9E52-486C-942C-AFF670E0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52750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47BA01-54DA-454C-917A-454CB8B9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67250"/>
            <a:ext cx="42862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−10 ≤ shaping ≤ ＋10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0E750F-708B-4E02-A045-2FA3EE9D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143125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8AFE5C-DBF0-4689-998F-A114202E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952750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＋100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C2FEC6-10D8-4267-8A06-FD2A5AE8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0"/>
            <a:ext cx="42862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−10 ≤ shaping ≤ ＋10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BDEE6-A81D-47FA-BA69-C18940A5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238875"/>
            <a:ext cx="67627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Fixed roster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十個對手分數各自成一個案例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F17BE-F285-455D-BA07-62A2F307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238875"/>
            <a:ext cx="6572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Self-play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十欄等權平均＝唯一 fitness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DC6273-458F-4545-AB99-CB5540D2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固定名單的 0.5／1／2 加權均分只用於報表與代表選擇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E0EDA3-8C05-4480-882B-A5731706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19 / 38</a:t>
            </a:r>
          </a:p>
        </p:txBody>
      </p:sp>
    </p:spTree>
    <p:extLst>
      <p:ext uri="{BB962C8B-B14F-4D97-AF65-F5344CB8AC3E}">
        <p14:creationId xmlns:p14="http://schemas.microsoft.com/office/powerpoint/2010/main" val="110090206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6B01AC-ECDB-49C8-AB53-FC78FFC7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Fixed roster 的十個對手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5352B-E0BD-4BC2-BD0C-B5705645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每個對手 18 場；演化選擇保留十個獨立案例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FDE0B-AC69-4C53-AA9C-595D3CF3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基礎基準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09331D-9D72-442B-BF6E-C23B957D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336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0.5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170101-7243-445F-8691-AA613B63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PassiveAI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E9CC6-3ED1-4FEC-9F4B-AEBD9E5E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333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E7A62-0959-4409-B30B-BD74499E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33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RandomBiasedAI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34208-F641-4B75-8882-EF950E98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Rush 基準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A3D4A-2178-4340-9F22-2BFD47DC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481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0A8708-C835-4036-B3FF-3A9270D3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481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LightRush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9243EA-2FAA-4E3F-AA65-B1C68ED6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0481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HeavyRush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4F825F-E3B4-4FEB-BFDC-51204549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0481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WorkerRush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FBA564-8351-4080-ACB8-A97F2A7C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進階基準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6BEF81-D1E4-4EBC-A033-9160191D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7626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3CF0C2-CD96-42AB-B098-D87A0FF6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762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AllInBot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49CB71-86B7-4229-8CB8-DAC633A9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762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Mayari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A9ACB6-9BDA-48F8-98FD-CC9C79CC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762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2D8535-5905-4323-ACD3-C68DCA34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25" y="5762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0E9CCC-863F-4B79-9608-6725E387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72375"/>
            <a:ext cx="41910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報表權重總和 12.5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37F12E-A48D-48E9-BAEA-07117823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7505700"/>
            <a:ext cx="890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Lexicase 使用案例，不以加權總分過濾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EEA19A-6099-48CF-B6A2-42AADB79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20 / 38</a:t>
            </a:r>
          </a:p>
        </p:txBody>
      </p:sp>
    </p:spTree>
    <p:extLst>
      <p:ext uri="{BB962C8B-B14F-4D97-AF65-F5344CB8AC3E}">
        <p14:creationId xmlns:p14="http://schemas.microsoft.com/office/powerpoint/2010/main" val="73518869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FA3A86-E571-4B07-AB8C-C4CBA390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Self-play Opponent Pool 的起始與容量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212BD5-D272-4E58-928F-DF9C8601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13830300" cy="5429250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CF8F5"/>
          </a:solidFill>
          <a:ln xmlns:a="http://schemas.openxmlformats.org/drawingml/2006/main" w="19050">
            <a:solidFill>
              <a:srgbClr val="DEB4B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E023F-649A-47E8-88C5-CE121538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19375"/>
            <a:ext cx="228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F2AE9-7F79-4922-A17E-2A7A6D0A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6717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總容量上限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C36E3-8782-48C8-BFFC-9F101381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19650"/>
            <a:ext cx="15240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預設 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806EA-96CD-4A02-A23E-81120806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62575"/>
            <a:ext cx="15240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EE9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最低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E30B32-E511-44E2-9823-0B35587C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669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4 個固定保護：永久保留，不淘汰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AC2B8B-4750-40EB-B00E-43E26D82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00375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AllInBot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7650B-6E61-488B-B4A1-D11C522C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00375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Mayari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79CAF4-C4F1-4516-8681-9885DF05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00375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DEB10-F055-40DC-B869-49D20FC9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000375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DD7CB-CA3B-4367-8CF3-2B31CA20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19550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起始另有 6 個可替換基準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ECB6EE-4B22-43BC-8C15-1DBD45FB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43425"/>
            <a:ext cx="254317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PassiveAI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E3D8AF-A09C-4F32-B50B-81B2FA0A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43425"/>
            <a:ext cx="254317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07E90F-AE02-4701-B8B3-C1A4AD6A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43425"/>
            <a:ext cx="254317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RandomBiasedAI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86FEBF-377E-4B98-8229-04CF5A9F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24475"/>
            <a:ext cx="254317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LightRush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F6B93E-327A-41DE-B138-832997E1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24475"/>
            <a:ext cx="254317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HeavyRush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6FBD65-313C-475B-8AB0-DE8D6575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324475"/>
            <a:ext cx="254317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WorkerRush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3FA7DE-37C1-4B19-A14E-1E5A9AC9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4008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歷代策略累積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903439-54D5-48F4-81E7-E8823994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38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61946A-FCA6-49F1-9341-FF9C3F38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6438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4D3071-1953-4729-8726-39690E2F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38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C3B687-71EF-4364-A26A-CB46992D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6438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A61C1F-17FC-4AD9-80AC-A5444D42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87CAE5-11AB-4BE2-A61A-B5A00CE9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6438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C49F0B-4491-408F-84AD-F4D0286E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7667625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評估名單 = 4 個保護對手 ＋ 從池中抽取 6 名動態對手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B70CB2-17AF-4A40-B74E-F302DF64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21 / 38</a:t>
            </a:r>
          </a:p>
        </p:txBody>
      </p:sp>
    </p:spTree>
    <p:extLst>
      <p:ext uri="{BB962C8B-B14F-4D97-AF65-F5344CB8AC3E}">
        <p14:creationId xmlns:p14="http://schemas.microsoft.com/office/powerpoint/2010/main" val="168166274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B1FBD8-C1E2-46BC-B736-1BCDF2EC7D33}"/>
              </a:ext>
            </a:extLst>
          </p:cNvPr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3714750" y="552450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B41D1-B4CF-4BEA-9075-FAE88DF3A445}"/>
              </a:ext>
            </a:extLst>
          </p:cNvPr>
          <p:cNvCxnSpPr>
            <a:stCxn xmlns:a="http://schemas.openxmlformats.org/drawingml/2006/main" id="5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8001000" y="5524500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DCB66D-53C9-4187-832B-6DDC57DD82D7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6381750" y="4248150"/>
            <a:ext cx="4714875" cy="704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0EA50-74C7-4951-9D1F-AAE78498E6B9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8048625" y="3048000"/>
            <a:ext cx="2238375" cy="3619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47239-0C6B-45C6-9C8C-563C70BE85CC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714750" y="340995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08127C-A7C2-453C-9E2F-3E4AF339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新策略的來源與入池挑戰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236AE-3607-4BDD-ABC2-B78E8CF0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8575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來源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 初始族群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每代已評估子代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81415-649B-414B-A1B6-BA70A857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71750"/>
            <a:ext cx="33337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入池資格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可執行、完整評估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ID／來源／表型去重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2345E-FAB2-4F16-A8AD-E03AE044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76500"/>
            <a:ext cx="2857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未滿容量</a:t>
            </a:r>
          </a:p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直接加入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B0553-3CF9-4532-BC31-9E8FE032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53000"/>
            <a:ext cx="3714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已滿容量</a:t>
            </a:r>
          </a:p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seeded 抽 1 位非保護守擂者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2E16F-422A-4E6B-A3CF-6B285C76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53000"/>
            <a:ext cx="347662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 場挑戰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 地圖 × 3 回合 × 2 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EFC9D-3B48-426D-9FC8-78548AE1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2857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完整且無錯誤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勝場 &gt; 敗場才替換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081FA1-376C-4D16-8986-773D373F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4960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平手、失敗或未完成：保留原守擂者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ADB83E-E3A7-42F3-A23F-48769C6E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7096125"/>
            <a:ext cx="828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候選入池不要求先成為下一代倖存者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C74648-4F48-4097-92BF-194A42A0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22 / 38</a:t>
            </a:r>
          </a:p>
        </p:txBody>
      </p:sp>
    </p:spTree>
    <p:extLst>
      <p:ext uri="{BB962C8B-B14F-4D97-AF65-F5344CB8AC3E}">
        <p14:creationId xmlns:p14="http://schemas.microsoft.com/office/powerpoint/2010/main" val="49887734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533C44-083E-41F9-855A-96EE6A1E8C61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0906125" y="5372100"/>
            <a:ext cx="1571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F69C73-A7C3-44DA-AD75-A8C212AD5367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191375" y="5372100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E42F4F-F584-4479-AFF5-A97B8CC8C9A6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238500" y="53721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12EDEE-4A9F-40F4-AEB5-B61AFD3C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凍結的十個評估對手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AF8BE-D695-4CE9-B403-68994942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098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 4 個保護欄位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D6704-9C95-4E81-A6E1-361EC9FA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38450"/>
            <a:ext cx="3952875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個內建保護對手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跨快照維持相同 case 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87DA3-8FB3-41AF-9E5B-FA118AA5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每個快照再抽 6 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C95B3B-5AC4-4EC7-96E9-1B381E91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D4837C-D2FF-4B52-8A7F-3E76B5D8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12420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C89F2D-98F1-4100-8390-DE44BAFF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12420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EECE84-BEB1-4EFB-BCB4-E41AB1A6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12420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5FDBD6-6E7F-4B96-9A2A-F3A142E3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312420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4ED3E4-8954-4868-8D91-317A950E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12420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3937E7-F3FA-4176-9416-E107AD5E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0050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從歷代累積的可替換成員抽樣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D56558-0ABE-4BA7-A26E-819608AB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1524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71AF3A-8EE3-44FC-93BC-66A74C2F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953000"/>
            <a:ext cx="20955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G1–5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78C756-7627-4F2F-84B2-371B5E6B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53000"/>
            <a:ext cx="20955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G6–10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FC85B6-E4D4-46D7-952D-F52E504C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4953000"/>
            <a:ext cx="20955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G11–15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FB9A02-70E3-4238-AFD4-B174A17E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00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全部 10 個內建對手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40B67E-AD88-4DFB-A201-F67B77C5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0007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首個抽樣快照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07EC3D-0C6B-474D-AB81-5435E19C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0007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刷新預設每 5 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A4C378-54F7-45D8-A960-F76D290F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600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G16… 持續刷新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619BB7-6795-42C9-BCE2-4ADD834E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934200"/>
            <a:ext cx="102870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每個快照固定評估 10 個欄位：4 個保護成員 ＋ 6 個動態成員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78AF0A-9E74-44FD-906F-D8305DE3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23 / 38</a:t>
            </a:r>
          </a:p>
        </p:txBody>
      </p:sp>
    </p:spTree>
    <p:extLst>
      <p:ext uri="{BB962C8B-B14F-4D97-AF65-F5344CB8AC3E}">
        <p14:creationId xmlns:p14="http://schemas.microsoft.com/office/powerpoint/2010/main" val="199495375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80FA14-BA99-4905-B77D-69A0388A4731}"/>
              </a:ext>
            </a:extLst>
          </p:cNvPr>
          <p:cNvCxnSpPr>
            <a:stCxn xmlns:a="http://schemas.openxmlformats.org/drawingml/2006/main" id="13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7429500" y="62388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491D01-0D27-4724-8B9F-4022D7FF95B4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10429875" y="4610100"/>
            <a:ext cx="1571625" cy="1200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3B86CB-A81D-4792-8558-5AB2F7474A29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858250" y="392430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175FF6-22D2-43A1-A20D-D7FAEBF98610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857625" y="3924300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642278-AC02-4042-99B2-39B6CE72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對手快照刷新與父代重評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7E9F27-ECD8-4C03-BB84-4773641E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76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D9D02-6AF2-4D5D-B392-0092AD28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457450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凍結對手名單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506C4-6588-488D-8D92-7457F26D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76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D33C7-49CC-4DF0-86A7-6D3D92CF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57450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建立父代複本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2B72A-D142-414B-8575-C4AE7005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76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B9EA1D-E22A-4431-BFCA-5673C539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457450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新情境重評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8ACEA7-8C69-48B7-8132-3EC38AF9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38500"/>
            <a:ext cx="28575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4＋6 對手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保存 context hash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E771BF-0F41-43FD-84F2-6B16CF9C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38500"/>
            <a:ext cx="32385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每位父代保留 phenotype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配置新 candidate 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FF7F62-8B69-4707-805D-613B41CB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0"/>
            <a:ext cx="34290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新情境重新評估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不覆寫舊分數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92F36F-E87B-4E5D-AA1E-A063360A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810250"/>
            <a:ext cx="3333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 context 完成評分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98FCD8-479B-4663-9C00-886DCD5A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810250"/>
            <a:ext cx="3714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再進入同一情境的繁殖選擇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0E97A3-A79D-4BD8-B549-EDB6EE54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04850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不同對手情境的分數不混在同一選擇池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B52B04-A46B-459B-A079-3255FA00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24 / 38</a:t>
            </a:r>
          </a:p>
        </p:txBody>
      </p:sp>
    </p:spTree>
    <p:extLst>
      <p:ext uri="{BB962C8B-B14F-4D97-AF65-F5344CB8AC3E}">
        <p14:creationId xmlns:p14="http://schemas.microsoft.com/office/powerpoint/2010/main" val="179403417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AACA7D-3CDD-42E7-86EB-19725BBB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父代重用與兩種重評情境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80EE6-1AF2-4290-B607-8BFF386E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3857625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reuse_cached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正式預設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F9E88-3A41-4A7E-AFDC-8D8EC302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76500"/>
            <a:ext cx="3857625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Self-play 快照刷新</a:t>
            </a:r>
          </a:p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正常評估例外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5978B-C4B1-4ACE-AF57-5AD65312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0"/>
            <a:ext cx="3857625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regenerate_same_genotype</a:t>
            </a:r>
          </a:p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診斷模式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1B829-91A8-4450-80E0-7A21256E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3857625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沿用父代 Java 與已完成分數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5ECC9F-23C9-4309-8EF4-750A1A04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857625"/>
            <a:ext cx="3857625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保留 Java 表型</a:t>
            </a:r>
          </a:p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 ID、換名單重新評估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CA6A6-C9C0-4FB0-B027-AB3B79FD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57625"/>
            <a:ext cx="3857625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基因不變，重新 Generator 與評估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64D48-054B-46C4-A60F-2CFB2C28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91175"/>
            <a:ext cx="385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一般世代直接重用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A9D95-F5DC-48BC-821A-23B135F3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91175"/>
            <a:ext cx="385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保留舊情境證據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FEE39D-A72C-4A2B-B061-DE95CFC7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572125"/>
            <a:ext cx="4714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僅 inherited Java ＋ static；新複本取代舊 ID 參選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FAF88F-D560-4942-B034-F9539F00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76275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diagnostic 同時包含再生成與重新對戰的影響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8843D-3467-4BC6-BF7B-13D6869C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25 / 38</a:t>
            </a:r>
          </a:p>
        </p:txBody>
      </p:sp>
    </p:spTree>
    <p:extLst>
      <p:ext uri="{BB962C8B-B14F-4D97-AF65-F5344CB8AC3E}">
        <p14:creationId xmlns:p14="http://schemas.microsoft.com/office/powerpoint/2010/main" val="25869725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70F912-43D0-4311-B96D-834E96404F55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10906125" y="4076700"/>
            <a:ext cx="2095500" cy="1257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5F2DA7-1BBD-45FA-8DB9-31FE2E3FEE8B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0191750" y="3486150"/>
            <a:ext cx="1143000" cy="28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348960-3D1C-48E5-B2FF-7FFB5D97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語意探針與同分處理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0A522-B151-43D8-B7B9-233F6F8B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860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固定狀態探針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7B086-11DF-423E-A307-02221049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0040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小地圖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2B35A3-2487-493E-8B01-F1BEAA6E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0515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早期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EC4E4-A278-4F13-ACE4-5D518268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0515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中期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15B4D-AEE7-4248-AC12-C79DC939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0515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後期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81D88D-A6C1-44A0-A4F3-7F1D3086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6245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中地圖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694004-2143-4F21-A771-BAB20DA4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6720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早期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662A0F-6D7C-4A55-91C7-1D2C25AE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6720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中期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0BEC5A-EDDC-499B-B8BF-D612F4E2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26720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後期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2B68C0-5058-418A-8C8F-AF3CBC55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2450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大地圖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94C8CD-A5A0-4539-AD84-C0DF4BC8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2925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早期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9C0A70-ABFC-4BAC-A3D7-C5FD5863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2925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中期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1BA126-6407-48FE-A68D-E5FABF8F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42925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後期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A72953-6D79-41A9-961E-E801C134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9532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 地圖 × 3 階段 = 9 個動作簽章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E73B8-DEA2-41DC-9736-68CD45A0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23812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同分層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A11B50-D396-44A0-BFA0-D05E97AD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0"/>
            <a:ext cx="33337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比較九個 probe 的動作差異</a:t>
            </a:r>
          </a:p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距離 = 不同 probe 數 ÷ 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CD2B30-5BD5-4CD1-A3AA-94D4CF12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334000"/>
            <a:ext cx="476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只在分數邊界需要取捨時</a:t>
            </a:r>
          </a:p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於 ≤ 1.0 的同分層採 seeded max-min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0B7646-8C1B-4F09-93C6-6A1724C2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8199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語意探針只解決同分，不另加搜尋目標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5F1FA0-19D1-465F-A03E-C8D88006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26 / 38</a:t>
            </a:r>
          </a:p>
        </p:txBody>
      </p:sp>
    </p:spTree>
    <p:extLst>
      <p:ext uri="{BB962C8B-B14F-4D97-AF65-F5344CB8AC3E}">
        <p14:creationId xmlns:p14="http://schemas.microsoft.com/office/powerpoint/2010/main" val="33897392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483C2B-DF1A-4EE9-95DB-1D482A7DB2E0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3049250" y="4676775"/>
            <a:ext cx="0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9E88EF-D8E1-4BAE-846A-BC2E214484A6}"/>
              </a:ext>
            </a:extLst>
          </p:cNvPr>
          <p:cNvCxnSpPr>
            <a:stCxn xmlns:a="http://schemas.openxmlformats.org/drawingml/2006/main" id="9" idx="0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13049250" y="3400425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1D1FC-A0BC-4EFE-A866-0F85717663FB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668000" y="3438525"/>
            <a:ext cx="1333500" cy="962025"/>
          </a:xfrm>
          <a:prstGeom xmlns:a="http://schemas.openxmlformats.org/drawingml/2006/main" prst="bentConnector3">
            <a:avLst>
              <a:gd name="adj1" fmla="val 17143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5F7BEB-1B9D-4734-B430-157A5990D74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143750" y="34385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1AECBA-D01A-4C9D-A746-E1F281D2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倖存者選擇與固定人口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94F96-F662-44DF-9880-ED99FCF9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193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μ + 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4D8FAD-522D-4E0A-9A19-7487E85A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19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N 父代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C8850-05F8-4A6F-9C38-5263985E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6195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80F50B-D64B-48D9-A7AB-7062AEDD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619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N 子代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97B4A0-DE84-4DF6-A716-361B3562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05125"/>
            <a:ext cx="2381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2N 候選</a:t>
            </a:r>
          </a:p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 ID 去重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AD627-DA72-4FEC-902C-09980149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05125"/>
            <a:ext cx="266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只讓完整評估者</a:t>
            </a:r>
          </a:p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填入固定人口 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940E13-0358-4AC6-B6D6-958A5BF0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124325"/>
            <a:ext cx="2095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評估模式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2D324-3D15-4BAA-98E3-BF999CC3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333625"/>
            <a:ext cx="3524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Fixed roster</a:t>
            </a:r>
          </a:p>
          <a:p xmlns:a="http://schemas.openxmlformats.org/drawingml/2006/main">
            <a: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十案例 lexicase，選出即移除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555345-E9B9-409A-A5C9-2EB4AADC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5286375"/>
            <a:ext cx="35242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Self-play</a:t>
            </a:r>
          </a:p>
          <a:p xmlns:a="http://schemas.openxmlformats.org/drawingml/2006/main"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最高分錨定非串連分層</a:t>
            </a:r>
          </a:p>
          <a:p xmlns:a="http://schemas.openxmlformats.org/drawingml/2006/main"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≤ 1.0 只在切分邊界破同分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8620EA-E53A-4D1A-8392-B3E5C6AE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8580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完成者不足 N：選擇明確失敗。失敗候選仍保留診斷證據。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3F2464-D120-4D70-B78F-3694CDD0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27 / 38</a:t>
            </a:r>
          </a:p>
        </p:txBody>
      </p:sp>
    </p:spTree>
    <p:extLst>
      <p:ext uri="{BB962C8B-B14F-4D97-AF65-F5344CB8AC3E}">
        <p14:creationId xmlns:p14="http://schemas.microsoft.com/office/powerpoint/2010/main" val="36791810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EAD6EF-67BC-4CF4-984A-6AB852353643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0477500" y="4762500"/>
            <a:ext cx="381000" cy="857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6B4A17-F077-438A-AE6A-3EAC9178D898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10477500" y="4286250"/>
            <a:ext cx="381000" cy="476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264D70-5E14-4CC0-9338-C1594D62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反思操作的 static 與 AOS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B996A-BBE7-45D1-8E2C-26494E78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33625"/>
            <a:ext cx="4762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STATIC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6B1B7-057E-4AE3-B408-39A6846D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33625"/>
            <a:ext cx="4762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2BC70-F37A-4EEC-B044-5738B4F3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147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固定操作機率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8F6FB-9EB8-4F8E-B31D-D07A3B72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147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reward 更新後續選擇機率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2A1457-F890-436B-9B97-5CEEDCC2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381500"/>
            <a:ext cx="18097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Strategy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0D3E8-8ED9-4E47-859A-1B0B4302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381500"/>
            <a:ext cx="18097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Prompt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98FE4-DA2A-489B-9D9E-97407374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43550"/>
            <a:ext cx="19050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固定配比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8167E-77D2-4E1C-8EEA-67C34AF7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86250"/>
            <a:ext cx="21907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執行狀態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是否可執行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C0CC04-1B9D-4B99-9A19-6D9AE3B7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10000"/>
            <a:ext cx="23812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Opponents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十案例 rank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392343-447A-4F3F-B5A0-6B09D82C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0"/>
            <a:ext cx="23812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Head-to-head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條件式 18 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D50864-4C8F-4C8D-8995-8B19A383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4770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EMA α = 0.20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A7F544-2DB9-428F-A86D-C128A482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056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Probability matching ＋最低機率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18449C-EE92-4F6B-AFF0-0A9D118D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3152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reward 不加入搜尋 fitness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B59F78-CCAF-41B1-B565-4558038A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28 / 38</a:t>
            </a:r>
          </a:p>
        </p:txBody>
      </p:sp>
    </p:spTree>
    <p:extLst>
      <p:ext uri="{BB962C8B-B14F-4D97-AF65-F5344CB8AC3E}">
        <p14:creationId xmlns:p14="http://schemas.microsoft.com/office/powerpoint/2010/main" val="7110529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423209-F875-49A7-A593-8166CCCCDBE5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10929938" y="3162300"/>
            <a:ext cx="23813" cy="933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3F0126-6693-4631-9E22-A83B32C8441B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8501063" y="3162300"/>
            <a:ext cx="119063" cy="933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2536B4-5DEF-4875-ABB0-F686883B3CA2}"/>
              </a:ext>
            </a:extLst>
          </p:cNvPr>
          <p:cNvCxnSpPr>
            <a:stCxn xmlns:a="http://schemas.openxmlformats.org/drawingml/2006/main" id="13" idx="0"/>
            <a:endCxn xmlns:a="http://schemas.openxmlformats.org/drawingml/2006/main" id="2" idx="2"/>
          </p:cNvCxnSpPr>
          <p:nvPr/>
        </p:nvCxnSpPr>
        <p:spPr>
          <a:xfrm xmlns:a="http://schemas.openxmlformats.org/drawingml/2006/main" flipH="1" flipV="1">
            <a:off x="1619250" y="3162300"/>
            <a:ext cx="3405188" cy="933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664F3A-185C-408E-A4B0-1C8E4C7718D0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5024438" y="3162300"/>
            <a:ext cx="1262063" cy="933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32F242-6A48-424A-AC07-07332CDF5643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952875" y="3162300"/>
            <a:ext cx="1071563" cy="933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ED4F6A-4D5C-4C86-8419-F25182237FE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1906250" y="27717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A436B7-2BEC-4CC4-B6E2-C6D80063B34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9572625" y="27717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4DB235-9623-4A03-9EF3-7B60DF9FBAE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239000" y="27717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32FDC5-25B3-4474-986E-180227C19EBE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905375" y="27717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D775B0-D0D0-41A9-8EA2-3F17C011156B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2571750" y="27717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F27B9E-0439-4F1C-8A3F-96FB8044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失敗、重試與停止的邊界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EBC2E-CFB0-4BED-8180-9742F59B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905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LLM 產生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947D19-8CE5-4C5D-A1AD-8C0BFEC5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81250"/>
            <a:ext cx="1905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1801E-F9F5-4B61-A897-CFB38ED0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81250"/>
            <a:ext cx="1905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7606E-2EA8-4110-8D41-88999B0A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81250"/>
            <a:ext cx="1905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Integration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F5B4B-E2E9-4332-B3FE-AF0DA9C3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81250"/>
            <a:ext cx="1905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180 場評估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FB9492-97E5-45AB-AE89-F90FBCC0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2381250"/>
            <a:ext cx="2286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候選篩選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661EE1-DA2C-4A0F-9B8B-FBE23840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95750"/>
            <a:ext cx="452437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有界修復重試</a:t>
            </a:r>
          </a:p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LLM 模式限 generation_max_attempts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D21C07-2DB4-48DB-A0A0-969E2AD2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95750"/>
            <a:ext cx="2047875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Integration</a:t>
            </a:r>
          </a:p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失敗，候選終止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79DE47-3B0F-468D-BF02-695383F1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95750"/>
            <a:ext cx="2047875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矩陣未完成</a:t>
            </a:r>
          </a:p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候選終止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A2B272-1B81-42AB-A025-B2E06B4F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1339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DSL／framework 編譯失敗亦直接終止候選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C9AC50-7332-446A-8EAF-81081BDD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6864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失敗候選 sentinel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C5A625-854D-432E-BED8-51BDD750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76875"/>
            <a:ext cx="2333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−1000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F1F8D9-A96C-497E-A44F-246D0B5B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572250"/>
            <a:ext cx="48577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完成者 ≥ N</a:t>
            </a:r>
          </a:p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父代足夠時仍可延續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6B97BE-B7BB-4F1B-9B66-EB233928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572250"/>
            <a:ext cx="48577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完成者 &lt; N</a:t>
            </a:r>
          </a:p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明確失敗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2DC205-E52A-47E2-BD37-A9834DDE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572375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中斷：取消排隊工作、等待執行中工作，再從最後提交世代恢復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343AEB-78E7-472C-9B8B-D770F925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29 / 38</a:t>
            </a:r>
          </a:p>
        </p:txBody>
      </p:sp>
    </p:spTree>
    <p:extLst>
      <p:ext uri="{BB962C8B-B14F-4D97-AF65-F5344CB8AC3E}">
        <p14:creationId xmlns:p14="http://schemas.microsoft.com/office/powerpoint/2010/main" val="21947628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8BC5F6-A650-497E-A605-E5E887418D82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4524375" y="2762250"/>
            <a:ext cx="3476625" cy="29527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2D062-8E25-44D5-80FA-347E04804609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8001000" y="2762250"/>
            <a:ext cx="581025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29CD02-ADCA-452F-93BC-C412F360B175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8001000" y="2762250"/>
            <a:ext cx="238125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46AA95-020C-417B-8E1E-150B29B16EED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6667500" y="2762250"/>
            <a:ext cx="133350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F5E11-9821-4EA2-817A-9AEA79113C49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3" idx="0"/>
          </p:cNvCxnSpPr>
          <p:nvPr/>
        </p:nvCxnSpPr>
        <p:spPr>
          <a:xfrm xmlns:a="http://schemas.openxmlformats.org/drawingml/2006/main" flipH="1">
            <a:off x="2952750" y="2762250"/>
            <a:ext cx="504825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13D8C5-E382-4493-8BFF-4B01B83F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每個 run 的保存與稽核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72E813-F058-42FD-8A63-D70F106E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4762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runs/&lt;run_id&gt;/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6D0F4-0A50-46C3-9A6C-A96DE5F2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71875"/>
            <a:ext cx="34290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config.yaml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manifest.json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summary.json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BBA063-589D-49A9-B8B9-6DE18D20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71875"/>
            <a:ext cx="34290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generations/</a:t>
            </a:r>
          </a:p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候選快照與 latest_generation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EBE2C-A3AF-4CBB-B5C0-5CE95E9E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71875"/>
            <a:ext cx="34290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candidates/</a:t>
            </a:r>
          </a:p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基因、譜系、逐階段證據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FFCB9-4884-40AD-9862-61FF43A3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571875"/>
            <a:ext cx="28575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archives/</a:t>
            </a:r>
          </a:p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操作、錯誤與 opponent pool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7C11F-2303-4175-B816-424C3195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715000"/>
            <a:ext cx="47625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framework/bundle.json</a:t>
            </a:r>
          </a:p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 slots 凍結來源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64FB6A-8DB5-46FF-B725-7422031A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715000"/>
            <a:ext cx="40005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timing.jsonl：append-only 階段與 LLM request 時間線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56B82A-2068-47DD-8882-24729FEF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715000"/>
            <a:ext cx="28575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final_test/</a:t>
            </a:r>
          </a:p>
          <a:p xmlns:a="http://schemas.openxmlformats.org/drawingml/2006/main"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獨立正式測試證據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D7F6CF-6D42-4AC8-87F6-28E03F0B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9612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generation snapshot 原子寫入成功後，manifest 才前進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0A17F6-153E-4862-B571-93A4DC63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30 / 38</a:t>
            </a:r>
          </a:p>
        </p:txBody>
      </p:sp>
    </p:spTree>
    <p:extLst>
      <p:ext uri="{BB962C8B-B14F-4D97-AF65-F5344CB8AC3E}">
        <p14:creationId xmlns:p14="http://schemas.microsoft.com/office/powerpoint/2010/main" val="8706152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D6B5C-9D48-48AE-A4C9-0E10E2B3CCB7}"/>
              </a:ext>
            </a:extLst>
          </p:cNvPr>
          <p:cNvCxnSpPr>
            <a:stCxn xmlns:a="http://schemas.openxmlformats.org/drawingml/2006/main" id="5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6667500" y="591502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6A7A72-699D-48EA-AE75-F48A0418F7F0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9810750" y="3733800"/>
            <a:ext cx="0" cy="1600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5DAD05-4784-48A6-A25A-2C87E849A2B6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7715250" y="31527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35244-DA31-459C-92DE-40AB056A3DEB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4000500" y="31527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65EBBF-F9F4-4715-834E-AC607277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中斷後的恢復流程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D622DF-DB13-4E43-BBD6-72C470E0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1  最後提交快照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manifest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latest_generation = Gk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2129A-B77E-42C7-9227-7CE281AA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  身分相容檢查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protocol · config · hash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DD3A4-5CD4-41AB-ABB0-CC0F341F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  封存未提交工作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interrupted_work/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9E226-220E-464E-9BF5-60E0A081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 還原 population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操作器、pool 與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BCCDF4-ED04-4C55-B130-06CBD0ED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3400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  重播並繼續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從 Gk + 1 開始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D27437-1221-4E0D-99C6-21ED4D46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0485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身分不符即拒絕；不沿用半成品，也不重新 bootstrap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B6E583-F833-4ABB-BCF3-EE5B35F4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31 / 38</a:t>
            </a:r>
          </a:p>
        </p:txBody>
      </p:sp>
    </p:spTree>
    <p:extLst>
      <p:ext uri="{BB962C8B-B14F-4D97-AF65-F5344CB8AC3E}">
        <p14:creationId xmlns:p14="http://schemas.microsoft.com/office/powerpoint/2010/main" val="100257981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5A27D5-36CD-49D0-84FB-162048A7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多組設定、replicate 與資料夾續跑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B0826-0F0A-4D04-9F1E-B8FD37BB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7170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設定資料夾依 YAML 檔名順序逐組執行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C8F02E-1541-4067-88D3-8AE50FDD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0375"/>
            <a:ext cx="17145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設定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8DA3C-1616-4067-81AF-922DC06F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1619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4DED8-1971-479F-97BF-5A1D2CD2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905250"/>
            <a:ext cx="1619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68047-4CA5-4D16-879E-5CAB5E43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0375"/>
            <a:ext cx="17145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設定 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C172E-5201-4AE4-B88A-C32F4595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1619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9F69A-65C7-4C8B-AFC9-3B5AEC82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05250"/>
            <a:ext cx="1619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D8BF6-356B-4B3A-BED4-2130B05A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00375"/>
            <a:ext cx="17145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設定 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97C39D-E9A2-4948-9425-250A6B47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905250"/>
            <a:ext cx="1619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0FA2D5-06F8-4DB0-8AAA-E0BC2F79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3905250"/>
            <a:ext cx="1619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CDDD0A-1C6D-4B35-B1CB-54B52B83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3721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random_seeds × runs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9B41E2-79D2-4BBC-96A9-8134998B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286375"/>
            <a:ext cx="1333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7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81DD2C-48C7-43D3-903F-82D4CDD9330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886450" y="56007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569717-C49E-43B7-B8F9-429E2E35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286375"/>
            <a:ext cx="1333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7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0B9614-7427-4232-A4B6-CDA4889C1AE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429500" y="56007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7D8563-318F-406C-8180-4867A70B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5286375"/>
            <a:ext cx="1333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8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F93CEF-9EFD-4C4E-A9C5-A419C40D8CB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972550" y="56007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8DC52C-8CBD-4274-970B-0E44A078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286375"/>
            <a:ext cx="1333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8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43C6DD-AC8A-45D3-83F9-22A2A247A13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515600" y="56007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64411F-338B-4A02-9134-8D9F5AF1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5286375"/>
            <a:ext cx="1333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9</a:t>
            </a:r>
          </a:p>
        </p:txBody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535DB7-85CF-4C70-9B23-CEE7AA70B61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058650" y="56007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838F5C-7317-453B-82ED-FFEC6960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5286375"/>
            <a:ext cx="1333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24B39D-8CD6-47C1-AD51-4F261909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6675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experiment.yaml 以有序 slot 記錄 run 路徑；未完成優先恢復，完整項目可跳過。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78D666-4B3D-46EC-A5D7-F591B189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2866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正式 run 需 Final Test 摘要才算 slot 完成；缺 G0 證據則建立替代 run。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E86400-F160-4BB2-9D18-93F4D5C1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32 / 38</a:t>
            </a:r>
          </a:p>
        </p:txBody>
      </p:sp>
    </p:spTree>
    <p:extLst>
      <p:ext uri="{BB962C8B-B14F-4D97-AF65-F5344CB8AC3E}">
        <p14:creationId xmlns:p14="http://schemas.microsoft.com/office/powerpoint/2010/main" val="103763712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8DBCC4-36B9-46B9-AF6E-4113260B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可重現性與相同版本續跑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F4AAE-269E-4CEB-AE02-C1B432B8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95500"/>
            <a:ext cx="4191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root seed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task identity + input index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C1F8BB-80E4-48FE-A134-C95E0B1E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2286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C34EDB-5439-4A19-9BF5-69454808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095750"/>
            <a:ext cx="2286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ACB56-ACB2-4E0C-92AC-CFFB06BC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95750"/>
            <a:ext cx="2286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操作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94C73A-F7CB-4CFC-804F-E3C84E15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95750"/>
            <a:ext cx="2286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LLM request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593B63-A90F-45CF-B0D7-1B4BE8BE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095750"/>
            <a:ext cx="2286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MicroRTS match</a:t>
            </a:r>
          </a:p>
        </p:txBody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5EE3E3-584E-4E2A-A8B8-B4A00625D37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05750" y="2971800"/>
            <a:ext cx="0" cy="504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A97883-8634-41DB-83D6-5E01E097AB4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95500" y="3476625"/>
            <a:ext cx="1162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6894F-F949-47E9-8B13-A1D4AE2C4F8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95500" y="34766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750F5E-51DC-40E1-BD92-F6806F31FBC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000625" y="34766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0D61A5-36CB-499D-9ACA-08C30AA7CD7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05750" y="34766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AA30CC-7AF7-495C-B6A8-2AD5B7F938F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810875" y="34766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80BF19-D447-4342-8949-ABE1ADBFF8B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716000" y="34766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904ABE-8687-4233-A0C6-BDE8139F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53340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保存與核對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config · source · map · runtime · bundle hashes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29D722-5770-489E-A81F-E51FB1E2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86375"/>
            <a:ext cx="45720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仍可能改變</a:t>
            </a:r>
          </a:p>
          <a:p xmlns:a="http://schemas.openxmlformats.org/drawingml/2006/main">
            <a: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外部模型、GPU 執行、私有 RNG、時間上限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5DB88C-A422-4A9B-80C5-9ED8CE9A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010400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相同 seed 建立可控隨機流，不保證外部服務逐位元相同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CBC2C2-0AF0-4C3B-B171-CC788B7C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33 / 38</a:t>
            </a:r>
          </a:p>
        </p:txBody>
      </p:sp>
    </p:spTree>
    <p:extLst>
      <p:ext uri="{BB962C8B-B14F-4D97-AF65-F5344CB8AC3E}">
        <p14:creationId xmlns:p14="http://schemas.microsoft.com/office/powerpoint/2010/main" val="34958237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6DD35-C89E-4EDE-8EB1-5CB96EA99A03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3049250" y="3448050"/>
            <a:ext cx="95250" cy="2190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88952-B956-45D3-9623-94D4FC39F83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0382250" y="29146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526A1F-5534-4DA1-AB2E-A9931A5BEB67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6858000" y="2914650"/>
            <a:ext cx="666750" cy="161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2C4A6-6077-4140-B1E4-ACA4F2E3F7B2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381375" y="30765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06AA9E-D0F7-42C8-BB4D-00629CE3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停止條件與正式 Final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E8EE6-043D-4DAA-86BC-94A20031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67000"/>
            <a:ext cx="247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停止條件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97DE3-5C82-440C-992A-D2A0C69B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76500"/>
            <a:ext cx="28575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世代上限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或 stagnation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0AF5CE-70CA-43BD-8726-5EC60ED1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2857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選可執行代表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通常取末代候選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62212-8AAB-462C-B8D6-81F6B776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0"/>
            <a:ext cx="3429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獨立 recompile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＋七項 Integration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3D8C7-8369-4A1B-9B58-7210C017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667125"/>
            <a:ext cx="32385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Final Test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固定十個內建對手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06806D-B923-46ED-B421-092FC77D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338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正式 Final Test 矩陣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233BD6-98E0-460E-B908-5B0C0303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81625"/>
            <a:ext cx="266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180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0E7BB6-FD92-4493-BB78-433BCCC9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搜尋評估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0988E8-D0C9-4486-8709-3F39851D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5800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10 對手 × 3 地圖 × 3 回合 × 2 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5FD44B-0C27-4FF2-B08B-2C9AB14C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381625"/>
            <a:ext cx="266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67891E-7843-454F-88B6-9C3582EF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63341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Pool 挑戰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FAF10E-DDEE-4B54-8E79-21D4E666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685800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 地圖 × 3 回合 × 2 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45892C-FF87-4FA2-BD6A-B9D921B1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381625"/>
            <a:ext cx="266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600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DCA70B-0102-476B-911E-F01E2E20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Final 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4FDB9A-50A4-4691-AFB4-93E6971B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85800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10 對手 × 3 地圖 × 10 場 × 2 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52425B-A1D1-464F-B4D6-A0880C61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481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mock 與 --skip-final-test 可略過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544AA0-7EDC-40F2-90CF-ED6DA004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34 / 38</a:t>
            </a:r>
          </a:p>
        </p:txBody>
      </p:sp>
    </p:spTree>
    <p:extLst>
      <p:ext uri="{BB962C8B-B14F-4D97-AF65-F5344CB8AC3E}">
        <p14:creationId xmlns:p14="http://schemas.microsoft.com/office/powerpoint/2010/main" val="87048299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C36723-84A5-4512-B2EF-E3C516F142D1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12573000" y="4219575"/>
            <a:ext cx="476250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B9371E-AB68-479E-84E2-51D3876CD553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8334375" y="4219575"/>
            <a:ext cx="1285875" cy="1752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1CBE4A-54C8-4641-A4B5-B5D19376588E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8334375" y="4219575"/>
            <a:ext cx="1285875" cy="1028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930D81-3B39-42D0-97BB-E150A066A894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8334375" y="4219575"/>
            <a:ext cx="1285875" cy="304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E6895A-52ED-454F-AC1C-23D0128AFE57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334375" y="3800475"/>
            <a:ext cx="1285875" cy="419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28D5E2-5A87-42C3-92E5-3382792A5AC2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334375" y="3076575"/>
            <a:ext cx="1285875" cy="1143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FCDA6D-BC82-4F9F-85D1-9A3D8E83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跨世代的公平比較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573F1-A3AF-4FE5-BC87-FCD4F21C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搜尋：對手快照隨世代改變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0F677-8AAC-4572-B9C7-76C549BE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14287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302CC5-7C9B-422B-8486-228C8EA3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14725"/>
            <a:ext cx="14287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保護</a:t>
            </a:r>
          </a:p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＋6 內建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A060D-57A0-4FAA-A796-71F0F86F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76550"/>
            <a:ext cx="14287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F7EE5-1C3D-4797-B6D0-9C09F33F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14725"/>
            <a:ext cx="14287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保護</a:t>
            </a:r>
          </a:p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＋6 抽樣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AF3364-9527-463F-819C-9B7221B8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14287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5D1C2-7F24-44EC-B5E3-E3CD6BE8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14725"/>
            <a:ext cx="14287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保護</a:t>
            </a:r>
          </a:p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＋6 抽樣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C2B61F-2FC4-428C-8FFA-219104152C4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52625" y="4714875"/>
            <a:ext cx="3619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44F9B-F2A0-46B6-B9BC-D5F9D27F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14350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fitness 隨情境變動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每個候選 180 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EE967E-4805-4C38-96BA-EA50C042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955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公平比較：一份凍結 protocol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710B50-AB5A-43C6-8606-D87F944E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9875"/>
            <a:ext cx="1095375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6F5175-4080-4D5B-A627-C5495208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33775"/>
            <a:ext cx="1095375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2CDC9-ED8E-4CDD-81E4-FF5B868C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57675"/>
            <a:ext cx="1095375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2B9732-A3A9-405A-9BFF-73A56BD6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81575"/>
            <a:ext cx="1095375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BB5A4E-1F4E-4CB8-AB63-6E803E6D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05475"/>
            <a:ext cx="1095375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00AE16-E523-42C6-877E-07BCF417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38550"/>
            <a:ext cx="29527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同一固定 protocol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固定對手、地圖、規則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D5F9FF-695F-488F-B85D-6A408696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752850"/>
            <a:ext cx="2095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每個代表 600 場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paired seeds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244AB8-22D1-4F0D-942D-4D3F2CF6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8580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不同快照的搜尋分數，不能當成同條件能力比較。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2321AF-DB0C-4174-9DDD-59A48AA9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35 / 38</a:t>
            </a:r>
          </a:p>
        </p:txBody>
      </p:sp>
    </p:spTree>
    <p:extLst>
      <p:ext uri="{BB962C8B-B14F-4D97-AF65-F5344CB8AC3E}">
        <p14:creationId xmlns:p14="http://schemas.microsoft.com/office/powerpoint/2010/main" val="32241418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B0558C-09BE-4F5F-8570-94133885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結果、時間與比較的解讀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C8EF64-8BAE-4034-B950-756F2919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2714625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排程示意，非量測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73D96-FF33-401E-99BB-720FC40D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20955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G0 初始化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獨立工作量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F7574-5ED4-482A-A585-0BFE1F7F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238375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後續演化世代的重疊工作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60E79-10EF-4716-BE27-83D3C71F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95625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準備子代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86082-E651-4130-B9EF-462635AB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00625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十工人對戰矩陣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33F20-E95C-4AD3-8C53-7A5D858F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00375"/>
            <a:ext cx="247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準備批次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B9932-A565-4967-A221-255AAA35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00375"/>
            <a:ext cx="247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準備批次 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6DEEB-3FB7-4BE7-A6C7-CFF42E24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000375"/>
            <a:ext cx="247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準備批次 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C8B6F3-FC80-44F3-AEE0-BE7CDA5F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05375"/>
            <a:ext cx="2952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D53E8B-BA0B-4C54-A646-A7D5DE29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905375"/>
            <a:ext cx="2952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337E92-C8F8-483F-8542-C05B5175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481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 對戰期間，B 的準備已開始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D749D9-22F6-43DB-8FA2-620828FB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531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 對戰期間，C 的準備已開始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5643FF-0ED3-4773-A0BC-CC2563FFBE4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429250" y="6762750"/>
            <a:ext cx="8858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7171C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BD21D8-4FA4-4FA3-A71F-BBD9C8B7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9532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wall 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531AB7-E36A-422E-B4AA-5058347C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734377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G0 初始化另行記錄；世代／階段時間以實際 timing artifacts 為準。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D44D2E-6F55-43EF-BDBD-92D44F3D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7791450"/>
            <a:ext cx="68580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目前未有 live 多主機 speedup benchmark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8ABB6C-8403-4522-AC9A-6796D1B6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36 / 38</a:t>
            </a:r>
          </a:p>
        </p:txBody>
      </p:sp>
    </p:spTree>
    <p:extLst>
      <p:ext uri="{BB962C8B-B14F-4D97-AF65-F5344CB8AC3E}">
        <p14:creationId xmlns:p14="http://schemas.microsoft.com/office/powerpoint/2010/main" val="32780221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07DF9-A1D9-4C79-9214-293D70AEF40D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9572625" y="3405188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01D53-2B74-4A7D-88B2-C369D4A90310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4667250" y="3405188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7EF00D-72F2-4962-B85A-002ED535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GUI、監看與離線分析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BA08B-443E-4AD9-8E66-318BFAF4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323850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GUI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89D10E-08EF-41AE-ADD8-5B45594C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57500"/>
            <a:ext cx="323850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Monitor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E2B889-E88C-44C4-B873-B7F7302E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0"/>
            <a:ext cx="323850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Analyze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3E41ED-6910-40B5-B6C9-1C1AC47E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19625"/>
            <a:ext cx="3905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選設定、啟停／續跑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瀏覽族群與視覺觀戰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9739A6-4B10-4BA5-A83C-9E5D5B6E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19625"/>
            <a:ext cx="3905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讀 manifest 與已提交快照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狀態監看唯讀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519CB1-52D9-44C9-A84F-01D2CAF7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619625"/>
            <a:ext cx="3905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讀保存的快照與證據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離線產生報表與圖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C5F937-D65B-458F-AA16-16049BBF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6675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使用工具檢視證據，不改寫演化 fitness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9DF12B-9907-4E00-B123-EDFB4654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37 / 38</a:t>
            </a:r>
          </a:p>
        </p:txBody>
      </p:sp>
    </p:spTree>
    <p:extLst>
      <p:ext uri="{BB962C8B-B14F-4D97-AF65-F5344CB8AC3E}">
        <p14:creationId xmlns:p14="http://schemas.microsoft.com/office/powerpoint/2010/main" val="22727042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A30562-DB1C-419B-915D-4EC19061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目前 Framework Coach 設定範例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68528-5D92-4E3B-84C2-EBB74A5D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95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Framework slots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FB2E74-4CF1-4399-867C-2536CFC7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Coach 使用完整控制 genome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A8A9F-14B0-4712-B0F8-22AA893E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86000"/>
            <a:ext cx="38100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Mistral bootstrap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39B27-5664-4D04-8585-3A237EA3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mistral-small-latest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CA5DE-8A87-4775-8C92-660F4E1C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0"/>
            <a:ext cx="3714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Qwen 3.5 9B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1BC07D-45C4-4DED-9E58-FF7F696B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1432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主模型＋外部 additional endpoint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0381F-8C79-4DEA-B588-6117F12C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EBC350-0212-49E8-8D7E-083CB520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34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演化世代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3C4ABF-9F57-4E01-B6D6-E1FA5E2E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2912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7E502F-0A64-4946-A618-944B4C8B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34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population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71EE3-7EB9-4C70-BDAF-D3F122DF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2912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687EBE-54D7-4460-9136-EF928980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4F6433-42CA-4E32-9958-A2DFB941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42912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AEF4B1-AADD-44FB-97BE-72BB02A5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334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pool capacity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040FA6-E90B-4975-9055-40512B9C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191250"/>
            <a:ext cx="103822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每次評估：4 個保護對手 ＋ 6 個抽樣對手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D832CB-27EE-4B6C-8C54-9B8F3B6E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219950"/>
            <a:ext cx="1809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refresh 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D672BC-DC82-45CD-9BF0-AFC96296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219950"/>
            <a:ext cx="22860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crossover 0.75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615BCF-F2F2-4DD1-AE85-D18D4182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19950"/>
            <a:ext cx="2190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mutation 1.0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392B0A-2877-45B5-BC86-0E0755E7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219950"/>
            <a:ext cx="36195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tick caps 1500／3000／4000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BE6B0F-55F6-48E0-B0C3-8CDF4A76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77819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這是 checked-in 範例設定，不代表全域預設或已執行實驗。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6EED6A-5D91-4954-8C76-7FFDE0C3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38 / 38</a:t>
            </a:r>
          </a:p>
        </p:txBody>
      </p:sp>
    </p:spTree>
    <p:extLst>
      <p:ext uri="{BB962C8B-B14F-4D97-AF65-F5344CB8AC3E}">
        <p14:creationId xmlns:p14="http://schemas.microsoft.com/office/powerpoint/2010/main" val="1883182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2026-10-21T13:17:11.7220000Z</dcterms:created>
  <dcterms:modified xsi:type="dcterms:W3CDTF">2026-10-21T13:17:11.7220000Z</dcterms:modified>
</coreProperties>
</file>