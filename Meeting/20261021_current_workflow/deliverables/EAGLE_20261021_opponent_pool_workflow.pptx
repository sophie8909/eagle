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dea7e245ce43e5" /><Relationship Type="http://schemas.openxmlformats.org/officeDocument/2006/relationships/extended-properties" Target="/docProps/app.xml" Id="R6af82195170c40c7" /><Relationship Type="http://schemas.openxmlformats.org/officeDocument/2006/relationships/officeDocument" Target="/ppt/presentation.xml" Id="R444931b4444344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6ad99ab4644a32"/>
  </p:sldMasterIdLst>
  <p:notesMasterIdLst>
    <p:notesMasterId xmlns:r="http://schemas.openxmlformats.org/officeDocument/2006/relationships" r:id="R809fd09f2d394091"/>
  </p:notesMasterIdLst>
  <p:sldIdLst>
    <p:sldId xmlns:r="http://schemas.openxmlformats.org/officeDocument/2006/relationships" id="256" r:id="Ree82e3b13d31421f"/>
    <p:sldId xmlns:r="http://schemas.openxmlformats.org/officeDocument/2006/relationships" id="257" r:id="R3a5da1db166e40ee"/>
    <p:sldId xmlns:r="http://schemas.openxmlformats.org/officeDocument/2006/relationships" id="258" r:id="Ra1eb97545aa44151"/>
    <p:sldId xmlns:r="http://schemas.openxmlformats.org/officeDocument/2006/relationships" id="259" r:id="R82808bb870eb4812"/>
    <p:sldId xmlns:r="http://schemas.openxmlformats.org/officeDocument/2006/relationships" id="260" r:id="R26ea7b5a217343d3"/>
    <p:sldId xmlns:r="http://schemas.openxmlformats.org/officeDocument/2006/relationships" id="261" r:id="Ra705acce666a4ef3"/>
    <p:sldId xmlns:r="http://schemas.openxmlformats.org/officeDocument/2006/relationships" id="262" r:id="R7583da96706744db"/>
    <p:sldId xmlns:r="http://schemas.openxmlformats.org/officeDocument/2006/relationships" id="263" r:id="Rb763470e52874098"/>
    <p:sldId xmlns:r="http://schemas.openxmlformats.org/officeDocument/2006/relationships" id="264" r:id="R9d08345a79114b9e"/>
    <p:sldId xmlns:r="http://schemas.openxmlformats.org/officeDocument/2006/relationships" id="265" r:id="R7db25b94faaa475b"/>
    <p:sldId xmlns:r="http://schemas.openxmlformats.org/officeDocument/2006/relationships" id="266" r:id="R62e9465a62704713"/>
    <p:sldId xmlns:r="http://schemas.openxmlformats.org/officeDocument/2006/relationships" id="267" r:id="R3a4e50d4f55942ac"/>
    <p:sldId xmlns:r="http://schemas.openxmlformats.org/officeDocument/2006/relationships" id="268" r:id="Rf88f630aa8c24968"/>
    <p:sldId xmlns:r="http://schemas.openxmlformats.org/officeDocument/2006/relationships" id="269" r:id="Raec8aff1c81a4b35"/>
    <p:sldId xmlns:r="http://schemas.openxmlformats.org/officeDocument/2006/relationships" id="270" r:id="R59e716dd149248c5"/>
    <p:sldId xmlns:r="http://schemas.openxmlformats.org/officeDocument/2006/relationships" id="271" r:id="R54937d0e0cad49f4"/>
    <p:sldId xmlns:r="http://schemas.openxmlformats.org/officeDocument/2006/relationships" id="272" r:id="R36936344466e49f8"/>
    <p:sldId xmlns:r="http://schemas.openxmlformats.org/officeDocument/2006/relationships" id="273" r:id="R37c5ec3d488b4bde"/>
    <p:sldId xmlns:r="http://schemas.openxmlformats.org/officeDocument/2006/relationships" id="274" r:id="R75b0de2a05ae4b14"/>
    <p:sldId xmlns:r="http://schemas.openxmlformats.org/officeDocument/2006/relationships" id="275" r:id="Rc29d050e63a24b4f"/>
    <p:sldId xmlns:r="http://schemas.openxmlformats.org/officeDocument/2006/relationships" id="276" r:id="R4db665ee644f447b"/>
    <p:sldId xmlns:r="http://schemas.openxmlformats.org/officeDocument/2006/relationships" id="277" r:id="R31ee211e921643e6"/>
    <p:sldId xmlns:r="http://schemas.openxmlformats.org/officeDocument/2006/relationships" id="278" r:id="Rb5ba3d1cb99447a1"/>
    <p:sldId xmlns:r="http://schemas.openxmlformats.org/officeDocument/2006/relationships" id="279" r:id="Ra16c3c56bd6a40be"/>
    <p:sldId xmlns:r="http://schemas.openxmlformats.org/officeDocument/2006/relationships" id="280" r:id="R984fd03b75094420"/>
    <p:sldId xmlns:r="http://schemas.openxmlformats.org/officeDocument/2006/relationships" id="281" r:id="Ra2865c40e9f24f10"/>
    <p:sldId xmlns:r="http://schemas.openxmlformats.org/officeDocument/2006/relationships" id="282" r:id="R7ab48236deea4b27"/>
    <p:sldId xmlns:r="http://schemas.openxmlformats.org/officeDocument/2006/relationships" id="283" r:id="R36cf4ad055f64154"/>
    <p:sldId xmlns:r="http://schemas.openxmlformats.org/officeDocument/2006/relationships" id="284" r:id="R60e8b28b2d5c486a"/>
    <p:sldId xmlns:r="http://schemas.openxmlformats.org/officeDocument/2006/relationships" id="285" r:id="R13f66004a69f4e65"/>
    <p:sldId xmlns:r="http://schemas.openxmlformats.org/officeDocument/2006/relationships" id="286" r:id="Rc856bb554b304155"/>
    <p:sldId xmlns:r="http://schemas.openxmlformats.org/officeDocument/2006/relationships" id="287" r:id="R0f0715b2a2174b05"/>
    <p:sldId xmlns:r="http://schemas.openxmlformats.org/officeDocument/2006/relationships" id="288" r:id="R1ecb0f6c352d4ff1"/>
    <p:sldId xmlns:r="http://schemas.openxmlformats.org/officeDocument/2006/relationships" id="289" r:id="R08ec5cafc95c4781"/>
    <p:sldId xmlns:r="http://schemas.openxmlformats.org/officeDocument/2006/relationships" id="290" r:id="R0e883a5d2c834431"/>
    <p:sldId xmlns:r="http://schemas.openxmlformats.org/officeDocument/2006/relationships" id="291" r:id="R936c49aeda274238"/>
    <p:sldId xmlns:r="http://schemas.openxmlformats.org/officeDocument/2006/relationships" id="292" r:id="Rd961730cdacc4a53"/>
    <p:sldId xmlns:r="http://schemas.openxmlformats.org/officeDocument/2006/relationships" id="293" r:id="R10fc1449918745e8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465ac45422447e" /><Relationship Type="http://schemas.openxmlformats.org/officeDocument/2006/relationships/slideMaster" Target="/ppt/slideMasters/slideMaster1.xml" Id="Re26ad99ab4644a32" /><Relationship Type="http://schemas.openxmlformats.org/officeDocument/2006/relationships/notesMaster" Target="/ppt/notesMasters/notesMaster1.xml" Id="R809fd09f2d394091" /><Relationship Type="http://schemas.openxmlformats.org/officeDocument/2006/relationships/presProps" Target="/ppt/presProps.xml" Id="Ra06d7899110f4905" /><Relationship Type="http://schemas.openxmlformats.org/officeDocument/2006/relationships/tableStyles" Target="/ppt/tableStyles.xml" Id="Rc58a35b917964ea9" /><Relationship Type="http://schemas.openxmlformats.org/officeDocument/2006/relationships/slide" Target="/ppt/slides/slide1.xml" Id="Ree82e3b13d31421f" /><Relationship Type="http://schemas.openxmlformats.org/officeDocument/2006/relationships/slide" Target="/ppt/slides/slide2.xml" Id="R3a5da1db166e40ee" /><Relationship Type="http://schemas.openxmlformats.org/officeDocument/2006/relationships/slide" Target="/ppt/slides/slide3.xml" Id="Ra1eb97545aa44151" /><Relationship Type="http://schemas.openxmlformats.org/officeDocument/2006/relationships/slide" Target="/ppt/slides/slide4.xml" Id="R82808bb870eb4812" /><Relationship Type="http://schemas.openxmlformats.org/officeDocument/2006/relationships/slide" Target="/ppt/slides/slide5.xml" Id="R26ea7b5a217343d3" /><Relationship Type="http://schemas.openxmlformats.org/officeDocument/2006/relationships/slide" Target="/ppt/slides/slide6.xml" Id="Ra705acce666a4ef3" /><Relationship Type="http://schemas.openxmlformats.org/officeDocument/2006/relationships/slide" Target="/ppt/slides/slide7.xml" Id="R7583da96706744db" /><Relationship Type="http://schemas.openxmlformats.org/officeDocument/2006/relationships/slide" Target="/ppt/slides/slide8.xml" Id="Rb763470e52874098" /><Relationship Type="http://schemas.openxmlformats.org/officeDocument/2006/relationships/slide" Target="/ppt/slides/slide9.xml" Id="R9d08345a79114b9e" /><Relationship Type="http://schemas.openxmlformats.org/officeDocument/2006/relationships/slide" Target="/ppt/slides/slide10.xml" Id="R7db25b94faaa475b" /><Relationship Type="http://schemas.openxmlformats.org/officeDocument/2006/relationships/slide" Target="/ppt/slides/slide11.xml" Id="R62e9465a62704713" /><Relationship Type="http://schemas.openxmlformats.org/officeDocument/2006/relationships/slide" Target="/ppt/slides/slide12.xml" Id="R3a4e50d4f55942ac" /><Relationship Type="http://schemas.openxmlformats.org/officeDocument/2006/relationships/slide" Target="/ppt/slides/slide13.xml" Id="Rf88f630aa8c24968" /><Relationship Type="http://schemas.openxmlformats.org/officeDocument/2006/relationships/slide" Target="/ppt/slides/slide14.xml" Id="Raec8aff1c81a4b35" /><Relationship Type="http://schemas.openxmlformats.org/officeDocument/2006/relationships/slide" Target="/ppt/slides/slide15.xml" Id="R59e716dd149248c5" /><Relationship Type="http://schemas.openxmlformats.org/officeDocument/2006/relationships/slide" Target="/ppt/slides/slide16.xml" Id="R54937d0e0cad49f4" /><Relationship Type="http://schemas.openxmlformats.org/officeDocument/2006/relationships/slide" Target="/ppt/slides/slide17.xml" Id="R36936344466e49f8" /><Relationship Type="http://schemas.openxmlformats.org/officeDocument/2006/relationships/slide" Target="/ppt/slides/slide18.xml" Id="R37c5ec3d488b4bde" /><Relationship Type="http://schemas.openxmlformats.org/officeDocument/2006/relationships/slide" Target="/ppt/slides/slide19.xml" Id="R75b0de2a05ae4b14" /><Relationship Type="http://schemas.openxmlformats.org/officeDocument/2006/relationships/slide" Target="/ppt/slides/slide20.xml" Id="Rc29d050e63a24b4f" /><Relationship Type="http://schemas.openxmlformats.org/officeDocument/2006/relationships/slide" Target="/ppt/slides/slide21.xml" Id="R4db665ee644f447b" /><Relationship Type="http://schemas.openxmlformats.org/officeDocument/2006/relationships/slide" Target="/ppt/slides/slide22.xml" Id="R31ee211e921643e6" /><Relationship Type="http://schemas.openxmlformats.org/officeDocument/2006/relationships/slide" Target="/ppt/slides/slide23.xml" Id="Rb5ba3d1cb99447a1" /><Relationship Type="http://schemas.openxmlformats.org/officeDocument/2006/relationships/slide" Target="/ppt/slides/slide24.xml" Id="Ra16c3c56bd6a40be" /><Relationship Type="http://schemas.openxmlformats.org/officeDocument/2006/relationships/slide" Target="/ppt/slides/slide25.xml" Id="R984fd03b75094420" /><Relationship Type="http://schemas.openxmlformats.org/officeDocument/2006/relationships/slide" Target="/ppt/slides/slide26.xml" Id="Ra2865c40e9f24f10" /><Relationship Type="http://schemas.openxmlformats.org/officeDocument/2006/relationships/slide" Target="/ppt/slides/slide27.xml" Id="R7ab48236deea4b27" /><Relationship Type="http://schemas.openxmlformats.org/officeDocument/2006/relationships/slide" Target="/ppt/slides/slide28.xml" Id="R36cf4ad055f64154" /><Relationship Type="http://schemas.openxmlformats.org/officeDocument/2006/relationships/slide" Target="/ppt/slides/slide29.xml" Id="R60e8b28b2d5c486a" /><Relationship Type="http://schemas.openxmlformats.org/officeDocument/2006/relationships/slide" Target="/ppt/slides/slide30.xml" Id="R13f66004a69f4e65" /><Relationship Type="http://schemas.openxmlformats.org/officeDocument/2006/relationships/slide" Target="/ppt/slides/slide31.xml" Id="Rc856bb554b304155" /><Relationship Type="http://schemas.openxmlformats.org/officeDocument/2006/relationships/slide" Target="/ppt/slides/slide32.xml" Id="R0f0715b2a2174b05" /><Relationship Type="http://schemas.openxmlformats.org/officeDocument/2006/relationships/slide" Target="/ppt/slides/slide33.xml" Id="R1ecb0f6c352d4ff1" /><Relationship Type="http://schemas.openxmlformats.org/officeDocument/2006/relationships/slide" Target="/ppt/slides/slide34.xml" Id="R08ec5cafc95c4781" /><Relationship Type="http://schemas.openxmlformats.org/officeDocument/2006/relationships/slide" Target="/ppt/slides/slide35.xml" Id="R0e883a5d2c834431" /><Relationship Type="http://schemas.openxmlformats.org/officeDocument/2006/relationships/slide" Target="/ppt/slides/slide36.xml" Id="R936c49aeda274238" /><Relationship Type="http://schemas.openxmlformats.org/officeDocument/2006/relationships/slide" Target="/ppt/slides/slide37.xml" Id="Rd961730cdacc4a53" /><Relationship Type="http://schemas.openxmlformats.org/officeDocument/2006/relationships/slide" Target="/ppt/slides/slide38.xml" Id="R10fc1449918745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18a5c5f0634f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e61da2cc784555" /><Relationship Type="http://schemas.openxmlformats.org/officeDocument/2006/relationships/notesMaster" Target="/ppt/notesMasters/notesMaster1.xml" Id="Rd89addcb76ef44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b7b42df52540f0" /><Relationship Type="http://schemas.openxmlformats.org/officeDocument/2006/relationships/notesMaster" Target="/ppt/notesMasters/notesMaster1.xml" Id="R987928b099cd48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3df02a9ada40f8" /><Relationship Type="http://schemas.openxmlformats.org/officeDocument/2006/relationships/notesMaster" Target="/ppt/notesMasters/notesMaster1.xml" Id="R37b0e91498524c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2cf22984254b6f" /><Relationship Type="http://schemas.openxmlformats.org/officeDocument/2006/relationships/notesMaster" Target="/ppt/notesMasters/notesMaster1.xml" Id="Re8c8b6bcb8c942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2ed8e56acf47bf" /><Relationship Type="http://schemas.openxmlformats.org/officeDocument/2006/relationships/notesMaster" Target="/ppt/notesMasters/notesMaster1.xml" Id="Rf223aded84c646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6ed04db5c64677" /><Relationship Type="http://schemas.openxmlformats.org/officeDocument/2006/relationships/notesMaster" Target="/ppt/notesMasters/notesMaster1.xml" Id="R17904558494345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e6c05b6ba04cd9" /><Relationship Type="http://schemas.openxmlformats.org/officeDocument/2006/relationships/notesMaster" Target="/ppt/notesMasters/notesMaster1.xml" Id="R707c30d73e9d4d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3e24b0677b4136" /><Relationship Type="http://schemas.openxmlformats.org/officeDocument/2006/relationships/notesMaster" Target="/ppt/notesMasters/notesMaster1.xml" Id="Rd2617849e4a04a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fc0e899d084dc3" /><Relationship Type="http://schemas.openxmlformats.org/officeDocument/2006/relationships/notesMaster" Target="/ppt/notesMasters/notesMaster1.xml" Id="R4349dcc00bf44d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33eb5c160e433e" /><Relationship Type="http://schemas.openxmlformats.org/officeDocument/2006/relationships/notesMaster" Target="/ppt/notesMasters/notesMaster1.xml" Id="Re6e9a667855d45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2fe474a6254796" /><Relationship Type="http://schemas.openxmlformats.org/officeDocument/2006/relationships/notesMaster" Target="/ppt/notesMasters/notesMaster1.xml" Id="Rf5db8df03c4e40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174cefb8e947d1" /><Relationship Type="http://schemas.openxmlformats.org/officeDocument/2006/relationships/notesMaster" Target="/ppt/notesMasters/notesMaster1.xml" Id="R51cf96b31a3241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718f7fbe074ea8" /><Relationship Type="http://schemas.openxmlformats.org/officeDocument/2006/relationships/notesMaster" Target="/ppt/notesMasters/notesMaster1.xml" Id="R3d6112e8283946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526f81a0eb47ae" /><Relationship Type="http://schemas.openxmlformats.org/officeDocument/2006/relationships/notesMaster" Target="/ppt/notesMasters/notesMaster1.xml" Id="R03d414cc1eb74c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489646124d41c5" /><Relationship Type="http://schemas.openxmlformats.org/officeDocument/2006/relationships/notesMaster" Target="/ppt/notesMasters/notesMaster1.xml" Id="Rdd740bda195c44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69cf5d921e4bb3" /><Relationship Type="http://schemas.openxmlformats.org/officeDocument/2006/relationships/notesMaster" Target="/ppt/notesMasters/notesMaster1.xml" Id="R7b4e053b98c945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bc6563d2be4d7f" /><Relationship Type="http://schemas.openxmlformats.org/officeDocument/2006/relationships/notesMaster" Target="/ppt/notesMasters/notesMaster1.xml" Id="R0863b58f426546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86e9440dc54757" /><Relationship Type="http://schemas.openxmlformats.org/officeDocument/2006/relationships/notesMaster" Target="/ppt/notesMasters/notesMaster1.xml" Id="Re1e515ba88b841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dd955aca814b96" /><Relationship Type="http://schemas.openxmlformats.org/officeDocument/2006/relationships/notesMaster" Target="/ppt/notesMasters/notesMaster1.xml" Id="R54c1e77e682b46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aa98c17fe446e7" /><Relationship Type="http://schemas.openxmlformats.org/officeDocument/2006/relationships/notesMaster" Target="/ppt/notesMasters/notesMaster1.xml" Id="Rb81d9eff73d44e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245eb4d7f346f5" /><Relationship Type="http://schemas.openxmlformats.org/officeDocument/2006/relationships/notesMaster" Target="/ppt/notesMasters/notesMaster1.xml" Id="Rd946efc7772548b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3616aaa9bb4bad" /><Relationship Type="http://schemas.openxmlformats.org/officeDocument/2006/relationships/notesMaster" Target="/ppt/notesMasters/notesMaster1.xml" Id="Ra80d435c56a346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318799ce6c64301" /><Relationship Type="http://schemas.openxmlformats.org/officeDocument/2006/relationships/notesMaster" Target="/ppt/notesMasters/notesMaster1.xml" Id="R4bd1f3c42c3b4e3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3b9faebedb54cf9" /><Relationship Type="http://schemas.openxmlformats.org/officeDocument/2006/relationships/notesMaster" Target="/ppt/notesMasters/notesMaster1.xml" Id="Rf6958900444840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93d1ce18c384105" /><Relationship Type="http://schemas.openxmlformats.org/officeDocument/2006/relationships/notesMaster" Target="/ppt/notesMasters/notesMaster1.xml" Id="R1e6edc1530274a1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39d02b9aae147be" /><Relationship Type="http://schemas.openxmlformats.org/officeDocument/2006/relationships/notesMaster" Target="/ppt/notesMasters/notesMaster1.xml" Id="R6a3929c2404d460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4a5ed2f69054692" /><Relationship Type="http://schemas.openxmlformats.org/officeDocument/2006/relationships/notesMaster" Target="/ppt/notesMasters/notesMaster1.xml" Id="Rf43f584032524c0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36ca81822bc47e6" /><Relationship Type="http://schemas.openxmlformats.org/officeDocument/2006/relationships/notesMaster" Target="/ppt/notesMasters/notesMaster1.xml" Id="Rd5cc76396748441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432d68767bf4cf5" /><Relationship Type="http://schemas.openxmlformats.org/officeDocument/2006/relationships/notesMaster" Target="/ppt/notesMasters/notesMaster1.xml" Id="R451bcbf86871448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f098a8bb0c74966" /><Relationship Type="http://schemas.openxmlformats.org/officeDocument/2006/relationships/notesMaster" Target="/ppt/notesMasters/notesMaster1.xml" Id="Ra073f6905b96407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cd4fa16f88741c7" /><Relationship Type="http://schemas.openxmlformats.org/officeDocument/2006/relationships/notesMaster" Target="/ppt/notesMasters/notesMaster1.xml" Id="R5316074266d340b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65d3f9172d9465a" /><Relationship Type="http://schemas.openxmlformats.org/officeDocument/2006/relationships/notesMaster" Target="/ppt/notesMasters/notesMaster1.xml" Id="R879a5289a4eb489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030c3eb2c9243f7" /><Relationship Type="http://schemas.openxmlformats.org/officeDocument/2006/relationships/notesMaster" Target="/ppt/notesMasters/notesMaster1.xml" Id="R172760f356fd475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371dbd2d38c47f7" /><Relationship Type="http://schemas.openxmlformats.org/officeDocument/2006/relationships/notesMaster" Target="/ppt/notesMasters/notesMaster1.xml" Id="R716528d2c8a2496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7f43e7d5c614929" /><Relationship Type="http://schemas.openxmlformats.org/officeDocument/2006/relationships/notesMaster" Target="/ppt/notesMasters/notesMaster1.xml" Id="Rb6efa7b78964471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df378247cbd46b5" /><Relationship Type="http://schemas.openxmlformats.org/officeDocument/2006/relationships/notesMaster" Target="/ppt/notesMasters/notesMaster1.xml" Id="Rd4ba3494e50d4a0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02c50b84bc54516" /><Relationship Type="http://schemas.openxmlformats.org/officeDocument/2006/relationships/notesMaster" Target="/ppt/notesMasters/notesMaster1.xml" Id="R76ad34c2875a4cd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64b8eb9cf8e44b7" /><Relationship Type="http://schemas.openxmlformats.org/officeDocument/2006/relationships/notesMaster" Target="/ppt/notesMasters/notesMaster1.xml" Id="R026bdc1127cf4c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本流程固定採 evaluation.mode=self_play 與 self_play_pool_policy=tournament-v1。長期 opponent pool 保存內建對手與經入池規則保留的歷代策略；每個評估快照只用十個對手欄位。候選對戰時執行完整 Java，沒有即時 LLM 決策。Java materialization 與反思方式仍依所選模式啟用，但搜尋評估與選擇規則統一使用 opponent pool。正式 Final Test 是獨立的固定基準測試。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來源：eagle/config.py:360-388、747-760；eagle/opponent_pool.py:136-219；eagle/final_test.py。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本流程先由 ChatGPT 人工準備固定 Java framework。G0 用十個內建對手完成初始候選評估，已評估族群開始按規則加入長期 opponent pool。後續每代在刷新到期時凍結四個保護對手加六個抽樣對手，保留父代 Java 並重新評估其分數，才選繁殖父代。子代評估使用同一快照；合併父代與子代選下一代後，所有已評估子代按入池規則挑戰或加入 pool，最後保存世代。尚未停止則繼續；停止後獨立執行固定內建對手的 Final Test。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來源：eagle/evolution/search.py:208-270；eagle/evolution/generation.py:94-285；eagle/opponent_pool.py:136-219。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策略的 actor、when、action 都使用閉合的 MicroRTS 詞彙與可觀察狀態，允許合法策略多樣性。DSL 是基因資料，不是對戰時呼叫 LLM 的文字指令。deterministic_dsl 會經 typed IR 編譯；llm 則要求 Generator 實作同一份 DSL。合法動作守衛與 fallthrough 規則屬於共用語意。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eagle/strategy_dsl.py:1-120</a:t>
            </a:r>
          </a:p>
          <a:p xmlns:a="http://schemas.openxmlformats.org/drawingml/2006/main">
            <a:r>
              <a:t>docs/architecture/overview.md:112-127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有外部 bundle_path 時直接驗證該檔並凍結 run-owned copy，不再呼叫 bootstrap。沒有時依 backend 建立，預設 Groq，亦支援 Mistral 與 local。原始回應在解析前保存，失敗有界重試。每個 replicate 預設各自 bootstrap；要共用架構必須明確指定同一個 bundle。搜尋期間 Java 模板、槽位 domain 與表達式不變，resume 也不重新設計。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docs/architecture/framework_slots.md:113-157</a:t>
            </a:r>
          </a:p>
          <a:p xmlns:a="http://schemas.openxmlformats.org/drawingml/2006/main">
            <a:r>
              <a:t>docs/eagle_architecture_spec.md:747-820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slot 是固定 Java 模板中的可替換位置。bundle 先定義每個 slot 的型別、合法值與表達式選單；候選只保存值或 choice_id。範例中 worker_target 從 2 到 8 的整數選 6，attack_weight 從 0、0.25、0.5、0.75、1 選 0.75，target_policy 選 lowest_hp。attack_weight、target_policy 與其選單為型別教學示例，不代表目前 bundle 的實際欄位。number 同樣是有限離散選單，0.6 在此例不合法。expression_choice 保存最低血量選項的 ID，由 bundle 中預先定義的 Java 表達式取代模板 marker，不生成新表達式。完整 genome 必須包含該 bundle 的全部 slot，不能只交這三項。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程式來源：eagle/generation/framework_slots.py:304-340、445-470。worker_target 實例來源：configs/framework_bundles/fixed_worker_combat/bundle.json。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eagle/generation/framework_slots.py:189-340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兩種政策共享相同凍結 bundle、hash、renderer、下游評估與倖存者規則。llm_coach 回應必須恰好包含 schema_version、framework_bundle_sha256 與完整 control_genome。突變失敗不隨機改寫、不部分套用；初始選擇失敗保留採樣 genome 並在初始化階段標記該候選失敗。兩種模式都不進行 Prompt Reflection、Code gate、Java Generation 或 compile repair。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docs/architecture/framework_slots.md:13-75</a:t>
            </a:r>
          </a:p>
          <a:p xmlns:a="http://schemas.openxmlformats.org/drawingml/2006/main">
            <a:r>
              <a:t>eagle/operators/strategy.py:448-865</a:t>
            </a:r>
          </a:p>
          <a:p xmlns:a="http://schemas.openxmlformats.org/drawingml/2006/main">
            <a:r>
              <a:t>eagle/operators/framework_slots.py:1-200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一般世代產生 population_size 個子代；到期刷新對手快照時，繁殖前先重評父代。父代與子代必須在同一快照下比較。完成者以 Game Performance 分層，語意差異僅在層內輔助選擇。選擇之後更新 opponent pool，入池來源為所有已評估子代，不限倖存者。self_play 要求 static 反思操作；對手池挑戰與更新不會立即改變已凍結的評估快照。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來源：eagle/evolution/generation.py:94-285；eagle/config.py:747-760。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繁殖父代來自目前 population，與用來提供評估對手的歷史 opponent pool 分開。使用單一 Game Performance fitness；從目前最高分往下 tolerance 以內形成頂層，預設 tolerance=1.0 且包含邊界，不採相鄰分數串連。第一父代以 seeded RNG 從有完整語意簽章者抽樣；若沒有完整簽章則從頂層候選抽樣。第二父代以第一父代為參照，優先選相容動作簽章距離最大者，距離相同時 seeded 抽樣；沒有可比資料時保留 fallback。兩次選擇沒有強制父代 ID 相異。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來源：eagle/operators/selection.py:42-68、200-215、245-282；eagle/evolution/offspring.py:91-119。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教學示例，非實驗結果。A、B、C、D 的 fitness 分別為 100、99.4、99.0、98.8，tolerance=1.0，因此頂層只有 A、B、C。C 剛好在含邊界的門檻；D 不會因距離 C 很近而串連進來。假設第一父代 seeded 選到 B，且相容的九個 probes 中 A 與 B 有八個動作不同，C 與 B 有兩個不同，則第二父代選 A。D 已在頂層外，不能因行為新穎而越級。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來源：eagle/operators/selection.py:42-68、200-215、245-282、311-320。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直接父代列表與每個成分實際來源是不同資訊，均需保存。兩位父代可以提供不同成分，即使文字或值相同也不能省略來源。Framework 的 Coach 證據父代是 parent A，不會因某槽位從 donor B 繼承就改用 B 的比賽。crossover_rate 控制是否交配，未交配時沿用單一來源。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docs/eagle_architecture_spec.md:216-223</a:t>
            </a:r>
          </a:p>
          <a:p xmlns:a="http://schemas.openxmlformats.org/drawingml/2006/main">
            <a:r>
              <a:t>eagle/operators/crossover.py:1-170</a:t>
            </a:r>
          </a:p>
          <a:p xmlns:a="http://schemas.openxmlformats.org/drawingml/2006/main">
            <a:r>
              <a:t>eagle/operators/framework_slots.py:1-155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所有實際貢獻來源都必須健康才可進入正常交配與突變。Code v6 只檢查 strategy_fidelity 與 code_correctness；不因勝率、外觀或可簡化而要求修正。ambiguous_strategy 配合正確 Java 不需 revision。有缺陷就產生一位保留原基因的 corrective child，跳過交配與一般突變；診斷失敗也不能當健康通過。Code gate 沒有 AOS 操作機率。DSL 與 framework 模式不執行此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eagle/operators/code.py:29-180</a:t>
            </a:r>
          </a:p>
          <a:p xmlns:a="http://schemas.openxmlformats.org/drawingml/2006/main">
            <a:r>
              <a:t>eagle/evolution/offspring.py:125-280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最差場次只從記錄的策略來源父代中取，不能任意從 child、donor 或整個 run 換一場。Match Commentator 看一場詳細 trace；Coach 同時取得全場 global summary 與此一 diagnosis，以免只看局部比賽。LLM/DSL 模式改 policy，framework llm_coach 則改完整 genome。策略反思失敗保留既有資料並走失敗分支，沒有自動換賽事補救。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eagle/operators/strategy.py:202-447</a:t>
            </a:r>
          </a:p>
          <a:p xmlns:a="http://schemas.openxmlformats.org/drawingml/2006/main">
            <a:r>
              <a:t>eagle/operators/strategy.py:576-865</a:t>
            </a:r>
          </a:p>
          <a:p xmlns:a="http://schemas.openxmlformats.org/drawingml/2006/main">
            <a:r>
              <a:t>eagle/operators/strategy.py:1222-1308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每場 performance 包含 shaping，因此同為敗場也能分辨較差表現。JSONL 是 field-targeted 完整規則紀錄，不能把零碎 condition/action 修成另一個沒有被模型完整提出的規則。舊的整份 JSON 回應仍採 all-or-nothing 驗證。framework Coach 使用另一份完整 genome schema，不能套用 DSL 的合法子集合邏輯。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eagle/operators/strategy.py:1222-1308</a:t>
            </a:r>
          </a:p>
          <a:p xmlns:a="http://schemas.openxmlformats.org/drawingml/2006/main">
            <a:r>
              <a:t>eagle/operators/strategy.py:1638-1710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Prompt Reflection 改良的是可重用的 policy-to-Java 翻譯規則。Reviewer 不接收勝敗、fitness、對手分數、比賽 trace 或其他 gameplay evidence。預設模式比較來源父代的 policy 與 Java；inherited 模式比較 child 選中的 policy 與 inherited Java。新 prompt 不直接修改策略基因，最後仍由 Generator 生成 Java。只在 llm materialization 啟用。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docs/eagle_architecture_spec.md:277-309</a:t>
            </a:r>
          </a:p>
          <a:p xmlns:a="http://schemas.openxmlformats.org/drawingml/2006/main">
            <a:r>
              <a:t>eagle/operators/prompt.py:268-525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LLM 回應必須先滿足完整檔案的 package、class、建構子、lifecycle 與單一 strategy-marker 區域等外框，再以固定 scaffold 加上抽出的策略區域建立 normalized Java。固定區域中的模型改動保留為證據，但不進表型。結構非法的回應不能靠 normalization 變成合法。確定性兩條路徑沒有 LLM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docs/eagle_architecture_spec.md:313-405</a:t>
            </a:r>
          </a:p>
          <a:p xmlns:a="http://schemas.openxmlformats.org/drawingml/2006/main">
            <a:r>
              <a:t>docs/eagle_architecture_spec.md:700-820</a:t>
            </a:r>
          </a:p>
          <a:p xmlns:a="http://schemas.openxmlformats.org/drawingml/2006/main">
            <a:r>
              <a:t>eagle/evaluation/decoding.py:1-130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attempt 1 通常是普通生成，corrective child 則直接使用 Code Reflection 已回傳的完整 Java。完整 source 的驗證或編譯失敗可在 generation_max_attempts 內用專門 compile-repair prompt 修復。每次 request、raw response、抽取 source、normalized source 與 hash 都保存。第一個 validation＋compilation 成功即停止；Integration 或 runtime 失敗不回到 decoder。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docs/eagle_architecture_spec.md:350-405</a:t>
            </a:r>
          </a:p>
          <a:p xmlns:a="http://schemas.openxmlformats.org/drawingml/2006/main">
            <a:r>
              <a:t>eagle/evaluation/decoding.py:1-160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Java contract 同時限制 network、process execution、未授權 I/O 與 runtime modification；它不是一般用途 Java sandbox。編譯保留結構化去重診斷與 warning。Integration 前置檢查失敗會阻擋後面的檢查與對戰。獨立實例檢查確保 getAction 與 PlayerAction 在有單位的真實地圖可運作，成功仍不能證明所有對戰情境都正確。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docs/eagle_architecture_spec.md:378-424</a:t>
            </a:r>
          </a:p>
          <a:p xmlns:a="http://schemas.openxmlformats.org/drawingml/2006/main">
            <a:r>
              <a:t>eagle/generation/java_agent_generator.py:256-329</a:t>
            </a:r>
          </a:p>
          <a:p xmlns:a="http://schemas.openxmlformats.org/drawingml/2006/main">
            <a:r>
              <a:t>eagle/evaluation/microrts_runner.py:1-140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搜尋評估使用凍結的 opponent-pool 十欄快照：四個保護對手與六個抽樣對手。只有通過 materialization、validation、compilation 與 Integration 的候選能進入對戰。每欄三張地圖、三回合、雙方位置，共十八場，十欄共一百八十場。每場使用衍生 seed、地圖 tick cap 與 timeout。矩陣必須完整才有有效 fitness。同一快照內父代與子代使用同一名單；長期 pool 更新不立即更換這個名單。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來源：eagle/evaluation/match_matrix.py；eagle/evaluation/matches.py；eagle/self_play.py:24-79。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Opponent-pool 搜尋使用單一 Game Performance fitness。單場結果的敗、和、勝基分為 -100、0、100，再加最多正負十的物資、資源與存活 shaping。每個對手十八場先取平均，十個對手欄位再等權平均；因每欄場數相同，也等於完整一百八十場的平均。四個保護對手沒有較高評分權重。語意距離只在分數同層內輔助選擇，不另加 fitness。必要階段失敗或矩陣未完成使用 -1000 sentinel；失敗候選保留診斷但不能擠掉足夠的完整評估候選。AllInBot 被 adapter containment 的上游故障以中性零分和局記錄，另列 opponent 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來源：eagle/evaluation/game_performance.py:207-219；eagle/config.py:372-388；eagle/operators/selection.py:93-129；eagle/evaluation/matches.py。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初始 pool 含十個內建來源。PassiveAI、RandomAI、RandomBiasedAI、LightRush、HeavyRush、WorkerRush 是六個可替換成員；AllInBot、Mayari、COAC、TMA 是四個永久保護成員。G0 評估使用全部十個內建對手。後續可替換區累積經規則入池的歷代策略，每個刷新快照保留四個保護對手，再從非保護成員抽六名。這是 pool 的初始化名單，並不表示整個演化期間固定對戰這十位。搜尋評分十欄等權。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來源：eagle/opponents.py:1-145；eagle/opponent_pool.py:22-35、136-219；eagle/self_play.py:24-79。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長期 opponent pool 與每次凍結的十個評估欄位分開保存。Pool 初始是所有十個內建對手，之後納入合法且新穎的歷代候選策略。它不是只存當代十個策略，也不是只收歷代冠軍。總容量 50 是設定預設，不代表每次評估要跑五十個對手。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docs/eagle_architecture_spec.md:461-481</a:t>
            </a:r>
          </a:p>
          <a:p xmlns:a="http://schemas.openxmlformats.org/drawingml/2006/main">
            <a:r>
              <a:t>eagle/opponent_pool.py:22-35</a:t>
            </a:r>
          </a:p>
          <a:p xmlns:a="http://schemas.openxmlformats.org/drawingml/2006/main">
            <a:r>
              <a:t>eagle/opponent_pool.py:162-219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eagle/evolution/search.py:208-219</a:t>
            </a:r>
          </a:p>
          <a:p xmlns:a="http://schemas.openxmlformats.org/drawingml/2006/main">
            <a:r>
              <a:t>eagle/evolution/generation.py:254-262</a:t>
            </a:r>
          </a:p>
          <a:p xmlns:a="http://schemas.openxmlformats.org/drawingml/2006/main">
            <a:r>
              <a:t>eagle/opponent_pool.py:162-219</a:t>
            </a:r>
          </a:p>
          <a:p xmlns:a="http://schemas.openxmlformats.org/drawingml/2006/main">
            <a:r>
              <a:t>eagle/opponent_pool.py:400-430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這裡的十個是評估對手欄位，不是當代子代人口數。刷新預設 interval 5，第 1 代即刷新，之後第 6、11、16 代。Pool 在世代結束可以更新，但已凍結 context 不立即跟著改變。新入池策略要等後續快照刷新才可能被抽到。四保護 case IDs 固定，六個動態 diagnostic slots 為 self_play_000 到 self_play_005，來源寫在 context rows。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docs/eagle_architecture_spec.md:482-511</a:t>
            </a:r>
          </a:p>
          <a:p xmlns:a="http://schemas.openxmlformats.org/drawingml/2006/main">
            <a:r>
              <a:t>eagle/opponent_pool.py:136-159</a:t>
            </a:r>
          </a:p>
          <a:p xmlns:a="http://schemas.openxmlformats.org/drawingml/2006/main">
            <a:r>
              <a:t>eagle/self_play.py:24-79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self_play 要求 parent_evaluation_mode=reuse_cached。快照不變時沿用父代 Java 與已完成分數。快照刷新是協定內的必要重評：建立新 ID 父代複本，保留原 Java 表型，使用新十欄名單跑完評估，不覆寫舊 context 的分數與證據。刷新評估先完成，才做繁殖選擇；子代也在該快照中評估，讓父代與子代的 fitness 可在倖存選擇時比較。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本流程只有兩種父代評估情境。對手快照不變時，reuse_cached 保留 Java 與原分數；到期刷新時，快照協定自動建立父代評估複本，用新名單重新對戰，但不重新生成 Java。self_play 設定驗證要求 reuse_cached，不能使用 regenerate_same_genotype 診斷模式。父代先完成新情境評分才能繁殖，子代隨後使用同一快照完成評估。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Opponent-pool 流程強制啟用語意探針。固定三張地圖的三個階段共九個 probe，記錄實際 Java 動作簽章，距離為動作 hash 不同的 probe 比例；dataset、probe 次序與簽章需相容。繁殖時第二父代在頂層內偏好與第一父代距離較遠者。倖存者只有名額切分同一分數層時才使用 seeded max-min 子集，不能越過分數層。精確相同行為亦用於 opponent pool 的表型去重。語意不構成另一個 fitness 目標。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來源：eagle/config.py:747-750；eagle/operators/selection.py:174-282、311-320；eagle/opponent_pool.py:499-540。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將當代父代與已評估子代合併並按 ID 去重，只讓完整評估候選參與下一代。目標為固定人口 N。依當前剩餘候選的最高分作錨點，往下預設 1.0 分以內形成一層，不採相鄰串連；例如 100、99.2 同層，98.4 屬下一層。整層放得下就整層保留；名額切在一層內才用 seeded farthest-first max-min，最大化對已選者與本層已挑者的最小語意距離。低分層不能靠新穎性越級。若所有子代失敗但仍有 N 位完整評估父代，父代可全數留下；完整者不足 N 時 run 明確失敗。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來源：eagle/operators/selection.py:70-145、174-282；eagle/evolution/generation.py:214-229。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self_play 設定明確要求 reflection_operator_mode=static，不使用 AOS Opponents rank、EMA 或 head-to-head reward 更新機率。交配後依固定 mutation_rate 決定是否突變；未觸發時保留交配後基因。Framework local 至多更換一個槽位為另一合法值；Framework Coach 回傳完整 control_genome。LLM／DSL 依各自可用的反思操作與靜態配比選擇，功能是否啟用仍由 materialization 模式決定。對戰提供 Game Performance 與反思證據，不動態調整操作機率。十八場 pool 入池挑戰是另一個機制，不能和 AOS head-to-head 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來源：eagle/config.py:747-760；eagle/evolution/offspring.py:281-300、430-480；eagle/operators/adaptive.py:215-230。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失敗分類包括初始化、反思、生成、驗證、編譯、Integration 與 runtime 等。候選失敗與 run 失敗需分開：只要完成的父代與子代足夠，下一代仍可成立。程序中斷會取消排隊工作、drain active worker，保留未完成證據後從最後完成世代恢復。Pipeline 安全邊界不能以看起來可執行的 fallback 代替。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docs/eagle_architecture_spec.md:350-424</a:t>
            </a:r>
          </a:p>
          <a:p xmlns:a="http://schemas.openxmlformats.org/drawingml/2006/main">
            <a:r>
              <a:t>docs/evaluation/game_performance.md:33-40</a:t>
            </a:r>
          </a:p>
          <a:p xmlns:a="http://schemas.openxmlformats.org/drawingml/2006/main">
            <a:r>
              <a:t>eagle/operators/selection.py:99-123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Generation snapshot 先原子寫成功，再更新 manifest.latest_generation。只有 manifest 指定的完成快照作為 resume 起點，不能因資料夾有較新檔就推論已提交世代。每次 LLM request 的 endpoint/model、prompt、raw response、attempt、hash 與 timing 都屬證據；秘密憑證不可寫入。compact artifact 模式省去 XML replay，但保留需要的 trace 與對戰摘要。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eagle/run_artifacts.py:160-197</a:t>
            </a:r>
          </a:p>
          <a:p xmlns:a="http://schemas.openxmlformats.org/drawingml/2006/main">
            <a:r>
              <a:t>eagle/run_artifacts.py:363-375</a:t>
            </a:r>
          </a:p>
          <a:p xmlns:a="http://schemas.openxmlformats.org/drawingml/2006/main">
            <a:r>
              <a:t>docs/artifacts/artifact_schema.md:37-92</a:t>
            </a:r>
          </a:p>
          <a:p xmlns:a="http://schemas.openxmlformats.org/drawingml/2006/main">
            <a:r>
              <a:t>docs/eagle_architecture_spec.md:567-629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Resume 不是繼續使用任意半成品，也不重新 bootstrap。先檢查目前版本與凍結身分能否相容；protocol、bundle hash、framework evolution mode 或 runtime/map 身分不合時拒絕。未提交候選與 LLM 證據先移入 interrupted_work，保留後再以穩定 ID 重播。這維持可追查性，但外部 LLM 回應與 wall-clock timeout 仍可能讓重播結果不同。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eagle/evolution/resume.py:1-150</a:t>
            </a:r>
          </a:p>
          <a:p xmlns:a="http://schemas.openxmlformats.org/drawingml/2006/main">
            <a:r>
              <a:t>eagle/run_artifacts.py:686-703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docs/architecture/framework_slots.md:140-149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明確 random_seeds 時 runs 是每個 seed 的重複次數。省略 random_seeds 則沿用 random_seed、random_seed+1 的歷史排程。Index 保存有序的 absolute run paths，每個 slot 都檢查 seed 與 config 身分。Framework fresh replicate 預設各自生成 bundle，若研究需控制架構差異，必須指定相同外部 bundle。Folder rerun 會處理未開始、未完成與缺 final test 的不同情況。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eagle/config.py:863-879</a:t>
            </a:r>
          </a:p>
          <a:p xmlns:a="http://schemas.openxmlformats.org/drawingml/2006/main">
            <a:r>
              <a:t>eagle/experiment.py:355-540</a:t>
            </a:r>
          </a:p>
          <a:p xmlns:a="http://schemas.openxmlformats.org/drawingml/2006/main">
            <a:r>
              <a:t>docs/artifacts/artifact_schema.md:491-529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執行總是對可控制的隨機性設 seed，沒有另一個 deterministic_mode 開關。模型 provider 可能忽略 seed 或更新權重；GPU batching、浮點數、第三方對手二進位與 wall-clock 搜尋都可能改變結果。Deterministic materialization 的 byte-identical Java 契約不等於整場實驗逐位元相同。重現承諾需限定同程式、資料、設定與確定的 task outputs。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eagle/evaluation/determinism.py:1-170</a:t>
            </a:r>
          </a:p>
          <a:p xmlns:a="http://schemas.openxmlformats.org/drawingml/2006/main">
            <a:r>
              <a:t>eagle/execution.py:14-68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搜尋階段使用會刷新的 opponent-pool 快照，停止後的正式 Final Test 另外使用固定十個內建對手，是獨立 benchmark，不改變搜尋協定。停止條件為演化世代上限或 active selection-state signature 的 stagnation。預設從末代選可執行代表，獨立重新編譯並跑七項 Integration，再執行十對手、三地圖、十回合、雙方位置，共六百場。mock 或 skip-final-test 可略過。十八場入池挑戰只決定長期池成員替換，一百八十場搜尋評估決定 fitness，六百場 Final Test 作正式測試，三者各自保存證據。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來源：eagle/final_test.py；eagle/experiment.py:409-423；eagle/opponent_pool.py:217-430。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python -m eagle.fixed_evaluation 只讀取 completed run 的明確指定世代，不缺代替代、不用 run-wide best 取代 snapshot 代表。每位代表重編與 Integration，不呼叫 LLM。protocol 記錄對手、地圖 hash、tick cap、scoring 與 runtime source identity。缺場或錯誤矩陣的 aggregate score 與 win rate 為 null 並 nonzero exit。mean_match_score 是不加權 benchmark 平均，不能直接當搜尋 fitness。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docs/evaluation/evaluation_pipeline.md:160-166</a:t>
            </a:r>
          </a:p>
          <a:p xmlns:a="http://schemas.openxmlformats.org/drawingml/2006/main">
            <a:r>
              <a:t>eagle/fixed_evaluation.py:1-170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docs/evaluation/game_performance.md:42-57</a:t>
            </a:r>
          </a:p>
          <a:p xmlns:a="http://schemas.openxmlformats.org/drawingml/2006/main">
            <a:r>
              <a:t>docs/artifacts/timing_schema.md:1-65</a:t>
            </a:r>
          </a:p>
          <a:p xmlns:a="http://schemas.openxmlformats.org/drawingml/2006/main">
            <a:r>
              <a:t>docs/implementation/current_status.md:21-34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GUI 提供 config parsing 支持的固定選項，儲存前驗證並原子寫入，觀察比賽不改變 fitness。Monitor 從 manifest 和最新已提交 generation 讀取，不控制實驗。離線分析的 generation 指倖存快照世代，birth_generation 才是候選出生時間。使用者可以從這些工具回查分數、行為與 LLM evidence，無需改動 canonical search artifacts。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docs/implementation/current_status.md:42-66</a:t>
            </a:r>
          </a:p>
          <a:p xmlns:a="http://schemas.openxmlformats.org/drawingml/2006/main">
            <a:r>
              <a:t>docs/architecture/evolutionary_flow.md:169-200</a:t>
            </a:r>
          </a:p>
          <a:p xmlns:a="http://schemas.openxmlformats.org/drawingml/2006/main">
            <a:r>
              <a:t>eagle/analysis/report.py:1-130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這頁是目前 checked-in config 的具體範例，不是所有模式的預設。頂層 model 為 Qwen 3.5-9B，含本地 managed primary 與一個外部 additional endpoint；機器路徑與位址需配合實際環境。bootstrap_backend 為 mistral、framework.model 為 mistral-small-latest。此配置示範完整流程的實際連接，並不宣稱本次已啟動或完成這組實驗。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configs/framework_coach.yaml:1-98</a:t>
            </a:r>
          </a:p>
          <a:p xmlns:a="http://schemas.openxmlformats.org/drawingml/2006/main">
            <a:r>
              <a:t>eagle/config.py:580-658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32c0b304e45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a9a492d4743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d5240363447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302808bbe4f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13ab5efa248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40b876ff543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0D1F6E-40DD-4731-BC17-CE8FF5E78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386032"/>
            <a:ext cx="1274064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A71B57-5390-462C-A0D1-A7CF949B3F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8870" y="4929664"/>
            <a:ext cx="11148060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30CF85-FF9B-4F81-88B3-E1A720CAF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A49A7D-3025-44F6-AD48-0B780AE55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A78EDA8-65A8-4DF8-A9DD-C48E35A490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734A05-0048-473F-94B0-A7C8167AE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777F7A-BCFB-4692-A4D1-2FFB642DAB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C3E665-45A3-4746-9AD9-CC408B1313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A74058-46DA-429F-A575-0B219B8ABF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FA0D05-14A1-4B4C-963D-3AF5FB5CFD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12c62db124e2d" /><Relationship Type="http://schemas.openxmlformats.org/officeDocument/2006/relationships/slideLayout" Target="/ppt/slideLayouts/slideLayout1.xml" Id="R52b47041f0fb4111" /><Relationship Type="http://schemas.openxmlformats.org/officeDocument/2006/relationships/slideLayout" Target="/ppt/slideLayouts/slideLayout2.xml" Id="R2f61b239ca2a46eb" /><Relationship Type="http://schemas.openxmlformats.org/officeDocument/2006/relationships/slideLayout" Target="/ppt/slideLayouts/slideLayout3.xml" Id="Ra81ed4ab826a46d4" /><Relationship Type="http://schemas.openxmlformats.org/officeDocument/2006/relationships/slideLayout" Target="/ppt/slideLayouts/slideLayout4.xml" Id="R997d8f91f49d4dcd" /><Relationship Type="http://schemas.openxmlformats.org/officeDocument/2006/relationships/slideLayout" Target="/ppt/slideLayouts/slideLayout5.xml" Id="Re177214a9a24442b" /><Relationship Type="http://schemas.openxmlformats.org/officeDocument/2006/relationships/slideLayout" Target="/ppt/slideLayouts/slideLayout6.xml" Id="R21135c70ce2a4f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b47041f0fb4111"/>
    <p:sldLayoutId xmlns:r="http://schemas.openxmlformats.org/officeDocument/2006/relationships" id="2147483650" r:id="R2f61b239ca2a46eb"/>
    <p:sldLayoutId xmlns:r="http://schemas.openxmlformats.org/officeDocument/2006/relationships" id="2147483651" r:id="Ra81ed4ab826a46d4"/>
    <p:sldLayoutId xmlns:r="http://schemas.openxmlformats.org/officeDocument/2006/relationships" id="2147483652" r:id="R997d8f91f49d4dcd"/>
    <p:sldLayoutId xmlns:r="http://schemas.openxmlformats.org/officeDocument/2006/relationships" id="2147483653" r:id="Re177214a9a24442b"/>
    <p:sldLayoutId xmlns:r="http://schemas.openxmlformats.org/officeDocument/2006/relationships" id="2147483654" r:id="R21135c70ce2a4f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c732b188ad492f" /><Relationship Type="http://schemas.openxmlformats.org/officeDocument/2006/relationships/notesSlide" Target="/ppt/notesSlides/notesSlide1.xml" Id="Raf2099df8f864d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d5170527e4a6d" /><Relationship Type="http://schemas.openxmlformats.org/officeDocument/2006/relationships/notesSlide" Target="/ppt/notesSlides/notesSlide2.xml" Id="Rd764a2d880884a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587a970a642f0" /><Relationship Type="http://schemas.openxmlformats.org/officeDocument/2006/relationships/notesSlide" Target="/ppt/notesSlides/notesSlide3.xml" Id="R5123319de5f64e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0802a6c7c4244" /><Relationship Type="http://schemas.openxmlformats.org/officeDocument/2006/relationships/notesSlide" Target="/ppt/notesSlides/notesSlide4.xml" Id="R7f124090abb542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a39e02f184ecf" /><Relationship Type="http://schemas.openxmlformats.org/officeDocument/2006/relationships/notesSlide" Target="/ppt/notesSlides/notesSlide5.xml" Id="Rdc0a477a87954f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7595639f2440c" /><Relationship Type="http://schemas.openxmlformats.org/officeDocument/2006/relationships/notesSlide" Target="/ppt/notesSlides/notesSlide6.xml" Id="Rac1a8478e0e24f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43c28e39e407c" /><Relationship Type="http://schemas.openxmlformats.org/officeDocument/2006/relationships/notesSlide" Target="/ppt/notesSlides/notesSlide7.xml" Id="Rb9da5aef01934a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cd13902a64f80" /><Relationship Type="http://schemas.openxmlformats.org/officeDocument/2006/relationships/notesSlide" Target="/ppt/notesSlides/notesSlide8.xml" Id="R35f12e4e944c46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925add7c6424a" /><Relationship Type="http://schemas.openxmlformats.org/officeDocument/2006/relationships/notesSlide" Target="/ppt/notesSlides/notesSlide9.xml" Id="R9c19ca62bdb545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804e9abec4754" /><Relationship Type="http://schemas.openxmlformats.org/officeDocument/2006/relationships/notesSlide" Target="/ppt/notesSlides/notesSlide10.xml" Id="Rbb418acead654c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53466da614cdb" /><Relationship Type="http://schemas.openxmlformats.org/officeDocument/2006/relationships/notesSlide" Target="/ppt/notesSlides/notesSlide11.xml" Id="R98fda89ea3984d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7f85ceaf84bef" /><Relationship Type="http://schemas.openxmlformats.org/officeDocument/2006/relationships/notesSlide" Target="/ppt/notesSlides/notesSlide12.xml" Id="Rce051ce3111d4e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481c0ead4463c" /><Relationship Type="http://schemas.openxmlformats.org/officeDocument/2006/relationships/notesSlide" Target="/ppt/notesSlides/notesSlide13.xml" Id="R84fd80219e8e4a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becb225154b22" /><Relationship Type="http://schemas.openxmlformats.org/officeDocument/2006/relationships/notesSlide" Target="/ppt/notesSlides/notesSlide14.xml" Id="R162a30413cf64b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d26984a1cd4df9" /><Relationship Type="http://schemas.openxmlformats.org/officeDocument/2006/relationships/notesSlide" Target="/ppt/notesSlides/notesSlide15.xml" Id="Rea778f2e6ed444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fd493ed7747c5" /><Relationship Type="http://schemas.openxmlformats.org/officeDocument/2006/relationships/notesSlide" Target="/ppt/notesSlides/notesSlide16.xml" Id="Rf65b4c36120141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635ec133f435f" /><Relationship Type="http://schemas.openxmlformats.org/officeDocument/2006/relationships/notesSlide" Target="/ppt/notesSlides/notesSlide17.xml" Id="R860bef93418b4a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f3aef21f64510" /><Relationship Type="http://schemas.openxmlformats.org/officeDocument/2006/relationships/notesSlide" Target="/ppt/notesSlides/notesSlide18.xml" Id="R89b4f1137b4f49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2aa52aba24e23" /><Relationship Type="http://schemas.openxmlformats.org/officeDocument/2006/relationships/notesSlide" Target="/ppt/notesSlides/notesSlide19.xml" Id="R26e3944754e243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1915ba4574864" /><Relationship Type="http://schemas.openxmlformats.org/officeDocument/2006/relationships/notesSlide" Target="/ppt/notesSlides/notesSlide20.xml" Id="Rb0c824113ec24bb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5a780611c4ad8" /><Relationship Type="http://schemas.openxmlformats.org/officeDocument/2006/relationships/notesSlide" Target="/ppt/notesSlides/notesSlide21.xml" Id="R91db56cb7e0148a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ea02893ca349cc" /><Relationship Type="http://schemas.openxmlformats.org/officeDocument/2006/relationships/notesSlide" Target="/ppt/notesSlides/notesSlide22.xml" Id="Rc19d5521900748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85833e76b4c7a" /><Relationship Type="http://schemas.openxmlformats.org/officeDocument/2006/relationships/notesSlide" Target="/ppt/notesSlides/notesSlide23.xml" Id="R403e92a4cd2b466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4ed973d464c0e" /><Relationship Type="http://schemas.openxmlformats.org/officeDocument/2006/relationships/notesSlide" Target="/ppt/notesSlides/notesSlide24.xml" Id="R6d2cd6139ed24d2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fef6bc6cc4725" /><Relationship Type="http://schemas.openxmlformats.org/officeDocument/2006/relationships/notesSlide" Target="/ppt/notesSlides/notesSlide25.xml" Id="Rfc2aba8bc1084c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f5228c58e484f" /><Relationship Type="http://schemas.openxmlformats.org/officeDocument/2006/relationships/notesSlide" Target="/ppt/notesSlides/notesSlide26.xml" Id="R0f57b98918674c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42a7cb26094fea" /><Relationship Type="http://schemas.openxmlformats.org/officeDocument/2006/relationships/notesSlide" Target="/ppt/notesSlides/notesSlide27.xml" Id="R043d75473cda4a3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e80f7dff54168" /><Relationship Type="http://schemas.openxmlformats.org/officeDocument/2006/relationships/notesSlide" Target="/ppt/notesSlides/notesSlide28.xml" Id="Rca6f3808ccd4484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35a8e07954c21" /><Relationship Type="http://schemas.openxmlformats.org/officeDocument/2006/relationships/notesSlide" Target="/ppt/notesSlides/notesSlide29.xml" Id="Rb3d5299eb0634a5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5e5fd9f27b4dcd" /><Relationship Type="http://schemas.openxmlformats.org/officeDocument/2006/relationships/notesSlide" Target="/ppt/notesSlides/notesSlide30.xml" Id="R748600578ebf450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33653a97f4fe9" /><Relationship Type="http://schemas.openxmlformats.org/officeDocument/2006/relationships/notesSlide" Target="/ppt/notesSlides/notesSlide31.xml" Id="R4ad51924aa914c7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dc0a8e60f47f6" /><Relationship Type="http://schemas.openxmlformats.org/officeDocument/2006/relationships/notesSlide" Target="/ppt/notesSlides/notesSlide32.xml" Id="Rd053c0c401bb4f9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fec8c9dd1486e" /><Relationship Type="http://schemas.openxmlformats.org/officeDocument/2006/relationships/notesSlide" Target="/ppt/notesSlides/notesSlide33.xml" Id="R19bd873dc6eb4bb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6b886f7ea4895" /><Relationship Type="http://schemas.openxmlformats.org/officeDocument/2006/relationships/notesSlide" Target="/ppt/notesSlides/notesSlide34.xml" Id="Ra3058be50b0a4cf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df33e579445bd" /><Relationship Type="http://schemas.openxmlformats.org/officeDocument/2006/relationships/notesSlide" Target="/ppt/notesSlides/notesSlide35.xml" Id="R3b3740efca9a473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50f11fa67641c2" /><Relationship Type="http://schemas.openxmlformats.org/officeDocument/2006/relationships/notesSlide" Target="/ppt/notesSlides/notesSlide36.xml" Id="R05a0a2260ab54df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085c9905d4cb2" /><Relationship Type="http://schemas.openxmlformats.org/officeDocument/2006/relationships/notesSlide" Target="/ppt/notesSlides/notesSlide37.xml" Id="R4fd6e98aaf154a6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42e927c3542db" /><Relationship Type="http://schemas.openxmlformats.org/officeDocument/2006/relationships/notesSlide" Target="/ppt/notesSlides/notesSlide38.xml" Id="R266bc112617244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F3151-B21E-411D-AFBE-5CACBE9F1EEB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667625" y="2705100"/>
            <a:ext cx="0" cy="3390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5E3DF-2575-4DF7-8451-F4F9E14D1A2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10810875" y="4895850"/>
            <a:ext cx="2238375" cy="1200150"/>
          </a:xfrm>
          <a:prstGeom xmlns:a="http://schemas.openxmlformats.org/drawingml/2006/main" prst="bentConnector5">
            <a:avLst>
              <a:gd name="adj1" fmla="val 0"/>
              <a:gd name="adj2" fmla="val 19048"/>
              <a:gd name="adj3" fmla="val 89787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A9E7D-4BFF-40A8-B481-01276376A58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810875" y="2705100"/>
            <a:ext cx="666750" cy="1695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0B99A-4A0D-4B74-8992-09F956C4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Opponent Pool 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3BB4C-CE6A-408D-8620-47F7CB31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以歷代策略維護對手池，再用凍結的 4＋6 名單評估候選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5D720-91BE-4099-A222-FD231987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離線演化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4A01E-14BD-44C8-927B-576DF692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Java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40532-8866-445D-AD35-D29370E9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策略／控制基因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95AB0-6684-46F1-B572-483DFE6E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9052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6820A-508B-44F7-B004-3DEE717B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007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05F76-520D-4497-9763-339CC1E1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5527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56616-AB7B-4865-8329-11C9A92D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4673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評估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18998-8C60-4E31-B7EA-FDAD7F0D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反思與選擇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4E7A7-C939-45D2-8BF2-FB3AFC08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4000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對戰時直接執行 Java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8C7A9-28FC-417A-8FB8-BC58ADF1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演化與 LLM 工作在對戰之前完成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38187-B69E-48AE-ACC6-E59AFC82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91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2026-10-21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709BB-57A2-451C-8A27-AD9872A3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搜尋採 opponent pool；正式 Final Test 使用獨立的固定基準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3E000F-97D3-49FC-B974-71849C93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 / 38</a:t>
            </a:r>
          </a:p>
        </p:txBody>
      </p:sp>
    </p:spTree>
    <p:extLst>
      <p:ext uri="{BB962C8B-B14F-4D97-AF65-F5344CB8AC3E}">
        <p14:creationId xmlns:p14="http://schemas.microsoft.com/office/powerpoint/2010/main" val="519480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65E83-387A-4118-A5EC-A4F3438C22C1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048125" y="70723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1959D-BF53-4818-84DE-D543933FF34B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429625" y="707231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EBC22-CD69-4430-8977-EE554039E4EB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001500" y="53340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45B25-85D2-47BD-96CE-77DF869596A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810625" y="46672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F69B7-2252-454F-A91A-FE9E5893F3E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48125" y="4667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44095-B56C-4E53-B42F-C0ED5C307E3A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500313" y="3095625"/>
            <a:ext cx="928688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4C946F-299A-4192-AFC2-BFC20004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搜尋流程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5C6CA-446F-468C-B5E5-30AFCCB4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目前搜尋協定：self_play ＋ tournament-v1 opponent pool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9328D-DDC2-4849-A58C-9776CD5C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4668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57C6B-085F-436E-9FF0-94EB8AAB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5143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GPT 產生 Java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CE422-49D5-484E-8E52-7A622E9E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暫時人工由 ChatGPT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生成固定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9A900-6E49-42C9-9977-479CAA3F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30956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十個內建對手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AC47A-EF84-48EE-BE92-7A69415E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91000"/>
            <a:ext cx="3810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候選初評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策略開始累積入池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D7C26-BF74-468A-9833-AC52BFC8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4000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到期刷新 4＋6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父代重評、選擇與變異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37CF4-180A-463C-B217-4D821179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4191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子代評估與倖存選擇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opponent pool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CF703-9FD6-4003-BA91-AE49E178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572250"/>
            <a:ext cx="34290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7B73E-FA34-4729-B2D4-CE3C46E0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30956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DFE65-3AD0-40E9-908C-D8BCDE5502F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715125" y="5715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68848-27D8-41CB-9CB8-7BD088D6419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15125" y="5715000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7882F-E9A5-4E6F-899B-04A06F25F46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4430375" y="46672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3EEDEC-4D1E-4A36-9243-FC359FAD458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4001750" y="4667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14ECB-6882-430E-A7F6-B76941F3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81625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98DD0-FFB2-48FC-9A72-06293D89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912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A98782-AA93-4AB0-B30E-12C5B6F9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 / 38</a:t>
            </a:r>
          </a:p>
        </p:txBody>
      </p:sp>
    </p:spTree>
    <p:extLst>
      <p:ext uri="{BB962C8B-B14F-4D97-AF65-F5344CB8AC3E}">
        <p14:creationId xmlns:p14="http://schemas.microsoft.com/office/powerpoint/2010/main" val="1002572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A3EFA-B9BB-409B-AA5F-B5178413222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753600" y="33575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2ABD4-D7E9-4ABD-BF9F-961A7D805AF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514850" y="33575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09E7D-CBDC-4311-A826-18DB423F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 DSL 的執行語意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4EAA8-5568-4D0B-A6B9-7F7CD8F1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一條規則決定：誰，在什麼條件下，嘗試什麼動作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35654-724B-4A8D-8902-6F4236D2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actor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執行對象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CB8A8-7E1B-4A8F-ABA8-D7F8E5F9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可觀察條件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D5FDF-2FE0-4A98-8A1B-EA8FC59D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action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候選動作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146C2-21CF-40A4-BAFE-72172D6B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4097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9525">
            <a:solidFill>
              <a:srgbClr val="DEB4B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規則 1   →   規則 2   →   規則 3   →   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3B8F5-5683-41FE-ABFF-D67E3DB0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724650"/>
            <a:ext cx="342900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可合法發出動作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247C3-B95D-40CC-B99C-9C307DAE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724650"/>
            <a:ext cx="44767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無法發出：繼續下一條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809F8-1C28-4888-9C5B-C048463BC5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61912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CD355-6B57-44BB-B37D-B4CD290BF0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63250" y="61912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3D37A-39B6-4B6A-A36E-29A53F8C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離線轉為 Java；對戰不執行文字指令。空 rules 代表 idle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79DEB-AC57-4E2C-84DA-C892E61F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/ 38</a:t>
            </a:r>
          </a:p>
        </p:txBody>
      </p:sp>
    </p:spTree>
    <p:extLst>
      <p:ext uri="{BB962C8B-B14F-4D97-AF65-F5344CB8AC3E}">
        <p14:creationId xmlns:p14="http://schemas.microsoft.com/office/powerpoint/2010/main" val="1189671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1567B-9FA4-4099-B92A-7DDD9108A91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58375" y="4619625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3CA5B-80BF-4D72-91F3-08DD26E4F50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895850" y="4619625"/>
            <a:ext cx="1247775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EB7C3-F3BD-4255-97C2-60A38B9EC61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95850" y="2809875"/>
            <a:ext cx="1247775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2E86E-F203-4ADD-A1B9-88E2967B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的一次性建立與凍結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30BE8-5631-422F-B791-9241220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架構建立一次；模板、槽位與表達式在搜尋期間保持固定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69AC8-CA0E-4FA8-BBE3-0D66B6F2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新建立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2ECE7-3917-4ADF-8ECE-2BD13C0F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已有外部 bundle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6290C-AE52-4FC9-B5AB-60B33CF7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1947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design_brief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Groq／Mistral／local bootstrap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DB6ED-DAEA-47A8-8197-9F69FC79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人工準備或共用架構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指定 bundle_path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F78AE-398A-443F-AFC0-566E9822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7147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Schema</a:t>
            </a:r>
          </a:p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與 Java 契約驗證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DD075-4D77-47CE-82CD-A0D09E83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3905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bundle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56C6F-2860-4BEA-9A4F-D10F4346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90550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exact bytes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6EE89-4DDA-42E1-8A4F-BD34CC84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905500"/>
            <a:ext cx="1714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SHA-256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FBD32-855C-49E3-A15C-756299C7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之後只演化 control_genome；resume 讀凍結版本，不重新 bootstrap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1BF96-9795-46E7-AD3D-41CDB60F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 / 38</a:t>
            </a:r>
          </a:p>
        </p:txBody>
      </p:sp>
    </p:spTree>
    <p:extLst>
      <p:ext uri="{BB962C8B-B14F-4D97-AF65-F5344CB8AC3E}">
        <p14:creationId xmlns:p14="http://schemas.microsoft.com/office/powerpoint/2010/main" val="502190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1D7CB1-473F-4F7F-B96E-C7A59E3B3258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429375" y="7715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0E6B3A-4B77-4FC9-B61F-770BF660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AF761-2E18-4E47-B4A7-3EC6D23F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slot 是固定 Java 裡的可替換位置；演化只改選值，Java 骨架保持固定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3A3FA-81D3-48B2-B146-F5EACEE7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槽位的意義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59F3E-879C-40A6-B27C-88AA8426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bundle 定義的合法選項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7DE4D-6E06-4B1B-B53A-671ABB1F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573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候選保存的值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066E3-0B3F-4047-AAF7-4EE2245E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integer｜工人數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F9139-3FD0-44FE-AC25-27260D8E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worker_target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465C8-B99C-43A7-B7BD-5CD6B490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A19D4-427B-4B8A-AA75-8F9AA41B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B8D70-6E1A-438A-A38B-A81306C7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A81FE-C744-42DC-85F8-A0155316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EF97E-DAC9-4DE9-8490-88F7C1CB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2D2AA-6F4D-4CBD-82EC-62E7DB27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FF107-2EE8-4DE8-AF31-C2076A2E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1EDF5-957B-4E3C-B525-4EC3E94A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86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2，max = 8，step = 1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BF13E-FB9A-4A28-9898-9D3EE64859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31718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CDEB6-1D93-45DA-A96C-16522C3B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6225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worker_target: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1E6AD-29B6-4EF4-BEB9-0FD2B7A6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number｜數值權重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A276C-051E-4F23-8A01-B276ACB7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attack_weight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6955B-6015-4CF9-BFD4-4F448C7A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C4A7E-47A0-463D-BFF0-60CB134C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6472F-BE07-4C1C-A7F0-D29F13DC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BAABC-FBEE-4021-9F83-83252CB0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BE609-66A5-4586-80DD-17416C53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8C4024-DFA6-4374-9C60-3C0B28B3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1054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0，max = 1，step = 0.25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6CD32-7A61-4875-914A-5BFED1246A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4791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0148A3-3857-4ECF-8FEF-5FDB7E8F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attack_weight: 0.75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A7E972-8958-4795-AC67-E1276DD3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expression_choice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27FC45-62A2-43FB-A1C2-057C9C65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攻擊目標 target_policy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2AA454-C1AE-4848-9A6A-605244E8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最近敵人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968657-18C4-4C72-A0DA-217DAB2D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最低血量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118D59-ED23-44A5-B404-402E5CEA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敵方基地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781E80-C7EB-47AA-AD95-220E976F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7627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choice_id 已對應一段固定 Java 表達式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20962B-D702-4D94-B979-27F9E260C7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64103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26D4A5-EDA7-499F-AAFD-8F094172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target_policy: "lowest_hp"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570DEC-942A-4C2F-930F-DFA9AB6F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19975"/>
            <a:ext cx="5715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填滿全部 slot，組成完整 genome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A6A074-90B5-4185-8C4D-6B3CB1B7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19975"/>
            <a:ext cx="7286625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驗證選值，再填入固定模板產生 Java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321718-6E44-4E75-982C-FAF0BB60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簡化示例，實際選單由 bundle 決定。number 也只能選離散格點，不能任意填小數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363C5A-4CA1-40B0-8AEF-73A6B057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5 / 38</a:t>
            </a:r>
          </a:p>
        </p:txBody>
      </p:sp>
    </p:spTree>
    <p:extLst>
      <p:ext uri="{BB962C8B-B14F-4D97-AF65-F5344CB8AC3E}">
        <p14:creationId xmlns:p14="http://schemas.microsoft.com/office/powerpoint/2010/main" val="187912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B28CD-0815-448F-BEE0-83D416515D01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8001000" y="6019800"/>
            <a:ext cx="3810000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75C99-B455-4A73-BAD8-FD6AD26D198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095750" y="5895975"/>
            <a:ext cx="3905250" cy="1247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CB0AC-1273-4823-ADAF-DFFEC05C4F36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811000" y="4276725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3B889-E560-488D-AC55-05AD1D67D8C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095750" y="4276725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0336D-72C2-4C03-83B6-54249506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 local 與 llm_coach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C8B7A-498D-45E1-B332-1DE71289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兩種演化政策，共用相同的凍結 framework 與下游評估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69420-900F-437D-B3B5-71DA2912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99CDD-67B9-490A-A1C8-31090229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6858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DFCAA-971B-4A6E-9BF0-CC7747CA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E7D92-8422-41C9-AAB4-18FEA742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145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llm_coach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ED9B9-FECD-455D-9EA9-C3F529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初始：有限域採樣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7FD8A-E48D-4A51-BA8F-DD512C1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逐槽交配，至多一槽突變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78B5C-B6E3-4ADD-8262-006E6E10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初始：LLM 選完整 genome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5A107-10B5-4102-8431-989D7F59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590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最差單場賽評＋Coach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回傳完整 genome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BAF7B-EB97-401D-8C73-4ACA99A1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143750"/>
            <a:ext cx="7524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本地渲染 Java，再驗證與對戰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F782B-0DCC-4CD4-B5EC-84614BE7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回應不合法：保留突變前的完整 genome，標記失敗，不隨機補值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8CE34-CA32-41E2-890B-703BE601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6 / 38</a:t>
            </a:r>
          </a:p>
        </p:txBody>
      </p:sp>
    </p:spTree>
    <p:extLst>
      <p:ext uri="{BB962C8B-B14F-4D97-AF65-F5344CB8AC3E}">
        <p14:creationId xmlns:p14="http://schemas.microsoft.com/office/powerpoint/2010/main" val="1556106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4BE44-3C80-4856-A7ED-275DB19B601D}"/>
              </a:ext>
            </a:extLst>
          </p:cNvPr>
          <p:cNvCxnSpPr>
            <a:stCxn xmlns:a="http://schemas.openxmlformats.org/drawingml/2006/main" id="21" idx="0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381250" y="2971800"/>
            <a:ext cx="2714625" cy="3267075"/>
          </a:xfrm>
          <a:prstGeom xmlns:a="http://schemas.openxmlformats.org/drawingml/2006/main" prst="bentConnector5">
            <a:avLst>
              <a:gd name="adj1" fmla="val 0"/>
              <a:gd name="adj2" fmla="val 6997"/>
              <a:gd name="adj3" fmla="val 91579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9D069-3723-4F01-8009-178C7423932F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3952875" y="6810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1B8BC-C48D-4CBF-805A-2793122DA8AD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7953375" y="5667375"/>
            <a:ext cx="4143375" cy="1143000"/>
          </a:xfrm>
          <a:prstGeom xmlns:a="http://schemas.openxmlformats.org/drawingml/2006/main" prst="bentConnector5">
            <a:avLst>
              <a:gd name="adj1" fmla="val 0"/>
              <a:gd name="adj2" fmla="val 20000"/>
              <a:gd name="adj3" fmla="val 94483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79ADE-A1C4-4886-8406-EE50E3E7C820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096750" y="3419475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5E33F-C1BE-4896-B313-9C6E3296CD7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953375" y="29718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4C9C4-9127-4925-9A03-7AF74AF0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的每個世代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73F09-EE2A-4453-BC50-B7078B0C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同一凍結快照內，10 位父代與 10 位子代選出 10 位下一代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56233-2029-4D2D-A806-6636F199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7B382-5D3A-49E7-BF5B-1E363319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B50E9-D174-4DBD-A1BF-72D18220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192BD-AAA0-4142-9076-661FC2F0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5B8B6-3572-4314-A426-7C931322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CC1AA-557E-42A9-8746-C89F2A6A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9A7D9-3FE0-4CDF-BC21-90437F59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B5450-668C-47D4-98F0-90801824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B2FEB-B742-4224-B863-0BF9359A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1264F-1D89-4FDC-9670-1B369D93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4CC02-A9E1-47A7-8A8F-2C952133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69281-30A1-4C44-88E1-BEE47FF5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24125"/>
            <a:ext cx="2857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選父代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3F69A-79ED-46FD-8A14-6FE2B479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24125"/>
            <a:ext cx="3905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交配與突變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CBF9E-CD88-4524-871E-958791E4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619625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Java、驗證與子代評估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2CD06-4BEF-4583-8C8D-2A123982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238875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選下一代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F998A-70D5-4D09-BD7C-90CF951E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38875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pool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checkpoint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A269AA-55EB-44DB-B5F8-D408428E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29075"/>
            <a:ext cx="8953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對手快照到期刷新時，繁殖前先重評父代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F013F-BC17-4850-B4D0-234918D6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世代提交後才前進；新入池成員等下一次快照刷新才可能成為對手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F4AA7F-A17E-4C1D-81B3-2DDABEB3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7 / 38</a:t>
            </a:r>
          </a:p>
        </p:txBody>
      </p:sp>
    </p:spTree>
    <p:extLst>
      <p:ext uri="{BB962C8B-B14F-4D97-AF65-F5344CB8AC3E}">
        <p14:creationId xmlns:p14="http://schemas.microsoft.com/office/powerpoint/2010/main" val="13546977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55633-1C96-4E9B-8057-04AA3C93319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0334625" y="2905125"/>
            <a:ext cx="1381125" cy="404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4F9A4-72EB-4861-AD8F-DD7B24F148E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714875" y="330993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700F9-3BDF-41F1-8D76-E3E5EA70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的繁殖父代選擇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E2904-5365-4548-9486-EFF21AE3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先用 Game Performance 決定頂層，再在這一層中選繁殖父代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281DF-61F1-4F4D-99C2-5EC6DA07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9528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當代候選族群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同一對手快照，已有 fitness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47C27-3ABD-423D-8EED-B0BDB26B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67000"/>
            <a:ext cx="4381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只留分數頂層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≥ 最高分 − 1.0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A347A-0FD9-42F5-AE29-C7EB0D74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381250"/>
            <a:ext cx="32861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21510-1476-4376-9A08-5922B9BF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619750"/>
            <a:ext cx="3286125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優先挑離 A 較遠者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BBE14-5D33-4896-B1CB-0EDA3D22D5E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34625" y="37147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61500-10E6-4B5F-BCC4-5BC9648B50B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3714750"/>
            <a:ext cx="0" cy="2495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5C7DF-E50A-467E-B1A3-0AA268100D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62103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31ECD-AB90-437E-B209-C534B62E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91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在同一頂層再選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8EF77-4F4D-4CC3-AC04-6DA2384D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9048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語意距離來自固定狀態中的 Java 動作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D784C-4010-499D-87FC-D0090F83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低分者不能只靠行為新穎跨越分數頂層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0B29F-321B-4433-BDF5-4420B6BF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繁殖父代提供基因；opponent pool 提供評估對手。沒有相容簽章時採 seeded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0897D-D34E-4EC7-9ED1-EA37907E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8 / 38</a:t>
            </a:r>
          </a:p>
        </p:txBody>
      </p:sp>
    </p:spTree>
    <p:extLst>
      <p:ext uri="{BB962C8B-B14F-4D97-AF65-F5344CB8AC3E}">
        <p14:creationId xmlns:p14="http://schemas.microsoft.com/office/powerpoint/2010/main" val="3872166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B3FBA-B93E-47D0-BA67-838539FF134F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1477625" y="56673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E3754-144F-4FF3-90A8-0EDA2320475B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1477625" y="3390900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D0BDA5-1A84-42E7-B7E2-3B5B9327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的父代選擇示例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DF7F7-111D-4857-9096-393F8A9C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教學示例：最高分 100，頂層門檻為 99.0；只在這層中比較行為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951AD-4143-467C-A322-1EF50C68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5D0B1-B163-45B3-B91E-C39551C8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336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0627C-8603-4CA3-92A5-A5474F55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距候選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F5430-9788-4E5E-82A2-AA021CD8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A0269-5776-4F86-8DC9-B1E8601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242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0D319-F3FA-48CD-A0AC-1AC555A5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42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00FB0-9CBE-4D05-938D-AE73C777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1B2AC-A972-4622-8DDE-4D5EA985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148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A52DB-E35E-4464-BDAF-8D6097D0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AB654-356C-45ED-BF1D-BC19DCB5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14B7D-42BD-46B7-9A49-999FF956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054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3DC56-77D4-4EC6-BA6C-FE56E929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054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2／9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6BF56-993A-4E66-9FFB-BA60D24C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960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B9157-92DA-4E74-B94D-6D7A2D1F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2960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98.8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856EF-008F-402F-BDEB-7C80F180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2960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D8492-F14F-4DF0-BF64-9189A6AF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6286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第一父代：seeded 抽中候選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57AA2-4DBA-41B7-8949-4AB10939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46672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在 A、B、C 中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比較與 B 的語意距離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778B9-5464-4AAB-8FED-C70AA739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0"/>
            <a:ext cx="4667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第二父代選候選 A</a:t>
            </a:r>
          </a:p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 是最大距離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658710-5427-4494-9E4B-F26D4C35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 低於 99.0，不能靠新穎性入選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8D2C8-1812-4E67-8B6D-63FBA15B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本頁為示例，非實驗結果。分數差 1.0 包含邊界；距離來自相容的九個動作探針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4FEC6-8E74-4440-8CC9-FFA73971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9 / 38</a:t>
            </a:r>
          </a:p>
        </p:txBody>
      </p:sp>
    </p:spTree>
    <p:extLst>
      <p:ext uri="{BB962C8B-B14F-4D97-AF65-F5344CB8AC3E}">
        <p14:creationId xmlns:p14="http://schemas.microsoft.com/office/powerpoint/2010/main" val="13059996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3EC9E-1164-45D0-BDC6-51AC372B4F5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10100" y="602932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1DE80-9001-4662-A332-F077BD14EEF3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9791700" y="47434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64CC3-06DA-4155-873C-731AFC86157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10100" y="345757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9EF89-659C-4789-A273-C1E41A4B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交配與來源譜系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54E2E-4CF5-45E2-8470-A3AC635C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直接父代與各成分的真正來源，分開保存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BA8CD-7521-48E0-A8D5-5E7A69AE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6573F-885C-494D-A6AE-298430D4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43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CFD5B-CB75-44AB-8BA8-A7BA743D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EE2A6-432C-419E-991D-B48EF8F5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27A18-859A-48ED-ACF9-D78BF825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D0AAA-7196-4F00-92F7-151798C2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FD54E-7D22-423B-B067-02FBCA17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250D2-92CA-4607-823A-7AC3F88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1975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4F246-3C52-4E3C-9B19-9146D700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CE5DC-DB87-4F9F-A793-D477BC46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33875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7E932-82F6-458B-B4E3-C4300D9C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89C78-545A-4C09-9BEB-41E162A0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43125"/>
            <a:ext cx="4286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子代：成分獨立選來源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4672A-FA30-40E7-BEF8-72DFBBB6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9723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Java 這一列只在 inherited 模式啟用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019FC-C815-44B4-B1D0-4E42D74E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模式複製完整 policy；framework 模式改為每個 slot 獨立交配並保存 donor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31685-22E8-446A-AD8E-C4A2DBF4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/ 38</a:t>
            </a:r>
          </a:p>
        </p:txBody>
      </p:sp>
    </p:spTree>
    <p:extLst>
      <p:ext uri="{BB962C8B-B14F-4D97-AF65-F5344CB8AC3E}">
        <p14:creationId xmlns:p14="http://schemas.microsoft.com/office/powerpoint/2010/main" val="13267661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5786D-0E66-4C6B-BF66-DDD9F1200E6F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143750" y="4619625"/>
            <a:ext cx="476250" cy="2438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3E821-7A07-4D1E-8F8E-54F6F04AC049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430000" y="5143500"/>
            <a:ext cx="1262063" cy="190500"/>
          </a:xfrm>
          <a:prstGeom xmlns:a="http://schemas.openxmlformats.org/drawingml/2006/main" prst="bentConnector4">
            <a:avLst>
              <a:gd name="adj1" fmla="val 0"/>
              <a:gd name="adj2" fmla="val 6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9DD2A-1A76-4829-B7C1-4CF9C9719E5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3952875"/>
            <a:ext cx="17145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4B67F-DEAE-4ADE-9744-8D770814B865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1430000" y="2762250"/>
            <a:ext cx="1262063" cy="190500"/>
          </a:xfrm>
          <a:prstGeom xmlns:a="http://schemas.openxmlformats.org/drawingml/2006/main" prst="bentConnector4">
            <a:avLst>
              <a:gd name="adj1" fmla="val 0"/>
              <a:gd name="adj2" fmla="val 6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37480-8BE8-4774-8197-C34B727CBC7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858250" y="2428875"/>
            <a:ext cx="1714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DAF53-86A5-47DD-A96F-570BA63A442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05250" y="39528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296C1-ECA5-4A9E-9CD7-D319415A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模式的交配前 Code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B6EAF-BADF-4774-A41F-75C5B221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LLM 模式執行；每位實際來源先對照自己的策略與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FFA0D-AE58-4C7F-9FA1-408EE513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31432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 policy</a:t>
            </a:r>
          </a:p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＋原始 Java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05B3D-5ABD-4457-922E-B18688A3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3429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Code 診斷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F14E4-8CDC-4117-9F2B-CF27023D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健康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CBB3C-39C7-4F9B-8AAF-BD586B15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42386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正常交配與突變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D698B-41D7-416D-B973-B48CDE53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76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有缺陷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44BFC-8E73-4E19-A38E-096EE190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34000"/>
            <a:ext cx="42386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單一父代修正 Java</a:t>
            </a:r>
          </a:p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保留原 prompt 基因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45255-3764-4BA3-92DD-82C8A3FB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58025"/>
            <a:ext cx="7620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診斷失敗：保留證據，標記失敗子代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EC11D-F34E-4473-A081-996EE14A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gate 只診斷策略忠實度與程式正確性，不使用勝率作修正依據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BD81C-6549-43CE-8A8C-8D6643AB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11 / 38</a:t>
            </a:r>
          </a:p>
        </p:txBody>
      </p:sp>
    </p:spTree>
    <p:extLst>
      <p:ext uri="{BB962C8B-B14F-4D97-AF65-F5344CB8AC3E}">
        <p14:creationId xmlns:p14="http://schemas.microsoft.com/office/powerpoint/2010/main" val="11629984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C9EBF3-7C70-4529-992B-20641AFC2653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2787313" y="5172075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B04B8D-789F-4D86-94C3-C3FF9EF89606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29750" y="3190875"/>
            <a:ext cx="1428750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8397B1-FE0C-4F8B-9FEF-F769E012E18F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9429750" y="4600575"/>
            <a:ext cx="1428750" cy="1352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6D438-36E0-4707-BC2F-FFE753DFC658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191000" y="5867400"/>
            <a:ext cx="1333500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0261D7-3C47-4450-A4C1-54E7DEB0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ABECA-A74B-482E-BE09-2FB917BB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Coach 同時看全局摘要，但詳細賽評只取策略來源父代的一場最差對戰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6DECE-DA16-4726-AC72-6FD1A0F6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父代已完成對戰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04C11-328A-4AA4-BE0C-62861433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5445F-909B-4284-83E6-1AEB3475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05B4C-5C6D-4AEE-A01A-C12C6E3C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DF376-5A4C-42E7-ABB5-2FA303E4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BD0C0-651C-40E5-AF9D-92B81368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BF782-5E9E-4836-8C3D-E2560D79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415AA-B7E1-4C99-B74B-1A5EB0CD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DFAFB-F3A2-4B3D-AB0A-3B6723D6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E25CC-D065-4751-A3A7-164C0461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C60DC-4D3D-4A7E-A4DD-02D88836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D88B9-9493-43EF-B512-DF3C7A3C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47782-9B5B-4805-81F7-7B1A0945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317B6-C5DF-4966-A70A-7F21F7AA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B6CDA-2676-4E57-B265-3431D8C0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31C3B-ED15-48C5-9811-EF6E891C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C240B-7D0A-4777-B84A-E2BF8C5E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4D99B-2713-497C-9CE3-9BB8A6FC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B69BB-E9C3-40FC-88BB-96316DAD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E14E8-2F87-40C4-9A41-2B9E2C4D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089968-A906-4BCB-B57C-B49556FE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3333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場詳細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64A08-01B9-4E44-8430-D6245DC5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29250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診斷轉折與失誤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DE99A-1ED5-4230-BD71-90FCB5E7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33675"/>
            <a:ext cx="3905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全場 global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51E9A-7E57-4683-AA8D-1CD5CFB5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29075"/>
            <a:ext cx="3857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B80B0B-9FF6-4A8E-B191-5413C033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705600"/>
            <a:ext cx="43338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DSL 或完整 genome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A868DE-6262-4BE8-955F-398ED1B5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672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圖中場次方塊為示意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14858E-4EC3-4C87-8543-B52488FC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找不到該場 trace 或賽評失敗，不另挑替代賽事；原基因與證據保留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54C21E-ADE1-441B-A79F-DC516831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12 / 38</a:t>
            </a:r>
          </a:p>
        </p:txBody>
      </p:sp>
    </p:spTree>
    <p:extLst>
      <p:ext uri="{BB962C8B-B14F-4D97-AF65-F5344CB8AC3E}">
        <p14:creationId xmlns:p14="http://schemas.microsoft.com/office/powerpoint/2010/main" val="15528672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0DF1F-807F-463B-830B-258AA87C7D1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762375" y="40957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D66F4-91EC-4F3D-8393-FC7D1CFC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最差場次與策略回應的驗證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FDCA7-3689-4FDF-B994-6ED0FEE5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先選對證據，再驗證 Coach 提出的完整規則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8BE42-60C9-454B-BE03-85074BAE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最差已完成場次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A3290-0554-441A-83BE-23584407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 逐行規則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6206B-FB31-47E9-85C5-442750C2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performance 為有限值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選最低值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4B442-944C-480D-B37D-A1C2099C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5810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缺值時：敗 −100、和 0、勝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DCB0A-1152-4DD5-859E-0E1BC16D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341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同分按 match_id；失敗比賽排除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B9708-E9D6-4B66-B7C1-AEEA74F9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1　保留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04198-903B-49EA-A043-A3EF15A6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767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非法整行規則　捨棄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53E30-260E-407A-8838-5835F9C2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102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3　保留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3F0EA-B8D9-42F0-B6E5-F6F222DDDD6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381250"/>
            <a:ext cx="0" cy="4857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B4BA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DD3CF-82DC-4C03-A6F3-52AE85ED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合法規則保留原順序；至少一條才成功。Framework 回應仍要求完整 genome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26831-239B-4777-A9FD-7B25C7DB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13 / 38</a:t>
            </a:r>
          </a:p>
        </p:txBody>
      </p:sp>
    </p:spTree>
    <p:extLst>
      <p:ext uri="{BB962C8B-B14F-4D97-AF65-F5344CB8AC3E}">
        <p14:creationId xmlns:p14="http://schemas.microsoft.com/office/powerpoint/2010/main" val="8447053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4B2C7-9372-42DE-B80B-D618FFCC7107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4095750" y="6048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7D3A7-57D2-4070-9248-42F8224B751D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9334500" y="60483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F2821-3E46-4B6D-BC69-F9840603274A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2620625" y="4095750"/>
            <a:ext cx="3333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83B3C-FF03-4A76-9D22-545D82FE924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57262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12482-A68C-4E11-99A8-941BCE775BF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143500" y="36195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A63FF-4790-466F-A822-E9BEE70E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 的資料邊界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97BB3-B607-4F18-A91A-0E1AA219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改進「如何把策略翻成 Java」的可重用規則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A9AF8-CE95-4D23-80D0-86D70E1D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381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</a:t>
            </a:r>
          </a:p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可編輯 Java 區域</a:t>
            </a:r>
          </a:p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相符的 validation／compiler 診斷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7FD7A-DDB7-4942-BA4B-43B112CD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3238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6849F-9021-4F1E-B64E-1549A674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43250"/>
            <a:ext cx="3714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Rewriter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8C31D-9974-44F2-A81A-944E1474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619750"/>
            <a:ext cx="4381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Reusable-rule delta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CF11C-87DD-434F-8A51-18ACD068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97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D9622-74F5-47D8-8C02-7B5E12CE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8A5DE-F3F7-4298-9C66-2FE526E9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105650"/>
            <a:ext cx="4095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策略基因保留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93E78-49E5-4820-86ED-F9DD1FD3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Reviewer 不接收勝敗、fitness、對手分數或比賽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EAC4A-A61D-44EE-9CFD-1B3B4EE4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14 / 38</a:t>
            </a:r>
          </a:p>
        </p:txBody>
      </p:sp>
    </p:spTree>
    <p:extLst>
      <p:ext uri="{BB962C8B-B14F-4D97-AF65-F5344CB8AC3E}">
        <p14:creationId xmlns:p14="http://schemas.microsoft.com/office/powerpoint/2010/main" val="5939024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DC040-138E-47FD-AB7F-1A63357912F0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8072438" y="6048375"/>
            <a:ext cx="48672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1981A-49F3-4238-9C7E-78FC1D4F4E5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958138" y="6048375"/>
            <a:ext cx="2414588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6D85F-0827-46F4-825A-D2052533FA4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976563" y="6048375"/>
            <a:ext cx="50958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641F5-68FE-41C3-843B-35F1C0428887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2939713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B2205-B172-484E-885A-4355EDB4E70E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958138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94AFE-8075-4A0F-8325-ABE84E8479D6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976563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24702-45D3-4767-8D58-E18206E5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三條 Java 產生路徑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BEE27-5DE6-4DFB-95CC-72500743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不同基因表示，匯入同一條 Java 驗證與對戰路徑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817F6-BCC5-402E-B5F3-2E635911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0F041-3C34-4707-A712-EAA762F1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策略＋generation prompt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選配 inherited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BCE08-AF14-4E1A-992C-E4D1FFBF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A6382-B797-476F-B7CA-B64B66C6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有界生成／編譯修復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9FEFE-703E-4E79-9D18-15C56B2B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DSL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DF8C2-9692-4064-BF7C-D77579A9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Canonical policy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typed IR 編譯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87072-552B-4B9E-8981-698E153D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02AEF-75B7-4336-BADE-228A6BFE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050C9-396F-4F04-9BA6-36546E23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46BE5-785C-4384-8209-1FD320EB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template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＋完整 control_genome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13353-5AFE-4185-AB76-DE46D72F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71C1D-9194-494C-AEFA-009D4776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2F1E9-4937-4A7C-A665-37B32EE5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86625"/>
            <a:ext cx="9096375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Validation → javac → Integration → MicroRTS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81E6D-67C3-4309-A496-B03D624B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必須啟用語意 probe，用於行為去重與分數層內的選擇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4E918-1B23-4B57-B7CA-580B0FE2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15 / 38</a:t>
            </a:r>
          </a:p>
        </p:txBody>
      </p:sp>
    </p:spTree>
    <p:extLst>
      <p:ext uri="{BB962C8B-B14F-4D97-AF65-F5344CB8AC3E}">
        <p14:creationId xmlns:p14="http://schemas.microsoft.com/office/powerpoint/2010/main" val="6677868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933B1-4BFE-4EF6-AE45-79A78B8F5170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4048125" y="6405563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9B4B8-40FB-4DA3-AFEA-C5230A833410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6553200" y="4000500"/>
            <a:ext cx="1209675" cy="19050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89DDF-9C0F-4FC8-BC5D-3CB6666C405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192125" y="4000500"/>
            <a:ext cx="23813" cy="1905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5F4CC-39AE-440B-9FAB-3CB6E8D3587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715500" y="335756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BD8FA-7381-4681-8F04-1EB50EBD95E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48125" y="3357563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5CCE3-FDBF-44E9-B525-EFDB901B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生成與有界修復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7DF74-3C29-475C-AD25-B7DFFF40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第一份驗證與編譯成功的 source／classes，成為唯一 canonical 表型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78116-3F0D-4100-B9A3-62E66E41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2861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權威基因</a:t>
            </a:r>
          </a:p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＋固定 scaffold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50187-E8B8-419D-A1DC-C1E88191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3905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回應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4B7F7-8982-4656-A12E-C87EFDDF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714625"/>
            <a:ext cx="4000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外框／normalize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C370C-F79C-474D-92E3-61AB5687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905500"/>
            <a:ext cx="376237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 → 提升表型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52DF0-72B1-42A8-BB27-FDEC05AB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905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前次完整 source</a:t>
            </a:r>
          </a:p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＋當次結構化診斷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C91B3-F6DD-42E0-B064-8C1E054E8593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477500" y="36766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215C8-19AB-436D-8520-4F0A1C73FF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477500" y="3676650"/>
            <a:ext cx="0" cy="2752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BE7B0-2D59-4DFD-8BAC-0ECC7C3A3E92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9715500" y="6429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2D6A2-6540-4FFB-B866-EBCE7120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3143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失敗，尚有 attempt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553DB-20D1-42BA-BF30-A2E54644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861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耗盡上限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保留失敗證據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FA7CC-3AE0-4F32-B6FE-2870CCB9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Integration／runtime 失敗不回到 decoder；確定性兩種模式沒有此修復迴圈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998FF-9948-4293-B64B-811EC9C6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16 / 38</a:t>
            </a:r>
          </a:p>
        </p:txBody>
      </p:sp>
    </p:spTree>
    <p:extLst>
      <p:ext uri="{BB962C8B-B14F-4D97-AF65-F5344CB8AC3E}">
        <p14:creationId xmlns:p14="http://schemas.microsoft.com/office/powerpoint/2010/main" val="19853713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B4DAC-2D9D-4BF4-9E6C-C72042395D2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810750" y="27336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FAABB-6FD2-4170-9F4A-2ED9AEFB7C9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48250" y="27336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6BD604-9214-436B-9DE9-FB9A05B6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Validation、編譯與七項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53EBD-904C-44EF-808D-7E920969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先檢查 source，再編譯；可載入不代表能合法執行對戰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26C68-D01F-43DA-AD6E-65174E2E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286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AE0CF-F472-4088-8DFD-01C879AF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package／class／固定 scaffold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單一策略 marker／合法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2549C-46D2-4AB4-B5D9-C15B3C24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3714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F985E-5973-461E-930F-6A5601D8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attempt 最多一次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提升成功 class tree，不重編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5E0A4-3ED1-4BE1-A762-760C2E34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33625"/>
            <a:ext cx="4286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2E9EC-ADE4-4BBC-9D2C-E43A3A8A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278B7-B2B2-4DA1-9FF7-E87F8FE0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載入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1F9F2-7B49-49DE-A0E9-D4E315C451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573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DECC9-FAFF-4577-B7EA-932DA272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405FE-9057-4391-823A-0EBF1660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AI 繼承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3866B-CAC0-48BB-93AD-582315F3EFB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337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8319E-9CF6-45FB-A51E-1592D7C7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F1569-6EC1-44A5-93CC-1F290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建構子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0094E-8013-48FB-A56E-DB6C7DCEEA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102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5788A-4075-45E2-AC5D-E0401EFB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A891A-F6A7-4BD1-ADA0-390A6553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reset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7706D-9265-41DC-BB67-457A272CDB8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866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C29A5-EC2F-4329-880C-25781026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83C95-A7F5-4D33-ABD3-908DE57E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clone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8E12E-8242-4268-A76A-2F6CC831FB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631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6FC74-1616-427C-B531-121F1BD1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17052D-A7D6-46F4-8465-2A4A4E16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getAction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0DC03C-008E-4DED-BF76-BCC5F32F61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395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D15237-0C52-45F5-92C6-101D29CE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8C325F-02CD-4B60-97C7-C9ECCA91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PlayerAction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AB0536-45D5-4616-8161-0D851BB5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真實 8×8 地圖、雙方位置與獨立狀態檢查動作和一個 cycle；前置失敗阻擋後續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231A94-B513-4E1C-869E-B36706D1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17 / 38</a:t>
            </a:r>
          </a:p>
        </p:txBody>
      </p:sp>
    </p:spTree>
    <p:extLst>
      <p:ext uri="{BB962C8B-B14F-4D97-AF65-F5344CB8AC3E}">
        <p14:creationId xmlns:p14="http://schemas.microsoft.com/office/powerpoint/2010/main" val="146138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02CD6-6F06-4D0B-90D2-0C650D66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CF9CA-8E69-4F50-9791-E0C2A6AE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同一份 Java 與 classes，覆蓋所有對手、地圖、回合與位置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A5D9D-62BB-4853-A144-F464993C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0F493-0640-402D-89AA-41EBBF85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對手欄位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DAF92-6891-4CA9-99C6-19BCCF45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69329-2D2D-44F6-B2A8-326C9E20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FFCF-0937-4BCB-BD6D-F701544D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5D816-9406-4025-8EB2-C1BC1F25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06AE7-569E-4DAE-A519-0D312B01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388DC-665E-42FF-A149-1FB025BB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9A689-401F-49F6-A346-C0B7D076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8C892-DCFF-459B-A73B-1BBE88CE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BE970-20FA-4AFD-8621-256DDC31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雙方位置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FBB6B-7204-486A-BA90-C1492BFE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7429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180 場／候選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CB8A3-7DC6-42FD-9EB6-7D56DC44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2905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18 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6969A-AD88-42A0-B1FF-C54ACAE7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48350"/>
            <a:ext cx="2905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每張地圖可設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tick_limit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81FF3-56D9-47E6-AB0D-F6844827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對手快照固定為 4 個保護成員＋6 個抽樣成員；同一快照內的候選共用名單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0B25D-5F1D-472D-9720-7CC1A526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18 / 38</a:t>
            </a:r>
          </a:p>
        </p:txBody>
      </p:sp>
    </p:spTree>
    <p:extLst>
      <p:ext uri="{BB962C8B-B14F-4D97-AF65-F5344CB8AC3E}">
        <p14:creationId xmlns:p14="http://schemas.microsoft.com/office/powerpoint/2010/main" val="4444843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0148E-5884-4958-9EB5-671BDA7F9D7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096000" y="68580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A9180-FDDB-4AC0-AB36-7CE2E29F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Game Performance 與分數彙總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8D5B7-F0B8-462B-BAE0-6243DF09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單場結果分數，加上最多 ±10 的物資、資源與存活 shaping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8F4D1-1B30-4C6E-9D80-A09DAD7C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624F9-8615-4F89-AC6E-9745004D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C7786-DAD4-4938-BDCB-87AC669D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A5734-8BC4-48A8-8EE3-86A67CCC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C8ECE-B07D-47EA-9CC6-19DA779F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E8A8A-0396-4822-9D0B-46B692B4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32EB7-F038-41C3-ABE5-1625400A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BFDCE-3ECB-4CD0-BBFF-1102CCE5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4BAD4-3B0A-4478-8FE9-3AB6332F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7D8E1-7604-442B-B82F-DCB4EBAF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38875"/>
            <a:ext cx="5238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場分數取平均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2572D-FF37-418C-97DB-083EED34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38875"/>
            <a:ext cx="6953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個對手等權平均</a:t>
            </a:r>
          </a:p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＝候選的唯一 fitness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290F6-AD9A-4B1D-8C0E-485F3FAA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180 場才有有效 fitness；語意差異只在分數同層內輔助選擇，不另加分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DD42A-7271-49EC-A50E-50548D21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19 / 38</a:t>
            </a:r>
          </a:p>
        </p:txBody>
      </p:sp>
    </p:spTree>
    <p:extLst>
      <p:ext uri="{BB962C8B-B14F-4D97-AF65-F5344CB8AC3E}">
        <p14:creationId xmlns:p14="http://schemas.microsoft.com/office/powerpoint/2010/main" val="3244615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B0DD3-3795-4B2D-9EF8-76B6D9F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的十個起始對手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2F978-B62C-437C-BD35-F9EDEB88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使用全部十個內建對手；之後從持續累積的池中抽取 4＋6 名單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32C5C-8778-490D-84AF-0E38F3B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可替換｜基礎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B09D6-3540-4971-AE41-7A07BB13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DD807-1689-44E8-8249-22C0EBE4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D3BB0-668C-4D51-9CD9-0796CBF0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35D32-B1DF-4A28-81F5-9C2449A8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可替換｜Rush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1E3EF-EC44-4DBE-BD3E-76CE16E5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58539-25E7-4941-B927-02FA3025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39520-D5BA-4DC2-A078-AB0A6B90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46711-FFCC-4740-9D0D-14E6C2D9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永久保護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7E69E-D43A-4FFA-ABD3-2FF2BF5D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F624C-0E68-4E44-9268-7ED3ED7E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F7BEF-CC26-4737-93DA-819A109D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4003B-0611-4AB1-A438-268888A1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85158-4EDB-447F-BC5A-163638F3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477125"/>
            <a:ext cx="12763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 6 個可被歷代候選替換；後 4 個永久保留。評分時十欄等權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09E23-82D9-4755-A6FF-A23A1673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 / 38</a:t>
            </a:r>
          </a:p>
        </p:txBody>
      </p:sp>
    </p:spTree>
    <p:extLst>
      <p:ext uri="{BB962C8B-B14F-4D97-AF65-F5344CB8AC3E}">
        <p14:creationId xmlns:p14="http://schemas.microsoft.com/office/powerpoint/2010/main" val="18048652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E0179-76CD-45E5-A2C9-2A0A75DD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的起始與容量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8467F-3885-428B-A050-902E28AA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3830300" cy="54292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19050">
            <a:solidFill>
              <a:srgbClr val="DEB4B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407FD-92AE-42A2-A512-53B8D88B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40532-4526-4820-BDE4-633E8366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671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總容量上限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5D2BA-3781-4E3C-AF29-4AF3E5F7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預設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B9E59-2C5A-47FF-B40B-DEBBCD9E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C5EB9-1E9C-45C1-B766-8E6DE237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個固定保護：永久保留，不淘汰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57D28-A7F3-42A4-B437-F2E36AD0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AB553-004C-420E-A373-F9FBFCF7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B94F3-8B65-413C-BB3A-D9591BD7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19A00-7B1E-4C47-8B46-8E1C2E89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C78B6-58C0-4466-AA53-AC859AC3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起始另有 6 個可替換基準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293B3-4C99-4F4C-AD6E-0593BD2F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2FD03-4DF6-43D8-B82D-EEB8BDB9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7D173-AF36-406B-88BC-09554AAB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CB057-36A2-44D8-A9FB-744337C9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D6E11-0150-433E-ACDF-F1DEB7E3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AE1BE-AED8-4C4B-A5F3-A68AFE2D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27122-1DF1-4EB9-B7A3-021ACCAC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400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歷代策略累積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8A6A4-38D2-4211-99E1-BBA166B7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C2F2F-E472-4761-9A87-29EAFFE0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875732-03FB-4F24-82C9-98ACF54F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16464-13BA-4224-8F1A-658A8353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171B03-7915-497E-B80E-ACDC6FBC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134074-9905-4F96-85A7-DBAFC410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85A6C7-1468-449A-9840-EE2C52F0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6762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評估名單 = 4 個保護對手 ＋ 從池中抽取 6 名動態對手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121B20-D56D-4246-89F9-585FC5C7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21 / 38</a:t>
            </a:r>
          </a:p>
        </p:txBody>
      </p:sp>
    </p:spTree>
    <p:extLst>
      <p:ext uri="{BB962C8B-B14F-4D97-AF65-F5344CB8AC3E}">
        <p14:creationId xmlns:p14="http://schemas.microsoft.com/office/powerpoint/2010/main" val="16003170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21255-0955-4929-8A80-323AFD65F6ED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14750" y="55245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BEEE6-6F17-422F-B842-2838243B3967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001000" y="55245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67DE0-D563-49F5-B946-D18DCCA2E219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381750" y="4248150"/>
            <a:ext cx="471487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1B634-55E2-4F83-98B0-3A4B9377C04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8048625" y="3048000"/>
            <a:ext cx="2238375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467D9-637E-44BC-B6E2-C94028A4CAF7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714750" y="34099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F4671-2625-4524-8D46-D12D5CA0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FE487-94F2-4026-A4D5-59B52D4F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57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初始族群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每代已評估子代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2C2C9-C9F6-4BBF-AC51-C9B05013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3333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入池資格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ID／來源／表型去重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AF65A-B473-488C-85E4-573D38B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未滿容量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直接加入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E84A4-7045-4DE0-8534-8BD91F35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3714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已滿容量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 1 位非保護守擂者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41155-AA28-4BD3-ACB2-D1D16B96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3476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DBA3A-EA0F-4D13-8A12-63E12550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完整且無錯誤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 &gt; 敗場才替換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03FD1-83AC-466B-B063-B53266E0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496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平手、失敗或未完成：保留原守擂者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DEB08-42A8-4471-A486-05575445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961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候選入池不要求先成為下一代倖存者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32DF7-1938-4558-B0C6-A264B6C3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22 / 38</a:t>
            </a:r>
          </a:p>
        </p:txBody>
      </p:sp>
    </p:spTree>
    <p:extLst>
      <p:ext uri="{BB962C8B-B14F-4D97-AF65-F5344CB8AC3E}">
        <p14:creationId xmlns:p14="http://schemas.microsoft.com/office/powerpoint/2010/main" val="13172254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1B5F7-E3DF-47A5-9B4F-BFEEBFB45795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906125" y="53721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983B5-4697-4059-97D2-7C7AC214C64A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91375" y="537210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6A759-67F2-4515-97B9-89E1731A3DFA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38500" y="53721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096E73-8AEE-4463-B416-B7BDCEAD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凍結的十個評估對手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4F2F0-BE30-4E6C-92D2-5586CE9D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4 個保護欄位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FE18D-82D0-49E7-BF2F-9090F35F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952875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個內建保護對手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跨快照維持相同 case 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5A68D-EBB1-41D1-92D5-492D2FB3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每個快照再抽 6 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C2D62-5F81-452D-BA0D-C47A44E2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77654-3CDF-4A02-A8CD-AE9CC444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11894-EBDA-49A7-9178-7A02F84F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7DCC3-E56B-4A93-81BB-AAB6F259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0635A-8AAE-4229-B611-07F1CB02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BCE48-7322-40C4-BCEF-37E87B26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739DD-A057-490F-86AC-2F2292A5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從歷代累積的可替換成員抽樣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68367-8819-47B7-A3EC-CA5A9226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524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3E633-B110-43CC-B6F0-EB333CCF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G1–5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FB0AE-B501-4A0E-90DB-EAA069B5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G6–10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E4011-43CA-4B00-9F71-DCFF108A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G11–15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C915A-4B80-4E26-804B-2B76E91A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00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10 個內建對手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7D7CB-4691-4D61-B0B0-1EFA33BA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000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首個抽樣快照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503E3-5FF4-44F6-A7F0-8D76D5E7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000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刷新預設每 5 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47335-BE8C-49D3-B27F-326112CD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00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G16… 持續刷新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88875-5309-45DA-A477-DFDBD13C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934200"/>
            <a:ext cx="10287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每個快照固定評估 10 個欄位：4 個保護成員 ＋ 6 個動態成員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1035A3-213B-4C7C-BF3B-E0320DE3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23 / 38</a:t>
            </a:r>
          </a:p>
        </p:txBody>
      </p:sp>
    </p:spTree>
    <p:extLst>
      <p:ext uri="{BB962C8B-B14F-4D97-AF65-F5344CB8AC3E}">
        <p14:creationId xmlns:p14="http://schemas.microsoft.com/office/powerpoint/2010/main" val="16354147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E7424-C416-468E-95AD-6D84F8FF2134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429500" y="62388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51AC7-E203-474C-83AA-F767229C1FAC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10429875" y="4610100"/>
            <a:ext cx="1571625" cy="1200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F1C0B-6ECB-461C-9D3A-40EAAD9DFED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39243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705C7-94EB-467E-A97F-6E7CF6286D1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57625" y="392430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794C6E-93B7-4903-A7FB-E5B0BA19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對手快照刷新與父代重評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F945C-869C-423C-96A7-4852775D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44F28-B7BC-44AD-8748-F19269D3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凍結對手名單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065BD-2106-4D17-8469-ED365FD2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6B73C-02DF-4083-BFF1-48C52C08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建立父代複本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5E6DB-8BA5-4270-AF61-2F1E1131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262F2-2EF0-4D03-AA4A-45CFC5A2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新情境重評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B2A16-78ED-4DED-9E19-F8DF3394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2857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4＋6 對手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context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02448-D5A1-404E-A04B-36D49EC6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3238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每位父代保留 phenotype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配置新 candidate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95861-D2FA-4681-90BB-DA817C76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34290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新情境重新評估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不覆寫舊分數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E71D8-6BDF-4A3D-9CE6-F0B2E516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10250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context 完成評分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D5A37-1382-47E0-AE94-5A2430E4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10250"/>
            <a:ext cx="3714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再進入同一情境的繁殖選擇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53C08-ADDE-46CF-AA5B-E3388D05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0485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不同對手情境的分數不混在同一選擇池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5977A-34D9-447C-BF6C-0DA26E77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24 / 38</a:t>
            </a:r>
          </a:p>
        </p:txBody>
      </p:sp>
    </p:spTree>
    <p:extLst>
      <p:ext uri="{BB962C8B-B14F-4D97-AF65-F5344CB8AC3E}">
        <p14:creationId xmlns:p14="http://schemas.microsoft.com/office/powerpoint/2010/main" val="2438825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411F4-A7F2-4404-8688-C6416FEF871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953375" y="5429250"/>
            <a:ext cx="39528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7369E-4201-4855-9C5F-D31CA2F3515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000500" y="5429250"/>
            <a:ext cx="39528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02C44-C85A-4567-8587-2CDD1C6BF99F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1906250" y="3209925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E3DBE-7AC5-48D6-919B-ECEFFC753578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4000500" y="3209925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31B52-4E39-466B-889F-73E1DE02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父代重用與對手快照重評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D5AF7-7AD4-4048-8DAB-2897C0AA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6096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對手快照未改變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9E5CC-50CF-4CAF-B8C5-EE1849CE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6096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59666-C494-43D1-B265-339440E3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609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沿用同情境的已完成分數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1AFEE-6BE4-4A01-A8B1-C05E19A8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609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ID 複本，對新名單跑 180 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B183B-DEDB-438D-A56F-5CE20B55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953250"/>
            <a:ext cx="107632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先完成父代情境校準，再繁殖；子代也用同一快照評估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1FA36-3647-42A9-8BF5-0120234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01000"/>
            <a:ext cx="1247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本流程要求 parent_evaluation_mode = reuse_cached；快照刷新自動執行表型不變的父代重評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24D88-54A7-4CA4-AFB2-6AF5905C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25 / 38</a:t>
            </a:r>
          </a:p>
        </p:txBody>
      </p:sp>
    </p:spTree>
    <p:extLst>
      <p:ext uri="{BB962C8B-B14F-4D97-AF65-F5344CB8AC3E}">
        <p14:creationId xmlns:p14="http://schemas.microsoft.com/office/powerpoint/2010/main" val="15682932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B33CF-AB64-4F60-937C-A5E888995DB2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0906125" y="4076700"/>
            <a:ext cx="2095500" cy="1257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FB30C-3ED0-44F5-A224-8AB8A429E31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191750" y="3486150"/>
            <a:ext cx="114300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B87B1-7837-4278-9BB4-C3A4BD00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語意探針與同分處理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43121-F2B0-40D2-86D6-81ED9928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860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固定狀態探針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9C210-8D98-4BCA-A600-DFD226F3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004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小地圖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53896-F966-403B-863E-43CB7CF1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D7C29-FA3E-4A59-9A56-4BF49D01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89AED-A3FB-4A9E-BCFE-EB74B09B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DB127-97B2-417D-8FFA-862F13AA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50CA8-1958-488A-AEC5-7F0DCFCC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65973-1E62-4080-A47C-48510C9A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EE3AF-5BD9-4F27-8505-ADFEE13F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87B91-0C3C-4E5B-AE6D-D7AD4ADC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245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大地圖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2F17E-F2EE-4467-899C-06F0DC5A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2116C-3CA0-4853-9926-F9546968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DD9EE-095D-4675-A3EF-7501689A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DEFAE-81CE-45CA-90BB-E273AFAA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953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地圖 × 3 階段 = 9 個動作簽章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1D066-7049-4688-9561-952D0F9F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同分層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B6903-DB44-4364-9B79-4BBC2C45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0"/>
            <a:ext cx="3333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比較九個 probe 的動作差異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距離 = 不同 probe 數 ÷ 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260F3-7B11-48F1-884A-83C439FF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父代：頂層挑行為較遠者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倖存者：切分同層時採 max-min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0D990-2D58-412E-9EF3-D04A1552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819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語意探針只解決同分，不另加搜尋目標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AA7AFF-57DE-4FB7-8B8B-26278BF1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26 / 38</a:t>
            </a:r>
          </a:p>
        </p:txBody>
      </p:sp>
    </p:spTree>
    <p:extLst>
      <p:ext uri="{BB962C8B-B14F-4D97-AF65-F5344CB8AC3E}">
        <p14:creationId xmlns:p14="http://schemas.microsoft.com/office/powerpoint/2010/main" val="10738754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9EB33-C0BC-4552-B4C8-60FD4A93DFD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58250" y="307181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A20E7-4CD2-4B09-AFEB-1C5B3ABA5321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572000" y="307181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86A44-B413-4E1A-944C-3BEEFC41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的倖存者選擇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9B8BF-1AA7-445E-A1BD-614F71A6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10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N 父代＋N 子代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合併、依 ID 去重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94A91-CD0F-40C3-8D3D-E6E1071E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3048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只留下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完整評估者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638BE-552E-44E3-9BA7-D2368D12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fitness 由高至低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以每層最高分 − 1.0 分層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24EF5-1EC3-4BC1-9CD9-CAFF9F59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整層放得下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98032-998C-42DD-AC7B-4E07C3B3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4572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整層保留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再處理下一個分數層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FCA4D-AEA3-42DF-8656-518A2723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剩餘名額切在同一層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18971-2EC0-46A7-AD02-027A37DF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62625"/>
            <a:ext cx="7429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只在該層用 seeded max-min 選子集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優先保留與已選者行為較遠的候選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B5382-31DE-40E5-952B-4525A392C7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477750" y="3667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C7BF8-0049-434B-B254-8A75CFD160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3250" y="4286250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85935-3072-449C-9FA7-FC4762AFFAB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3250" y="4286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84C64-7E91-41AD-8BFB-2F43B422397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4286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9A428-CD9C-47F2-9613-4AECBD72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58125"/>
            <a:ext cx="1304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選滿固定 N 位；低分層不能靠新穎性越級。完成者不足 N，run 明確失敗。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0DA09-1639-447E-80B5-92719406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27 / 38</a:t>
            </a:r>
          </a:p>
        </p:txBody>
      </p:sp>
    </p:spTree>
    <p:extLst>
      <p:ext uri="{BB962C8B-B14F-4D97-AF65-F5344CB8AC3E}">
        <p14:creationId xmlns:p14="http://schemas.microsoft.com/office/powerpoint/2010/main" val="20662092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AC5EA-BBAB-4F39-A164-79B9BDEE756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906375" y="4048125"/>
            <a:ext cx="0" cy="2143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51C81-D2A2-466A-89AF-7BBFEAE3685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9334500" y="3405188"/>
            <a:ext cx="1428750" cy="214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5269B-E828-4AAC-9510-27AF2BAA2E2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00500" y="36195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15F43-AF0A-4D28-AE0C-D755EA6D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的靜態突變操作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2C484-6831-4865-9436-F9CF0B45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self_play 要求 reflection_operator_mode = static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EBA9B-9D8C-4EF8-89A4-854BF39A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交配後的子代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1D23D-FE7F-4DF7-AF0E-8AE8A5A3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4000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mutation_rate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決定是否突變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5D93B-4456-4AF1-8DAB-179366C2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62250"/>
            <a:ext cx="4286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依已設定的靜態規則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執行可用突變操作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DFE33-7FD3-4C28-B91B-8C383A0E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4286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進入 Java 與評估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A5D49-13D8-46BB-8C34-E61BD231AD8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4095750"/>
            <a:ext cx="0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9D864-EE06-41C1-816A-6B96EAE2CAD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6667500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06DBD-6EFB-43DB-99ED-7F468A23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86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否：保留交配後基因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86183-56A8-476A-814B-807FBFA3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DB9B9-597D-44A2-AAAE-C5B70D1D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600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local：至多改一槽</a:t>
            </a:r>
          </a:p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Coach：回傳完整 genome</a:t>
            </a:r>
          </a:p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LLM／DSL：依可用操作與固定配比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47F69-97D3-4560-BE96-EC3F10F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858125"/>
            <a:ext cx="1266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對戰結果提供 fitness 與反思證據；本流程不以 reward 動態更新操作機率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6B3EC-8305-4AF8-A054-E6B719DC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28 / 38</a:t>
            </a:r>
          </a:p>
        </p:txBody>
      </p:sp>
    </p:spTree>
    <p:extLst>
      <p:ext uri="{BB962C8B-B14F-4D97-AF65-F5344CB8AC3E}">
        <p14:creationId xmlns:p14="http://schemas.microsoft.com/office/powerpoint/2010/main" val="4778414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6961E-44AD-40A5-BE60-E2A45EEE13A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0929938" y="3162300"/>
            <a:ext cx="2381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9A72C-607B-43C1-BC82-D2DB736CB22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501063" y="3162300"/>
            <a:ext cx="1190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8B113-8279-4AFD-97D8-919C1DC25235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flipH="1" flipV="1">
            <a:off x="1619250" y="3162300"/>
            <a:ext cx="3405188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FA6ED-627F-4937-943D-CF990DB9EF96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5024438" y="3162300"/>
            <a:ext cx="12620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8A6FF-5903-4168-9F51-8EC82A06B8A3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952875" y="3162300"/>
            <a:ext cx="10715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38BDC-E552-432B-952C-4A289A9336F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190625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49D53-FBE0-44F9-8508-EB69FC76AAE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57262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345BC-4F3A-4DEE-BCB8-3252A2F98A4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23900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FB824-A80E-49F6-99DA-5A95E219B99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90537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445FB-4619-460C-B180-3A63E58CDFCE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57175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52AF5-F0AF-43BD-A9BC-6C5E41B8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失敗、重試與停止的邊界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19C24-C06B-436B-87C7-98413EB6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LLM 產生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18466-55D9-41BF-B615-B89B05C6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994C4-6BC2-4321-BC5A-27D580A8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91F84-8EE7-4C7F-8539-D7E01DDF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CF419-FA4F-43AD-A52E-47EEC8AE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場評估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B1C6C-3755-4205-B0A8-4161A595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38125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候選篩選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3D74C-1BE8-4923-B01F-0C5A20E0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452437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有界修復重試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模式限 generation_max_attempts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E0C3D-9CAD-4C53-9519-8A63B315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95750"/>
            <a:ext cx="204787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失敗，候選終止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908F4-1700-4764-A08E-51E7F79D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2047875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矩陣未完成</a:t>
            </a:r>
          </a:p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候選終止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5060C-8EFB-4E83-A7AE-393A5242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33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DSL／framework 編譯失敗亦直接終止候選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AE1CF-403B-4FFA-8D0D-D287B897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864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失敗候選 sentinel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2EA945-6B57-47B8-90E2-DB96DD9C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D3A9B-1E8B-46A6-8444-963E4CA9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572250"/>
            <a:ext cx="4857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≥ N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父代足夠時仍可延續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9C27E8-A4ED-4DE5-8BD5-BAB8E087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572250"/>
            <a:ext cx="4857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&lt; N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明確失敗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A5CB2-89FA-4519-B525-9D7FB6D9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72375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中斷：取消排隊工作、等待執行中工作，再從最後提交世代恢復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548D3-F88B-4168-8E6D-CF869F56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29 / 38</a:t>
            </a:r>
          </a:p>
        </p:txBody>
      </p:sp>
    </p:spTree>
    <p:extLst>
      <p:ext uri="{BB962C8B-B14F-4D97-AF65-F5344CB8AC3E}">
        <p14:creationId xmlns:p14="http://schemas.microsoft.com/office/powerpoint/2010/main" val="4444968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55A22-B3FB-4419-9B37-CE2C09F0A809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524375" y="2762250"/>
            <a:ext cx="3476625" cy="29527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9D6C3-5EA3-4F6F-8019-B36D6C22C61A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001000" y="2762250"/>
            <a:ext cx="5810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77907-216E-4457-8178-22C6EACBDC20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8001000" y="2762250"/>
            <a:ext cx="2381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E6BF8-B5FB-4A54-A5A9-8D3E90F56AAF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667500" y="2762250"/>
            <a:ext cx="13335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14BED-2B33-445C-9245-C6CEE83CAD71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2952750" y="2762250"/>
            <a:ext cx="5048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E2539-608D-4709-AE8E-A70A4693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run 的保存與稽核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B429D-03C9-4405-8E2E-CF1C1621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4762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runs/&lt;run_id&gt;/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98123-6FAA-4D00-89EA-51D6A347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config.yaml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manifest.json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F48C8-A8D1-4119-B51B-56759536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候選快照與 latest_generation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6D37D-7B07-4D75-B57A-D436C177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基因、譜系、逐階段證據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FC434-AD52-4AE9-92D7-CDD9066C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71875"/>
            <a:ext cx="2857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archives/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操作、錯誤與 opponent pool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9A7C6-27E6-4628-9EDA-88442FBA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15000"/>
            <a:ext cx="4762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framework/bundle.json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slots 凍結來源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46BD2-7BC3-4734-B1AB-ABAC62CD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15000"/>
            <a:ext cx="4000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timing.jsonl：append-only 階段與 LLM request 時間線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EF663-7168-43AA-BF16-47C253B7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715000"/>
            <a:ext cx="2857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final_test/</a:t>
            </a:r>
          </a:p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獨立正式測試證據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38B02-3A02-4461-8951-9D2F0215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961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 snapshot 原子寫入成功後，manifest 才前進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195AB-281E-467B-A257-B456F344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30 / 38</a:t>
            </a:r>
          </a:p>
        </p:txBody>
      </p:sp>
    </p:spTree>
    <p:extLst>
      <p:ext uri="{BB962C8B-B14F-4D97-AF65-F5344CB8AC3E}">
        <p14:creationId xmlns:p14="http://schemas.microsoft.com/office/powerpoint/2010/main" val="3896423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E313C-BA18-4ACF-B641-A1A4ED2344FF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6667500" y="59150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53DC1-A5BB-4192-B8C5-83D1B4BEFDA6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810750" y="3733800"/>
            <a:ext cx="0" cy="1600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DE5DE-7F77-4927-B51E-010DE305D61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715250" y="3152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C16CE-B963-451D-9929-6BAD00F564F7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000500" y="3152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17C62-A043-47DE-A842-93583319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中斷後的恢復流程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2D8C0-A71A-4479-B0EE-27DAB260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  最後提交快照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manifest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latest_generation = Gk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F9931-3ABA-410A-8199-F6CB3DFB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 身分相容檢查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protocol · config · hash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6BBB2-4A82-46C5-B61B-89F26B3B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 封存未提交工作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interrupted_work/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86942-AF97-4F0F-ACD7-09111A30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 還原 population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操作器、pool 與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95247-108E-4B41-A7A5-F665A554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340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  重播並繼續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 Gk + 1 開始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6BC09-5D59-494D-9C74-3412E527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048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身分不符即拒絕；不沿用半成品，也不重新 bootstrap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E3700-09A4-44F5-A1C7-3C2977C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31 / 38</a:t>
            </a:r>
          </a:p>
        </p:txBody>
      </p:sp>
    </p:spTree>
    <p:extLst>
      <p:ext uri="{BB962C8B-B14F-4D97-AF65-F5344CB8AC3E}">
        <p14:creationId xmlns:p14="http://schemas.microsoft.com/office/powerpoint/2010/main" val="51121921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E1F47C-C657-44DA-83ED-2CC7D4CD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多組設定、replicate 與資料夾續跑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3703D-7B48-455F-9546-3C933027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設定資料夾依 YAML 檔名順序逐組執行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92226-810B-46B7-AC36-A8D77276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B6A20-9D95-4EA5-8F1C-01740294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F6ED1-FA5F-427A-81AA-32EB0335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711CD-BAFF-4A4E-80C9-8B435DF0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2C3F3-3B98-4962-9539-36020655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04767-F73D-4FE9-AC6E-07F88864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CE3F9-248E-4878-9D53-3D5E0CCC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0D617-222C-412B-846D-C9B4B929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4FA85-30B6-49F2-935E-620ED103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CD07C-BBEE-43BA-9D02-57FE05C4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72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random_seeds ×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4B781-9D73-40A2-A4A1-D10ECE8A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3EAE9-C178-43E1-A2CA-4C4C7216BC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864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8F697-91E5-442E-9745-A785E651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91EF7-3BE4-48E9-89E5-F1C92A8ADF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2950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C0A79-CC45-4BA9-B871-789636E7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93C7E-DD3B-44CD-A276-3AA1F78290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725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29D04-B77D-4ABB-9F78-CA9C26F7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B2BA5-443D-46E9-8F89-F2480E7525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1560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5F1A39-3E51-4518-9DDE-E22393DE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C38757-B5A5-4600-8A50-107C3A3AA2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586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7574A-2DAC-4F6C-B6AF-FC4EF217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607823-AF80-4F84-B57D-7E9A46EB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6675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experiment.yaml 以有序 slot 記錄 run 路徑；未完成優先恢復，完整項目可跳過。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E5CB0-8B8C-42E2-9DE0-63DC81D2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866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正式 run 需 Final Test 摘要才算 slot 完成；缺 G0 證據則建立替代 run。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47246-97BC-4EC0-A70A-8240F292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32 / 38</a:t>
            </a:r>
          </a:p>
        </p:txBody>
      </p:sp>
    </p:spTree>
    <p:extLst>
      <p:ext uri="{BB962C8B-B14F-4D97-AF65-F5344CB8AC3E}">
        <p14:creationId xmlns:p14="http://schemas.microsoft.com/office/powerpoint/2010/main" val="22894646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5E891-4716-4AC1-8081-E158AAF9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可重現性與相同版本續跑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AC5B2-1B3C-4CC9-BF85-BCADF7BA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4191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root seed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task identity + input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93FF3-DA2F-4438-88B4-BBB98DCB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59DA4-2845-4418-BAF5-5AB906D0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50832-D894-4C92-A51B-80C58288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C9195-1B46-4F76-8C5A-47F5743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7F68B-49B0-4E61-9615-CBE85E7C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match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C32C7-CD5D-4EA4-BB97-CFCF863CF0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97180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03EE4-0BCF-49DB-BE4C-8FE9F6A78F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476625"/>
            <a:ext cx="1162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015B9-5E5D-45C3-B6FB-3DD419D63D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6749C-B3ED-4394-95BA-26FD960BBB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00625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3C35F-D906-4379-A403-3752EBAD657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736B7-12BA-48D8-82A4-F1E45B54DDF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10875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F830C-71E2-443B-9084-486F0D63F6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71600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CE9F9-7AD7-470F-9B65-1F07D30D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5334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保存與核對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 · source · map · runtime · bundle hashes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E0651-FA22-466E-BC06-01020E3C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4572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仍可能改變</a:t>
            </a:r>
          </a:p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外部模型、GPU 執行、私有 RNG、時間上限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FEE79-3D58-424C-A79E-A20A2ACC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0104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seed 建立可控隨機流，不保證外部服務逐位元相同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37727-BD0E-4CEC-AAE9-D9A5EA83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33 / 38</a:t>
            </a:r>
          </a:p>
        </p:txBody>
      </p:sp>
    </p:spTree>
    <p:extLst>
      <p:ext uri="{BB962C8B-B14F-4D97-AF65-F5344CB8AC3E}">
        <p14:creationId xmlns:p14="http://schemas.microsoft.com/office/powerpoint/2010/main" val="206979707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62312-9D82-4B04-A939-92C4F314BE6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3049250" y="3448050"/>
            <a:ext cx="95250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76BFF-D598-4F72-948A-8E0FF1D7A92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382250" y="29146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640DB-F693-4A20-9C6E-EFC3F11C9CA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6858000" y="2914650"/>
            <a:ext cx="666750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AF894-AF2C-4F94-BAAA-5D5E2F08124D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381375" y="30765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73C8E-7723-4681-9E26-7C25F6BF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停止條件與正式 Final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02774-2D79-44D7-BEE7-A29B98A8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停止條件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AB610-A8BF-40A4-BB54-3E8E50AA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2857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世代上限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stagnation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40141-1A7D-4517-BA2B-8B833BEA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857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選可執行代表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通常取末代候選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5E1F1-0CC7-419C-865E-A0F9AA81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recompile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＋七項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CD66E-87F6-4C09-A6DA-0DB6A9BF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67125"/>
            <a:ext cx="3238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固定十個內建對手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D6048-ABAB-4ABF-A539-705AAE00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三種對戰矩陣各有用途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E7E52-D065-4A25-842A-C4323A3D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C9173-526D-407B-A03A-B64977CE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C0B6D-D23C-4108-8332-DF4B6DAF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3 回合 × 2 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05F04-A5C2-441F-AA0C-C0FBE300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73957-0720-46E1-9B65-96E26839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Pool 挑戰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C2196-EA97-434D-9494-02A208F0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2AE3B-E48E-4C54-B46F-D5EFCE63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AF26F-750B-420A-BEA0-FBC345DB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309C4-6B25-41BF-9FA5-0BEBF450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10 回合 × 2 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63C49-1099-4A13-869B-024B240F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mock 與 --skip-final-test 可略過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838B0-3794-440E-9358-6137A0D8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743825"/>
            <a:ext cx="1266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搜尋名單會刷新；正式測試名單固定，兩者分開保存結果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2F04D-FD80-43E2-8C71-244BA297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34 / 38</a:t>
            </a:r>
          </a:p>
        </p:txBody>
      </p:sp>
    </p:spTree>
    <p:extLst>
      <p:ext uri="{BB962C8B-B14F-4D97-AF65-F5344CB8AC3E}">
        <p14:creationId xmlns:p14="http://schemas.microsoft.com/office/powerpoint/2010/main" val="796973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1E0807-61B7-45DF-B5A9-471D04304839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2573000" y="4219575"/>
            <a:ext cx="4762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BB2FF-EE04-42B2-B4BD-CA78B1ABDB7D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1752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EBFAD-D697-4563-B3B2-3C7E9DCE76C8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1028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C0A49-85AE-4899-A2D8-5FE22264D97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4FB5B-CB94-4D40-A2F1-5FBF31F65F29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34375" y="3800475"/>
            <a:ext cx="1285875" cy="419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B71B3-F2E9-40E4-90DF-892E7E275A6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34375" y="3076575"/>
            <a:ext cx="1285875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C56B86-E712-426A-ABC9-6FD33595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跨世代的公平比較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17161-DF5A-4C24-89F6-F8B132F0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搜尋：對手快照隨世代改變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6F14B-36A9-4989-A5AB-794A9EA9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E2D09-7324-4AAA-B1DD-247BB259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內建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49DF7-C255-40B7-9C77-1E29F161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89A79-F339-4CD7-8BEA-D089FCF3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EA878-4E09-4B2E-8225-03AE5C14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19E15-D394-46E7-BAF4-EFE03896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C3B17-1717-480B-B951-021F95FAE6E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52625" y="4714875"/>
            <a:ext cx="3619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548A3-4C3B-4E48-964A-5156B050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435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隨情境變動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每個候選 180 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38D44-DC27-45FB-9AF4-0B61F43A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公平比較：一份凍結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F2BE3-8D0C-454A-BB0E-404830D7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4522B-B8FB-44F3-AE12-827ED41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337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A180B-0296-41A9-A783-91F6E49B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576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A0C0F-EA1A-40CD-BB72-67C30283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80CA4-A28E-4B92-B320-7A03F3FC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054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34EA0-68C3-4385-90FC-D1DAFAAA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2952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同一固定 protocol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固定對手、地圖、規則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A42BC-9426-4722-BA7D-4B1F09D9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752850"/>
            <a:ext cx="209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每個代表 600 場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paired seeds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BDDBE-6C4A-4DDC-8562-4DA72828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858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不同快照的搜尋分數，不能當成同條件能力比較。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1D0577-E3CF-44F9-8B09-58B9D3D1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35 / 38</a:t>
            </a:r>
          </a:p>
        </p:txBody>
      </p:sp>
    </p:spTree>
    <p:extLst>
      <p:ext uri="{BB962C8B-B14F-4D97-AF65-F5344CB8AC3E}">
        <p14:creationId xmlns:p14="http://schemas.microsoft.com/office/powerpoint/2010/main" val="2082324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B0675-61BA-4510-9CDA-D924CF90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DC26D-53C8-4884-9386-F76C741F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7146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排程示意，非量測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18FBB-4263-4126-A9E2-894352BD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0955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 初始化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獨立工作量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56D6D-0B13-42B8-8B52-94C072E0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383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後續演化世代的重疊工作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49A40-F54A-4189-8E55-D1C77E2E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準備子代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7BA58-3FC2-4673-AFE1-CDC01A06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00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十工人對戰矩陣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3D220-39D8-45A4-AD2B-FC403C02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B4147-BFDA-4EB0-9FE0-1A992248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86D13-CD9D-450E-96A6-CBF766A9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2103A-E42B-41E5-8C20-077E48EB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AAF21-4571-4C8E-86D6-F4C57E51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17986-583B-489F-83D1-2878B1D4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48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 對戰期間，B 的準備已開始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D1001-7FB7-4228-A8CB-40D0F49D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53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 對戰期間，C 的準備已開始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6E48C-76F8-4E91-9A1A-E5DE3A27D52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29250" y="676275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171C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85368-93F7-49CC-8142-4D5FBA15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532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wall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7A696-D417-4228-8019-657ADC42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3437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初始化另行記錄；世代／階段時間以實際 timing artifacts 為準。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06C88-DCCA-471B-A520-720EFE76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791450"/>
            <a:ext cx="6858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目前未有 live 多主機 speedup benchmark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F3AE5-3D8D-4095-9191-1DE3BCB7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36 / 38</a:t>
            </a:r>
          </a:p>
        </p:txBody>
      </p:sp>
    </p:spTree>
    <p:extLst>
      <p:ext uri="{BB962C8B-B14F-4D97-AF65-F5344CB8AC3E}">
        <p14:creationId xmlns:p14="http://schemas.microsoft.com/office/powerpoint/2010/main" val="182369325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0BA8A-A760-4F35-B48E-D2B5C04AA25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9572625" y="3405188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E69E0-1CC7-42DC-9C41-BA4929EC16B2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667250" y="3405188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98610-81B9-40F5-8DE4-4E8DE193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GUI、監看與離線分析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D42DB-4414-473D-BA5F-D64D62E4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4D2E9-31AE-4CB4-B48A-C715D84F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Monitor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76BAA-BCDC-4BEA-9768-EE6BA780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Analyze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02EED-D76A-4AEF-BB09-B336C5B4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選設定、啟停／續跑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瀏覽族群與視覺觀戰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34B15-08A7-4723-9D7B-68C55B20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 manifest 與已提交快照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狀態監看唯讀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75216-8118-42C9-ACFD-A5436249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讀保存的快照與證據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離線產生報表與圖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B9FC4-4F9A-40BA-BC0A-AE1E59C0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67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使用工具檢視證據，不改寫演化 fitness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05AA5-BF0F-4425-AB31-5701F2E3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37 / 38</a:t>
            </a:r>
          </a:p>
        </p:txBody>
      </p:sp>
    </p:spTree>
    <p:extLst>
      <p:ext uri="{BB962C8B-B14F-4D97-AF65-F5344CB8AC3E}">
        <p14:creationId xmlns:p14="http://schemas.microsoft.com/office/powerpoint/2010/main" val="76113141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31E72-82BE-4E2A-870A-9FB047EF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 Framework Coach 設定範例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C3AFA-79C6-48BD-8D35-A80E38FD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95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D6FA7-C64B-4E06-9FFD-8FE97EFB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 使用完整控制 genome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FDB89-7FDC-4AA4-B629-9D85E0BB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3810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 bootstrap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FA57F-AFDA-4155-939A-B6C8CDAF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mistral-small-latest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E155D-088F-432D-A44F-DB3852B8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0"/>
            <a:ext cx="3714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3.5 9B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0EF6C-0A7E-493F-B1EE-91A42B05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主模型＋外部 additional endpoint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F980C-EE00-4F0C-A55D-972587E1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5D09C-C240-401F-9AB2-955662D4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演化世代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65A4D-2037-47AD-87CF-727290CB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2D611-F307-4516-868C-21BA4187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BFE8F-1501-40E0-901D-AFC54DCD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D9891-2DDB-4C49-AE8F-6CC02EF4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AD32D-47F8-4785-820A-AD68F1CF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9F55F-36EF-43AA-9B97-39440E5C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pool capacity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86469-192E-46D1-A736-3696F537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91250"/>
            <a:ext cx="10382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每次評估：4 個保護對手 ＋ 6 個抽樣對手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6FE0D-8F7E-4AC4-B985-58988CF4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21995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refresh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A78E1-1559-42F9-B8B2-6270AA1A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219950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16B7F-76AF-43F6-99E3-C66A2AE1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19950"/>
            <a:ext cx="2190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2221E-9B93-41BA-AC8C-C60BB9F4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219950"/>
            <a:ext cx="3619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 caps 1500／3000／4000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9484D-BDBF-4699-800A-9151E813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7819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這是 checked-in 範例設定，不代表全域預設或已執行實驗。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928A3-D442-4EE1-92ED-24E40119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38 / 38</a:t>
            </a:r>
          </a:p>
        </p:txBody>
      </p:sp>
    </p:spTree>
    <p:extLst>
      <p:ext uri="{BB962C8B-B14F-4D97-AF65-F5344CB8AC3E}">
        <p14:creationId xmlns:p14="http://schemas.microsoft.com/office/powerpoint/2010/main" val="1168248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2026-10-21T13:30:32.8280000Z</dcterms:created>
  <dcterms:modified xsi:type="dcterms:W3CDTF">2026-10-21T13:30:32.8280000Z</dcterms:modified>
</coreProperties>
</file>