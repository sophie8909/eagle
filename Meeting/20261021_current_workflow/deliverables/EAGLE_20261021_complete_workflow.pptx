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50bfb8fd6f42d3" /><Relationship Type="http://schemas.openxmlformats.org/officeDocument/2006/relationships/extended-properties" Target="/docProps/app.xml" Id="Recf3abee56e24f3a" /><Relationship Type="http://schemas.openxmlformats.org/officeDocument/2006/relationships/officeDocument" Target="/ppt/presentation.xml" Id="R572f4f8ceb934f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39d208efb340ca"/>
  </p:sldMasterIdLst>
  <p:notesMasterIdLst>
    <p:notesMasterId xmlns:r="http://schemas.openxmlformats.org/officeDocument/2006/relationships" r:id="Ra93ded9ab5b44055"/>
  </p:notesMasterIdLst>
  <p:sldIdLst>
    <p:sldId xmlns:r="http://schemas.openxmlformats.org/officeDocument/2006/relationships" id="256" r:id="Rab53fb4ee2e94a6f"/>
    <p:sldId xmlns:r="http://schemas.openxmlformats.org/officeDocument/2006/relationships" id="257" r:id="Rccad653a72c944f8"/>
    <p:sldId xmlns:r="http://schemas.openxmlformats.org/officeDocument/2006/relationships" id="258" r:id="R439329b04d984a78"/>
    <p:sldId xmlns:r="http://schemas.openxmlformats.org/officeDocument/2006/relationships" id="259" r:id="R01bafeea6b9548e5"/>
    <p:sldId xmlns:r="http://schemas.openxmlformats.org/officeDocument/2006/relationships" id="260" r:id="Rdd28ba03621b413a"/>
    <p:sldId xmlns:r="http://schemas.openxmlformats.org/officeDocument/2006/relationships" id="261" r:id="Re7b433c7d0a1468b"/>
    <p:sldId xmlns:r="http://schemas.openxmlformats.org/officeDocument/2006/relationships" id="262" r:id="R3354e773993941b0"/>
    <p:sldId xmlns:r="http://schemas.openxmlformats.org/officeDocument/2006/relationships" id="263" r:id="Rbdfc2d299d544b7c"/>
    <p:sldId xmlns:r="http://schemas.openxmlformats.org/officeDocument/2006/relationships" id="264" r:id="Rba3ccf1a617b4efd"/>
    <p:sldId xmlns:r="http://schemas.openxmlformats.org/officeDocument/2006/relationships" id="265" r:id="Rf68b27cae7fd4f61"/>
    <p:sldId xmlns:r="http://schemas.openxmlformats.org/officeDocument/2006/relationships" id="266" r:id="Ra8cdbf2b90324b8d"/>
    <p:sldId xmlns:r="http://schemas.openxmlformats.org/officeDocument/2006/relationships" id="267" r:id="R6b967f21abfe4111"/>
    <p:sldId xmlns:r="http://schemas.openxmlformats.org/officeDocument/2006/relationships" id="268" r:id="Ree0e4c66faf5413f"/>
    <p:sldId xmlns:r="http://schemas.openxmlformats.org/officeDocument/2006/relationships" id="269" r:id="R02df499b43604b44"/>
    <p:sldId xmlns:r="http://schemas.openxmlformats.org/officeDocument/2006/relationships" id="270" r:id="R2500cc9bd38040ef"/>
    <p:sldId xmlns:r="http://schemas.openxmlformats.org/officeDocument/2006/relationships" id="271" r:id="R3cdae32a93a7478c"/>
    <p:sldId xmlns:r="http://schemas.openxmlformats.org/officeDocument/2006/relationships" id="272" r:id="R167887131f354d2e"/>
    <p:sldId xmlns:r="http://schemas.openxmlformats.org/officeDocument/2006/relationships" id="273" r:id="R163f1bbba3084767"/>
    <p:sldId xmlns:r="http://schemas.openxmlformats.org/officeDocument/2006/relationships" id="274" r:id="R179b3af074cc4342"/>
    <p:sldId xmlns:r="http://schemas.openxmlformats.org/officeDocument/2006/relationships" id="275" r:id="Rc49c9c8020624e87"/>
    <p:sldId xmlns:r="http://schemas.openxmlformats.org/officeDocument/2006/relationships" id="276" r:id="Rc1ddaf1cfb7c489b"/>
    <p:sldId xmlns:r="http://schemas.openxmlformats.org/officeDocument/2006/relationships" id="277" r:id="R72c01642348847e7"/>
    <p:sldId xmlns:r="http://schemas.openxmlformats.org/officeDocument/2006/relationships" id="278" r:id="R12e42099fc0b458a"/>
    <p:sldId xmlns:r="http://schemas.openxmlformats.org/officeDocument/2006/relationships" id="279" r:id="R0fcfa6ddcf7e4a27"/>
    <p:sldId xmlns:r="http://schemas.openxmlformats.org/officeDocument/2006/relationships" id="280" r:id="R90439acd04b842c3"/>
    <p:sldId xmlns:r="http://schemas.openxmlformats.org/officeDocument/2006/relationships" id="281" r:id="R538cf0703e8e4e4a"/>
    <p:sldId xmlns:r="http://schemas.openxmlformats.org/officeDocument/2006/relationships" id="282" r:id="Rb117fff8e12a4830"/>
    <p:sldId xmlns:r="http://schemas.openxmlformats.org/officeDocument/2006/relationships" id="283" r:id="Re71a80ce0fcd4f3a"/>
    <p:sldId xmlns:r="http://schemas.openxmlformats.org/officeDocument/2006/relationships" id="284" r:id="Rc3606e16c2724128"/>
    <p:sldId xmlns:r="http://schemas.openxmlformats.org/officeDocument/2006/relationships" id="285" r:id="R1728804207f14165"/>
    <p:sldId xmlns:r="http://schemas.openxmlformats.org/officeDocument/2006/relationships" id="286" r:id="R0b8f100a0a004a23"/>
    <p:sldId xmlns:r="http://schemas.openxmlformats.org/officeDocument/2006/relationships" id="287" r:id="R75214b1a5a0a4c62"/>
    <p:sldId xmlns:r="http://schemas.openxmlformats.org/officeDocument/2006/relationships" id="288" r:id="Rd5f1229420804e76"/>
    <p:sldId xmlns:r="http://schemas.openxmlformats.org/officeDocument/2006/relationships" id="289" r:id="R4d8da36b568446c1"/>
    <p:sldId xmlns:r="http://schemas.openxmlformats.org/officeDocument/2006/relationships" id="290" r:id="R52146e72e585485b"/>
    <p:sldId xmlns:r="http://schemas.openxmlformats.org/officeDocument/2006/relationships" id="291" r:id="R8ac48eb7f7e74b99"/>
    <p:sldId xmlns:r="http://schemas.openxmlformats.org/officeDocument/2006/relationships" id="292" r:id="R98bb89e3f39f482d"/>
    <p:sldId xmlns:r="http://schemas.openxmlformats.org/officeDocument/2006/relationships" id="293" r:id="R22acf7f6799b4543"/>
    <p:sldId xmlns:r="http://schemas.openxmlformats.org/officeDocument/2006/relationships" id="294" r:id="R1ed6f910f01a4625"/>
    <p:sldId xmlns:r="http://schemas.openxmlformats.org/officeDocument/2006/relationships" id="295" r:id="Rdbfe8e21513b4022"/>
    <p:sldId xmlns:r="http://schemas.openxmlformats.org/officeDocument/2006/relationships" id="296" r:id="R692e9d288a6e46d4"/>
    <p:sldId xmlns:r="http://schemas.openxmlformats.org/officeDocument/2006/relationships" id="297" r:id="Rf3c3db118dc14441"/>
    <p:sldId xmlns:r="http://schemas.openxmlformats.org/officeDocument/2006/relationships" id="298" r:id="Rb54b5efd1cc14219"/>
    <p:sldId xmlns:r="http://schemas.openxmlformats.org/officeDocument/2006/relationships" id="299" r:id="Rbb39f34409594223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57849174a484d" /><Relationship Type="http://schemas.openxmlformats.org/officeDocument/2006/relationships/slideMaster" Target="/ppt/slideMasters/slideMaster1.xml" Id="Rdc39d208efb340ca" /><Relationship Type="http://schemas.openxmlformats.org/officeDocument/2006/relationships/notesMaster" Target="/ppt/notesMasters/notesMaster1.xml" Id="Ra93ded9ab5b44055" /><Relationship Type="http://schemas.openxmlformats.org/officeDocument/2006/relationships/presProps" Target="/ppt/presProps.xml" Id="R5cc947727daf46b9" /><Relationship Type="http://schemas.openxmlformats.org/officeDocument/2006/relationships/viewProps" Target="/ppt/viewProps.xml" Id="Rfc870772567f4c2b" /><Relationship Type="http://schemas.openxmlformats.org/officeDocument/2006/relationships/tableStyles" Target="/ppt/tableStyles.xml" Id="R836a8cac585b4c8e" /><Relationship Type="http://schemas.openxmlformats.org/officeDocument/2006/relationships/slide" Target="/ppt/slides/slide1.xml" Id="Rab53fb4ee2e94a6f" /><Relationship Type="http://schemas.openxmlformats.org/officeDocument/2006/relationships/slide" Target="/ppt/slides/slide2.xml" Id="Rccad653a72c944f8" /><Relationship Type="http://schemas.openxmlformats.org/officeDocument/2006/relationships/slide" Target="/ppt/slides/slide3.xml" Id="R439329b04d984a78" /><Relationship Type="http://schemas.openxmlformats.org/officeDocument/2006/relationships/slide" Target="/ppt/slides/slide4.xml" Id="R01bafeea6b9548e5" /><Relationship Type="http://schemas.openxmlformats.org/officeDocument/2006/relationships/slide" Target="/ppt/slides/slide5.xml" Id="Rdd28ba03621b413a" /><Relationship Type="http://schemas.openxmlformats.org/officeDocument/2006/relationships/slide" Target="/ppt/slides/slide6.xml" Id="Re7b433c7d0a1468b" /><Relationship Type="http://schemas.openxmlformats.org/officeDocument/2006/relationships/slide" Target="/ppt/slides/slide7.xml" Id="R3354e773993941b0" /><Relationship Type="http://schemas.openxmlformats.org/officeDocument/2006/relationships/slide" Target="/ppt/slides/slide8.xml" Id="Rbdfc2d299d544b7c" /><Relationship Type="http://schemas.openxmlformats.org/officeDocument/2006/relationships/slide" Target="/ppt/slides/slide9.xml" Id="Rba3ccf1a617b4efd" /><Relationship Type="http://schemas.openxmlformats.org/officeDocument/2006/relationships/slide" Target="/ppt/slides/slide10.xml" Id="Rf68b27cae7fd4f61" /><Relationship Type="http://schemas.openxmlformats.org/officeDocument/2006/relationships/slide" Target="/ppt/slides/slide11.xml" Id="Ra8cdbf2b90324b8d" /><Relationship Type="http://schemas.openxmlformats.org/officeDocument/2006/relationships/slide" Target="/ppt/slides/slide12.xml" Id="R6b967f21abfe4111" /><Relationship Type="http://schemas.openxmlformats.org/officeDocument/2006/relationships/slide" Target="/ppt/slides/slide13.xml" Id="Ree0e4c66faf5413f" /><Relationship Type="http://schemas.openxmlformats.org/officeDocument/2006/relationships/slide" Target="/ppt/slides/slide14.xml" Id="R02df499b43604b44" /><Relationship Type="http://schemas.openxmlformats.org/officeDocument/2006/relationships/slide" Target="/ppt/slides/slide15.xml" Id="R2500cc9bd38040ef" /><Relationship Type="http://schemas.openxmlformats.org/officeDocument/2006/relationships/slide" Target="/ppt/slides/slide16.xml" Id="R3cdae32a93a7478c" /><Relationship Type="http://schemas.openxmlformats.org/officeDocument/2006/relationships/slide" Target="/ppt/slides/slide17.xml" Id="R167887131f354d2e" /><Relationship Type="http://schemas.openxmlformats.org/officeDocument/2006/relationships/slide" Target="/ppt/slides/slide18.xml" Id="R163f1bbba3084767" /><Relationship Type="http://schemas.openxmlformats.org/officeDocument/2006/relationships/slide" Target="/ppt/slides/slide19.xml" Id="R179b3af074cc4342" /><Relationship Type="http://schemas.openxmlformats.org/officeDocument/2006/relationships/slide" Target="/ppt/slides/slide20.xml" Id="Rc49c9c8020624e87" /><Relationship Type="http://schemas.openxmlformats.org/officeDocument/2006/relationships/slide" Target="/ppt/slides/slide21.xml" Id="Rc1ddaf1cfb7c489b" /><Relationship Type="http://schemas.openxmlformats.org/officeDocument/2006/relationships/slide" Target="/ppt/slides/slide22.xml" Id="R72c01642348847e7" /><Relationship Type="http://schemas.openxmlformats.org/officeDocument/2006/relationships/slide" Target="/ppt/slides/slide23.xml" Id="R12e42099fc0b458a" /><Relationship Type="http://schemas.openxmlformats.org/officeDocument/2006/relationships/slide" Target="/ppt/slides/slide24.xml" Id="R0fcfa6ddcf7e4a27" /><Relationship Type="http://schemas.openxmlformats.org/officeDocument/2006/relationships/slide" Target="/ppt/slides/slide25.xml" Id="R90439acd04b842c3" /><Relationship Type="http://schemas.openxmlformats.org/officeDocument/2006/relationships/slide" Target="/ppt/slides/slide26.xml" Id="R538cf0703e8e4e4a" /><Relationship Type="http://schemas.openxmlformats.org/officeDocument/2006/relationships/slide" Target="/ppt/slides/slide27.xml" Id="Rb117fff8e12a4830" /><Relationship Type="http://schemas.openxmlformats.org/officeDocument/2006/relationships/slide" Target="/ppt/slides/slide28.xml" Id="Re71a80ce0fcd4f3a" /><Relationship Type="http://schemas.openxmlformats.org/officeDocument/2006/relationships/slide" Target="/ppt/slides/slide29.xml" Id="Rc3606e16c2724128" /><Relationship Type="http://schemas.openxmlformats.org/officeDocument/2006/relationships/slide" Target="/ppt/slides/slide30.xml" Id="R1728804207f14165" /><Relationship Type="http://schemas.openxmlformats.org/officeDocument/2006/relationships/slide" Target="/ppt/slides/slide31.xml" Id="R0b8f100a0a004a23" /><Relationship Type="http://schemas.openxmlformats.org/officeDocument/2006/relationships/slide" Target="/ppt/slides/slide32.xml" Id="R75214b1a5a0a4c62" /><Relationship Type="http://schemas.openxmlformats.org/officeDocument/2006/relationships/slide" Target="/ppt/slides/slide33.xml" Id="Rd5f1229420804e76" /><Relationship Type="http://schemas.openxmlformats.org/officeDocument/2006/relationships/slide" Target="/ppt/slides/slide34.xml" Id="R4d8da36b568446c1" /><Relationship Type="http://schemas.openxmlformats.org/officeDocument/2006/relationships/slide" Target="/ppt/slides/slide35.xml" Id="R52146e72e585485b" /><Relationship Type="http://schemas.openxmlformats.org/officeDocument/2006/relationships/slide" Target="/ppt/slides/slide36.xml" Id="R8ac48eb7f7e74b99" /><Relationship Type="http://schemas.openxmlformats.org/officeDocument/2006/relationships/slide" Target="/ppt/slides/slide37.xml" Id="R98bb89e3f39f482d" /><Relationship Type="http://schemas.openxmlformats.org/officeDocument/2006/relationships/slide" Target="/ppt/slides/slide38.xml" Id="R22acf7f6799b4543" /><Relationship Type="http://schemas.openxmlformats.org/officeDocument/2006/relationships/slide" Target="/ppt/slides/slide39.xml" Id="R1ed6f910f01a4625" /><Relationship Type="http://schemas.openxmlformats.org/officeDocument/2006/relationships/slide" Target="/ppt/slides/slide40.xml" Id="Rdbfe8e21513b4022" /><Relationship Type="http://schemas.openxmlformats.org/officeDocument/2006/relationships/slide" Target="/ppt/slides/slide41.xml" Id="R692e9d288a6e46d4" /><Relationship Type="http://schemas.openxmlformats.org/officeDocument/2006/relationships/slide" Target="/ppt/slides/slide42.xml" Id="Rf3c3db118dc14441" /><Relationship Type="http://schemas.openxmlformats.org/officeDocument/2006/relationships/slide" Target="/ppt/slides/slide43.xml" Id="Rb54b5efd1cc14219" /><Relationship Type="http://schemas.openxmlformats.org/officeDocument/2006/relationships/slide" Target="/ppt/slides/slide44.xml" Id="Rbb39f3440959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a904df85c3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35a71b87ef40d0" /><Relationship Type="http://schemas.openxmlformats.org/officeDocument/2006/relationships/notesMaster" Target="/ppt/notesMasters/notesMaster1.xml" Id="Rfe4b61df371e48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611d2407e417e" /><Relationship Type="http://schemas.openxmlformats.org/officeDocument/2006/relationships/notesMaster" Target="/ppt/notesMasters/notesMaster1.xml" Id="Rd9d36d381a8d4a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4f84cbee59449f" /><Relationship Type="http://schemas.openxmlformats.org/officeDocument/2006/relationships/notesMaster" Target="/ppt/notesMasters/notesMaster1.xml" Id="R87b2211b8ed142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7f3c339bb64916" /><Relationship Type="http://schemas.openxmlformats.org/officeDocument/2006/relationships/notesMaster" Target="/ppt/notesMasters/notesMaster1.xml" Id="R381f84485a9a45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658ccf35b94f64" /><Relationship Type="http://schemas.openxmlformats.org/officeDocument/2006/relationships/notesMaster" Target="/ppt/notesMasters/notesMaster1.xml" Id="Rf0eacb4b594846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9a4ce34c8741d1" /><Relationship Type="http://schemas.openxmlformats.org/officeDocument/2006/relationships/notesMaster" Target="/ppt/notesMasters/notesMaster1.xml" Id="R2e0968e63b2d4f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c72dfea577435d" /><Relationship Type="http://schemas.openxmlformats.org/officeDocument/2006/relationships/notesMaster" Target="/ppt/notesMasters/notesMaster1.xml" Id="R3860eda3e8274c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a4d55b290a4cb4" /><Relationship Type="http://schemas.openxmlformats.org/officeDocument/2006/relationships/notesMaster" Target="/ppt/notesMasters/notesMaster1.xml" Id="R183a474a0eb84f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e3e9495d7a4797" /><Relationship Type="http://schemas.openxmlformats.org/officeDocument/2006/relationships/notesMaster" Target="/ppt/notesMasters/notesMaster1.xml" Id="R485b8214194c4e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2bb2db40b24c7e" /><Relationship Type="http://schemas.openxmlformats.org/officeDocument/2006/relationships/notesMaster" Target="/ppt/notesMasters/notesMaster1.xml" Id="Re70f59ac20ac44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614e9b10de4036" /><Relationship Type="http://schemas.openxmlformats.org/officeDocument/2006/relationships/notesMaster" Target="/ppt/notesMasters/notesMaster1.xml" Id="Rc2c5c53cac534b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8663f9b5374718" /><Relationship Type="http://schemas.openxmlformats.org/officeDocument/2006/relationships/notesMaster" Target="/ppt/notesMasters/notesMaster1.xml" Id="R0947c717c80441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a9e3a3e2974f42" /><Relationship Type="http://schemas.openxmlformats.org/officeDocument/2006/relationships/notesMaster" Target="/ppt/notesMasters/notesMaster1.xml" Id="R73d607162e794d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c6b88cdfa64d3c" /><Relationship Type="http://schemas.openxmlformats.org/officeDocument/2006/relationships/notesMaster" Target="/ppt/notesMasters/notesMaster1.xml" Id="R34c4bab52e7548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a3ded94e724a32" /><Relationship Type="http://schemas.openxmlformats.org/officeDocument/2006/relationships/notesMaster" Target="/ppt/notesMasters/notesMaster1.xml" Id="Rfa075cb2eba142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00ef70b40147f7" /><Relationship Type="http://schemas.openxmlformats.org/officeDocument/2006/relationships/notesMaster" Target="/ppt/notesMasters/notesMaster1.xml" Id="Rfe2ac8a3211c44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ec06e8187f4985" /><Relationship Type="http://schemas.openxmlformats.org/officeDocument/2006/relationships/notesMaster" Target="/ppt/notesMasters/notesMaster1.xml" Id="R0b1a5ba6fec246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f9f16b1b8b452b" /><Relationship Type="http://schemas.openxmlformats.org/officeDocument/2006/relationships/notesMaster" Target="/ppt/notesMasters/notesMaster1.xml" Id="Rf248f25e4cff40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8f66c97b7a47de" /><Relationship Type="http://schemas.openxmlformats.org/officeDocument/2006/relationships/notesMaster" Target="/ppt/notesMasters/notesMaster1.xml" Id="R9af34cae5ec445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52434c2b9f4772" /><Relationship Type="http://schemas.openxmlformats.org/officeDocument/2006/relationships/notesMaster" Target="/ppt/notesMasters/notesMaster1.xml" Id="Rb4a14a52e1ac48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7abd86ad23446f" /><Relationship Type="http://schemas.openxmlformats.org/officeDocument/2006/relationships/notesMaster" Target="/ppt/notesMasters/notesMaster1.xml" Id="R9f7e20bfb0bd40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bd33a69165425b" /><Relationship Type="http://schemas.openxmlformats.org/officeDocument/2006/relationships/notesMaster" Target="/ppt/notesMasters/notesMaster1.xml" Id="R66af49b51abc4d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8752ad9aea4bbd" /><Relationship Type="http://schemas.openxmlformats.org/officeDocument/2006/relationships/notesMaster" Target="/ppt/notesMasters/notesMaster1.xml" Id="R75acc78404014c2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75a6aac5024372" /><Relationship Type="http://schemas.openxmlformats.org/officeDocument/2006/relationships/notesMaster" Target="/ppt/notesMasters/notesMaster1.xml" Id="Rc096ed13db384f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8a4acc9782943eb" /><Relationship Type="http://schemas.openxmlformats.org/officeDocument/2006/relationships/notesMaster" Target="/ppt/notesMasters/notesMaster1.xml" Id="R8c22d4560f504e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4ff147552740db" /><Relationship Type="http://schemas.openxmlformats.org/officeDocument/2006/relationships/notesMaster" Target="/ppt/notesMasters/notesMaster1.xml" Id="Ra34648ee93804d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722177b0c8d42cf" /><Relationship Type="http://schemas.openxmlformats.org/officeDocument/2006/relationships/notesMaster" Target="/ppt/notesMasters/notesMaster1.xml" Id="Rcb8dbb542c22467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e05166a3e641af" /><Relationship Type="http://schemas.openxmlformats.org/officeDocument/2006/relationships/notesMaster" Target="/ppt/notesMasters/notesMaster1.xml" Id="Re3e99089997040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b745d73f894da6" /><Relationship Type="http://schemas.openxmlformats.org/officeDocument/2006/relationships/notesMaster" Target="/ppt/notesMasters/notesMaster1.xml" Id="R83e48962a93b4a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cd57f05a319451b" /><Relationship Type="http://schemas.openxmlformats.org/officeDocument/2006/relationships/notesMaster" Target="/ppt/notesMasters/notesMaster1.xml" Id="Rf4c26d178b6a450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b1f220771354853" /><Relationship Type="http://schemas.openxmlformats.org/officeDocument/2006/relationships/notesMaster" Target="/ppt/notesMasters/notesMaster1.xml" Id="R653b111f3cb1481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590ff31a7884efb" /><Relationship Type="http://schemas.openxmlformats.org/officeDocument/2006/relationships/notesMaster" Target="/ppt/notesMasters/notesMaster1.xml" Id="R3195e5247f87451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7c3e7c0056748b7" /><Relationship Type="http://schemas.openxmlformats.org/officeDocument/2006/relationships/notesMaster" Target="/ppt/notesMasters/notesMaster1.xml" Id="Raf30db0470f14a9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29846b175b544be" /><Relationship Type="http://schemas.openxmlformats.org/officeDocument/2006/relationships/notesMaster" Target="/ppt/notesMasters/notesMaster1.xml" Id="R08368f42cd19426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90f0584630471f" /><Relationship Type="http://schemas.openxmlformats.org/officeDocument/2006/relationships/notesMaster" Target="/ppt/notesMasters/notesMaster1.xml" Id="R7d1fb90c1f9947c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4759986ecc0492b" /><Relationship Type="http://schemas.openxmlformats.org/officeDocument/2006/relationships/notesMaster" Target="/ppt/notesMasters/notesMaster1.xml" Id="R2bac6a5a6d63402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300f740f7914b3e" /><Relationship Type="http://schemas.openxmlformats.org/officeDocument/2006/relationships/notesMaster" Target="/ppt/notesMasters/notesMaster1.xml" Id="Rd5b91b84873b448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9af41ca1da4949" /><Relationship Type="http://schemas.openxmlformats.org/officeDocument/2006/relationships/notesMaster" Target="/ppt/notesMasters/notesMaster1.xml" Id="Rf25c4daafcef451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079bce94a8451a" /><Relationship Type="http://schemas.openxmlformats.org/officeDocument/2006/relationships/notesMaster" Target="/ppt/notesMasters/notesMaster1.xml" Id="R3c6af48b8f88462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4d075b072a145ee" /><Relationship Type="http://schemas.openxmlformats.org/officeDocument/2006/relationships/notesMaster" Target="/ppt/notesMasters/notesMaster1.xml" Id="R661f7054638243b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0d9169bcc384620" /><Relationship Type="http://schemas.openxmlformats.org/officeDocument/2006/relationships/notesMaster" Target="/ppt/notesMasters/notesMaster1.xml" Id="R48c6f8c32f094f2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079959dcc9e4083" /><Relationship Type="http://schemas.openxmlformats.org/officeDocument/2006/relationships/notesMaster" Target="/ppt/notesMasters/notesMaster1.xml" Id="R8009c32121ac440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8b8b38801bd431b" /><Relationship Type="http://schemas.openxmlformats.org/officeDocument/2006/relationships/notesMaster" Target="/ppt/notesMasters/notesMaster1.xml" Id="R213334666a3a464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0f5948e75ea4759" /><Relationship Type="http://schemas.openxmlformats.org/officeDocument/2006/relationships/notesMaster" Target="/ppt/notesMasters/notesMaster1.xml" Id="R20add1771ab246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EAGLE 在對戰之前以演化與選配的 LLM 工作改良候選策略。對戰當中執行的是完整 Java agent，沒有即時 LLM 決策。本簡報以目前程式為準，涵蓋所有啟用中的模式。各機制分頁說明，實驗設定範例不等於全域預設。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docs/eagle_architecture_spec.md:9-47</a:t>
            </a:r>
          </a:p>
          <a:p xmlns:a="http://schemas.openxmlformats.org/drawingml/2006/main">
            <a:r>
              <a:t>docs/architecture/overview.md:1-35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設定解析後先準備模型端點；framework 模式會在搜尋前建立並凍結 bundle。第 0 代完成評估後才有可供繁殖的族群。每個演化世代先確保父代分數與評估情境有效，再產生與評估固定數量子代，選出下一代並原子保存。未達停止條件就回到下一代，停止後由 experiment orchestrator 執行正式最終測試。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docs/eagle_architecture_spec.md:80-160</a:t>
            </a:r>
          </a:p>
          <a:p xmlns:a="http://schemas.openxmlformats.org/drawingml/2006/main">
            <a:r>
              <a:t>eagle/evolution/search.py:119-270</a:t>
            </a:r>
          </a:p>
          <a:p xmlns:a="http://schemas.openxmlformats.org/drawingml/2006/main">
            <a:r>
              <a:t>eagle/experiment.py:355-423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這些設定軸需分開理解。deterministic_dsl 與 framework_slots 都要求 generated_phenotype 與 reuse_cached，因此只有 llm 可使用 inherited_genotype。framework.evolution_mode 只適用 framework_slots。固定名單採十個案例 lexicase，自我對弈則採 Game Performance 與語意同分處理。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docs/eagle_architecture_spec.md:19-47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eagle/config.py:580-658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每個候選人另有唯一 ID、出生世代、直接父代、各成分來源、操作類型、驗證與編譯結果、對戰紀錄與時間。generation-qualified ID 只用於定位，讀取歷史資料時不重新命名。基因、用於生成的輸入與執行表型各自保存，避免把評估輸出覆寫回基因。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docs/eagle_architecture_spec.md:19-47</a:t>
            </a:r>
          </a:p>
          <a:p xmlns:a="http://schemas.openxmlformats.org/drawingml/2006/main">
            <a:r>
              <a:t>eagle/candidate.py:1-190</a:t>
            </a:r>
          </a:p>
          <a:p xmlns:a="http://schemas.openxmlformats.org/drawingml/2006/main">
            <a:r>
              <a:t>docs/architecture/candidate_model.md:1-105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只在 framework_slots 執行 bundle 步驟，其他模式直接進入初始族群。所有啟用的模型端點先通過有界 chat preflight。受管本地服務需要 CUDA 與完整 GPU offload；不符合時明確失敗。外部服務由使用者預先啟動，EAGLE 不採用或停止該程序。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eagle/experiment.py:355-423</a:t>
            </a:r>
          </a:p>
          <a:p xmlns:a="http://schemas.openxmlformats.org/drawingml/2006/main">
            <a:r>
              <a:t>docs/eagle_architecture_spec.md:132-160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不同模型使用各自固定的 server host/port，不再於階段之間切換模型。model 與 generation_model 各可加一個依序設定的外部 endpoint。canonical task index 決定使用哪個 endpoint，重試固定留在原路由，沒有跨端點自動故障切換。framework 模式的 Java 產生在本地完成，因此不呼叫 generation_model。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docs/eagle_architecture_spec.md:132-157</a:t>
            </a:r>
          </a:p>
          <a:p xmlns:a="http://schemas.openxmlformats.org/drawingml/2006/main">
            <a:r>
              <a:t>docs/eagle_architecture_spec.md:334-350</a:t>
            </a:r>
          </a:p>
          <a:p xmlns:a="http://schemas.openxmlformats.org/drawingml/2006/main">
            <a:r>
              <a:t>docs/operations/running_eagle.md:198-256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後面的候選可在前一位對戰時繼續來源檢查與準備。任一 normalized server origin 的所有角色共用兩個 active request slots，不同 origin 可獨立工作。輸入 ordinal、seed 與路由不隨完成速度改變。父代分數刷新必須先於繁殖；AOS、倖存者選擇、pool 更新、checkpoint 與清理仍等待所需評估完成。中斷時取消排隊工作並等待正在執行的 worker 收尾。圖示為排程機制，沒有實測加速幅度。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docs/eagle_architecture_spec.md:132-160</a:t>
            </a:r>
          </a:p>
          <a:p xmlns:a="http://schemas.openxmlformats.org/drawingml/2006/main">
            <a:r>
              <a:t>eagle/evaluation/pipeline.py:57-340</a:t>
            </a:r>
          </a:p>
          <a:p xmlns:a="http://schemas.openxmlformats.org/drawingml/2006/main">
            <a:r>
              <a:t>eagle/execution.py:14-68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inherited configured_seeds 要求一個種子策略，每個候選以相同 inherited Java 作為生成上下文。llm_generated_policies 在 inherited 模式因設定限制只有一個 seed；deterministic_dsl 則可保留多個設定 seed，再為剩餘人口產生合法策略。重複回應依候選順序有界重試。此處以初始化程式與 config 驗證為準，較舊概覽的一個 seed 描述只覆蓋 inherited 情況。Framework 的 local 與 llm_coach 都建立 population_size 個候選；前者採樣有限域，後者請模型選完整 genome。第 0 代與後續世代工作量不同，時間應分開解讀。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eagle/operators/initialization.py:185-250</a:t>
            </a:r>
          </a:p>
          <a:p xmlns:a="http://schemas.openxmlformats.org/drawingml/2006/main">
            <a:r>
              <a:t>eagle/config.py:761-791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策略的 actor、when、action 都使用閉合的 MicroRTS 詞彙與可觀察狀態，允許合法策略多樣性。DSL 是基因資料，不是對戰時呼叫 LLM 的文字指令。deterministic_dsl 會經 typed IR 編譯；llm 則要求 Generator 實作同一份 DSL。合法動作守衛與 fallthrough 規則屬於共用語意。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eagle/strategy_dsl.py:1-120</a:t>
            </a:r>
          </a:p>
          <a:p xmlns:a="http://schemas.openxmlformats.org/drawingml/2006/main">
            <a:r>
              <a:t>docs/architecture/overview.md:112-127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有外部 bundle_path 時直接驗證該檔並凍結 run-owned copy，不再呼叫 bootstrap。沒有時依 backend 建立，預設 Groq，亦支援 Mistral 與 local。原始回應在解析前保存，失敗有界重試。每個 replicate 預設各自 bootstrap；要共用架構必須明確指定同一個 bundle。搜尋期間 Java 模板、槽位 domain 與表達式不變，resume 也不重新設計。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>docs/eagle_architecture_spec.md:747-820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兩種政策共享相同凍結 bundle、hash、renderer、下游評估與倖存者規則。llm_coach 回應必須恰好包含 schema_version、framework_bundle_sha256 與完整 control_genome。突變失敗不隨機改寫、不部分套用；初始選擇失敗保留採樣 genome 並在初始化階段標記該候選失敗。兩種模式都不進行 Prompt Reflection、Code gate、Java Generation 或 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>eagle/operators/strategy.py:448-865</a:t>
            </a:r>
          </a:p>
          <a:p xmlns:a="http://schemas.openxmlformats.org/drawingml/2006/main">
            <a:r>
              <a:t>eagle/operators/framework_slots.py:1-200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模式在變異前還有每個來源獨立 Code gate，DSL 與 framework 略過此 gate。一般 generation 產生 population_size 個子代。AOS 僅在設定的 adaptive 模式下於子代評估後收 reward。self-play pool 於選擇之後更新，使用所有已評估子代而非只有倖存者。最後原子保存 generation，再更新 manifest。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eagle/evolution/generation.py:62-285</a:t>
            </a:r>
          </a:p>
          <a:p xmlns:a="http://schemas.openxmlformats.org/drawingml/2006/main">
            <a:r>
              <a:t>docs/eagle_architecture_spec.md:99-160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繁殖父代用來提供下一批子代的基因。這個抽樣既不是從 opponent pool 挑對手，也不是世代結束時的倖存者選擇。Self-play 的語意距離只在適應度容忍範圍內破同分，不能讓明顯低分候選因新穎而越級。第二父代缺少相容完整行為簽章時保留 seeded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eagle/operators/selection.py:23-68</a:t>
            </a:r>
          </a:p>
          <a:p xmlns:a="http://schemas.openxmlformats.org/drawingml/2006/main">
            <a:r>
              <a:t>eagle/evolution/offspring.py:101-123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教學示例只顯示兩個案例，正式固定名單使用十個。若本次案例順序是 X、Y，第一輪保留 A 與 B，第二輪選 B。若順序是 Y、X，第一輪直接選 C。因此某個特定對手的專長可以影響被選機會，不等同於依總分排序。每次重新抽父代或不放回抽倖存者時都產生自己的 seeded 案例順序。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eagle/operators/selection.py:23-40</a:t>
            </a:r>
          </a:p>
          <a:p xmlns:a="http://schemas.openxmlformats.org/drawingml/2006/main">
            <a:r>
              <a:t>eagle/opponent_cases.py:1-60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docs/eagle_architecture_spec.md:216-223</a:t>
            </a:r>
          </a:p>
          <a:p xmlns:a="http://schemas.openxmlformats.org/drawingml/2006/main">
            <a:r>
              <a:t>eagle/operators/crossover.py:1-170</a:t>
            </a:r>
          </a:p>
          <a:p xmlns:a="http://schemas.openxmlformats.org/drawingml/2006/main">
            <a:r>
              <a:t>eagle/operators/framework_slots.py:1-155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eagle/operators/code.py:29-180</a:t>
            </a:r>
          </a:p>
          <a:p xmlns:a="http://schemas.openxmlformats.org/drawingml/2006/main">
            <a:r>
              <a:t>eagle/evolution/offspring.py:125-280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eagle/operators/strategy.py:202-447</a:t>
            </a:r>
          </a:p>
          <a:p xmlns:a="http://schemas.openxmlformats.org/drawingml/2006/main">
            <a:r>
              <a:t>eagle/operators/strategy.py:576-865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>eagle/operators/strategy.py:1638-1710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docs/eagle_architecture_spec.md:277-309</a:t>
            </a:r>
          </a:p>
          <a:p xmlns:a="http://schemas.openxmlformats.org/drawingml/2006/main">
            <a:r>
              <a:t>eagle/operators/prompt.py:268-525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docs/eagle_architecture_spec.md:313-405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eagle/evaluation/decoding.py:1-130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docs/eagle_architecture_spec.md:350-405</a:t>
            </a:r>
          </a:p>
          <a:p xmlns:a="http://schemas.openxmlformats.org/drawingml/2006/main">
            <a:r>
              <a:t>eagle/evaluation/decoding.py:1-160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docs/eagle_architecture_spec.md:378-424</a:t>
            </a:r>
          </a:p>
          <a:p xmlns:a="http://schemas.openxmlformats.org/drawingml/2006/main">
            <a:r>
              <a:t>eagle/generation/java_agent_generator.py:256-329</a:t>
            </a:r>
          </a:p>
          <a:p xmlns:a="http://schemas.openxmlformats.org/drawingml/2006/main">
            <a:r>
              <a:t>eagle/evaluation/microrts_runner.py:1-140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只有通過 materialization、validation、compilation 與 Integration 的候選才能進入對戰。每場有獨立衍生 seed、地圖、回合、位置與 timeout。每個對手欄位 18 場，矩陣依 canonical order 聚合。每張地圖 tick cap 會沿用到普通評估、AOS head-to-head 與 final test。候選的矩陣必須完整才有有效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docs/eagle_architecture_spec.md:425-459</a:t>
            </a:r>
          </a:p>
          <a:p xmlns:a="http://schemas.openxmlformats.org/drawingml/2006/main">
            <a:r>
              <a:t>eagle/evaluation/match_matrix.py:1-180</a:t>
            </a:r>
          </a:p>
          <a:p xmlns:a="http://schemas.openxmlformats.org/drawingml/2006/main">
            <a:r>
              <a:t>eagle/evaluation/matches.py:1-125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固定名單的三個弱基準各權重 0.5，三個 Rush 各 1，四個保護級對手各 2，總分母 12.5。這個報表加權平均不替代 lexicase 的十個分量。self-play 各欄位等權平均，語意只在同分範圍內輔助選擇。任一 required stage 失敗或矩陣未完成，fitness 使用 −1000 sentinel，部分對戰仍保留。AllInBot 被 adapter containment 的上游故障以中性零分和局記錄並另列 opponent 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docs/evaluation/game_performance.md:1-57</a:t>
            </a:r>
          </a:p>
          <a:p xmlns:a="http://schemas.openxmlformats.org/drawingml/2006/main">
            <a:r>
              <a:t>eagle/evaluation/game_performance.py:207-219</a:t>
            </a:r>
          </a:p>
          <a:p xmlns:a="http://schemas.openxmlformats.org/drawingml/2006/main">
            <a:r>
              <a:t>eagle/opponent_cases.py:22-70</a:t>
            </a:r>
          </a:p>
          <a:p xmlns:a="http://schemas.openxmlformats.org/drawingml/2006/main">
            <a:r>
              <a:t>docs/eagle_architecture_spec.md:451-459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對手名單由 SEARCH_OPPONENT_REGISTRY 定義，普通 fixed_roster 評估沒有從歷代策略抽換對手。進階基準權重只影響 Game Performance 報表代表，不讓它在 lexicase 過濾時自動重複或加權。Self-play 起始同樣使用這十個內建來源，但後續採另一個 pool 維護與快照抽樣機制。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docs/eagle_architecture_spec.md:433-459</a:t>
            </a:r>
          </a:p>
          <a:p xmlns:a="http://schemas.openxmlformats.org/drawingml/2006/main">
            <a:r>
              <a:t>eagle/opponents.py:1-145</a:t>
            </a:r>
          </a:p>
          <a:p xmlns:a="http://schemas.openxmlformats.org/drawingml/2006/main">
            <a:r>
              <a:t>eagle/opponent_cases.py:22-70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docs/eagle_architecture_spec.md:461-481</a:t>
            </a:r>
          </a:p>
          <a:p xmlns:a="http://schemas.openxmlformats.org/drawingml/2006/main">
            <a:r>
              <a:t>eagle/opponent_pool.py:22-35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docs/eagle_architecture_spec.md:482-511</a:t>
            </a:r>
          </a:p>
          <a:p xmlns:a="http://schemas.openxmlformats.org/drawingml/2006/main">
            <a:r>
              <a:t>eagle/opponent_pool.py:136-159</a:t>
            </a:r>
          </a:p>
          <a:p xmlns:a="http://schemas.openxmlformats.org/drawingml/2006/main">
            <a:r>
              <a:t>eagle/self_play.py:24-79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平常 reuse_cached 保留父代 Java 與分數，但 self-play 評估對手變更是必要例外。刷新時 Java 表型不重生，透過新 ID 複本保存重評結果，避免覆寫舊情境的證據。父代分數是繁殖選擇的輸入，所以刷新評估必須先完成。新舊 context 的分數不能直接混入同一選擇池；context 與 runtime/map 身分也用於快取與 resume 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eagle/evolution/generation.py:94-170</a:t>
            </a:r>
          </a:p>
          <a:p xmlns:a="http://schemas.openxmlformats.org/drawingml/2006/main">
            <a:r>
              <a:t>docs/eagle_architecture_spec.md:493-511</a:t>
            </a:r>
          </a:p>
          <a:p xmlns:a="http://schemas.openxmlformats.org/drawingml/2006/main">
            <a:r>
              <a:t>eagle/evolution/parent_refresh.py:1-160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第三列的 self-play refresh 是正常協定的一部分。第四列是明確的非正式診斷處理，將同一基因重新 materialize，因此同時量到 Java 再生成與對戰重新抽樣的總效應，不能視為只改變一個 selection 選項。舊父代 artifacts 不被覆寫，sidecar 保存來源與新複本 hash、評估和是否倖存。Deterministic DSL 與 framework_slots 不允許這個診斷模式。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docs/eagle_architecture_spec.md:124-140</a:t>
            </a:r>
          </a:p>
          <a:p xmlns:a="http://schemas.openxmlformats.org/drawingml/2006/main">
            <a:r>
              <a:t>eagle/evolution/parent_refresh.py:1-160</a:t>
            </a:r>
          </a:p>
          <a:p xmlns:a="http://schemas.openxmlformats.org/drawingml/2006/main">
            <a:r>
              <a:t>docs/architecture/evolutionary_flow.md:75-91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語意距離來自實際 Java 在固定 map×phase states 的動作，不是 LLM 的文字評分，也不是 code_quality。Dataset、probe 順序與 action hash 必須相容才比較。只在 inclusive 1.0 score tier 內破同分，不形成額外演化目標。精確相同行為可協助 pool 去重與離線等價類分析。探針開關與相關限制依設定驗證。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docs/eagle_architecture_spec.md:523-551</a:t>
            </a:r>
          </a:p>
          <a:p xmlns:a="http://schemas.openxmlformats.org/drawingml/2006/main">
            <a:r>
              <a:t>eagle/operators/selection.py:42-68</a:t>
            </a:r>
          </a:p>
          <a:p xmlns:a="http://schemas.openxmlformats.org/drawingml/2006/main">
            <a:r>
              <a:t>eagle/operators/selection.py:174-215</a:t>
            </a:r>
          </a:p>
          <a:p xmlns:a="http://schemas.openxmlformats.org/drawingml/2006/main">
            <a:r>
              <a:t>docs/architecture/overview.md:173-188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一般情況下父代與子代各 N，從 2N 中選 N，是 mu_plus_lambda。若所有子代失敗但仍有 N 位完成評估的父代，父代可以完整留下。Self-play 每層用剩餘者當前最高分作錨點，差距不超過 1.0 的人屬同一層；不以相鄰分數一路串接。例：100、99.2、98.4 只把前兩者歸在第一層。這個例子只解釋分層規則，不是實驗結果。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eagle/operators/selection.py:70-145</a:t>
            </a:r>
          </a:p>
          <a:p xmlns:a="http://schemas.openxmlformats.org/drawingml/2006/main">
            <a:r>
              <a:t>eagle/operators/selection.py:174-225</a:t>
            </a:r>
          </a:p>
          <a:p xmlns:a="http://schemas.openxmlformats.org/drawingml/2006/main">
            <a:r>
              <a:t>docs/eagle_architecture_spec.md:119-130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AOS 比較父代依 mutation context 的實際成分來源決定：Strategy 用 strategy_parent_id；預設 Prompt 用 generation_prompt_parent_id；inherited Prompt 用 java_parent_id。它不是直接父代列表的固定第一位。Opponent reward 是 execution-first：修復可執行性、破壞可執行性與雙方失敗各有對應分支，雙方成功才比較 rank。Head-to-head 只在 child 與比較父代都可執行時加 18 場；其分數不加入搜尋 fitness 或 final test，不能執行時走對應 reward。兩種 adaptive 模式都只改未來操作機率，不改 fitness 契約。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docs/eagle_architecture_spec.md:224-247</a:t>
            </a:r>
          </a:p>
          <a:p xmlns:a="http://schemas.openxmlformats.org/drawingml/2006/main">
            <a:r>
              <a:t>eagle/operators/adaptive.py:410-442</a:t>
            </a:r>
          </a:p>
          <a:p xmlns:a="http://schemas.openxmlformats.org/drawingml/2006/main">
            <a:r>
              <a:t>eagle/operators/adaptive.py:730-833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docs/eagle_architecture_spec.md:350-424</a:t>
            </a:r>
          </a:p>
          <a:p xmlns:a="http://schemas.openxmlformats.org/drawingml/2006/main">
            <a:r>
              <a:t>docs/evaluation/game_performance.md:33-40</a:t>
            </a:r>
          </a:p>
          <a:p xmlns:a="http://schemas.openxmlformats.org/drawingml/2006/main">
            <a:r>
              <a:t>eagle/operators/selection.py:99-123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eagle/run_artifacts.py:160-197</a:t>
            </a:r>
          </a:p>
          <a:p xmlns:a="http://schemas.openxmlformats.org/drawingml/2006/main">
            <a:r>
              <a:t>eagle/run_artifacts.py:363-375</a:t>
            </a:r>
          </a:p>
          <a:p xmlns:a="http://schemas.openxmlformats.org/drawingml/2006/main">
            <a:r>
              <a:t>docs/artifacts/artifact_schema.md:37-92</a:t>
            </a:r>
          </a:p>
          <a:p xmlns:a="http://schemas.openxmlformats.org/drawingml/2006/main">
            <a:r>
              <a:t>docs/eagle_architecture_spec.md:567-629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eagle/evolution/resume.py:1-150</a:t>
            </a:r>
          </a:p>
          <a:p xmlns:a="http://schemas.openxmlformats.org/drawingml/2006/main">
            <a:r>
              <a:t>eagle/run_artifacts.py:686-703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docs/architecture/framework_slots.md:140-149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eagle/config.py:863-879</a:t>
            </a:r>
          </a:p>
          <a:p xmlns:a="http://schemas.openxmlformats.org/drawingml/2006/main">
            <a:r>
              <a:t>eagle/experiment.py:355-540</a:t>
            </a:r>
          </a:p>
          <a:p xmlns:a="http://schemas.openxmlformats.org/drawingml/2006/main">
            <a:r>
              <a:t>docs/artifacts/artifact_schema.md:491-529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eagle/evaluation/determinism.py:1-170</a:t>
            </a:r>
          </a:p>
          <a:p xmlns:a="http://schemas.openxmlformats.org/drawingml/2006/main">
            <a:r>
              <a:t>eagle/execution.py:14-68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generations=20 包括 G0 初始化後的演化世代 1 到 20。stagnation 依 active selection-state signature 判斷，不是只看平均分數。正式 experiment run 在 EA 完成後執行 Final Test；mock 或 skip-final-test 可略過。Final Test 使用固定十內建對手與獨立 classes；明確 candidate-id 不可自動替代，預設末代無可執行策略才搜尋較新的已完成世代代表。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eagle/final_test.py:1-125</a:t>
            </a:r>
          </a:p>
          <a:p xmlns:a="http://schemas.openxmlformats.org/drawingml/2006/main">
            <a:r>
              <a:t>docs/evaluation/evaluation_pipeline.md:152-158</a:t>
            </a:r>
          </a:p>
          <a:p xmlns:a="http://schemas.openxmlformats.org/drawingml/2006/main">
            <a:r>
              <a:t>eagle/experiment.py:409-423</a:t>
            </a:r>
          </a:p>
          <a:p xmlns:a="http://schemas.openxmlformats.org/drawingml/2006/main">
            <a:r>
              <a:t>docs/operations/running_eagle.md:258-268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docs/evaluation/evaluation_pipeline.md:160-166</a:t>
            </a:r>
          </a:p>
          <a:p xmlns:a="http://schemas.openxmlformats.org/drawingml/2006/main">
            <a:r>
              <a:t>eagle/fixed_evaluation.py:1-170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docs/implementation/current_status.md:42-66</a:t>
            </a:r>
          </a:p>
          <a:p xmlns:a="http://schemas.openxmlformats.org/drawingml/2006/main">
            <a:r>
              <a:t>docs/architecture/evolutionary_flow.md:169-200</a:t>
            </a:r>
          </a:p>
          <a:p xmlns:a="http://schemas.openxmlformats.org/drawingml/2006/main">
            <a:r>
              <a:t>eagle/analysis/report.py:1-130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configs/framework_coach.yaml:1-98</a:t>
            </a:r>
          </a:p>
          <a:p xmlns:a="http://schemas.openxmlformats.org/drawingml/2006/main">
            <a:r>
              <a:t>eagle/config.py:580-658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36c8321f04b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c8170157d44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0ab27f2ef4a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a303e861544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329f935954f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eec3bb6cd48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849bfb8ac48a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c90ed33df4f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be1cd490e4fe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695ccb1a941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cabb660d548d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e1d043b48450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c2552c3134ba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363cfac51468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72bdb39ed406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e7047efbb462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40181af014e1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b6e21cc1c4992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D779401-8411-4F57-B364-00A08D3D0F7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EA91A40-BDBE-4EF8-AB1C-C163BF4B89C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F8BDA3-F257-4248-9C77-277658BEC42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5331F0-3B10-4BF6-A2A3-3DEA2BDE891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BDD597-05AF-4E7D-B7DE-872D8C1368D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1AA091-155C-4B49-B3CF-270208548CF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BA40DA-42D4-45CA-9121-B12303C8820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07BD56-5922-42EE-8673-E8BDB8AA8B1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4B2483-08AD-4AAB-8D54-B0244854A19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B59490-7503-487F-B730-A18C57E284F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CC836C-38EF-42B8-9F8F-EC9AB289588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BFBA9E9-D342-40B9-A850-43AECAABBC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完整演算法流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C45608E-360F-43AE-A70F-CBC25CFD9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1D113AC-898D-41F6-9ECC-A116F9851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CF84FE4-7AFF-4FB6-AD21-1081171453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8F2BF6A-101B-4C08-868D-51489139A0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迭代細節與失敗分支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E772812-B376-4292-B7DC-F69D6AFDD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3D1E37B-96ED-49CF-9885-14F28CA3B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4EEC0F-80BA-462F-9F3D-5DCF1BC97E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FE0DDD3-2014-44E4-BA86-0356DC208AC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實驗結果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D11E234-2890-4D9E-9BD1-FB90E5526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F821D3-F700-48E9-B364-4E3459167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5037F9F-C2C8-47F1-8EC8-69E886E326DE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3BCC7E98-58AF-4E44-825F-B1E83EFAB5F6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BD12D10-8171-4B26-AD3D-A8DB635BF2A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耗時與成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3C4424CD-B7CB-4152-8DE4-69A9C2CF9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B98FBC3-D73E-4FBC-9BF4-EDF7036886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0D76A34-2FB7-4768-B9A2-DD77D2C2FBA3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5B2DA84A-9CBE-4B1B-B2C5-436F38CDA074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F17160D-33C4-42A5-9A93-DE706AF69DB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5B43807-3063-4E37-B06D-A1600E3A7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DA31CE5-EE2A-4D77-9BB6-6D6982BAE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C98C6D-827D-47F0-B20C-B6B2776C8CED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[基準、方法、結果差、耗時差與控制條件]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8840C198-4883-4725-A761-9A9BF303D0D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[一個有證據的解讀與必要限制]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7EB90E6-BF7A-4F0E-8F35-02A99B74784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區間與逐次變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0A90EAA-49F5-4605-ACAA-3367CC8BD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3CAE9AC-B4FE-4539-A9D5-86FBF41F7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6378AEB-2BFE-4B58-A383-FD6B59F1CDFA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[日期／版本、before、after／目的、run、觀察影響]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04C6DF52-C32A-4039-B0E6-1CB40D6A7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[區間外基準的日期、版本、run ID 與選用原因]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4157F41-695F-4AAE-A7BD-E6182CD00A7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cd0119ba94349dc" /><Relationship Type="http://schemas.openxmlformats.org/officeDocument/2006/relationships/theme" Target="/ppt/slideMasters/theme/theme2.xml" Id="Rdd180eef14bb4354" /><Relationship Type="http://schemas.openxmlformats.org/officeDocument/2006/relationships/slideLayout" Target="/ppt/slideLayouts/slideLayout1.xml" Id="R4605eb8390e94c70" /><Relationship Type="http://schemas.openxmlformats.org/officeDocument/2006/relationships/slideLayout" Target="/ppt/slideLayouts/slideLayout2.xml" Id="R57efb38f14e3424a" /><Relationship Type="http://schemas.openxmlformats.org/officeDocument/2006/relationships/slideLayout" Target="/ppt/slideLayouts/slideLayout3.xml" Id="R11f328b136aa4ad1" /><Relationship Type="http://schemas.openxmlformats.org/officeDocument/2006/relationships/slideLayout" Target="/ppt/slideLayouts/slideLayout4.xml" Id="R9d7d09b4cb1b4add" /><Relationship Type="http://schemas.openxmlformats.org/officeDocument/2006/relationships/slideLayout" Target="/ppt/slideLayouts/slideLayout5.xml" Id="Rff7373d183884fba" /><Relationship Type="http://schemas.openxmlformats.org/officeDocument/2006/relationships/slideLayout" Target="/ppt/slideLayouts/slideLayout6.xml" Id="R276a21a627954678" /><Relationship Type="http://schemas.openxmlformats.org/officeDocument/2006/relationships/slideLayout" Target="/ppt/slideLayouts/slideLayout7.xml" Id="Rb8a339ff4b304023" /><Relationship Type="http://schemas.openxmlformats.org/officeDocument/2006/relationships/slideLayout" Target="/ppt/slideLayouts/slideLayout8.xml" Id="R4ec48468a7404020" /><Relationship Type="http://schemas.openxmlformats.org/officeDocument/2006/relationships/slideLayout" Target="/ppt/slideLayouts/slideLayout9.xml" Id="R7f715e22247b4f04" /><Relationship Type="http://schemas.openxmlformats.org/officeDocument/2006/relationships/slideLayout" Target="/ppt/slideLayouts/slideLayout10.xml" Id="R7ff49af34e984616" /><Relationship Type="http://schemas.openxmlformats.org/officeDocument/2006/relationships/slideLayout" Target="/ppt/slideLayouts/slideLayout11.xml" Id="Rba476796f42a4674" /><Relationship Type="http://schemas.openxmlformats.org/officeDocument/2006/relationships/slideLayout" Target="/ppt/slideLayouts/slideLayout12.xml" Id="Rbdef6b12f9f2427a" /><Relationship Type="http://schemas.openxmlformats.org/officeDocument/2006/relationships/slideLayout" Target="/ppt/slideLayouts/slideLayout13.xml" Id="R31f08bb25f784e0f" /><Relationship Type="http://schemas.openxmlformats.org/officeDocument/2006/relationships/slideLayout" Target="/ppt/slideLayouts/slideLayout14.xml" Id="Rf079b9c1657540f9" /><Relationship Type="http://schemas.openxmlformats.org/officeDocument/2006/relationships/slideLayout" Target="/ppt/slideLayouts/slideLayout15.xml" Id="Rb1778045c4d54d94" /><Relationship Type="http://schemas.openxmlformats.org/officeDocument/2006/relationships/slideLayout" Target="/ppt/slideLayouts/slideLayout16.xml" Id="Rc68f957ecf644149" /><Relationship Type="http://schemas.openxmlformats.org/officeDocument/2006/relationships/slideLayout" Target="/ppt/slideLayouts/slideLayout17.xml" Id="R50078b68c7f1474b" /><Relationship Type="http://schemas.openxmlformats.org/officeDocument/2006/relationships/slideLayout" Target="/ppt/slideLayouts/slideLayout18.xml" Id="R58c4b9829aab4613" /></Relationships>
</file>

<file path=ppt/slideMasters/slideMaster1.xml><?xml version="1.0" encoding="utf-8"?>
<p:sldMaster xmlns:p="http://schemas.openxmlformats.org/presentationml/2006/main">
  <p:cSld name="EAG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EAGLE geometric full-slide background">
            <a:extLst xmlns:a="http://schemas.openxmlformats.org/drawingml/2006/main">
              <a:ext uri="{FF2B5EF4-FFF2-40B4-BE49-F238E27FC236}">
                <a16:creationId xmlns:a16="http://schemas.microsoft.com/office/drawing/2014/main" id="{C96C8360-5EFA-4942-80A4-ED4AA69E3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0119ba943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05eb8390e94c70"/>
    <p:sldLayoutId xmlns:r="http://schemas.openxmlformats.org/officeDocument/2006/relationships" id="2147483650" r:id="R57efb38f14e3424a"/>
    <p:sldLayoutId xmlns:r="http://schemas.openxmlformats.org/officeDocument/2006/relationships" id="2147483651" r:id="R11f328b136aa4ad1"/>
    <p:sldLayoutId xmlns:r="http://schemas.openxmlformats.org/officeDocument/2006/relationships" id="2147483652" r:id="R9d7d09b4cb1b4add"/>
    <p:sldLayoutId xmlns:r="http://schemas.openxmlformats.org/officeDocument/2006/relationships" id="2147483653" r:id="Rff7373d183884fba"/>
    <p:sldLayoutId xmlns:r="http://schemas.openxmlformats.org/officeDocument/2006/relationships" id="2147483654" r:id="R276a21a627954678"/>
    <p:sldLayoutId xmlns:r="http://schemas.openxmlformats.org/officeDocument/2006/relationships" id="2147483655" r:id="Rb8a339ff4b304023"/>
    <p:sldLayoutId xmlns:r="http://schemas.openxmlformats.org/officeDocument/2006/relationships" id="2147483656" r:id="R4ec48468a7404020"/>
    <p:sldLayoutId xmlns:r="http://schemas.openxmlformats.org/officeDocument/2006/relationships" id="2147483657" r:id="R7f715e22247b4f04"/>
    <p:sldLayoutId xmlns:r="http://schemas.openxmlformats.org/officeDocument/2006/relationships" id="2147483658" r:id="R7ff49af34e984616"/>
    <p:sldLayoutId xmlns:r="http://schemas.openxmlformats.org/officeDocument/2006/relationships" id="2147483659" r:id="Rba476796f42a4674"/>
    <p:sldLayoutId xmlns:r="http://schemas.openxmlformats.org/officeDocument/2006/relationships" id="2147483660" r:id="Rbdef6b12f9f2427a"/>
    <p:sldLayoutId xmlns:r="http://schemas.openxmlformats.org/officeDocument/2006/relationships" id="2147483661" r:id="R31f08bb25f784e0f"/>
    <p:sldLayoutId xmlns:r="http://schemas.openxmlformats.org/officeDocument/2006/relationships" id="2147483662" r:id="Rf079b9c1657540f9"/>
    <p:sldLayoutId xmlns:r="http://schemas.openxmlformats.org/officeDocument/2006/relationships" id="2147483663" r:id="Rb1778045c4d54d94"/>
    <p:sldLayoutId xmlns:r="http://schemas.openxmlformats.org/officeDocument/2006/relationships" id="2147483664" r:id="Rc68f957ecf644149"/>
    <p:sldLayoutId xmlns:r="http://schemas.openxmlformats.org/officeDocument/2006/relationships" id="2147483665" r:id="R50078b68c7f1474b"/>
    <p:sldLayoutId xmlns:r="http://schemas.openxmlformats.org/officeDocument/2006/relationships" id="2147483666" r:id="R58c4b9829aab4613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2623d6a0c84887" /><Relationship Type="http://schemas.openxmlformats.org/officeDocument/2006/relationships/notesSlide" Target="/ppt/notesSlides/notesSlide1.xml" Id="R104a8b4b8e4646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6553f471954825" /><Relationship Type="http://schemas.openxmlformats.org/officeDocument/2006/relationships/notesSlide" Target="/ppt/notesSlides/notesSlide2.xml" Id="R89bd21d8f46749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5d18333bb1d4647" /><Relationship Type="http://schemas.openxmlformats.org/officeDocument/2006/relationships/notesSlide" Target="/ppt/notesSlides/notesSlide3.xml" Id="R10d7640326e5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6a56d2dd9147a7" /><Relationship Type="http://schemas.openxmlformats.org/officeDocument/2006/relationships/notesSlide" Target="/ppt/notesSlides/notesSlide4.xml" Id="R86c1266dbfeb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83d44895d946ab" /><Relationship Type="http://schemas.openxmlformats.org/officeDocument/2006/relationships/notesSlide" Target="/ppt/notesSlides/notesSlide5.xml" Id="Recafa32490384e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5e9afb69174d27" /><Relationship Type="http://schemas.openxmlformats.org/officeDocument/2006/relationships/notesSlide" Target="/ppt/notesSlides/notesSlide6.xml" Id="R2abe92ecbbde46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0e994e7de541cf" /><Relationship Type="http://schemas.openxmlformats.org/officeDocument/2006/relationships/notesSlide" Target="/ppt/notesSlides/notesSlide7.xml" Id="Rab7949fba31644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246dd8c9654f2c" /><Relationship Type="http://schemas.openxmlformats.org/officeDocument/2006/relationships/notesSlide" Target="/ppt/notesSlides/notesSlide8.xml" Id="Re4023a979e8344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9be7edc2bc4fe4" /><Relationship Type="http://schemas.openxmlformats.org/officeDocument/2006/relationships/notesSlide" Target="/ppt/notesSlides/notesSlide9.xml" Id="R6f9f5837256f45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64ecda96db4aa2" /><Relationship Type="http://schemas.openxmlformats.org/officeDocument/2006/relationships/notesSlide" Target="/ppt/notesSlides/notesSlide10.xml" Id="R39a80080e3564b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fd49eec5dc4fc7" /><Relationship Type="http://schemas.openxmlformats.org/officeDocument/2006/relationships/notesSlide" Target="/ppt/notesSlides/notesSlide11.xml" Id="Rfb1442b876074a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231ea939844efb" /><Relationship Type="http://schemas.openxmlformats.org/officeDocument/2006/relationships/notesSlide" Target="/ppt/notesSlides/notesSlide12.xml" Id="R00390304cc4e4c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a6c31e3441436b" /><Relationship Type="http://schemas.openxmlformats.org/officeDocument/2006/relationships/notesSlide" Target="/ppt/notesSlides/notesSlide13.xml" Id="Rd060d683d6674b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801ad6247e4403a" /><Relationship Type="http://schemas.openxmlformats.org/officeDocument/2006/relationships/notesSlide" Target="/ppt/notesSlides/notesSlide14.xml" Id="R1f35f39a50f14a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92bfe6b3ff43fc" /><Relationship Type="http://schemas.openxmlformats.org/officeDocument/2006/relationships/notesSlide" Target="/ppt/notesSlides/notesSlide15.xml" Id="Rcec008d6502e48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2edf9074d940e6" /><Relationship Type="http://schemas.openxmlformats.org/officeDocument/2006/relationships/notesSlide" Target="/ppt/notesSlides/notesSlide16.xml" Id="R3878175dba344c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533440adef4d8d" /><Relationship Type="http://schemas.openxmlformats.org/officeDocument/2006/relationships/notesSlide" Target="/ppt/notesSlides/notesSlide17.xml" Id="R071f2fa5fd4c45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41d8cc556f456f" /><Relationship Type="http://schemas.openxmlformats.org/officeDocument/2006/relationships/notesSlide" Target="/ppt/notesSlides/notesSlide18.xml" Id="R171ebadc495c46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225ecdc88b4e15" /><Relationship Type="http://schemas.openxmlformats.org/officeDocument/2006/relationships/notesSlide" Target="/ppt/notesSlides/notesSlide19.xml" Id="R9c54dd94cb834b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16676c2b374286" /><Relationship Type="http://schemas.openxmlformats.org/officeDocument/2006/relationships/notesSlide" Target="/ppt/notesSlides/notesSlide20.xml" Id="Rc2d6c3d0ca2942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0b61b5dc7c4930" /><Relationship Type="http://schemas.openxmlformats.org/officeDocument/2006/relationships/notesSlide" Target="/ppt/notesSlides/notesSlide21.xml" Id="Rd3a0093d5c4c40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c55214333e4289" /><Relationship Type="http://schemas.openxmlformats.org/officeDocument/2006/relationships/notesSlide" Target="/ppt/notesSlides/notesSlide22.xml" Id="R3c890041722244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c1854ea7514098" /><Relationship Type="http://schemas.openxmlformats.org/officeDocument/2006/relationships/notesSlide" Target="/ppt/notesSlides/notesSlide23.xml" Id="R1b8fc13d69a343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8088b493a14247" /><Relationship Type="http://schemas.openxmlformats.org/officeDocument/2006/relationships/notesSlide" Target="/ppt/notesSlides/notesSlide24.xml" Id="R8db0e553827745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f95456a3ab4691" /><Relationship Type="http://schemas.openxmlformats.org/officeDocument/2006/relationships/notesSlide" Target="/ppt/notesSlides/notesSlide25.xml" Id="R744826a712e540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dc38f272984b41" /><Relationship Type="http://schemas.openxmlformats.org/officeDocument/2006/relationships/notesSlide" Target="/ppt/notesSlides/notesSlide26.xml" Id="R02d71b21245946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ee36cfdd354b03" /><Relationship Type="http://schemas.openxmlformats.org/officeDocument/2006/relationships/notesSlide" Target="/ppt/notesSlides/notesSlide27.xml" Id="Rca7fae3bc6dd446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1a9cb6c4cc43e6" /><Relationship Type="http://schemas.openxmlformats.org/officeDocument/2006/relationships/notesSlide" Target="/ppt/notesSlides/notesSlide28.xml" Id="R9c558c74788b48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60047af8a34ec4" /><Relationship Type="http://schemas.openxmlformats.org/officeDocument/2006/relationships/notesSlide" Target="/ppt/notesSlides/notesSlide29.xml" Id="R8718e648269e45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4c0f4de8fd04db0" /><Relationship Type="http://schemas.openxmlformats.org/officeDocument/2006/relationships/notesSlide" Target="/ppt/notesSlides/notesSlide30.xml" Id="Rbb8d465aa0774ea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f287ab7315b4ea3" /><Relationship Type="http://schemas.openxmlformats.org/officeDocument/2006/relationships/notesSlide" Target="/ppt/notesSlides/notesSlide31.xml" Id="R3633e5910e0c424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32d4659b664fc2" /><Relationship Type="http://schemas.openxmlformats.org/officeDocument/2006/relationships/notesSlide" Target="/ppt/notesSlides/notesSlide32.xml" Id="R7414b61477144e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8b31e755b5e42e9" /><Relationship Type="http://schemas.openxmlformats.org/officeDocument/2006/relationships/notesSlide" Target="/ppt/notesSlides/notesSlide33.xml" Id="R6dc633169459468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96a3292c194943" /><Relationship Type="http://schemas.openxmlformats.org/officeDocument/2006/relationships/notesSlide" Target="/ppt/notesSlides/notesSlide34.xml" Id="Re4e0828bf545442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dcdbe16ce64897" /><Relationship Type="http://schemas.openxmlformats.org/officeDocument/2006/relationships/notesSlide" Target="/ppt/notesSlides/notesSlide35.xml" Id="Rd4d4c7d6e8744a7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61846ab8924206" /><Relationship Type="http://schemas.openxmlformats.org/officeDocument/2006/relationships/notesSlide" Target="/ppt/notesSlides/notesSlide36.xml" Id="Rca36896a4e66441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9f7a9fd1a5e4eb2" /><Relationship Type="http://schemas.openxmlformats.org/officeDocument/2006/relationships/notesSlide" Target="/ppt/notesSlides/notesSlide37.xml" Id="Rfa71620084eb4bd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064ddbb76a4265" /><Relationship Type="http://schemas.openxmlformats.org/officeDocument/2006/relationships/notesSlide" Target="/ppt/notesSlides/notesSlide38.xml" Id="R0045e324b12f4d6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0d1f9dd8e344de5" /><Relationship Type="http://schemas.openxmlformats.org/officeDocument/2006/relationships/notesSlide" Target="/ppt/notesSlides/notesSlide39.xml" Id="R5452479beb43408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3f9d17b1c28470b" /><Relationship Type="http://schemas.openxmlformats.org/officeDocument/2006/relationships/notesSlide" Target="/ppt/notesSlides/notesSlide40.xml" Id="R44e9eaad3973415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a8bfbf2b714972" /><Relationship Type="http://schemas.openxmlformats.org/officeDocument/2006/relationships/notesSlide" Target="/ppt/notesSlides/notesSlide41.xml" Id="R012479f269234b6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bd0a16de5c24841" /><Relationship Type="http://schemas.openxmlformats.org/officeDocument/2006/relationships/notesSlide" Target="/ppt/notesSlides/notesSlide42.xml" Id="Rc69f85ac05b74f3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b3a69a6190446a" /><Relationship Type="http://schemas.openxmlformats.org/officeDocument/2006/relationships/notesSlide" Target="/ppt/notesSlides/notesSlide43.xml" Id="R0c31354ea1cd426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fad252893240be" /><Relationship Type="http://schemas.openxmlformats.org/officeDocument/2006/relationships/notesSlide" Target="/ppt/notesSlides/notesSlide44.xml" Id="Rebcf14adea6441b8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9BF369ED-9E94-4BA1-9052-C88079B2B88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完整流程</a:t>
            </a:r>
          </a:p>
        </p:txBody>
      </p:sp>
      <p:sp>
        <p:nvSpPr>
          <p:cNvPr id="2" name="text-1">
            <a:extLst>
              <a:ext uri="{FF2B5EF4-FFF2-40B4-BE49-F238E27FC236}">
                <ns2:creationId id="{B094DDFB-DD56-4224-80A8-B647962F4937}"/>
              </a:ext>
            </a:extLst>
          </p:cNvPr>
          <p:cNvSpPr>
            <a:spLocks noGrp="1"/>
          </p:cNvSpPr>
          <p:nvPr/>
        </p:nvSpPr>
        <p:spPr>
          <a:xfrm>
            <a:off x="2047875" y="3105150"/>
            <a:ext cx="11830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策略、Java 與對戰證據的演化迴圈</a:t>
            </a:r>
          </a:p>
        </p:txBody>
      </p:sp>
      <p:sp>
        <p:nvSpPr>
          <p:cNvPr id="3" name="text-2">
            <a:extLst>
              <a:ext uri="{FF2B5EF4-FFF2-40B4-BE49-F238E27FC236}">
                <ns2:creationId id="{96EAA340-A560-4ED0-9CD3-06496D904022}"/>
              </a:ext>
            </a:extLst>
          </p:cNvPr>
          <p:cNvSpPr>
            <a:spLocks noGrp="1"/>
          </p:cNvSpPr>
          <p:nvPr/>
        </p:nvSpPr>
        <p:spPr>
          <a:xfrm>
            <a:off x="2476500" y="4981575"/>
            <a:ext cx="10972800" cy="16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離線演化 MicroRTS Java agent</a:t>
            </a:r>
          </a:p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三種 Java 產生模式與兩種評估模式</a:t>
            </a:r>
          </a:p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來源截點 2026-10-21　版本 fcc8b770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208813400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8" name="">
            <a:extLst>
              <a:ext uri="{FF2B5EF4-FFF2-40B4-BE49-F238E27FC236}">
                <ns2:creationId id="{3ADFE1A7-B518-4C2B-B9FA-FE3FF6C81D1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191125" y="71437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7" name="">
            <a:extLst>
              <a:ext uri="{FF2B5EF4-FFF2-40B4-BE49-F238E27FC236}">
                <ns2:creationId id="{D79C8B10-CEBB-4894-84CC-2087F25C64F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476625" y="5476875"/>
            <a:ext cx="0" cy="11906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F024F7D3-0696-4487-B1F3-CF30F9070E80}"/>
              </a:ext>
            </a:extLst>
          </p:cNvPr>
          <p:cNvCxnSpPr>
            <a:stCxn id="8" idx="0"/>
            <a:endCxn id="6" idx="0"/>
          </p:cNvCxnSpPr>
          <p:nvPr/>
        </p:nvCxnSpPr>
        <p:spPr>
          <a:xfrm>
            <a:off x="3476625" y="3790950"/>
            <a:ext cx="8953500" cy="733425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D036DA00-D403-4366-BFEE-0B17C5F6C2BE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5191125" y="50006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83D04A94-D4D7-4D66-9FFA-8F6C9CFE556A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9667875" y="50006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1CB44DEE-4701-40DD-80FC-F2483505D01D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2430125" y="3238500"/>
            <a:ext cx="0" cy="128587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B416CB9B-93D3-4051-A10C-BA13AD6D67B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9667875" y="27622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1D525973-5AFE-49BA-AB0B-A2FF2029F68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91125" y="27622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1" name="text-0">
            <a:extLst>
              <a:ext uri="{FF2B5EF4-FFF2-40B4-BE49-F238E27FC236}">
                <ns2:creationId id="{D1683118-3020-4991-9B0E-68882C63B1C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text-1">
            <a:extLst>
              <a:ext uri="{FF2B5EF4-FFF2-40B4-BE49-F238E27FC236}">
                <ns2:creationId id="{76D080F2-654E-4063-AD6A-30F899B3C3F1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初始化一次，之後重複世代迴圈</a:t>
            </a:r>
          </a:p>
        </p:txBody>
      </p:sp>
      <p:sp>
        <p:nvSpPr>
          <p:cNvPr id="3" name="config">
            <a:extLst>
              <a:ext uri="{FF2B5EF4-FFF2-40B4-BE49-F238E27FC236}">
                <ns2:creationId id="{725F1E00-93E6-408A-8FBC-3E9E25D4C795}"/>
              </a:ext>
            </a:extLst>
          </p:cNvPr>
          <p:cNvSpPr>
            <a:spLocks noGrp="1"/>
          </p:cNvSpPr>
          <p:nvPr/>
        </p:nvSpPr>
        <p:spPr>
          <a:xfrm>
            <a:off x="1762125" y="2286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設定與模型服務</a:t>
            </a:r>
          </a:p>
        </p:txBody>
      </p:sp>
      <p:sp>
        <p:nvSpPr>
          <p:cNvPr id="4" name="init">
            <a:extLst>
              <a:ext uri="{FF2B5EF4-FFF2-40B4-BE49-F238E27FC236}">
                <ns2:creationId id="{9BE01FC2-0252-4769-8368-7F5EECCCE1E6}"/>
              </a:ext>
            </a:extLst>
          </p:cNvPr>
          <p:cNvSpPr>
            <a:spLocks noGrp="1"/>
          </p:cNvSpPr>
          <p:nvPr/>
        </p:nvSpPr>
        <p:spPr>
          <a:xfrm>
            <a:off x="6238875" y="2286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初始化第 0 代</a:t>
            </a:r>
          </a:p>
        </p:txBody>
      </p:sp>
      <p:sp>
        <p:nvSpPr>
          <p:cNvPr id="5" name="eval">
            <a:extLst>
              <a:ext uri="{FF2B5EF4-FFF2-40B4-BE49-F238E27FC236}">
                <ns2:creationId id="{3A631D42-D0F7-4405-97F6-0F8E4E0857F8}"/>
              </a:ext>
            </a:extLst>
          </p:cNvPr>
          <p:cNvSpPr>
            <a:spLocks noGrp="1"/>
          </p:cNvSpPr>
          <p:nvPr/>
        </p:nvSpPr>
        <p:spPr>
          <a:xfrm>
            <a:off x="10715625" y="2286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產生 Java 與初始評估</a:t>
            </a:r>
          </a:p>
        </p:txBody>
      </p:sp>
      <p:sp>
        <p:nvSpPr>
          <p:cNvPr id="6" name="variation">
            <a:extLst>
              <a:ext uri="{FF2B5EF4-FFF2-40B4-BE49-F238E27FC236}">
                <ns2:creationId id="{405DBCC4-379A-4664-BAF3-FC5F496F7807}"/>
              </a:ext>
            </a:extLst>
          </p:cNvPr>
          <p:cNvSpPr>
            <a:spLocks noGrp="1"/>
          </p:cNvSpPr>
          <p:nvPr/>
        </p:nvSpPr>
        <p:spPr>
          <a:xfrm>
            <a:off x="10715625" y="452437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刷新情境、選父代與變異</a:t>
            </a:r>
          </a:p>
        </p:txBody>
      </p:sp>
      <p:sp>
        <p:nvSpPr>
          <p:cNvPr id="7" name="survive">
            <a:extLst>
              <a:ext uri="{FF2B5EF4-FFF2-40B4-BE49-F238E27FC236}">
                <ns2:creationId id="{91CCFD71-EFC8-46D3-90AD-E05BF0699D8C}"/>
              </a:ext>
            </a:extLst>
          </p:cNvPr>
          <p:cNvSpPr>
            <a:spLocks noGrp="1"/>
          </p:cNvSpPr>
          <p:nvPr/>
        </p:nvSpPr>
        <p:spPr>
          <a:xfrm>
            <a:off x="6238875" y="452437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子代評估、選倖存者</a:t>
            </a:r>
          </a:p>
        </p:txBody>
      </p:sp>
      <p:sp>
        <p:nvSpPr>
          <p:cNvPr id="8" name="stop">
            <a:extLst>
              <a:ext uri="{FF2B5EF4-FFF2-40B4-BE49-F238E27FC236}">
                <ns2:creationId id="{F65F4C5D-A953-499A-BE1F-45745B6715A1}"/>
              </a:ext>
            </a:extLst>
          </p:cNvPr>
          <p:cNvSpPr>
            <a:spLocks noGrp="1"/>
          </p:cNvSpPr>
          <p:nvPr/>
        </p:nvSpPr>
        <p:spPr>
          <a:xfrm>
            <a:off x="1762125" y="452437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達到停止條件？</a:t>
            </a:r>
          </a:p>
        </p:txBody>
      </p:sp>
      <p:sp>
        <p:nvSpPr>
          <p:cNvPr id="9" name="final">
            <a:extLst>
              <a:ext uri="{FF2B5EF4-FFF2-40B4-BE49-F238E27FC236}">
                <ns2:creationId id="{C44DE325-A0E9-4F04-B951-721EDA37616A}"/>
              </a:ext>
            </a:extLst>
          </p:cNvPr>
          <p:cNvSpPr>
            <a:spLocks noGrp="1"/>
          </p:cNvSpPr>
          <p:nvPr/>
        </p:nvSpPr>
        <p:spPr>
          <a:xfrm>
            <a:off x="1762125" y="6667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10" name="output">
            <a:extLst>
              <a:ext uri="{FF2B5EF4-FFF2-40B4-BE49-F238E27FC236}">
                <ns2:creationId id="{E5443E1D-853F-47FD-A7FE-80772425C9E3}"/>
              </a:ext>
            </a:extLst>
          </p:cNvPr>
          <p:cNvSpPr>
            <a:spLocks noGrp="1"/>
          </p:cNvSpPr>
          <p:nvPr/>
        </p:nvSpPr>
        <p:spPr>
          <a:xfrm>
            <a:off x="6238875" y="6667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摘要、譜系與證據檔</a:t>
            </a:r>
          </a:p>
        </p:txBody>
      </p:sp>
      <p:sp>
        <p:nvSpPr>
          <p:cNvPr id="19" name="text-18">
            <a:extLst>
              <a:ext uri="{FF2B5EF4-FFF2-40B4-BE49-F238E27FC236}">
                <ns2:creationId id="{0A917159-91AD-4BBE-BF1E-C4748684A597}"/>
              </a:ext>
            </a:extLst>
          </p:cNvPr>
          <p:cNvSpPr>
            <a:spLocks noGrp="1"/>
          </p:cNvSpPr>
          <p:nvPr/>
        </p:nvSpPr>
        <p:spPr>
          <a:xfrm>
            <a:off x="5524500" y="390525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0" name="text-19">
            <a:extLst>
              <a:ext uri="{FF2B5EF4-FFF2-40B4-BE49-F238E27FC236}">
                <ns2:creationId id="{8020A4F8-F023-4C0B-9295-7B37F4CD5003}"/>
              </a:ext>
            </a:extLst>
          </p:cNvPr>
          <p:cNvSpPr>
            <a:spLocks noGrp="1"/>
          </p:cNvSpPr>
          <p:nvPr/>
        </p:nvSpPr>
        <p:spPr>
          <a:xfrm>
            <a:off x="2381250" y="5905500"/>
            <a:ext cx="857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2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710220327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C08C0A5B-3DE7-4D00-A727-229A2AA0D51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模式設定與獨立的邊界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46172815-0F9B-4366-8F3D-BF7A6DF97249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4686300"/>
                <a:gridCol w="5334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可選值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決定的行為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產生方式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/ deterministic_dsl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framework_slots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翻譯、DSL 編譯或凍結模板填槽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的候選狀態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generated_phenotype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inherited_genotype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是否也是可繼承的基因成分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評估方式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fixed_roster / self_play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固定十對手案例或凍結自我對弈名單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演化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local / llm_coach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本地有限域操作或 LLM 完整 genome 選擇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204038358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56547CC-0982-406E-87FF-C25AFDBE2C8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候選個體保存的內容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18BDF8C0-7471-4E4D-8F80-8E39D3D1354C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4686300"/>
                <a:gridCol w="5334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演化中的基因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衍生表型與共同證據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預設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 DSL＋generation prompt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 Java、class tree、分數、失敗狀態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繼承 Java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 DSL＋generation prompt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＋完整 inherited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保存生成前 Java 與新產生 Java 的來源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 DSL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完整策略 DSL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版本化編譯器的 Java 與 hash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slots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 control_genome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凍結 bundle＋槽值渲染的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3:creationId val="1923223873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3" name="">
            <a:extLst>
              <a:ext uri="{FF2B5EF4-FFF2-40B4-BE49-F238E27FC236}">
                <ns2:creationId id="{4DCDFE51-F5EA-474B-BB10-2E8AB354720A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5191125" y="5262563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78B7D2D4-C80D-418A-BE7F-B46141E08FBF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9667875" y="5262563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4A0C3018-11AD-4F24-BF1D-DBAE4E2B426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2430125" y="333375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7DD52A96-A661-43D9-B37C-FF39A11F03B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9667875" y="285750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80069780-B4CC-4BBB-8355-E66BE810E9D8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91125" y="285750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5" name="text-0">
            <a:extLst>
              <a:ext uri="{FF2B5EF4-FFF2-40B4-BE49-F238E27FC236}">
                <ns2:creationId id="{931F3D45-9FF4-4AB7-AB3C-552F9D71F80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實驗啟動與信任檢查</a:t>
            </a:r>
          </a:p>
        </p:txBody>
      </p:sp>
      <p:sp>
        <p:nvSpPr>
          <p:cNvPr id="2" name="text-1">
            <a:extLst>
              <a:ext uri="{FF2B5EF4-FFF2-40B4-BE49-F238E27FC236}">
                <ns2:creationId id="{929A4FC2-DDAC-4794-BF3F-EB42DFA223D6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步驟僅在 framework_slots 模式執行</a:t>
            </a:r>
          </a:p>
        </p:txBody>
      </p:sp>
      <p:sp>
        <p:nvSpPr>
          <p:cNvPr id="3" name="yaml">
            <a:extLst>
              <a:ext uri="{FF2B5EF4-FFF2-40B4-BE49-F238E27FC236}">
                <ns2:creationId id="{61EBEFAD-0320-44B1-A46B-364B7E75797D}"/>
              </a:ext>
            </a:extLst>
          </p:cNvPr>
          <p:cNvSpPr>
            <a:spLocks noGrp="1"/>
          </p:cNvSpPr>
          <p:nvPr/>
        </p:nvSpPr>
        <p:spPr>
          <a:xfrm>
            <a:off x="1762125" y="2381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YAML、seed 與路徑</a:t>
            </a:r>
          </a:p>
        </p:txBody>
      </p:sp>
      <p:sp>
        <p:nvSpPr>
          <p:cNvPr id="4" name="valid">
            <a:extLst>
              <a:ext uri="{FF2B5EF4-FFF2-40B4-BE49-F238E27FC236}">
                <ns2:creationId id="{11532D98-6562-4F85-9514-239A4F1EB2ED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解析並驗證設定</a:t>
            </a:r>
          </a:p>
        </p:txBody>
      </p:sp>
      <p:sp>
        <p:nvSpPr>
          <p:cNvPr id="5" name="runtime">
            <a:extLst>
              <a:ext uri="{FF2B5EF4-FFF2-40B4-BE49-F238E27FC236}">
                <ns2:creationId id="{AB49176A-7353-454D-8CAD-E21146BE91E0}"/>
              </a:ext>
            </a:extLst>
          </p:cNvPr>
          <p:cNvSpPr>
            <a:spLocks noGrp="1"/>
          </p:cNvSpPr>
          <p:nvPr/>
        </p:nvSpPr>
        <p:spPr>
          <a:xfrm>
            <a:off x="10715625" y="2381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準備固定模型端點</a:t>
            </a:r>
          </a:p>
        </p:txBody>
      </p:sp>
      <p:sp>
        <p:nvSpPr>
          <p:cNvPr id="6" name="bundle">
            <a:extLst>
              <a:ext uri="{FF2B5EF4-FFF2-40B4-BE49-F238E27FC236}">
                <ns2:creationId id="{5D177CF6-B4CB-4461-A702-177B4426C056}"/>
              </a:ext>
            </a:extLst>
          </p:cNvPr>
          <p:cNvSpPr>
            <a:spLocks noGrp="1"/>
          </p:cNvSpPr>
          <p:nvPr/>
        </p:nvSpPr>
        <p:spPr>
          <a:xfrm>
            <a:off x="10715625" y="4667250"/>
            <a:ext cx="342900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Framework：載入或 bootstrap</a:t>
            </a:r>
          </a:p>
        </p:txBody>
      </p:sp>
      <p:sp>
        <p:nvSpPr>
          <p:cNvPr id="7" name="freeze">
            <a:extLst>
              <a:ext uri="{FF2B5EF4-FFF2-40B4-BE49-F238E27FC236}">
                <ns2:creationId id="{A2C5051E-B12C-4B03-84A2-72A7E0CED45C}"/>
              </a:ext>
            </a:extLst>
          </p:cNvPr>
          <p:cNvSpPr>
            <a:spLocks noGrp="1"/>
          </p:cNvSpPr>
          <p:nvPr/>
        </p:nvSpPr>
        <p:spPr>
          <a:xfrm>
            <a:off x="6238875" y="4667250"/>
            <a:ext cx="342900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凍結設定與 bundle 身分</a:t>
            </a:r>
          </a:p>
        </p:txBody>
      </p:sp>
      <p:sp>
        <p:nvSpPr>
          <p:cNvPr id="8" name="g0">
            <a:extLst>
              <a:ext uri="{FF2B5EF4-FFF2-40B4-BE49-F238E27FC236}">
                <ns2:creationId id="{FEA6A5CA-22C7-4937-8927-C599DF05865F}"/>
              </a:ext>
            </a:extLst>
          </p:cNvPr>
          <p:cNvSpPr>
            <a:spLocks noGrp="1"/>
          </p:cNvSpPr>
          <p:nvPr/>
        </p:nvSpPr>
        <p:spPr>
          <a:xfrm>
            <a:off x="1762125" y="4667250"/>
            <a:ext cx="342900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建立初始族群</a:t>
            </a:r>
          </a:p>
        </p:txBody>
      </p:sp>
      <p:sp>
        <p:nvSpPr>
          <p:cNvPr id="14" name="text-13">
            <a:extLst>
              <a:ext uri="{FF2B5EF4-FFF2-40B4-BE49-F238E27FC236}">
                <ns2:creationId id="{14308650-0E70-410B-B37D-8650D1B7ECC7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Preflight 或 bootstrap 失敗會留下證據，尚未開始正常演化</a:t>
            </a:r>
          </a:p>
        </p:txBody>
      </p:sp>
      <p:sp>
        <p:nvSpPr>
          <p:cNvPr id="1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3:creationId val="174274556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2644C1A-71E4-4BED-964D-85D60CA238B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角色與固定服務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20289411-84D8-4823-9574-B6A136F7BC6E}"/>
              </a:ext>
            </a:extLst>
          </p:cNvPr>
          <p:cNvGraphicFramePr/>
          <p:nvPr/>
        </p:nvGraphicFramePr>
        <p:xfrm>
          <a:off x="1571625" y="2152650"/>
          <a:ext cx="12782550" cy="5429250"/>
        </p:xfrm>
        <a:graphic>
          <a:graphicData uri="http://schemas.openxmlformats.org/drawingml/2006/table">
            <a:tbl>
              <a:tblPr/>
              <a:tblGrid>
                <a:gridCol w="3810000"/>
                <a:gridCol w="3619500"/>
                <a:gridCol w="5353050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角色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綁定的服務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主要輸入與輸出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初始策略、賽評與 Coach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model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策略／對戰證據，輸出策略或完整 genome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gate 診斷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model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來源 policy 與 Java，輸出忠實度／正確性診斷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Prompt Reviewer／Rewriter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model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與 API 診斷，輸出 reusable-rule delta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生成、修正與編譯修復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generation_model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省略時共用 model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基因與約束，輸出完整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bootstrap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bootstrap backend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design_brief，輸出 bundle；搜尋前執行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3:creationId val="1269350589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1D3A3713-0CF9-478C-8572-DCCAD16B61AD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834063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7335C0DE-0E02-456A-AEA7-09DBCB73BBAF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67875" y="5834063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DD203CB4-C2DF-4A00-B871-23356871801B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30125" y="3857625"/>
            <a:ext cx="0" cy="14287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24260F87-9B80-4DF2-9B0B-21EA7ECED18E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3286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2AC32968-B91F-4A62-9990-1A7CBA4AFF5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286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FF08D822-8882-4D83-B689-14704905F949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相依關係驅動的串流執行</a:t>
            </a:r>
          </a:p>
        </p:txBody>
      </p:sp>
      <p:sp>
        <p:nvSpPr>
          <p:cNvPr id="2" name="gate">
            <a:extLst>
              <a:ext uri="{FF2B5EF4-FFF2-40B4-BE49-F238E27FC236}">
                <ns2:creationId id="{6622FA15-D612-4DAA-93D9-2D3EBAAD733D}"/>
              </a:ext>
            </a:extLst>
          </p:cNvPr>
          <p:cNvSpPr>
            <a:spLocks noGrp="1"/>
          </p:cNvSpPr>
          <p:nvPr/>
        </p:nvSpPr>
        <p:spPr>
          <a:xfrm>
            <a:off x="1762125" y="2714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來源檢查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個有界 worker</a:t>
            </a:r>
          </a:p>
        </p:txBody>
      </p:sp>
      <p:sp>
        <p:nvSpPr>
          <p:cNvPr id="3" name="prepare">
            <a:extLst>
              <a:ext uri="{FF2B5EF4-FFF2-40B4-BE49-F238E27FC236}">
                <ns2:creationId id="{1E3A5384-99F1-4470-B97A-BCCA0153CC97}"/>
              </a:ext>
            </a:extLst>
          </p:cNvPr>
          <p:cNvSpPr>
            <a:spLocks noGrp="1"/>
          </p:cNvSpPr>
          <p:nvPr/>
        </p:nvSpPr>
        <p:spPr>
          <a:xfrm>
            <a:off x="6238875" y="2714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每個子代反思、生成與編譯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個 preparation worker</a:t>
            </a:r>
          </a:p>
        </p:txBody>
      </p:sp>
      <p:sp>
        <p:nvSpPr>
          <p:cNvPr id="4" name="match">
            <a:extLst>
              <a:ext uri="{FF2B5EF4-FFF2-40B4-BE49-F238E27FC236}">
                <ns2:creationId id="{E9446B77-9FDD-44CA-9E55-2CC5950CAF57}"/>
              </a:ext>
            </a:extLst>
          </p:cNvPr>
          <p:cNvSpPr>
            <a:spLocks noGrp="1"/>
          </p:cNvSpPr>
          <p:nvPr/>
        </p:nvSpPr>
        <p:spPr>
          <a:xfrm>
            <a:off x="10715625" y="2714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就緒候選進入對戰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個矩陣、10 個 match worker</a:t>
            </a:r>
          </a:p>
        </p:txBody>
      </p:sp>
      <p:sp>
        <p:nvSpPr>
          <p:cNvPr id="5" name="ordered">
            <a:extLst>
              <a:ext uri="{FF2B5EF4-FFF2-40B4-BE49-F238E27FC236}">
                <ns2:creationId id="{22003DB2-C6AB-450D-9AE5-899E04064E8B}"/>
              </a:ext>
            </a:extLst>
          </p:cNvPr>
          <p:cNvSpPr>
            <a:spLocks noGrp="1"/>
          </p:cNvSpPr>
          <p:nvPr/>
        </p:nvSpPr>
        <p:spPr>
          <a:xfrm>
            <a:off x="10715625" y="5286375"/>
            <a:ext cx="3429000" cy="109537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依固定 candidate 順序收結果</a:t>
            </a:r>
          </a:p>
        </p:txBody>
      </p:sp>
      <p:sp>
        <p:nvSpPr>
          <p:cNvPr id="6" name="commit">
            <a:extLst>
              <a:ext uri="{FF2B5EF4-FFF2-40B4-BE49-F238E27FC236}">
                <ns2:creationId id="{3CF386AA-9566-4339-828B-DCF4C3AB8092}"/>
              </a:ext>
            </a:extLst>
          </p:cNvPr>
          <p:cNvSpPr>
            <a:spLocks noGrp="1"/>
          </p:cNvSpPr>
          <p:nvPr/>
        </p:nvSpPr>
        <p:spPr>
          <a:xfrm>
            <a:off x="6238875" y="5286375"/>
            <a:ext cx="3429000" cy="109537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AOS、選擇、pool 更新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與世代原子保存</a:t>
            </a:r>
          </a:p>
        </p:txBody>
      </p:sp>
      <p:sp>
        <p:nvSpPr>
          <p:cNvPr id="7" name="next">
            <a:extLst>
              <a:ext uri="{FF2B5EF4-FFF2-40B4-BE49-F238E27FC236}">
                <ns2:creationId id="{461EC10D-F0ED-4437-8C30-F29E616727A5}"/>
              </a:ext>
            </a:extLst>
          </p:cNvPr>
          <p:cNvSpPr>
            <a:spLocks noGrp="1"/>
          </p:cNvSpPr>
          <p:nvPr/>
        </p:nvSpPr>
        <p:spPr>
          <a:xfrm>
            <a:off x="1762125" y="5286375"/>
            <a:ext cx="3429000" cy="109537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下一世代</a:t>
            </a:r>
          </a:p>
        </p:txBody>
      </p:sp>
      <p:sp>
        <p:nvSpPr>
          <p:cNvPr id="13" name="text-12">
            <a:extLst>
              <a:ext uri="{FF2B5EF4-FFF2-40B4-BE49-F238E27FC236}">
                <ns2:creationId id="{73C668F6-163D-468B-8A81-34E0CF482CCA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固定模型端點與固定輸入順序，允許有相依關係的工作安全重疊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1040134690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1F02ED45-4541-4E60-A5C4-918A790D8D0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第 0 代的建立方式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A5E95DAE-F991-41BD-A413-6DC17FDF13A6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524250"/>
                <a:gridCol w="5067300"/>
                <a:gridCol w="4191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分支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初始族群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預設 phenotype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configured seed policy 各一位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不自動複製補滿人口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checked-in callable no-op seed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不呼叫 Generator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inherited / seeds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 policy 複製至 population_size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每位獨立呼叫 Generator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llm_generated_policies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保留全部設定 seed policies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剩餘名額由 LLM 產生並去重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模式逐位 Generator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 模式本地編譯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 / Framework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DSL：設定或 LLM 產生的 policy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Framework：每槽位一個完整 genome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本地編譯或本地渲染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98534978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FC697A75-5E83-4FDF-9C39-1AB18BA1C4B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 DSL 的執行語意</a:t>
            </a:r>
          </a:p>
        </p:txBody>
      </p:sp>
      <p:sp>
        <p:nvSpPr>
          <p:cNvPr id="2" name="text-1">
            <a:extLst>
              <a:ext uri="{FF2B5EF4-FFF2-40B4-BE49-F238E27FC236}">
                <ns2:creationId id="{FADEC627-B2A0-4AB5-AAF1-4976F8AAF060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version 固定為 eagle-strategy-dsl-v1，規則依序包含 actor、when、action</a:t>
            </a:r>
          </a:p>
        </p:txBody>
      </p:sp>
      <p:sp>
        <p:nvSpPr>
          <p:cNvPr id="3" name="text-2">
            <a:extLst>
              <a:ext uri="{FF2B5EF4-FFF2-40B4-BE49-F238E27FC236}">
                <ns2:creationId id="{817F193E-5E5B-4D02-A316-8591BFC9AF17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先匹配單位與條件，再檢查內建合法動作限制；無法發出動作時繼續後續規則</a:t>
            </a:r>
          </a:p>
        </p:txBody>
      </p:sp>
      <p:sp>
        <p:nvSpPr>
          <p:cNvPr id="4" name="text-3">
            <a:extLst>
              <a:ext uri="{FF2B5EF4-FFF2-40B4-BE49-F238E27FC236}">
                <ns2:creationId id="{41ABC555-061C-4AA6-BB84-0C5E3E76B62E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策略離線轉成 Java；對戰時直接執行 Java，空 rules 代表 idle</a:t>
            </a:r>
          </a:p>
        </p:txBody>
      </p:sp>
      <p:sp>
        <p:nvSpPr>
          <p:cNvPr id="5" name="text-4">
            <a:extLst>
              <a:ext uri="{FF2B5EF4-FFF2-40B4-BE49-F238E27FC236}">
                <ns2:creationId id="{F3BDBCDE-2E86-490A-9884-875D2CF18228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產生的新策略必須通過詞彙與結構驗證，歷史自然語言策略僅供讀取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25194113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2953A2AD-DD52-4B62-922E-B9EC7B5D69C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9667875" y="54292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E14BABCD-1D19-43D6-A9E3-6C0EE893644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91125" y="54292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C9A00DA9-56FD-4025-8DC7-26D4D0F43B95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12430125" y="352425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23C356F7-E825-48B1-8EA6-816274F9B5C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29527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813B2390-7959-4CF0-97B7-29025F10C6E6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5A379C9C-C49F-42C2-9B5D-3EBC179CDF7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的一次性建立與凍結</a:t>
            </a:r>
          </a:p>
        </p:txBody>
      </p:sp>
      <p:sp>
        <p:nvSpPr>
          <p:cNvPr id="2" name="brief">
            <a:extLst>
              <a:ext uri="{FF2B5EF4-FFF2-40B4-BE49-F238E27FC236}">
                <ns2:creationId id="{BFE05C4D-CE67-4E72-9E97-CB07BAAD4049}"/>
              </a:ext>
            </a:extLst>
          </p:cNvPr>
          <p:cNvSpPr>
            <a:spLocks noGrp="1"/>
          </p:cNvSpPr>
          <p:nvPr/>
        </p:nvSpPr>
        <p:spPr>
          <a:xfrm>
            <a:off x="1762125" y="2381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未指定 bundle_path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design_brief</a:t>
            </a:r>
          </a:p>
        </p:txBody>
      </p:sp>
      <p:sp>
        <p:nvSpPr>
          <p:cNvPr id="3" name="backend">
            <a:extLst>
              <a:ext uri="{FF2B5EF4-FFF2-40B4-BE49-F238E27FC236}">
                <ns2:creationId id="{92AB343B-B36C-4FAB-92ED-76568D99407B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Groq / Mistral / local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 bootstrap</a:t>
            </a:r>
          </a:p>
        </p:txBody>
      </p:sp>
      <p:sp>
        <p:nvSpPr>
          <p:cNvPr id="4" name="validate">
            <a:extLst>
              <a:ext uri="{FF2B5EF4-FFF2-40B4-BE49-F238E27FC236}">
                <ns2:creationId id="{66B5B2B2-7A42-499D-9827-6288A5118608}"/>
              </a:ext>
            </a:extLst>
          </p:cNvPr>
          <p:cNvSpPr>
            <a:spLocks noGrp="1"/>
          </p:cNvSpPr>
          <p:nvPr/>
        </p:nvSpPr>
        <p:spPr>
          <a:xfrm>
            <a:off x="10715625" y="2381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schema 與 Java 檢查</a:t>
            </a:r>
          </a:p>
        </p:txBody>
      </p:sp>
      <p:sp>
        <p:nvSpPr>
          <p:cNvPr id="5" name="external">
            <a:extLst>
              <a:ext uri="{FF2B5EF4-FFF2-40B4-BE49-F238E27FC236}">
                <ns2:creationId id="{C134E5B9-7CC6-4FF5-BE4B-76A328ECA144}"/>
              </a:ext>
            </a:extLst>
          </p:cNvPr>
          <p:cNvSpPr>
            <a:spLocks noGrp="1"/>
          </p:cNvSpPr>
          <p:nvPr/>
        </p:nvSpPr>
        <p:spPr>
          <a:xfrm>
            <a:off x="1762125" y="48577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已有 bundle_path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讀取外部 bundle</a:t>
            </a:r>
          </a:p>
        </p:txBody>
      </p:sp>
      <p:sp>
        <p:nvSpPr>
          <p:cNvPr id="6" name="externalcheck">
            <a:extLst>
              <a:ext uri="{FF2B5EF4-FFF2-40B4-BE49-F238E27FC236}">
                <ns2:creationId id="{38A54C35-D341-4180-8BE9-321C29C4F25B}"/>
              </a:ext>
            </a:extLst>
          </p:cNvPr>
          <p:cNvSpPr>
            <a:spLocks noGrp="1"/>
          </p:cNvSpPr>
          <p:nvPr/>
        </p:nvSpPr>
        <p:spPr>
          <a:xfrm>
            <a:off x="6238875" y="48577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schema 與 Java 檢查</a:t>
            </a:r>
          </a:p>
        </p:txBody>
      </p:sp>
      <p:sp>
        <p:nvSpPr>
          <p:cNvPr id="7" name="ea">
            <a:extLst>
              <a:ext uri="{FF2B5EF4-FFF2-40B4-BE49-F238E27FC236}">
                <ns2:creationId id="{67C83678-5224-4B18-BB32-06185B13115F}"/>
              </a:ext>
            </a:extLst>
          </p:cNvPr>
          <p:cNvSpPr>
            <a:spLocks noGrp="1"/>
          </p:cNvSpPr>
          <p:nvPr/>
        </p:nvSpPr>
        <p:spPr>
          <a:xfrm>
            <a:off x="10715625" y="48577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exact bytes 與 hash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開始 genome 演化</a:t>
            </a:r>
          </a:p>
        </p:txBody>
      </p:sp>
      <p:sp>
        <p:nvSpPr>
          <p:cNvPr id="13" name="text-12">
            <a:extLst>
              <a:ext uri="{FF2B5EF4-FFF2-40B4-BE49-F238E27FC236}">
                <ns2:creationId id="{1A3237EC-DE81-43A7-B18B-0ED9F85BC9C1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Bootstrap 屬於搜尋啟動階段；EA 只改 control_genome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95263209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24C2A9B-6F12-4895-B155-F60DABBEBBD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05DD8EF2-89F1-4B69-802B-EA5AE1871D01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4686300"/>
                <a:gridCol w="5334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槽位類型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合法值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演化時保存的內容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integer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minimum 到 maximum 的 step 格點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一個合法整數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number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minimum 到 maximum 的有限格點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一個合法數值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expression_choice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bundle 事先宣告的 choices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choice_id；Java expression 保持凍結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 genome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slot_id 恰好一次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拒絕缺項、未知 key 與越界值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3:creationId val="48464520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E931D38A-ADD5-4921-9C20-DA349765E3C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與 llm_coach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29077A16-601D-42EC-A47A-BB150B647257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10150"/>
                <a:gridCol w="50101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local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llm_coach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初始族群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seeded 有限域採樣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每位選完整合法 genome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交配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逐槽獨立 uniform crossover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同樣逐槽交配並記錄 donor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策略突變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至多一個槽位改成另一合法值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最差單場賽評＋Coach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回傳完整 genome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與失敗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本地渲染，沒有 LLM 修復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本地渲染；非法 Coach 回應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保留原 genome 並標記失敗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573127179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A70F5908-4730-4401-8B3A-001D9EAC400F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476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463273C1-EBC6-47F3-A7CB-8BB902C7552A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67875" y="5476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855142A4-A581-44F8-99CA-FA69736F52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30125" y="3476625"/>
            <a:ext cx="0" cy="14287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37BCC255-EBDA-4155-9910-1309EFADD28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E8E89707-427E-431A-8E7A-74191C3922C4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6BC12EF4-2881-45B2-8E9F-0A4BE34FE1C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每一個演化世代</a:t>
            </a:r>
          </a:p>
        </p:txBody>
      </p:sp>
      <p:sp>
        <p:nvSpPr>
          <p:cNvPr id="2" name="context">
            <a:extLst>
              <a:ext uri="{FF2B5EF4-FFF2-40B4-BE49-F238E27FC236}">
                <ns2:creationId id="{AFCA43C5-EB56-40BC-BEE6-E9CB6440914F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必要時刷新 self-play 情境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先重評父代</a:t>
            </a:r>
          </a:p>
        </p:txBody>
      </p:sp>
      <p:sp>
        <p:nvSpPr>
          <p:cNvPr id="3" name="parents">
            <a:extLst>
              <a:ext uri="{FF2B5EF4-FFF2-40B4-BE49-F238E27FC236}">
                <ns2:creationId id="{DA7068FF-CB42-4D28-949C-D1876A798E64}"/>
              </a:ext>
            </a:extLst>
          </p:cNvPr>
          <p:cNvSpPr>
            <a:spLocks noGrp="1"/>
          </p:cNvSpPr>
          <p:nvPr/>
        </p:nvSpPr>
        <p:spPr>
          <a:xfrm>
            <a:off x="623887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依評估模式選父代</a:t>
            </a:r>
          </a:p>
        </p:txBody>
      </p:sp>
      <p:sp>
        <p:nvSpPr>
          <p:cNvPr id="4" name="ops">
            <a:extLst>
              <a:ext uri="{FF2B5EF4-FFF2-40B4-BE49-F238E27FC236}">
                <ns2:creationId id="{72A80E1A-422B-453A-A333-0DBC1CBF9F7A}"/>
              </a:ext>
            </a:extLst>
          </p:cNvPr>
          <p:cNvSpPr>
            <a:spLocks noGrp="1"/>
          </p:cNvSpPr>
          <p:nvPr/>
        </p:nvSpPr>
        <p:spPr>
          <a:xfrm>
            <a:off x="107156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Java 模式交配與突變</a:t>
            </a:r>
          </a:p>
        </p:txBody>
      </p:sp>
      <p:sp>
        <p:nvSpPr>
          <p:cNvPr id="5" name="evaluate">
            <a:extLst>
              <a:ext uri="{FF2B5EF4-FFF2-40B4-BE49-F238E27FC236}">
                <ns2:creationId id="{30D05E71-905C-4D57-AE54-D6495590993C}"/>
              </a:ext>
            </a:extLst>
          </p:cNvPr>
          <p:cNvSpPr>
            <a:spLocks noGrp="1"/>
          </p:cNvSpPr>
          <p:nvPr/>
        </p:nvSpPr>
        <p:spPr>
          <a:xfrm>
            <a:off x="1071562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每個子代產生 Java 並評估</a:t>
            </a:r>
          </a:p>
        </p:txBody>
      </p:sp>
      <p:sp>
        <p:nvSpPr>
          <p:cNvPr id="6" name="select">
            <a:extLst>
              <a:ext uri="{FF2B5EF4-FFF2-40B4-BE49-F238E27FC236}">
                <ns2:creationId id="{606DC6BB-760F-48C5-A3E9-F03574E019EC}"/>
              </a:ext>
            </a:extLst>
          </p:cNvPr>
          <p:cNvSpPr>
            <a:spLocks noGrp="1"/>
          </p:cNvSpPr>
          <p:nvPr/>
        </p:nvSpPr>
        <p:spPr>
          <a:xfrm>
            <a:off x="623887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父代＋子代選下一代</a:t>
            </a:r>
          </a:p>
        </p:txBody>
      </p:sp>
      <p:sp>
        <p:nvSpPr>
          <p:cNvPr id="7" name="save">
            <a:extLst>
              <a:ext uri="{FF2B5EF4-FFF2-40B4-BE49-F238E27FC236}">
                <ns2:creationId id="{B51532CB-729D-4D8C-BEC7-2F5390D52276}"/>
              </a:ext>
            </a:extLst>
          </p:cNvPr>
          <p:cNvSpPr>
            <a:spLocks noGrp="1"/>
          </p:cNvSpPr>
          <p:nvPr/>
        </p:nvSpPr>
        <p:spPr>
          <a:xfrm>
            <a:off x="176212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 與 checkpoint</a:t>
            </a:r>
          </a:p>
        </p:txBody>
      </p:sp>
      <p:sp>
        <p:nvSpPr>
          <p:cNvPr id="13" name="text-12">
            <a:extLst>
              <a:ext uri="{FF2B5EF4-FFF2-40B4-BE49-F238E27FC236}">
                <ns2:creationId id="{14F86039-8C46-4AEE-8C27-6EE999DD14E6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人口為 10 的例子：10 位父代＋10 位子代，選出 10 位下一代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25430128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EB858CBB-4D22-4A7B-A41E-C7B27940C93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繁殖父代如何選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A60DD9D4-F64E-4DDD-AA32-47E2D38C4CB2}"/>
              </a:ext>
            </a:extLst>
          </p:cNvPr>
          <p:cNvGraphicFramePr/>
          <p:nvPr/>
        </p:nvGraphicFramePr>
        <p:xfrm>
          <a:off x="1571625" y="2152650"/>
          <a:ext cx="12782550" cy="4038600"/>
        </p:xfrm>
        <a:graphic>
          <a:graphicData uri="http://schemas.openxmlformats.org/drawingml/2006/table">
            <a:tbl>
              <a:tblPr/>
              <a:tblGrid>
                <a:gridCol w="2762250"/>
                <a:gridCol w="5010150"/>
                <a:gridCol w="50101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第一父代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第二父代與限制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 roster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隨機排列十個案例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依序留下當案最高分者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獨立 seeded lexicase 抽樣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可與第一父代相同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距最高 Game Performance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不超過 1.0 的頂層中選取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同分層內可優先選與第一父代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行為距離較遠者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共同規則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使用當前已評估族群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root seed 衍生獨立 RNG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父代選擇不讀 code_quality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146666315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61778A2F-C31C-46BA-BCB2-EE3D5BF66FA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Lexicase 的案例篩選示例</a:t>
            </a:r>
          </a:p>
        </p:txBody>
      </p:sp>
      <p:sp>
        <p:nvSpPr>
          <p:cNvPr id="2" name="text-1">
            <a:extLst>
              <a:ext uri="{FF2B5EF4-FFF2-40B4-BE49-F238E27FC236}">
                <ns2:creationId id="{2578D10B-35B8-4FC1-AEC8-5B17EF4459AB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教學示例，非實驗量測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584B5471-BD84-47D2-B2F1-818EB09936B5}"/>
              </a:ext>
            </a:extLst>
          </p:cNvPr>
          <p:cNvGraphicFramePr/>
          <p:nvPr/>
        </p:nvGraphicFramePr>
        <p:xfrm>
          <a:off x="1571625" y="2152650"/>
          <a:ext cx="12782550" cy="4038600"/>
        </p:xfrm>
        <a:graphic>
          <a:graphicData uri="http://schemas.openxmlformats.org/drawingml/2006/table">
            <a:tbl>
              <a:tblPr/>
              <a:tblGrid>
                <a:gridCol w="4191000"/>
                <a:gridCol w="4295775"/>
                <a:gridCol w="42957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候選策略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對手案例 X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對手案例 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95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>
              <a:ext uri="{FF2B5EF4-FFF2-40B4-BE49-F238E27FC236}">
                <ns2:creationId id="{CD093B45-DF82-4A10-97F9-42F52229D73C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順序 X、Y 選 B；順序 Y、X 選 C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855236970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5E7D1781-8BBA-447C-952A-04A39FECABE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9A021A4-6F44-42C0-87D3-C64F744B590D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143250"/>
                <a:gridCol w="4781550"/>
                <a:gridCol w="48577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交配單位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必須保留的來源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phenotype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策略與 generation prompt 各自選 A 或 B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strategy_parent_id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generation_prompt_parent_id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inherited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再獨立選完整 Java 成分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另保留 java_parent_id 與生成前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 DSL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整個 policy 的複製／交配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完整策略來源；不做 rule 級交配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slots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slot 分別選 A 或 B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slot_parent_ids；Coach 另記 evidence parent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</a:p>
        </p:txBody>
      </p:sp>
    </p:spTree>
    <p:extLst>
      <p:ext uri="{BB962C8B-B14F-4D97-AF65-F5344CB8AC3E}">
        <ns3:creationId val="1225093842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C49CF96F-15A2-426E-A9D1-3E4A4477A0BD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9667875" y="5476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52AAF656-E709-48F3-91E4-AC97293DEB29}"/>
              </a:ext>
            </a:extLst>
          </p:cNvPr>
          <p:cNvCxnSpPr>
            <a:stCxn id="3" idx="1"/>
            <a:endCxn id="6" idx="0"/>
          </p:cNvCxnSpPr>
          <p:nvPr/>
        </p:nvCxnSpPr>
        <p:spPr>
          <a:xfrm flipH="1">
            <a:off x="3476625" y="2905125"/>
            <a:ext cx="2762250" cy="2000250"/>
          </a:xfrm>
          <a:prstGeom prst="bentConnector4">
            <a:avLst>
              <a:gd name="adj1" fmla="val 8276"/>
              <a:gd name="adj2" fmla="val 88571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BFC59C76-D3CC-4DFF-92AF-DB9AC37B336D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7953375" y="3476625"/>
            <a:ext cx="0" cy="14287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FB7F091E-E5EF-46EE-8E75-3DAC4FB06D6D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D2E41F24-BCA7-4A7F-9700-70495981147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A99FF0C8-300A-47C9-9339-7370FA9A64B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source">
            <a:extLst>
              <a:ext uri="{FF2B5EF4-FFF2-40B4-BE49-F238E27FC236}">
                <ns2:creationId id="{306E8EEF-1176-4414-BE0C-E15A180FF849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每個被選中的來源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自己的 policy＋自己的 Java</a:t>
            </a:r>
          </a:p>
        </p:txBody>
      </p:sp>
      <p:sp>
        <p:nvSpPr>
          <p:cNvPr id="3" name="gate">
            <a:extLst>
              <a:ext uri="{FF2B5EF4-FFF2-40B4-BE49-F238E27FC236}">
                <ns2:creationId id="{2A14F426-D3EA-4B62-9E2F-8E569A0CC648}"/>
              </a:ext>
            </a:extLst>
          </p:cNvPr>
          <p:cNvSpPr>
            <a:spLocks noGrp="1"/>
          </p:cNvSpPr>
          <p:nvPr/>
        </p:nvSpPr>
        <p:spPr>
          <a:xfrm>
            <a:off x="623887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Code 診斷</a:t>
            </a:r>
          </a:p>
        </p:txBody>
      </p:sp>
      <p:sp>
        <p:nvSpPr>
          <p:cNvPr id="4" name="healthy">
            <a:extLst>
              <a:ext uri="{FF2B5EF4-FFF2-40B4-BE49-F238E27FC236}">
                <ns2:creationId id="{81B78389-7B8C-4B1F-9B1B-866CD1CEB1FC}"/>
              </a:ext>
            </a:extLst>
          </p:cNvPr>
          <p:cNvSpPr>
            <a:spLocks noGrp="1"/>
          </p:cNvSpPr>
          <p:nvPr/>
        </p:nvSpPr>
        <p:spPr>
          <a:xfrm>
            <a:off x="107156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 Strategy／Prompt</a:t>
            </a:r>
          </a:p>
        </p:txBody>
      </p:sp>
      <p:sp>
        <p:nvSpPr>
          <p:cNvPr id="5" name="defect">
            <a:extLst>
              <a:ext uri="{FF2B5EF4-FFF2-40B4-BE49-F238E27FC236}">
                <ns2:creationId id="{05A61825-DF7C-4B77-A4CA-32F99A0EF9A8}"/>
              </a:ext>
            </a:extLst>
          </p:cNvPr>
          <p:cNvSpPr>
            <a:spLocks noGrp="1"/>
          </p:cNvSpPr>
          <p:nvPr/>
        </p:nvSpPr>
        <p:spPr>
          <a:xfrm>
            <a:off x="623887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缺陷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 corrective child</a:t>
            </a:r>
          </a:p>
        </p:txBody>
      </p:sp>
      <p:sp>
        <p:nvSpPr>
          <p:cNvPr id="6" name="failed">
            <a:extLst>
              <a:ext uri="{FF2B5EF4-FFF2-40B4-BE49-F238E27FC236}">
                <ns2:creationId id="{96ED34E4-2F87-4E21-9F98-2770AE3CEF00}"/>
              </a:ext>
            </a:extLst>
          </p:cNvPr>
          <p:cNvSpPr>
            <a:spLocks noGrp="1"/>
          </p:cNvSpPr>
          <p:nvPr/>
        </p:nvSpPr>
        <p:spPr>
          <a:xfrm>
            <a:off x="176212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失敗子代與證據</a:t>
            </a:r>
          </a:p>
        </p:txBody>
      </p:sp>
      <p:sp>
        <p:nvSpPr>
          <p:cNvPr id="7" name="revise">
            <a:extLst>
              <a:ext uri="{FF2B5EF4-FFF2-40B4-BE49-F238E27FC236}">
                <ns2:creationId id="{794C7B99-5D0C-4CBE-A5C3-38DE853CB9B8}"/>
              </a:ext>
            </a:extLst>
          </p:cNvPr>
          <p:cNvSpPr>
            <a:spLocks noGrp="1"/>
          </p:cNvSpPr>
          <p:nvPr/>
        </p:nvSpPr>
        <p:spPr>
          <a:xfrm>
            <a:off x="1071562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依診斷修正原 Java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保留兩個 prompt 基因</a:t>
            </a:r>
          </a:p>
        </p:txBody>
      </p:sp>
      <p:sp>
        <p:nvSpPr>
          <p:cNvPr id="13" name="text-12">
            <a:extLst>
              <a:ext uri="{FF2B5EF4-FFF2-40B4-BE49-F238E27FC236}">
                <ns2:creationId id="{A8F55ABB-69E8-430A-B05B-0972A898C79A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修正 Java 的輸出直接進入 materialization，不再被普通 Generator 覆寫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</a:p>
        </p:txBody>
      </p:sp>
    </p:spTree>
    <p:extLst>
      <p:ext uri="{BB962C8B-B14F-4D97-AF65-F5344CB8AC3E}">
        <ns3:creationId val="2091061789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6EB045BA-0F94-4D97-87DD-FCF7C025D326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476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FD4628E0-3EAE-4ADD-A5DA-32236F383AB0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67875" y="5476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DC488B17-E096-498C-92AA-99ADD5E636A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30125" y="3476625"/>
            <a:ext cx="0" cy="14287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756CF5F2-BB69-4F25-9BF0-E6D51D68CFC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8E43CBCD-AA20-4B99-9736-F38F5893B1B8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3" name="text-0">
            <a:extLst>
              <a:ext uri="{FF2B5EF4-FFF2-40B4-BE49-F238E27FC236}">
                <ns2:creationId id="{99C9E16C-BFE3-440E-A6E7-1CB2005C011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parent">
            <a:extLst>
              <a:ext uri="{FF2B5EF4-FFF2-40B4-BE49-F238E27FC236}">
                <ns2:creationId id="{DE6920BA-CC08-43D4-ABEA-37F9D1FB849A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策略來源父代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framework evidence parent</a:t>
            </a:r>
          </a:p>
        </p:txBody>
      </p:sp>
      <p:sp>
        <p:nvSpPr>
          <p:cNvPr id="3" name="worst">
            <a:extLst>
              <a:ext uri="{FF2B5EF4-FFF2-40B4-BE49-F238E27FC236}">
                <ns2:creationId id="{01F5934D-1397-41A8-A6F9-57AC162CCD84}"/>
              </a:ext>
            </a:extLst>
          </p:cNvPr>
          <p:cNvSpPr>
            <a:spLocks noGrp="1"/>
          </p:cNvSpPr>
          <p:nvPr/>
        </p:nvSpPr>
        <p:spPr>
          <a:xfrm>
            <a:off x="623887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該父代的一場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最差已完成對戰</a:t>
            </a:r>
          </a:p>
        </p:txBody>
      </p:sp>
      <p:sp>
        <p:nvSpPr>
          <p:cNvPr id="4" name="comment">
            <a:extLst>
              <a:ext uri="{FF2B5EF4-FFF2-40B4-BE49-F238E27FC236}">
                <ns2:creationId id="{6553BA73-642D-48E7-919A-5E3EBC9AD49D}"/>
              </a:ext>
            </a:extLst>
          </p:cNvPr>
          <p:cNvSpPr>
            <a:spLocks noGrp="1"/>
          </p:cNvSpPr>
          <p:nvPr/>
        </p:nvSpPr>
        <p:spPr>
          <a:xfrm>
            <a:off x="107156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分析該場 trace</a:t>
            </a:r>
          </a:p>
        </p:txBody>
      </p:sp>
      <p:sp>
        <p:nvSpPr>
          <p:cNvPr id="5" name="coach">
            <a:extLst>
              <a:ext uri="{FF2B5EF4-FFF2-40B4-BE49-F238E27FC236}">
                <ns2:creationId id="{32603E45-DE73-4DEC-9E3C-134A2630AA7F}"/>
              </a:ext>
            </a:extLst>
          </p:cNvPr>
          <p:cNvSpPr>
            <a:spLocks noGrp="1"/>
          </p:cNvSpPr>
          <p:nvPr/>
        </p:nvSpPr>
        <p:spPr>
          <a:xfrm>
            <a:off x="1071562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Coach：全場摘要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＋該一場診斷</a:t>
            </a:r>
          </a:p>
        </p:txBody>
      </p:sp>
      <p:sp>
        <p:nvSpPr>
          <p:cNvPr id="6" name="valid">
            <a:extLst>
              <a:ext uri="{FF2B5EF4-FFF2-40B4-BE49-F238E27FC236}">
                <ns2:creationId id="{BC9C99B8-6C74-4B35-BBC0-A6166F4519E3}"/>
              </a:ext>
            </a:extLst>
          </p:cNvPr>
          <p:cNvSpPr>
            <a:spLocks noGrp="1"/>
          </p:cNvSpPr>
          <p:nvPr/>
        </p:nvSpPr>
        <p:spPr>
          <a:xfrm>
            <a:off x="623887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驗證新 DSL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或完整 control_genome</a:t>
            </a:r>
          </a:p>
        </p:txBody>
      </p:sp>
      <p:sp>
        <p:nvSpPr>
          <p:cNvPr id="7" name="java">
            <a:extLst>
              <a:ext uri="{FF2B5EF4-FFF2-40B4-BE49-F238E27FC236}">
                <ns2:creationId id="{7EEC0C26-4A11-43F0-8E7A-030C0145763E}"/>
              </a:ext>
            </a:extLst>
          </p:cNvPr>
          <p:cNvSpPr>
            <a:spLocks noGrp="1"/>
          </p:cNvSpPr>
          <p:nvPr/>
        </p:nvSpPr>
        <p:spPr>
          <a:xfrm>
            <a:off x="1762125" y="4905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 Java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再走正常評估</a:t>
            </a:r>
          </a:p>
        </p:txBody>
      </p:sp>
      <p:sp>
        <p:nvSpPr>
          <p:cNvPr id="1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</a:p>
        </p:txBody>
      </p:sp>
    </p:spTree>
    <p:extLst>
      <p:ext uri="{BB962C8B-B14F-4D97-AF65-F5344CB8AC3E}">
        <ns3:creationId val="819261706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3A96D2B1-340D-44F7-87A2-0ED07CB2240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text-1">
            <a:extLst>
              <a:ext uri="{FF2B5EF4-FFF2-40B4-BE49-F238E27FC236}">
                <ns2:creationId id="{7FADDCDB-1319-4B57-97E5-64B7DF07A6EF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優先取最低有限 per-match performance；缺值時以敗 −100、和 0、勝 100 排序</a:t>
            </a:r>
          </a:p>
        </p:txBody>
      </p:sp>
      <p:sp>
        <p:nvSpPr>
          <p:cNvPr id="3" name="text-2">
            <a:extLst>
              <a:ext uri="{FF2B5EF4-FFF2-40B4-BE49-F238E27FC236}">
                <ns2:creationId id="{5CE0C036-CC2D-4386-9BA9-BD61BBE249C2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平分用穩定 match_id 排序，排除失敗比賽；trace 不可用時不改選另一場</a:t>
            </a:r>
          </a:p>
        </p:txBody>
      </p:sp>
      <p:sp>
        <p:nvSpPr>
          <p:cNvPr id="4" name="text-3">
            <a:extLst>
              <a:ext uri="{FF2B5EF4-FFF2-40B4-BE49-F238E27FC236}">
                <ns2:creationId id="{CDED5038-78A2-4FC2-8169-9E435A7BFF7F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Coach 以 JSONL 逐行輸出完整規則；保留合法規則的原順序</a:t>
            </a:r>
          </a:p>
        </p:txBody>
      </p:sp>
      <p:sp>
        <p:nvSpPr>
          <p:cNvPr id="5" name="text-4">
            <a:extLst>
              <a:ext uri="{FF2B5EF4-FFF2-40B4-BE49-F238E27FC236}">
                <ns2:creationId id="{9D369E8F-6A91-4256-9853-01BE341008C5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非法整行規則捨棄並記錄；至少一條合法規則才成功，不修補規則的子樹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</a:p>
        </p:txBody>
      </p:sp>
    </p:spTree>
    <p:extLst>
      <p:ext uri="{BB962C8B-B14F-4D97-AF65-F5344CB8AC3E}">
        <ns3:creationId val="557879514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0754FC20-9777-420A-BE4A-E9CD8BD80383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857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3D5C1227-8689-4B9B-AD41-4340814FC94A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67875" y="5857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FEFE13BD-0E4D-4638-BF40-4CBD0C7F22C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30125" y="3857625"/>
            <a:ext cx="0" cy="147637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BF2B2C3F-2C17-4604-A4FC-B51B58D7EDB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3190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ECD26D85-A75B-4891-97D7-65AB67924677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190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D4635518-6BF1-4043-AF70-BA40060869D9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evidence">
            <a:extLst>
              <a:ext uri="{FF2B5EF4-FFF2-40B4-BE49-F238E27FC236}">
                <ns2:creationId id="{4DD7DA5C-4A79-460C-816A-A2A7E33A0330}"/>
              </a:ext>
            </a:extLst>
          </p:cNvPr>
          <p:cNvSpPr>
            <a:spLocks noGrp="1"/>
          </p:cNvSpPr>
          <p:nvPr/>
        </p:nvSpPr>
        <p:spPr>
          <a:xfrm>
            <a:off x="1762125" y="2524125"/>
            <a:ext cx="3429000" cy="1333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Policy＋可編輯 Java 區域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＋對應 compiler／validation</a:t>
            </a:r>
          </a:p>
        </p:txBody>
      </p:sp>
      <p:sp>
        <p:nvSpPr>
          <p:cNvPr id="3" name="review">
            <a:extLst>
              <a:ext uri="{FF2B5EF4-FFF2-40B4-BE49-F238E27FC236}">
                <ns2:creationId id="{F267AFCC-5F31-441C-AB97-99B781C80E62}"/>
              </a:ext>
            </a:extLst>
          </p:cNvPr>
          <p:cNvSpPr>
            <a:spLocks noGrp="1"/>
          </p:cNvSpPr>
          <p:nvPr/>
        </p:nvSpPr>
        <p:spPr>
          <a:xfrm>
            <a:off x="6238875" y="2524125"/>
            <a:ext cx="3429000" cy="1333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 Reviewer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分析翻譯實作問題</a:t>
            </a:r>
          </a:p>
        </p:txBody>
      </p:sp>
      <p:sp>
        <p:nvSpPr>
          <p:cNvPr id="4" name="rewrite">
            <a:extLst>
              <a:ext uri="{FF2B5EF4-FFF2-40B4-BE49-F238E27FC236}">
                <ns2:creationId id="{2BDF82EF-359C-4369-8B5F-3F3ED23E18F7}"/>
              </a:ext>
            </a:extLst>
          </p:cNvPr>
          <p:cNvSpPr>
            <a:spLocks noGrp="1"/>
          </p:cNvSpPr>
          <p:nvPr/>
        </p:nvSpPr>
        <p:spPr>
          <a:xfrm>
            <a:off x="10715625" y="2524125"/>
            <a:ext cx="3429000" cy="1333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 Rewriter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產生 reusable-rule delta</a:t>
            </a:r>
          </a:p>
        </p:txBody>
      </p:sp>
      <p:sp>
        <p:nvSpPr>
          <p:cNvPr id="5" name="gene">
            <a:extLst>
              <a:ext uri="{FF2B5EF4-FFF2-40B4-BE49-F238E27FC236}">
                <ns2:creationId id="{FDA77B8B-C3E3-4BAD-9675-F4157CB17F08}"/>
              </a:ext>
            </a:extLst>
          </p:cNvPr>
          <p:cNvSpPr>
            <a:spLocks noGrp="1"/>
          </p:cNvSpPr>
          <p:nvPr/>
        </p:nvSpPr>
        <p:spPr>
          <a:xfrm>
            <a:off x="10715625" y="5334000"/>
            <a:ext cx="3429000" cy="1047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僅更新 generation_prompt</a:t>
            </a:r>
          </a:p>
        </p:txBody>
      </p:sp>
      <p:sp>
        <p:nvSpPr>
          <p:cNvPr id="6" name="generator">
            <a:extLst>
              <a:ext uri="{FF2B5EF4-FFF2-40B4-BE49-F238E27FC236}">
                <ns2:creationId id="{0EEA576D-D4BA-47D7-9429-A7320A33D57B}"/>
              </a:ext>
            </a:extLst>
          </p:cNvPr>
          <p:cNvSpPr>
            <a:spLocks noGrp="1"/>
          </p:cNvSpPr>
          <p:nvPr/>
        </p:nvSpPr>
        <p:spPr>
          <a:xfrm>
            <a:off x="6238875" y="5334000"/>
            <a:ext cx="3429000" cy="1047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普通 Java Generator</a:t>
            </a:r>
          </a:p>
        </p:txBody>
      </p:sp>
      <p:sp>
        <p:nvSpPr>
          <p:cNvPr id="7" name="eval">
            <a:extLst>
              <a:ext uri="{FF2B5EF4-FFF2-40B4-BE49-F238E27FC236}">
                <ns2:creationId id="{EB725793-8747-4215-9533-3E43C0C30C1F}"/>
              </a:ext>
            </a:extLst>
          </p:cNvPr>
          <p:cNvSpPr>
            <a:spLocks noGrp="1"/>
          </p:cNvSpPr>
          <p:nvPr/>
        </p:nvSpPr>
        <p:spPr>
          <a:xfrm>
            <a:off x="1762125" y="5334000"/>
            <a:ext cx="3429000" cy="1047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驗證與對戰評估</a:t>
            </a:r>
          </a:p>
        </p:txBody>
      </p:sp>
      <p:sp>
        <p:nvSpPr>
          <p:cNvPr id="13" name="text-12">
            <a:extLst>
              <a:ext uri="{FF2B5EF4-FFF2-40B4-BE49-F238E27FC236}">
                <ns2:creationId id="{E02DEC00-15CC-4EB7-A8D7-F994DC7AD761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改「策略」；Prompt Reflection 改「如何把策略翻成 Java」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</a:p>
        </p:txBody>
      </p:sp>
    </p:spTree>
    <p:extLst>
      <p:ext uri="{BB962C8B-B14F-4D97-AF65-F5344CB8AC3E}">
        <ns3:creationId val="823140672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8DE468A9-1521-4392-87DA-521C81D2E1D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F822E305-3F92-44C1-B870-E4FF2B2349C0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4876800"/>
                <a:gridCol w="50482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路徑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輸入與處理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成功輸出與失敗政策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策略＋generation prompt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＋選配 inherited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 Java；允許有界 validation／compile 修復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 DSL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Canonical DSL 經 typed IR 編譯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 Java；編譯器或 javac 失敗即終止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 slots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凍結 template＋完整 control_genome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 Java；渲染失敗即終止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共同下游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Validation、javac、Integration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MicroRTS；語意 probe 可選配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必須啟用 probe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成功的 source／classes 才可對戰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</a:p>
        </p:txBody>
      </p:sp>
    </p:spTree>
    <p:extLst>
      <p:ext uri="{BB962C8B-B14F-4D97-AF65-F5344CB8AC3E}">
        <ns3:creationId val="1631604705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3" name="">
            <a:extLst>
              <a:ext uri="{FF2B5EF4-FFF2-40B4-BE49-F238E27FC236}">
                <ns2:creationId id="{1FC7C8E2-47F2-48B7-84D2-30554F5DED2D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5191125" y="56673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C90E02BE-DB34-4B39-94A7-AF62599505A7}"/>
              </a:ext>
            </a:extLst>
          </p:cNvPr>
          <p:cNvCxnSpPr>
            <a:stCxn id="5" idx="0"/>
            <a:endCxn id="3" idx="2"/>
          </p:cNvCxnSpPr>
          <p:nvPr/>
        </p:nvCxnSpPr>
        <p:spPr>
          <a:xfrm flipV="1">
            <a:off x="7953375" y="3333750"/>
            <a:ext cx="0" cy="17621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B7054506-DDDB-445F-94E3-C908A406795B}"/>
              </a:ext>
            </a:extLst>
          </p:cNvPr>
          <p:cNvCxnSpPr>
            <a:stCxn id="4" idx="1"/>
            <a:endCxn id="5" idx="0"/>
          </p:cNvCxnSpPr>
          <p:nvPr/>
        </p:nvCxnSpPr>
        <p:spPr>
          <a:xfrm flipH="1">
            <a:off x="7953375" y="2952750"/>
            <a:ext cx="2762250" cy="2143125"/>
          </a:xfrm>
          <a:prstGeom prst="bentConnector4">
            <a:avLst>
              <a:gd name="adj1" fmla="val 8276"/>
              <a:gd name="adj2" fmla="val 89333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F56E5FDD-5A3A-4A23-BCA1-C9783505059F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12430125" y="3524250"/>
            <a:ext cx="0" cy="15716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25EC14FC-CDFA-42FC-8003-7274F9C3C36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2857500"/>
            <a:ext cx="1047750" cy="952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2D5EB840-98BF-4384-8C93-66AC30D48A80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85750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5" name="text-0">
            <a:extLst>
              <a:ext uri="{FF2B5EF4-FFF2-40B4-BE49-F238E27FC236}">
                <ns2:creationId id="{4E478685-8DF2-4868-82CC-4C282E943DF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input">
            <a:extLst>
              <a:ext uri="{FF2B5EF4-FFF2-40B4-BE49-F238E27FC236}">
                <ns2:creationId id="{415233E7-DBBF-4D6F-9592-F3FB5F237595}"/>
              </a:ext>
            </a:extLst>
          </p:cNvPr>
          <p:cNvSpPr>
            <a:spLocks noGrp="1"/>
          </p:cNvSpPr>
          <p:nvPr/>
        </p:nvSpPr>
        <p:spPr>
          <a:xfrm>
            <a:off x="1762125" y="2381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權威基因與固定 scaffold</a:t>
            </a:r>
          </a:p>
        </p:txBody>
      </p:sp>
      <p:sp>
        <p:nvSpPr>
          <p:cNvPr id="3" name="response">
            <a:extLst>
              <a:ext uri="{FF2B5EF4-FFF2-40B4-BE49-F238E27FC236}">
                <ns2:creationId id="{0269F452-1AC6-40BA-A629-876BAE22CC22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回應與抽取</a:t>
            </a:r>
          </a:p>
        </p:txBody>
      </p:sp>
      <p:sp>
        <p:nvSpPr>
          <p:cNvPr id="4" name="check">
            <a:extLst>
              <a:ext uri="{FF2B5EF4-FFF2-40B4-BE49-F238E27FC236}">
                <ns2:creationId id="{976E4BF0-7016-43B1-9DA7-DF382EDE5AD7}"/>
              </a:ext>
            </a:extLst>
          </p:cNvPr>
          <p:cNvSpPr>
            <a:spLocks noGrp="1"/>
          </p:cNvSpPr>
          <p:nvPr/>
        </p:nvSpPr>
        <p:spPr>
          <a:xfrm>
            <a:off x="10715625" y="2381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外框檢查、normalize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5" name="repair">
            <a:extLst>
              <a:ext uri="{FF2B5EF4-FFF2-40B4-BE49-F238E27FC236}">
                <ns2:creationId id="{AB6C5864-01B1-4266-9826-146DA76BE724}"/>
              </a:ext>
            </a:extLst>
          </p:cNvPr>
          <p:cNvSpPr>
            <a:spLocks noGrp="1"/>
          </p:cNvSpPr>
          <p:nvPr/>
        </p:nvSpPr>
        <p:spPr>
          <a:xfrm>
            <a:off x="6238875" y="50958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Java＋該次診斷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保持策略與基因不變</a:t>
            </a:r>
          </a:p>
        </p:txBody>
      </p:sp>
      <p:sp>
        <p:nvSpPr>
          <p:cNvPr id="6" name="failure">
            <a:extLst>
              <a:ext uri="{FF2B5EF4-FFF2-40B4-BE49-F238E27FC236}">
                <ns2:creationId id="{0F57CD53-B301-479F-8A62-B364C355CB67}"/>
              </a:ext>
            </a:extLst>
          </p:cNvPr>
          <p:cNvSpPr>
            <a:spLocks noGrp="1"/>
          </p:cNvSpPr>
          <p:nvPr/>
        </p:nvSpPr>
        <p:spPr>
          <a:xfrm>
            <a:off x="1762125" y="50958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 attempts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標記最後失敗階段</a:t>
            </a:r>
          </a:p>
        </p:txBody>
      </p:sp>
      <p:sp>
        <p:nvSpPr>
          <p:cNvPr id="7" name="success">
            <a:extLst>
              <a:ext uri="{FF2B5EF4-FFF2-40B4-BE49-F238E27FC236}">
                <ns2:creationId id="{010D2906-0A39-4BA6-BAEC-50A8B72EE6D0}"/>
              </a:ext>
            </a:extLst>
          </p:cNvPr>
          <p:cNvSpPr>
            <a:spLocks noGrp="1"/>
          </p:cNvSpPr>
          <p:nvPr/>
        </p:nvSpPr>
        <p:spPr>
          <a:xfrm>
            <a:off x="10715625" y="50958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第一份成功的 source／classes</a:t>
            </a:r>
          </a:p>
          <a:p>
            <a: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提升為唯一 canonical 表型</a:t>
            </a:r>
          </a:p>
        </p:txBody>
      </p:sp>
      <p:sp>
        <p:nvSpPr>
          <p:cNvPr id="14" name="text-13">
            <a:extLst>
              <a:ext uri="{FF2B5EF4-FFF2-40B4-BE49-F238E27FC236}">
                <ns2:creationId id="{2A733A47-8FEC-4BB6-8129-CF6638AB60B6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圖中的重試僅適用 llm；Integration／runtime 失敗不觸發 compile repair</a:t>
            </a:r>
          </a:p>
        </p:txBody>
      </p:sp>
      <p:sp>
        <p:nvSpPr>
          <p:cNvPr id="1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</a:p>
        </p:txBody>
      </p:sp>
    </p:spTree>
    <p:extLst>
      <p:ext uri="{BB962C8B-B14F-4D97-AF65-F5344CB8AC3E}">
        <ns3:creationId val="19764575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40382798-E358-4942-88A9-D2EE2EE3848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text-1">
            <a:extLst>
              <a:ext uri="{FF2B5EF4-FFF2-40B4-BE49-F238E27FC236}">
                <ns2:creationId id="{3ED46120-D554-4DC6-BE68-944E494C2BC2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Validation：package、CandidateAgent 外框、固定 scaffold、策略 marker 與 API 安全限制</a:t>
            </a:r>
          </a:p>
        </p:txBody>
      </p:sp>
      <p:sp>
        <p:nvSpPr>
          <p:cNvPr id="3" name="text-2">
            <a:extLst>
              <a:ext uri="{FF2B5EF4-FFF2-40B4-BE49-F238E27FC236}">
                <ns2:creationId id="{165FB8B3-4AC5-4000-A32E-8E4C9D40930C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javac：每個 attempt 最多編譯一次，成功 class tree 直接提升，不重複編譯</a:t>
            </a:r>
          </a:p>
        </p:txBody>
      </p:sp>
      <p:sp>
        <p:nvSpPr>
          <p:cNvPr id="4" name="text-3">
            <a:extLst>
              <a:ext uri="{FF2B5EF4-FFF2-40B4-BE49-F238E27FC236}">
                <ns2:creationId id="{FD31DC72-375A-448C-A8F4-B9D63D64BCCD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Integration：載入、繼承、建構子、reset、clone、getAction、有效 PlayerAction</a:t>
            </a:r>
          </a:p>
        </p:txBody>
      </p:sp>
      <p:sp>
        <p:nvSpPr>
          <p:cNvPr id="5" name="text-4">
            <a:extLst>
              <a:ext uri="{FF2B5EF4-FFF2-40B4-BE49-F238E27FC236}">
                <ns2:creationId id="{1848509D-FB49-427B-8794-707A35E968DE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getAction 在真實 8×8 地圖、雙方位置、獨立狀態驗證動作與一個 cycle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</a:p>
        </p:txBody>
      </p:sp>
    </p:spTree>
    <p:extLst>
      <p:ext uri="{BB962C8B-B14F-4D97-AF65-F5344CB8AC3E}">
        <ns3:creationId val="40023505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EC32A246-919B-4B14-B2AA-A040DD0B2AF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E3D62F29-AE10-4315-AF04-2F21E29D95CB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143250"/>
                <a:gridCol w="3810000"/>
                <a:gridCol w="58293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維度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數量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意義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對手欄位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固定名單或凍結 self-play 名單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可設定每張 tick_limit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回合與位置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× 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round_index，候選分別在 p0／p1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每個候選總場數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× 3 × 3 × 2 = 180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同一份 Java 與 classes 跑完整矩陣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</a:p>
        </p:txBody>
      </p:sp>
    </p:spTree>
    <p:extLst>
      <p:ext uri="{BB962C8B-B14F-4D97-AF65-F5344CB8AC3E}">
        <ns3:creationId val="1743353563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D5CF5089-2184-445B-A60F-A51F56AAE83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text-1">
            <a:extLst>
              <a:ext uri="{FF2B5EF4-FFF2-40B4-BE49-F238E27FC236}">
                <ns2:creationId id="{D1CF93B2-8785-447D-8119-9EFBDAAE564F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單場分數＝結果分數＋bounded shaping；勝 +100、和 0、敗 −100</a:t>
            </a:r>
          </a:p>
        </p:txBody>
      </p:sp>
      <p:sp>
        <p:nvSpPr>
          <p:cNvPr id="3" name="text-2">
            <a:extLst>
              <a:ext uri="{FF2B5EF4-FFF2-40B4-BE49-F238E27FC236}">
                <ns2:creationId id="{2AD55A2A-5C13-4C3B-926B-E96B3956CFA1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Shaping 合併物資、終局資源與存活時間，總範圍限制在 [−10, +10]</a:t>
            </a:r>
          </a:p>
        </p:txBody>
      </p:sp>
      <p:sp>
        <p:nvSpPr>
          <p:cNvPr id="4" name="text-3">
            <a:extLst>
              <a:ext uri="{FF2B5EF4-FFF2-40B4-BE49-F238E27FC236}">
                <ns2:creationId id="{2B03DD72-B937-4B1A-8D63-395A7FBE2D1A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 roster：十個對手分數各為一個案例；0.5／1／2 加權均分只用於報表</a:t>
            </a:r>
          </a:p>
        </p:txBody>
      </p:sp>
      <p:sp>
        <p:nvSpPr>
          <p:cNvPr id="5" name="text-4">
            <a:extLst>
              <a:ext uri="{FF2B5EF4-FFF2-40B4-BE49-F238E27FC236}">
                <ns2:creationId id="{688DD516-D06F-4B23-B0D2-483FCC362464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Self-play：十個欄位等權平均，game_performance 是唯一演化目標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</a:p>
        </p:txBody>
      </p:sp>
    </p:spTree>
    <p:extLst>
      <p:ext uri="{BB962C8B-B14F-4D97-AF65-F5344CB8AC3E}">
        <ns3:creationId val="472122355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08663F7A-9C52-46F4-82D8-85F69118741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Fixed roster 的十個對手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0397A80A-0530-4882-A6B2-BA32F8AE4BA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7162800"/>
                <a:gridCol w="28575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對手群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完整名單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報表權重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基礎基準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PassiveAI、RandomAI、RandomBiasedAI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0.5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Rush 基準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LightRush、HeavyRush、WorkerRush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進階基準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AllInBot、Mayari、COAC、TMA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演化用目標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每個對手的 18 場平均各成一個案例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十案例 lexicase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</a:p>
        </p:txBody>
      </p:sp>
    </p:spTree>
    <p:extLst>
      <p:ext uri="{BB962C8B-B14F-4D97-AF65-F5344CB8AC3E}">
        <ns3:creationId val="1270176608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F258913-3B9B-4A85-9F8F-E547A0E80AB5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Opponent Pool 的起始與容量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46111B82-61F5-4CD6-A15A-57B9A574E5D3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4972050"/>
                <a:gridCol w="4953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成員區域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起始內容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後續規則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永久保護 4 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AllInBot、Mayari、COAC、TMA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不參加 pool 挑戰賽、不被替換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可替換基準 6 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Passive、Random、RandomBiased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LightRush、HeavyRush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可作為守擂者被挑戰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歷代入池策略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初始時尚無生成候選成員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跨代累積；滿額後挑戰替換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容量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預設總容量 50，最少 10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包含 4 個保護成員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</a:p>
        </p:txBody>
      </p:sp>
    </p:spTree>
    <p:extLst>
      <p:ext uri="{BB962C8B-B14F-4D97-AF65-F5344CB8AC3E}">
        <ns3:creationId val="1011821527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6B29360E-5012-4B54-82A9-9454181C6393}"/>
              </a:ext>
            </a:extLst>
          </p:cNvPr>
          <p:cNvCxnSpPr>
            <a:stCxn id="6" idx="2"/>
            <a:endCxn id="7" idx="2"/>
          </p:cNvCxnSpPr>
          <p:nvPr/>
        </p:nvCxnSpPr>
        <p:spPr>
          <a:xfrm flipH="1">
            <a:off x="3476625" y="6143625"/>
            <a:ext cx="8953500" cy="22860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F53E1929-0D92-487A-80B8-A6A94C788D4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9667875" y="5572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55BB0DC8-0B68-4442-9173-F6CC858CA689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7953375" y="3476625"/>
            <a:ext cx="0" cy="15240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19FB10F5-473A-4326-8E61-5C7345BA74B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52C2B4E9-3792-4118-9DA1-608BF2E656F7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051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C72C0B49-E5ED-49CE-9675-E615F82BBEE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new">
            <a:extLst>
              <a:ext uri="{FF2B5EF4-FFF2-40B4-BE49-F238E27FC236}">
                <ns2:creationId id="{E1C63576-1EFA-4EB7-8452-76FD47BF7917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 0 代初始族群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＋後續每代已評估子代</a:t>
            </a:r>
          </a:p>
        </p:txBody>
      </p:sp>
      <p:sp>
        <p:nvSpPr>
          <p:cNvPr id="3" name="eligible">
            <a:extLst>
              <a:ext uri="{FF2B5EF4-FFF2-40B4-BE49-F238E27FC236}">
                <ns2:creationId id="{C756F2BF-C202-4B72-AADA-05B920B573D8}"/>
              </a:ext>
            </a:extLst>
          </p:cNvPr>
          <p:cNvSpPr>
            <a:spLocks noGrp="1"/>
          </p:cNvSpPr>
          <p:nvPr/>
        </p:nvSpPr>
        <p:spPr>
          <a:xfrm>
            <a:off x="623887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可執行、完整評估、去重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ID／source／語意表型</a:t>
            </a:r>
          </a:p>
        </p:txBody>
      </p:sp>
      <p:sp>
        <p:nvSpPr>
          <p:cNvPr id="4" name="room">
            <a:extLst>
              <a:ext uri="{FF2B5EF4-FFF2-40B4-BE49-F238E27FC236}">
                <ns2:creationId id="{AF4E33BC-2D0E-4CDA-A314-B4B12C60F2AA}"/>
              </a:ext>
            </a:extLst>
          </p:cNvPr>
          <p:cNvSpPr>
            <a:spLocks noGrp="1"/>
          </p:cNvSpPr>
          <p:nvPr/>
        </p:nvSpPr>
        <p:spPr>
          <a:xfrm>
            <a:off x="10715625" y="2333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未滿：直接加入 pool</a:t>
            </a:r>
          </a:p>
        </p:txBody>
      </p:sp>
      <p:sp>
        <p:nvSpPr>
          <p:cNvPr id="5" name="full">
            <a:extLst>
              <a:ext uri="{FF2B5EF4-FFF2-40B4-BE49-F238E27FC236}">
                <ns2:creationId id="{93AF353A-A84E-4DB5-831D-6E67AC8B137D}"/>
              </a:ext>
            </a:extLst>
          </p:cNvPr>
          <p:cNvSpPr>
            <a:spLocks noGrp="1"/>
          </p:cNvSpPr>
          <p:nvPr/>
        </p:nvSpPr>
        <p:spPr>
          <a:xfrm>
            <a:off x="6238875" y="5000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已滿：seeded 抽 1 個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非保護守擂者</a:t>
            </a:r>
          </a:p>
        </p:txBody>
      </p:sp>
      <p:sp>
        <p:nvSpPr>
          <p:cNvPr id="6" name="duel">
            <a:extLst>
              <a:ext uri="{FF2B5EF4-FFF2-40B4-BE49-F238E27FC236}">
                <ns2:creationId id="{2B5ECC52-996B-4C57-8384-2E0F83D563FD}"/>
              </a:ext>
            </a:extLst>
          </p:cNvPr>
          <p:cNvSpPr>
            <a:spLocks noGrp="1"/>
          </p:cNvSpPr>
          <p:nvPr/>
        </p:nvSpPr>
        <p:spPr>
          <a:xfrm>
            <a:off x="10715625" y="5000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場挑戰賽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promote">
            <a:extLst>
              <a:ext uri="{FF2B5EF4-FFF2-40B4-BE49-F238E27FC236}">
                <ns2:creationId id="{0266B43E-6B9A-4D1D-84A8-DFC20A87162F}"/>
              </a:ext>
            </a:extLst>
          </p:cNvPr>
          <p:cNvSpPr>
            <a:spLocks noGrp="1"/>
          </p:cNvSpPr>
          <p:nvPr/>
        </p:nvSpPr>
        <p:spPr>
          <a:xfrm>
            <a:off x="1762125" y="50006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完整、無錯誤且勝場 &gt; 敗場</a:t>
            </a:r>
          </a:p>
          <a:p>
            <a: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才替換守擂者</a:t>
            </a:r>
          </a:p>
        </p:txBody>
      </p:sp>
      <p:sp>
        <p:nvSpPr>
          <p:cNvPr id="13" name="text-12">
            <a:extLst>
              <a:ext uri="{FF2B5EF4-FFF2-40B4-BE49-F238E27FC236}">
                <ns2:creationId id="{3F73F19F-0CA6-47A0-B568-B32787B811A9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入池資格不要求先成為倖存者；pool 的成功入池成員可留到後續世代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</a:p>
        </p:txBody>
      </p:sp>
    </p:spTree>
    <p:extLst>
      <p:ext uri="{BB962C8B-B14F-4D97-AF65-F5344CB8AC3E}">
        <ns3:creationId val="1594733649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65B1885-668F-4914-A20A-5240400B90A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B3A1F2CA-A07B-49F2-A6F4-7D6CEC0E2B9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3238500"/>
                <a:gridCol w="66865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使用期間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固定成分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六個變動欄位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 0 代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保護 4 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其餘 6 個內建基準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 1–5 代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同樣保護 4 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 1 代從非保護 pool seeded 抽 6 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 6–10 代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同樣保護 4 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 6 代刷新後維持不變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之後每 5 代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依設定 refresh_interval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 11、16…代再取新快照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</a:p>
        </p:txBody>
      </p:sp>
    </p:spTree>
    <p:extLst>
      <p:ext uri="{BB962C8B-B14F-4D97-AF65-F5344CB8AC3E}">
        <ns3:creationId val="1672598273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446E8B88-7E96-4898-BADF-9A52654B57B0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8102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91C2E41D-9877-429B-8ACF-D3DD2BA9F7F1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67875" y="58102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EF97359A-68C2-49E3-A557-977AD211103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30125" y="3762375"/>
            <a:ext cx="0" cy="15240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FA03DAE1-18E5-4A1B-8E0F-1547BEAB72F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31908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277DF000-5957-44EA-BAD0-3B1F5BFD7F3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095625"/>
            <a:ext cx="1047750" cy="952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50F2A86D-3B8C-4FFE-AD33-2F18697A51A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refresh">
            <a:extLst>
              <a:ext uri="{FF2B5EF4-FFF2-40B4-BE49-F238E27FC236}">
                <ns2:creationId id="{9F665061-6B7E-452F-9F3A-B9BFCAAD3237}"/>
              </a:ext>
            </a:extLst>
          </p:cNvPr>
          <p:cNvSpPr>
            <a:spLocks noGrp="1"/>
          </p:cNvSpPr>
          <p:nvPr/>
        </p:nvSpPr>
        <p:spPr>
          <a:xfrm>
            <a:off x="1762125" y="261937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到達 self-play 刷新邊界</a:t>
            </a:r>
          </a:p>
        </p:txBody>
      </p:sp>
      <p:sp>
        <p:nvSpPr>
          <p:cNvPr id="3" name="snapshot">
            <a:extLst>
              <a:ext uri="{FF2B5EF4-FFF2-40B4-BE49-F238E27FC236}">
                <ns2:creationId id="{A22C47AA-4700-4801-86F3-A7BC620ED7F7}"/>
              </a:ext>
            </a:extLst>
          </p:cNvPr>
          <p:cNvSpPr>
            <a:spLocks noGrp="1"/>
          </p:cNvSpPr>
          <p:nvPr/>
        </p:nvSpPr>
        <p:spPr>
          <a:xfrm>
            <a:off x="6238875" y="2619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4＋6 名單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4" name="replica">
            <a:extLst>
              <a:ext uri="{FF2B5EF4-FFF2-40B4-BE49-F238E27FC236}">
                <ns2:creationId id="{573FEB47-CD76-479D-8E75-631694552192}"/>
              </a:ext>
            </a:extLst>
          </p:cNvPr>
          <p:cNvSpPr>
            <a:spLocks noGrp="1"/>
          </p:cNvSpPr>
          <p:nvPr/>
        </p:nvSpPr>
        <p:spPr>
          <a:xfrm>
            <a:off x="10715625" y="261937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父代保留 phenotype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建立新 ID 複本</a:t>
            </a:r>
          </a:p>
        </p:txBody>
      </p:sp>
      <p:sp>
        <p:nvSpPr>
          <p:cNvPr id="5" name="score">
            <a:extLst>
              <a:ext uri="{FF2B5EF4-FFF2-40B4-BE49-F238E27FC236}">
                <ns2:creationId id="{72A5E09F-3653-4B26-A717-DE98031EDE1F}"/>
              </a:ext>
            </a:extLst>
          </p:cNvPr>
          <p:cNvSpPr>
            <a:spLocks noGrp="1"/>
          </p:cNvSpPr>
          <p:nvPr/>
        </p:nvSpPr>
        <p:spPr>
          <a:xfrm>
            <a:off x="10715625" y="5286375"/>
            <a:ext cx="3429000" cy="1047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以新情境重跑父代評估</a:t>
            </a:r>
          </a:p>
        </p:txBody>
      </p:sp>
      <p:sp>
        <p:nvSpPr>
          <p:cNvPr id="6" name="offspring">
            <a:extLst>
              <a:ext uri="{FF2B5EF4-FFF2-40B4-BE49-F238E27FC236}">
                <ns2:creationId id="{3761FC42-4DC1-4193-9DA2-6FCB3990BD21}"/>
              </a:ext>
            </a:extLst>
          </p:cNvPr>
          <p:cNvSpPr>
            <a:spLocks noGrp="1"/>
          </p:cNvSpPr>
          <p:nvPr/>
        </p:nvSpPr>
        <p:spPr>
          <a:xfrm>
            <a:off x="6238875" y="5286375"/>
            <a:ext cx="3429000" cy="1047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再選繁殖父代與產生子代</a:t>
            </a:r>
          </a:p>
        </p:txBody>
      </p:sp>
      <p:sp>
        <p:nvSpPr>
          <p:cNvPr id="7" name="same">
            <a:extLst>
              <a:ext uri="{FF2B5EF4-FFF2-40B4-BE49-F238E27FC236}">
                <ns2:creationId id="{82F9BDDB-D408-45A9-9ECB-9B62BE73A13D}"/>
              </a:ext>
            </a:extLst>
          </p:cNvPr>
          <p:cNvSpPr>
            <a:spLocks noGrp="1"/>
          </p:cNvSpPr>
          <p:nvPr/>
        </p:nvSpPr>
        <p:spPr>
          <a:xfrm>
            <a:off x="1762125" y="5286375"/>
            <a:ext cx="3429000" cy="1047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 context 下選下一代</a:t>
            </a:r>
          </a:p>
        </p:txBody>
      </p:sp>
      <p:sp>
        <p:nvSpPr>
          <p:cNvPr id="13" name="text-12">
            <a:extLst>
              <a:ext uri="{FF2B5EF4-FFF2-40B4-BE49-F238E27FC236}">
                <ns2:creationId id="{390F9D90-6942-4502-8769-B7B5B0A52146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不能把不同對手名單下的 search fitness 直接當作跨世代改進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</a:p>
        </p:txBody>
      </p:sp>
    </p:spTree>
    <p:extLst>
      <p:ext uri="{BB962C8B-B14F-4D97-AF65-F5344CB8AC3E}">
        <ns3:creationId val="1311499492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0AC6B278-6387-45AA-855B-EAC56227C4F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父代重用與兩種重評情境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8870E847-6443-41CC-A50C-339D1EF9EBEA}"/>
              </a:ext>
            </a:extLst>
          </p:cNvPr>
          <p:cNvGraphicFramePr/>
          <p:nvPr/>
        </p:nvGraphicFramePr>
        <p:xfrm>
          <a:off x="1571625" y="2152650"/>
          <a:ext cx="12782550" cy="4038600"/>
        </p:xfrm>
        <a:graphic>
          <a:graphicData uri="http://schemas.openxmlformats.org/drawingml/2006/table">
            <a:tbl>
              <a:tblPr/>
              <a:tblGrid>
                <a:gridCol w="3714750"/>
                <a:gridCol w="4114800"/>
                <a:gridCol w="4953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情境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是否重生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選擇使用的候選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reuse_cached，正式預設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保留既有 Java 與 classes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一般世代沿用既有父代評估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對手快照刷新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 phenotype，新 ID 重評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同一新 context 的父代複本＋子代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regenerate_same_genotype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基因不變，但重新 Generator 與評估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僅限 inherited Java＋static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用新父代複本＋子代，排除舊 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</a:p>
        </p:txBody>
      </p:sp>
    </p:spTree>
    <p:extLst>
      <p:ext uri="{BB962C8B-B14F-4D97-AF65-F5344CB8AC3E}">
        <ns3:creationId val="1442722800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E718AF94-5373-4130-AECE-FE51F241ABB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431C0299-8BC6-4648-9F66-7D141243031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4972050"/>
                <a:gridCol w="4953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資料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實際取得的內容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Probe dataset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地圖 × 3 階段，共 9 個固定狀態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讓同一 agent 回答一組可重現狀態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Action signature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 probe 的完整動作與 hash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再保存 global hash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精確辨識行為是否相同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tie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同一 Game Performance 頂層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第二父代可最大化與第一父代距離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 tie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只在分數層的邊界需要淘汰時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seeded max-min 距離選子集合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</a:p>
        </p:txBody>
      </p:sp>
    </p:spTree>
    <p:extLst>
      <p:ext uri="{BB962C8B-B14F-4D97-AF65-F5344CB8AC3E}">
        <ns3:creationId val="65661232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818144ED-8574-428D-8D6A-C63F2434B24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倖存者選擇與固定人口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9D23946-CFEE-4436-B9C5-6723D09A8A25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4962525"/>
                <a:gridCol w="496252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步驟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 roster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候選集合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父代與子代聯集，依 ID 去重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同一 context 的父代與子代聯集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有效資格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只用完整評估的候選填人口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相同；失敗者保留診斷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選擇方式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重複 lexicase，選出者移除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由高到低建立非串連的分數層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邊界與不足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選滿 population_size、不放回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完成者不足就明確失敗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切分同分層才用語意 max-min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年齡不破同分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</a:p>
        </p:txBody>
      </p:sp>
    </p:spTree>
    <p:extLst>
      <p:ext uri="{BB962C8B-B14F-4D97-AF65-F5344CB8AC3E}">
        <ns3:creationId val="1591328528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DE9A1BD9-DE3C-4075-AA31-463778D6215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反思操作的 static 與 AOS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59619555-1DA9-4AE0-91D3-9C8DB3B42438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4972050"/>
                <a:gridCol w="4953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Reward 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額外工作與限制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static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Strategy／Prompt 機率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不計 reward；framework 與 self-play 使用此模式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aos_opponent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雙方可執行時比較十對手 rank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否則先按執行狀態給 reward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不加對戰；只適用固定名單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aos_head2head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mutation evidence parent 對 offspring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雙方可執行才加 18 場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失敗時跳過，改用執行狀態 reward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共用 updater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EMA α = 0.20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probability matching＋最低機率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更新操作選擇；Code gate 不計 AOS credit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</a:p>
        </p:txBody>
      </p:sp>
    </p:spTree>
    <p:extLst>
      <p:ext uri="{BB962C8B-B14F-4D97-AF65-F5344CB8AC3E}">
        <ns3:creationId val="920091095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C90DDAD1-F98C-41A0-BF4D-FC8C30C48D6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B258B344-0D7D-4D4E-B7D1-A56DF6EDD84C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429000"/>
                <a:gridCol w="4781550"/>
                <a:gridCol w="4572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發生位置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允許的處理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留下的結果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Bootstrap／LLM 回應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各自 attempts 內重試，原始回應先保存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失敗 manifest 或候選失敗與診斷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validation／compile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在 generation_max_attempts 內修復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最後 attempt 決定失敗階段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DSL／Framework 或 Integration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終止該候選，不回到 LLM 修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保留既有基因與失敗證據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Runtime／矩陣／選擇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未完成矩陣無有效 fitness</a:t>
                      </a:r>
                    </a:p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不足有效人口則終止 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−1000 sentinel、部分對戰、可恢復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</a:p>
        </p:txBody>
      </p:sp>
    </p:spTree>
    <p:extLst>
      <p:ext uri="{BB962C8B-B14F-4D97-AF65-F5344CB8AC3E}">
        <ns3:creationId val="1363059057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05CDD10E-853E-4E3F-A7A8-CF721FEEF14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962304C1-85E6-4F97-9BEF-A9F7B25367FF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619500"/>
                <a:gridCol w="4686300"/>
                <a:gridCol w="44767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位置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主要內容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支持的追查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config.yaml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manifest.json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resolved config、狀態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latest_generation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知道實際設定與完成邊界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generations/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candidates/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族群快照、基因、譜系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與評估證據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重建每個成分如何產生與被選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framework/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archives/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凍結 bundle、pool、context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與未提交工作的封存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恢復架構與對手情境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timing.jsonl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final_test/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時間事件、對戰結果與最終測試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區分各階段成本與獨立 benchmark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</a:p>
        </p:txBody>
      </p:sp>
    </p:spTree>
    <p:extLst>
      <p:ext uri="{BB962C8B-B14F-4D97-AF65-F5344CB8AC3E}">
        <ns3:creationId val="327122153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C5E48C6C-8446-48A7-969A-EA8E6F3BCCFC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7626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92C19CFF-79DD-4A0D-B951-F0B146468A2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67875" y="576262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B59C47A0-346C-433C-8F63-2F0385C9248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30125" y="3619500"/>
            <a:ext cx="0" cy="15716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2C816798-D889-45A5-9B43-EB86F1041AD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304800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E127C30F-E814-4591-AA38-853D2D41BAB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04800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3" name="text-0">
            <a:extLst>
              <a:ext uri="{FF2B5EF4-FFF2-40B4-BE49-F238E27FC236}">
                <ns2:creationId id="{D5154539-4C97-4BEC-98E3-EC1ABB7E830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manifest">
            <a:extLst>
              <a:ext uri="{FF2B5EF4-FFF2-40B4-BE49-F238E27FC236}">
                <ns2:creationId id="{8D2F76BA-EAF8-4791-8A67-76B623E248A3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的最後完成世代</a:t>
            </a:r>
          </a:p>
        </p:txBody>
      </p:sp>
      <p:sp>
        <p:nvSpPr>
          <p:cNvPr id="3" name="identity">
            <a:extLst>
              <a:ext uri="{FF2B5EF4-FFF2-40B4-BE49-F238E27FC236}">
                <ns2:creationId id="{3D14900F-F736-4640-AC8A-06702BCFFD35}"/>
              </a:ext>
            </a:extLst>
          </p:cNvPr>
          <p:cNvSpPr>
            <a:spLocks noGrp="1"/>
          </p:cNvSpPr>
          <p:nvPr/>
        </p:nvSpPr>
        <p:spPr>
          <a:xfrm>
            <a:off x="6238875" y="247650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檢查 protocol、config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bundle／runtime／map identity</a:t>
            </a:r>
          </a:p>
        </p:txBody>
      </p:sp>
      <p:sp>
        <p:nvSpPr>
          <p:cNvPr id="4" name="archive">
            <a:extLst>
              <a:ext uri="{FF2B5EF4-FFF2-40B4-BE49-F238E27FC236}">
                <ns2:creationId id="{0289588F-1526-461A-BC8D-F52FA812C364}"/>
              </a:ext>
            </a:extLst>
          </p:cNvPr>
          <p:cNvSpPr>
            <a:spLocks noGrp="1"/>
          </p:cNvSpPr>
          <p:nvPr/>
        </p:nvSpPr>
        <p:spPr>
          <a:xfrm>
            <a:off x="10715625" y="247650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保留未提交工作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restore">
            <a:extLst>
              <a:ext uri="{FF2B5EF4-FFF2-40B4-BE49-F238E27FC236}">
                <ns2:creationId id="{32D6D11C-4761-40B5-A904-54CFD810BB0A}"/>
              </a:ext>
            </a:extLst>
          </p:cNvPr>
          <p:cNvSpPr>
            <a:spLocks noGrp="1"/>
          </p:cNvSpPr>
          <p:nvPr/>
        </p:nvSpPr>
        <p:spPr>
          <a:xfrm>
            <a:off x="10715625" y="51911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還原族群、pool 與 context</a:t>
            </a:r>
          </a:p>
          <a:p>
            <a:pPr algn="ctr">
              <a:def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操作狀態、archive 與停滯計數</a:t>
            </a:r>
          </a:p>
        </p:txBody>
      </p:sp>
      <p:sp>
        <p:nvSpPr>
          <p:cNvPr id="6" name="replay">
            <a:extLst>
              <a:ext uri="{FF2B5EF4-FFF2-40B4-BE49-F238E27FC236}">
                <ns2:creationId id="{2ABBFF4D-676D-44FC-9757-67F24606716E}"/>
              </a:ext>
            </a:extLst>
          </p:cNvPr>
          <p:cNvSpPr>
            <a:spLocks noGrp="1"/>
          </p:cNvSpPr>
          <p:nvPr/>
        </p:nvSpPr>
        <p:spPr>
          <a:xfrm>
            <a:off x="6238875" y="51911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用穩定 ID 與 seed 重播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未完成世代</a:t>
            </a:r>
          </a:p>
        </p:txBody>
      </p:sp>
      <p:sp>
        <p:nvSpPr>
          <p:cNvPr id="7" name="continue">
            <a:extLst>
              <a:ext uri="{FF2B5EF4-FFF2-40B4-BE49-F238E27FC236}">
                <ns2:creationId id="{37959193-92C5-4273-81BD-E968172B4E2F}"/>
              </a:ext>
            </a:extLst>
          </p:cNvPr>
          <p:cNvSpPr>
            <a:spLocks noGrp="1"/>
          </p:cNvSpPr>
          <p:nvPr/>
        </p:nvSpPr>
        <p:spPr>
          <a:xfrm>
            <a:off x="1762125" y="5191125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繼續演化與 Final Test</a:t>
            </a:r>
          </a:p>
        </p:txBody>
      </p:sp>
      <p:sp>
        <p:nvSpPr>
          <p:cNvPr id="1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</a:p>
        </p:txBody>
      </p:sp>
    </p:spTree>
    <p:extLst>
      <p:ext uri="{BB962C8B-B14F-4D97-AF65-F5344CB8AC3E}">
        <ns3:creationId val="931641579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CB060919-A790-41F9-B7AD-689AF31B3DB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63F7A2A9-C04B-4EC9-8DEF-21AA7054EFB6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4781550"/>
                <a:gridCol w="51435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層級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排程方式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恢復判斷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設定資料夾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依 YAML 檔名排序，逐組執行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experiment.yaml 記每組 run slots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明確 seeds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random_seeds: [7,8,9]，runs: 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依序排 7,7,8,8,9,9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replicate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獨立 run 目錄與 resolved config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未完成優先；已完成可跳過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完成條件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 EA manifest；正式 run 還需 Final Test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可恢復中斷、補 final test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未提交 G0 可建立替代 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</a:p>
        </p:txBody>
      </p:sp>
    </p:spTree>
    <p:extLst>
      <p:ext uri="{BB962C8B-B14F-4D97-AF65-F5344CB8AC3E}">
        <ns3:creationId val="181874268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70DCC953-B99C-4A4F-9A9C-E6DA23723E0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text-1">
            <a:extLst>
              <a:ext uri="{FF2B5EF4-FFF2-40B4-BE49-F238E27FC236}">
                <ns2:creationId id="{E2B3B7A8-BF64-406E-81C4-545B35AEB1F6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Root random_seed 衍生初始化、選擇、操作、LLM request 與每場 JVM seed</a:t>
            </a:r>
          </a:p>
        </p:txBody>
      </p:sp>
      <p:sp>
        <p:nvSpPr>
          <p:cNvPr id="3" name="text-2">
            <a:extLst>
              <a:ext uri="{FF2B5EF4-FFF2-40B4-BE49-F238E27FC236}">
                <ns2:creationId id="{6F78A9EE-CABD-489E-88C1-7236E3351EC2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與 endpoint 由固定 task identity／index 決定，不依 thread 或完成順序</a:t>
            </a:r>
          </a:p>
        </p:txBody>
      </p:sp>
      <p:sp>
        <p:nvSpPr>
          <p:cNvPr id="4" name="text-3">
            <a:extLst>
              <a:ext uri="{FF2B5EF4-FFF2-40B4-BE49-F238E27FC236}">
                <ns2:creationId id="{B36C161F-00F7-4DE5-9FF9-0A4465220530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source、bundle、runtime、map 與 request／response hashes 以核對身分</a:t>
            </a:r>
          </a:p>
        </p:txBody>
      </p:sp>
      <p:sp>
        <p:nvSpPr>
          <p:cNvPr id="5" name="text-4">
            <a:extLst>
              <a:ext uri="{FF2B5EF4-FFF2-40B4-BE49-F238E27FC236}">
                <ns2:creationId id="{9EA69A84-0939-40FB-977B-ABC7FEFEF069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相同輸出才有相同軌跡；外部模型、GPU kernel、私有 RNG 與時間上限仍有變異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</a:p>
        </p:txBody>
      </p:sp>
    </p:spTree>
    <p:extLst>
      <p:ext uri="{BB962C8B-B14F-4D97-AF65-F5344CB8AC3E}">
        <ns3:creationId val="1335465700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288885C3-3F9A-4890-955A-107346A981F5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6197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C944588B-4CDE-472E-8E62-041D631425F2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67875" y="56197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5DDC1391-8283-48E2-B517-D4BB103A1AD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30125" y="3524250"/>
            <a:ext cx="0" cy="15240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9C574CB4-3F4F-4E4B-995E-99FB7BAE7B5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67875" y="29527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D3C653D9-0991-4B6F-A5F7-079FF0653E36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A183A46E-2047-405A-9078-4FE947352CB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stop">
            <a:extLst>
              <a:ext uri="{FF2B5EF4-FFF2-40B4-BE49-F238E27FC236}">
                <ns2:creationId id="{70541F41-7F42-4F31-AC7B-746012A49228}"/>
              </a:ext>
            </a:extLst>
          </p:cNvPr>
          <p:cNvSpPr>
            <a:spLocks noGrp="1"/>
          </p:cNvSpPr>
          <p:nvPr/>
        </p:nvSpPr>
        <p:spPr>
          <a:xfrm>
            <a:off x="1762125" y="2381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 上限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 條件</a:t>
            </a:r>
          </a:p>
        </p:txBody>
      </p:sp>
      <p:sp>
        <p:nvSpPr>
          <p:cNvPr id="3" name="represent">
            <a:extLst>
              <a:ext uri="{FF2B5EF4-FFF2-40B4-BE49-F238E27FC236}">
                <ns2:creationId id="{91DA9D5E-5288-4893-8A6E-93F28849AE17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選可執行代表策略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canonical Java</a:t>
            </a:r>
          </a:p>
        </p:txBody>
      </p:sp>
      <p:sp>
        <p:nvSpPr>
          <p:cNvPr id="4" name="recompile">
            <a:extLst>
              <a:ext uri="{FF2B5EF4-FFF2-40B4-BE49-F238E27FC236}">
                <ns2:creationId id="{4A4A763B-F42A-4351-9676-A6514E9B794B}"/>
              </a:ext>
            </a:extLst>
          </p:cNvPr>
          <p:cNvSpPr>
            <a:spLocks noGrp="1"/>
          </p:cNvSpPr>
          <p:nvPr/>
        </p:nvSpPr>
        <p:spPr>
          <a:xfrm>
            <a:off x="10715625" y="2381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再執行七項 Integration</a:t>
            </a:r>
          </a:p>
        </p:txBody>
      </p:sp>
      <p:sp>
        <p:nvSpPr>
          <p:cNvPr id="5" name="matrix">
            <a:extLst>
              <a:ext uri="{FF2B5EF4-FFF2-40B4-BE49-F238E27FC236}">
                <ns2:creationId id="{0484B928-5757-4EA1-8D65-8DD13D77074B}"/>
              </a:ext>
            </a:extLst>
          </p:cNvPr>
          <p:cNvSpPr>
            <a:spLocks noGrp="1"/>
          </p:cNvSpPr>
          <p:nvPr/>
        </p:nvSpPr>
        <p:spPr>
          <a:xfrm>
            <a:off x="10715625" y="5048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對手 × 3 地圖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× 每邊 10 場 × 2 邊</a:t>
            </a:r>
          </a:p>
        </p:txBody>
      </p:sp>
      <p:sp>
        <p:nvSpPr>
          <p:cNvPr id="6" name="result">
            <a:extLst>
              <a:ext uri="{FF2B5EF4-FFF2-40B4-BE49-F238E27FC236}">
                <ns2:creationId id="{43506EEC-C294-4B87-84ED-CB8DB9FDB387}"/>
              </a:ext>
            </a:extLst>
          </p:cNvPr>
          <p:cNvSpPr>
            <a:spLocks noGrp="1"/>
          </p:cNvSpPr>
          <p:nvPr/>
        </p:nvSpPr>
        <p:spPr>
          <a:xfrm>
            <a:off x="6238875" y="5048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600 場結果</a:t>
            </a:r>
          </a:p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W／L／D／E 與分數</a:t>
            </a:r>
          </a:p>
        </p:txBody>
      </p:sp>
      <p:sp>
        <p:nvSpPr>
          <p:cNvPr id="7" name="finish">
            <a:extLst>
              <a:ext uri="{FF2B5EF4-FFF2-40B4-BE49-F238E27FC236}">
                <ns2:creationId id="{312F829A-E81B-4C1A-B6D7-9488C1FBB7CD}"/>
              </a:ext>
            </a:extLst>
          </p:cNvPr>
          <p:cNvSpPr>
            <a:spLocks noGrp="1"/>
          </p:cNvSpPr>
          <p:nvPr/>
        </p:nvSpPr>
        <p:spPr>
          <a:xfrm>
            <a:off x="1762125" y="5048250"/>
            <a:ext cx="3429000" cy="1143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輸出 JSON／CSV／Markdown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run 交付</a:t>
            </a:r>
          </a:p>
        </p:txBody>
      </p:sp>
      <p:sp>
        <p:nvSpPr>
          <p:cNvPr id="13" name="text-12">
            <a:extLst>
              <a:ext uri="{FF2B5EF4-FFF2-40B4-BE49-F238E27FC236}">
                <ns2:creationId id="{E81798FC-AFC7-4DBD-816F-8238F3F73CC9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搜尋每位 180 場；pool 挑戰 18 場；正式最終測試 600 場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</a:p>
        </p:txBody>
      </p:sp>
    </p:spTree>
    <p:extLst>
      <p:ext uri="{BB962C8B-B14F-4D97-AF65-F5344CB8AC3E}">
        <ns3:creationId val="1788030302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3360FB0-AD47-442F-86AE-F21EF2FEB61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EF5A7D63-65A2-45DE-B86B-07021FF88B8A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4210050"/>
                <a:gridCol w="5715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Search fitness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固定跨世代 benchmark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對手情境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隨快照刷新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所有代表使用同一固定 protocol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代表選擇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用於當代演化選擇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各指定快照內最高有限 GP 的 runnable survivor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測試規模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每位 180 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每個代表各 600 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與輸出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候選與對手身分衍生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paired seeds 不依候選 ID／出生代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fixed_evaluation/ 與搜尋證據分開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</a:p>
        </p:txBody>
      </p:sp>
    </p:spTree>
    <p:extLst>
      <p:ext uri="{BB962C8B-B14F-4D97-AF65-F5344CB8AC3E}">
        <ns3:creationId val="202009681"/>
      </p:ext>
    </p:extLst>
  </p:cSld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949F0BF3-5EB7-4C25-B82C-EE9BE07D5E2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text-1">
            <a:extLst>
              <a:ext uri="{FF2B5EF4-FFF2-40B4-BE49-F238E27FC236}">
                <ns2:creationId id="{7DC01E51-C7D2-405D-9DFC-E7960715C3E2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generation snapshot 檢視倖存者軌跡，另保留 birth_generation 與逐場分佈</a:t>
            </a:r>
          </a:p>
        </p:txBody>
      </p:sp>
      <p:sp>
        <p:nvSpPr>
          <p:cNvPr id="3" name="text-2">
            <a:extLst>
              <a:ext uri="{FF2B5EF4-FFF2-40B4-BE49-F238E27FC236}">
                <ns2:creationId id="{C5191BAA-2F4C-416C-88BB-8E3FEF965677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 wall time、初始化與已完成演化世代分開報；stage sums 可能因重疊大於 wall time</a:t>
            </a:r>
          </a:p>
        </p:txBody>
      </p:sp>
      <p:sp>
        <p:nvSpPr>
          <p:cNvPr id="4" name="text-3">
            <a:extLst>
              <a:ext uri="{FF2B5EF4-FFF2-40B4-BE49-F238E27FC236}">
                <ns2:creationId id="{BFC4437D-02B5-4686-8506-D2389010881A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比較策略能力先固定 benchmark；比較速度另控制模型、硬體、seed、工作量與失敗比例</a:t>
            </a:r>
          </a:p>
        </p:txBody>
      </p:sp>
      <p:sp>
        <p:nvSpPr>
          <p:cNvPr id="5" name="text-4">
            <a:extLst>
              <a:ext uri="{FF2B5EF4-FFF2-40B4-BE49-F238E27FC236}">
                <ns2:creationId id="{644908AF-6AB2-4229-A23E-D7C28FC11C2F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目前沒有多主機 live speedup benchmark；不能由串流排程設計推論已加速多少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</a:p>
        </p:txBody>
      </p:sp>
    </p:spTree>
    <p:extLst>
      <p:ext uri="{BB962C8B-B14F-4D97-AF65-F5344CB8AC3E}">
        <ns3:creationId val="1343274348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C67CB00-4C02-4244-9C78-1E3F74B2424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43993A9-3761-485E-A5BF-12D33D803897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5638800"/>
                <a:gridCol w="42862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工具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支援工作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與搜尋狀態的關係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 gui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設定選項、YAML、啟停、resume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瀏覽族群與視覺對戰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啟動前凍結 launch snapshot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 monitor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原子狀態、PID／liveness、資源與失敗摘要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唯讀；異常結束與正常完成分開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 analyze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各對手分數、勝率、單場分佈與 AOS 圖表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由保存的快照與證據產生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analyze --semantics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探針表、唯一性與精確等價類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讀既有 wrapper／cache，不重跑 agent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</a:p>
        </p:txBody>
      </p:sp>
    </p:spTree>
    <p:extLst>
      <p:ext uri="{BB962C8B-B14F-4D97-AF65-F5344CB8AC3E}">
        <ns3:creationId val="2024745800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CEAF4D90-C217-429E-A43C-83934020F5B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DCA3A505-29DD-4D46-9CE4-55176499CE54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57500"/>
                <a:gridCol w="5162550"/>
                <a:gridCol w="47625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configs/framework_coach.yaml 的值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意義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架構與演化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framework_slots＋llm_coach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Mistral bootstrap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一次建立框架，之後選完整槽值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搜尋預算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generations，population 10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runs 1，seed 8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 之後最多 20 個演化世代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評估與 pool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self_play，refresh 5，capacity 50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固定四保護與抽樣六對手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操作與對戰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crossover 0.75，mutation 1.0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 tick caps 1500／3000／4000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全部採 Strategy 路徑；數值屬範例設定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</a:p>
        </p:txBody>
      </p:sp>
    </p:spTree>
    <p:extLst>
      <p:ext uri="{BB962C8B-B14F-4D97-AF65-F5344CB8AC3E}">
        <ns3:creationId val="1018291495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2026-10-21T04:04:20.2570000Z</dcterms:created>
  <dcterms:modified xsi:type="dcterms:W3CDTF">2026-10-21T04:04:20.2580000Z</dcterms:modified>
</coreProperties>
</file>