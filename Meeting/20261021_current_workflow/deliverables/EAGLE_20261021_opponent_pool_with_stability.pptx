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slides/charts/chart1.xml" ContentType="application/vnd.openxmlformats-officedocument.drawingml.chart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slides/charts/chart8.xml" ContentType="application/vnd.openxmlformats-officedocument.drawingml.chart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slides/charts/chart9.xml" ContentType="application/vnd.openxmlformats-officedocument.drawingml.chart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slides/charts/chart10.xml" ContentType="application/vnd.openxmlformats-officedocument.drawingml.chart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6e8575c83f4301" /><Relationship Type="http://schemas.openxmlformats.org/officeDocument/2006/relationships/extended-properties" Target="/docProps/app.xml" Id="R298c77d09bf7446a" /><Relationship Type="http://schemas.openxmlformats.org/officeDocument/2006/relationships/officeDocument" Target="/ppt/presentation.xml" Id="Rd0899a2fb7ec45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ff2199ba0a4a2a"/>
  </p:sldMasterIdLst>
  <p:notesMasterIdLst>
    <p:notesMasterId xmlns:r="http://schemas.openxmlformats.org/officeDocument/2006/relationships" r:id="R26ef7b0bd31641fa"/>
  </p:notesMasterIdLst>
  <p:sldIdLst>
    <p:sldId xmlns:r="http://schemas.openxmlformats.org/officeDocument/2006/relationships" id="256" r:id="R3178b5ea69324f48"/>
    <p:sldId xmlns:r="http://schemas.openxmlformats.org/officeDocument/2006/relationships" id="257" r:id="R9f35bd7c333943f4"/>
    <p:sldId xmlns:r="http://schemas.openxmlformats.org/officeDocument/2006/relationships" id="258" r:id="R685283cf40354244"/>
    <p:sldId xmlns:r="http://schemas.openxmlformats.org/officeDocument/2006/relationships" id="259" r:id="Rf6bd922b20ad4543"/>
    <p:sldId xmlns:r="http://schemas.openxmlformats.org/officeDocument/2006/relationships" id="260" r:id="R73ae7e7b494a4eb3"/>
    <p:sldId xmlns:r="http://schemas.openxmlformats.org/officeDocument/2006/relationships" id="261" r:id="Rbbd40bd67ab64908"/>
    <p:sldId xmlns:r="http://schemas.openxmlformats.org/officeDocument/2006/relationships" id="262" r:id="R3eaf5acc71a1481e"/>
    <p:sldId xmlns:r="http://schemas.openxmlformats.org/officeDocument/2006/relationships" id="263" r:id="R006c4b954aba40e6"/>
    <p:sldId xmlns:r="http://schemas.openxmlformats.org/officeDocument/2006/relationships" id="264" r:id="R55f2273b7cba4638"/>
    <p:sldId xmlns:r="http://schemas.openxmlformats.org/officeDocument/2006/relationships" id="265" r:id="Rb3a3de877c8a4688"/>
    <p:sldId xmlns:r="http://schemas.openxmlformats.org/officeDocument/2006/relationships" id="266" r:id="R39bd6b40308940d9"/>
    <p:sldId xmlns:r="http://schemas.openxmlformats.org/officeDocument/2006/relationships" id="267" r:id="Rbae2d83fad8c46fb"/>
    <p:sldId xmlns:r="http://schemas.openxmlformats.org/officeDocument/2006/relationships" id="268" r:id="Rc195c26a9a3f45b4"/>
    <p:sldId xmlns:r="http://schemas.openxmlformats.org/officeDocument/2006/relationships" id="269" r:id="Rd6244f9fbc83419b"/>
    <p:sldId xmlns:r="http://schemas.openxmlformats.org/officeDocument/2006/relationships" id="270" r:id="R8ab257ad78464611"/>
    <p:sldId xmlns:r="http://schemas.openxmlformats.org/officeDocument/2006/relationships" id="271" r:id="R3116d773ab2d477b"/>
    <p:sldId xmlns:r="http://schemas.openxmlformats.org/officeDocument/2006/relationships" id="272" r:id="R009a014af2de4b63"/>
    <p:sldId xmlns:r="http://schemas.openxmlformats.org/officeDocument/2006/relationships" id="273" r:id="R203f2d6763254ee0"/>
    <p:sldId xmlns:r="http://schemas.openxmlformats.org/officeDocument/2006/relationships" id="274" r:id="R4e5d05f1512b4e34"/>
    <p:sldId xmlns:r="http://schemas.openxmlformats.org/officeDocument/2006/relationships" id="275" r:id="R62a9c6c196204e04"/>
    <p:sldId xmlns:r="http://schemas.openxmlformats.org/officeDocument/2006/relationships" id="276" r:id="R2623dd800ef240ba"/>
    <p:sldId xmlns:r="http://schemas.openxmlformats.org/officeDocument/2006/relationships" id="277" r:id="R25ca38b30aa6435c"/>
    <p:sldId xmlns:r="http://schemas.openxmlformats.org/officeDocument/2006/relationships" id="278" r:id="R41b762949a61456b"/>
    <p:sldId xmlns:r="http://schemas.openxmlformats.org/officeDocument/2006/relationships" id="279" r:id="R4d010b8f63a94d7f"/>
    <p:sldId xmlns:r="http://schemas.openxmlformats.org/officeDocument/2006/relationships" id="280" r:id="R21eb7c271bbd4d88"/>
    <p:sldId xmlns:r="http://schemas.openxmlformats.org/officeDocument/2006/relationships" id="281" r:id="R4986e4a31dfc4010"/>
    <p:sldId xmlns:r="http://schemas.openxmlformats.org/officeDocument/2006/relationships" id="282" r:id="R7e40f73052de4e03"/>
    <p:sldId xmlns:r="http://schemas.openxmlformats.org/officeDocument/2006/relationships" id="283" r:id="R05adf8456ac84f7e"/>
    <p:sldId xmlns:r="http://schemas.openxmlformats.org/officeDocument/2006/relationships" id="284" r:id="R52b53e8c9dc14481"/>
    <p:sldId xmlns:r="http://schemas.openxmlformats.org/officeDocument/2006/relationships" id="285" r:id="R080c02589b834140"/>
    <p:sldId xmlns:r="http://schemas.openxmlformats.org/officeDocument/2006/relationships" id="286" r:id="R7758e3d429594786"/>
    <p:sldId xmlns:r="http://schemas.openxmlformats.org/officeDocument/2006/relationships" id="287" r:id="R85c901afa3ec42fb"/>
    <p:sldId xmlns:r="http://schemas.openxmlformats.org/officeDocument/2006/relationships" id="288" r:id="R6123308cc58d4a8c"/>
    <p:sldId xmlns:r="http://schemas.openxmlformats.org/officeDocument/2006/relationships" id="289" r:id="Rbbda93a2eab84c78"/>
    <p:sldId xmlns:r="http://schemas.openxmlformats.org/officeDocument/2006/relationships" id="290" r:id="R9ee4c8fb7d8f4815"/>
    <p:sldId xmlns:r="http://schemas.openxmlformats.org/officeDocument/2006/relationships" id="291" r:id="R981cbd90b2b44512"/>
    <p:sldId xmlns:r="http://schemas.openxmlformats.org/officeDocument/2006/relationships" id="292" r:id="Racb1510b18da4a6e"/>
    <p:sldId xmlns:r="http://schemas.openxmlformats.org/officeDocument/2006/relationships" id="293" r:id="Ra3510f5d0a154b4b"/>
    <p:sldId xmlns:r="http://schemas.openxmlformats.org/officeDocument/2006/relationships" id="294" r:id="R549309ac760a4180"/>
    <p:sldId xmlns:r="http://schemas.openxmlformats.org/officeDocument/2006/relationships" id="295" r:id="Rbf94a96227e14063"/>
    <p:sldId xmlns:r="http://schemas.openxmlformats.org/officeDocument/2006/relationships" id="296" r:id="Ra5b7b6145e514ade"/>
    <p:sldId xmlns:r="http://schemas.openxmlformats.org/officeDocument/2006/relationships" id="297" r:id="R5424539bb65c462f"/>
    <p:sldId xmlns:r="http://schemas.openxmlformats.org/officeDocument/2006/relationships" id="298" r:id="R328413170df6428a"/>
    <p:sldId xmlns:r="http://schemas.openxmlformats.org/officeDocument/2006/relationships" id="299" r:id="Rfc68c94d13124666"/>
    <p:sldId xmlns:r="http://schemas.openxmlformats.org/officeDocument/2006/relationships" id="300" r:id="R00c6ebf139df4e10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3b3accd32c4925" /><Relationship Type="http://schemas.openxmlformats.org/officeDocument/2006/relationships/slideMaster" Target="/ppt/slideMasters/slideMaster1.xml" Id="Rc0ff2199ba0a4a2a" /><Relationship Type="http://schemas.openxmlformats.org/officeDocument/2006/relationships/notesMaster" Target="/ppt/notesMasters/notesMaster1.xml" Id="R26ef7b0bd31641fa" /><Relationship Type="http://schemas.openxmlformats.org/officeDocument/2006/relationships/presProps" Target="/ppt/presProps.xml" Id="R387559f534344333" /><Relationship Type="http://schemas.openxmlformats.org/officeDocument/2006/relationships/tableStyles" Target="/ppt/tableStyles.xml" Id="Rc12080db18514670" /><Relationship Type="http://schemas.openxmlformats.org/officeDocument/2006/relationships/slide" Target="/ppt/slides/slide1.xml" Id="R3178b5ea69324f48" /><Relationship Type="http://schemas.openxmlformats.org/officeDocument/2006/relationships/slide" Target="/ppt/slides/slide2.xml" Id="R9f35bd7c333943f4" /><Relationship Type="http://schemas.openxmlformats.org/officeDocument/2006/relationships/slide" Target="/ppt/slides/slide3.xml" Id="R685283cf40354244" /><Relationship Type="http://schemas.openxmlformats.org/officeDocument/2006/relationships/slide" Target="/ppt/slides/slide4.xml" Id="Rf6bd922b20ad4543" /><Relationship Type="http://schemas.openxmlformats.org/officeDocument/2006/relationships/slide" Target="/ppt/slides/slide5.xml" Id="R73ae7e7b494a4eb3" /><Relationship Type="http://schemas.openxmlformats.org/officeDocument/2006/relationships/slide" Target="/ppt/slides/slide6.xml" Id="Rbbd40bd67ab64908" /><Relationship Type="http://schemas.openxmlformats.org/officeDocument/2006/relationships/slide" Target="/ppt/slides/slide7.xml" Id="R3eaf5acc71a1481e" /><Relationship Type="http://schemas.openxmlformats.org/officeDocument/2006/relationships/slide" Target="/ppt/slides/slide8.xml" Id="R006c4b954aba40e6" /><Relationship Type="http://schemas.openxmlformats.org/officeDocument/2006/relationships/slide" Target="/ppt/slides/slide9.xml" Id="R55f2273b7cba4638" /><Relationship Type="http://schemas.openxmlformats.org/officeDocument/2006/relationships/slide" Target="/ppt/slides/slide10.xml" Id="Rb3a3de877c8a4688" /><Relationship Type="http://schemas.openxmlformats.org/officeDocument/2006/relationships/slide" Target="/ppt/slides/slide11.xml" Id="R39bd6b40308940d9" /><Relationship Type="http://schemas.openxmlformats.org/officeDocument/2006/relationships/slide" Target="/ppt/slides/slide12.xml" Id="Rbae2d83fad8c46fb" /><Relationship Type="http://schemas.openxmlformats.org/officeDocument/2006/relationships/slide" Target="/ppt/slides/slide13.xml" Id="Rc195c26a9a3f45b4" /><Relationship Type="http://schemas.openxmlformats.org/officeDocument/2006/relationships/slide" Target="/ppt/slides/slide14.xml" Id="Rd6244f9fbc83419b" /><Relationship Type="http://schemas.openxmlformats.org/officeDocument/2006/relationships/slide" Target="/ppt/slides/slide15.xml" Id="R8ab257ad78464611" /><Relationship Type="http://schemas.openxmlformats.org/officeDocument/2006/relationships/slide" Target="/ppt/slides/slide16.xml" Id="R3116d773ab2d477b" /><Relationship Type="http://schemas.openxmlformats.org/officeDocument/2006/relationships/slide" Target="/ppt/slides/slide17.xml" Id="R009a014af2de4b63" /><Relationship Type="http://schemas.openxmlformats.org/officeDocument/2006/relationships/slide" Target="/ppt/slides/slide18.xml" Id="R203f2d6763254ee0" /><Relationship Type="http://schemas.openxmlformats.org/officeDocument/2006/relationships/slide" Target="/ppt/slides/slide19.xml" Id="R4e5d05f1512b4e34" /><Relationship Type="http://schemas.openxmlformats.org/officeDocument/2006/relationships/slide" Target="/ppt/slides/slide20.xml" Id="R62a9c6c196204e04" /><Relationship Type="http://schemas.openxmlformats.org/officeDocument/2006/relationships/slide" Target="/ppt/slides/slide21.xml" Id="R2623dd800ef240ba" /><Relationship Type="http://schemas.openxmlformats.org/officeDocument/2006/relationships/slide" Target="/ppt/slides/slide22.xml" Id="R25ca38b30aa6435c" /><Relationship Type="http://schemas.openxmlformats.org/officeDocument/2006/relationships/slide" Target="/ppt/slides/slide23.xml" Id="R41b762949a61456b" /><Relationship Type="http://schemas.openxmlformats.org/officeDocument/2006/relationships/slide" Target="/ppt/slides/slide24.xml" Id="R4d010b8f63a94d7f" /><Relationship Type="http://schemas.openxmlformats.org/officeDocument/2006/relationships/slide" Target="/ppt/slides/slide25.xml" Id="R21eb7c271bbd4d88" /><Relationship Type="http://schemas.openxmlformats.org/officeDocument/2006/relationships/slide" Target="/ppt/slides/slide26.xml" Id="R4986e4a31dfc4010" /><Relationship Type="http://schemas.openxmlformats.org/officeDocument/2006/relationships/slide" Target="/ppt/slides/slide27.xml" Id="R7e40f73052de4e03" /><Relationship Type="http://schemas.openxmlformats.org/officeDocument/2006/relationships/slide" Target="/ppt/slides/slide28.xml" Id="R05adf8456ac84f7e" /><Relationship Type="http://schemas.openxmlformats.org/officeDocument/2006/relationships/slide" Target="/ppt/slides/slide29.xml" Id="R52b53e8c9dc14481" /><Relationship Type="http://schemas.openxmlformats.org/officeDocument/2006/relationships/slide" Target="/ppt/slides/slide30.xml" Id="R080c02589b834140" /><Relationship Type="http://schemas.openxmlformats.org/officeDocument/2006/relationships/slide" Target="/ppt/slides/slide31.xml" Id="R7758e3d429594786" /><Relationship Type="http://schemas.openxmlformats.org/officeDocument/2006/relationships/slide" Target="/ppt/slides/slide32.xml" Id="R85c901afa3ec42fb" /><Relationship Type="http://schemas.openxmlformats.org/officeDocument/2006/relationships/slide" Target="/ppt/slides/slide33.xml" Id="R6123308cc58d4a8c" /><Relationship Type="http://schemas.openxmlformats.org/officeDocument/2006/relationships/slide" Target="/ppt/slides/slide34.xml" Id="Rbbda93a2eab84c78" /><Relationship Type="http://schemas.openxmlformats.org/officeDocument/2006/relationships/slide" Target="/ppt/slides/slide35.xml" Id="R9ee4c8fb7d8f4815" /><Relationship Type="http://schemas.openxmlformats.org/officeDocument/2006/relationships/slide" Target="/ppt/slides/slide36.xml" Id="R981cbd90b2b44512" /><Relationship Type="http://schemas.openxmlformats.org/officeDocument/2006/relationships/slide" Target="/ppt/slides/slide37.xml" Id="Racb1510b18da4a6e" /><Relationship Type="http://schemas.openxmlformats.org/officeDocument/2006/relationships/slide" Target="/ppt/slides/slide38.xml" Id="Ra3510f5d0a154b4b" /><Relationship Type="http://schemas.openxmlformats.org/officeDocument/2006/relationships/slide" Target="/ppt/slides/slide39.xml" Id="R549309ac760a4180" /><Relationship Type="http://schemas.openxmlformats.org/officeDocument/2006/relationships/slide" Target="/ppt/slides/slide40.xml" Id="Rbf94a96227e14063" /><Relationship Type="http://schemas.openxmlformats.org/officeDocument/2006/relationships/slide" Target="/ppt/slides/slide41.xml" Id="Ra5b7b6145e514ade" /><Relationship Type="http://schemas.openxmlformats.org/officeDocument/2006/relationships/slide" Target="/ppt/slides/slide42.xml" Id="R5424539bb65c462f" /><Relationship Type="http://schemas.openxmlformats.org/officeDocument/2006/relationships/slide" Target="/ppt/slides/slide43.xml" Id="R328413170df6428a" /><Relationship Type="http://schemas.openxmlformats.org/officeDocument/2006/relationships/slide" Target="/ppt/slides/slide44.xml" Id="Rfc68c94d13124666" /><Relationship Type="http://schemas.openxmlformats.org/officeDocument/2006/relationships/slide" Target="/ppt/slides/slide45.xml" Id="R00c6ebf139df4e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f72be59d8442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da44bd4075481c" /><Relationship Type="http://schemas.openxmlformats.org/officeDocument/2006/relationships/notesMaster" Target="/ppt/notesMasters/notesMaster1.xml" Id="R1db423f58bbb43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0165a1fa4248af" /><Relationship Type="http://schemas.openxmlformats.org/officeDocument/2006/relationships/notesMaster" Target="/ppt/notesMasters/notesMaster1.xml" Id="Raada9900f23b4b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428c5b81cc4518" /><Relationship Type="http://schemas.openxmlformats.org/officeDocument/2006/relationships/notesMaster" Target="/ppt/notesMasters/notesMaster1.xml" Id="R1d6e37ae5e0d4c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93d8264f6c45d9" /><Relationship Type="http://schemas.openxmlformats.org/officeDocument/2006/relationships/notesMaster" Target="/ppt/notesMasters/notesMaster1.xml" Id="R8a335a2f3cb841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1776339e794b52" /><Relationship Type="http://schemas.openxmlformats.org/officeDocument/2006/relationships/notesMaster" Target="/ppt/notesMasters/notesMaster1.xml" Id="R5f772b0e73b140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46c04ef3704586" /><Relationship Type="http://schemas.openxmlformats.org/officeDocument/2006/relationships/notesMaster" Target="/ppt/notesMasters/notesMaster1.xml" Id="Rc2834955c03b48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1530b415a34933" /><Relationship Type="http://schemas.openxmlformats.org/officeDocument/2006/relationships/notesMaster" Target="/ppt/notesMasters/notesMaster1.xml" Id="R946e40ab9e6f46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a235a490374c9e" /><Relationship Type="http://schemas.openxmlformats.org/officeDocument/2006/relationships/notesMaster" Target="/ppt/notesMasters/notesMaster1.xml" Id="R35d0b1f2375d41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eb1e80a92e4e3e" /><Relationship Type="http://schemas.openxmlformats.org/officeDocument/2006/relationships/notesMaster" Target="/ppt/notesMasters/notesMaster1.xml" Id="Rb3056d991ae445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a1edee8e014596" /><Relationship Type="http://schemas.openxmlformats.org/officeDocument/2006/relationships/notesMaster" Target="/ppt/notesMasters/notesMaster1.xml" Id="Rb2b7e95774d746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dd92aca0ba45fa" /><Relationship Type="http://schemas.openxmlformats.org/officeDocument/2006/relationships/notesMaster" Target="/ppt/notesMasters/notesMaster1.xml" Id="Rc5bbf0bd7e6549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540ec4fc214fac" /><Relationship Type="http://schemas.openxmlformats.org/officeDocument/2006/relationships/notesMaster" Target="/ppt/notesMasters/notesMaster1.xml" Id="R1d0c6d920e7d46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6db0b5f53649a5" /><Relationship Type="http://schemas.openxmlformats.org/officeDocument/2006/relationships/notesMaster" Target="/ppt/notesMasters/notesMaster1.xml" Id="R61b7e28ded3c48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b5fd2fc418148ce" /><Relationship Type="http://schemas.openxmlformats.org/officeDocument/2006/relationships/notesMaster" Target="/ppt/notesMasters/notesMaster1.xml" Id="R6345def1f4624ce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36ad8b0f0f4f10" /><Relationship Type="http://schemas.openxmlformats.org/officeDocument/2006/relationships/notesMaster" Target="/ppt/notesMasters/notesMaster1.xml" Id="R7b8b81c25b7e432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cf0a22295fb4d60" /><Relationship Type="http://schemas.openxmlformats.org/officeDocument/2006/relationships/notesMaster" Target="/ppt/notesMasters/notesMaster1.xml" Id="Re2326d8d8247428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8fd3f336e634835" /><Relationship Type="http://schemas.openxmlformats.org/officeDocument/2006/relationships/notesMaster" Target="/ppt/notesMasters/notesMaster1.xml" Id="R85bafdbfd0d24dd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e8111e05f6e4363" /><Relationship Type="http://schemas.openxmlformats.org/officeDocument/2006/relationships/notesMaster" Target="/ppt/notesMasters/notesMaster1.xml" Id="Rd3ed525ca362407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06c45b9ebbd441f" /><Relationship Type="http://schemas.openxmlformats.org/officeDocument/2006/relationships/notesMaster" Target="/ppt/notesMasters/notesMaster1.xml" Id="R1db515580f9d4c3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062ada2059e442f" /><Relationship Type="http://schemas.openxmlformats.org/officeDocument/2006/relationships/notesMaster" Target="/ppt/notesMasters/notesMaster1.xml" Id="R686e9868ac0c4bd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b3835476b7c4e85" /><Relationship Type="http://schemas.openxmlformats.org/officeDocument/2006/relationships/notesMaster" Target="/ppt/notesMasters/notesMaster1.xml" Id="Rf664dcb1f0934a8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3f280bd0cf34157" /><Relationship Type="http://schemas.openxmlformats.org/officeDocument/2006/relationships/notesMaster" Target="/ppt/notesMasters/notesMaster1.xml" Id="Rba957b53bc85466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01fb21d308f486e" /><Relationship Type="http://schemas.openxmlformats.org/officeDocument/2006/relationships/notesMaster" Target="/ppt/notesMasters/notesMaster1.xml" Id="Ra53c380a063147a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333df968a0847fa" /><Relationship Type="http://schemas.openxmlformats.org/officeDocument/2006/relationships/notesMaster" Target="/ppt/notesMasters/notesMaster1.xml" Id="R43b6059b04d54ec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5a8bc52dbf34d6c" /><Relationship Type="http://schemas.openxmlformats.org/officeDocument/2006/relationships/notesMaster" Target="/ppt/notesMasters/notesMaster1.xml" Id="Rb8e1658f1aa741a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662c21eae3942dd" /><Relationship Type="http://schemas.openxmlformats.org/officeDocument/2006/relationships/notesMaster" Target="/ppt/notesMasters/notesMaster1.xml" Id="Rd7a5874c22c94ee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fef6f495ede46ef" /><Relationship Type="http://schemas.openxmlformats.org/officeDocument/2006/relationships/notesMaster" Target="/ppt/notesMasters/notesMaster1.xml" Id="R4a6048f4eaa3440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3b0e9557bb44bd7" /><Relationship Type="http://schemas.openxmlformats.org/officeDocument/2006/relationships/notesMaster" Target="/ppt/notesMasters/notesMaster1.xml" Id="R7fbcad352b644ce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e7315b2fdf949ce" /><Relationship Type="http://schemas.openxmlformats.org/officeDocument/2006/relationships/notesMaster" Target="/ppt/notesMasters/notesMaster1.xml" Id="R8b88bd85354447c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8e9a7d52c6e40a5" /><Relationship Type="http://schemas.openxmlformats.org/officeDocument/2006/relationships/notesMaster" Target="/ppt/notesMasters/notesMaster1.xml" Id="Rca70e39ff42a4ab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87229e1ab84440f" /><Relationship Type="http://schemas.openxmlformats.org/officeDocument/2006/relationships/notesMaster" Target="/ppt/notesMasters/notesMaster1.xml" Id="R55583f6c449a436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07446414aee417a" /><Relationship Type="http://schemas.openxmlformats.org/officeDocument/2006/relationships/notesMaster" Target="/ppt/notesMasters/notesMaster1.xml" Id="R977bfda5c1b1463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35610e7cfc847d4" /><Relationship Type="http://schemas.openxmlformats.org/officeDocument/2006/relationships/notesMaster" Target="/ppt/notesMasters/notesMaster1.xml" Id="R103b2b87bd884dc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c6ab5648e2648ff" /><Relationship Type="http://schemas.openxmlformats.org/officeDocument/2006/relationships/notesMaster" Target="/ppt/notesMasters/notesMaster1.xml" Id="Ra09a470f63b6431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2698552c4d142b0" /><Relationship Type="http://schemas.openxmlformats.org/officeDocument/2006/relationships/notesMaster" Target="/ppt/notesMasters/notesMaster1.xml" Id="Reac8df71c002426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5e1a54698fc41d5" /><Relationship Type="http://schemas.openxmlformats.org/officeDocument/2006/relationships/notesMaster" Target="/ppt/notesMasters/notesMaster1.xml" Id="Rca31f9ea654d4ad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14ce67cb2164030" /><Relationship Type="http://schemas.openxmlformats.org/officeDocument/2006/relationships/notesMaster" Target="/ppt/notesMasters/notesMaster1.xml" Id="R079855cfc8e24b4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343c4440ba543f6" /><Relationship Type="http://schemas.openxmlformats.org/officeDocument/2006/relationships/notesMaster" Target="/ppt/notesMasters/notesMaster1.xml" Id="Rf7dcc92e5f154a3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99803a92039474f" /><Relationship Type="http://schemas.openxmlformats.org/officeDocument/2006/relationships/notesMaster" Target="/ppt/notesMasters/notesMaster1.xml" Id="R64bb06a865bd409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6829fd3b84646dc" /><Relationship Type="http://schemas.openxmlformats.org/officeDocument/2006/relationships/notesMaster" Target="/ppt/notesMasters/notesMaster1.xml" Id="R19d921e88c0e430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62d4ce0b8974209" /><Relationship Type="http://schemas.openxmlformats.org/officeDocument/2006/relationships/notesMaster" Target="/ppt/notesMasters/notesMaster1.xml" Id="Rda6df340577d43b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ac9ed5499d0425c" /><Relationship Type="http://schemas.openxmlformats.org/officeDocument/2006/relationships/notesMaster" Target="/ppt/notesMasters/notesMaster1.xml" Id="Ra0ea8f6fe3a4422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a270d93e6e940fe" /><Relationship Type="http://schemas.openxmlformats.org/officeDocument/2006/relationships/notesMaster" Target="/ppt/notesMasters/notesMaster1.xml" Id="Raeb35f58b2b54f8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f47426d07c742cd" /><Relationship Type="http://schemas.openxmlformats.org/officeDocument/2006/relationships/notesMaster" Target="/ppt/notesMasters/notesMaster1.xml" Id="R21a8965b32c7424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93c2cbab779445f" /><Relationship Type="http://schemas.openxmlformats.org/officeDocument/2006/relationships/notesMaster" Target="/ppt/notesMasters/notesMaster1.xml" Id="R1617fdaf850148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本流程固定採 evaluation.mode=self_play 與 self_play_pool_policy=tournament-v1。長期 opponent pool 保存內建對手與經入池規則保留的歷代策略；每個評估快照只用十個對手欄位。候選對戰時執行完整 Java，沒有即時 LLM 決策。Java materialization 與反思方式仍依所選模式啟用，但搜尋評估與選擇規則統一使用 opponent pool。正式 Final Test 是獨立的固定基準測試。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來源：eagle/config.py:360-388、747-760；eagle/opponent_pool.py:136-219；eagle/final_test.py。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本流程先由 ChatGPT 人工準備固定 Java framework。G0 用十個內建對手完成初始候選評估，已評估族群開始按規則加入長期 opponent pool。後續每代在刷新到期時凍結四個保護對手加六個抽樣對手，保留父代 Java 並重新評估其分數，才選繁殖父代。子代評估使用同一快照；合併父代與子代選下一代後，所有已評估子代按入池規則挑戰或加入 pool，最後保存世代。尚未停止則繼續；停止後獨立執行固定內建對手的 Final Test。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來源：eagle/evolution/search.py:208-270；eagle/evolution/generation.py:94-285；eagle/opponent_pool.py:136-219。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策略的 actor、when、action 都使用閉合的 MicroRTS 詞彙與可觀察狀態，允許合法策略多樣性。DSL 是基因資料，不是對戰時呼叫 LLM 的文字指令。deterministic_dsl 會經 typed IR 編譯；llm 則要求 Generator 實作同一份 DSL。合法動作守衛與 fallthrough 規則屬於共用語意。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docs/eagle_architecture_spec.md:49-78</a:t>
            </a:r>
          </a:p>
          <a:p xmlns:a="http://schemas.openxmlformats.org/drawingml/2006/main">
            <a:r>
              <a:t>eagle/strategy_dsl.py:1-120</a:t>
            </a:r>
          </a:p>
          <a:p xmlns:a="http://schemas.openxmlformats.org/drawingml/2006/main">
            <a:r>
              <a:t>docs/architecture/overview.md:112-127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有外部 bundle_path 時直接驗證該檔並凍結 run-owned copy，不再呼叫 bootstrap。沒有時依 backend 建立，預設 Groq，亦支援 Mistral 與 local。原始回應在解析前保存，失敗有界重試。每個 replicate 預設各自 bootstrap；要共用架構必須明確指定同一個 bundle。搜尋期間 Java 模板、槽位 domain 與表達式不變，resume 也不重新設計。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docs/architecture/framework_slots.md:24-75</a:t>
            </a:r>
          </a:p>
          <a:p xmlns:a="http://schemas.openxmlformats.org/drawingml/2006/main">
            <a:r>
              <a:t>docs/architecture/framework_slots.md:113-157</a:t>
            </a:r>
          </a:p>
          <a:p xmlns:a="http://schemas.openxmlformats.org/drawingml/2006/main">
            <a:r>
              <a:t>docs/eagle_architecture_spec.md:747-820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slot 是固定 Java 模板中的可替換位置。bundle 先定義每個 slot 的型別、合法值與表達式選單；候選只保存值或 choice_id。範例中 worker_target 從 2 到 8 的整數選 6，attack_weight 從 0、0.25、0.5、0.75、1 選 0.75，target_policy 選 lowest_hp。attack_weight、target_policy 與其選單為型別教學示例，不代表目前 bundle 的實際欄位。number 同樣是有限離散選單，0.6 在此例不合法。expression_choice 保存最低血量選項的 ID，由 bundle 中預先定義的 Java 表達式取代模板 marker，不生成新表達式。完整 genome 必須包含該 bundle 的全部 slot，不能只交這三項。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程式來源：eagle/generation/framework_slots.py:304-340、445-470。worker_target 實例來源：configs/framework_bundles/fixed_worker_combat/bundle.json。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初始設計提示要求至少 24 個非恆定槽位，含至少 6 個 expression_choice 且各有至少 4 個選項，覆蓋經濟、生產、目標、戰鬥、條件與優先順序。這是設計目標，不能保證行為多樣性。候選人只保存槽值或 choice_id，不能生成新的 Java 表達式。相同 bundle、genome 與 materializer 應產生相同 Java bytes。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docs/architecture/framework_slots.md:24-75</a:t>
            </a:r>
          </a:p>
          <a:p xmlns:a="http://schemas.openxmlformats.org/drawingml/2006/main">
            <a:r>
              <a:t>eagle/generation/framework_slots.py:189-340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兩種政策共享相同凍結 bundle、hash、renderer、下游評估與倖存者規則。llm_coach 回應必須恰好包含 schema_version、framework_bundle_sha256 與完整 control_genome。突變失敗不隨機改寫、不部分套用；初始選擇失敗保留採樣 genome 並在初始化階段標記該候選失敗。兩種模式都不進行 Prompt Reflection、Code gate、Java Generation 或 compile repair。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docs/architecture/framework_slots.md:13-75</a:t>
            </a:r>
          </a:p>
          <a:p xmlns:a="http://schemas.openxmlformats.org/drawingml/2006/main">
            <a:r>
              <a:t>eagle/operators/strategy.py:448-865</a:t>
            </a:r>
          </a:p>
          <a:p xmlns:a="http://schemas.openxmlformats.org/drawingml/2006/main">
            <a:r>
              <a:t>eagle/operators/framework_slots.py:1-200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一般世代產生 population_size 個子代；到期刷新對手快照時，繁殖前先重評父代。父代與子代必須在同一快照下比較。完成者以 Game Performance 分層，語意差異僅在層內輔助選擇。選擇之後更新 opponent pool，入池來源為所有已評估子代，不限倖存者。self_play 要求 static 反思操作；對手池挑戰與更新不會立即改變已凍結的評估快照。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來源：eagle/evolution/generation.py:94-285；eagle/config.py:747-760。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繁殖父代來自目前 population，與用來提供評估對手的歷史 opponent pool 分開。使用單一 Game Performance fitness；從目前最高分往下 tolerance 以內形成頂層，預設 tolerance=1.0 且包含邊界，不採相鄰分數串連。第一父代以 seeded RNG 從有完整語意簽章者抽樣；若沒有完整簽章則從頂層候選抽樣。第二父代以第一父代為參照，優先選相容動作簽章距離最大者，距離相同時 seeded 抽樣；沒有可比資料時保留 fallback。兩次選擇沒有強制父代 ID 相異。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來源：eagle/operators/selection.py:42-68、200-215、245-282；eagle/evolution/offspring.py:91-119。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教學示例，非實驗結果。A、B、C、D 的 fitness 分別為 100、99.4、99.0、98.8，tolerance=1.0，因此頂層只有 A、B、C。C 剛好在含邊界的門檻；D 不會因距離 C 很近而串連進來。假設第一父代 seeded 選到 B，且相容的九個 probes 中 A 與 B 有八個動作不同，C 與 B 有兩個不同，則第二父代選 A。D 已在頂層外，不能因行為新穎而越級。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來源：eagle/operators/selection.py:42-68、200-215、245-282、311-320。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直接父代列表與每個成分實際來源是不同資訊，均需保存。兩位父代可以提供不同成分，即使文字或值相同也不能省略來源。Framework 的 Coach 證據父代是 parent A，不會因某槽位從 donor B 繼承就改用 B 的比賽。crossover_rate 控制是否交配，未交配時沿用單一來源。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docs/eagle_architecture_spec.md:216-223</a:t>
            </a:r>
          </a:p>
          <a:p xmlns:a="http://schemas.openxmlformats.org/drawingml/2006/main">
            <a:r>
              <a:t>eagle/operators/crossover.py:1-170</a:t>
            </a:r>
          </a:p>
          <a:p xmlns:a="http://schemas.openxmlformats.org/drawingml/2006/main">
            <a:r>
              <a:t>eagle/operators/framework_slots.py:1-155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所有實際貢獻來源都必須健康才可進入正常交配與突變。Code v6 只檢查 strategy_fidelity 與 code_correctness；不因勝率、外觀或可簡化而要求修正。ambiguous_strategy 配合正確 Java 不需 revision。有缺陷就產生一位保留原基因的 corrective child，跳過交配與一般突變；診斷失敗也不能當健康通過。Code gate 沒有 AOS 操作機率。DSL 與 framework 模式不執行此 gate。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docs/eagle_architecture_spec.md:49-78</a:t>
            </a:r>
          </a:p>
          <a:p xmlns:a="http://schemas.openxmlformats.org/drawingml/2006/main">
            <a:r>
              <a:t>eagle/operators/code.py:29-180</a:t>
            </a:r>
          </a:p>
          <a:p xmlns:a="http://schemas.openxmlformats.org/drawingml/2006/main">
            <a:r>
              <a:t>eagle/evolution/offspring.py:125-280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最差場次只從記錄的策略來源父代中取，不能任意從 child、donor 或整個 run 換一場。Match Commentator 看一場詳細 trace；Coach 同時取得全場 global summary 與此一 diagnosis，以免只看局部比賽。LLM/DSL 模式改 policy，framework llm_coach 則改完整 genome。策略反思失敗保留既有資料並走失敗分支，沒有自動換賽事補救。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docs/eagle_architecture_spec.md:248-275</a:t>
            </a:r>
          </a:p>
          <a:p xmlns:a="http://schemas.openxmlformats.org/drawingml/2006/main">
            <a:r>
              <a:t>eagle/operators/strategy.py:202-447</a:t>
            </a:r>
          </a:p>
          <a:p xmlns:a="http://schemas.openxmlformats.org/drawingml/2006/main">
            <a:r>
              <a:t>eagle/operators/strategy.py:576-865</a:t>
            </a:r>
          </a:p>
          <a:p xmlns:a="http://schemas.openxmlformats.org/drawingml/2006/main">
            <a:r>
              <a:t>eagle/operators/strategy.py:1222-1308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每場 performance 包含 shaping，因此同為敗場也能分辨較差表現。JSONL 是 field-targeted 完整規則紀錄，不能把零碎 condition/action 修成另一個沒有被模型完整提出的規則。舊的整份 JSON 回應仍採 all-or-nothing 驗證。framework Coach 使用另一份完整 genome schema，不能套用 DSL 的合法子集合邏輯。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docs/eagle_architecture_spec.md:248-275</a:t>
            </a:r>
          </a:p>
          <a:p xmlns:a="http://schemas.openxmlformats.org/drawingml/2006/main">
            <a:r>
              <a:t>eagle/operators/strategy.py:1222-1308</a:t>
            </a:r>
          </a:p>
          <a:p xmlns:a="http://schemas.openxmlformats.org/drawingml/2006/main">
            <a:r>
              <a:t>eagle/operators/strategy.py:1638-1710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Prompt Reflection 改良的是可重用的 policy-to-Java 翻譯規則。Reviewer 不接收勝敗、fitness、對手分數、比賽 trace 或其他 gameplay evidence。預設模式比較來源父代的 policy 與 Java；inherited 模式比較 child 選中的 policy 與 inherited Java。新 prompt 不直接修改策略基因，最後仍由 Generator 生成 Java。只在 llm materialization 啟用。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docs/eagle_architecture_spec.md:277-309</a:t>
            </a:r>
          </a:p>
          <a:p xmlns:a="http://schemas.openxmlformats.org/drawingml/2006/main">
            <a:r>
              <a:t>eagle/operators/prompt.py:268-525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LLM 回應必須先滿足完整檔案的 package、class、建構子、lifecycle 與單一 strategy-marker 區域等外框，再以固定 scaffold 加上抽出的策略區域建立 normalized Java。固定區域中的模型改動保留為證據，但不進表型。結構非法的回應不能靠 normalization 變成合法。確定性兩條路徑沒有 LLM fallback。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docs/eagle_architecture_spec.md:313-405</a:t>
            </a:r>
          </a:p>
          <a:p xmlns:a="http://schemas.openxmlformats.org/drawingml/2006/main">
            <a:r>
              <a:t>docs/eagle_architecture_spec.md:700-820</a:t>
            </a:r>
          </a:p>
          <a:p xmlns:a="http://schemas.openxmlformats.org/drawingml/2006/main">
            <a:r>
              <a:t>eagle/evaluation/decoding.py:1-130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attempt 1 通常是普通生成，corrective child 則直接使用 Code Reflection 已回傳的完整 Java。完整 source 的驗證或編譯失敗可在 generation_max_attempts 內用專門 compile-repair prompt 修復。每次 request、raw response、抽取 source、normalized source 與 hash 都保存。第一個 validation＋compilation 成功即停止；Integration 或 runtime 失敗不回到 decoder。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docs/eagle_architecture_spec.md:350-405</a:t>
            </a:r>
          </a:p>
          <a:p xmlns:a="http://schemas.openxmlformats.org/drawingml/2006/main">
            <a:r>
              <a:t>eagle/evaluation/decoding.py:1-160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Java contract 同時限制 network、process execution、未授權 I/O 與 runtime modification；它不是一般用途 Java sandbox。編譯保留結構化去重診斷與 warning。Integration 前置檢查失敗會阻擋後面的檢查與對戰。獨立實例檢查確保 getAction 與 PlayerAction 在有單位的真實地圖可運作，成功仍不能證明所有對戰情境都正確。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docs/eagle_architecture_spec.md:378-424</a:t>
            </a:r>
          </a:p>
          <a:p xmlns:a="http://schemas.openxmlformats.org/drawingml/2006/main">
            <a:r>
              <a:t>eagle/generation/java_agent_generator.py:256-329</a:t>
            </a:r>
          </a:p>
          <a:p xmlns:a="http://schemas.openxmlformats.org/drawingml/2006/main">
            <a:r>
              <a:t>eagle/evaluation/microrts_runner.py:1-140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搜尋評估使用凍結的 opponent-pool 十欄快照：四個保護對手與六個抽樣對手。只有通過 materialization、validation、compilation 與 Integration 的候選能進入對戰。每欄三張地圖、三回合、雙方位置，共十八場，十欄共一百八十場。每場使用衍生 seed、地圖 tick cap 與 timeout。矩陣必須完整才有有效 fitness。同一快照內父代與子代使用同一名單；長期 pool 更新不立即更換這個名單。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來源：eagle/evaluation/match_matrix.py；eagle/evaluation/matches.py；eagle/self_play.py:24-79。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Opponent-pool 搜尋使用單一 Game Performance fitness。單場結果的敗、和、勝基分為 -100、0、100，再加最多正負十的物資、資源與存活 shaping。每個對手十八場先取平均，十個對手欄位再等權平均；因每欄場數相同，也等於完整一百八十場的平均。四個保護對手沒有較高評分權重。語意距離只在分數同層內輔助選擇，不另加 fitness。必要階段失敗或矩陣未完成使用 -1000 sentinel；失敗候選保留診斷但不能擠掉足夠的完整評估候選。AllInBot 被 adapter containment 的上游故障以中性零分和局記錄，另列 opponent fault。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來源：eagle/evaluation/game_performance.py:207-219；eagle/config.py:372-388；eagle/operators/selection.py:93-129；eagle/evaluation/matches.py。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初始 pool 含十個內建來源。PassiveAI、RandomAI、RandomBiasedAI、LightRush、HeavyRush、WorkerRush 是六個可替換成員；AllInBot、Mayari、COAC、TMA 是四個永久保護成員。G0 評估使用全部十個內建對手。後續可替換區累積經規則入池的歷代策略，每個刷新快照保留四個保護對手，再從非保護成員抽六名。這是 pool 的初始化名單，並不表示整個演化期間固定對戰這十位。搜尋評分十欄等權。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來源：eagle/opponents.py:1-145；eagle/opponent_pool.py:22-35、136-219；eagle/self_play.py:24-79。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長期 opponent pool 與每次凍結的十個評估欄位分開保存。Pool 初始是所有十個內建對手，之後納入合法且新穎的歷代候選策略。它不是只存當代十個策略，也不是只收歷代冠軍。總容量 50 是設定預設，不代表每次評估要跑五十個對手。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docs/eagle_architecture_spec.md:461-481</a:t>
            </a:r>
          </a:p>
          <a:p xmlns:a="http://schemas.openxmlformats.org/drawingml/2006/main">
            <a:r>
              <a:t>eagle/opponent_pool.py:22-35</a:t>
            </a:r>
          </a:p>
          <a:p xmlns:a="http://schemas.openxmlformats.org/drawingml/2006/main">
            <a:r>
              <a:t>eagle/opponent_pool.py:162-219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第 0 代 update_pool 接收 evaluated_population，後續每代接收 evaluated_offspring，並非只傳下一代倖存者。候選須通過可執行與完整評估條件，去除 ID、source 或 semantic phenotype 的重複項。滿池時每個 novel entrant 對一個 seeded 守擂者跑完 18 場；勝和敗分別計 1、0.5、0，只有 wins &gt; losses 才 promotion，平手保留守擂者。失敗或未完成保留證據但不能晉級。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eagle/evolution/search.py:208-219</a:t>
            </a:r>
          </a:p>
          <a:p xmlns:a="http://schemas.openxmlformats.org/drawingml/2006/main">
            <a:r>
              <a:t>eagle/evolution/generation.py:254-262</a:t>
            </a:r>
          </a:p>
          <a:p xmlns:a="http://schemas.openxmlformats.org/drawingml/2006/main">
            <a:r>
              <a:t>eagle/opponent_pool.py:162-219</a:t>
            </a:r>
          </a:p>
          <a:p xmlns:a="http://schemas.openxmlformats.org/drawingml/2006/main">
            <a:r>
              <a:t>eagle/opponent_pool.py:400-430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這裡的十個是評估對手欄位，不是當代子代人口數。刷新預設 interval 5，第 1 代即刷新，之後第 6、11、16 代。Pool 在世代結束可以更新，但已凍結 context 不立即跟著改變。新入池策略要等後續快照刷新才可能被抽到。四保護 case IDs 固定，六個動態 diagnostic slots 為 self_play_000 到 self_play_005，來源寫在 context rows。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docs/eagle_architecture_spec.md:482-511</a:t>
            </a:r>
          </a:p>
          <a:p xmlns:a="http://schemas.openxmlformats.org/drawingml/2006/main">
            <a:r>
              <a:t>eagle/opponent_pool.py:136-159</a:t>
            </a:r>
          </a:p>
          <a:p xmlns:a="http://schemas.openxmlformats.org/drawingml/2006/main">
            <a:r>
              <a:t>eagle/self_play.py:24-79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self_play 要求 parent_evaluation_mode=reuse_cached。快照不變時沿用父代 Java 與已完成分數。快照刷新是協定內的必要重評：建立新 ID 父代複本，保留原 Java 表型，使用新十欄名單跑完評估，不覆寫舊 context 的分數與證據。刷新評估先完成，才做繁殖選擇；子代也在該快照中評估，讓父代與子代的 fitness 可在倖存選擇時比較。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來源：eagle/config.py:747-760；eagle/evolution/generation.py:94-170；eagle/evolution/parent_refresh.py。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本流程只有兩種父代評估情境。對手快照不變時，reuse_cached 保留 Java 與原分數；到期刷新時，快照協定自動建立父代評估複本，用新名單重新對戰，但不重新生成 Java。self_play 設定驗證要求 reuse_cached，不能使用 regenerate_same_genotype 診斷模式。父代先完成新情境評分才能繁殖，子代隨後使用同一快照完成評估。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來源：eagle/config.py:747-760；eagle/evolution/generation.py:94-170；eagle/evolution/parent_refresh.py。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Opponent-pool 流程強制啟用語意探針。固定三張地圖的三個階段共九個 probe，記錄實際 Java 動作簽章，距離為動作 hash 不同的 probe 比例；dataset、probe 次序與簽章需相容。繁殖時第二父代在頂層內偏好與第一父代距離較遠者。倖存者只有名額切分同一分數層時才使用 seeded max-min 子集，不能越過分數層。精確相同行為亦用於 opponent pool 的表型去重。語意不構成另一個 fitness 目標。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來源：eagle/config.py:747-750；eagle/operators/selection.py:174-282、311-320；eagle/opponent_pool.py:499-540。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將當代父代與已評估子代合併並按 ID 去重，只讓完整評估候選參與下一代。目標為固定人口 N。依當前剩餘候選的最高分作錨點，往下預設 1.0 分以內形成一層，不採相鄰串連；例如 100、99.2 同層，98.4 屬下一層。整層放得下就整層保留；名額切在一層內才用 seeded farthest-first max-min，最大化對已選者與本層已挑者的最小語意距離。低分層不能靠新穎性越級。若所有子代失敗但仍有 N 位完整評估父代，父代可全數留下；完整者不足 N 時 run 明確失敗。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來源：eagle/operators/selection.py:70-145、174-282；eagle/evolution/generation.py:214-229。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self_play 設定明確要求 reflection_operator_mode=static，不使用 AOS Opponents rank、EMA 或 head-to-head reward 更新機率。交配後依固定 mutation_rate 決定是否突變；未觸發時保留交配後基因。Framework local 至多更換一個槽位為另一合法值；Framework Coach 回傳完整 control_genome。LLM／DSL 依各自可用的反思操作與靜態配比選擇，功能是否啟用仍由 materialization 模式決定。對戰提供 Game Performance 與反思證據，不動態調整操作機率。十八場 pool 入池挑戰是另一個機制，不能和 AOS head-to-head 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來源：eagle/config.py:747-760；eagle/evolution/offspring.py:281-300、430-480；eagle/operators/adaptive.py:215-230。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失敗分類包括初始化、反思、生成、驗證、編譯、Integration 與 runtime 等。候選失敗與 run 失敗需分開：只要完成的父代與子代足夠，下一代仍可成立。程序中斷會取消排隊工作、drain active worker，保留未完成證據後從最後完成世代恢復。Pipeline 安全邊界不能以看起來可執行的 fallback 代替。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docs/eagle_architecture_spec.md:350-424</a:t>
            </a:r>
          </a:p>
          <a:p xmlns:a="http://schemas.openxmlformats.org/drawingml/2006/main">
            <a:r>
              <a:t>docs/evaluation/game_performance.md:33-40</a:t>
            </a:r>
          </a:p>
          <a:p xmlns:a="http://schemas.openxmlformats.org/drawingml/2006/main">
            <a:r>
              <a:t>eagle/operators/selection.py:99-123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Generation snapshot 先原子寫成功，再更新 manifest.latest_generation。只有 manifest 指定的完成快照作為 resume 起點，不能因資料夾有較新檔就推論已提交世代。每次 LLM request 的 endpoint/model、prompt、raw response、attempt、hash 與 timing 都屬證據；秘密憑證不可寫入。compact artifact 模式省去 XML replay，但保留需要的 trace 與對戰摘要。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eagle/run_artifacts.py:160-197</a:t>
            </a:r>
          </a:p>
          <a:p xmlns:a="http://schemas.openxmlformats.org/drawingml/2006/main">
            <a:r>
              <a:t>eagle/run_artifacts.py:363-375</a:t>
            </a:r>
          </a:p>
          <a:p xmlns:a="http://schemas.openxmlformats.org/drawingml/2006/main">
            <a:r>
              <a:t>docs/artifacts/artifact_schema.md:37-92</a:t>
            </a:r>
          </a:p>
          <a:p xmlns:a="http://schemas.openxmlformats.org/drawingml/2006/main">
            <a:r>
              <a:t>docs/eagle_architecture_spec.md:567-629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Resume 不是繼續使用任意半成品，也不重新 bootstrap。先檢查目前版本與凍結身分能否相容；protocol、bundle hash、framework evolution mode 或 runtime/map 身分不合時拒絕。未提交候選與 LLM 證據先移入 interrupted_work，保留後再以穩定 ID 重播。這維持可追查性，但外部 LLM 回應與 wall-clock timeout 仍可能讓重播結果不同。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eagle/evolution/resume.py:1-150</a:t>
            </a:r>
          </a:p>
          <a:p xmlns:a="http://schemas.openxmlformats.org/drawingml/2006/main">
            <a:r>
              <a:t>eagle/run_artifacts.py:686-703</a:t>
            </a:r>
          </a:p>
          <a:p xmlns:a="http://schemas.openxmlformats.org/drawingml/2006/main">
            <a:r>
              <a:t>docs/eagle_architecture_spec.md:162-215</a:t>
            </a:r>
          </a:p>
          <a:p xmlns:a="http://schemas.openxmlformats.org/drawingml/2006/main">
            <a:r>
              <a:t>docs/architecture/framework_slots.md:140-149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明確 random_seeds 時 runs 是每個 seed 的重複次數。省略 random_seeds 則沿用 random_seed、random_seed+1 的歷史排程。Index 保存有序的 absolute run paths，每個 slot 都檢查 seed 與 config 身分。Framework fresh replicate 預設各自生成 bundle，若研究需控制架構差異，必須指定相同外部 bundle。Folder rerun 會處理未開始、未完成與缺 final test 的不同情況。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eagle/config.py:863-879</a:t>
            </a:r>
          </a:p>
          <a:p xmlns:a="http://schemas.openxmlformats.org/drawingml/2006/main">
            <a:r>
              <a:t>eagle/experiment.py:355-540</a:t>
            </a:r>
          </a:p>
          <a:p xmlns:a="http://schemas.openxmlformats.org/drawingml/2006/main">
            <a:r>
              <a:t>docs/artifacts/artifact_schema.md:491-529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執行總是對可控制的隨機性設 seed，沒有另一個 deterministic_mode 開關。模型 provider 可能忽略 seed 或更新權重；GPU batching、浮點數、第三方對手二進位與 wall-clock 搜尋都可能改變結果。Deterministic materialization 的 byte-identical Java 契約不等於整場實驗逐位元相同。重現承諾需限定同程式、資料、設定與確定的 task outputs。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docs/eagle_architecture_spec.md:162-215</a:t>
            </a:r>
          </a:p>
          <a:p xmlns:a="http://schemas.openxmlformats.org/drawingml/2006/main">
            <a:r>
              <a:t>eagle/evaluation/determinism.py:1-170</a:t>
            </a:r>
          </a:p>
          <a:p xmlns:a="http://schemas.openxmlformats.org/drawingml/2006/main">
            <a:r>
              <a:t>eagle/execution.py:14-68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搜尋階段使用會刷新的 opponent-pool 快照，停止後的正式 Final Test 另外使用固定十個內建對手，是獨立 benchmark，不改變搜尋協定。停止條件為演化世代上限或 active selection-state signature 的 stagnation。預設從末代選可執行代表，獨立重新編譯並跑七項 Integration，再執行十對手、三地圖、十回合、雙方位置，共六百場。mock 或 skip-final-test 可略過。十八場入池挑戰只決定長期池成員替換，一百八十場搜尋評估決定 fitness，六百場 Final Test 作正式測試，三者各自保存證據。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來源：eagle/final_test.py；eagle/experiment.py:409-423；eagle/opponent_pool.py:217-430。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python -m eagle.fixed_evaluation 只讀取 completed run 的明確指定世代，不缺代替代、不用 run-wide best 取代 snapshot 代表。每位代表重編與 Integration，不呼叫 LLM。protocol 記錄對手、地圖 hash、tick cap、scoring 與 runtime source identity。缺場或錯誤矩陣的 aggregate score 與 win rate 為 null 並 nonzero exit。mean_match_score 是不加權 benchmark 平均，不能直接當搜尋 fitness。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docs/evaluation/evaluation_pipeline.md:160-166</a:t>
            </a:r>
          </a:p>
          <a:p xmlns:a="http://schemas.openxmlformats.org/drawingml/2006/main">
            <a:r>
              <a:t>eagle/fixed_evaluation.py:1-170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時間來源以已提交 generation timing 與 run records 為準，不能將 partial terminal output 當單代耗時。當對手情境改變，search fitness 的跨代上升並不能單獨證明一般化能力。比較現行多主機串流與先前排程時，需要相同模型、硬體、seed、候選規模與失敗條件下的獨立速度實驗。實作文件尚無這組 live benchmark，不能報出加速比。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docs/evaluation/game_performance.md:42-57</a:t>
            </a:r>
          </a:p>
          <a:p xmlns:a="http://schemas.openxmlformats.org/drawingml/2006/main">
            <a:r>
              <a:t>docs/artifacts/timing_schema.md:1-65</a:t>
            </a:r>
          </a:p>
          <a:p xmlns:a="http://schemas.openxmlformats.org/drawingml/2006/main">
            <a:r>
              <a:t>docs/implementation/current_status.md:21-34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GUI 提供 config parsing 支持的固定選項，儲存前驗證並原子寫入，觀察比賽不改變 fitness。Monitor 從 manifest 和最新已提交 generation 讀取，不控制實驗。離線分析的 generation 指倖存快照世代，birth_generation 才是候選出生時間。使用者可以從這些工具回查分數、行為與 LLM evidence，無需改動 canonical search artifacts。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docs/implementation/current_status.md:42-66</a:t>
            </a:r>
          </a:p>
          <a:p xmlns:a="http://schemas.openxmlformats.org/drawingml/2006/main">
            <a:r>
              <a:t>docs/architecture/evolutionary_flow.md:169-200</a:t>
            </a:r>
          </a:p>
          <a:p xmlns:a="http://schemas.openxmlformats.org/drawingml/2006/main">
            <a:r>
              <a:t>eagle/analysis/report.py:1-130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這頁是目前 checked-in config 的具體範例，不是所有模式的預設。頂層 model 為 Qwen 3.5-9B，含本地 managed primary 與一個外部 additional endpoint；機器路徑與位址需配合實際環境。bootstrap_backend 為 mistral、framework.model 為 mistral-small-latest。此配置示範完整流程的實際連接，並不宣稱本次已啟動或完成這組實驗。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configs/framework_coach.yaml:1-98</a:t>
            </a:r>
          </a:p>
          <a:p xmlns:a="http://schemas.openxmlformats.org/drawingml/2006/main">
            <a:r>
              <a:t>eagle/config.py:580-658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來源：reports/1021_framework_stability_comparison.md；SHA-256 09f96e8b825f43e9e47a40d578afd85dd5108d626332b2b1bad61f28283dde87。報告快照：2026-10-21 13:35 Asia/Taipei。未刷新即時批次狀態。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兩批均為 framework_slots、framework.evolution_mode=local、population_size=10、演化 G1–20、self_play 與 tournament-v1。相同 bundle SHA-256：b2daa0d4baac80e446d46e5d32f6fd94a4300bec51f23b4816723c6d8f90939b。靜態操作，搜尋期間不呼叫 candidate-time LLM。報告指出 resolved config 的實質差異僅 experiment name、seed 清單與 run-owned bundle 路徑，bundle bytes 相同。上次六 run 為 10/19–10/20，本次批次為 10/21。11 個完成 run 的 G20 均 1800/1800、failure_count=0；每個 Final Test 均 600 場、Integration success、0 errors。這支持已測配置與矩陣的執行可靠性，不代表所有情境無錯誤。</a:t>
            </a:r>
          </a:p>
          <a:p xmlns:a="http://schemas.openxmlformats.org/drawingml/2006/main">
            <a:r>
              <a:t>完整 run 索引：{"columns":["cohort","seed","run_id","generations_completed","generations_target","final_test_completed","final_test_target","status"],"rows":[{"cohort":"上次","seed":8,"run_id":"20261019_152601_037528","generations_completed":20,"generations_target":20,"final_test_completed":600,"final_test_target":600,"status":"complete"},{"cohort":"上次","seed":9,"run_id":"20261019_182037_312877","generations_completed":20,"generations_target":20,"final_test_completed":600,"final_test_target":600,"status":"complete"},{"cohort":"上次","seed":10,"run_id":"20261019_103405_871333","generations_completed":20,"generations_target":20,"final_test_completed":600,"final_test_target":600,"status":"complete"},{"cohort":"上次","seed":11,"run_id":"20261020_135403_027378","generations_completed":20,"generations_target":20,"final_test_completed":600,"final_test_target":600,"status":"complete"},{"cohort":"上次","seed":12,"run_id":"20261020_170514_392422","generations_completed":20,"generations_target":20,"final_test_completed":600,"final_test_target":600,"status":"complete"},{"cohort":"上次","seed":13,"run_id":"20261020_195907_969170","generations_completed":20,"generations_target":20,"final_test_completed":600,"final_test_target":600,"status":"complete"},{"cohort":"本次","seed":8,"run_id":"20261021_002848_496277","generations_completed":20,"generations_target":20,"final_test_completed":600,"final_test_target":600,"status":"complete"},{"cohort":"本次","seed":9,"run_id":"20261021_034914_985024","generations_completed":20,"generations_target":20,"final_test_completed":600,"final_test_target":600,"status":"complete"},{"cohort":"本次","seed":10,"run_id":"20261021_074505_348782","generations_completed":20,"generations_target":20,"final_test_completed":600,"final_test_target":600,"status":"complete"},{"cohort":"本次","seed":11,"run_id":"20261021_131355_062329","generations_completed":20,"generations_target":20,"final_test_completed":600,"final_test_target":600,"status":"complete"},{"cohort":"本次","seed":12,"run_id":"20261021_165442_013504","generations_completed":20,"generations_target":20,"final_test_completed":600,"final_test_target":600,"status":"complete"},{"cohort":"本次","seed":13,"run_id":"20261021_202021_187555","generations_completed":4,"generations_target":20,"final_test_completed":null,"final_test_target":null,"status":"running"}],"reported_completed_runs":11,"reported_pending_runs":1}</a:t>
            </a:r>
          </a:p>
          <a:p xmlns:a="http://schemas.openxmlformats.org/drawingml/2006/main">
            <a:r>
              <a:t>未完成項：{"cohort":"本次","seed":13,"run_id":"20261021_202021_187555","status_at_report_snapshot":"running","report_snapshot_generations":"4/20","final_test_status":"尚未開始","generation_0_to_4_each_matches":"1800/1800","generation_0_to_4_failure_count":0,"generation_4_best":-11.475,"generation_4_population_mean":-12.435,"live_status_checked":false,"note":"僅保存報告截點，不代表目前即時狀態。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來源：reports/1021_framework_stability_comparison.md；SHA-256 09f96e8b825f43e9e47a40d578afd85dd5108d626332b2b1bad61f28283dde87。報告快照：2026-10-21 13:35 Asia/Taipei。未刷新即時批次狀態。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縱軸為各 run G20 population best Game Performance，非 population mean。主圖只並列 seed 8–12；上次 seed13 另列，避免將本次未完成 seed13 填成零。各 run 的 opponent-pool 快照可能不同，這些值只描述各自搜尋情境，不是固定難度的能力比較。上次六 seed best 平均 5.884，本次五 seed 1.861；樣本不齊，不能以 -4.023 推論架構退化。seed10 的兩個 G20 best 差 0.004 是觀察，不足以歸因其他 run 差異的原因。</a:t>
            </a:r>
          </a:p>
          <a:p xmlns:a="http://schemas.openxmlformats.org/drawingml/2006/main">
            <a:r>
              <a:t>G20 全部 best、population mean、population sd、semantic unique：{"previous":{"runs":6,"columns":["seed","best","population_mean","population_sd","semantic_unique","population_size"],"rows":[{"seed":8,"best":5.592,"population_mean":4.307,"population_sd":0.675,"semantic_unique":1,"population_size":10},{"seed":9,"best":25.733,"population_mean":24.711,"population_sd":0.691,"semantic_unique":2,"population_size":10},{"seed":10,"best":-32.037,"population_mean":-38.789,"population_sd":3.609,"semantic_unique":2,"population_size":10},{"seed":11,"best":10.988,"population_mean":9.419,"population_sd":0.696,"semantic_unique":1,"population_size":10},{"seed":12,"best":6.761,"population_mean":5.639,"population_sd":0.698,"semantic_unique":1,"population_size":10},{"seed":13,"best":18.267,"population_mean":15.719,"population_sd":1.029,"semantic_unique":4,"population_size":10}],"reported_mean_best":5.884,"computed_mean_best_from_displayed_rows":5.884,"semantic_unique_counts":[1,2,2,1,1,4]},"current_completed":{"runs":5,"columns":["seed","best","population_mean","population_sd","semantic_unique","population_size"],"rows":[{"seed":8,"best":-3.342,"population_mean":-5.262,"population_sd":0.801,"semantic_unique":3,"population_size":10},{"seed":9,"best":23,"population_mean":21.126,"population_sd":1.073,"semantic_unique":1,"population_size":10},{"seed":10,"best":-32.033,"population_mean":-38.788,"population_sd":3.613,"semantic_unique":2,"population_size":10},{"seed":11,"best":13.118,"population_mean":12.466,"population_sd":0.307,"semantic_unique":1,"population_size":10},{"seed":12,"best":8.561,"population_mean":7.886,"population_sd":0.41,"semantic_unique":1,"population_size":10}],"reported_mean_best":1.861,"computed_mean_best_from_displayed_rows":1.8608,"semantic_unique_counts":[3,1,2,1,1]},"reported_mean_best_delta_current_minus_previous":-4.023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來源：reports/1021_framework_stability_comparison.md；SHA-256 09f96e8b825f43e9e47a40d578afd85dd5108d626332b2b1bad61f28283dde87。報告快照：2026-10-21 13:35 Asia/Taipei。未刷新即時批次狀態。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六個圖共用相同縱軸 -80 到 40，橫軸 G0、G5、G10、G15、G20，數值為該世代 population best。上次用玫瑰色，本次用酒紅色。seed13 只有上次完整軌跡，本次 G4 不放入 G20 曲線。對手快照會刷新，曲線僅描述 run 內的搜尋情境，不能視為固定對手難度下的能力成長。seed10 兩次軌跡接近且 G20 回落至約 -32；這是可觀察的搜尋路徑，不能單憑曲線判定因果。</a:t>
            </a:r>
          </a:p>
          <a:p xmlns:a="http://schemas.openxmlformats.org/drawingml/2006/main">
            <a:r>
              <a:t>完整軌跡：{"columns":["seed","cohort","g0","g5","g10","g15","g20"],"rows":[{"seed":8,"cohort":"上次","g0":-57.328,"g5":-1.36,"g10":6.184,"g15":5.124,"g20":5.592},{"seed":8,"cohort":"本次","g0":-57.338,"g5":-1.108,"g10":5.643,"g15":5.716,"g20":-3.342},{"seed":9,"cohort":"上次","g0":-71.714,"g5":-58.547,"g10":-18.482,"g15":22.95,"g20":25.733},{"seed":9,"cohort":"本次","g0":-71.713,"g5":-58.572,"g10":-19.243,"g15":22.496,"g20":23},{"seed":10,"cohort":"上次","g0":-70.592,"g5":-49.131,"g10":-41.481,"g15":-14.999,"g20":-32.037},{"seed":10,"cohort":"本次","g0":-70.59,"g5":-49.136,"g10":-41.493,"g15":-15.003,"g20":-32.033},{"seed":11,"cohort":"上次","g0":-69.304,"g5":4.586,"g10":24.21,"g15":22.45,"g20":10.988},{"seed":11,"cohort":"本次","g0":-69.3,"g5":7.34,"g10":20.633,"g15":24.229,"g20":13.118},{"seed":12,"cohort":"上次","g0":-70.457,"g5":0.01,"g10":9.678,"g15":23.498,"g20":6.761},{"seed":12,"cohort":"本次","g0":-70.451,"g5":0.007,"g10":12.555,"g15":24.649,"g20":8.561},{"seed":13,"cohort":"上次","g0":-70.967,"g5":-11.476,"g10":-2.799,"g15":-5.855,"g20":18.267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來源：reports/1021_framework_stability_comparison.md；SHA-256 09f96e8b825f43e9e47a40d578afd85dd5108d626332b2b1bad61f28283dde87。報告快照：2026-10-21 13:35 Asia/Taipei。未刷新即時批次狀態。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相同正式測試協定，每 run 為十對手、三地圖、每邊十場，共六百場。圖中各組百分比由 W、D、L 除以該組 matches 計算；W/D/L/E 欄位順序固定。兩批分母為 3600 與 3000，本次排除 seed13。報告勝率 32.33% 與 30.17% 是各批聚合，不是相同 seed 配對效果，不能據此判定架構退化。所有 11 個完成 Final Test Integration success、0 errors。</a:t>
            </a:r>
          </a:p>
          <a:p xmlns:a="http://schemas.openxmlformats.org/drawingml/2006/main">
            <a:r>
              <a:t>完整正式測試資料：{"protocol_matches_per_run":600,"columns":["cohort","runs","wins","losses","draws","errors","matches","aggregate_win_rate_percent"],"cohorts":[{"cohort":"上次六 seed","runs":6,"wins":1164,"losses":2284,"draws":152,"errors":0,"matches":3600,"aggregate_win_rate_percent":32.33},{"cohort":"本次已完成五 seed","runs":5,"wins":905,"losses":1950,"draws":145,"errors":0,"matches":3000,"aggregate_win_rate_percent":30.17}],"source_note":"Cohort counts are report totals; win rate is wins divided by all matches."}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來源：reports/1021_framework_stability_comparison.md；SHA-256 09f96e8b825f43e9e47a40d578afd85dd5108d626332b2b1bad61f28283dde87。報告快照：2026-10-21 13:35 Asia/Taipei。未刷新即時批次狀態。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本次已完成 seed8–12，每個對手五 run × 六十場=三百場。AllInBot、Mayari、COAC、TMA 合計 1200 場、11 勝、14 和、1175 敗、0 errors；勝率 0.92% 為計算值。COAC 的十勝集中於 seed11。其餘能力剖面依報告：PassiveAI／RandomAI 穩定取勝或打平；RandomBiasedAI 有較多勝場但 seed 間差異明顯；三種 Rush 尚無一致 counter。報告未提供這六個對手的逐項勝和敗數，不另造數值。</a:t>
            </a:r>
          </a:p>
          <a:p xmlns:a="http://schemas.openxmlformats.org/drawingml/2006/main">
            <a:r>
              <a:t>四個 hard opponents 原始資料：{"cohort":"本次已完成 seed 8–12","runs":5,"columns":["opponent","wins","draws","losses","errors","matches","runs"],"rows":[{"opponent":"AllInBot","wins":1,"draws":3,"losses":296,"errors":0,"matches":300,"runs":5},{"opponent":"Mayari","wins":0,"draws":11,"losses":289,"errors":0,"matches":300,"runs":5},{"opponent":"COAC","wins":10,"draws":0,"losses":290,"errors":0,"matches":300,"runs":5},{"opponent":"TMA","wins":0,"draws":0,"losses":300,"errors":0,"matches":300,"runs":5}],"source_note":"Errors are 0 per report statement that all five completed final tests had zero errors."}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來源：reports/1021_framework_stability_comparison.md；SHA-256 09f96e8b825f43e9e47a40d578afd85dd5108d626332b2b1bad61f28283dde87。報告快照：2026-10-21 13:35 Asia/Taipei。未刷新即時批次狀態。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圖中為 G20 semantic unique／population10，並列 seed8–12；上次 seed13=4 另列，本次 seed13未納入。上次六 run 為 [1,2,2,1,1,4]，本次五 run 為 [3,1,2,1,1]。多數 run 在九個固定探針中只剩一到兩種行為簽章，不等於在所有遊戲狀態中只有一到兩種行為。Framework 不使用 Strategy DSL niche；known_signature_count=0 不能拿來判定 framework 行為沒有多樣性。population mean 和 population sd 請見完整 G20 資料。</a:t>
            </a:r>
          </a:p>
          <a:p xmlns:a="http://schemas.openxmlformats.org/drawingml/2006/main">
            <a:r>
              <a:t>完整 G20 資料：{"previous":{"runs":6,"columns":["seed","best","population_mean","population_sd","semantic_unique","population_size"],"rows":[{"seed":8,"best":5.592,"population_mean":4.307,"population_sd":0.675,"semantic_unique":1,"population_size":10},{"seed":9,"best":25.733,"population_mean":24.711,"population_sd":0.691,"semantic_unique":2,"population_size":10},{"seed":10,"best":-32.037,"population_mean":-38.789,"population_sd":3.609,"semantic_unique":2,"population_size":10},{"seed":11,"best":10.988,"population_mean":9.419,"population_sd":0.696,"semantic_unique":1,"population_size":10},{"seed":12,"best":6.761,"population_mean":5.639,"population_sd":0.698,"semantic_unique":1,"population_size":10},{"seed":13,"best":18.267,"population_mean":15.719,"population_sd":1.029,"semantic_unique":4,"population_size":10}],"reported_mean_best":5.884,"computed_mean_best_from_displayed_rows":5.884,"semantic_unique_counts":[1,2,2,1,1,4]},"current_completed":{"runs":5,"columns":["seed","best","population_mean","population_sd","semantic_unique","population_size"],"rows":[{"seed":8,"best":-3.342,"population_mean":-5.262,"population_sd":0.801,"semantic_unique":3,"population_size":10},{"seed":9,"best":23,"population_mean":21.126,"population_sd":1.073,"semantic_unique":1,"population_size":10},{"seed":10,"best":-32.033,"population_mean":-38.788,"population_sd":3.613,"semantic_unique":2,"population_size":10},{"seed":11,"best":13.118,"population_mean":12.466,"population_sd":0.307,"semantic_unique":1,"population_size":10},{"seed":12,"best":8.561,"population_mean":7.886,"population_sd":0.41,"semantic_unique":1,"population_size":10}],"reported_mean_best":1.861,"computed_mean_best_from_displayed_rows":1.8608,"semantic_unique_counts":[3,1,2,1,1]},"reported_mean_best_delta_current_minus_previous":-4.023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來源：reports/1021_framework_stability_comparison.md；SHA-256 09f96e8b825f43e9e47a40d578afd85dd5108d626332b2b1bad61f28283dde87。報告快照：2026-10-21 13:35 Asia/Taipei。未刷新即時批次狀態。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報告結論分開理解：11 個已完成 run 支持此配置與已測矩陣的執行可靠性；跨 seed 結果與 hard-opponent 能力仍不一致；末代九狀態簽章多為一到兩類。現有搜尋分數受快照情境影響，不足以作架構退化或一般化能力改善的因果判定。建議先等報告中的 seed13完成，再補齊同六 seed 的正式測試比較；若目標是策略品質，控制條件測試語意探索與 hard-opponent coverage，而非先改 materialization。建議尚未執行，沒有啟動新實驗。</a:t>
            </a:r>
          </a:p>
          <a:p xmlns:a="http://schemas.openxmlformats.org/drawingml/2006/main">
            <a:r>
              <a:t>耗時證據缺口：{"available":false,"scope":"No measured wall-time value was accessible from the named run artifacts in this checkout.","sample_run_ids_checked":["20261019_152601_037528","20261021_002848_496277","20261021_165442_013504"],"missing_paths_checked":["runs/20261019_152601_037528/manifest.json","runs/20261019_152601_037528/summary.json","runs/20261019_152601_037528/timing.jsonl","runs/20261019_152601_037528/final_test/final_test_summary.json","runs/20261021_002848_496277/manifest.json","runs/20261021_002848_496277/summary.json","runs/20261021_002848_496277/timing.jsonl","runs/20261021_002848_496277/final_test/final_test_summary.json","runs/20261021_165442_013504/manifest.json","runs/20261021_165442_013504/summary.json","runs/20261021_165442_013504/timing.jsonl","runs/20261021_165442_013504/final_test/final_test_summary.json"],"initialization_separation":"No timing.jsonl was available to separate initialization from completed evolutionary generations. Do not derive per-generation or total wall time from the report tables."}。報告沒有 run wall time、G0 與 G1–20 完成世代耗時；不能由分數表推導時間，也不報加速比。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4c35a8f721439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cf277edb6345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129371cd9d438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fa807f47004e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6c142a582f4d6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34432eae224f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9409BC-89A7-4EE2-B6E6-3F186CC0C9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2580" y="3386032"/>
            <a:ext cx="12740640" cy="1294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3E6C912-7C49-40F4-9127-63DF901546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88870" y="4929664"/>
            <a:ext cx="11148060" cy="995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4CCBA14-2B87-4D42-A142-61C2C182C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2580" y="3734594"/>
            <a:ext cx="12740640" cy="1493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1B9998-07E8-49A0-99D1-7F5D3AEC78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94ADD32-0322-4061-8844-F016A05182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14134147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9675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9489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9304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9118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933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68747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8562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8376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03CD79-24A6-4753-AB28-BA6717F9E9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91464B-B95B-46E3-B6EE-3DE044A00C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9675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9489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9304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9118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933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68747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8562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8376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18E3F38-D4F4-4E1A-900C-1C1ED021ED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60581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9675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9489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9304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9118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933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68747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8562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8376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DACB56-BB6E-41B7-8A1B-0B75CF38FB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F75719-FDEF-487B-8848-BB51A84F9A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9675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9489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9304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9118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933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68747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8562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8376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e2993839c147ea" /><Relationship Type="http://schemas.openxmlformats.org/officeDocument/2006/relationships/slideLayout" Target="/ppt/slideLayouts/slideLayout1.xml" Id="Rd30c88bb46d440c3" /><Relationship Type="http://schemas.openxmlformats.org/officeDocument/2006/relationships/slideLayout" Target="/ppt/slideLayouts/slideLayout2.xml" Id="Re55c5506949040f0" /><Relationship Type="http://schemas.openxmlformats.org/officeDocument/2006/relationships/slideLayout" Target="/ppt/slideLayouts/slideLayout3.xml" Id="Raf9ed44f88124958" /><Relationship Type="http://schemas.openxmlformats.org/officeDocument/2006/relationships/slideLayout" Target="/ppt/slideLayouts/slideLayout4.xml" Id="Rea5b50be36984570" /><Relationship Type="http://schemas.openxmlformats.org/officeDocument/2006/relationships/slideLayout" Target="/ppt/slideLayouts/slideLayout5.xml" Id="Ra059691f6fa44073" /><Relationship Type="http://schemas.openxmlformats.org/officeDocument/2006/relationships/slideLayout" Target="/ppt/slideLayouts/slideLayout6.xml" Id="R828ce3e0017849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0c88bb46d440c3"/>
    <p:sldLayoutId xmlns:r="http://schemas.openxmlformats.org/officeDocument/2006/relationships" id="2147483650" r:id="Re55c5506949040f0"/>
    <p:sldLayoutId xmlns:r="http://schemas.openxmlformats.org/officeDocument/2006/relationships" id="2147483651" r:id="Raf9ed44f88124958"/>
    <p:sldLayoutId xmlns:r="http://schemas.openxmlformats.org/officeDocument/2006/relationships" id="2147483652" r:id="Rea5b50be36984570"/>
    <p:sldLayoutId xmlns:r="http://schemas.openxmlformats.org/officeDocument/2006/relationships" id="2147483653" r:id="Ra059691f6fa44073"/>
    <p:sldLayoutId xmlns:r="http://schemas.openxmlformats.org/officeDocument/2006/relationships" id="2147483654" r:id="R828ce3e0017849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8f2791bfd046a9" /><Relationship Type="http://schemas.openxmlformats.org/officeDocument/2006/relationships/notesSlide" Target="/ppt/notesSlides/notesSlide1.xml" Id="R2251d2c8309e49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da0cbc0c004e55" /><Relationship Type="http://schemas.openxmlformats.org/officeDocument/2006/relationships/notesSlide" Target="/ppt/notesSlides/notesSlide2.xml" Id="R0868e0b81e854a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3d39ef37884e07" /><Relationship Type="http://schemas.openxmlformats.org/officeDocument/2006/relationships/notesSlide" Target="/ppt/notesSlides/notesSlide3.xml" Id="R9b4f2a8259f344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f74d12a8924355" /><Relationship Type="http://schemas.openxmlformats.org/officeDocument/2006/relationships/notesSlide" Target="/ppt/notesSlides/notesSlide4.xml" Id="Rce62b53defb945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44278722cf43b8" /><Relationship Type="http://schemas.openxmlformats.org/officeDocument/2006/relationships/notesSlide" Target="/ppt/notesSlides/notesSlide5.xml" Id="R033007fc8af94f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3e99943d124988" /><Relationship Type="http://schemas.openxmlformats.org/officeDocument/2006/relationships/notesSlide" Target="/ppt/notesSlides/notesSlide6.xml" Id="R0c164295742944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43507008424525" /><Relationship Type="http://schemas.openxmlformats.org/officeDocument/2006/relationships/notesSlide" Target="/ppt/notesSlides/notesSlide7.xml" Id="R273e92cd2bd947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f7cb28018f44f1" /><Relationship Type="http://schemas.openxmlformats.org/officeDocument/2006/relationships/notesSlide" Target="/ppt/notesSlides/notesSlide8.xml" Id="R572d0a5d233643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cffbf8d5034711" /><Relationship Type="http://schemas.openxmlformats.org/officeDocument/2006/relationships/notesSlide" Target="/ppt/notesSlides/notesSlide9.xml" Id="Rcbf1d284999744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6d1837aa9c4145" /><Relationship Type="http://schemas.openxmlformats.org/officeDocument/2006/relationships/notesSlide" Target="/ppt/notesSlides/notesSlide10.xml" Id="Rc770a3f18b6f42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15069ee8d342ef" /><Relationship Type="http://schemas.openxmlformats.org/officeDocument/2006/relationships/notesSlide" Target="/ppt/notesSlides/notesSlide11.xml" Id="Re401321a80574b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99ecd0521c4575" /><Relationship Type="http://schemas.openxmlformats.org/officeDocument/2006/relationships/notesSlide" Target="/ppt/notesSlides/notesSlide12.xml" Id="Rcd6222cc9b8e47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844e82c96f4ddc" /><Relationship Type="http://schemas.openxmlformats.org/officeDocument/2006/relationships/notesSlide" Target="/ppt/notesSlides/notesSlide13.xml" Id="R7a91a8d394c849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9db871233a41bf" /><Relationship Type="http://schemas.openxmlformats.org/officeDocument/2006/relationships/notesSlide" Target="/ppt/notesSlides/notesSlide14.xml" Id="Rbc5bc176d71948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1504b78b3744c6" /><Relationship Type="http://schemas.openxmlformats.org/officeDocument/2006/relationships/notesSlide" Target="/ppt/notesSlides/notesSlide15.xml" Id="R5ffb43e7c39447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06860f78734b24" /><Relationship Type="http://schemas.openxmlformats.org/officeDocument/2006/relationships/notesSlide" Target="/ppt/notesSlides/notesSlide16.xml" Id="R67f62d20523c4f2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76d5ce71534a7b" /><Relationship Type="http://schemas.openxmlformats.org/officeDocument/2006/relationships/notesSlide" Target="/ppt/notesSlides/notesSlide17.xml" Id="Rb03fff1efdbe4cd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4e7d21a0b64d10" /><Relationship Type="http://schemas.openxmlformats.org/officeDocument/2006/relationships/notesSlide" Target="/ppt/notesSlides/notesSlide18.xml" Id="R0a1c75f32c0a4c8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d6c8893fae4571" /><Relationship Type="http://schemas.openxmlformats.org/officeDocument/2006/relationships/notesSlide" Target="/ppt/notesSlides/notesSlide19.xml" Id="R446ce1e04a81474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1200e65a3a4e85" /><Relationship Type="http://schemas.openxmlformats.org/officeDocument/2006/relationships/notesSlide" Target="/ppt/notesSlides/notesSlide20.xml" Id="Rf0a85c120c3445f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fe3fd5b6734073" /><Relationship Type="http://schemas.openxmlformats.org/officeDocument/2006/relationships/notesSlide" Target="/ppt/notesSlides/notesSlide21.xml" Id="R474429ec4ee44ef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c299aa64d847ac" /><Relationship Type="http://schemas.openxmlformats.org/officeDocument/2006/relationships/notesSlide" Target="/ppt/notesSlides/notesSlide22.xml" Id="R90f1fa4d8a5a4e5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b48c1c5e75422f" /><Relationship Type="http://schemas.openxmlformats.org/officeDocument/2006/relationships/notesSlide" Target="/ppt/notesSlides/notesSlide23.xml" Id="R58b8e2751fa440b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ee494565714993" /><Relationship Type="http://schemas.openxmlformats.org/officeDocument/2006/relationships/notesSlide" Target="/ppt/notesSlides/notesSlide24.xml" Id="Rf1e0b406d9c24dd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2fa3ae38e544f0" /><Relationship Type="http://schemas.openxmlformats.org/officeDocument/2006/relationships/notesSlide" Target="/ppt/notesSlides/notesSlide25.xml" Id="R541a7f302caf445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d82aa80d9f4a2a" /><Relationship Type="http://schemas.openxmlformats.org/officeDocument/2006/relationships/notesSlide" Target="/ppt/notesSlides/notesSlide26.xml" Id="Rf6d6643a29464cf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05ff5b7d9640fc" /><Relationship Type="http://schemas.openxmlformats.org/officeDocument/2006/relationships/notesSlide" Target="/ppt/notesSlides/notesSlide27.xml" Id="Re9ff3fce664f4ad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f36bccbd774176" /><Relationship Type="http://schemas.openxmlformats.org/officeDocument/2006/relationships/notesSlide" Target="/ppt/notesSlides/notesSlide28.xml" Id="Rd8fbfe7e8515460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4f156897294e46" /><Relationship Type="http://schemas.openxmlformats.org/officeDocument/2006/relationships/notesSlide" Target="/ppt/notesSlides/notesSlide29.xml" Id="R657b3ac14b954b4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e00644235c4074" /><Relationship Type="http://schemas.openxmlformats.org/officeDocument/2006/relationships/notesSlide" Target="/ppt/notesSlides/notesSlide30.xml" Id="Rfaf3aadab9d34e5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a4caede4df4446" /><Relationship Type="http://schemas.openxmlformats.org/officeDocument/2006/relationships/notesSlide" Target="/ppt/notesSlides/notesSlide31.xml" Id="Rbf7802967000445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4f5af24f404e90" /><Relationship Type="http://schemas.openxmlformats.org/officeDocument/2006/relationships/notesSlide" Target="/ppt/notesSlides/notesSlide32.xml" Id="R6e8789d349f04df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ec35efcedb417e" /><Relationship Type="http://schemas.openxmlformats.org/officeDocument/2006/relationships/notesSlide" Target="/ppt/notesSlides/notesSlide33.xml" Id="Rbd861315e2c549c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93f0de11f945e8" /><Relationship Type="http://schemas.openxmlformats.org/officeDocument/2006/relationships/notesSlide" Target="/ppt/notesSlides/notesSlide34.xml" Id="R5a6e0be85c20421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3b693205a94595" /><Relationship Type="http://schemas.openxmlformats.org/officeDocument/2006/relationships/notesSlide" Target="/ppt/notesSlides/notesSlide35.xml" Id="Rf0c2a03f1d6d474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d966ced70f482d" /><Relationship Type="http://schemas.openxmlformats.org/officeDocument/2006/relationships/notesSlide" Target="/ppt/notesSlides/notesSlide36.xml" Id="Rc49ac8d5ea3b4dd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c00086493a4c56" /><Relationship Type="http://schemas.openxmlformats.org/officeDocument/2006/relationships/notesSlide" Target="/ppt/notesSlides/notesSlide37.xml" Id="R2a220b05aa3b4e0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d818c6d0474c26" /><Relationship Type="http://schemas.openxmlformats.org/officeDocument/2006/relationships/notesSlide" Target="/ppt/notesSlides/notesSlide38.xml" Id="R9fa98d3450a5447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13df8b363643b8" /><Relationship Type="http://schemas.openxmlformats.org/officeDocument/2006/relationships/notesSlide" Target="/ppt/notesSlides/notesSlide39.xml" Id="R8a315ccd452043c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ae3196775b4925" /><Relationship Type="http://schemas.openxmlformats.org/officeDocument/2006/relationships/chart" Target="/ppt/slides/charts/chart1.xml" Id="R2421716e705c42b2" /><Relationship Type="http://schemas.openxmlformats.org/officeDocument/2006/relationships/notesSlide" Target="/ppt/notesSlides/notesSlide40.xml" Id="R86f5028b5bbb43c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0df103e92a4b28" /><Relationship Type="http://schemas.openxmlformats.org/officeDocument/2006/relationships/chart" Target="/ppt/slides/charts/chart2.xml" Id="Rb2d6a28ac18a413a" /><Relationship Type="http://schemas.openxmlformats.org/officeDocument/2006/relationships/chart" Target="/ppt/slides/charts/chart3.xml" Id="R0894ea3a3c394079" /><Relationship Type="http://schemas.openxmlformats.org/officeDocument/2006/relationships/chart" Target="/ppt/slides/charts/chart4.xml" Id="R55766d38b35c4ae9" /><Relationship Type="http://schemas.openxmlformats.org/officeDocument/2006/relationships/chart" Target="/ppt/slides/charts/chart5.xml" Id="Rd1fe12e3840d49f5" /><Relationship Type="http://schemas.openxmlformats.org/officeDocument/2006/relationships/chart" Target="/ppt/slides/charts/chart6.xml" Id="Rf8606cb4b6634eaa" /><Relationship Type="http://schemas.openxmlformats.org/officeDocument/2006/relationships/chart" Target="/ppt/slides/charts/chart7.xml" Id="Reb94bdbb895e4015" /><Relationship Type="http://schemas.openxmlformats.org/officeDocument/2006/relationships/notesSlide" Target="/ppt/notesSlides/notesSlide41.xml" Id="Rb615d9ae365f45b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d75f500b484086" /><Relationship Type="http://schemas.openxmlformats.org/officeDocument/2006/relationships/chart" Target="/ppt/slides/charts/chart8.xml" Id="Ra627407203344336" /><Relationship Type="http://schemas.openxmlformats.org/officeDocument/2006/relationships/notesSlide" Target="/ppt/notesSlides/notesSlide42.xml" Id="R17dbb8f62d3a448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8a3858aac64bb2" /><Relationship Type="http://schemas.openxmlformats.org/officeDocument/2006/relationships/chart" Target="/ppt/slides/charts/chart9.xml" Id="Radded795d11a444b" /><Relationship Type="http://schemas.openxmlformats.org/officeDocument/2006/relationships/notesSlide" Target="/ppt/notesSlides/notesSlide43.xml" Id="R82cf6c57bf244ed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e47eba5726403e" /><Relationship Type="http://schemas.openxmlformats.org/officeDocument/2006/relationships/chart" Target="/ppt/slides/charts/chart10.xml" Id="R805ea0e46d964bea" /><Relationship Type="http://schemas.openxmlformats.org/officeDocument/2006/relationships/notesSlide" Target="/ppt/notesSlides/notesSlide44.xml" Id="Raf5cca04fd4540d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480d8b08e3452a" /><Relationship Type="http://schemas.openxmlformats.org/officeDocument/2006/relationships/notesSlide" Target="/ppt/notesSlides/notesSlide45.xml" Id="Ra28f4e1395cb4d3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上次</c:v>
          </c:tx>
          <c:spPr>
            <a:solidFill xmlns:a="http://schemas.openxmlformats.org/drawingml/2006/main">
              <a:srgbClr val="CF8792"/>
            </a:solidFill>
          </c:spPr>
          <c:invertIfNegative val="0"/>
          <c:cat>
            <c:numRef>
              <c:f>'Chart Data'!$A$2:$A$6</c:f>
              <c:numCache>
                <c:formatCode>General</c:formatCode>
                <c:ptCount val="5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5.592</c:v>
                </c:pt>
                <c:pt idx="1">
                  <c:v>25.733</c:v>
                </c:pt>
                <c:pt idx="2">
                  <c:v>-32.037</c:v>
                </c:pt>
                <c:pt idx="3">
                  <c:v>10.988</c:v>
                </c:pt>
                <c:pt idx="4">
                  <c:v>6.761</c:v>
                </c:pt>
              </c:numCache>
            </c:numRef>
          </c:val>
        </c:ser>
        <c:ser>
          <c:idx val="1"/>
          <c:order val="1"/>
          <c:tx>
            <c:v>本次已完成</c:v>
          </c:tx>
          <c:spPr>
            <a:solidFill xmlns:a="http://schemas.openxmlformats.org/drawingml/2006/main">
              <a:srgbClr val="47171C"/>
            </a:solidFill>
          </c:spPr>
          <c:invertIfNegative val="0"/>
          <c:cat>
            <c:numRef>
              <c:f>'Chart Data'!$C$2:$C$6</c:f>
              <c:numCache>
                <c:formatCode>General</c:formatCode>
                <c:ptCount val="5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</c:numCache>
            </c:num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-3.342</c:v>
                </c:pt>
                <c:pt idx="1">
                  <c:v>23</c:v>
                </c:pt>
                <c:pt idx="2">
                  <c:v>-32.033</c:v>
                </c:pt>
                <c:pt idx="3">
                  <c:v>13.118</c:v>
                </c:pt>
                <c:pt idx="4">
                  <c:v>8.561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47171C"/>
                  </a:solidFill>
                  <a:latin typeface="Source Han Serif TW"/>
                  <a:ea typeface="Source Han Serif TW"/>
                  <a:cs typeface="Source Han Serif T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-4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CF8F5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</a:p>
      </c:txPr>
    </c:legend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上次</c:v>
          </c:tx>
          <c:spPr>
            <a:ln xmlns:a="http://schemas.openxmlformats.org/drawingml/2006/main"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-57.328</c:v>
                </c:pt>
                <c:pt idx="1">
                  <c:v>-1.36</c:v>
                </c:pt>
                <c:pt idx="2">
                  <c:v>6.184</c:v>
                </c:pt>
                <c:pt idx="3">
                  <c:v>5.124</c:v>
                </c:pt>
                <c:pt idx="4">
                  <c:v>5.592</c:v>
                </c:pt>
              </c:numCache>
            </c:numRef>
          </c:val>
          <c:smooth val="0"/>
        </c:ser>
        <c:ser>
          <c:idx val="1"/>
          <c:order val="1"/>
          <c:tx>
            <c:v>本次</c:v>
          </c:tx>
          <c:spPr>
            <a:ln xmlns:a="http://schemas.openxmlformats.org/drawingml/2006/main"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 xmlns:a="http://schemas.openxmlformats.org/drawingml/2006/main"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-57.338</c:v>
                </c:pt>
                <c:pt idx="1">
                  <c:v>-1.108</c:v>
                </c:pt>
                <c:pt idx="2">
                  <c:v>5.643</c:v>
                </c:pt>
                <c:pt idx="3">
                  <c:v>5.716</c:v>
                </c:pt>
                <c:pt idx="4">
                  <c:v>-3.342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erif TW"/>
                  <a:ea typeface="Source Han Serif TW"/>
                  <a:cs typeface="Source Han Serif T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CF8F5"/>
        </a:solidFill>
      </c:spPr>
    </c:plotArea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上次</c:v>
          </c:tx>
          <c:spPr>
            <a:ln xmlns:a="http://schemas.openxmlformats.org/drawingml/2006/main"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-71.714</c:v>
                </c:pt>
                <c:pt idx="1">
                  <c:v>-58.547</c:v>
                </c:pt>
                <c:pt idx="2">
                  <c:v>-18.482</c:v>
                </c:pt>
                <c:pt idx="3">
                  <c:v>22.95</c:v>
                </c:pt>
                <c:pt idx="4">
                  <c:v>25.733</c:v>
                </c:pt>
              </c:numCache>
            </c:numRef>
          </c:val>
          <c:smooth val="0"/>
        </c:ser>
        <c:ser>
          <c:idx val="1"/>
          <c:order val="1"/>
          <c:tx>
            <c:v>本次</c:v>
          </c:tx>
          <c:spPr>
            <a:ln xmlns:a="http://schemas.openxmlformats.org/drawingml/2006/main"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 xmlns:a="http://schemas.openxmlformats.org/drawingml/2006/main"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-71.713</c:v>
                </c:pt>
                <c:pt idx="1">
                  <c:v>-58.572</c:v>
                </c:pt>
                <c:pt idx="2">
                  <c:v>-19.243</c:v>
                </c:pt>
                <c:pt idx="3">
                  <c:v>22.496</c:v>
                </c:pt>
                <c:pt idx="4">
                  <c:v>23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erif TW"/>
                  <a:ea typeface="Source Han Serif TW"/>
                  <a:cs typeface="Source Han Serif T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CF8F5"/>
        </a:solidFill>
      </c:spPr>
    </c:plotArea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上次</c:v>
          </c:tx>
          <c:spPr>
            <a:ln xmlns:a="http://schemas.openxmlformats.org/drawingml/2006/main"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-70.592</c:v>
                </c:pt>
                <c:pt idx="1">
                  <c:v>-49.131</c:v>
                </c:pt>
                <c:pt idx="2">
                  <c:v>-41.481</c:v>
                </c:pt>
                <c:pt idx="3">
                  <c:v>-14.999</c:v>
                </c:pt>
                <c:pt idx="4">
                  <c:v>-32.037</c:v>
                </c:pt>
              </c:numCache>
            </c:numRef>
          </c:val>
          <c:smooth val="0"/>
        </c:ser>
        <c:ser>
          <c:idx val="1"/>
          <c:order val="1"/>
          <c:tx>
            <c:v>本次</c:v>
          </c:tx>
          <c:spPr>
            <a:ln xmlns:a="http://schemas.openxmlformats.org/drawingml/2006/main"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 xmlns:a="http://schemas.openxmlformats.org/drawingml/2006/main"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-70.59</c:v>
                </c:pt>
                <c:pt idx="1">
                  <c:v>-49.136</c:v>
                </c:pt>
                <c:pt idx="2">
                  <c:v>-41.493</c:v>
                </c:pt>
                <c:pt idx="3">
                  <c:v>-15.003</c:v>
                </c:pt>
                <c:pt idx="4">
                  <c:v>-32.033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erif TW"/>
                  <a:ea typeface="Source Han Serif TW"/>
                  <a:cs typeface="Source Han Serif T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CF8F5"/>
        </a:solidFill>
      </c:spPr>
    </c:plotArea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上次</c:v>
          </c:tx>
          <c:spPr>
            <a:ln xmlns:a="http://schemas.openxmlformats.org/drawingml/2006/main"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-69.304</c:v>
                </c:pt>
                <c:pt idx="1">
                  <c:v>4.586</c:v>
                </c:pt>
                <c:pt idx="2">
                  <c:v>24.21</c:v>
                </c:pt>
                <c:pt idx="3">
                  <c:v>22.45</c:v>
                </c:pt>
                <c:pt idx="4">
                  <c:v>10.988</c:v>
                </c:pt>
              </c:numCache>
            </c:numRef>
          </c:val>
          <c:smooth val="0"/>
        </c:ser>
        <c:ser>
          <c:idx val="1"/>
          <c:order val="1"/>
          <c:tx>
            <c:v>本次</c:v>
          </c:tx>
          <c:spPr>
            <a:ln xmlns:a="http://schemas.openxmlformats.org/drawingml/2006/main"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 xmlns:a="http://schemas.openxmlformats.org/drawingml/2006/main"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-69.3</c:v>
                </c:pt>
                <c:pt idx="1">
                  <c:v>7.34</c:v>
                </c:pt>
                <c:pt idx="2">
                  <c:v>20.633</c:v>
                </c:pt>
                <c:pt idx="3">
                  <c:v>24.229</c:v>
                </c:pt>
                <c:pt idx="4">
                  <c:v>13.118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erif TW"/>
                  <a:ea typeface="Source Han Serif TW"/>
                  <a:cs typeface="Source Han Serif T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CF8F5"/>
        </a:solidFill>
      </c:spPr>
    </c:plotArea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上次</c:v>
          </c:tx>
          <c:spPr>
            <a:ln xmlns:a="http://schemas.openxmlformats.org/drawingml/2006/main"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-70.457</c:v>
                </c:pt>
                <c:pt idx="1">
                  <c:v>0.01</c:v>
                </c:pt>
                <c:pt idx="2">
                  <c:v>9.678</c:v>
                </c:pt>
                <c:pt idx="3">
                  <c:v>23.498</c:v>
                </c:pt>
                <c:pt idx="4">
                  <c:v>6.761</c:v>
                </c:pt>
              </c:numCache>
            </c:numRef>
          </c:val>
          <c:smooth val="0"/>
        </c:ser>
        <c:ser>
          <c:idx val="1"/>
          <c:order val="1"/>
          <c:tx>
            <c:v>本次</c:v>
          </c:tx>
          <c:spPr>
            <a:ln xmlns:a="http://schemas.openxmlformats.org/drawingml/2006/main"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 xmlns:a="http://schemas.openxmlformats.org/drawingml/2006/main"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-70.451</c:v>
                </c:pt>
                <c:pt idx="1">
                  <c:v>0.007</c:v>
                </c:pt>
                <c:pt idx="2">
                  <c:v>12.555</c:v>
                </c:pt>
                <c:pt idx="3">
                  <c:v>24.649</c:v>
                </c:pt>
                <c:pt idx="4">
                  <c:v>8.561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erif TW"/>
                  <a:ea typeface="Source Han Serif TW"/>
                  <a:cs typeface="Source Han Serif T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CF8F5"/>
        </a:solidFill>
      </c:spPr>
    </c:plotArea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上次</c:v>
          </c:tx>
          <c:spPr>
            <a:ln xmlns:a="http://schemas.openxmlformats.org/drawingml/2006/main"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-70.967</c:v>
                </c:pt>
                <c:pt idx="1">
                  <c:v>-11.476</c:v>
                </c:pt>
                <c:pt idx="2">
                  <c:v>-2.799</c:v>
                </c:pt>
                <c:pt idx="3">
                  <c:v>-5.855</c:v>
                </c:pt>
                <c:pt idx="4">
                  <c:v>18.267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erif TW"/>
                  <a:ea typeface="Source Han Serif TW"/>
                  <a:cs typeface="Source Han Serif T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CF8F5"/>
        </a:solidFill>
      </c:spPr>
    </c:plotArea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勝 W</c:v>
          </c:tx>
          <c:spPr>
            <a:solidFill xmlns:a="http://schemas.openxmlformats.org/drawingml/2006/main">
              <a:srgbClr val="CF8792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上次｜6 runs，3600 場</c:v>
                </c:pt>
                <c:pt idx="1">
                  <c:v>本次｜5 runs，3000 場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32.3333</c:v>
                </c:pt>
                <c:pt idx="1">
                  <c:v>30.1667</c:v>
                </c:pt>
              </c:numCache>
            </c:numRef>
          </c:val>
        </c:ser>
        <c:ser>
          <c:idx val="1"/>
          <c:order val="1"/>
          <c:tx>
            <c:v>和 D</c:v>
          </c:tx>
          <c:spPr>
            <a:solidFill xmlns:a="http://schemas.openxmlformats.org/drawingml/2006/main">
              <a:srgbClr val="FAEDC6"/>
            </a:solidFill>
          </c:spPr>
          <c:invertIfNegative val="0"/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上次｜6 runs，3600 場</c:v>
                </c:pt>
                <c:pt idx="1">
                  <c:v>本次｜5 runs，3000 場</c:v>
                </c:pt>
              </c:strCache>
            </c:strRef>
          </c:cat>
          <c:val>
            <c:numRef>
              <c:f>'Chart Data'!$D$2:$D$3</c:f>
              <c:numCache>
                <c:formatCode>0"%"</c:formatCode>
                <c:ptCount val="2"/>
                <c:pt idx="0">
                  <c:v>4.2222</c:v>
                </c:pt>
                <c:pt idx="1">
                  <c:v>4.8333</c:v>
                </c:pt>
              </c:numCache>
            </c:numRef>
          </c:val>
        </c:ser>
        <c:ser>
          <c:idx val="2"/>
          <c:order val="2"/>
          <c:tx>
            <c:v>敗 L</c:v>
          </c:tx>
          <c:spPr>
            <a:solidFill xmlns:a="http://schemas.openxmlformats.org/drawingml/2006/main">
              <a:srgbClr val="47171C"/>
            </a:solidFill>
          </c:spPr>
          <c:invertIfNegative val="0"/>
          <c:cat>
            <c:strRef>
              <c:f>'Chart Data'!$E$2:$E$3</c:f>
              <c:strCache>
                <c:ptCount val="2"/>
                <c:pt idx="0">
                  <c:v>上次｜6 runs，3600 場</c:v>
                </c:pt>
                <c:pt idx="1">
                  <c:v>本次｜5 runs，3000 場</c:v>
                </c:pt>
              </c:strCache>
            </c:strRef>
          </c:cat>
          <c:val>
            <c:numRef>
              <c:f>'Chart Data'!$F$2:$F$3</c:f>
              <c:numCache>
                <c:formatCode>0"%"</c:formatCode>
                <c:ptCount val="2"/>
                <c:pt idx="0">
                  <c:v>63.4444</c:v>
                </c:pt>
                <c:pt idx="1">
                  <c:v>65</c:v>
                </c:pt>
              </c:numCache>
            </c:numRef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FCF8F5"/>
                  </a:solidFill>
                  <a:latin typeface="Source Han Serif TW"/>
                  <a:ea typeface="Source Han Serif TW"/>
                  <a:cs typeface="Source Han Serif TW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EB4BA"/>
              </a:solidFill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CF8F5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</a:p>
      </c:txPr>
    </c:legend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勝 W</c:v>
          </c:tx>
          <c:spPr>
            <a:solidFill xmlns:a="http://schemas.openxmlformats.org/drawingml/2006/main">
              <a:srgbClr val="CF8792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AllInBot</c:v>
                </c:pt>
                <c:pt idx="1">
                  <c:v>Mayari</c:v>
                </c:pt>
                <c:pt idx="2">
                  <c:v>COAC</c:v>
                </c:pt>
                <c:pt idx="3">
                  <c:v>TMA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10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v>和 D</c:v>
          </c:tx>
          <c:spPr>
            <a:solidFill xmlns:a="http://schemas.openxmlformats.org/drawingml/2006/main">
              <a:srgbClr val="FAEDC6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AllInBot</c:v>
                </c:pt>
                <c:pt idx="1">
                  <c:v>Mayari</c:v>
                </c:pt>
                <c:pt idx="2">
                  <c:v>COAC</c:v>
                </c:pt>
                <c:pt idx="3">
                  <c:v>TMA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3</c:v>
                </c:pt>
                <c:pt idx="1">
                  <c:v>11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v>敗 L</c:v>
          </c:tx>
          <c:spPr>
            <a:solidFill xmlns:a="http://schemas.openxmlformats.org/drawingml/2006/main">
              <a:srgbClr val="47171C"/>
            </a:solidFill>
          </c:spPr>
          <c:invertIfNegative val="0"/>
          <c:cat>
            <c:strRef>
              <c:f>'Chart Data'!$E$2:$E$5</c:f>
              <c:strCache>
                <c:ptCount val="4"/>
                <c:pt idx="0">
                  <c:v>AllInBot</c:v>
                </c:pt>
                <c:pt idx="1">
                  <c:v>Mayari</c:v>
                </c:pt>
                <c:pt idx="2">
                  <c:v>COAC</c:v>
                </c:pt>
                <c:pt idx="3">
                  <c:v>TMA</c:v>
                </c:pt>
              </c:strCache>
            </c:strRef>
          </c:cat>
          <c:val>
            <c:numRef>
              <c:f>'Chart Data'!$F$2:$F$5</c:f>
              <c:numCache>
                <c:formatCode>General</c:formatCode>
                <c:ptCount val="4"/>
                <c:pt idx="0">
                  <c:v>296</c:v>
                </c:pt>
                <c:pt idx="1">
                  <c:v>289</c:v>
                </c:pt>
                <c:pt idx="2">
                  <c:v>290</c:v>
                </c:pt>
                <c:pt idx="3">
                  <c:v>300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erif TW"/>
                  <a:ea typeface="Source Han Serif TW"/>
                  <a:cs typeface="Source Han Serif T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3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CF8F5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</a:p>
      </c:txPr>
    </c:legend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上次</c:v>
          </c:tx>
          <c:spPr>
            <a:solidFill xmlns:a="http://schemas.openxmlformats.org/drawingml/2006/main">
              <a:srgbClr val="CF8792"/>
            </a:solidFill>
          </c:spPr>
          <c:invertIfNegative val="0"/>
          <c:cat>
            <c:numRef>
              <c:f>'Chart Data'!$A$2:$A$6</c:f>
              <c:numCache>
                <c:formatCode>General</c:formatCode>
                <c:ptCount val="5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v>本次已完成</c:v>
          </c:tx>
          <c:spPr>
            <a:solidFill xmlns:a="http://schemas.openxmlformats.org/drawingml/2006/main">
              <a:srgbClr val="47171C"/>
            </a:solidFill>
          </c:spPr>
          <c:invertIfNegative val="0"/>
          <c:cat>
            <c:numRef>
              <c:f>'Chart Data'!$C$2:$C$6</c:f>
              <c:numCache>
                <c:formatCode>General</c:formatCode>
                <c:ptCount val="5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</c:numCache>
            </c:num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3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47171C"/>
                  </a:solidFill>
                  <a:latin typeface="Source Han Serif TW"/>
                  <a:ea typeface="Source Han Serif TW"/>
                  <a:cs typeface="Source Han Serif T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CF8F5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</a:p>
      </c:txPr>
    </c:legend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00EED-3307-461F-AD3E-0A869939ACB1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7667625" y="2705100"/>
            <a:ext cx="0" cy="3390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39565-946F-42C1-8ECB-C43F77193A25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10810875" y="4895850"/>
            <a:ext cx="2238375" cy="1200150"/>
          </a:xfrm>
          <a:prstGeom xmlns:a="http://schemas.openxmlformats.org/drawingml/2006/main" prst="bentConnector5">
            <a:avLst>
              <a:gd name="adj1" fmla="val 0"/>
              <a:gd name="adj2" fmla="val 19048"/>
              <a:gd name="adj3" fmla="val 89787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6EC39-C68A-496B-AC10-A9707449574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0810875" y="2705100"/>
            <a:ext cx="666750" cy="1695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D35D96-25DB-47B6-B438-7BCC2F71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Opponent Pool 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7F416-A458-49CA-84BD-9E5FDEE3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以歷代策略維護對手池，再用凍結的 4＋6 名單評估候選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9A76F-00B2-4D72-931C-A2E62CAD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離線演化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218CD-64D6-4106-AE1C-96D2B694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561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MicroRTS Java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E7213-1A8E-4189-BF28-54E04991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980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策略／控制基因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CA3D5-E859-46D5-94CB-D8B05A2F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90525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B276D-F593-4805-8CAE-EFDD4A83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60070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854AC-7344-4B73-986A-A8EB36E6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5527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E14BB-4A9C-45CA-8B7F-43626A04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4673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評估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5E4F1-8C74-4612-94A9-33F62DB4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95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反思與選擇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78A5B-DEB9-4296-A619-C1881BB1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4000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對戰時直接執行 Java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29D83D-7769-4ABF-B417-21B9DFEA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演化與 LLM 工作在對戰之前完成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2BE62-7425-4290-B8BF-28CD80DA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913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2026-10-21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36C45-302A-4E1C-8A06-BB66876C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搜尋採 opponent pool；正式 Final Test 使用獨立的固定基準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C2A7A9-21BA-4E17-A7C0-96285E87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 / 45</a:t>
            </a:r>
          </a:p>
        </p:txBody>
      </p:sp>
    </p:spTree>
    <p:extLst>
      <p:ext uri="{BB962C8B-B14F-4D97-AF65-F5344CB8AC3E}">
        <p14:creationId xmlns:p14="http://schemas.microsoft.com/office/powerpoint/2010/main" val="20535920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C9508-8E71-49BA-BA02-F1F882DD50CB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4048125" y="707231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4BA22F-777D-4BAA-8514-1481843B7C84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8429625" y="7072313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13F643-98C5-4316-B192-FB92DAE8CF00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001500" y="533400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30D9F-6591-4876-A44B-5B283996FB1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810625" y="46672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693FC7-9C32-4622-AD74-D4C52EE94EA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48125" y="46672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6F82D-7AC5-4C51-92F9-FF09D92AA301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500313" y="3095625"/>
            <a:ext cx="928688" cy="1095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2A38E7-B5CA-4788-85CF-E58F31B4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搜尋流程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83D44-8F9A-4754-896D-A7995F25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目前搜尋協定：self_play ＋ tournament-v1 opponent pool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E35EB-A798-46A7-8CEE-AA6088C0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14668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60149-DAC7-4D4C-B3B5-C28B5E59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5143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GPT 產生 Java 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F339C-85EA-4AEA-8316-A0DC4232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暫時人工由 ChatGPT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生成固定 framework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473B5-F3CC-4F04-A703-A3F84C38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3095625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 G0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十個內建對手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51297-51D2-4760-915A-452C6C91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91000"/>
            <a:ext cx="38100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候選初評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策略開始累積入池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13F80-ABC5-4884-9548-6531B568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00500"/>
            <a:ext cx="4000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到期刷新 4＋6</a:t>
            </a:r>
          </a:p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父代重評、選擇與變異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61C04-24F1-483A-9E9B-2D3117E4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4191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子代評估與倖存選擇</a:t>
            </a:r>
          </a:p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更新 opponent pool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0E4ED-F367-447A-B471-5D9C1581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572250"/>
            <a:ext cx="342900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停止條件？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22EE5-3AA1-41B9-A596-74E714AE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3095625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FF5414-9624-461E-B5BA-931626BCA238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715125" y="57150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651B20-26AE-4D6C-9313-BBE0B39BE80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715125" y="5715000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65D09C-3BBD-49B8-9591-C4FEF59B2AE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4430375" y="466725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6CF3CE-520E-4D0B-8BB5-B937E8D46D4D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4001750" y="4667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36E58-D095-4021-9620-0DE2C5D8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81625"/>
            <a:ext cx="2286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否：下一代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94FBF0-279A-47AD-AB88-539306BB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9127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DC9F8B-FD3B-4367-95DE-84A2ADC5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 / 45</a:t>
            </a:r>
          </a:p>
        </p:txBody>
      </p:sp>
    </p:spTree>
    <p:extLst>
      <p:ext uri="{BB962C8B-B14F-4D97-AF65-F5344CB8AC3E}">
        <p14:creationId xmlns:p14="http://schemas.microsoft.com/office/powerpoint/2010/main" val="4892085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456CF-3946-4AA9-B603-23815E48957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9753600" y="3357563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ED47C-9830-4617-841D-F622476D6B9E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514850" y="3357563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BCC3D-8CB5-44D9-BDFE-B859D4EA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策略 DSL 的執行語意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AE749-E007-403E-B331-EFA37139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一條規則決定：誰，在什麼條件下，嘗試什麼動作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F0180-E36D-4F81-8E2C-7A13765B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3619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actor</a:t>
            </a:r>
          </a:p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執行對象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54369-71E3-46C7-BADC-8E5A3706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24125"/>
            <a:ext cx="3619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when</a:t>
            </a:r>
          </a:p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可觀察條件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D4127-69C3-41B9-BEC5-2C87D96F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524125"/>
            <a:ext cx="3619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action</a:t>
            </a:r>
          </a:p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候選動作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4BA5F-1C5A-4D32-A3D2-5E017EBA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140970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9525">
            <a:solidFill>
              <a:srgbClr val="DEB4BA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規則 1   →   規則 2   →   規則 3   →   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6219B-8D52-4F0C-BDEB-5991615B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724650"/>
            <a:ext cx="342900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可合法發出動作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B8FB8-8530-43DA-94ED-31945CC3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724650"/>
            <a:ext cx="447675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無法發出：繼續下一條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E9651-75CD-45DE-AC84-4176F3A6696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6191250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18EFC-E696-41DD-A9E6-76F2E75E06D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763250" y="6191250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C0BD0-634C-46A1-A0CD-E61C0534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 離線轉為 Java；對戰不執行文字指令。空 rules 代表 idle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717BC-A74C-43FF-9AB9-8ACA834D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 / 45</a:t>
            </a:r>
          </a:p>
        </p:txBody>
      </p:sp>
    </p:spTree>
    <p:extLst>
      <p:ext uri="{BB962C8B-B14F-4D97-AF65-F5344CB8AC3E}">
        <p14:creationId xmlns:p14="http://schemas.microsoft.com/office/powerpoint/2010/main" val="1273884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C3FF3-81D3-4F05-8E4B-C8A7E8BD915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858375" y="4619625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02C24F-9530-454A-A47E-82082B59990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895850" y="4619625"/>
            <a:ext cx="1247775" cy="76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C165B-FDFB-4C27-9BC4-1CBB76DCCFD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95850" y="2809875"/>
            <a:ext cx="1247775" cy="1809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51BD7C-3F83-4BC0-81FE-B4788017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的一次性建立與凍結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A3BC7-4C88-480E-906D-6E173AA0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架構建立一次；模板、槽位與表達式在搜尋期間保持固定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DC256-53A1-4BB0-9A54-BB714E66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4095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新建立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9F61A-D285-4F60-AC17-BE847092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4095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已有外部 bundle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299D4-50DE-42D2-A56C-C28BA1C0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1947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design_brief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Groq／Mistral／local bootstrap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EA7D7-8DD8-48B4-B933-B2AAAED0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007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人工準備或共用架構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指定 bundle_path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DD1AB-33D1-49DB-834E-3CA81147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37147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Schema</a:t>
            </a:r>
          </a:p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與 Java 契約驗證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AD5CF-99E4-4DC5-8B83-D3C88622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0"/>
            <a:ext cx="3905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凍結 bundle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2D820-F28B-4D6B-A5E7-A0529E90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905500"/>
            <a:ext cx="1809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exact bytes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BB17D-B194-44E5-86AC-EF924082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905500"/>
            <a:ext cx="1714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SHA-256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FB543F-8617-412B-BE61-02FC23B6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之後只演化 control_genome；resume 讀凍結版本，不重新 bootstrap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60CB8-0A30-4DAD-AE30-BCDB3463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 / 45</a:t>
            </a:r>
          </a:p>
        </p:txBody>
      </p:sp>
    </p:spTree>
    <p:extLst>
      <p:ext uri="{BB962C8B-B14F-4D97-AF65-F5344CB8AC3E}">
        <p14:creationId xmlns:p14="http://schemas.microsoft.com/office/powerpoint/2010/main" val="13023739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3528A4-240F-44F6-AE67-734757397850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6429375" y="77152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99E8ED-2977-41DD-959A-64F7ED52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的有限選項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45C61-3E98-4129-AE94-F2BC0FDC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slot 是固定 Java 裡的可替換位置；演化只改選值，Java 骨架保持固定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E70F5-688D-4691-AEE8-F8025296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573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槽位的意義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ED817-D35A-48B6-9911-F90E4CCB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573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bundle 定義的合法選項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2AE41-3C40-48B3-8228-D9621F9A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85737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候選保存的值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628D5-ACBC-4774-8E0A-DC398C38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integer｜工人數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FCF4E-6FEB-4DE3-9D25-C92F27E7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worker_target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F20AD-0910-4B2A-9D42-F60000A2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F9551-F244-4BB5-83D2-99A7509B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E51F6-4CF6-402C-96B5-56FCF10A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4A6BF-2719-4094-B89F-9B015BE8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B4EB1-E42B-45AA-BD3A-B4CBD9AE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82472-A39F-45C0-821A-E75C9CAB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CB3EA-0153-484A-9622-A9A862F6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FD060-0C4B-4510-B06D-C168F10B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486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min = 2，max = 8，step = 1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70ED4-08A1-4BAA-AC44-255D7699608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953625" y="31718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9CB0FF-F2E7-4186-8DC1-F0F409C7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62250"/>
            <a:ext cx="4476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worker_target: 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1652C0-9B71-443F-B529-EFFB1491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number｜數值權重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40CE81-7024-4B20-96AD-9928EEC2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00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attack_weight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928C9-E70C-42AB-91F5-4055E947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0F811A-DFB5-42A6-AE65-0CA80155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EEC5C3-B9F7-4E93-A855-E8AA8430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A6D05F-79DE-495C-AF97-9302F062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0.75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97A093-3076-4865-B0F5-5011D121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8A7C5F-364B-48BC-9729-B6726CD0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1054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min = 0，max = 1，step = 0.25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112156-7F56-4207-9774-76D805B818B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953625" y="47910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82F2F6-0B25-4A1B-9726-24AD9216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4476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attack_weight: 0.75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C4CD06-BF0E-42D7-B392-6B69B41B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expression_choice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3E3493-B5FC-43EE-BC78-DA1ACC49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198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攻擊目標 target_policy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34996E-003B-4DEB-8F26-0A7ACA23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00075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最近敵人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57C3BC-32FB-49D1-8447-C5BC4B70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0075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最低血量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CD358C-49E6-409C-BC2A-06A71C98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600075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敵方基地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B254A5-ED9A-4A99-A916-50B11D23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76275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每個 choice_id 已對應一段固定 Java 表達式</a:t>
            </a:r>
          </a:p>
        </p:txBody>
      </p: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C392C4-8FFE-42F1-B8E0-95920CBF8B6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953625" y="64103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662521-2B7B-431E-B25A-800AD738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0"/>
            <a:ext cx="4476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target_policy: "lowest_hp"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A67CCF-25AD-4445-885A-EFB2E078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419975"/>
            <a:ext cx="57150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填滿全部 slot，組成完整 genome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5E754C-6E74-4FE5-BA83-7179CF17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419975"/>
            <a:ext cx="7286625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驗證選值，再填入固定模板產生 Java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A0BD3A-A4BC-48BA-8589-3E3DE22A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簡化示例，實際選單由 bundle 決定。number 也只能選離散格點，不能任意填小數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BDC6FC-C995-490E-82AC-A66E448A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5 / 45</a:t>
            </a:r>
          </a:p>
        </p:txBody>
      </p:sp>
    </p:spTree>
    <p:extLst>
      <p:ext uri="{BB962C8B-B14F-4D97-AF65-F5344CB8AC3E}">
        <p14:creationId xmlns:p14="http://schemas.microsoft.com/office/powerpoint/2010/main" val="3773409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58C4F4-E558-4F00-A9D4-2251FB044862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8001000" y="6019800"/>
            <a:ext cx="3810000" cy="1123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DE9142-68A8-406A-ADCC-7A5CDDD4D286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4095750" y="5895975"/>
            <a:ext cx="3905250" cy="1247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E4534-E4FC-406E-8D1B-DFEB3ECF3DF8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1811000" y="4276725"/>
            <a:ext cx="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0CB74-E11B-4F54-9089-1188C2575E10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4095750" y="4276725"/>
            <a:ext cx="0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34EB0-06B4-4CC1-8538-9B83A729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 local 與 llm_coach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A19A8-0377-4F60-863D-23B8BB7B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兩種演化政策，共用相同的凍結 framework 與下游評估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EF436-FF36-43D9-8513-02F54CD6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6858000" cy="4572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8FAAE-1718-4EF6-B074-B5A3DA0E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6858000" cy="4572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87DDF-B651-45B8-85E2-BCB30EC3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98DB3-CE85-442E-8677-4C64993F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14575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llm_coach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FF18E-F056-48F8-BA47-5FEE3664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5905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初始：有限域採樣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593A6-BD21-4EE2-85F7-10DB3AA5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5905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逐槽交配，至多一槽突變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39402-114E-4643-87BD-C7E89580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5905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初始：LLM 選完整 genome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70001-2A8B-471E-AD56-2B78753D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5905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最差單場賽評＋Coach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回傳完整 genome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08AEF-BE74-46C5-A5C1-81A0DA9C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7143750"/>
            <a:ext cx="7524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本地渲染 Java，再驗證與對戰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74836-B33D-4D02-9C19-50BD1D0F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Coach 回應不合法：保留突變前的完整 genome，標記失敗，不隨機補值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820FE1-D857-415B-B911-8D379299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6 / 45</a:t>
            </a:r>
          </a:p>
        </p:txBody>
      </p:sp>
    </p:spTree>
    <p:extLst>
      <p:ext uri="{BB962C8B-B14F-4D97-AF65-F5344CB8AC3E}">
        <p14:creationId xmlns:p14="http://schemas.microsoft.com/office/powerpoint/2010/main" val="18287737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17F9CB-2859-472B-AC5E-1C0068AF12D1}"/>
              </a:ext>
            </a:extLst>
          </p:cNvPr>
          <p:cNvCxnSpPr>
            <a:stCxn xmlns:a="http://schemas.openxmlformats.org/drawingml/2006/main" id="21" idx="0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381250" y="2971800"/>
            <a:ext cx="2714625" cy="3267075"/>
          </a:xfrm>
          <a:prstGeom xmlns:a="http://schemas.openxmlformats.org/drawingml/2006/main" prst="bentConnector5">
            <a:avLst>
              <a:gd name="adj1" fmla="val 0"/>
              <a:gd name="adj2" fmla="val 6997"/>
              <a:gd name="adj3" fmla="val 91579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FF8407-8C8D-4946-A6F7-E0DB051DD0D9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3952875" y="68103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926541-2EB9-4E88-AB8B-A168AF732DD5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7953375" y="5667375"/>
            <a:ext cx="4143375" cy="1143000"/>
          </a:xfrm>
          <a:prstGeom xmlns:a="http://schemas.openxmlformats.org/drawingml/2006/main" prst="bentConnector5">
            <a:avLst>
              <a:gd name="adj1" fmla="val 0"/>
              <a:gd name="adj2" fmla="val 20000"/>
              <a:gd name="adj3" fmla="val 94483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A93FF-8F0C-42F1-A0B4-7BEF81E4A59E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2096750" y="3419475"/>
            <a:ext cx="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4DB92F-676F-4992-A052-AE34647D6553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953375" y="29718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914557-AEFF-4D7F-A661-EE01BE8C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的每個世代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08556-FD77-4CF8-A12E-1BE48350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同一凍結快照內，10 位父代與 10 位子代選出 10 位下一代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500FB-0EDA-4005-B030-D0902918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7AA79-DD91-4A6A-A27A-8C7F85A0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147C3-0642-4990-83AF-BE83DB30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BBE8C-CAF6-4210-BC50-DC81E911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A359E-0F91-4EBA-94ED-7A6F9D03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D9D87-FF13-41E6-994B-1405AA58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4BA5A-2CC6-4008-902D-D45912E7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4B805-29AF-40F7-9E22-B9A7DA5E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46A52-06C1-4129-865A-76AE1FCE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A7D73-89D7-4612-AA0D-EA308743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801C07-7C63-4C4C-8C79-BACF6538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01F9E9-7C7A-4FFB-A8F9-6E4E1EC4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24125"/>
            <a:ext cx="28575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選父代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F5C1A-89B3-40F8-B3BB-78506CFA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524125"/>
            <a:ext cx="39052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交配與突變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30797C-5A26-47C4-A019-EAE5628B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619625"/>
            <a:ext cx="3905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Java、驗證與子代評估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BF4755-B758-4DF1-8165-2893957A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238875"/>
            <a:ext cx="2857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父代＋子代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選下一代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209601-9B50-4BEE-8B06-959475E9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38875"/>
            <a:ext cx="3143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更新 pool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 checkpoint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6630AC-449E-47CF-9313-9A9899F9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29075"/>
            <a:ext cx="8953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對手快照到期刷新時，繁殖前先重評父代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A3B58C-FD81-4144-B665-7DF09B1A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世代提交後才前進；新入池成員等下一次快照刷新才可能成為對手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A20694-7D96-4E55-9C03-56030668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7 / 45</a:t>
            </a:r>
          </a:p>
        </p:txBody>
      </p:sp>
    </p:spTree>
    <p:extLst>
      <p:ext uri="{BB962C8B-B14F-4D97-AF65-F5344CB8AC3E}">
        <p14:creationId xmlns:p14="http://schemas.microsoft.com/office/powerpoint/2010/main" val="2270558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15B49-54F2-4C5C-AE39-3C298C60055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10334625" y="2905125"/>
            <a:ext cx="1381125" cy="404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F5DEC-612C-4988-9C77-9CB8CD9B228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714875" y="3309938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4BD244-02E9-42F3-B651-AD489481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的繁殖父代選擇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208F8-BEC8-4E4B-BE72-9CEE5E3F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先用 Game Performance 決定頂層，再在這一層中選繁殖父代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6439C-D218-4291-BA6B-B2535FB7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395287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當代候選族群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同一對手快照，已有 fitness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18046-EB7D-4E42-94B4-57718048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67000"/>
            <a:ext cx="4381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只留分數頂層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 ≥ 最高分 − 1.0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69E01-665B-4DA6-B07E-2DE7115A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381250"/>
            <a:ext cx="328612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 A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seeded 抽樣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DD463-121A-4678-8B58-2E6B3C9A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619750"/>
            <a:ext cx="3286125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 B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優先挑離 A 較遠者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97F33-C6C7-4CEC-8AAF-903DA093D05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334625" y="37147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0B31B7-806B-43C0-AC5A-D1432C0E94F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953750" y="3714750"/>
            <a:ext cx="0" cy="2495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32FDC-4756-4004-AB02-646B561E5F0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953750" y="62103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4E4D3-B33C-4248-9698-39B80146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1910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在同一頂層再選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C4EA3-D1D7-4D8D-AEEC-A1AB631F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9048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語意距離來自固定狀態中的 Java 動作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FB526-39A4-4B32-8810-BE0D4084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低分者不能只靠行為新穎跨越分數頂層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470F6-F580-480A-A65F-BEC41CF2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繁殖父代提供基因；opponent pool 提供評估對手。沒有相容簽章時採 seeded 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44F8F-69C4-46EC-87E3-D113D21F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8 / 45</a:t>
            </a:r>
          </a:p>
        </p:txBody>
      </p:sp>
    </p:spTree>
    <p:extLst>
      <p:ext uri="{BB962C8B-B14F-4D97-AF65-F5344CB8AC3E}">
        <p14:creationId xmlns:p14="http://schemas.microsoft.com/office/powerpoint/2010/main" val="6378361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13E36B-FCC8-417C-85BF-89D4CBDAFECB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1477625" y="5667375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58F1D-788C-4E3F-B305-7A51CFFB558F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1477625" y="3390900"/>
            <a:ext cx="0" cy="1085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5257FA-504E-4A61-8DF7-10C1CD5D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的父代選擇示例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473C4-B7BD-4BBB-B4F9-5DA42441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教學示例：最高分 100，頂層門檻為 99.0；只在這層中比較行為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15D0D-FC2E-418E-994D-24993B22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298EF-D69B-4348-BA5E-764A63B8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3336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CCC2F-4DAC-4A22-887B-F5F2F433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距候選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9A3DC-6263-4D7C-A0B2-E3D31BA7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3681A-4A1D-492E-A202-5A959C9B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242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986AE-2A67-41E5-ACC1-E9E82435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242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8／9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96CB2-2909-417F-B055-72639516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DCEE8-2548-44A9-92A5-1BF9C7BE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3148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99.4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E3F0F-8990-4407-8ADC-3D0AB55D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148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39B9A-4328-4DB8-A89B-E40F14AB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2B2FE-E597-4566-BFB2-FC622304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3054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99.0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D7AA7-E435-48B1-8434-38E1ABE3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054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2／9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14B8D-C727-4691-9323-26E4493D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960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D4B68-5875-4569-BCA7-E0499079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62960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98.8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F05CA1-46D6-42BA-A875-CBBDE32F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2960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不比較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CE32C1-EBF6-4732-92C9-5A0DF89E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62865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第一父代：seeded 抽中候選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6A1D1-369A-406D-AA25-5E1C6310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76750"/>
            <a:ext cx="466725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在 A、B、C 中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比較與 B 的語意距離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06BB67-673A-40E4-88F5-1B3ADE12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0"/>
            <a:ext cx="4667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第二父代選候選 A</a:t>
            </a:r>
          </a:p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8／9 是最大距離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3D8E17-D5BF-40CB-8EFD-C36DA9DA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9140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 低於 99.0，不能靠新穎性入選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18BE01-41A7-4FAF-9D40-F31ED9B9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本頁為示例，非實驗結果。分數差 1.0 包含邊界；距離來自相容的九個動作探針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18BF48-4511-46B1-91C1-B72672A8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9 / 45</a:t>
            </a:r>
          </a:p>
        </p:txBody>
      </p:sp>
    </p:spTree>
    <p:extLst>
      <p:ext uri="{BB962C8B-B14F-4D97-AF65-F5344CB8AC3E}">
        <p14:creationId xmlns:p14="http://schemas.microsoft.com/office/powerpoint/2010/main" val="2014894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639C3-4C77-4D16-89E3-59448F4E963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610100" y="6029325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BED90-6EBA-44A4-B68B-A5E29453843A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9791700" y="474345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35BE2F-AC7E-4E13-9053-7DAA7A04997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610100" y="3457575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3E89D4-4F34-449F-936D-82A713CC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交配與來源譜系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5A91F-69E0-4D38-9B93-F412D8DA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直接父代與各成分的真正來源，分開保存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7C900-3CD3-48F9-9B57-B3096081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EF21D-4B03-42D1-8968-06F971B8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1431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93BC5-A309-43AA-9463-285A2D0B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6F915-40F0-4F8C-B81A-C3170C11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6A2F2-7D80-4818-BE78-F0032973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8F52E-FEE0-4406-93A8-CA67BC2B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0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41BC5-51D5-44BE-BC90-ABFE8E6B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33875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1A6A2-F003-4246-B3DF-F8F6E9CB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619750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20056-B221-455E-93EE-E590348F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48000"/>
            <a:ext cx="3714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F2A93-AFFD-4DF0-AC5F-D3717AF2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33875"/>
            <a:ext cx="3714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DB7983-029A-411A-98F9-18F6F74B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3714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C03505-1D2D-49C8-926F-51496261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43125"/>
            <a:ext cx="42862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子代：成分獨立選來源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1DC904-2242-40B7-ADB5-D684E130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972300"/>
            <a:ext cx="676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Java 這一列只在 inherited 模式啟用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1660A-0CBD-4AD2-82CB-768EF535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 模式複製完整 policy；framework 模式改為每個 slot 獨立交配並保存 donor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D7D36F-4BFE-4A23-8838-C314E989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/ 45</a:t>
            </a:r>
          </a:p>
        </p:txBody>
      </p:sp>
    </p:spTree>
    <p:extLst>
      <p:ext uri="{BB962C8B-B14F-4D97-AF65-F5344CB8AC3E}">
        <p14:creationId xmlns:p14="http://schemas.microsoft.com/office/powerpoint/2010/main" val="3594679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833C2-B8C5-4C7D-BAFA-904A4E7BDB1D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7143750" y="4619625"/>
            <a:ext cx="476250" cy="2438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F9EB1-FB5F-4CAE-8008-570BC2B3C19D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1430000" y="5143500"/>
            <a:ext cx="1262063" cy="190500"/>
          </a:xfrm>
          <a:prstGeom xmlns:a="http://schemas.openxmlformats.org/drawingml/2006/main" prst="bentConnector4">
            <a:avLst>
              <a:gd name="adj1" fmla="val 0"/>
              <a:gd name="adj2" fmla="val 6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31DC6-7180-43E5-AA96-24B86588CE1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858250" y="3952875"/>
            <a:ext cx="1714500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6DC71-FAB3-4A0D-8E0F-9250644389EA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1430000" y="2762250"/>
            <a:ext cx="1262063" cy="190500"/>
          </a:xfrm>
          <a:prstGeom xmlns:a="http://schemas.openxmlformats.org/drawingml/2006/main" prst="bentConnector4">
            <a:avLst>
              <a:gd name="adj1" fmla="val 0"/>
              <a:gd name="adj2" fmla="val 6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231F8-90F9-4162-83CD-D351B10BF05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8858250" y="2428875"/>
            <a:ext cx="171450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1DA29-70A0-4482-BB33-BF88C5A178BC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905250" y="39528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3E84B-63B5-488D-B96C-CCD464D1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模式的交配前 Code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12414-E3F7-46CF-A43E-5C920E20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僅 LLM 模式執行；每位實際來源先對照自己的策略與 Java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17373-18CF-4417-8F5F-462742D2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31432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 policy</a:t>
            </a:r>
          </a:p>
          <a:p xmlns:a="http://schemas.openxmlformats.org/drawingml/2006/main"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＋原始 Java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4179B-EC01-4EB7-81A7-29F5280F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86125"/>
            <a:ext cx="34290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Code 診斷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036DE-C3E1-4595-B4EE-7362AAF9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健康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303B5-239C-4B0D-BF15-954BCC14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0"/>
            <a:ext cx="423862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正常交配與突變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86579-8A3E-4788-B623-16599350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7675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有缺陷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88A7D-5B7E-41A8-A149-BDA0FA13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334000"/>
            <a:ext cx="423862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單一父代修正 Java</a:t>
            </a:r>
          </a:p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保留原 prompt 基因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871FA-9C8B-4D5F-B5E9-69EF0E77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058025"/>
            <a:ext cx="76200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診斷失敗：保留證據，標記失敗子代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7136B-F5FE-4DAD-BCA4-E3C02E3A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 gate 只診斷策略忠實度與程式正確性，不使用勝率作修正依據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F66BE9-6D7A-46D0-B584-82F2A75F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11 / 45</a:t>
            </a:r>
          </a:p>
        </p:txBody>
      </p:sp>
    </p:spTree>
    <p:extLst>
      <p:ext uri="{BB962C8B-B14F-4D97-AF65-F5344CB8AC3E}">
        <p14:creationId xmlns:p14="http://schemas.microsoft.com/office/powerpoint/2010/main" val="6170812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4AE491-53D7-474C-A023-C16A6CD6FB61}"/>
              </a:ext>
            </a:extLst>
          </p:cNvPr>
          <p:cNvCxnSpPr>
            <a:stCxn xmlns:a="http://schemas.openxmlformats.org/drawingml/2006/main" id="2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2787313" y="5172075"/>
            <a:ext cx="0" cy="1533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B13DCC-69F5-44EB-88B1-274FF60E3CA3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429750" y="3190875"/>
            <a:ext cx="1428750" cy="1409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A756C7-9040-48DD-841C-421752AAA22D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9429750" y="4600575"/>
            <a:ext cx="1428750" cy="1352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AC811F-D56C-4A62-9D71-EA7662249F10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191000" y="5867400"/>
            <a:ext cx="1333500" cy="85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54412A-1D8F-4B6D-9404-FD08C061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 Reflection 的證據路徑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253EE-DBD0-4638-9A05-FFBEF098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Coach 同時看全局摘要，但詳細賽評只取策略來源父代的一場最差對戰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C35AC-4848-4548-A4B7-851583A4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父代已完成對戰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CCA96-AE23-40B0-80E6-F89B3D4E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A5051-BECD-43EE-87AB-BE8DEBA9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38FFD-610B-4870-B176-2B2528C5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C4474-F748-46EB-BBA0-AEE9FCE8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8AE64-9852-472F-8313-674DFC68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4908A-90DF-41D0-865E-06ABAD64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E5103-6449-4ACA-8DA4-D9B6C959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5FD07D-7008-418C-8115-BD594CF2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F8CE8-5AF1-4537-A673-0D5BC4E4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A475C-477A-4A2F-B87D-9E8A71D6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00B51-0E56-4C0E-ACBD-D417A9E9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537FC-8333-4CA6-99D0-902C852A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04A16-D779-4787-8996-0C6F81CC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50BB3C-46A0-4EF7-8E46-87042798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04CDEE-5432-471D-9845-B4D1CAFA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B14099-6F6D-49C3-93DC-3D555051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12150D-9DFE-4816-AC3A-E52CF82E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879913-4F55-43F9-AA5C-C7C3800C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45BA4C-52DF-4EDD-875A-7C11598F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0F80F6-647E-4F64-AC3A-0FE2795E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3333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 場詳細 trace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742917-3A43-4144-BBCB-E3007F48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29250"/>
            <a:ext cx="3905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Match Commentator</a:t>
            </a:r>
          </a:p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診斷轉折與失誤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4B10CF-D0CC-48FF-A4E9-482DB57F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33675"/>
            <a:ext cx="39052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全場 global summary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78EFC3-07FE-4F77-B79E-50CA7F5A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29075"/>
            <a:ext cx="385762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Coach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A4D8B9-7097-4C85-B757-B71B9AE6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705600"/>
            <a:ext cx="43338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DSL 或完整 genome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0777AC-3F25-4EA7-83E0-C1F219AE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672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圖中場次方塊為示意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11D67D-62FC-4866-90CF-4DFCCED0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找不到該場 trace 或賽評失敗，不另挑替代賽事；原基因與證據保留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62E7D1-BE37-4F01-BA14-664EEC69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12 / 45</a:t>
            </a:r>
          </a:p>
        </p:txBody>
      </p:sp>
    </p:spTree>
    <p:extLst>
      <p:ext uri="{BB962C8B-B14F-4D97-AF65-F5344CB8AC3E}">
        <p14:creationId xmlns:p14="http://schemas.microsoft.com/office/powerpoint/2010/main" val="13731826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1D2D1-AB7C-4BFE-9F02-48F32410E647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762375" y="40957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DD7BD-5345-4DC2-BEE6-217E0196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最差場次與策略回應的驗證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DC1F5-3085-4C67-97F1-44117FAF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先選對證據，再驗證 Coach 提出的完整規則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4E97E-563F-482D-9FD0-FC30FB16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最差已完成場次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FB732-E2C7-42FA-9654-4584869D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907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JSONL 逐行規則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C93E7-52DA-4FB5-8D92-D88447F9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performance 為有限值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選最低值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183BE-3B2A-4BF3-959F-1AE3D931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5810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缺值時：敗 −100、和 0、勝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EE9DF-084D-454F-9C63-36007538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3410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同分按 match_id；失敗比賽排除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3BF22-AD69-45FE-BA72-DC84EC72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43250"/>
            <a:ext cx="590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合法規則 1　保留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FA7C5-F834-4216-B797-D2E56799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76750"/>
            <a:ext cx="590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非法整行規則　捨棄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32673-0F89-44A1-B2F8-141736C4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810250"/>
            <a:ext cx="590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合法規則 3　保留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9B831-9E68-4C02-B29C-2BEE6A9D7D3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2381250"/>
            <a:ext cx="0" cy="4857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EB4BA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2E357-DB09-4F29-AC3B-D5F56E29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合法規則保留原順序；至少一條才成功。Framework 回應仍要求完整 genome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E0492-6365-4533-AF8C-7ACB1A53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13 / 45</a:t>
            </a:r>
          </a:p>
        </p:txBody>
      </p:sp>
    </p:spTree>
    <p:extLst>
      <p:ext uri="{BB962C8B-B14F-4D97-AF65-F5344CB8AC3E}">
        <p14:creationId xmlns:p14="http://schemas.microsoft.com/office/powerpoint/2010/main" val="7620732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05761-7983-4490-BBA9-04FB9B9E9AD8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4095750" y="60483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8C4F1-93FF-41B4-B1AD-2CA131157AD9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9334500" y="604837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29871-C90D-47E0-9BDE-AB45547C3AE0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12620625" y="4095750"/>
            <a:ext cx="333375" cy="1524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4AA67-CBCB-4430-A74C-27A6406C15D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572625" y="36195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A82B0-82B7-48B2-8CC5-5CA40475FE4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143500" y="36195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17E7A6-39EF-4DEC-B0A7-D28211EF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Prompt Reflection 的資料邊界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6A59E-A26E-444A-8DD0-51FBEAF5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改進「如何把策略翻成 Java」的可重用規則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69E0C-B204-45CA-B6CE-C4E1B65C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4381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Policy</a:t>
            </a:r>
          </a:p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可編輯 Java 區域</a:t>
            </a:r>
          </a:p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相符的 validation／compiler 診斷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AAAFE-0B5B-4480-9E4E-62518447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3238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Reviewer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594F7-280A-4710-84D1-38B7AE90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143250"/>
            <a:ext cx="3714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Rewriter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746EA-1F5E-4566-919D-22838303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619750"/>
            <a:ext cx="43815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Reusable-rule delta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909B7-DEDF-4A6B-BF9B-ABD1CADC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19750"/>
            <a:ext cx="4095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generation_prompt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2DB968-30C4-42E9-B73A-E2678BC1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3333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 Generator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D77D3-03D5-478A-94B0-E3CC7758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105650"/>
            <a:ext cx="4095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策略基因保留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8CF89-0EF0-4177-B72C-2905AB11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Reviewer 不接收勝敗、fitness、對手分數或比賽 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6AC9BD-B263-4A3C-B572-9BAE3CF7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14 / 45</a:t>
            </a:r>
          </a:p>
        </p:txBody>
      </p:sp>
    </p:spTree>
    <p:extLst>
      <p:ext uri="{BB962C8B-B14F-4D97-AF65-F5344CB8AC3E}">
        <p14:creationId xmlns:p14="http://schemas.microsoft.com/office/powerpoint/2010/main" val="5286419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8DB055-6674-4FAB-9744-863975DE1A04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8072438" y="6048375"/>
            <a:ext cx="4867275" cy="1238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2BCDBB-782E-4A3B-83DE-574B7AD74A3E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7958138" y="6048375"/>
            <a:ext cx="2414588" cy="1238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5AAEB1-1810-44A1-A9C9-A29C747032C9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2976563" y="6048375"/>
            <a:ext cx="5095875" cy="1238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74698-A59B-4018-923B-9D797D2F1CF6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12939713" y="4524375"/>
            <a:ext cx="4763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D2230-3E25-41B0-AA3B-CF573CF87872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7958138" y="4524375"/>
            <a:ext cx="4763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535AD-0EF0-4C3A-86F6-E233B990FB5C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2976563" y="4524375"/>
            <a:ext cx="4763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B9CE9C-F3EE-458D-A60B-673D3433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三條 Java 產生路徑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9EFD9-C1E5-49C1-BA21-C941D145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不同基因表示，匯入同一條 Java 驗證與對戰路徑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C1CBB-22E9-4328-A475-38966E5D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591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37C27-555D-4DC8-BAA1-78A86B8C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5910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策略＋generation prompt</a:t>
            </a:r>
          </a:p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選配 inherited Java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D4146-DEAF-4788-8AF9-BD53F0C3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347662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8D025-A017-4FC1-9DDC-BFB28A00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有界生成／編譯修復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46377-A270-440B-A096-90EC908C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143125"/>
            <a:ext cx="4591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Deterministic DSL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C5767-CD25-4193-B65C-A78D9E98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38500"/>
            <a:ext cx="45910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Canonical policy</a:t>
            </a:r>
          </a:p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本地 typed IR 編譯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08B32-262E-4488-8843-04B9962B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238750"/>
            <a:ext cx="347662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F88370-FECD-4EBA-A3E3-C22461D1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640080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失敗不呼叫 LLM 修復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1E0889-3F31-4B70-B4B9-40D4F213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143125"/>
            <a:ext cx="4591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slots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FE4F6-90C2-471D-911A-B9A6130C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0"/>
            <a:ext cx="45910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凍結 template</a:t>
            </a:r>
          </a:p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＋完整 control_genome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9FF13-F681-4DB4-9690-B96A6865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238750"/>
            <a:ext cx="347662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99932A-41C3-4A28-8555-2878069C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0080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失敗不呼叫 LLM 修復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962268-DF0B-4ECB-8E81-1256B9D8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86625"/>
            <a:ext cx="9096375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Validation → javac → Integration → MicroRTS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993857-7FE4-4878-A325-DB72406E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必須啟用語意 probe，用於行為去重與分數層內的選擇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400104-A4F2-465A-98E6-1FB8B673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15 / 45</a:t>
            </a:r>
          </a:p>
        </p:txBody>
      </p:sp>
    </p:spTree>
    <p:extLst>
      <p:ext uri="{BB962C8B-B14F-4D97-AF65-F5344CB8AC3E}">
        <p14:creationId xmlns:p14="http://schemas.microsoft.com/office/powerpoint/2010/main" val="9605877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B5D01D-9A4C-4029-940B-B1B430738593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4048125" y="6405563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FC0AD-5B1E-458C-9030-BF990A0A7EEF}"/>
              </a:ext>
            </a:extLst>
          </p:cNvPr>
          <p:cNvCxnSpPr>
            <a:stCxn xmlns:a="http://schemas.openxmlformats.org/drawingml/2006/main" id="10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6553200" y="4000500"/>
            <a:ext cx="1209675" cy="19050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D5D2A-BAD4-45FB-BD3F-34FA78F923F3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3192125" y="4000500"/>
            <a:ext cx="23813" cy="1905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CA1FE-1686-4920-9B53-661C6EAFBDB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715500" y="3357563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76838-0506-432C-96B2-466F0D19AE9C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048125" y="3357563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DF82B-9F8A-49D4-9DB7-5BB785AA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生成與有界修復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0DF72-B7B5-4B2B-AE9D-DAB773B1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第一份驗證與編譯成功的 source／classes，成為唯一 canonical 表型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67155-BC7E-42E9-9891-8FA2BA17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28612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權威基因</a:t>
            </a:r>
          </a:p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＋固定 scaffold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D3756-DA08-4170-9AFC-0ACB66A4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14625"/>
            <a:ext cx="3905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 回應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9E968-1B0B-4549-9D84-037497E3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714625"/>
            <a:ext cx="4000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外框／normalize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Validation＋javac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320CE-E249-4C10-BEB3-026D5D44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905500"/>
            <a:ext cx="3762375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成功 → 提升表型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473B1F-AD7E-44F7-983E-AC3FFC55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0"/>
            <a:ext cx="39052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前次完整 source</a:t>
            </a:r>
          </a:p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＋當次結構化診斷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83E10-3B4E-410E-88E9-CEF6207C6307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0477500" y="367665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0381A-69E2-4CCA-9C7E-D7DD5220C1E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477500" y="3676650"/>
            <a:ext cx="0" cy="2752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E19D1-741E-4027-AEBF-28E7718D71A6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9715500" y="6429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8D1AB-4543-4F41-B3D6-26E483D9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0125"/>
            <a:ext cx="31432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失敗，尚有 attempt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0483A6-0AE3-4E99-99DE-1DF57582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86125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耗盡上限</a:t>
            </a:r>
          </a:p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保留失敗證據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F87D2-4D9B-4423-9E54-579780B1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Integration／runtime 失敗不回到 decoder；確定性兩種模式沒有此修復迴圈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717B03-92D9-40ED-8B82-FDF41DEF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16 / 45</a:t>
            </a:r>
          </a:p>
        </p:txBody>
      </p:sp>
    </p:spTree>
    <p:extLst>
      <p:ext uri="{BB962C8B-B14F-4D97-AF65-F5344CB8AC3E}">
        <p14:creationId xmlns:p14="http://schemas.microsoft.com/office/powerpoint/2010/main" val="8735671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10851-8018-42C0-A819-73F44D8C225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810750" y="27336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C7F8E-D5F3-4C65-A4F1-EAD8A5378B9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048250" y="27336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96A7B1-2873-4F0D-8456-CDDA799A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Validation、編譯與七項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6B210-FCD3-40A0-B435-8FC8F071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先檢查 source，再編譯；可載入不代表能合法執行對戰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D4DE4-C3E2-4AB2-B800-1649C2EF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2862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CE015-4318-4385-996E-BCDC9F96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package／class／固定 scaffold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單一策略 marker／合法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E8D7D-C2E7-4894-B515-80DA67B9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37147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4F807-A949-4D7C-9C36-F5942F54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每個 attempt 最多一次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提升成功 class tree，不重編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7DF71-8F90-47FE-A2CD-17C6C9ED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333625"/>
            <a:ext cx="42862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F390C-EF30-4169-B60C-4C33F46E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77954-0838-4964-82E9-8970DA64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載入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E98A79-F0D3-4A89-999B-18419BD22C7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5732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0A44A-395D-4356-B573-F5124790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B9420-03BB-4FD3-BEB7-C75027BB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AI 繼承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A7C74-D0B2-4BBE-9364-771EF32C724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3377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8D570-E13D-43BE-8973-EB8CB830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BA315-8A01-49BE-A8DB-82E41DD7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建構子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CF585-CB4F-4292-A98D-26B653DCB3E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1022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4C57FA-82CB-42CE-83FF-813A8305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F69636-74A4-44EC-9D83-E4A374EB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reset</a:t>
            </a:r>
          </a:p>
        </p:txBody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3BA7D3-45A4-4E52-B3B8-36F8D3149F0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8667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F56416-4E3D-4160-9DC4-2F26E776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4E424F-963A-405F-905C-D6298DE0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clone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3411B1-1B1A-4E76-BD85-217989FE839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76312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CC8099-8928-4BE2-A0C1-13160D0E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29C668-A38E-4BBE-843C-D12843A5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getAction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E87954-FC08-4910-BBBA-095F76D9D35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83957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58A81A-356F-4C55-9CF9-ECD5E065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31D031-5365-446C-97FD-0028C308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PlayerAction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7C55DA-65E9-4D11-908C-228284C8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真實 8×8 地圖、雙方位置與獨立狀態檢查動作和一個 cycle；前置失敗阻擋後續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556874-0BA9-45A8-8544-23EFBE6C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17 / 45</a:t>
            </a:r>
          </a:p>
        </p:txBody>
      </p:sp>
    </p:spTree>
    <p:extLst>
      <p:ext uri="{BB962C8B-B14F-4D97-AF65-F5344CB8AC3E}">
        <p14:creationId xmlns:p14="http://schemas.microsoft.com/office/powerpoint/2010/main" val="386299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F16B59-804B-44A9-82AB-7907DA7B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搜尋評估的 180 場矩陣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6BD35-FD7A-4B04-9EFC-EFD4917E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同一份 Java 與 classes，覆蓋所有對手、地圖、回合與位置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225EE-3BF5-41DF-A792-1B8FC47A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5F7B6-68C6-4EAD-8F98-945C7650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對手欄位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BEEFE-4B09-4E93-895C-92A308FB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7AE74-6D0E-4ED8-BE40-F421DC78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01682-1C2C-449D-850D-DA2AC008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地圖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622E9-574B-4950-B239-00E9E6E1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717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3D054-C0EC-40B1-AFE7-915FF526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8A020-EE75-4E87-BF63-1CBD09D4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回合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9FFF3-648B-4A54-B47E-C2FBA2BF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5717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03B16-807D-42C8-A7C0-85F4A0BE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0C84D-5D88-4AAB-AA02-5A87F847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雙方位置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6D03E-86E5-4662-ABA3-22684F19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19750"/>
            <a:ext cx="7429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180 場／候選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687692-C82F-4BCE-8EAC-FA5913A2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00750"/>
            <a:ext cx="2905125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每個對手 18 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F08064-5DE3-4BA1-ADA5-C95434D2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848350"/>
            <a:ext cx="290512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每張地圖可設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tick_limit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2AECFA-9138-4E10-83E1-E34AD720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對手快照固定為 4 個保護成員＋6 個抽樣成員；同一快照內的候選共用名單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53FC70-F3C1-4C39-A03C-3121CA15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18 / 45</a:t>
            </a:r>
          </a:p>
        </p:txBody>
      </p:sp>
    </p:spTree>
    <p:extLst>
      <p:ext uri="{BB962C8B-B14F-4D97-AF65-F5344CB8AC3E}">
        <p14:creationId xmlns:p14="http://schemas.microsoft.com/office/powerpoint/2010/main" val="5630676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10400-5152-4B7E-A301-734FA5A87929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096000" y="6858000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14798-BB85-462B-B03F-0A959B19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Game Performance 與分數彙總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23165-1C86-489B-A0BC-4959825B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單場結果分數，加上最多 ±10 的物資、資源與存活 shaping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CE847-76C8-4139-A1EC-67894DB5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77D8C-460D-4460-B762-80E075B3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−100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4E87C-3E09-4E3F-8FAE-99199408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42862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D6D5C-5262-46DD-B07F-752BF38D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4312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A204B-204B-41C7-9661-86A09BEE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3E386-A8BF-4A6F-93B2-EF29E37E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67250"/>
            <a:ext cx="42862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252F2-ACFF-4F8C-B8A0-92D4F44F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14312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7DE8A-7FE1-4F27-A921-F35106D8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5275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＋100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6ACED-306E-4707-8AE8-072DE43A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0"/>
            <a:ext cx="42862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FA4F45-2B31-4BF0-9720-E750D122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38875"/>
            <a:ext cx="5238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每個對手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 場分數取平均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0C9B21-E3A2-4A5F-BBD8-38B5B1D9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238875"/>
            <a:ext cx="6953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 個對手等權平均</a:t>
            </a:r>
          </a:p>
          <a:p xmlns:a="http://schemas.openxmlformats.org/drawingml/2006/main"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＝候選的唯一 fitness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FA8B18-0F7C-4CC6-9EC3-5E3874DB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完整 180 場才有有效 fitness；語意差異只在分數同層內輔助選擇，不另加分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FEC212-A7A2-4A61-8299-346425BD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19 / 45</a:t>
            </a:r>
          </a:p>
        </p:txBody>
      </p:sp>
    </p:spTree>
    <p:extLst>
      <p:ext uri="{BB962C8B-B14F-4D97-AF65-F5344CB8AC3E}">
        <p14:creationId xmlns:p14="http://schemas.microsoft.com/office/powerpoint/2010/main" val="8070377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F56CC2-DA36-447D-9A5D-B9B4A500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的十個起始對手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18911-08CF-4C0E-9D08-274659B0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G0 使用全部十個內建對手；之後從持續累積的池中抽取 4＋6 名單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8C1B8-55FF-421D-B0CD-3A909753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可替換｜基礎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34DF8-65EC-49A8-BFFC-A4DBB168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PassiveAI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29DB6-248B-4305-914E-B39CA078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333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47A18-4B44-4244-94FD-21A1C04D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33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RandomBiasedAI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6D221-D026-4808-90FD-B3FC244F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可替換｜Rush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328C4-F26D-41CC-BEF5-80B01806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481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LightRush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170E6-00A0-4165-84E9-1E03C852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0481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HeavyRush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1D1AF-6F16-43BE-BF7A-DE622362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0481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WorkerRush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998C9-65E9-429B-92F9-280BB01E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永久保護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C0445-ACBD-4802-B6B2-570F87F3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762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AllInBot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0BB80-6EB0-4AA1-A525-BB1260D7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762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Mayari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53BB3-C76F-48A5-AF34-82EB5DA4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762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D18CC-C69F-4514-BAD7-73EC3C0A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5762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C1EEBD-139B-440B-BB14-4F2F56DC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477125"/>
            <a:ext cx="12763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前 6 個可被歷代候選替換；後 4 個永久保留。評分時十欄等權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F564D-ACDF-40A3-B587-FC21460A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20 / 45</a:t>
            </a:r>
          </a:p>
        </p:txBody>
      </p:sp>
    </p:spTree>
    <p:extLst>
      <p:ext uri="{BB962C8B-B14F-4D97-AF65-F5344CB8AC3E}">
        <p14:creationId xmlns:p14="http://schemas.microsoft.com/office/powerpoint/2010/main" val="12576055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109CE2-A792-43DC-AABD-E1AD6A75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的起始與容量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FD4AC-9EDC-4416-A106-814E8044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13830300" cy="542925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19050">
            <a:solidFill>
              <a:srgbClr val="DEB4B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21B26-DA8B-4D98-9740-CC3B46A3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228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EF850-1CF4-48E2-8085-1D9AC391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671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總容量上限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DBB94-4F0B-47C0-84F6-1366F8E8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1524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預設 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9B216-A792-4ADA-BECE-B0C2CE03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62575"/>
            <a:ext cx="1524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最低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542D9-B0C0-4217-B8D9-9CE7FE7D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 個固定保護：永久保留，不淘汰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F04C9-D38C-470E-943C-D878125A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037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AllInBot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4C11A-C4EF-43BB-B949-C1121CBB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0037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Mayari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55A2D-9167-40C7-9268-4272CB6D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037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DA356-B206-421F-A2B9-D09D4EE7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00037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C332E-F483-41C0-AED1-38C06A36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1955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起始另有 6 個可替換基準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3E62C-4563-48AD-9AB6-BC7C31F9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4342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PassiveAI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08358-7C31-4ECF-900B-C37EB800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4342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74C56-B89D-4CA3-A47F-B3251692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4342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RandomBiasedAI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980C56-1938-439E-B010-EFAA4AF2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2447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LightRush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CF1AD-5AFF-4B05-B176-2EBE84F0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2447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HeavyRush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E4AFA-F3CE-4725-A90D-87152B54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2447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WorkerRush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E0795F-EF0C-4F27-835A-D4C9D49F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4008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歷代策略累積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2A616-3220-465C-9B82-A1C33DC6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5A65F5-2246-48FB-AFD2-C798B858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693EA9-F771-4F45-B7D9-0ADB175A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D3E8E0-BD45-431F-A14C-5B0EC277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CBCBE3-77C3-4B64-A43F-2599C913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EC1968-B307-4B66-8441-9325D2E8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8C35E7-45D3-44A7-8D95-BBD6310B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667625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評估名單 = 4 個保護對手 ＋ 從池中抽取 6 名動態對手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B85C6A-BC7F-45D1-B936-61F03065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21 / 45</a:t>
            </a:r>
          </a:p>
        </p:txBody>
      </p:sp>
    </p:spTree>
    <p:extLst>
      <p:ext uri="{BB962C8B-B14F-4D97-AF65-F5344CB8AC3E}">
        <p14:creationId xmlns:p14="http://schemas.microsoft.com/office/powerpoint/2010/main" val="22978853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7392B-8376-4A56-8466-0230E971137E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714750" y="55245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5A7E0-1B88-4BE4-8622-7BD19422E4DE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001000" y="552450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91ACD-3101-47A5-9EAD-24E100CFA96B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6381750" y="4248150"/>
            <a:ext cx="4714875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38135-2206-4B71-82C5-6F4D27B36BFB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8048625" y="3048000"/>
            <a:ext cx="2238375" cy="361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F20FB-AD0E-4A55-80AE-62D083AB89E0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714750" y="340995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D74083-1BAC-4394-B15D-4876E1CA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新策略的來源與入池挑戰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2D5F7-315E-4B5A-A2E8-3E9E4A6B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8575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 初始族群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每代已評估子代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D0870-318A-42C1-952B-76A8F6F5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33337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入池資格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可執行、完整評估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ID／來源／表型去重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4F55C-F426-40B8-A9F3-A3890A04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2857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未滿容量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直接加入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4AF9F-FC73-4E46-8278-2F5AF6B9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53000"/>
            <a:ext cx="3714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已滿容量</a:t>
            </a:r>
          </a:p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seeded 抽 1 位非保護守擂者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9AC9B-8FC4-4A5D-98BD-97F52D2F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53000"/>
            <a:ext cx="347662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 場挑戰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地圖 × 3 回合 × 2 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17538-2D2F-4DCC-AD8A-57BF0B07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2857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完整且無錯誤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勝場 &gt; 敗場才替換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358BF-EA17-4A0C-BFBA-BB7F094D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4960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平手、失敗或未完成：保留原守擂者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683072-E8CA-43D2-85C9-6D09FFE6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096125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候選入池不要求先成為下一代倖存者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C0730-1D63-47F3-8ECD-2BF2C168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22 / 45</a:t>
            </a:r>
          </a:p>
        </p:txBody>
      </p:sp>
    </p:spTree>
    <p:extLst>
      <p:ext uri="{BB962C8B-B14F-4D97-AF65-F5344CB8AC3E}">
        <p14:creationId xmlns:p14="http://schemas.microsoft.com/office/powerpoint/2010/main" val="49939230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474DA4-E6BB-4BC0-B135-671D05A8F6D4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0906125" y="537210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C505CA-6052-42BC-A4F3-5AE4FEA2ED7D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191375" y="5372100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77875B-25DC-439A-ACE2-DDC0E58A7983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238500" y="53721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F46B9D-9780-4356-A88E-56D70055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凍結的十個評估對手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76A91-96C8-4DFE-AA34-B294CF3A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098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 4 個保護欄位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F6585-D934-4F59-87AD-B42AB203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3952875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個內建保護對手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跨快照維持相同 case 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50CF7-9C77-4323-BBB0-923592CC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每個快照再抽 6 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DECBE-ECE9-404A-B844-97730F14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203F4-02FB-44C7-B902-EF6A26C6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54D93-1E0B-46F1-A207-E53AD931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4F278-4474-440C-888A-85320335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FDD10-36E6-4FC3-B02C-99EB61EB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C6DF7-BE17-4262-B2C9-DB15A649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1A7C6-1C7E-4962-A40D-7570438D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從歷代累積的可替換成員抽樣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E2EDC-9337-44DB-95C6-F88BB809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1524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8A6501-F7BD-463C-B144-BCD9263E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53000"/>
            <a:ext cx="20955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G1–5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9B5A4-E980-474F-9750-61EE1FC5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53000"/>
            <a:ext cx="20955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G6–10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84E83-07B4-44C0-AE8F-6CC9BA18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953000"/>
            <a:ext cx="20955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G11–15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8E2238-F90D-499A-996D-E2DFE48C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00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全部 10 個內建對手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F23791-4DBA-4B0E-9A43-8B15459C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0007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首個抽樣快照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3695F8-C752-474E-91B3-ECABB23C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0007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刷新預設每 5 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57E323-9A9D-44C6-9A74-05F356B2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00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G16… 持續刷新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C24BA8-728E-4E29-8125-0FDE3AC6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934200"/>
            <a:ext cx="10287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每個快照固定評估 10 個欄位：4 個保護成員 ＋ 6 個動態成員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BD8F41-FDAB-462F-A84A-A783CAF6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23 / 45</a:t>
            </a:r>
          </a:p>
        </p:txBody>
      </p:sp>
    </p:spTree>
    <p:extLst>
      <p:ext uri="{BB962C8B-B14F-4D97-AF65-F5344CB8AC3E}">
        <p14:creationId xmlns:p14="http://schemas.microsoft.com/office/powerpoint/2010/main" val="11175640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CDC36-C894-4B66-AEA7-F8E73A708BEF}"/>
              </a:ext>
            </a:extLst>
          </p:cNvPr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7429500" y="62388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CAC85-0EC7-4F53-B1B9-E3CA518E584B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10429875" y="4610100"/>
            <a:ext cx="1571625" cy="1200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7A7234-1EC4-4081-8743-7732B7330B6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858250" y="39243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18732-1C64-418D-BD28-E4F0FCB19C1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857625" y="392430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613C7-B45C-4F65-9E32-95245CA3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對手快照刷新與父代重評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67CDD-8F54-42AB-BB3B-AD0DA729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AB361-4265-4AF7-9C33-1E8CC2AD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457450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凍結對手名單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DA436-D852-40A7-8F2B-6440B822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A9036-F344-430D-8CE2-359B1192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建立父代複本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A20CE-CECA-415D-BF83-DE9C1452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FD9EE-0550-43A7-9B8A-5AB67AF6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457450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新情境重評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A784C-22D6-44FF-827F-277598C4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38500"/>
            <a:ext cx="28575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4＋6 對手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 context hash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C3FE9-339B-484F-A7F1-BE6EF27C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32385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每位父代保留 phenotype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配置新 candidate 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D863E-94CE-4E2A-92C0-B6605E0A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0"/>
            <a:ext cx="34290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新情境重新評估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不覆寫舊分數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BC9FA-674A-4C72-A9BC-4D1F2A4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810250"/>
            <a:ext cx="3333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context 完成評分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29EB5-B78D-41F1-9BB9-4866F50D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10250"/>
            <a:ext cx="3714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再進入同一情境的繁殖選擇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0CD677-CD27-4332-AB3C-E7E9908A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0485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不同對手情境的分數不混在同一選擇池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B896E-69D3-41D6-AA0C-FBD462F7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24 / 45</a:t>
            </a:r>
          </a:p>
        </p:txBody>
      </p:sp>
    </p:spTree>
    <p:extLst>
      <p:ext uri="{BB962C8B-B14F-4D97-AF65-F5344CB8AC3E}">
        <p14:creationId xmlns:p14="http://schemas.microsoft.com/office/powerpoint/2010/main" val="602239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AF840-23EA-4920-8FB6-C766E789ED23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953375" y="5429250"/>
            <a:ext cx="3952875" cy="1524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80B54-B742-4826-9D9D-58A00B4DE858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4000500" y="5429250"/>
            <a:ext cx="3952875" cy="1524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3AB42-3A6C-46E7-AFA9-42F26AAA1493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11906250" y="3209925"/>
            <a:ext cx="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82B42-A242-44B4-8CBD-8200EEB9CA4F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4000500" y="3209925"/>
            <a:ext cx="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A47A2-FA30-4234-940E-DFA35945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父代重用與對手快照重評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92B92-904B-4DA4-B76C-0BA98E38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6096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對手快照未改變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EC567-E708-429C-B550-7E11440D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6096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對手快照到期刷新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59110-060C-4EFD-963C-DCAA6A88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60960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沿用父代 Java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沿用同情境的已完成分數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40760-45DF-4AC7-AED9-780048F5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60960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沿用父代 Java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ID 複本，對新名單跑 180 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E6E2E-5BBE-44DC-9003-4FAE15A3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953250"/>
            <a:ext cx="107632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先完成父代情境校準，再繁殖；子代也用同一快照評估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B76B3-56AD-4AC2-86CC-16A2D161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001000"/>
            <a:ext cx="1247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本流程要求 parent_evaluation_mode = reuse_cached；快照刷新自動執行表型不變的父代重評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C3DB2-BE66-4148-B2E0-A53886B7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25 / 45</a:t>
            </a:r>
          </a:p>
        </p:txBody>
      </p:sp>
    </p:spTree>
    <p:extLst>
      <p:ext uri="{BB962C8B-B14F-4D97-AF65-F5344CB8AC3E}">
        <p14:creationId xmlns:p14="http://schemas.microsoft.com/office/powerpoint/2010/main" val="3882816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A82072-4FD6-4313-9948-4152F1A13E7F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10906125" y="4076700"/>
            <a:ext cx="2095500" cy="1257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A41401-72BB-438B-8448-D27C71473117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191750" y="3486150"/>
            <a:ext cx="1143000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684606-251E-46AD-83DF-02E65C09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語意探針與同分處理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6C4BD-91AB-46E1-AE89-AE248281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860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固定狀態探針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486B5-6982-4CC0-881D-E44981F8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0040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小地圖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6EA35-C3D3-4D03-A8EF-5C2F0A20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4754A-0ED6-405B-81F8-75A3B38B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051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2B396-546C-48ED-BFB6-162E7C64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051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12FC9-2920-4C8F-AF00-9312BED3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6245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中地圖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1E8AB-3774-4FAA-9EE5-491CA809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6720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EEA00-BE0B-4C1F-B0F6-D8FDCA42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6720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946F8-A5C9-47F8-9B28-48885467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6720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BED232-C732-4CDE-9D61-8970E766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2450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大地圖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4DB5E-599F-4337-AF9E-A3A6F7F0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292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2B4059-D5DA-4CA1-AB07-46009040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292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6A997B-C4B8-4495-8420-D93B93F9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292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A583E5-7FFF-4BF4-A6E6-0A55EF80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9532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 地圖 × 3 階段 = 9 個動作簽章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45D07-F11D-4D92-86E4-7B9CC1B0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2381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同分層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52A49-98E3-4069-872D-0D0C9132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0"/>
            <a:ext cx="3333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比較九個 probe 的動作差異</a:t>
            </a:r>
          </a:p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距離 = 不同 probe 數 ÷ 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6F375A-6F29-4379-8AF6-3855AB30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3340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父代：頂層挑行為較遠者</a:t>
            </a:r>
          </a:p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倖存者：切分同層時採 max-min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D5C1D8-9EDE-41C9-BEAD-B28E4B98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8199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語意探針只解決同分，不另加搜尋目標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B06396-23C7-4C6C-BCBE-3AACB6D3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26 / 45</a:t>
            </a:r>
          </a:p>
        </p:txBody>
      </p:sp>
    </p:spTree>
    <p:extLst>
      <p:ext uri="{BB962C8B-B14F-4D97-AF65-F5344CB8AC3E}">
        <p14:creationId xmlns:p14="http://schemas.microsoft.com/office/powerpoint/2010/main" val="80730352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F427A-73B8-4375-BF2B-C997F2F2DEAD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858250" y="3071813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CF586-444E-45B3-A124-F378DC2A9F02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572000" y="3071813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098473-C319-4802-8166-BBBBC082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的倖存者選擇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CA57E-2F91-465F-81FA-8156EA89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10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N 父代＋N 子代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合併、依 ID 去重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0DD35-CBEF-47B8-9D5C-2E609BBB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3048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只留下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完整評估者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F253B-D63B-4ED4-B0B6-EA76228E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76500"/>
            <a:ext cx="4762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 fitness 由高至低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以每層最高分 − 1.0 分層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F41FC-43B3-4DD5-9C7E-50C4EF36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整層放得下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53DBA-B649-460F-B0C3-3B1B3ACD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62625"/>
            <a:ext cx="4572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整層保留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再處理下一個分數層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07FB3-4474-42B4-B565-ADFE5782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剩餘名額切在同一層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283C7-4893-4C55-969D-B338E5E1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62625"/>
            <a:ext cx="7429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只在該層用 seeded max-min 選子集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優先保留與已選者行為較遠的候選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EF749-6428-4CE3-BBF9-557A7BAF80E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477750" y="366712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063B3-3941-439A-BBB1-91EFCDC6170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43250" y="4286250"/>
            <a:ext cx="9334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727F1-4169-44B4-8430-22DA9A4A58B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43250" y="42862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53FFD-89E9-4268-ACB1-BA0C582B979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953750" y="42862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71A28-CFD1-4AF2-83B6-B2E05858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858125"/>
            <a:ext cx="1304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選滿固定 N 位；低分層不能靠新穎性越級。完成者不足 N，run 明確失敗。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4BFEA-1528-4B37-BE4F-E9F1564D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27 / 45</a:t>
            </a:r>
          </a:p>
        </p:txBody>
      </p:sp>
    </p:spTree>
    <p:extLst>
      <p:ext uri="{BB962C8B-B14F-4D97-AF65-F5344CB8AC3E}">
        <p14:creationId xmlns:p14="http://schemas.microsoft.com/office/powerpoint/2010/main" val="138461638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38994-1C34-4932-84D5-EE5257E71006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2906375" y="4048125"/>
            <a:ext cx="0" cy="2143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04956-B505-4765-A0D2-42A5245524C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9334500" y="3405188"/>
            <a:ext cx="1428750" cy="214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D2B6D-6AA7-47EC-A01F-FD6124D1E8E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000500" y="361950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AE81C-9C29-4944-9440-FFE8BFE2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的靜態突變操作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6B3A1-E0AE-4847-9424-328B5F06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57375"/>
            <a:ext cx="1323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self_play 要求 reflection_operator_mode = static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C46B8-C6DC-4078-8978-978E5DA0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交配後的子代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FA509-9632-443F-9031-E59A2257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4000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 mutation_rate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決定是否突變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EF6F9-1FD7-46AC-B09C-0FF910AB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762250"/>
            <a:ext cx="4286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依已設定的靜態規則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執行可用突變操作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338A2-5D8C-4D22-9B0E-B382761C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42862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進入 Java 與評估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63F6D-2AF1-411C-B589-B5502E3D8ED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34250" y="4095750"/>
            <a:ext cx="0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CCA65-12F6-4D62-9191-625663CB54B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34250" y="6667500"/>
            <a:ext cx="3429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B726A-FB46-4D47-9C08-0DFA3927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863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否：保留交配後基因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5A7EF-9FFD-405F-B629-FEE88D22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D2A5B-4F54-40B8-86C2-F23EE83E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600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local：至多改一槽</a:t>
            </a:r>
          </a:p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Coach：回傳完整 genome</a:t>
            </a:r>
          </a:p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LLM／DSL：依可用操作與固定配比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DB74AA-ED9C-432F-B8CF-85A54D2E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858125"/>
            <a:ext cx="1266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對戰結果提供 fitness 與反思證據；本流程不以 reward 動態更新操作機率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B15EA-6D45-44C4-9324-02FB5678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28 / 45</a:t>
            </a:r>
          </a:p>
        </p:txBody>
      </p:sp>
    </p:spTree>
    <p:extLst>
      <p:ext uri="{BB962C8B-B14F-4D97-AF65-F5344CB8AC3E}">
        <p14:creationId xmlns:p14="http://schemas.microsoft.com/office/powerpoint/2010/main" val="37120740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B049CF-414D-4BBE-B3DC-A62E76AE89FC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10929938" y="3162300"/>
            <a:ext cx="23813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0ED4D0-1A0C-4102-9471-56E6C0DEB3D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8501063" y="3162300"/>
            <a:ext cx="119063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07870-8F9C-4AEF-BE16-ADC430600E5B}"/>
              </a:ext>
            </a:extLst>
          </p:cNvPr>
          <p:cNvCxnSpPr>
            <a:stCxn xmlns:a="http://schemas.openxmlformats.org/drawingml/2006/main" id="13" idx="0"/>
            <a:endCxn xmlns:a="http://schemas.openxmlformats.org/drawingml/2006/main" id="2" idx="2"/>
          </p:cNvCxnSpPr>
          <p:nvPr/>
        </p:nvCxnSpPr>
        <p:spPr>
          <a:xfrm xmlns:a="http://schemas.openxmlformats.org/drawingml/2006/main" flipH="1" flipV="1">
            <a:off x="1619250" y="3162300"/>
            <a:ext cx="3405188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31CA2-CFA7-45AC-905B-77BC890AC44B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5024438" y="3162300"/>
            <a:ext cx="1262063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AEEB9-5201-45D9-81AC-AA8D8364517C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952875" y="3162300"/>
            <a:ext cx="1071563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03C77A-854B-4F32-AA01-E245C857C44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1906250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F22EF-FD5C-4B77-B5C2-1F570B03CEB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572625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8E86B-6F45-4ED5-82DF-DABE2F121A5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239000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E720E-C962-4F73-951A-911E00911DE2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905375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8A69B-5C34-464E-B549-D0517007897F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571750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9E1D60-190F-4989-B24D-ABBBE870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失敗、重試與停止的邊界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758CA-7361-47E7-B831-1CEF1864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LLM 產生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51746-C1D5-4B73-84FD-64814D3E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4472F-F473-4C0E-B180-8EF8AB54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DC8F1-5CE1-41A3-BD03-1822F641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B07E4-D205-485E-8C4D-4BAE685E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180 場評估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BFCA1-E078-489B-BAE3-6AA034C8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2381250"/>
            <a:ext cx="2286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候選篩選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119DD9-68F7-438C-ABE4-A9AF62DB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95750"/>
            <a:ext cx="452437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有界修復重試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模式限 generation_max_attempts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2028A-AAAC-40E8-97BF-50A3C40A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95750"/>
            <a:ext cx="2047875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失敗，候選終止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68F66-47C8-43BF-BD86-6F50FD94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95750"/>
            <a:ext cx="2047875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矩陣未完成</a:t>
            </a:r>
          </a:p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候選終止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F5F9C4-474E-4C84-A420-1C660A7E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33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DSL／framework 編譯失敗亦直接終止候選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5B2677-B318-442F-8EC6-85F9EBD3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864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失敗候選 sentinel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985F10-8239-4A13-8475-B7D18E69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2333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−1000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1E1199-3309-454E-BC3A-A27FBE83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572250"/>
            <a:ext cx="4857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完成者 ≥ N</a:t>
            </a:r>
          </a:p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父代足夠時仍可延續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D36DEC-2713-4F07-AED6-A8BF2EDD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572250"/>
            <a:ext cx="4857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完成者 &lt; N</a:t>
            </a:r>
          </a:p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明確失敗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8A6BB5-CC24-4392-A898-D8B1DF49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572375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中斷：取消排隊工作、等待執行中工作，再從最後提交世代恢復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6A89A5-CE3B-4796-BC1B-05EA267E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29 / 45</a:t>
            </a:r>
          </a:p>
        </p:txBody>
      </p:sp>
    </p:spTree>
    <p:extLst>
      <p:ext uri="{BB962C8B-B14F-4D97-AF65-F5344CB8AC3E}">
        <p14:creationId xmlns:p14="http://schemas.microsoft.com/office/powerpoint/2010/main" val="187551573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F0424-5F1B-48F0-87CC-DAD7FD2606B4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4524375" y="2762250"/>
            <a:ext cx="3476625" cy="29527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C449B-A7AC-4F70-AE07-8D6E3E7AAD3C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001000" y="2762250"/>
            <a:ext cx="58102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A51E2-575C-4D7C-9A86-5D3BB8261D06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8001000" y="2762250"/>
            <a:ext cx="23812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75E77-A92B-41B6-B85A-10F142DFDC8C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6667500" y="2762250"/>
            <a:ext cx="133350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09862-7FB1-4F76-ABEB-4647D6BC97CA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3" idx="0"/>
          </p:cNvCxnSpPr>
          <p:nvPr/>
        </p:nvCxnSpPr>
        <p:spPr>
          <a:xfrm xmlns:a="http://schemas.openxmlformats.org/drawingml/2006/main" flipH="1">
            <a:off x="2952750" y="2762250"/>
            <a:ext cx="50482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75962-BD00-485A-9073-70B8A2AF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 run 的保存與稽核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18492-C32A-4119-A2E7-29517899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4762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runs/&lt;run_id&gt;/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64926-5C37-4F24-945C-23499A1A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3429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config.yaml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manifest.json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summary.json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FACD0-B040-4028-96C4-13AEB4FD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71875"/>
            <a:ext cx="3429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generations/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候選快照與 latest_generation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048D0-FDB5-4963-A1E7-6A941F82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71875"/>
            <a:ext cx="3429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candidates/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基因、譜系、逐階段證據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D37BA-1774-4284-93BA-E25A24B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571875"/>
            <a:ext cx="2857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archives/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操作、錯誤與 opponent pool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DA9B0-B4F4-4EE9-8B71-DD662383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715000"/>
            <a:ext cx="4762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framework/bundle.json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slots 凍結來源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ABE7F-9196-44A7-ACEB-11451A22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15000"/>
            <a:ext cx="4000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timing.jsonl：append-only 階段與 LLM request 時間線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4E4B4-1E19-4511-83E9-F818CAD9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715000"/>
            <a:ext cx="2857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final_test/</a:t>
            </a:r>
          </a:p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獨立正式測試證據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C84569-C220-4834-9919-FA9354B2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961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generation snapshot 原子寫入成功後，manifest 才前進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9AE3DC-F370-44AE-990D-ED0AA58A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30 / 45</a:t>
            </a:r>
          </a:p>
        </p:txBody>
      </p:sp>
    </p:spTree>
    <p:extLst>
      <p:ext uri="{BB962C8B-B14F-4D97-AF65-F5344CB8AC3E}">
        <p14:creationId xmlns:p14="http://schemas.microsoft.com/office/powerpoint/2010/main" val="191692315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013BC-88FF-4432-8DC0-53902A471978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6667500" y="591502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25798-92D4-479D-A151-03FF639EF6CC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9810750" y="3733800"/>
            <a:ext cx="0" cy="1600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2EB1F-E3AF-4BD0-B878-A7F0924F21DD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715250" y="3152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52026-76D6-4D71-BA5C-47E062430693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000500" y="3152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FB9B0-86FC-4180-9BA4-11FD53B5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中斷後的恢復流程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5A445-4470-42C6-834B-D8C6EB58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1  最後提交快照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manifest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latest_generation = Gk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F4D83-3960-4FFC-956F-9C838F19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  身分相容檢查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protocol · config · hash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5BA53-473E-469D-9F15-5B36FAD3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 封存未提交工作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interrupted_work/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45EC8-80E6-4E64-B364-1B80E619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 還原 population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操作器、pool 與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49F17-EE64-40DC-BDE4-8E9D4731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3400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  重播並繼續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從 Gk + 1 開始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1C82D-1DFB-48DE-8802-B2C0466D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0485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身分不符即拒絕；不沿用半成品，也不重新 bootstrap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0858B-4AC2-434E-A7B8-67D66D62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31 / 45</a:t>
            </a:r>
          </a:p>
        </p:txBody>
      </p:sp>
    </p:spTree>
    <p:extLst>
      <p:ext uri="{BB962C8B-B14F-4D97-AF65-F5344CB8AC3E}">
        <p14:creationId xmlns:p14="http://schemas.microsoft.com/office/powerpoint/2010/main" val="73050609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6622F6-2417-4E85-BDFD-BB6DD549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多組設定、replicate 與資料夾續跑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E6A79-C4F6-43E3-A255-628BE5E0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7170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設定資料夾依 YAML 檔名順序逐組執行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FB2DF-36E9-4B52-A556-70000BA0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1714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81D2C-6CD7-4C26-828A-5A6F5411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F3ED1-72F6-4B32-9DAC-74887F9F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972F3-2810-4BF4-93A1-F8E913E3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1714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08714-917C-4C5F-8D22-8F4398BE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78FC0-CFEA-4618-9935-10E64B06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EDCEA-1923-4502-B399-30EB7AD4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00375"/>
            <a:ext cx="1714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4D2D0-48CB-4F6A-8AC0-259EA482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52A20-60AD-4D06-9AD7-F634CF8B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0F7C6-A743-4062-9F51-E5B0DAE7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721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random_seeds × runs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C40CE-E24A-4509-B52F-47145BC5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7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E114C3-39A3-49B5-89C5-F6E710DECCA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88645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6E1D34-556A-44FA-BF5E-2C46BC84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7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3B61E2-EFAA-4DB9-A3ED-44121F6492C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42950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98150-2F8B-4903-810D-07A8BF32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8350A5-4415-4A98-8343-9F2028BFDA5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97255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8036DC-EA65-4DDB-84BA-EA6E6F06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001B67-6B2A-41C3-A989-1CB138C2630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51560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75B947-4E5C-4CAE-B480-53FBFC3D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D3D761-2DAD-4773-8B9A-2BA1BC9D098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05865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35BCB2-006E-41A0-A045-8D14EC6A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2F7C6A-676E-45D5-B06A-6298F3B9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6675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experiment.yaml 以有序 slot 記錄 run 路徑；未完成優先恢復，完整項目可跳過。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8A3F5F-8189-40E4-97F4-7B7354A3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2866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正式 run 需 Final Test 摘要才算 slot 完成；缺 G0 證據則建立替代 run。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751EFF-4373-4FA7-BAD2-0C5DEF74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32 / 45</a:t>
            </a:r>
          </a:p>
        </p:txBody>
      </p:sp>
    </p:spTree>
    <p:extLst>
      <p:ext uri="{BB962C8B-B14F-4D97-AF65-F5344CB8AC3E}">
        <p14:creationId xmlns:p14="http://schemas.microsoft.com/office/powerpoint/2010/main" val="209178170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0E5908-0AC0-4C10-94D9-A120F072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可重現性與相同版本續跑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DC692-5337-4972-98F4-740DA937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4191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root seed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task identity + input index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4957C-3E01-4EA1-98C9-8EAC13C6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35E37-EA20-49B2-8393-674148F0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401D1-028B-4759-A586-EA9569F2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8AC5E-8C05-4CC2-AD60-26FFC74E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79909-368F-410F-874F-DF01D852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MicroRTS match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C141D-D14A-44DD-9358-1D3FE11614A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2971800"/>
            <a:ext cx="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FA708-4A1A-4E29-858D-81014B79CC2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95500" y="3476625"/>
            <a:ext cx="1162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AA663-847E-4946-BAAC-B2F3B09E301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95500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0435D-AE03-4EC6-9D56-5476A7E0E5E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000625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EF94B-412D-4A42-B101-10D61665192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889181-DE14-487E-B060-84FA014CC27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810875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49C72-A65E-49E2-A07A-7B52DC37A95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716000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B01A85-C4DB-433F-BEBD-719F27B5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5334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保存與核對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 · source · map · runtime · bundle hashes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E54F6-D97A-40D0-BEEF-5D72BB7F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86375"/>
            <a:ext cx="4572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仍可能改變</a:t>
            </a:r>
          </a:p>
          <a:p xmlns:a="http://schemas.openxmlformats.org/drawingml/2006/main"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外部模型、GPU 執行、私有 RNG、時間上限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AC4979-E4B6-496C-95A1-45C38812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01040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相同 seed 建立可控隨機流，不保證外部服務逐位元相同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E2E304-B74B-4D65-8F8B-B6344088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33 / 45</a:t>
            </a:r>
          </a:p>
        </p:txBody>
      </p:sp>
    </p:spTree>
    <p:extLst>
      <p:ext uri="{BB962C8B-B14F-4D97-AF65-F5344CB8AC3E}">
        <p14:creationId xmlns:p14="http://schemas.microsoft.com/office/powerpoint/2010/main" val="12323856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7B2DE-1491-4589-8E8F-09BEEDE6E7B4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3049250" y="3448050"/>
            <a:ext cx="95250" cy="219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20053-5795-4B2A-9A71-D9DB50B0463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0382250" y="29146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A4EF7-B91E-4878-8ADD-98BA65A93C2B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6858000" y="2914650"/>
            <a:ext cx="666750" cy="161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EC4C5-F812-4B64-8329-C6F18E81D536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381375" y="30765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595047-66A6-490F-9F18-7B717F56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停止條件與正式 Final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CAF00-64EA-48A4-8EAA-75CD231F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停止條件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2AF6C-1D55-4A8A-B9CC-A027C0BC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76500"/>
            <a:ext cx="2857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世代上限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或 stagnation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0156C-3930-46A8-A649-2B0B43D4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2857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選可執行代表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通常取末代候選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BCC29-3997-4650-8059-B6BC2CBA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0"/>
            <a:ext cx="3429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 recompile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＋七項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45410-9062-4620-BE07-A4798722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667125"/>
            <a:ext cx="32385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固定十個內建對手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1DD90-AB4E-46A4-9ABC-A8CC7202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三種對戰矩陣各有用途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1FC5D-C59D-4DDE-9552-5B8269C4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81625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EECB1-82FF-4ED8-9A67-06091EB4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1ED6D-8740-49EA-A031-AF1B0F1C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580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對手 × 3 地圖 × 3 回合 × 2 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4E6637-C0F1-4C3B-844B-37D2233B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81625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853633-7B7D-41CA-8CCF-8385C3A2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334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Pool 挑戰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9247F3-227B-40E5-B9B5-AB747B51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8580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 地圖 × 3 回合 × 2 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B5D46D-9F3F-4B96-8247-B189BAE2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81625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67B62-BBBB-43DE-A609-D50078EA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26225-1D6D-40E8-9449-B779A200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8580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對手 × 3 地圖 × 10 回合 × 2 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63E95A-2242-4180-9B20-CF1C6BF1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mock 與 --skip-final-test 可略過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5785C1-E038-4441-BBFB-D1D9CC4A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743825"/>
            <a:ext cx="1266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搜尋名單會刷新；正式測試名單固定，兩者分開保存結果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D27B2C-4D01-4039-8F56-31FFB376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34 / 45</a:t>
            </a:r>
          </a:p>
        </p:txBody>
      </p:sp>
    </p:spTree>
    <p:extLst>
      <p:ext uri="{BB962C8B-B14F-4D97-AF65-F5344CB8AC3E}">
        <p14:creationId xmlns:p14="http://schemas.microsoft.com/office/powerpoint/2010/main" val="18910076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87A96D-1867-4B83-A9A9-9FD558B23729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2573000" y="4219575"/>
            <a:ext cx="47625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BE1A1F-583C-4A5A-B30E-1964784D7DC5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334375" y="4219575"/>
            <a:ext cx="1285875" cy="1752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27E3FB-0699-44AB-9FFF-F9C908F2E8AB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334375" y="4219575"/>
            <a:ext cx="1285875" cy="1028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B5EDCD-0367-472B-9720-F346FAC8FA58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334375" y="4219575"/>
            <a:ext cx="1285875" cy="304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3E9E5-AA6F-4412-8D09-6589FCBBE5D9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334375" y="3800475"/>
            <a:ext cx="1285875" cy="419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911956-8555-43E8-8F18-98BA6B42C64C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334375" y="3076575"/>
            <a:ext cx="1285875" cy="1143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C7E551-2307-46A8-B8F6-0DF31163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跨世代的公平比較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C6820-5978-42EA-A58B-1D68B018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搜尋：對手快照隨世代改變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21125-340B-44C3-9FDE-F540CB3C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14287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A2064-2955-485C-97C2-C144E709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14725"/>
            <a:ext cx="1428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內建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5EC5A-E132-4A16-9073-527B5463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14287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635C4-BEBC-4355-88C3-3C2F0D87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14725"/>
            <a:ext cx="1428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抽樣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75847-9E1F-414E-BE60-E79E10AD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14287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3449B-AFA7-4D05-8AAA-033275E8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14725"/>
            <a:ext cx="1428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抽樣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C1B64-69DD-47D4-A4D5-6BF55571467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52625" y="4714875"/>
            <a:ext cx="3619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90615-7999-4893-BE9B-511797E2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4350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 隨情境變動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每個候選 180 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62F6E-CECE-47A2-AED9-F4CD44F8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955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公平比較：一份凍結 protocol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CD638-8782-4616-8048-139C694B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E3532-6B7E-4788-9FB1-C9CD3878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337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0402E-2297-4FE0-800E-5A01475C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576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65C29E-6744-49D8-8F32-50BA67FF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815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30101-BA29-4DAF-A0A6-48865BA1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054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FB20E1-78FF-47DA-AE2E-E631A342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38550"/>
            <a:ext cx="29527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同一固定 protocol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固定對手、地圖、規則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12745-9BFB-42BE-843E-41090484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752850"/>
            <a:ext cx="209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每個代表 600 場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paired seeds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83478B-E7E0-4687-BC6F-068C075D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8580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不同快照的搜尋分數，不能當成同條件能力比較。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FBC75E-BADF-4886-BB95-8FD60DD2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35 / 45</a:t>
            </a:r>
          </a:p>
        </p:txBody>
      </p:sp>
    </p:spTree>
    <p:extLst>
      <p:ext uri="{BB962C8B-B14F-4D97-AF65-F5344CB8AC3E}">
        <p14:creationId xmlns:p14="http://schemas.microsoft.com/office/powerpoint/2010/main" val="108307829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36881-D9B3-415A-B33E-B12C7D2C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結果、時間與比較的解讀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CBAA5-E026-4658-BCC3-DED5C1CA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714625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排程示意，非量測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B21EE-BE5C-4C7B-8863-DE752BC0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20955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G0 初始化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獨立工作量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0064D-412D-4FB6-BB1C-962627C5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38375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後續演化世代的重疊工作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99C8F-72FC-4561-8A4C-A8EFD534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9562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準備子代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3FFDF-5FCB-4FD3-A74C-A6FBF748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0062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十工人對戰矩陣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891EC-A041-4C74-B70C-B6500398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0375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AE955-B4A2-4FF7-947D-E61F1914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00375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FC9B6-E6AE-44B7-881F-A45BE828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000375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F859A-3A61-4222-911C-1A0076D3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05375"/>
            <a:ext cx="2952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B5930-96E1-448C-9B8F-971EE20F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905375"/>
            <a:ext cx="2952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869EC-40EC-4442-A5E0-E26E36E0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48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 對戰期間，B 的準備已開始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2C081-36BF-4751-BE48-09C64879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531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 對戰期間，C 的準備已開始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AA840-6726-4B06-AEEE-948DA08A15C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429250" y="6762750"/>
            <a:ext cx="885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7171C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A8C13-DE9A-46CB-825E-6D6537B3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9532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wall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658E6-F8CE-497D-9537-3D55734E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3437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G0 初始化另行記錄；世代／階段時間以實際 timing artifacts 為準。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0F446-8081-42C2-9DD7-1FC476A1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7791450"/>
            <a:ext cx="6858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目前未有 live 多主機 speedup benchmark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5D8557-F931-4ED2-8E33-BCEFEBBF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36 / 45</a:t>
            </a:r>
          </a:p>
        </p:txBody>
      </p:sp>
    </p:spTree>
    <p:extLst>
      <p:ext uri="{BB962C8B-B14F-4D97-AF65-F5344CB8AC3E}">
        <p14:creationId xmlns:p14="http://schemas.microsoft.com/office/powerpoint/2010/main" val="121631104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65919-6CB3-49CC-8951-A76931B0A66B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9572625" y="3405188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C65EC-EDE4-4D99-99D1-A3155CEF737B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667250" y="3405188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86E274-99F0-4F94-9F81-4C317E91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GUI、監看與離線分析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8EEFA-FDA2-44AA-86B1-5809A78E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32385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3805D-4596-4EF4-B022-4EDE3CF4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57500"/>
            <a:ext cx="32385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Monitor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A1AE2-3DDD-41C2-A65B-233209D5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0"/>
            <a:ext cx="32385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Analyze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EE198-60BE-429A-B56F-9EC2F6FE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19625"/>
            <a:ext cx="3905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選設定、啟停／續跑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瀏覽族群與視覺觀戰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1A799-C1A0-4504-BA5B-0B54B5BE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19625"/>
            <a:ext cx="3905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 manifest 與已提交快照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狀態監看唯讀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D977D-DF98-42EE-A2FA-1AAFB7B7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619625"/>
            <a:ext cx="3905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讀保存的快照與證據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離線產生報表與圖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4E006-7C22-4065-9970-BC8C896B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6675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使用工具檢視證據，不改寫演化 fitness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48A51-207D-4523-8844-CF4DF4A6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37 / 45</a:t>
            </a:r>
          </a:p>
        </p:txBody>
      </p:sp>
    </p:spTree>
    <p:extLst>
      <p:ext uri="{BB962C8B-B14F-4D97-AF65-F5344CB8AC3E}">
        <p14:creationId xmlns:p14="http://schemas.microsoft.com/office/powerpoint/2010/main" val="90988377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02ED0-9D79-454A-8FC8-27AE95C3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目前 Framework Coach 設定範例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551A3-6192-4FCE-AD38-F0DBFBF0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95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Framework slots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BE7CB-666E-4C85-BFCB-59CBDA97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Coach 使用完整控制 genome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F0401-B995-472A-8535-ACF311F9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3810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Mistral bootstrap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A4E5F-B9AE-44A3-A9AB-A89D1C7D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mistral-small-latest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CAF54-04B7-4D52-B82A-167F4874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0"/>
            <a:ext cx="3714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Qwen 3.5 9B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1E6F1-660F-4066-AD6F-066B459A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主模型＋外部 additional endpoint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9F66C-615B-4620-8284-14EB8DC4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9A273-3D1D-4364-8067-B6716DF8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演化世代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122F9-8EB7-4BF4-96A3-5EE58E1D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2912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4D506-B015-456E-877E-2CA9EFBE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3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population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543B0-C4A9-4E05-8095-3787086A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2912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273842-1372-42FF-A4B7-ED418661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0521C1-A6A1-422D-AFE0-97FD548E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42912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E9233-2B89-43A3-919E-0839B58D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33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pool capacity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E784AE-3084-4EFC-AAA1-1E834B4C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91250"/>
            <a:ext cx="103822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每次評估：4 個保護對手 ＋ 6 個抽樣對手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72F24B-9B91-4C53-90EF-5B1B41B0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219950"/>
            <a:ext cx="1809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refresh 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661852-BA6C-480A-869E-84A2A12F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219950"/>
            <a:ext cx="2286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crossover 0.75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2F1BAB-5360-4028-9109-81C728CF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19950"/>
            <a:ext cx="2190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mutation 1.0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5479DC-6296-47E8-A287-A55715E5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219950"/>
            <a:ext cx="3619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tick caps 1500／3000／4000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079995-1963-4B50-B925-E877C692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77819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這是 checked-in 範例設定，不代表全域預設或已執行實驗。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F8AF97-656B-4B08-8079-34603B40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38 / 45</a:t>
            </a:r>
          </a:p>
        </p:txBody>
      </p:sp>
    </p:spTree>
    <p:extLst>
      <p:ext uri="{BB962C8B-B14F-4D97-AF65-F5344CB8AC3E}">
        <p14:creationId xmlns:p14="http://schemas.microsoft.com/office/powerpoint/2010/main" val="164447877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44ACF-B67D-4854-8C6D-7A346201EF6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0096500" y="27622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ED11B-74D7-4315-929C-129F50D990C6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857750" y="27622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2B060-8C26-4408-A968-0DD5EFD1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穩定性比較：相同 framework，兩批重跑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9FCCD-8846-41F8-834F-0DD50E1E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Framework local＋Opponent Pool｜上次 6 個 seed；本次完成 5 個，seed 13 尚未完成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87F4F-0302-4309-A631-AE755DC4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4095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同一凍結 bundle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b2daa0d4…0939b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C11CE-F5E6-431B-87E4-72E1D769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38375"/>
            <a:ext cx="4095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local 有限槽位演化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搜尋期間無 LLM 呼叫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F1E43-3142-410E-BE80-0282FC8B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38375"/>
            <a:ext cx="3905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人口 10 × 演化 20 代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180 場搜尋／600 場測試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442FA-69C1-424C-B893-C0C83E68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433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C6C660-6B3B-43D8-88A7-DEF6658A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已完成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A12F3-C40F-42F1-AAAD-BBA7CC79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433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1800／1800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AC373-FD1C-4495-8DAE-2F2A478D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0482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 run 的 G20 對戰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FC0C1-1439-4ADC-BE58-D39A9229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9433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DDFB34-2069-4A1C-81B6-01F11920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0482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 Final Test 的 errors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F597F8-7C0F-41A3-AE4F-E5F4B3A75BC8}"/>
              </a:ext>
            </a:extLst>
          </p:cNvPr>
          <p:cNvGraphicFramePr/>
          <p:nvPr/>
        </p:nvGraphicFramePr>
        <p:xfrm>
          <a:off xmlns:a="http://schemas.openxmlformats.org/drawingml/2006/main" x="762000" y="6076950"/>
          <a:ext xmlns:a="http://schemas.openxmlformats.org/drawingml/2006/main" cx="14382750" cy="1657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4381500"/>
                <a:gridCol w="285750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批次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範圍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 代完成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Final Test 完成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上次（10/19–20）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8–13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6／6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 × 600 場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本次（10/21）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8–12 完成；13 待完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5／6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 × 600 場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C26C5-BD36-4B5B-8446-FFD1248E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依 10/21 報告快照：seed 13 在 G4／20，Final Test 尚未開始；未納入完成批次統計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49E35-14DF-4EE3-AB0D-3FEA6CC4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39 / 45</a:t>
            </a:r>
          </a:p>
        </p:txBody>
      </p:sp>
    </p:spTree>
    <p:extLst>
      <p:ext uri="{BB962C8B-B14F-4D97-AF65-F5344CB8AC3E}">
        <p14:creationId xmlns:p14="http://schemas.microsoft.com/office/powerpoint/2010/main" val="139973172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CC2A0-2840-4C96-8DF1-4DC89D1E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G20 搜尋分數：重跑差異因 seed 而異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9CBAF-53CB-4A5F-8D40-83CFD23A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G20 population best Game Performance；主圖只並列已完成的 seed 8–12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468DAE56-7E74-4F25-BEF3-104A667E20BF}"/>
              </a:ext>
            </a:extLst>
          </p:cNvPr>
          <p:cNvGraphicFramePr/>
          <p:nvPr/>
        </p:nvGraphicFramePr>
        <p:xfrm>
          <a:off xmlns:a="http://schemas.openxmlformats.org/drawingml/2006/main" x="714375" y="2143125"/>
          <a:ext xmlns:a="http://schemas.openxmlformats.org/drawingml/2006/main" cx="10763250" cy="5000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21716e705c42b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BE90C-DB56-4D90-A4E8-EECBD43A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3336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跨 seed 的 best 平均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5726B-58B0-45C5-8E6F-66AD2104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000375"/>
            <a:ext cx="3238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上次 6 seed</a:t>
            </a:r>
          </a:p>
          <a:p xmlns:a="http://schemas.openxmlformats.org/drawingml/2006/main"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5.884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本次 5 seed</a:t>
            </a:r>
          </a:p>
          <a:p xmlns:a="http://schemas.openxmlformats.org/drawingml/2006/main"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1.861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9CF69-817A-4B95-8715-5225878A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14362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上次 seed 13：18.267</a:t>
            </a:r>
          </a:p>
          <a:p xmlns:a="http://schemas.openxmlformats.org/drawingml/2006/main">
            <a:pPr algn="l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本次尚未完成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B8CF7-8147-403B-B5BF-42ECB572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24725"/>
            <a:ext cx="1438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 − 上次（seed 8→12）：-8.934、-2.733、+0.004、+2.130、+1.800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034CF-3A7A-4EAD-B6B4-369784AF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各 run 對手快照可能不同，且平均樣本數不齊；不能用這些搜尋分數判定一般化能力或架構退化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92048-5979-4FFB-99A5-A98F14FE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40 / 45</a:t>
            </a:r>
          </a:p>
        </p:txBody>
      </p:sp>
    </p:spTree>
    <p:extLst>
      <p:ext uri="{BB962C8B-B14F-4D97-AF65-F5344CB8AC3E}">
        <p14:creationId xmlns:p14="http://schemas.microsoft.com/office/powerpoint/2010/main" val="206467086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B45222-420B-451D-A268-03B17E61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搜尋軌跡：同 seed 的形狀多次接近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3FF1D-B37A-4497-948E-ADFB81BD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population best｜相同縱軸 −80～40；各點代表該代當下的對手快照</a:t>
            </a:r>
          </a:p>
        </p:txBody>
      </p: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812C3-75E2-4308-BDFB-78DE819FF13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668000" y="18288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F8792"/>
            </a:solidFill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BE953-6939-438D-BFFA-22EA3981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16383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上次</a:t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C115F-0020-453A-A59E-CCCE48FABFA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668250" y="18288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47171C"/>
            </a:solidFill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23E20-BFB5-4131-B3CF-8845A5CA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1638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0893B-A210-44A5-A597-A034BC2B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574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ED78A9A1-6E08-4F08-B9B9-53A3273739E2}"/>
              </a:ext>
            </a:extLst>
          </p:cNvPr>
          <p:cNvGraphicFramePr/>
          <p:nvPr/>
        </p:nvGraphicFramePr>
        <p:xfrm>
          <a:off xmlns:a="http://schemas.openxmlformats.org/drawingml/2006/main" x="619125" y="2495550"/>
          <a:ext xmlns:a="http://schemas.openxmlformats.org/drawingml/2006/main" cx="4810125" cy="2257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d6a28ac18a413a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FF377-A87A-44E2-BDF5-6FBE2D11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574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3E27EFC0-9959-4209-8293-305B0392161F}"/>
              </a:ext>
            </a:extLst>
          </p:cNvPr>
          <p:cNvGraphicFramePr/>
          <p:nvPr/>
        </p:nvGraphicFramePr>
        <p:xfrm>
          <a:off xmlns:a="http://schemas.openxmlformats.org/drawingml/2006/main" x="5715000" y="2495550"/>
          <a:ext xmlns:a="http://schemas.openxmlformats.org/drawingml/2006/main" cx="4810125" cy="2257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94ea3a3c394079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7E397-F3A6-42A4-9815-5E2EAB20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0574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10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0A34E4ED-9F39-456F-844B-825E34BE3831}"/>
              </a:ext>
            </a:extLst>
          </p:cNvPr>
          <p:cNvGraphicFramePr/>
          <p:nvPr/>
        </p:nvGraphicFramePr>
        <p:xfrm>
          <a:off xmlns:a="http://schemas.openxmlformats.org/drawingml/2006/main" x="10810875" y="2495550"/>
          <a:ext xmlns:a="http://schemas.openxmlformats.org/drawingml/2006/main" cx="4810125" cy="2257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766d38b35c4ae9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DE779-04C8-4351-9FCE-45C41457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96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11</a:t>
            </a:r>
          </a:p>
        </p:txBody>
      </p:sp>
      <p:graphicFrame>
        <p:nvGraphicFramePr>
          <p:cNvPr id="14" name="Chart">
            <a:extLst xmlns:a="http://schemas.openxmlformats.org/drawingml/2006/main">
              <a:ext uri="{FF2B5EF4-FFF2-40B4-BE49-F238E27FC236}">
                <a16:creationId xmlns:a16="http://schemas.microsoft.com/office/drawing/2014/main" id="{A5A79869-F85B-4730-A2BA-BF9613571B96}"/>
              </a:ext>
            </a:extLst>
          </p:cNvPr>
          <p:cNvGraphicFramePr/>
          <p:nvPr/>
        </p:nvGraphicFramePr>
        <p:xfrm>
          <a:off xmlns:a="http://schemas.openxmlformats.org/drawingml/2006/main" x="619125" y="5257800"/>
          <a:ext xmlns:a="http://schemas.openxmlformats.org/drawingml/2006/main" cx="4810125" cy="2257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fe12e3840d49f5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E6BCAB-2DE5-4F51-BD8C-5BE6420A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196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12</a:t>
            </a:r>
          </a:p>
        </p:txBody>
      </p:sp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9A7963B3-5686-4E99-B5F4-C8F59B6938DA}"/>
              </a:ext>
            </a:extLst>
          </p:cNvPr>
          <p:cNvGraphicFramePr/>
          <p:nvPr/>
        </p:nvGraphicFramePr>
        <p:xfrm>
          <a:off xmlns:a="http://schemas.openxmlformats.org/drawingml/2006/main" x="5715000" y="5257800"/>
          <a:ext xmlns:a="http://schemas.openxmlformats.org/drawingml/2006/main" cx="4810125" cy="2257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606cb4b6634eaa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14F3DD-E152-4009-81C4-08569BCC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8196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13｜僅上次完整結果</a:t>
            </a:r>
          </a:p>
        </p:txBody>
      </p:sp>
      <p:graphicFrame>
        <p:nvGraphicFramePr>
          <p:cNvPr id="18" name="Chart">
            <a:extLst xmlns:a="http://schemas.openxmlformats.org/drawingml/2006/main">
              <a:ext uri="{FF2B5EF4-FFF2-40B4-BE49-F238E27FC236}">
                <a16:creationId xmlns:a16="http://schemas.microsoft.com/office/drawing/2014/main" id="{FE9C767A-D518-4615-B782-2A4AFA3E0685}"/>
              </a:ext>
            </a:extLst>
          </p:cNvPr>
          <p:cNvGraphicFramePr/>
          <p:nvPr/>
        </p:nvGraphicFramePr>
        <p:xfrm>
          <a:off xmlns:a="http://schemas.openxmlformats.org/drawingml/2006/main" x="10810875" y="5257800"/>
          <a:ext xmlns:a="http://schemas.openxmlformats.org/drawingml/2006/main" cx="4810125" cy="2257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94bdbb895e4015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E07376-7E04-45C8-B1A1-16908FA2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10 的重跑路徑接近；快照會刷新，曲線不能視為固定難度下的能力成長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85EA40-1C35-48DF-835C-4C5A835B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41 / 45</a:t>
            </a:r>
          </a:p>
        </p:txBody>
      </p:sp>
    </p:spTree>
    <p:extLst>
      <p:ext uri="{BB962C8B-B14F-4D97-AF65-F5344CB8AC3E}">
        <p14:creationId xmlns:p14="http://schemas.microsoft.com/office/powerpoint/2010/main" val="75970433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D5FDE-D8D3-4FC3-942D-E9623CDC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正式測試：零執行錯誤，勝率約三成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E3220-5350-4FDD-89E3-D481A92A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相同 600 場協定；本次排除 seed 13。圖示各批 W／D／L 百分比，表列實際場數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DA1C201F-20D0-4E8C-BCD9-BF8EBA72C19C}"/>
              </a:ext>
            </a:extLst>
          </p:cNvPr>
          <p:cNvGraphicFramePr/>
          <p:nvPr/>
        </p:nvGraphicFramePr>
        <p:xfrm>
          <a:off xmlns:a="http://schemas.openxmlformats.org/drawingml/2006/main" x="762000" y="2143125"/>
          <a:ext xmlns:a="http://schemas.openxmlformats.org/drawingml/2006/main" cx="14382750" cy="3962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27407203344336"/>
          </a:graphicData>
        </a:graphic>
      </p:graphicFrame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3B49A-2386-4E20-8ACA-9E061A85CA91}"/>
              </a:ext>
            </a:extLst>
          </p:cNvPr>
          <p:cNvGraphicFramePr/>
          <p:nvPr/>
        </p:nvGraphicFramePr>
        <p:xfrm>
          <a:off xmlns:a="http://schemas.openxmlformats.org/drawingml/2006/main" x="762000" y="6429375"/>
          <a:ext xmlns:a="http://schemas.openxmlformats.org/drawingml/2006/main" cx="1438275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1905000"/>
                <a:gridCol w="1905000"/>
                <a:gridCol w="1905000"/>
                <a:gridCol w="1905000"/>
                <a:gridCol w="2857500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批次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勝率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上次（6 runs）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1164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152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2284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32.33%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本次（5 runs）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905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145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1950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30.17%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6DDDE-C60E-4B7B-97D2-FC775B18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這是 6 run 與 5 run 的批次總勝率，非同 seed 配對效果；不足以判定架構退化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D0013-A520-4D4B-B632-18976BDF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42 / 45</a:t>
            </a:r>
          </a:p>
        </p:txBody>
      </p:sp>
    </p:spTree>
    <p:extLst>
      <p:ext uri="{BB962C8B-B14F-4D97-AF65-F5344CB8AC3E}">
        <p14:creationId xmlns:p14="http://schemas.microsoft.com/office/powerpoint/2010/main" val="154578459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90A5D-8AA9-466C-9666-04F334FF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Hard opponents 仍是共同弱點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387AA-B3FF-4F72-AE9A-8CC1D4C2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本次已完成 seed 8–12；每個對手 5 runs × 60 場＝300 場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4052DDEF-3F03-46E4-9D6D-1E864AD7C28A}"/>
              </a:ext>
            </a:extLst>
          </p:cNvPr>
          <p:cNvGraphicFramePr/>
          <p:nvPr/>
        </p:nvGraphicFramePr>
        <p:xfrm>
          <a:off xmlns:a="http://schemas.openxmlformats.org/drawingml/2006/main" x="762000" y="2143125"/>
          <a:ext xmlns:a="http://schemas.openxmlformats.org/drawingml/2006/main" cx="10572750" cy="3790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ded795d11a444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1C058-26CB-468D-A242-28372DB2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4288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11／1200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C9DB5-EC1D-4815-B661-5C2FBC05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4766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四個強敵的合計勝場</a:t>
            </a:r>
          </a:p>
          <a:p xmlns:a="http://schemas.openxmlformats.org/drawingml/2006/main"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 errors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887C3-61E1-469E-A69C-2A74B316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10125"/>
            <a:ext cx="323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COAC 的 10 勝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集中於 seed 11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Rush 對策也未一致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CA981-2096-4CEB-A442-561E6D585BBA}"/>
              </a:ext>
            </a:extLst>
          </p:cNvPr>
          <p:cNvGraphicFramePr/>
          <p:nvPr/>
        </p:nvGraphicFramePr>
        <p:xfrm>
          <a:off xmlns:a="http://schemas.openxmlformats.org/drawingml/2006/main" x="762000" y="6181725"/>
          <a:ext xmlns:a="http://schemas.openxmlformats.org/drawingml/2006/main" cx="1438275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10250"/>
                <a:gridCol w="2857500"/>
                <a:gridCol w="2857500"/>
                <a:gridCol w="2857500"/>
              </a:tblGrid>
              <a:tr h="3619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對手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3619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AllInBot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296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3619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Mayari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289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3619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COAC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290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3619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TMA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AB325-C559-4FC4-8FE7-4B2AB189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完成整個矩陣表示執行鏈可用；對 hard opponents 的策略能力仍不足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9C035-214F-4989-A476-07B19FC4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43 / 45</a:t>
            </a:r>
          </a:p>
        </p:txBody>
      </p:sp>
    </p:spTree>
    <p:extLst>
      <p:ext uri="{BB962C8B-B14F-4D97-AF65-F5344CB8AC3E}">
        <p14:creationId xmlns:p14="http://schemas.microsoft.com/office/powerpoint/2010/main" val="187893663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782C6-FCEC-4A09-8803-EDAF3C9E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九狀態探針：末代行為多樣性偏低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9B30D-AA78-4507-9969-4A27219B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G20 semantic unique／人口 10；三張地圖 × 三個階段的動作簽章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CED08203-5287-4355-BA86-4151199BB1B9}"/>
              </a:ext>
            </a:extLst>
          </p:cNvPr>
          <p:cNvGraphicFramePr/>
          <p:nvPr/>
        </p:nvGraphicFramePr>
        <p:xfrm>
          <a:off xmlns:a="http://schemas.openxmlformats.org/drawingml/2006/main" x="714375" y="2286000"/>
          <a:ext xmlns:a="http://schemas.openxmlformats.org/drawingml/2006/main" cx="10763250" cy="514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5ea0e46d964be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4EC6B-1A99-4FCE-84F4-829A38C8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66700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末代多為</a:t>
            </a:r>
          </a:p>
          <a:p xmlns:a="http://schemas.openxmlformats.org/drawingml/2006/main">
            <a:pPr algn="l">
              <a:def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3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1–2 類／10 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E4424-96FF-4B19-B83A-757A5417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143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上次 seed 13：4 類</a:t>
            </a:r>
          </a:p>
          <a:p xmlns:a="http://schemas.openxmlformats.org/drawingml/2006/main">
            <a:pPr algn="l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本次 seed 13 未納入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47CCA-AD5D-4A57-833C-E7CB5061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九狀態簽章不代表所有遊戲狀態；framework 沒有 DSL niche，不能以該 niche 的 count＝0 判斷行為多樣性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BEDFA-6672-473D-97D5-D53A7DDF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 / 45</a:t>
            </a:r>
          </a:p>
        </p:txBody>
      </p:sp>
    </p:spTree>
    <p:extLst>
      <p:ext uri="{BB962C8B-B14F-4D97-AF65-F5344CB8AC3E}">
        <p14:creationId xmlns:p14="http://schemas.microsoft.com/office/powerpoint/2010/main" val="9473060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AE999-C715-4A53-B2DE-5356E7E001B4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0477500" y="758190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32A4B4-F0EE-4748-A7CD-2B970D2A6457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095750" y="758190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1CF7F3-06EB-4E23-916C-6966AAE2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結論：執行可靠，探索與能力仍待改善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425C0-E97E-484B-A97A-CD910856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觀察到執行可靠性；策略品質與一般化能力仍須分開驗證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536C3-D3B6-4034-862B-CA69E526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執行可靠性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EE38D-2FF4-4C2A-897D-71A5D4E6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09800"/>
            <a:ext cx="4953000" cy="1076325"/>
          </a:xfrm>
          <a:prstGeom xmlns:a="http://schemas.openxmlformats.org/drawingml/2006/main" prst="roundRect">
            <a:avLst>
              <a:gd name="adj" fmla="val 1415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11 個完成 run</a:t>
            </a:r>
          </a:p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 Test：0 errors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C1B1F-2894-4E4E-9EF4-A3687E29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86000"/>
            <a:ext cx="5286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支持已測配置與矩陣可穩定執行</a:t>
            </a:r>
          </a:p>
        </p:txBody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C8213-8E7B-45B0-9898-8D6F8CE74A4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810625" y="27432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9AE39-1296-4D0F-B6CF-A91C1FDA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跨 seed 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31214-7237-4854-8B4A-C442F6E1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38550"/>
            <a:ext cx="4953000" cy="1076325"/>
          </a:xfrm>
          <a:prstGeom xmlns:a="http://schemas.openxmlformats.org/drawingml/2006/main" prst="roundRect">
            <a:avLst>
              <a:gd name="adj" fmla="val 1415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10 的 G20 差 0.004</a:t>
            </a:r>
          </a:p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其他 seed 有重跑差異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43DC9-2F97-41CA-8748-E34A7185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714750"/>
            <a:ext cx="5286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搜尋分數受快照影響，另用共同測試比較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752FA-81FB-4E73-8069-930DA440E85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810625" y="41719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4B23B1-0B84-4505-A475-56370948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探索與能力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58ECF8-7216-4F7C-9806-E8C1CF53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067300"/>
            <a:ext cx="4953000" cy="1076325"/>
          </a:xfrm>
          <a:prstGeom xmlns:a="http://schemas.openxmlformats.org/drawingml/2006/main" prst="roundRect">
            <a:avLst>
              <a:gd name="adj" fmla="val 14159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末代多為 1–2 類</a:t>
            </a:r>
          </a:p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強敵合計 11／1200 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5E380-264E-4F40-8987-93804D34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143500"/>
            <a:ext cx="5286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優先檢驗探索寬度與強敵涵蓋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A53320-24B9-468C-93F5-18D3500BBA6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810625" y="56007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A57530-2D7A-431E-9EE4-0D307316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建議下一步（尚未執行）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AF0AC7-0EA3-462A-BBD3-19F49B5B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33337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補齊 seed 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B4009F-49A0-4372-9EB5-72B14E6D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286625"/>
            <a:ext cx="5143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比較同六 seed 的正式測試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179F81-B37D-4DC0-ACD7-AB09802A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7286625"/>
            <a:ext cx="34290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控制條件測試探索改動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8B6A0-086C-4F44-9093-00BB498C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耗時比較缺測：run wall time、G0 與 G1–20 世代耗時未提供，無法判斷速度差異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CB24D4-A6A0-42B4-A105-5002C6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45 / 45</a:t>
            </a:r>
          </a:p>
        </p:txBody>
      </p:sp>
    </p:spTree>
    <p:extLst>
      <p:ext uri="{BB962C8B-B14F-4D97-AF65-F5344CB8AC3E}">
        <p14:creationId xmlns:p14="http://schemas.microsoft.com/office/powerpoint/2010/main" val="20945723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2026-10-21T14:12:25.9110000Z</dcterms:created>
  <dcterms:modified xsi:type="dcterms:W3CDTF">2026-10-21T14:12:25.9110000Z</dcterms:modified>
</coreProperties>
</file>