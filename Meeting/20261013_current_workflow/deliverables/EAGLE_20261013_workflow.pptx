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685fc5cdf74763" /><Relationship Type="http://schemas.openxmlformats.org/officeDocument/2006/relationships/extended-properties" Target="/docProps/app.xml" Id="Rb84d40bac89f41f1" /><Relationship Type="http://schemas.openxmlformats.org/officeDocument/2006/relationships/officeDocument" Target="/ppt/presentation.xml" Id="Red9b913c63ee40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f30768f84746a0"/>
  </p:sldMasterIdLst>
  <p:notesMasterIdLst>
    <p:notesMasterId xmlns:r="http://schemas.openxmlformats.org/officeDocument/2006/relationships" r:id="R1129ddfa6713435d"/>
  </p:notesMasterIdLst>
  <p:sldIdLst>
    <p:sldId xmlns:r="http://schemas.openxmlformats.org/officeDocument/2006/relationships" id="256" r:id="Raef8870cefd24df7"/>
    <p:sldId xmlns:r="http://schemas.openxmlformats.org/officeDocument/2006/relationships" id="257" r:id="Rc9961c1a7e5b4b1c"/>
    <p:sldId xmlns:r="http://schemas.openxmlformats.org/officeDocument/2006/relationships" id="258" r:id="R01b7c0f0e87e45dd"/>
    <p:sldId xmlns:r="http://schemas.openxmlformats.org/officeDocument/2006/relationships" id="259" r:id="Rec9f9c4f7ed34054"/>
    <p:sldId xmlns:r="http://schemas.openxmlformats.org/officeDocument/2006/relationships" id="260" r:id="R1f693b4f91b442c1"/>
    <p:sldId xmlns:r="http://schemas.openxmlformats.org/officeDocument/2006/relationships" id="261" r:id="R1e8960fe5d234fb0"/>
    <p:sldId xmlns:r="http://schemas.openxmlformats.org/officeDocument/2006/relationships" id="262" r:id="R8d867198b4f846f5"/>
    <p:sldId xmlns:r="http://schemas.openxmlformats.org/officeDocument/2006/relationships" id="263" r:id="R8adfc60e211e4f56"/>
    <p:sldId xmlns:r="http://schemas.openxmlformats.org/officeDocument/2006/relationships" id="264" r:id="R0305dabf1e804160"/>
    <p:sldId xmlns:r="http://schemas.openxmlformats.org/officeDocument/2006/relationships" id="265" r:id="R867d1cffa162482f"/>
    <p:sldId xmlns:r="http://schemas.openxmlformats.org/officeDocument/2006/relationships" id="266" r:id="Rbe64651d4dc74423"/>
    <p:sldId xmlns:r="http://schemas.openxmlformats.org/officeDocument/2006/relationships" id="267" r:id="Rf34811d1ad5f4669"/>
    <p:sldId xmlns:r="http://schemas.openxmlformats.org/officeDocument/2006/relationships" id="268" r:id="Rbca4726f1b2f4c80"/>
    <p:sldId xmlns:r="http://schemas.openxmlformats.org/officeDocument/2006/relationships" id="269" r:id="R66c81d3f13484c0d"/>
    <p:sldId xmlns:r="http://schemas.openxmlformats.org/officeDocument/2006/relationships" id="270" r:id="Rb012028985a44e10"/>
    <p:sldId xmlns:r="http://schemas.openxmlformats.org/officeDocument/2006/relationships" id="271" r:id="R992932ac428546d4"/>
    <p:sldId xmlns:r="http://schemas.openxmlformats.org/officeDocument/2006/relationships" id="272" r:id="Rb6e6f85e9bfc42ef"/>
    <p:sldId xmlns:r="http://schemas.openxmlformats.org/officeDocument/2006/relationships" id="273" r:id="Rf868d0f2ea364259"/>
    <p:sldId xmlns:r="http://schemas.openxmlformats.org/officeDocument/2006/relationships" id="274" r:id="Rc78b61fd338a4bb1"/>
    <p:sldId xmlns:r="http://schemas.openxmlformats.org/officeDocument/2006/relationships" id="275" r:id="Ra9a568017b6346ef"/>
    <p:sldId xmlns:r="http://schemas.openxmlformats.org/officeDocument/2006/relationships" id="276" r:id="Rc1ec73921ba1450e"/>
    <p:sldId xmlns:r="http://schemas.openxmlformats.org/officeDocument/2006/relationships" id="277" r:id="R9fdd1297e90a4cc6"/>
    <p:sldId xmlns:r="http://schemas.openxmlformats.org/officeDocument/2006/relationships" id="278" r:id="R84d1a7a6b56c481c"/>
    <p:sldId xmlns:r="http://schemas.openxmlformats.org/officeDocument/2006/relationships" id="279" r:id="R6c77387230f249fe"/>
    <p:sldId xmlns:r="http://schemas.openxmlformats.org/officeDocument/2006/relationships" id="280" r:id="R46d15f5f31a74a2a"/>
    <p:sldId xmlns:r="http://schemas.openxmlformats.org/officeDocument/2006/relationships" id="281" r:id="R5078cab0ef154fba"/>
    <p:sldId xmlns:r="http://schemas.openxmlformats.org/officeDocument/2006/relationships" id="282" r:id="R4c0821c6dfe5427a"/>
    <p:sldId xmlns:r="http://schemas.openxmlformats.org/officeDocument/2006/relationships" id="283" r:id="R112a0eae3a924a41"/>
    <p:sldId xmlns:r="http://schemas.openxmlformats.org/officeDocument/2006/relationships" id="284" r:id="R3f3d2ccc70324aa0"/>
    <p:sldId xmlns:r="http://schemas.openxmlformats.org/officeDocument/2006/relationships" id="285" r:id="Rfacd121bfcf641fe"/>
    <p:sldId xmlns:r="http://schemas.openxmlformats.org/officeDocument/2006/relationships" id="286" r:id="Ra53143aded7845f4"/>
    <p:sldId xmlns:r="http://schemas.openxmlformats.org/officeDocument/2006/relationships" id="287" r:id="Re829430f444349bf"/>
    <p:sldId xmlns:r="http://schemas.openxmlformats.org/officeDocument/2006/relationships" id="288" r:id="Rc1df76f011a849c3"/>
    <p:sldId xmlns:r="http://schemas.openxmlformats.org/officeDocument/2006/relationships" id="289" r:id="Rcaa80663329f4bae"/>
    <p:sldId xmlns:r="http://schemas.openxmlformats.org/officeDocument/2006/relationships" id="290" r:id="Re19d6115c79e4c69"/>
    <p:sldId xmlns:r="http://schemas.openxmlformats.org/officeDocument/2006/relationships" id="291" r:id="R2fb613efb6f34740"/>
    <p:sldId xmlns:r="http://schemas.openxmlformats.org/officeDocument/2006/relationships" id="292" r:id="Rc815ecffb9d845b4"/>
    <p:sldId xmlns:r="http://schemas.openxmlformats.org/officeDocument/2006/relationships" id="293" r:id="Rf31a0b47496c44bb"/>
    <p:sldId xmlns:r="http://schemas.openxmlformats.org/officeDocument/2006/relationships" id="294" r:id="R4ecdc6eae3514436"/>
    <p:sldId xmlns:r="http://schemas.openxmlformats.org/officeDocument/2006/relationships" id="295" r:id="Rfe4110be4c054143"/>
    <p:sldId xmlns:r="http://schemas.openxmlformats.org/officeDocument/2006/relationships" id="296" r:id="R6078a6716cc4470f"/>
    <p:sldId xmlns:r="http://schemas.openxmlformats.org/officeDocument/2006/relationships" id="297" r:id="Rff306356aa334f21"/>
    <p:sldId xmlns:r="http://schemas.openxmlformats.org/officeDocument/2006/relationships" id="298" r:id="R94fca1f97c3e444a"/>
    <p:sldId xmlns:r="http://schemas.openxmlformats.org/officeDocument/2006/relationships" id="299" r:id="R3b6ecf76b7864d67"/>
    <p:sldId xmlns:r="http://schemas.openxmlformats.org/officeDocument/2006/relationships" id="300" r:id="R61ccda728243491b"/>
    <p:sldId xmlns:r="http://schemas.openxmlformats.org/officeDocument/2006/relationships" id="301" r:id="R2405bcc0219b4b27"/>
    <p:sldId xmlns:r="http://schemas.openxmlformats.org/officeDocument/2006/relationships" id="302" r:id="Rfad95b4eb7cc4065"/>
    <p:sldId xmlns:r="http://schemas.openxmlformats.org/officeDocument/2006/relationships" id="303" r:id="Rbf255060683448dd"/>
    <p:sldId xmlns:r="http://schemas.openxmlformats.org/officeDocument/2006/relationships" id="304" r:id="Ra6cec3dcbec544ea"/>
    <p:sldId xmlns:r="http://schemas.openxmlformats.org/officeDocument/2006/relationships" id="305" r:id="R3b4db9332e394edc"/>
    <p:sldId xmlns:r="http://schemas.openxmlformats.org/officeDocument/2006/relationships" id="306" r:id="R5138a4e8ad304b7b"/>
  </p:sldIdLst>
  <p:sldSz cx="15925800" cy="896302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  <a:la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AEDC6"/>
          </a:solidFill>
        </a:fill>
      </a:tcStyle>
    </a:la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8798c52d084dc9" /><Relationship Type="http://schemas.openxmlformats.org/officeDocument/2006/relationships/slideMaster" Target="/ppt/slideMasters/slideMaster1.xml" Id="R57f30768f84746a0" /><Relationship Type="http://schemas.openxmlformats.org/officeDocument/2006/relationships/notesMaster" Target="/ppt/notesMasters/notesMaster1.xml" Id="R1129ddfa6713435d" /><Relationship Type="http://schemas.openxmlformats.org/officeDocument/2006/relationships/presProps" Target="/ppt/presProps.xml" Id="R06fd40b65da5458e" /><Relationship Type="http://schemas.openxmlformats.org/officeDocument/2006/relationships/viewProps" Target="/ppt/viewProps.xml" Id="R2b880550f50c43be" /><Relationship Type="http://schemas.openxmlformats.org/officeDocument/2006/relationships/tableStyles" Target="/ppt/tableStyles.xml" Id="R6ce57decb5654b84" /><Relationship Type="http://schemas.openxmlformats.org/officeDocument/2006/relationships/slide" Target="/ppt/slides/slide1.xml" Id="Raef8870cefd24df7" /><Relationship Type="http://schemas.openxmlformats.org/officeDocument/2006/relationships/slide" Target="/ppt/slides/slide2.xml" Id="Rc9961c1a7e5b4b1c" /><Relationship Type="http://schemas.openxmlformats.org/officeDocument/2006/relationships/slide" Target="/ppt/slides/slide3.xml" Id="R01b7c0f0e87e45dd" /><Relationship Type="http://schemas.openxmlformats.org/officeDocument/2006/relationships/slide" Target="/ppt/slides/slide4.xml" Id="Rec9f9c4f7ed34054" /><Relationship Type="http://schemas.openxmlformats.org/officeDocument/2006/relationships/slide" Target="/ppt/slides/slide5.xml" Id="R1f693b4f91b442c1" /><Relationship Type="http://schemas.openxmlformats.org/officeDocument/2006/relationships/slide" Target="/ppt/slides/slide6.xml" Id="R1e8960fe5d234fb0" /><Relationship Type="http://schemas.openxmlformats.org/officeDocument/2006/relationships/slide" Target="/ppt/slides/slide7.xml" Id="R8d867198b4f846f5" /><Relationship Type="http://schemas.openxmlformats.org/officeDocument/2006/relationships/slide" Target="/ppt/slides/slide8.xml" Id="R8adfc60e211e4f56" /><Relationship Type="http://schemas.openxmlformats.org/officeDocument/2006/relationships/slide" Target="/ppt/slides/slide9.xml" Id="R0305dabf1e804160" /><Relationship Type="http://schemas.openxmlformats.org/officeDocument/2006/relationships/slide" Target="/ppt/slides/slide10.xml" Id="R867d1cffa162482f" /><Relationship Type="http://schemas.openxmlformats.org/officeDocument/2006/relationships/slide" Target="/ppt/slides/slide11.xml" Id="Rbe64651d4dc74423" /><Relationship Type="http://schemas.openxmlformats.org/officeDocument/2006/relationships/slide" Target="/ppt/slides/slide12.xml" Id="Rf34811d1ad5f4669" /><Relationship Type="http://schemas.openxmlformats.org/officeDocument/2006/relationships/slide" Target="/ppt/slides/slide13.xml" Id="Rbca4726f1b2f4c80" /><Relationship Type="http://schemas.openxmlformats.org/officeDocument/2006/relationships/slide" Target="/ppt/slides/slide14.xml" Id="R66c81d3f13484c0d" /><Relationship Type="http://schemas.openxmlformats.org/officeDocument/2006/relationships/slide" Target="/ppt/slides/slide15.xml" Id="Rb012028985a44e10" /><Relationship Type="http://schemas.openxmlformats.org/officeDocument/2006/relationships/slide" Target="/ppt/slides/slide16.xml" Id="R992932ac428546d4" /><Relationship Type="http://schemas.openxmlformats.org/officeDocument/2006/relationships/slide" Target="/ppt/slides/slide17.xml" Id="Rb6e6f85e9bfc42ef" /><Relationship Type="http://schemas.openxmlformats.org/officeDocument/2006/relationships/slide" Target="/ppt/slides/slide18.xml" Id="Rf868d0f2ea364259" /><Relationship Type="http://schemas.openxmlformats.org/officeDocument/2006/relationships/slide" Target="/ppt/slides/slide19.xml" Id="Rc78b61fd338a4bb1" /><Relationship Type="http://schemas.openxmlformats.org/officeDocument/2006/relationships/slide" Target="/ppt/slides/slide20.xml" Id="Ra9a568017b6346ef" /><Relationship Type="http://schemas.openxmlformats.org/officeDocument/2006/relationships/slide" Target="/ppt/slides/slide21.xml" Id="Rc1ec73921ba1450e" /><Relationship Type="http://schemas.openxmlformats.org/officeDocument/2006/relationships/slide" Target="/ppt/slides/slide22.xml" Id="R9fdd1297e90a4cc6" /><Relationship Type="http://schemas.openxmlformats.org/officeDocument/2006/relationships/slide" Target="/ppt/slides/slide23.xml" Id="R84d1a7a6b56c481c" /><Relationship Type="http://schemas.openxmlformats.org/officeDocument/2006/relationships/slide" Target="/ppt/slides/slide24.xml" Id="R6c77387230f249fe" /><Relationship Type="http://schemas.openxmlformats.org/officeDocument/2006/relationships/slide" Target="/ppt/slides/slide25.xml" Id="R46d15f5f31a74a2a" /><Relationship Type="http://schemas.openxmlformats.org/officeDocument/2006/relationships/slide" Target="/ppt/slides/slide26.xml" Id="R5078cab0ef154fba" /><Relationship Type="http://schemas.openxmlformats.org/officeDocument/2006/relationships/slide" Target="/ppt/slides/slide27.xml" Id="R4c0821c6dfe5427a" /><Relationship Type="http://schemas.openxmlformats.org/officeDocument/2006/relationships/slide" Target="/ppt/slides/slide28.xml" Id="R112a0eae3a924a41" /><Relationship Type="http://schemas.openxmlformats.org/officeDocument/2006/relationships/slide" Target="/ppt/slides/slide29.xml" Id="R3f3d2ccc70324aa0" /><Relationship Type="http://schemas.openxmlformats.org/officeDocument/2006/relationships/slide" Target="/ppt/slides/slide30.xml" Id="Rfacd121bfcf641fe" /><Relationship Type="http://schemas.openxmlformats.org/officeDocument/2006/relationships/slide" Target="/ppt/slides/slide31.xml" Id="Ra53143aded7845f4" /><Relationship Type="http://schemas.openxmlformats.org/officeDocument/2006/relationships/slide" Target="/ppt/slides/slide32.xml" Id="Re829430f444349bf" /><Relationship Type="http://schemas.openxmlformats.org/officeDocument/2006/relationships/slide" Target="/ppt/slides/slide33.xml" Id="Rc1df76f011a849c3" /><Relationship Type="http://schemas.openxmlformats.org/officeDocument/2006/relationships/slide" Target="/ppt/slides/slide34.xml" Id="Rcaa80663329f4bae" /><Relationship Type="http://schemas.openxmlformats.org/officeDocument/2006/relationships/slide" Target="/ppt/slides/slide35.xml" Id="Re19d6115c79e4c69" /><Relationship Type="http://schemas.openxmlformats.org/officeDocument/2006/relationships/slide" Target="/ppt/slides/slide36.xml" Id="R2fb613efb6f34740" /><Relationship Type="http://schemas.openxmlformats.org/officeDocument/2006/relationships/slide" Target="/ppt/slides/slide37.xml" Id="Rc815ecffb9d845b4" /><Relationship Type="http://schemas.openxmlformats.org/officeDocument/2006/relationships/slide" Target="/ppt/slides/slide38.xml" Id="Rf31a0b47496c44bb" /><Relationship Type="http://schemas.openxmlformats.org/officeDocument/2006/relationships/slide" Target="/ppt/slides/slide39.xml" Id="R4ecdc6eae3514436" /><Relationship Type="http://schemas.openxmlformats.org/officeDocument/2006/relationships/slide" Target="/ppt/slides/slide40.xml" Id="Rfe4110be4c054143" /><Relationship Type="http://schemas.openxmlformats.org/officeDocument/2006/relationships/slide" Target="/ppt/slides/slide41.xml" Id="R6078a6716cc4470f" /><Relationship Type="http://schemas.openxmlformats.org/officeDocument/2006/relationships/slide" Target="/ppt/slides/slide42.xml" Id="Rff306356aa334f21" /><Relationship Type="http://schemas.openxmlformats.org/officeDocument/2006/relationships/slide" Target="/ppt/slides/slide43.xml" Id="R94fca1f97c3e444a" /><Relationship Type="http://schemas.openxmlformats.org/officeDocument/2006/relationships/slide" Target="/ppt/slides/slide44.xml" Id="R3b6ecf76b7864d67" /><Relationship Type="http://schemas.openxmlformats.org/officeDocument/2006/relationships/slide" Target="/ppt/slides/slide45.xml" Id="R61ccda728243491b" /><Relationship Type="http://schemas.openxmlformats.org/officeDocument/2006/relationships/slide" Target="/ppt/slides/slide46.xml" Id="R2405bcc0219b4b27" /><Relationship Type="http://schemas.openxmlformats.org/officeDocument/2006/relationships/slide" Target="/ppt/slides/slide47.xml" Id="Rfad95b4eb7cc4065" /><Relationship Type="http://schemas.openxmlformats.org/officeDocument/2006/relationships/slide" Target="/ppt/slides/slide48.xml" Id="Rbf255060683448dd" /><Relationship Type="http://schemas.openxmlformats.org/officeDocument/2006/relationships/slide" Target="/ppt/slides/slide49.xml" Id="Ra6cec3dcbec544ea" /><Relationship Type="http://schemas.openxmlformats.org/officeDocument/2006/relationships/slide" Target="/ppt/slides/slide50.xml" Id="R3b4db9332e394edc" /><Relationship Type="http://schemas.openxmlformats.org/officeDocument/2006/relationships/slide" Target="/ppt/slides/slide51.xml" Id="R5138a4e8ad304b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601ac60d3745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99f47cc87743d9" /><Relationship Type="http://schemas.openxmlformats.org/officeDocument/2006/relationships/notesMaster" Target="/ppt/notesMasters/notesMaster1.xml" Id="R1f9e83916b2f49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c586c910c24046" /><Relationship Type="http://schemas.openxmlformats.org/officeDocument/2006/relationships/notesMaster" Target="/ppt/notesMasters/notesMaster1.xml" Id="R38365a2d141c4f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f06035efe34dd3" /><Relationship Type="http://schemas.openxmlformats.org/officeDocument/2006/relationships/notesMaster" Target="/ppt/notesMasters/notesMaster1.xml" Id="R2a4ada9cfcb746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6118424c224743" /><Relationship Type="http://schemas.openxmlformats.org/officeDocument/2006/relationships/notesMaster" Target="/ppt/notesMasters/notesMaster1.xml" Id="R0758fa61560b41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71cc9a0532404c" /><Relationship Type="http://schemas.openxmlformats.org/officeDocument/2006/relationships/notesMaster" Target="/ppt/notesMasters/notesMaster1.xml" Id="Recb286769d2b4b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0036e3368346b2" /><Relationship Type="http://schemas.openxmlformats.org/officeDocument/2006/relationships/notesMaster" Target="/ppt/notesMasters/notesMaster1.xml" Id="R2054e8d9af1646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6bf205b3004a49" /><Relationship Type="http://schemas.openxmlformats.org/officeDocument/2006/relationships/notesMaster" Target="/ppt/notesMasters/notesMaster1.xml" Id="R5c024d8a9b7244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626da211b24568" /><Relationship Type="http://schemas.openxmlformats.org/officeDocument/2006/relationships/notesMaster" Target="/ppt/notesMasters/notesMaster1.xml" Id="R5cbb5a75494047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643808513a4523" /><Relationship Type="http://schemas.openxmlformats.org/officeDocument/2006/relationships/notesMaster" Target="/ppt/notesMasters/notesMaster1.xml" Id="R76fc586b427e43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a5d34d24bd485e" /><Relationship Type="http://schemas.openxmlformats.org/officeDocument/2006/relationships/notesMaster" Target="/ppt/notesMasters/notesMaster1.xml" Id="R0df6ac78d00f42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37f209d13a449f" /><Relationship Type="http://schemas.openxmlformats.org/officeDocument/2006/relationships/notesMaster" Target="/ppt/notesMasters/notesMaster1.xml" Id="R0014c1afb9b947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9d39d1071f4080" /><Relationship Type="http://schemas.openxmlformats.org/officeDocument/2006/relationships/notesMaster" Target="/ppt/notesMasters/notesMaster1.xml" Id="R8312b85979fb42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73ea420e644a40" /><Relationship Type="http://schemas.openxmlformats.org/officeDocument/2006/relationships/notesMaster" Target="/ppt/notesMasters/notesMaster1.xml" Id="Rfd5b01d2e6ce47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2fc34c857442e2" /><Relationship Type="http://schemas.openxmlformats.org/officeDocument/2006/relationships/notesMaster" Target="/ppt/notesMasters/notesMaster1.xml" Id="R1de89f9dfc2d47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d849e5fe7f4106" /><Relationship Type="http://schemas.openxmlformats.org/officeDocument/2006/relationships/notesMaster" Target="/ppt/notesMasters/notesMaster1.xml" Id="Rb5df014ad53646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17a34a59aa437a" /><Relationship Type="http://schemas.openxmlformats.org/officeDocument/2006/relationships/notesMaster" Target="/ppt/notesMasters/notesMaster1.xml" Id="R3f3ae0c0369e4c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624391da4f452f" /><Relationship Type="http://schemas.openxmlformats.org/officeDocument/2006/relationships/notesMaster" Target="/ppt/notesMasters/notesMaster1.xml" Id="Re9416ea1f4d74f2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cc56343cee43fa" /><Relationship Type="http://schemas.openxmlformats.org/officeDocument/2006/relationships/notesMaster" Target="/ppt/notesMasters/notesMaster1.xml" Id="R4381e29ebe0542b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27822eef7040b7" /><Relationship Type="http://schemas.openxmlformats.org/officeDocument/2006/relationships/notesMaster" Target="/ppt/notesMasters/notesMaster1.xml" Id="Rd3b7d52cc4fe4a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b89f5186b3402a" /><Relationship Type="http://schemas.openxmlformats.org/officeDocument/2006/relationships/notesMaster" Target="/ppt/notesMasters/notesMaster1.xml" Id="Ra6e9df4b4fb0425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6cae22dbec043c5" /><Relationship Type="http://schemas.openxmlformats.org/officeDocument/2006/relationships/notesMaster" Target="/ppt/notesMasters/notesMaster1.xml" Id="R736362f3880c4e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100571b5e724631" /><Relationship Type="http://schemas.openxmlformats.org/officeDocument/2006/relationships/notesMaster" Target="/ppt/notesMasters/notesMaster1.xml" Id="R233ec262547746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8b3f146f88a4c2c" /><Relationship Type="http://schemas.openxmlformats.org/officeDocument/2006/relationships/notesMaster" Target="/ppt/notesMasters/notesMaster1.xml" Id="R1f6c60eb768644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9e316633da34ae8" /><Relationship Type="http://schemas.openxmlformats.org/officeDocument/2006/relationships/notesMaster" Target="/ppt/notesMasters/notesMaster1.xml" Id="R2a95dab6e79c4c6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638ccfd5be4105" /><Relationship Type="http://schemas.openxmlformats.org/officeDocument/2006/relationships/notesMaster" Target="/ppt/notesMasters/notesMaster1.xml" Id="R26c57ced4822479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1f4aaeb14684b4e" /><Relationship Type="http://schemas.openxmlformats.org/officeDocument/2006/relationships/notesMaster" Target="/ppt/notesMasters/notesMaster1.xml" Id="R1607a4c98f7540d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62958b6638542c8" /><Relationship Type="http://schemas.openxmlformats.org/officeDocument/2006/relationships/notesMaster" Target="/ppt/notesMasters/notesMaster1.xml" Id="Rc507475e38f045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e62d2c022dc4bdf" /><Relationship Type="http://schemas.openxmlformats.org/officeDocument/2006/relationships/notesMaster" Target="/ppt/notesMasters/notesMaster1.xml" Id="R0d4241179db5499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6bb8e4df3b4e51" /><Relationship Type="http://schemas.openxmlformats.org/officeDocument/2006/relationships/notesMaster" Target="/ppt/notesMasters/notesMaster1.xml" Id="Radd58660d352484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1b0d35f69da4c8b" /><Relationship Type="http://schemas.openxmlformats.org/officeDocument/2006/relationships/notesMaster" Target="/ppt/notesMasters/notesMaster1.xml" Id="R670c2df2d6e7424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9be0077581140ad" /><Relationship Type="http://schemas.openxmlformats.org/officeDocument/2006/relationships/notesMaster" Target="/ppt/notesMasters/notesMaster1.xml" Id="R15fe7006677b467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2f4abfb457b4fe3" /><Relationship Type="http://schemas.openxmlformats.org/officeDocument/2006/relationships/notesMaster" Target="/ppt/notesMasters/notesMaster1.xml" Id="R27ed68d3a3644d6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ba2e283a57645d8" /><Relationship Type="http://schemas.openxmlformats.org/officeDocument/2006/relationships/notesMaster" Target="/ppt/notesMasters/notesMaster1.xml" Id="R24d9f421653045b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c0f08b6d7624573" /><Relationship Type="http://schemas.openxmlformats.org/officeDocument/2006/relationships/notesMaster" Target="/ppt/notesMasters/notesMaster1.xml" Id="Rff77c6646803492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f37f2f1e0a04cfe" /><Relationship Type="http://schemas.openxmlformats.org/officeDocument/2006/relationships/notesMaster" Target="/ppt/notesMasters/notesMaster1.xml" Id="Rfd5526e68b33493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8b3a038b3274464" /><Relationship Type="http://schemas.openxmlformats.org/officeDocument/2006/relationships/notesMaster" Target="/ppt/notesMasters/notesMaster1.xml" Id="Ra1fe72560fb045e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b3b9bdee1d1499e" /><Relationship Type="http://schemas.openxmlformats.org/officeDocument/2006/relationships/notesMaster" Target="/ppt/notesMasters/notesMaster1.xml" Id="R1e7dbda1b5ac4c3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e384e26e41b45ab" /><Relationship Type="http://schemas.openxmlformats.org/officeDocument/2006/relationships/notesMaster" Target="/ppt/notesMasters/notesMaster1.xml" Id="Rb08b8c835b53478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0d7baed258f4f0d" /><Relationship Type="http://schemas.openxmlformats.org/officeDocument/2006/relationships/notesMaster" Target="/ppt/notesMasters/notesMaster1.xml" Id="R93936bf48819494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8e265b8a27a4ff0" /><Relationship Type="http://schemas.openxmlformats.org/officeDocument/2006/relationships/notesMaster" Target="/ppt/notesMasters/notesMaster1.xml" Id="R9fd9958c998a486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9a416a878ae4ac6" /><Relationship Type="http://schemas.openxmlformats.org/officeDocument/2006/relationships/notesMaster" Target="/ppt/notesMasters/notesMaster1.xml" Id="Rd4fcbd9f828e454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9cecce43a814b99" /><Relationship Type="http://schemas.openxmlformats.org/officeDocument/2006/relationships/notesMaster" Target="/ppt/notesMasters/notesMaster1.xml" Id="R76c926ff7776482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fe7155528ca4247" /><Relationship Type="http://schemas.openxmlformats.org/officeDocument/2006/relationships/notesMaster" Target="/ppt/notesMasters/notesMaster1.xml" Id="Raa24485966ca472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0be878e657f4939" /><Relationship Type="http://schemas.openxmlformats.org/officeDocument/2006/relationships/notesMaster" Target="/ppt/notesMasters/notesMaster1.xml" Id="R89047fa27ff8437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a84d9bc31d74694" /><Relationship Type="http://schemas.openxmlformats.org/officeDocument/2006/relationships/notesMaster" Target="/ppt/notesMasters/notesMaster1.xml" Id="R84b63ccb4768468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4bf3f3611af4a08" /><Relationship Type="http://schemas.openxmlformats.org/officeDocument/2006/relationships/notesMaster" Target="/ppt/notesMasters/notesMaster1.xml" Id="R18fef3a81efe4ee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862acbd2d824696" /><Relationship Type="http://schemas.openxmlformats.org/officeDocument/2006/relationships/notesMaster" Target="/ppt/notesMasters/notesMaster1.xml" Id="Raba475639355477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e9a5909dcb64619" /><Relationship Type="http://schemas.openxmlformats.org/officeDocument/2006/relationships/notesMaster" Target="/ppt/notesMasters/notesMaster1.xml" Id="Ra24da77d25554ed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b5e7f4592bb463f" /><Relationship Type="http://schemas.openxmlformats.org/officeDocument/2006/relationships/notesMaster" Target="/ppt/notesMasters/notesMaster1.xml" Id="Rbee847a1042c44b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b82ee53a1f240ab" /><Relationship Type="http://schemas.openxmlformats.org/officeDocument/2006/relationships/notesMaster" Target="/ppt/notesMasters/notesMaster1.xml" Id="R2fab1ea6e38d422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3ee76c5898a40c9" /><Relationship Type="http://schemas.openxmlformats.org/officeDocument/2006/relationships/notesMaster" Target="/ppt/notesMasters/notesMaster1.xml" Id="R6b60739d9e2443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本簡報說明2026-10-13本地HEAD實作。主線使用self-play與inherited_genotype，以1013設定說明參數。另外解釋fixed_roster、lexicase與AOS替代模式。例子只說明機制，沒有當作實驗量測。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eagle/config.py:27-40</a:t>
            </a:r>
          </a:p>
          <a:p xmlns:a="http://schemas.openxmlformats.org/drawingml/2006/main">
            <a:r>
              <a:t>eagle/evolution/search.py:159-303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來源是configs/experiments/1013_match_workers_11_seed7_3runs/ministral3_8b_match_workers_11_seed7_3runs.yaml。檔名含11但內容名稱與workers實際為9，不能依檔名宣稱11。這是具體設定範例，並非所有EAGLE實驗設定。ExperimentConfig預設是fixed_roster、generated_phenotype、lexicase與AO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configs/experiments/1013_match_workers_11_seed7_3runs/ministral3_8b_match_workers_11_seed7_3runs.yaml:1-66</a:t>
            </a:r>
          </a:p>
          <a:p xmlns:a="http://schemas.openxmlformats.org/drawingml/2006/main">
            <a:r>
              <a:t>eagle/config.py:111-188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第0代只建立與評估初始個體。第1代起先處理必要的對手快照更新與父代重新計分，再選父代、檢查來源Java、形成及變異子代、生成或修復Java、評估子代、更新operator狀態，最後從父代與子代選下一代。指定代數或停滯門檻觸發完成搜尋。ExperimentOrchestrator可再做獨立Final Test，mock或skip-final-test會跳過實際最終對戰。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eagle/evolution/search.py:159-303</a:t>
            </a:r>
          </a:p>
          <a:p xmlns:a="http://schemas.openxmlformats.org/drawingml/2006/main">
            <a:r>
              <a:t>eagle/evolution/generation.py:91-288</a:t>
            </a:r>
          </a:p>
          <a:p xmlns:a="http://schemas.openxmlformats.org/drawingml/2006/main">
            <a:r>
              <a:t>eagle/experiment.py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Candidate把生成前基因與生成後Java表型分開保存。generated_phenotype遺傳兩個prompt；inherited_genotype再加inherited_java。失敗不清除既有基因。strategy_parent_id、generation_prompt_parent_id與java_parent_id分別記錄元件來源，因此三個元件可來自不同父代。策略反思沿策略元件的來源找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eagle/candidate.py:31-99</a:t>
            </a:r>
          </a:p>
          <a:p xmlns:a="http://schemas.openxmlformats.org/drawingml/2006/main">
            <a:r>
              <a:t>eagle/operators/crossover.py:21-56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DSL v1最多16000字元、32規則、條件深度6、all/any分支8。actor限Worker、Base、Barracks、Light、Heavy、Ranged。條件只可引用定義好的當前狀態，動作需符合單位能力與遊戲守衛。空規則為閒置，idle明確停止該actor檢查。Generator負責將語意實作成Java，執行時沒有DSL interpreter或LLM即時決策。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eagle/strategy_dsl.py:5-181</a:t>
            </a:r>
          </a:p>
          <a:p xmlns:a="http://schemas.openxmlformats.org/drawingml/2006/main">
            <a:r>
              <a:t>prompts/strategy_dsl_reference.txt:1-11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worker_rush_policy預設worker_limit=1，ID排名第一的Worker承擔經濟。return隱含守衛要求攜帶資源，harvest要求未攜帶資源，因此靠合法動作分流。其他Worker走向敵方Base；若目標或路徑不可用才落到最後規則。actor_id_rank包含忙碌中的同型單位。此表是程式內seed策略，不應簡化成所有Worker無條件攻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eagle/strategy_dsl.py:172-181</a:t>
            </a:r>
          </a:p>
          <a:p xmlns:a="http://schemas.openxmlformats.org/drawingml/2006/main">
            <a:r>
              <a:t>prompts/strategy_dsl_reference.txt:3-8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population_size=2時為一個configured seed與一個LLM policy。inherited_genotype的Java seed是生成輸入，不代表第0代跳過Generator。configured_seeds與llm_generated_policies是不同模式。LLM policy有DSL驗證與initial_policy_max_attempts=3。第0代無交配或變異，generations3代表gen1至gen3，另加gen0共四份代紀錄。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eagle/operators/initialization.py:59-185</a:t>
            </a:r>
          </a:p>
          <a:p xmlns:a="http://schemas.openxmlformats.org/drawingml/2006/main">
            <a:r>
              <a:t>eagle/evolution/search.py:159-231</a:t>
            </a:r>
          </a:p>
          <a:p xmlns:a="http://schemas.openxmlformats.org/drawingml/2006/main">
            <a:r>
              <a:t>prompts/initial_policy_variants.txt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角色是不同任務與prompt，不要求各用不同模型。1013只有Ministral3 8B設定，未另設generation_model。Runtime在reflection與generation phase啟用對應客戶端或模型。對戰執行已編譯Java，沒有每tick呼叫LLM。Coach策略提案、Prompt Rewrite指示與直接Java修復是不同輸出。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eagle/evolution/runtime.py:40-160</a:t>
            </a:r>
          </a:p>
          <a:p xmlns:a="http://schemas.openxmlformats.org/drawingml/2006/main">
            <a:r>
              <a:t>eagle/candidate.py:105-139</a:t>
            </a:r>
          </a:p>
          <a:p xmlns:a="http://schemas.openxmlformats.org/drawingml/2006/main">
            <a:r>
              <a:t>eagle/operators/strategy.py:273-360</a:t>
            </a:r>
          </a:p>
          <a:p xmlns:a="http://schemas.openxmlformats.org/drawingml/2006/main">
            <a:r>
              <a:t>eagle/operators/prompt.py:300-389</a:t>
            </a:r>
          </a:p>
          <a:p xmlns:a="http://schemas.openxmlformats.org/drawingml/2006/main">
            <a:r>
              <a:t>eagle/operators/code.py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evaluate_population先準備每個個體Java與編譯結果，再建立self-play pool，然後逐個評估。每個candidate依賴的前階段失敗即停止後續。首次成功的Java與class成為canonical表型，不把attempt當多個個體。Semantic probe屬附加診斷，失敗本身不改fitness；對戰不完整及核心階段失敗則影響有效評估狀態。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eagle/evaluation/pipeline.py:50-142</a:t>
            </a:r>
          </a:p>
          <a:p xmlns:a="http://schemas.openxmlformats.org/drawingml/2006/main">
            <a:r>
              <a:t>eagle/evaluation/pipeline.py:190-430</a:t>
            </a:r>
          </a:p>
          <a:p xmlns:a="http://schemas.openxmlformats.org/drawingml/2006/main">
            <a:r>
              <a:t>eagle/evaluation/decoding.py:57-205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1013 generation_max_attempts=5包含首次。完整Java但Validation或javac失敗，下次用該Java與結構證據compile repair；抽取失敗無完整來源則重抽原請求。Code Reflection子代首次直接驗證修復輸出，避免Generator再覆寫。每次request、response、source、failure、repair lineage保留，首次驗證編譯成功即停止。上限耗盡分支也涵蓋反覆抽取失敗。 重新抽取只適用普通Java生成。Code子代首次若未抽到完整Java便停止，不重新生成；若完整Java驗證或編譯失敗，後續可用普通backend執行compile repair。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eagle/evaluation/decoding.py:57-186</a:t>
            </a:r>
          </a:p>
          <a:p xmlns:a="http://schemas.openxmlformats.org/drawingml/2006/main">
            <a:r>
              <a:t>eagle/evaluation/decoding.py:205-350</a:t>
            </a:r>
          </a:p>
          <a:p xmlns:a="http://schemas.openxmlformats.org/drawingml/2006/main">
            <a:r>
              <a:t>configs/experiments/1013_match_workers_11_seed7_3runs/ministral3_8b_match_workers_11_seed7_3runs.yaml:28-30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build_match_matrix強制三張地圖、每圖三round及換邊，以opponent、map、round、side穩定順序生成match identity。換邊減少位置優勢。1013的tick_limit覆蓋全域預設。match_timeout_seconds120是wall-clock上限，與ticks不同。workers9影響平行執行，結果按canonical順序保存。10slots不保證10種不同來源。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eagle/evaluation/match_matrix.py:34-100</a:t>
            </a:r>
          </a:p>
          <a:p xmlns:a="http://schemas.openxmlformats.org/drawingml/2006/main">
            <a:r>
              <a:t>configs/experiments/1013_match_workers_11_seed7_3runs/ministral3_8b_match_workers_11_seed7_3runs.yaml:47-66</a:t>
            </a:r>
          </a:p>
          <a:p xmlns:a="http://schemas.openxmlformats.org/drawingml/2006/main">
            <a:r>
              <a:t>eagle/evaluation/matches.py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平均material差由telemetry ticks計算。預設價值Base10、Barracks5、Worker1、Light2、Heavy4、Ranged2、Resource0，這是計分權重，與訓練成本不同。存活比例end_tick/max_tick限0至1。勝局鼓勵較快結束，敗局鼓勵較久存活，shaping最大±10所以勝負仍主導。分數由程式計算，並非LLM自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eagle/evaluation/game_performance.py:13-50</a:t>
            </a:r>
          </a:p>
          <a:p xmlns:a="http://schemas.openxmlformats.org/drawingml/2006/main">
            <a:r>
              <a:t>eagle/evaluation/game_performance.py:205-233</a:t>
            </a:r>
          </a:p>
          <a:p xmlns:a="http://schemas.openxmlformats.org/drawingml/2006/main">
            <a:r>
              <a:t>eagle/config.py:170-177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GameMetrics先group by opponent_id再套權重，避免權重重複乘18。對戰不完整使用失敗分−1000並明記failure。self-play由配置轉為game_performance_semantic_tiebreak。Code Quality成功為100減複雜度penalty：cyclomatic40、nesting25、logical LOC20、longest function15，各按上限正規化，失敗為−1000。它供結構診斷與reflection，不是額外選擇目標。 Self-play的fitness_objectives只含game_performance，10個slot scores留在game_eval_result；fixed-roster才將10case作fitness objectives。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eagle/evaluation/game_metrics.py:237-360</a:t>
            </a:r>
          </a:p>
          <a:p xmlns:a="http://schemas.openxmlformats.org/drawingml/2006/main">
            <a:r>
              <a:t>eagle/evaluation/objectives.py:8-32</a:t>
            </a:r>
          </a:p>
          <a:p xmlns:a="http://schemas.openxmlformats.org/drawingml/2006/main">
            <a:r>
              <a:t>eagle/evaluation/code_quality.py:475-494</a:t>
            </a:r>
          </a:p>
          <a:p xmlns:a="http://schemas.openxmlformats.org/drawingml/2006/main">
            <a:r>
              <a:t>eagle/evaluation/code_quality.py:542-581</a:t>
            </a:r>
          </a:p>
          <a:p xmlns:a="http://schemas.openxmlformats.org/drawingml/2006/main">
            <a:r>
              <a:t>eagle/config.py:303-322</a:t>
            </a:r>
          </a:p>
          <a:p xmlns:a="http://schemas.openxmlformats.org/drawingml/2006/main">
            <a:r>
              <a:t>eagle/evaluation/pipeline.py:472-527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Pool是本輪評估的對手集合，與繁殖parent population不同。library跨快照保存來源，active snapshot決定本輪10slots。Final Test是獨立固定benchmark，不能把self-play search分數直接當Final Test成績。Self-play沒有空池時改用固定對手的fallback，空來源明確報錯。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eagle/config.py:151-169</a:t>
            </a:r>
          </a:p>
          <a:p xmlns:a="http://schemas.openxmlformats.org/drawingml/2006/main">
            <a:r>
              <a:t>eagle/evaluation/opponents.py:27-74</a:t>
            </a:r>
          </a:p>
          <a:p xmlns:a="http://schemas.openxmlformats.org/drawingml/2006/main">
            <a:r>
              <a:t>eagle/evaluation/opponents.py:152-201</a:t>
            </a:r>
          </a:p>
          <a:p xmlns:a="http://schemas.openxmlformats.org/drawingml/2006/main">
            <a:r>
              <a:t>eagle/final_test.py:35-39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Case順序passive、random、randombias、lightrush、heavyrush、workerrush、allinbot、mayari、coac、tma。權重影響aggregate reporting GP，lexicase逐case比最佳值，不以這些權重抽case。AllInBot有fault-contained wrapper。WorkerRush因vendored runtime缺class而準備run-local adapter。外部JAR版本與libraries須先檢查。Final Test各對手場數相同。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eagle/opponent_cases.py:7-35</a:t>
            </a:r>
          </a:p>
          <a:p xmlns:a="http://schemas.openxmlformats.org/drawingml/2006/main">
            <a:r>
              <a:t>eagle/opponents.py:47-84</a:t>
            </a:r>
          </a:p>
          <a:p xmlns:a="http://schemas.openxmlformats.org/drawingml/2006/main">
            <a:r>
              <a:t>eagle/evaluation/opponents.py:113-201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run-local library路徑archives/self_play_opponents.json，保存candidate參照。gen0評估後建立library；週期刷新加入當時source parents，再選快照。容量滿就移除最舊項目。Snapshot是本輪邊界，沒有臨時按強度抽對手。實作沒有額外訓練LocalLearner，也沒有勝率排名。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eagle/self_play.py:16-20</a:t>
            </a:r>
          </a:p>
          <a:p xmlns:a="http://schemas.openxmlformats.org/drawingml/2006/main">
            <a:r>
              <a:t>eagle/self_play.py:107-229</a:t>
            </a:r>
          </a:p>
          <a:p xmlns:a="http://schemas.openxmlformats.org/drawingml/2006/main">
            <a:r>
              <a:t>eagle/evolution/search.py:191-222</a:t>
            </a:r>
          </a:p>
          <a:p xmlns:a="http://schemas.openxmlformats.org/drawingml/2006/main">
            <a:r>
              <a:t>eagle/evolution/generation.py:91-139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Managed library比gen0臨時對手准入更嚴格。gen0為了開始評估，成功產生且編譯Java即可成為臨時對手，同批尚未完成對戰的個體可參與。正式library只收完整評估的表型。因此gen0 pool與後續library snapshot可能不同。空來源不會悄悄用固定代理補足。 准入helper對舊資料只有在match count或opponent rows存在時才檢查完整性，正常當前evaluator會填入這些欄位。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eagle/self_play.py:30-75</a:t>
            </a:r>
          </a:p>
          <a:p xmlns:a="http://schemas.openxmlformats.org/drawingml/2006/main">
            <a:r>
              <a:t>eagle/evaluation/opponents.py:27-48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不同策略文字或ID不保證行為多樣，因此再用Java hash和semantic向量。Semantic等價要求dataset與normalization相容，在固定probes上完整action一致。缺signature不虛構行為差異，也不用文字niche替代。此處只做准入去重，不比GP或勝率。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eagle/self_play.py:131-177</a:t>
            </a:r>
          </a:p>
          <a:p xmlns:a="http://schemas.openxmlformats.org/drawingml/2006/main">
            <a:r>
              <a:t>eagle/evaluation/semantic_signature.py:83-113</a:t>
            </a:r>
          </a:p>
          <a:p xmlns:a="http://schemas.openxmlformats.org/drawingml/2006/main">
            <a:r>
              <a:t>eagle/evaluation/semantic_signature.py:459-490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即使A的GP較E高，也會因最舊而移除A，沒有best-first或champion永久保留。Capacity是保存來源數，不是每輪slot數。Library保存candidate reference、hash及signature，完整Java留在canonical candidate artifacts，不在library重複整份程式。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eagle/self_play.py:92-103</a:t>
            </a:r>
          </a:p>
          <a:p xmlns:a="http://schemas.openxmlformats.org/drawingml/2006/main">
            <a:r>
              <a:t>eagle/self_play.py:131-177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Deterministic rotation並非依GP取top10、隨機抽樣、或每代最大化對手多樣性。interval5使gen0 epoch0、gen5 epoch1。刷新前library可能新增或FIFO淘汰，所以以當下長度與k重新計算。來源少於10仍在下一步循環補slots。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eagle/self_play.py:180-229</a:t>
            </a:r>
          </a:p>
          <a:p xmlns:a="http://schemas.openxmlformats.org/drawingml/2006/main">
            <a:r>
              <a:t>eagle/self_play.py:23-27</a:t>
            </a:r>
          </a:p>
          <a:p xmlns:a="http://schemas.openxmlformats.org/drawingml/2006/main">
            <a:r>
              <a:t>eagle/evolution/generation.py:91-122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代入start=(epoch*k)%n，10%12=10、20%12=8。刷新不是選最高分10個，也不保證相鄰快照不重疊。主線capacity50，長期可保存多於10個來源；短期population2則常只有少數來源。Ten slots不等於ten distinct agents。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eagle/self_play.py:180-229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expand_self_play_slots以來源索引modulo來源數循環補10slots。每slot權重1，ID self_play_000…009，附source candidate與generation。來源數不能整除10時multiplicity不均，A本例占4份權重，B/C各3。實作不排除self-match，個體可能碰到自己的Java。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eagle/self_play.py:30-35</a:t>
            </a:r>
          </a:p>
          <a:p xmlns:a="http://schemas.openxmlformats.org/drawingml/2006/main">
            <a:r>
              <a:t>eagle/evaluation/opponents.py:48-74</a:t>
            </a:r>
          </a:p>
          <a:p xmlns:a="http://schemas.openxmlformats.org/drawingml/2006/main">
            <a:r>
              <a:t>eagle/opponent_cases.py:20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此處重新評分既有表型，不是重新生成策略。ExistingJavaPhenotypeBackend保留原generated Java。改對手後舊GP與新GP難度不同，所以父子必須共享快照。預設reuse_cached不代表換snapshot時可不重評。regenerate_same_genotype是另外的診斷treatment，與必要的context refresh不同。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eagle/evolution/generation.py:91-170</a:t>
            </a:r>
          </a:p>
          <a:p xmlns:a="http://schemas.openxmlformats.org/drawingml/2006/main">
            <a:r>
              <a:t>eagle/evolution/parent_refresh.py</a:t>
            </a:r>
          </a:p>
          <a:p xmlns:a="http://schemas.openxmlformats.org/drawingml/2006/main">
            <a:r>
              <a:t>eagle/self_play.py:295-325</a:t>
            </a:r>
          </a:p>
          <a:p xmlns:a="http://schemas.openxmlformats.org/drawingml/2006/main">
            <a:r>
              <a:t>eagle/evaluation/decoding.py:79-102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gen0 evaluate_population沒有opponent_candidates，使用當前可編譯來源。完成後library可能因評估失敗、exact Java或semantic去重縮小，槽位映射不同。generation step另檢查population_matches_self_play_context，不只看generation%interval。因此interval5、generations3不能推出完全沒有父代重評。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eagle/evolution/search.py:173-245</a:t>
            </a:r>
          </a:p>
          <a:p xmlns:a="http://schemas.openxmlformats.org/drawingml/2006/main">
            <a:r>
              <a:t>eagle/evaluation/pipeline.py:112-120</a:t>
            </a:r>
          </a:p>
          <a:p xmlns:a="http://schemas.openxmlformats.org/drawingml/2006/main">
            <a:r>
              <a:t>eagle/evolution/generation.py:91-139</a:t>
            </a:r>
          </a:p>
          <a:p xmlns:a="http://schemas.openxmlformats.org/drawingml/2006/main">
            <a:r>
              <a:t>eagle/self_play.py:307-325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Opponent selection控制環境，parent selection控制基因來源，survivor selection控制下代人口。Library去重不使全部population必然不同；semantic subset在tier cutoff時才選擇差異。summary best是aggregate代表，不等於所有case專長代表。 第0代未在父代選擇前過濾failed candidates，第1代輸入可能含失敗個體；後續μ+λ的倖存人口才有completed-only保證。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eagle/self_play.py:180-229</a:t>
            </a:r>
          </a:p>
          <a:p xmlns:a="http://schemas.openxmlformats.org/drawingml/2006/main">
            <a:r>
              <a:t>eagle/operators/selection.py:42-158</a:t>
            </a:r>
          </a:p>
          <a:p xmlns:a="http://schemas.openxmlformats.org/drawingml/2006/main">
            <a:r>
              <a:t>eagle/evolution/offspring.py:78-90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主線實際algorithm=game_performance_semantic_tiebreak。A無reference時優先signature完整者，再seeded random，未選最稀有niche。B在同tier中以最大可用semantic distance選；signature不相容不可計距離。候選先ID排序確保stable ordering。選擇保留近似高分且行為不同的來源，不是tournament。 select_parent沒有completed過濾，gen0→gen1是例外。失敗候選缺scalar GP時_game_performance可報錯，不能保證已排除所有失敗父代。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eagle/config.py:303-322</a:t>
            </a:r>
          </a:p>
          <a:p xmlns:a="http://schemas.openxmlformats.org/drawingml/2006/main">
            <a:r>
              <a:t>eagle/operators/selection.py:42-67</a:t>
            </a:r>
          </a:p>
          <a:p xmlns:a="http://schemas.openxmlformats.org/drawingml/2006/main">
            <a:r>
              <a:t>eagle/operators/selection.py:207-282</a:t>
            </a:r>
          </a:p>
          <a:p xmlns:a="http://schemas.openxmlformats.org/drawingml/2006/main">
            <a:r>
              <a:t>eagle/evolution/offspring.py:69-90</a:t>
            </a:r>
          </a:p>
          <a:p xmlns:a="http://schemas.openxmlformats.org/drawingml/2006/main">
            <a:r>
              <a:t>eagle/evolution/search.py:173-189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預設reference agents WorkerRush與HeavyRush，player side0，phase fractions .10/.50/.90，三maps×三phases。固定狀態action不是所有可能狀態的等價證明。Summary包含dataset、normalization、probe IDs、action hashes、global/map/phase hashes。完整相容資料才能比較。strategy_signature與niche是文字metadata，不能替代行為signature。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eagle/config.py:43-48</a:t>
            </a:r>
          </a:p>
          <a:p xmlns:a="http://schemas.openxmlformats.org/drawingml/2006/main">
            <a:r>
              <a:t>eagle/config.py:157-161</a:t>
            </a:r>
          </a:p>
          <a:p xmlns:a="http://schemas.openxmlformats.org/drawingml/2006/main">
            <a:r>
              <a:t>eagle/evaluation/semantic_signature.py:1-8</a:t>
            </a:r>
          </a:p>
          <a:p xmlns:a="http://schemas.openxmlformats.org/drawingml/2006/main">
            <a:r>
              <a:t>eagle/evaluation/semantic_signature.py:60-79</a:t>
            </a:r>
          </a:p>
          <a:p xmlns:a="http://schemas.openxmlformats.org/drawingml/2006/main">
            <a:r>
              <a:t>eagle/evaluation/semantic_signature.py:116-250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距離是action hash不相同的位置比例。本例4probes為教學，實際suite以dataset為準。Parent B reference是A；倖存者references包含已保留候選。若參照A/B，C分數=min(d(C,A),d(C,B))，再與其他候選比最大值。無相容比較時選完整signature，均缺時seeded random，不用文字similarity替代。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eagle/operators/selection.py:245-339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每次選擇重新打亂case，逐case保留精確最高值，無epsilon tolerance。缺case分數−1000。不同case先後順序有機會保留不同對手專長。此例兩case即可出結果，完整roster十case。self-play主線走scalar semantic，不執行這條lexicase分支。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eagle/operators/selection.py:22-39</a:t>
            </a:r>
          </a:p>
          <a:p xmlns:a="http://schemas.openxmlformats.org/drawingml/2006/main">
            <a:r>
              <a:t>eagle/operators/selection.py:353-372</a:t>
            </a:r>
          </a:p>
          <a:p xmlns:a="http://schemas.openxmlformats.org/drawingml/2006/main">
            <a:r>
              <a:t>eagle/config.py:534-542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Component-level inheritance，沒有拼接規則或Java行號。獨立抽元件可能得A策略、B生成prompt、A Java。population&gt;1才嘗試.75 crossover。參與來源在C/M前經Code gate，需修復則走單親corrective branch，不混合不一致基因。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eagle/operators/crossover.py:21-56</a:t>
            </a:r>
          </a:p>
          <a:p xmlns:a="http://schemas.openxmlformats.org/drawingml/2006/main">
            <a:r>
              <a:t>eagle/evolution/offspring.py:92-209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總是檢查A；預定crossover再檢查B。Healthy要求reflection succeeded、revision_required=false、revision_status=not_required。任何不健康來源形成該來源單親corrective offspring，保留exact Java，放棄crossover與一般Strategy/Prompt mutation。code_check snapshot只是audit，不是額外演化個體。Gate頻率不受code_reflection_probability控制。 遇到首個不健康來源就停止後續來源檢查，該corrective plan占一個子代slot，重複規劃直到population_size。LLMServerError會往外傳遞，可中止規劃，並非所有後端失敗都變成修復子代。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eagle/evolution/offspring.py:96-154</a:t>
            </a:r>
          </a:p>
          <a:p xmlns:a="http://schemas.openxmlformats.org/drawingml/2006/main">
            <a:r>
              <a:t>eagle/evolution/offspring.py:295-315</a:t>
            </a:r>
          </a:p>
          <a:p xmlns:a="http://schemas.openxmlformats.org/drawingml/2006/main">
            <a:r>
              <a:t>eagle/evolution/offspring.py:394-426</a:t>
            </a:r>
          </a:p>
          <a:p xmlns:a="http://schemas.openxmlformats.org/drawingml/2006/main">
            <a:r>
              <a:t>eagle/operators/code.py:95-109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Code Reflection v6診斷在reflection phase，revision延後generation phase，配合模型資源切換。沒有成功revision時保留source Java並明記失敗，不能宣稱修好。Decoder首次用DirectCodeReflectionBackend驗證輸出，必要時仍可compile repair。LLM fidelity診斷與靜態契約檢查不是全遊戲狀態的形式化證明。 首次避免普通Generator無故覆寫，但compile repair可改寫失敗Java。診斷與revision各最多mutation_max_attempts=3，LLMServerError直接傳遞。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eagle/operators/code.py:95-109</a:t>
            </a:r>
          </a:p>
          <a:p xmlns:a="http://schemas.openxmlformats.org/drawingml/2006/main">
            <a:r>
              <a:t>eagle/operators/code.py:245-257</a:t>
            </a:r>
          </a:p>
          <a:p xmlns:a="http://schemas.openxmlformats.org/drawingml/2006/main">
            <a:r>
              <a:t>eagle/operators/code.py:545-552</a:t>
            </a:r>
          </a:p>
          <a:p xmlns:a="http://schemas.openxmlformats.org/drawingml/2006/main">
            <a:r>
              <a:t>eagle/evaluation/decoding.py:83-186</a:t>
            </a:r>
          </a:p>
          <a:p xmlns:a="http://schemas.openxmlformats.org/drawingml/2006/main">
            <a:r>
              <a:t>eagle/evolution/offspring.py:394-426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OPERATORS只有Strategy和Prompt，initial probabilities移除Code後正規化=.33/(.33+.33)=.5。Code不只執行34%，也不收AOS mutation credit。Corrective child跳過一般變異，因此mutation_rate1不表示修復子代再改策略。Static不調適。self_play配置要求static，AOS只作替代模式說明。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eagle/operators/adaptive.py:46-50</a:t>
            </a:r>
          </a:p>
          <a:p xmlns:a="http://schemas.openxmlformats.org/drawingml/2006/main">
            <a:r>
              <a:t>eagle/operators/adaptive.py:118-124</a:t>
            </a:r>
          </a:p>
          <a:p xmlns:a="http://schemas.openxmlformats.org/drawingml/2006/main">
            <a:r>
              <a:t>eagle/operators/adaptive.py:509-538</a:t>
            </a:r>
          </a:p>
          <a:p xmlns:a="http://schemas.openxmlformats.org/drawingml/2006/main">
            <a:r>
              <a:t>eagle/config.py:608-616</a:t>
            </a:r>
          </a:p>
          <a:p xmlns:a="http://schemas.openxmlformats.org/drawingml/2006/main">
            <a:r>
              <a:t>eagle/evolution/offspring.py:295-315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沿component provenance找到策略來源，不用未評估child的比賽，也不按prompt文字猜父代。只做一場Match Commentator，Coach仍收到global_evaluation_summary。角色回應與DSL皆驗證，有界重試後失敗便記錄。Legacy sample_count/sample_budget可讀，但有效count固定1。單場限制只適用commentator選場，不縮減Coach背景。 格式／契約錯誤有界重試，LLMServerError可直接中止流程。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eagle/operators/strategy.py:180-247</a:t>
            </a:r>
          </a:p>
          <a:p xmlns:a="http://schemas.openxmlformats.org/drawingml/2006/main">
            <a:r>
              <a:t>eagle/operators/strategy.py:273-360</a:t>
            </a:r>
          </a:p>
          <a:p xmlns:a="http://schemas.openxmlformats.org/drawingml/2006/main">
            <a:r>
              <a:t>eagle/operators/strategy.py:715-800</a:t>
            </a:r>
          </a:p>
          <a:p xmlns:a="http://schemas.openxmlformats.org/drawingml/2006/main">
            <a:r>
              <a:t>eagle/operators/strategy.py:1269-1277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先排除無completed outcome記錄，按match_id去重，優先有限performance。缺performance則用loss/draw/win的−100/0/100。最低同分按stable match_id。−1000是failed sentinel不能當有效最差戰役。最差場trace缺失或commentator重試耗盡，反思失敗，不替換coverage、隨機或第二差。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eagle/operators/strategy.py:715-800</a:t>
            </a:r>
          </a:p>
          <a:p xmlns:a="http://schemas.openxmlformats.org/drawingml/2006/main">
            <a:r>
              <a:t>eagle/operators/strategy.py:225-289</a:t>
            </a:r>
          </a:p>
          <a:p xmlns:a="http://schemas.openxmlformats.org/drawingml/2006/main">
            <a:r>
              <a:t>tests/test_strategy_reflection_evidence.py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Coach有all-match aggregate、parent comparison、mutation intent與behaviors to preserve等有限結構證據，避免以一局偶然推斷全局。輸出是合法DSL，不是無界自然語言policy。非法field、action、unit或過大條件樹都不能直接進演化。策略來源有lineage，其他prompt與Java沿crossover既有來源保留。 有界重試不涵蓋所有backend傳輸例外，LLMServerError會直接往外傳遞。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eagle/operators/strategy.py:273-370</a:t>
            </a:r>
          </a:p>
          <a:p xmlns:a="http://schemas.openxmlformats.org/drawingml/2006/main">
            <a:r>
              <a:t>eagle/operators/reflection_prompts.py:17-30</a:t>
            </a:r>
          </a:p>
          <a:p xmlns:a="http://schemas.openxmlformats.org/drawingml/2006/main">
            <a:r>
              <a:t>eagle/operators/strategy_compliance.py</a:t>
            </a:r>
          </a:p>
          <a:p xmlns:a="http://schemas.openxmlformats.org/drawingml/2006/main">
            <a:r>
              <a:t>eagle/evolution/offspring.py:295-350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Prompt Reflection改生成指示，不用戰術trace自行換策略。Reviewer僅看marked editable strategy region，避免改immutable scaffold。輸入budget分區，source malformed時保留extraction failure，不擴大到scaffold。Rewrite不能綁candidate ID、臨時路徑或完整具體程式，應可重用。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eagle/operators/prompt.py:300-389</a:t>
            </a:r>
          </a:p>
          <a:p xmlns:a="http://schemas.openxmlformats.org/drawingml/2006/main">
            <a:r>
              <a:t>eagle/operators/reflection_prompts.py:25-32</a:t>
            </a:r>
          </a:p>
          <a:p xmlns:a="http://schemas.openxmlformats.org/drawingml/2006/main">
            <a:r>
              <a:t>eagle/operators/reflection_prompts.py:105-145</a:t>
            </a:r>
          </a:p>
          <a:p xmlns:a="http://schemas.openxmlformats.org/drawingml/2006/main">
            <a:r>
              <a:t>eagle/operators/reusable_prompt.py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μ=population_size，λ=同數子代。下一代可保留舊父代，不完全由孩子取代。completed不足μ即raise，不用failed補位。快照變更時用重評parent replicas。Scalar tier錨於remaining最大值，非連鎖。Fixed-roster lexicase則從remaining逐次選，移除所選ID，再選至μ。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eagle/operators/selection.py:70-136</a:t>
            </a:r>
          </a:p>
          <a:p xmlns:a="http://schemas.openxmlformats.org/drawingml/2006/main">
            <a:r>
              <a:t>eagle/operators/selection.py:174-242</a:t>
            </a:r>
          </a:p>
          <a:p xmlns:a="http://schemas.openxmlformats.org/drawingml/2006/main">
            <a:r>
              <a:t>eagle/evolution/generation.py:207-231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第一例C98.8不在top tier，100為錨；第二例C99.2則進tier，三人但僅兩位，此時行為多樣性才參與。References含已選倖存者，每次選最小距離最大的。Signature缺少或不相容時按完整證據與seeded fallback。Code Quality與文字niche不加入排序。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eagle/operators/selection.py:174-282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run_generation_step由fresh和resume共享。Reflection phase做普通reflection與來源code diagnosis；generation phase才materialize Code修復、生成和編譯。評估後operator rewards/update，static只記錄usage。策略archive與error memory更新，再選倖存者、寫checkpoint。Self-play library在週期刷新加入當時source parents，不是每個孩子即時入庫。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eagle/evolution/generation.py:91-288</a:t>
            </a:r>
          </a:p>
          <a:p xmlns:a="http://schemas.openxmlformats.org/drawingml/2006/main">
            <a:r>
              <a:t>eagle/evolution/offspring.py:295-426</a:t>
            </a:r>
          </a:p>
          <a:p xmlns:a="http://schemas.openxmlformats.org/drawingml/2006/main">
            <a:r>
              <a:t>eagle/operators/adaptive.py:509-538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替代適應模式在評估後按算子彙總reward，Q=(1−α)Q+α meanReward，再probability matching。Self-play要求static，沒有自動提高某種mutation機率。aos_minimum_probability.10在static不改比例，也非額外10%Code gate。Credit取自父子評估／對戰證據，不由LLM打reward。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eagle/operators/adaptive.py:46-124</a:t>
            </a:r>
          </a:p>
          <a:p xmlns:a="http://schemas.openxmlformats.org/drawingml/2006/main">
            <a:r>
              <a:t>eagle/operators/adaptive.py:195-273</a:t>
            </a:r>
          </a:p>
          <a:p xmlns:a="http://schemas.openxmlformats.org/drawingml/2006/main">
            <a:r>
              <a:t>eagle/operators/adaptive.py:509-538</a:t>
            </a:r>
          </a:p>
          <a:p xmlns:a="http://schemas.openxmlformats.org/drawingml/2006/main">
            <a:r>
              <a:t>eagle/config.py:608-616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1013 generations3、stagnation25，通常先到3代上限。停滯不是簡單比較ID，而是selection-state signature。Best在GP同分時按candidate.id確定tie。中斷／失敗是其他manifest status，可由完成generation恢復，不能當正常完成執行Final Test。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eagle/evolution/search.py:246-303</a:t>
            </a:r>
          </a:p>
          <a:p xmlns:a="http://schemas.openxmlformats.org/drawingml/2006/main">
            <a:r>
              <a:t>eagle/evolution/generation.py:232-288</a:t>
            </a:r>
          </a:p>
          <a:p xmlns:a="http://schemas.openxmlformats.org/drawingml/2006/main">
            <a:r>
              <a:t>eagle/operators/selection.py:139-172</a:t>
            </a:r>
          </a:p>
          <a:p xmlns:a="http://schemas.openxmlformats.org/drawingml/2006/main">
            <a:r>
              <a:t>configs/experiments/1013_match_workers_11_seed7_3runs/ministral3_8b_match_workers_11_seed7_3runs.yaml:25-49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Self-play library是真正pool來源。Strategy archive是niche診斷。Opponent_archive.py按固定case最高分從candidate snapshots導出報表，不控制輪替，也不另存opponents.json。Error memory歸一化路徑、行號、ID，按signature彙整count，取最常見top3作上下文，避免重複全部raw log。Code_check audit不算演化個體。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eagle/run_artifacts.py:106-201</a:t>
            </a:r>
          </a:p>
          <a:p xmlns:a="http://schemas.openxmlformats.org/drawingml/2006/main">
            <a:r>
              <a:t>eagle/artifacts.py</a:t>
            </a:r>
          </a:p>
          <a:p xmlns:a="http://schemas.openxmlformats.org/drawingml/2006/main">
            <a:r>
              <a:t>eagle/self_play.py:16-20</a:t>
            </a:r>
          </a:p>
          <a:p xmlns:a="http://schemas.openxmlformats.org/drawingml/2006/main">
            <a:r>
              <a:t>eagle/opponent_archive.py:13-42</a:t>
            </a:r>
          </a:p>
          <a:p xmlns:a="http://schemas.openxmlformats.org/drawingml/2006/main">
            <a:r>
              <a:t>eagle/strategy_diversity.py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SHA-256 derive_seed從root與task keys分流，避免worker時序消耗共用亂數。1013 seeds[7]且runs3為7/7/7，若[7,8,9]且runs3則每seed3次。Temperature0與request seed不保證不同GPU、engine、quantization、JVM bitwise一致。現在random_seed就是root contract，無需deterministic_mode。本簡報未新增實測。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eagle/evaluation/determinism.py</a:t>
            </a:r>
          </a:p>
          <a:p xmlns:a="http://schemas.openxmlformats.org/drawingml/2006/main">
            <a:r>
              <a:t>eagle/evolution/offspring.py:69-76</a:t>
            </a:r>
          </a:p>
          <a:p xmlns:a="http://schemas.openxmlformats.org/drawingml/2006/main">
            <a:r>
              <a:t>eagle/evaluation/matches.py</a:t>
            </a:r>
          </a:p>
          <a:p xmlns:a="http://schemas.openxmlformats.org/drawingml/2006/main">
            <a:r>
              <a:t>eagle/experiment.py</a:t>
            </a:r>
          </a:p>
          <a:p xmlns:a="http://schemas.openxmlformats.org/drawingml/2006/main">
            <a:r>
              <a:t>eagle/config.py:125-128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load_resume_config要求current strategy_policy_format與EVOLUTION_PROTOCOL。對手snapshot按completed_generation向下對齊interval，再核對context hash。不能任意更改population、selection、evaluation contract後繼用舊分數。Decoder拒絕覆寫已持久化attempt evidence。這些限制保留可審查lineage與checkpoint一致性。 不是從checkpoint讀取歷史RNG游標；resume以random.Random(config.random_seed)重建，再以task identity派生streams。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eagle/evolution/resume.py:69-81</a:t>
            </a:r>
          </a:p>
          <a:p xmlns:a="http://schemas.openxmlformats.org/drawingml/2006/main">
            <a:r>
              <a:t>eagle/evolution/resume.py:96-207</a:t>
            </a:r>
          </a:p>
          <a:p xmlns:a="http://schemas.openxmlformats.org/drawingml/2006/main">
            <a:r>
              <a:t>eagle/evolution/resume.py:213-300</a:t>
            </a:r>
          </a:p>
          <a:p xmlns:a="http://schemas.openxmlformats.org/drawingml/2006/main">
            <a:r>
              <a:t>eagle/self_play.py:264-292</a:t>
            </a:r>
          </a:p>
          <a:p xmlns:a="http://schemas.openxmlformats.org/drawingml/2006/main">
            <a:r>
              <a:t>eagle/evaluation/decoding.py:109-116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Fallback不是self-play GP tier，也不是lexicase隨機case。七case固定lightrush/heavyrush/workerrush/allinbot/mayari/coac/tma，缺值−1000，ID排序建立ties。Self-play缺固定case時比較資訊受限，主流程宜summary best或明確ID。記錄fallback generation，不能聲稱一定最後代champion。 對本簡報self-play主線，七個固定case全部缺少，fallback向量全部相同，最後實際由ID排序決定。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eagle/final_test.py:126-203</a:t>
            </a:r>
          </a:p>
          <a:p xmlns:a="http://schemas.openxmlformats.org/drawingml/2006/main">
            <a:r>
              <a:t>eagle/final_test.py:227-233</a:t>
            </a:r>
          </a:p>
          <a:p xmlns:a="http://schemas.openxmlformats.org/drawingml/2006/main">
            <a:r>
              <a:t>eagle/evaluation/pipeline.py:482-527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Search每圖3round、Final每side10場，故180和600不同。逐場記seed、candidate/source/class hash、opponent、map、side、failure。Final可平行，但矩陣固定。Orchestrator搜尋後執行，mock或skip-final-test跳過。跨run需固定map/tick/scoring/roster，不可直接比不同self-play search GP。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eagle/final_test.py:35-39</a:t>
            </a:r>
          </a:p>
          <a:p xmlns:a="http://schemas.openxmlformats.org/drawingml/2006/main">
            <a:r>
              <a:t>eagle/final_test.py:259-389</a:t>
            </a:r>
          </a:p>
          <a:p xmlns:a="http://schemas.openxmlformats.org/drawingml/2006/main">
            <a:r>
              <a:t>eagle/experiment.py</a:t>
            </a:r>
          </a:p>
          <a:p xmlns:a="http://schemas.openxmlformats.org/drawingml/2006/main">
            <a:r>
              <a:t>eagle/cli/experiment.py:24-40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population2、generations3、runs3、seed7是研究規模。Timeout120秒、workers9控制對戰。短run無gen5週期refresh，但gen1 context migration可能發生。設定.33/.33/.34實際Strategy/Prompt各.5、Code獨立gate。不同配置可改數值，不能描述為所有版本固定常數。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configs/experiments/1013_match_workers_11_seed7_3runs/ministral3_8b_match_workers_11_seed7_3runs.yaml:14-66</a:t>
            </a:r>
          </a:p>
          <a:p xmlns:a="http://schemas.openxmlformats.org/drawingml/2006/main">
            <a:r>
              <a:t>eagle/operators/adaptive.py:118-124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假設generations至少5，不能當1013真的跑gen5，因其僅設定3代。Library更新只在初始化與refresh，不是所有新子代立即入庫。任何代的Code缺陷可形成單親修復。共享snapshot確保μ+λ比較；run完成後固定600場測試，library不控制Final roster。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eagle/evolution/search.py:159-245</a:t>
            </a:r>
          </a:p>
          <a:p xmlns:a="http://schemas.openxmlformats.org/drawingml/2006/main">
            <a:r>
              <a:t>eagle/evolution/generation.py:91-231</a:t>
            </a:r>
          </a:p>
          <a:p xmlns:a="http://schemas.openxmlformats.org/drawingml/2006/main">
            <a:r>
              <a:t>eagle/self_play.py:23-27</a:t>
            </a:r>
          </a:p>
          <a:p xmlns:a="http://schemas.openxmlformats.org/drawingml/2006/main">
            <a:r>
              <a:t>本頁數值／個體為說明演算法的教學示例，非實驗量測。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來源少時循環填槽會形成不均source multiplicity，不能據10slots聲稱10種敵人。若追成本應用timing.jsonl與完成generation timings，gen0、週期父代重評、Code diagnosis/revision各有成本。平行執行下wall time與stage／match時間加總不同。本次講流程，沒有跑新實驗，不宣稱新性能或因果結論。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eagle/self_play.py:30-35</a:t>
            </a:r>
          </a:p>
          <a:p xmlns:a="http://schemas.openxmlformats.org/drawingml/2006/main">
            <a:r>
              <a:t>eagle/evaluation/semantic_signature.py:1-8</a:t>
            </a:r>
          </a:p>
          <a:p xmlns:a="http://schemas.openxmlformats.org/drawingml/2006/main">
            <a:r>
              <a:t>eagle/timing.py</a:t>
            </a:r>
          </a:p>
          <a:p xmlns:a="http://schemas.openxmlformats.org/drawingml/2006/main">
            <a:r>
              <a:t>eagle/final_test.py:259-389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版本截點：2026-10-13。程式版本：1fa6662e (ea9c588d DSL / pre-crossover Code Reflection)。</a:t>
            </a:r>
          </a:p>
          <a:p xmlns:a="http://schemas.openxmlformats.org/drawingml/2006/main">
            <a:r>
              <a:t>回應格式與契約錯誤可以有界重試；LLMServerError在ReflectionStage與Code revision明確rethrow，所以不保證每個故障都轉成一個正常failed candidate。通常返回的不健康Code診斷仍占一個corrective slot，plan_offspring規劃到population_size。核心pipeline失敗有failure_stage/reason與sentinel。Self-play全部來源不能執行時pool construction會報錯。μ+λ完成候選不足時拒絕補failed個體。已完成checkpoint仍可恢復，部分generation證據保留audit。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eagle/operators/reflection.py:523-569</a:t>
            </a:r>
          </a:p>
          <a:p xmlns:a="http://schemas.openxmlformats.org/drawingml/2006/main">
            <a:r>
              <a:t>eagle/operators/code.py:303-357</a:t>
            </a:r>
          </a:p>
          <a:p xmlns:a="http://schemas.openxmlformats.org/drawingml/2006/main">
            <a:r>
              <a:t>eagle/evolution/offspring.py:45-154</a:t>
            </a:r>
          </a:p>
          <a:p xmlns:a="http://schemas.openxmlformats.org/drawingml/2006/main">
            <a:r>
              <a:t>eagle/operators/selection.py:105-121</a:t>
            </a:r>
          </a:p>
          <a:p xmlns:a="http://schemas.openxmlformats.org/drawingml/2006/main">
            <a:r>
              <a:t>eagle/run_artifacts.py:70-104</a:t>
            </a:r>
          </a:p>
          <a:p xmlns:a="http://schemas.openxmlformats.org/drawingml/2006/main">
            <a:r>
              <a:t>eagle/evolution/resume.py:96-207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5e51702e347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7dabc90a548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a1ecaff4746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69d5ed60d4e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c5dca16d445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81bd2c55d4e5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ca614117c840d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a23dee563481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9518b2eb14b3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c0b645f524ee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5c2926584241d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9817860c9437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7814fe2f2425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b555ef9c6474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9a4fbf036409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3aceac3674a3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d2de389a0401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3cb17e0434751" /></Relationships>
</file>

<file path=ppt/slideLayouts/slideLayout1.xml><?xml version="1.0" encoding="utf-8"?>
<p:sldLayout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D779401-8411-4F57-B364-00A08D3D0F7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4FF8C53-65A6-4BE2-B1C3-0860FCD540B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2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EA91A40-BDBE-4EF8-AB1C-C163BF4B89CC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DC12639-B266-46C5-BCF3-45A4D32AE4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3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4F8BDA3-F257-4248-9C77-277658BEC42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D4EB3D-E8EE-422C-AC16-9B2450B7C42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4.xml><?xml version="1.0" encoding="utf-8"?>
<p:sldLayout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5331F0-3B10-4BF6-A2A3-3DEA2BDE891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8176649-BADB-4675-AA89-5F227F3F39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0BDD597-05AF-4E7D-B7DE-872D8C1368D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AAEABEC-89D6-436E-9471-497DE5F8CC7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6.xml><?xml version="1.0" encoding="utf-8"?>
<p:sldLayout xmlns:p="http://schemas.openxmlformats.org/presentationml/2006/main" preserve="1">
  <p:cSld name="三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81AA091-155C-4B49-B3CF-270208548CF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4CC2CF-DFA1-4FF2-9601-EFC4BA57938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7.xml><?xml version="1.0" encoding="utf-8"?>
<p:sldLayout xmlns:p="http://schemas.openxmlformats.org/presentationml/2006/main" type="picTx" preserve="1">
  <p:cSld name="圖片及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DBA40DA-42D4-45CA-9121-B12303C8820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C3B0106-61B7-472E-AA5A-C33DCAE7DD6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8.xml><?xml version="1.0" encoding="utf-8"?>
<p:sldLayout xmlns:p="http://schemas.openxmlformats.org/presentationml/2006/main" type="objTx" preserve="1">
  <p:cSld name="內容與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607BD56-5922-42EE-8673-E8BDB8AA8B1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10DA2E-972D-47CE-8ED2-D648217896E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9.xml><?xml version="1.0" encoding="utf-8"?>
<p:sldLayout xmlns:p="http://schemas.openxmlformats.org/presentationml/2006/main" preserve="1">
  <p:cSld name="標題及表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A4B2483-08AD-4AAB-8D54-B0244854A19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A177D9-44BB-4EE7-B2EE-483B651A823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0.xml><?xml version="1.0" encoding="utf-8"?>
<p:sldLayout xmlns:p="http://schemas.openxmlformats.org/presentationml/2006/main" preserve="1">
  <p:cSld name="標題及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7B59490-7503-487F-B730-A18C57E284F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AA3F53-A20A-43C4-B655-9BABD8BDE39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1.xml><?xml version="1.0" encoding="utf-8"?>
<p:sldLayout xmlns:p="http://schemas.openxmlformats.org/presentationml/2006/main" type="titleOnly" preserve="1">
  <p:cSld name="僅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CCC836C-38EF-42B8-9F8F-EC9AB2895889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FA42C01-117D-4BA1-BE6C-78A506A620B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BFBA9E9-D342-40B9-A850-43AECAABBC7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8360F44-9DDB-4760-BE5D-FBB78FF4F62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3.xml><?xml version="1.0" encoding="utf-8"?>
<p:sldLayout xmlns:p="http://schemas.openxmlformats.org/presentationml/2006/main">
  <p:cSld name="完整演算法流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C45608E-360F-43AE-A70F-CBC25CFD9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1D113AC-898D-41F6-9ECC-A116F98519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CF84FE4-7AFF-4FB6-AD21-1081171453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14500" y="2533650"/>
            <a:ext cx="124968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[以可編輯節點、連線與分支放入完整流程]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68F2BF6A-101B-4C08-868D-51489139A07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迭代細節與失敗分支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E772812-B376-4292-B7DC-F69D6AFDD5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3D1E37B-96ED-49CF-9885-14F28CA3B3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4EEC0F-80BA-462F-9F3D-5DCF1BC97E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14500" y="2533650"/>
            <a:ext cx="124968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[以可編輯節點、連線與分支放入完整流程]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AFE0DDD3-2014-44E4-BA86-0356DC208AC8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實驗結果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BD11E234-2890-4D9E-9BD1-FB90E5526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CF821D3-F700-48E9-B364-4E34591678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E5037F9F-C2C8-47F1-8EC8-69E886E326DE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1666875" y="2533650"/>
            <a:ext cx="7572375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[量測資料圖表]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3BCC7E98-58AF-4E44-825F-B1E83EFAB5F6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9715500" y="2667000"/>
            <a:ext cx="4524375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[數值、單位、樣本與來源]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BBD12D10-8171-4B26-AD3D-A8DB635BF2A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耗時與成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3C4424CD-B7CB-4152-8DE4-69A9C2CF9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B98FBC3-D73E-4FBC-9BF4-EDF7036886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0D76A34-2FB7-4768-B9A2-DD77D2C2FBA3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1666875" y="2533650"/>
            <a:ext cx="7572375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[量測資料圖表]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5B2DA84A-9CBE-4B1B-B2C5-436F38CDA074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9715500" y="2667000"/>
            <a:ext cx="4524375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[數值、單位、樣本與來源]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F17160D-33C4-42A5-9A93-DE706AF69DB0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比較分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5B43807-3063-4E37-B06D-A1600E3A7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DA31CE5-EE2A-4D77-9BB6-6D6982BAEA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C98C6D-827D-47F0-B20C-B6B2776C8CED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1428750" y="2571750"/>
            <a:ext cx="130683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[基準、方法、結果差、耗時差與控制條件]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8840C198-4883-4725-A761-9A9BF303D0D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809750" y="6191250"/>
            <a:ext cx="1230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[一個有證據的解讀與必要限制]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7EB90E6-BF7A-4F0E-8F35-02A99B74784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區間與逐次變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0A90EAA-49F5-4605-ACAA-3367CC8BD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3CAE9AC-B4FE-4539-A9D5-86FBF41F7A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6378AEB-2BFE-4B58-A383-FD6B59F1CDFA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1428750" y="2571750"/>
            <a:ext cx="130683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[日期／版本、before、after／目的、run、觀察影響]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04C6DF52-C32A-4039-B0E6-1CB40D6A713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809750" y="6191250"/>
            <a:ext cx="1230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[區間外基準的日期、版本、run ID 與選用原因]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4157F41-695F-4AAE-A7BD-E6182CD00A7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faeccfb36b14b32" /><Relationship Type="http://schemas.openxmlformats.org/officeDocument/2006/relationships/theme" Target="/ppt/slideMasters/theme/theme2.xml" Id="R72588a16027746c0" /><Relationship Type="http://schemas.openxmlformats.org/officeDocument/2006/relationships/slideLayout" Target="/ppt/slideLayouts/slideLayout1.xml" Id="Rb35cfc1d94004d6f" /><Relationship Type="http://schemas.openxmlformats.org/officeDocument/2006/relationships/slideLayout" Target="/ppt/slideLayouts/slideLayout2.xml" Id="R9d30382eacdf4057" /><Relationship Type="http://schemas.openxmlformats.org/officeDocument/2006/relationships/slideLayout" Target="/ppt/slideLayouts/slideLayout3.xml" Id="R2180621b064b4622" /><Relationship Type="http://schemas.openxmlformats.org/officeDocument/2006/relationships/slideLayout" Target="/ppt/slideLayouts/slideLayout4.xml" Id="R50c41ebf3d314282" /><Relationship Type="http://schemas.openxmlformats.org/officeDocument/2006/relationships/slideLayout" Target="/ppt/slideLayouts/slideLayout5.xml" Id="R1c264fb345cf4387" /><Relationship Type="http://schemas.openxmlformats.org/officeDocument/2006/relationships/slideLayout" Target="/ppt/slideLayouts/slideLayout6.xml" Id="Rb223a5739aa84ce7" /><Relationship Type="http://schemas.openxmlformats.org/officeDocument/2006/relationships/slideLayout" Target="/ppt/slideLayouts/slideLayout7.xml" Id="Ra1f0fa98fd954290" /><Relationship Type="http://schemas.openxmlformats.org/officeDocument/2006/relationships/slideLayout" Target="/ppt/slideLayouts/slideLayout8.xml" Id="R6400a15b9ac24c89" /><Relationship Type="http://schemas.openxmlformats.org/officeDocument/2006/relationships/slideLayout" Target="/ppt/slideLayouts/slideLayout9.xml" Id="R77a7a443bb0443de" /><Relationship Type="http://schemas.openxmlformats.org/officeDocument/2006/relationships/slideLayout" Target="/ppt/slideLayouts/slideLayout10.xml" Id="R3a112ee0169b481c" /><Relationship Type="http://schemas.openxmlformats.org/officeDocument/2006/relationships/slideLayout" Target="/ppt/slideLayouts/slideLayout11.xml" Id="Ra6566c94e41747fd" /><Relationship Type="http://schemas.openxmlformats.org/officeDocument/2006/relationships/slideLayout" Target="/ppt/slideLayouts/slideLayout12.xml" Id="Rf6f86d14d04e473d" /><Relationship Type="http://schemas.openxmlformats.org/officeDocument/2006/relationships/slideLayout" Target="/ppt/slideLayouts/slideLayout13.xml" Id="R7a36ed998e9844dd" /><Relationship Type="http://schemas.openxmlformats.org/officeDocument/2006/relationships/slideLayout" Target="/ppt/slideLayouts/slideLayout14.xml" Id="Re3ba612524df4a30" /><Relationship Type="http://schemas.openxmlformats.org/officeDocument/2006/relationships/slideLayout" Target="/ppt/slideLayouts/slideLayout15.xml" Id="R5149ec31d60f4b09" /><Relationship Type="http://schemas.openxmlformats.org/officeDocument/2006/relationships/slideLayout" Target="/ppt/slideLayouts/slideLayout16.xml" Id="R3ff127e391a44612" /><Relationship Type="http://schemas.openxmlformats.org/officeDocument/2006/relationships/slideLayout" Target="/ppt/slideLayouts/slideLayout17.xml" Id="Ra4842c29f031402a" /><Relationship Type="http://schemas.openxmlformats.org/officeDocument/2006/relationships/slideLayout" Target="/ppt/slideLayouts/slideLayout18.xml" Id="R6a119d0af3ca4451" /></Relationships>
</file>

<file path=ppt/slideMasters/slideMaster1.xml><?xml version="1.0" encoding="utf-8"?>
<p:sldMaster xmlns:p="http://schemas.openxmlformats.org/presentationml/2006/main">
  <p:cSld name="EAGL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EAGLE geometric full-slide background">
            <a:extLst xmlns:a="http://schemas.openxmlformats.org/drawingml/2006/main">
              <a:ext uri="{FF2B5EF4-FFF2-40B4-BE49-F238E27FC236}">
                <a16:creationId xmlns:a16="http://schemas.microsoft.com/office/drawing/2014/main" id="{67927124-904F-45A3-AB6D-06B1C0881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eccfb36b14b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cfc1d94004d6f"/>
    <p:sldLayoutId xmlns:r="http://schemas.openxmlformats.org/officeDocument/2006/relationships" id="2147483650" r:id="R9d30382eacdf4057"/>
    <p:sldLayoutId xmlns:r="http://schemas.openxmlformats.org/officeDocument/2006/relationships" id="2147483651" r:id="R2180621b064b4622"/>
    <p:sldLayoutId xmlns:r="http://schemas.openxmlformats.org/officeDocument/2006/relationships" id="2147483652" r:id="R50c41ebf3d314282"/>
    <p:sldLayoutId xmlns:r="http://schemas.openxmlformats.org/officeDocument/2006/relationships" id="2147483653" r:id="R1c264fb345cf4387"/>
    <p:sldLayoutId xmlns:r="http://schemas.openxmlformats.org/officeDocument/2006/relationships" id="2147483654" r:id="Rb223a5739aa84ce7"/>
    <p:sldLayoutId xmlns:r="http://schemas.openxmlformats.org/officeDocument/2006/relationships" id="2147483655" r:id="Ra1f0fa98fd954290"/>
    <p:sldLayoutId xmlns:r="http://schemas.openxmlformats.org/officeDocument/2006/relationships" id="2147483656" r:id="R6400a15b9ac24c89"/>
    <p:sldLayoutId xmlns:r="http://schemas.openxmlformats.org/officeDocument/2006/relationships" id="2147483657" r:id="R77a7a443bb0443de"/>
    <p:sldLayoutId xmlns:r="http://schemas.openxmlformats.org/officeDocument/2006/relationships" id="2147483658" r:id="R3a112ee0169b481c"/>
    <p:sldLayoutId xmlns:r="http://schemas.openxmlformats.org/officeDocument/2006/relationships" id="2147483659" r:id="Ra6566c94e41747fd"/>
    <p:sldLayoutId xmlns:r="http://schemas.openxmlformats.org/officeDocument/2006/relationships" id="2147483660" r:id="Rf6f86d14d04e473d"/>
    <p:sldLayoutId xmlns:r="http://schemas.openxmlformats.org/officeDocument/2006/relationships" id="2147483661" r:id="R7a36ed998e9844dd"/>
    <p:sldLayoutId xmlns:r="http://schemas.openxmlformats.org/officeDocument/2006/relationships" id="2147483662" r:id="Re3ba612524df4a30"/>
    <p:sldLayoutId xmlns:r="http://schemas.openxmlformats.org/officeDocument/2006/relationships" id="2147483663" r:id="R5149ec31d60f4b09"/>
    <p:sldLayoutId xmlns:r="http://schemas.openxmlformats.org/officeDocument/2006/relationships" id="2147483664" r:id="R3ff127e391a44612"/>
    <p:sldLayoutId xmlns:r="http://schemas.openxmlformats.org/officeDocument/2006/relationships" id="2147483665" r:id="Ra4842c29f031402a"/>
    <p:sldLayoutId xmlns:r="http://schemas.openxmlformats.org/officeDocument/2006/relationships" id="2147483666" r:id="R6a119d0af3ca4451"/>
  </p:sldLayoutIdLst>
  <p:hf sldNum="1"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Masters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f2682040684d65" /><Relationship Type="http://schemas.openxmlformats.org/officeDocument/2006/relationships/notesSlide" Target="/ppt/notesSlides/notesSlide1.xml" Id="Rb4ce4299441843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645d172f513438e" /><Relationship Type="http://schemas.openxmlformats.org/officeDocument/2006/relationships/notesSlide" Target="/ppt/notesSlides/notesSlide2.xml" Id="R7aa448eef5fe4e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dd08d0fb766462e" /><Relationship Type="http://schemas.openxmlformats.org/officeDocument/2006/relationships/notesSlide" Target="/ppt/notesSlides/notesSlide3.xml" Id="Rf6a9fe3b551141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72171966cc9465c" /><Relationship Type="http://schemas.openxmlformats.org/officeDocument/2006/relationships/notesSlide" Target="/ppt/notesSlides/notesSlide4.xml" Id="Rd5ecf4517b3746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e6e3951b704416c" /><Relationship Type="http://schemas.openxmlformats.org/officeDocument/2006/relationships/notesSlide" Target="/ppt/notesSlides/notesSlide5.xml" Id="Rc6762cbd46114f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b0b53addf94704" /><Relationship Type="http://schemas.openxmlformats.org/officeDocument/2006/relationships/notesSlide" Target="/ppt/notesSlides/notesSlide6.xml" Id="R602e096bac874f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a4debd19d6a4649" /><Relationship Type="http://schemas.openxmlformats.org/officeDocument/2006/relationships/notesSlide" Target="/ppt/notesSlides/notesSlide7.xml" Id="Ra07b53d0444e4d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5db65b44624737" /><Relationship Type="http://schemas.openxmlformats.org/officeDocument/2006/relationships/notesSlide" Target="/ppt/notesSlides/notesSlide8.xml" Id="R0ab496acf8134e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2274cc7baed48b4" /><Relationship Type="http://schemas.openxmlformats.org/officeDocument/2006/relationships/notesSlide" Target="/ppt/notesSlides/notesSlide9.xml" Id="R7dad3cfd7fba4d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3d78fd589c34ae7" /><Relationship Type="http://schemas.openxmlformats.org/officeDocument/2006/relationships/notesSlide" Target="/ppt/notesSlides/notesSlide10.xml" Id="R2dec59b79fbc4e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e91a4f5afd4a54" /><Relationship Type="http://schemas.openxmlformats.org/officeDocument/2006/relationships/notesSlide" Target="/ppt/notesSlides/notesSlide11.xml" Id="R45371a2d579049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482f10e954a4455" /><Relationship Type="http://schemas.openxmlformats.org/officeDocument/2006/relationships/notesSlide" Target="/ppt/notesSlides/notesSlide12.xml" Id="R44f71b4c78a842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54dd383a3ed4d3f" /><Relationship Type="http://schemas.openxmlformats.org/officeDocument/2006/relationships/notesSlide" Target="/ppt/notesSlides/notesSlide13.xml" Id="R81b99a9f0fa24a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c576573835548bc" /><Relationship Type="http://schemas.openxmlformats.org/officeDocument/2006/relationships/notesSlide" Target="/ppt/notesSlides/notesSlide14.xml" Id="R02044389031347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7b2ae9143f44633" /><Relationship Type="http://schemas.openxmlformats.org/officeDocument/2006/relationships/notesSlide" Target="/ppt/notesSlides/notesSlide15.xml" Id="R11df98ace8a446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474f9064f5f45fb" /><Relationship Type="http://schemas.openxmlformats.org/officeDocument/2006/relationships/notesSlide" Target="/ppt/notesSlides/notesSlide16.xml" Id="Rf13fd55a37a04d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44c12aa7d94a6c" /><Relationship Type="http://schemas.openxmlformats.org/officeDocument/2006/relationships/notesSlide" Target="/ppt/notesSlides/notesSlide17.xml" Id="R813e173f464647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2ecc4048a5483e" /><Relationship Type="http://schemas.openxmlformats.org/officeDocument/2006/relationships/notesSlide" Target="/ppt/notesSlides/notesSlide18.xml" Id="R36d4f5ca5a7147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461d09f18945a7" /><Relationship Type="http://schemas.openxmlformats.org/officeDocument/2006/relationships/notesSlide" Target="/ppt/notesSlides/notesSlide19.xml" Id="Rce4e359a05ee4a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d08f52a3174c48" /><Relationship Type="http://schemas.openxmlformats.org/officeDocument/2006/relationships/notesSlide" Target="/ppt/notesSlides/notesSlide20.xml" Id="Rcd654ab791b74fc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e71d0ca5e7e4570" /><Relationship Type="http://schemas.openxmlformats.org/officeDocument/2006/relationships/notesSlide" Target="/ppt/notesSlides/notesSlide21.xml" Id="R17b4507c6f734c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7e3c12809e24acb" /><Relationship Type="http://schemas.openxmlformats.org/officeDocument/2006/relationships/notesSlide" Target="/ppt/notesSlides/notesSlide22.xml" Id="Rc998c537c34f4ed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63b4828f1bf4229" /><Relationship Type="http://schemas.openxmlformats.org/officeDocument/2006/relationships/notesSlide" Target="/ppt/notesSlides/notesSlide23.xml" Id="R2cb79f850fa3493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1ca61093744f12" /><Relationship Type="http://schemas.openxmlformats.org/officeDocument/2006/relationships/notesSlide" Target="/ppt/notesSlides/notesSlide24.xml" Id="Rd55f0b79c5a34b0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1535ca120604b3f" /><Relationship Type="http://schemas.openxmlformats.org/officeDocument/2006/relationships/notesSlide" Target="/ppt/notesSlides/notesSlide25.xml" Id="R8b3162127d48408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a15e6d1dee4d28" /><Relationship Type="http://schemas.openxmlformats.org/officeDocument/2006/relationships/notesSlide" Target="/ppt/notesSlides/notesSlide26.xml" Id="R5c9d3c540c474b8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6ac752b1cce44ff" /><Relationship Type="http://schemas.openxmlformats.org/officeDocument/2006/relationships/notesSlide" Target="/ppt/notesSlides/notesSlide27.xml" Id="R910be07a4742457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0efc0f5698e4d33" /><Relationship Type="http://schemas.openxmlformats.org/officeDocument/2006/relationships/notesSlide" Target="/ppt/notesSlides/notesSlide28.xml" Id="R693b6ab11dbf44b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c0f96028dc4ac3" /><Relationship Type="http://schemas.openxmlformats.org/officeDocument/2006/relationships/notesSlide" Target="/ppt/notesSlides/notesSlide29.xml" Id="R211347ec93dd45d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88fe125936e4170" /><Relationship Type="http://schemas.openxmlformats.org/officeDocument/2006/relationships/notesSlide" Target="/ppt/notesSlides/notesSlide30.xml" Id="Rfeff2964601c4cb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57cc8af50474512" /><Relationship Type="http://schemas.openxmlformats.org/officeDocument/2006/relationships/notesSlide" Target="/ppt/notesSlides/notesSlide31.xml" Id="Rb028cf35adf846f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d59780999c84251" /><Relationship Type="http://schemas.openxmlformats.org/officeDocument/2006/relationships/notesSlide" Target="/ppt/notesSlides/notesSlide32.xml" Id="R4c05fb8c6383425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40182a729f944a6" /><Relationship Type="http://schemas.openxmlformats.org/officeDocument/2006/relationships/notesSlide" Target="/ppt/notesSlides/notesSlide33.xml" Id="Re267888ab294416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4bfa728e7e442ea" /><Relationship Type="http://schemas.openxmlformats.org/officeDocument/2006/relationships/notesSlide" Target="/ppt/notesSlides/notesSlide34.xml" Id="R05165688891b449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7d2bcde7b6841b5" /><Relationship Type="http://schemas.openxmlformats.org/officeDocument/2006/relationships/notesSlide" Target="/ppt/notesSlides/notesSlide35.xml" Id="Raf47c85867d14d9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02bcc351db540f7" /><Relationship Type="http://schemas.openxmlformats.org/officeDocument/2006/relationships/notesSlide" Target="/ppt/notesSlides/notesSlide36.xml" Id="R01e735fffb62499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48cc079fa754e6e" /><Relationship Type="http://schemas.openxmlformats.org/officeDocument/2006/relationships/notesSlide" Target="/ppt/notesSlides/notesSlide37.xml" Id="R7bbb74e648b640d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890e50b1eea4987" /><Relationship Type="http://schemas.openxmlformats.org/officeDocument/2006/relationships/notesSlide" Target="/ppt/notesSlides/notesSlide38.xml" Id="R1a1c7c1299964cb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dc8178d50e4932" /><Relationship Type="http://schemas.openxmlformats.org/officeDocument/2006/relationships/notesSlide" Target="/ppt/notesSlides/notesSlide39.xml" Id="Re92507b6cf54489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e2e286d37684882" /><Relationship Type="http://schemas.openxmlformats.org/officeDocument/2006/relationships/notesSlide" Target="/ppt/notesSlides/notesSlide40.xml" Id="R105c834b928c4d5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390f3144cc44c19" /><Relationship Type="http://schemas.openxmlformats.org/officeDocument/2006/relationships/notesSlide" Target="/ppt/notesSlides/notesSlide41.xml" Id="R89a340fd99e34e2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3de42e8682447ad" /><Relationship Type="http://schemas.openxmlformats.org/officeDocument/2006/relationships/notesSlide" Target="/ppt/notesSlides/notesSlide42.xml" Id="R73e8c79d0a5a455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8afe510ca74a17" /><Relationship Type="http://schemas.openxmlformats.org/officeDocument/2006/relationships/notesSlide" Target="/ppt/notesSlides/notesSlide43.xml" Id="R5ead4cf0991a4a5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b87e074901842c4" /><Relationship Type="http://schemas.openxmlformats.org/officeDocument/2006/relationships/notesSlide" Target="/ppt/notesSlides/notesSlide44.xml" Id="R53a3c64c8450467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c07744d3b144a6" /><Relationship Type="http://schemas.openxmlformats.org/officeDocument/2006/relationships/notesSlide" Target="/ppt/notesSlides/notesSlide45.xml" Id="R8d93c311b397488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b326b09b1f34d3d" /><Relationship Type="http://schemas.openxmlformats.org/officeDocument/2006/relationships/notesSlide" Target="/ppt/notesSlides/notesSlide46.xml" Id="R87b4675e28c54ca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21839ec3dfb4170" /><Relationship Type="http://schemas.openxmlformats.org/officeDocument/2006/relationships/notesSlide" Target="/ppt/notesSlides/notesSlide47.xml" Id="R9f317112b4d74fa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3a73d94a47e40c0" /><Relationship Type="http://schemas.openxmlformats.org/officeDocument/2006/relationships/notesSlide" Target="/ppt/notesSlides/notesSlide48.xml" Id="Rea43465914614d8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05687e6785747e8" /><Relationship Type="http://schemas.openxmlformats.org/officeDocument/2006/relationships/notesSlide" Target="/ppt/notesSlides/notesSlide49.xml" Id="Rc889ab9c96c441c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b22641407cf4030" /><Relationship Type="http://schemas.openxmlformats.org/officeDocument/2006/relationships/notesSlide" Target="/ppt/notesSlides/notesSlide50.xml" Id="Rc7d5f01422d7467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114d59712824358" /><Relationship Type="http://schemas.openxmlformats.org/officeDocument/2006/relationships/notesSlide" Target="/ppt/notesSlides/notesSlide51.xml" Id="R8daed62ac1f84746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3B9AA8AF-27AF-40D1-A030-245AA37FA20A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當前版本完整流程</a:t>
            </a:r>
          </a:p>
        </p:txBody>
      </p:sp>
      <p:sp>
        <p:nvSpPr>
          <p:cNvPr id="2" name="text-1">
            <a:extLst>
              <a:ext uri="{FF2B5EF4-FFF2-40B4-BE49-F238E27FC236}">
                <ns2:creationId id="{FA719AC6-6BEE-4C69-B8A2-34959270BD48}"/>
              </a:ext>
            </a:extLst>
          </p:cNvPr>
          <p:cNvSpPr>
            <a:spLocks noGrp="1"/>
          </p:cNvSpPr>
          <p:nvPr/>
        </p:nvSpPr>
        <p:spPr>
          <a:xfrm>
            <a:off x="2047875" y="3105150"/>
            <a:ext cx="118300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策略、程式與演化搜尋</a:t>
            </a:r>
          </a:p>
        </p:txBody>
      </p:sp>
      <p:sp>
        <p:nvSpPr>
          <p:cNvPr id="3" name="text-2">
            <a:extLst>
              <a:ext uri="{FF2B5EF4-FFF2-40B4-BE49-F238E27FC236}">
                <ns2:creationId id="{0E2775FF-6EFD-437C-A233-6A0C56E24D63}"/>
              </a:ext>
            </a:extLst>
          </p:cNvPr>
          <p:cNvSpPr>
            <a:spLocks noGrp="1"/>
          </p:cNvSpPr>
          <p:nvPr/>
        </p:nvSpPr>
        <p:spPr>
          <a:xfrm>
            <a:off x="2476500" y="4981575"/>
            <a:ext cx="10972800" cy="167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Opponent pool、父代選擇與倖存者選擇</a:t>
            </a:r>
          </a:p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2026-10-13　程式版本 1fa6662e</a:t>
            </a:r>
          </a:p>
        </p:txBody>
      </p:sp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</a:p>
        </p:txBody>
      </p:sp>
    </p:spTree>
    <p:extLst>
      <p:ext uri="{BB962C8B-B14F-4D97-AF65-F5344CB8AC3E}">
        <ns3:creationId val="161559510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F439E319-C7C6-4659-A6DE-DD581F13151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版本與本簡報的設定主線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D51B97BB-BADF-4E9A-8FBE-FB2C939A3F13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238500"/>
                <a:gridCol w="9544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目前實作與主線設定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演化協定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eagle-dsl-pre-crossover-v1，策略使用DSL JSON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主線模式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1013 YAML：self_play、inherited_genotype、static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搜尋規模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population 2，演化3代，seed 7各執行3 runs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實際平行度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YAML為match_workers=9，檔名仍含workers_11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</a:p>
        </p:txBody>
      </p:sp>
    </p:spTree>
    <p:extLst>
      <p:ext uri="{BB962C8B-B14F-4D97-AF65-F5344CB8AC3E}">
        <ns3:creationId val="156115481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7" name="">
            <a:extLst>
              <a:ext uri="{FF2B5EF4-FFF2-40B4-BE49-F238E27FC236}">
                <ns2:creationId id="{829C98ED-7550-4951-B534-B33EA618B5E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191125" y="7038975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6" name="">
            <a:extLst>
              <a:ext uri="{FF2B5EF4-FFF2-40B4-BE49-F238E27FC236}">
                <ns2:creationId id="{D2C6A854-6695-451E-980C-CA2411951833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476625" y="5591175"/>
            <a:ext cx="0" cy="97155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5" name="">
            <a:extLst>
              <a:ext uri="{FF2B5EF4-FFF2-40B4-BE49-F238E27FC236}">
                <ns2:creationId id="{7E8C0423-5690-4EFB-9DDF-92BCB0AFE4CA}"/>
              </a:ext>
            </a:extLst>
          </p:cNvPr>
          <p:cNvCxnSpPr>
            <a:stCxn id="7" idx="0"/>
            <a:endCxn id="5" idx="0"/>
          </p:cNvCxnSpPr>
          <p:nvPr/>
        </p:nvCxnSpPr>
        <p:spPr>
          <a:xfrm>
            <a:off x="3476625" y="3867150"/>
            <a:ext cx="8972550" cy="647700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4" name="">
            <a:extLst>
              <a:ext uri="{FF2B5EF4-FFF2-40B4-BE49-F238E27FC236}">
                <ns2:creationId id="{B36B1928-CCD3-4319-A557-A5B6A2C20BE2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4714875" y="4991100"/>
            <a:ext cx="15335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71E89F77-62C6-44D3-AC67-86CE1A24FB11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77400" y="4991100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E18028C9-65DF-403C-9BF9-5A0249084C24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449175" y="3429000"/>
            <a:ext cx="0" cy="108585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B5EAA15E-EE55-455D-96BD-3149E3920168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77400" y="2952750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C0D20AEC-53EB-4511-A76E-3A614D34DB7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20" name="text-0">
            <a:extLst>
              <a:ext uri="{FF2B5EF4-FFF2-40B4-BE49-F238E27FC236}">
                <ns2:creationId id="{859B1DE2-7A47-43D2-B77A-284FE2CD1908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完整搜尋流程</a:t>
            </a:r>
          </a:p>
        </p:txBody>
      </p:sp>
      <p:sp>
        <p:nvSpPr>
          <p:cNvPr id="2" name="config">
            <a:extLst>
              <a:ext uri="{FF2B5EF4-FFF2-40B4-BE49-F238E27FC236}">
                <ns2:creationId id="{8AF728DB-ECE2-4B05-80EC-889477BE5255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設定、seed、模型</a:t>
            </a:r>
          </a:p>
        </p:txBody>
      </p:sp>
      <p:sp>
        <p:nvSpPr>
          <p:cNvPr id="3" name="init">
            <a:extLst>
              <a:ext uri="{FF2B5EF4-FFF2-40B4-BE49-F238E27FC236}">
                <ns2:creationId id="{B63711B8-9E35-42B8-A1CF-13D3D0AD3E75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初始化generation 0</a:t>
            </a:r>
          </a:p>
        </p:txBody>
      </p:sp>
      <p:sp>
        <p:nvSpPr>
          <p:cNvPr id="4" name="eval">
            <a:extLst>
              <a:ext uri="{FF2B5EF4-FFF2-40B4-BE49-F238E27FC236}">
                <ns2:creationId id="{DCA65CDB-DB05-47C2-919B-41B7423D1BD1}"/>
              </a:ext>
            </a:extLst>
          </p:cNvPr>
          <p:cNvSpPr>
            <a:spLocks noGrp="1"/>
          </p:cNvSpPr>
          <p:nvPr/>
        </p:nvSpPr>
        <p:spPr>
          <a:xfrm>
            <a:off x="107346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Java生成與初始評估</a:t>
            </a:r>
          </a:p>
        </p:txBody>
      </p:sp>
      <p:sp>
        <p:nvSpPr>
          <p:cNvPr id="5" name="iterate">
            <a:extLst>
              <a:ext uri="{FF2B5EF4-FFF2-40B4-BE49-F238E27FC236}">
                <ns2:creationId id="{B9EA6AC3-477A-471B-B8B1-2F895C2A3E7B}"/>
              </a:ext>
            </a:extLst>
          </p:cNvPr>
          <p:cNvSpPr>
            <a:spLocks noGrp="1"/>
          </p:cNvSpPr>
          <p:nvPr/>
        </p:nvSpPr>
        <p:spPr>
          <a:xfrm>
            <a:off x="10734675" y="45148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繁殖、反思、子代評估</a:t>
            </a:r>
          </a:p>
        </p:txBody>
      </p:sp>
      <p:sp>
        <p:nvSpPr>
          <p:cNvPr id="6" name="state">
            <a:extLst>
              <a:ext uri="{FF2B5EF4-FFF2-40B4-BE49-F238E27FC236}">
                <ns2:creationId id="{35CC9DE4-DEE4-49EC-96D6-AA091656F4D3}"/>
              </a:ext>
            </a:extLst>
          </p:cNvPr>
          <p:cNvSpPr>
            <a:spLocks noGrp="1"/>
          </p:cNvSpPr>
          <p:nvPr/>
        </p:nvSpPr>
        <p:spPr>
          <a:xfrm>
            <a:off x="6248400" y="45148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選倖存者、記錄狀態</a:t>
            </a:r>
          </a:p>
        </p:txBody>
      </p:sp>
      <p:sp>
        <p:nvSpPr>
          <p:cNvPr id="7" name="stop">
            <a:extLst>
              <a:ext uri="{FF2B5EF4-FFF2-40B4-BE49-F238E27FC236}">
                <ns2:creationId id="{DB8F020F-F5C6-4BD5-98EA-BD1282A5B5AF}"/>
              </a:ext>
            </a:extLst>
          </p:cNvPr>
          <p:cNvSpPr>
            <a:spLocks noGrp="1"/>
          </p:cNvSpPr>
          <p:nvPr/>
        </p:nvSpPr>
        <p:spPr>
          <a:xfrm>
            <a:off x="2238375" y="4391025"/>
            <a:ext cx="2476500" cy="120015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停止？</a:t>
            </a:r>
          </a:p>
        </p:txBody>
      </p:sp>
      <p:sp>
        <p:nvSpPr>
          <p:cNvPr id="8" name="test">
            <a:extLst>
              <a:ext uri="{FF2B5EF4-FFF2-40B4-BE49-F238E27FC236}">
                <ns2:creationId id="{D595C895-BD1F-4221-BDBE-4D114D7188A4}"/>
              </a:ext>
            </a:extLst>
          </p:cNvPr>
          <p:cNvSpPr>
            <a:spLocks noGrp="1"/>
          </p:cNvSpPr>
          <p:nvPr/>
        </p:nvSpPr>
        <p:spPr>
          <a:xfrm>
            <a:off x="1762125" y="656272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完成run，Final Test</a:t>
            </a:r>
          </a:p>
        </p:txBody>
      </p:sp>
      <p:sp>
        <p:nvSpPr>
          <p:cNvPr id="9" name="output">
            <a:extLst>
              <a:ext uri="{FF2B5EF4-FFF2-40B4-BE49-F238E27FC236}">
                <ns2:creationId id="{2EE62070-11F5-4E32-932A-A7632C0B9424}"/>
              </a:ext>
            </a:extLst>
          </p:cNvPr>
          <p:cNvSpPr>
            <a:spLocks noGrp="1"/>
          </p:cNvSpPr>
          <p:nvPr/>
        </p:nvSpPr>
        <p:spPr>
          <a:xfrm>
            <a:off x="6248400" y="656272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摘要、代理與對戰紀錄</a:t>
            </a:r>
          </a:p>
        </p:txBody>
      </p:sp>
      <p:sp>
        <p:nvSpPr>
          <p:cNvPr id="18" name="text-17">
            <a:extLst>
              <a:ext uri="{FF2B5EF4-FFF2-40B4-BE49-F238E27FC236}">
                <ns2:creationId id="{08EA72F8-A041-4B3E-B43F-2039254E97CE}"/>
              </a:ext>
            </a:extLst>
          </p:cNvPr>
          <p:cNvSpPr>
            <a:spLocks noGrp="1"/>
          </p:cNvSpPr>
          <p:nvPr/>
        </p:nvSpPr>
        <p:spPr>
          <a:xfrm>
            <a:off x="6238875" y="398145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19" name="text-18">
            <a:extLst>
              <a:ext uri="{FF2B5EF4-FFF2-40B4-BE49-F238E27FC236}">
                <ns2:creationId id="{88DDA9B0-E13B-44C5-BF44-41AD8F583D66}"/>
              </a:ext>
            </a:extLst>
          </p:cNvPr>
          <p:cNvSpPr>
            <a:spLocks noGrp="1"/>
          </p:cNvSpPr>
          <p:nvPr/>
        </p:nvSpPr>
        <p:spPr>
          <a:xfrm>
            <a:off x="2971800" y="5924550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1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</a:p>
        </p:txBody>
      </p:sp>
    </p:spTree>
    <p:extLst>
      <p:ext uri="{BB962C8B-B14F-4D97-AF65-F5344CB8AC3E}">
        <ns3:creationId val="646857374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95F74F09-AFCF-4B9D-A4F1-EA1E8F88E7A9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一個Candidate的組成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E363D6AD-66D8-4085-A25C-689F0D22C91A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571750"/>
                <a:gridCol w="5191125"/>
                <a:gridCol w="501967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層次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內容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策略基因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strategy_prompt：有序DSL規則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決定應採取的遊戲行為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生成基因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generation_prompt：可重用生成指示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指導LLM如何實作策略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Java基因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inherited_java、java_parent_id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主線保留可遺傳的完整程式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表型與證據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Java表型、評分、signature、來源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執行評估與追蹤來源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</a:p>
        </p:txBody>
      </p:sp>
    </p:spTree>
    <p:extLst>
      <p:ext uri="{BB962C8B-B14F-4D97-AF65-F5344CB8AC3E}">
        <ns3:creationId val="1984681394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00991B99-9E87-408C-A2C4-333F8DC12460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策略DSL的規則與執行語意</a:t>
            </a:r>
          </a:p>
        </p:txBody>
      </p:sp>
      <p:sp>
        <p:nvSpPr>
          <p:cNvPr id="2" name="text-1">
            <a:extLst>
              <a:ext uri="{FF2B5EF4-FFF2-40B4-BE49-F238E27FC236}">
                <ns2:creationId id="{E341E7CB-320D-474C-BF15-E402B10A1EFA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每條規則包含actor、when、action，規則陣列順序就是優先順序。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BEE66878-D3F2-4261-8871-CFDC3B37552D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依單位ID處理閒置友軍，選第一條條件成立且能合法發出動作的規則。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4B0934CC-71BD-4403-A115-80373CF8D36C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缺目標、路徑不可達、資源不足或位置衝突時，繼續嘗試後面的規則。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8C69FFEF-2246-4DDE-99EB-200F06B711EC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每個actor每cycle最多一個動作，同步預留資源與目的格。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</a:p>
        </p:txBody>
      </p:sp>
    </p:spTree>
    <p:extLst>
      <p:ext uri="{BB962C8B-B14F-4D97-AF65-F5344CB8AC3E}">
        <ns3:creationId val="157778355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D4CCD577-7AFA-40E2-954A-03C449A2A8E0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WorkerRush策略的規則順序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145060B6-79BB-461E-9E63-9E616C7E6A44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143250"/>
                <a:gridCol w="3143250"/>
                <a:gridCol w="6496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Actor／順序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動作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Base／1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true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合法且資源足夠時訓練Worker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Worker／2、3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actor_id_rank &lt; 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依序嘗試return、harvest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Worker／4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true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engage最近的敵方Base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Worker／5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true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engage最近的任一敵方單位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</a:p>
        </p:txBody>
      </p:sp>
    </p:spTree>
    <p:extLst>
      <p:ext uri="{BB962C8B-B14F-4D97-AF65-F5344CB8AC3E}">
        <ns3:creationId val="939426449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882B85C6-B43F-4E84-8367-140D14D179F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第0代的初始化</a:t>
            </a:r>
          </a:p>
        </p:txBody>
      </p:sp>
      <p:sp>
        <p:nvSpPr>
          <p:cNvPr id="2" name="text-1">
            <a:extLst>
              <a:ext uri="{FF2B5EF4-FFF2-40B4-BE49-F238E27FC236}">
                <ns2:creationId id="{E3922612-E5A5-4650-9D4F-F944334FE528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主線先放一個WorkerRush策略seed，剩餘slot由LLM產生策略。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E47E4A00-4E87-4176-BBC0-4C807236CC94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非seed slot帶固定strategy identity，引導同seed下的生成目標。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6FFC8699-8B3E-4E26-B8AC-1C2FD5C08CEF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主線初始個體帶WorkerRush Java seed，再交給Generator實作其策略。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4D32D9DD-A35B-4B16-922E-80BE46817D20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初始個體完成Java流程與評估後，建立對手庫及第0代紀錄。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</a:p>
        </p:txBody>
      </p:sp>
    </p:spTree>
    <p:extLst>
      <p:ext uri="{BB962C8B-B14F-4D97-AF65-F5344CB8AC3E}">
        <ns3:creationId val="646087471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6DA4E8F3-9908-43E8-B684-C94EE292D217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LLM角色的輸入與輸出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9973576C-D232-43AF-BD17-352924DA8849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190875"/>
                <a:gridCol w="5381625"/>
                <a:gridCol w="4210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角色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輸入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輸出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Policy Generator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seed策略與slot identity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經驗證的策略DSL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Generator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DSL、生成prompt、scaffold／父代Java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完整CandidateAgent.java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Commentator／Coach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單場trace／全場摘要、來源策略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戰術診斷與新策略提案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Prompt／Code Reflection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限定程式證據、API契約、策略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生成指示修訂／Java診斷與修復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</a:p>
        </p:txBody>
      </p:sp>
    </p:spTree>
    <p:extLst>
      <p:ext uri="{BB962C8B-B14F-4D97-AF65-F5344CB8AC3E}">
        <ns3:creationId val="1151470251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DBC64F2C-E78E-4E28-8126-DBD0698227B2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Java評估的依賴順序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E5889917-0740-4771-B700-FA08B8C6AE00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381375"/>
                <a:gridCol w="5810250"/>
                <a:gridCol w="359092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階段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執行內容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通過後才進行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Generation／Validation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擷取完整Java，檢查策略區域與scaffold契約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Compilation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Compilation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javac編譯單一CandidateAgent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Integration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Integration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確認MicroRTS能載入並呼叫代理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完整對戰矩陣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Matches／診斷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計分、失敗分類、Code Quality、probes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寫入Candidate與artifacts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</a:p>
        </p:txBody>
      </p:sp>
    </p:spTree>
    <p:extLst>
      <p:ext uri="{BB962C8B-B14F-4D97-AF65-F5344CB8AC3E}">
        <ns3:creationId val="75580303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3" name="">
            <a:extLst>
              <a:ext uri="{FF2B5EF4-FFF2-40B4-BE49-F238E27FC236}">
                <ns2:creationId id="{10A84E0C-8677-40FB-95DB-76720CD4C23E}"/>
              </a:ext>
            </a:extLst>
          </p:cNvPr>
          <p:cNvCxnSpPr>
            <a:stCxn id="6" idx="1"/>
            <a:endCxn id="7" idx="0"/>
          </p:cNvCxnSpPr>
          <p:nvPr/>
        </p:nvCxnSpPr>
        <p:spPr>
          <a:xfrm flipH="1">
            <a:off x="3476625" y="5029200"/>
            <a:ext cx="2771775" cy="1285875"/>
          </a:xfrm>
          <a:prstGeom prst="bentConnector2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109EC342-035D-4D6F-B4D5-CCF25CFB6C0D}"/>
              </a:ext>
            </a:extLst>
          </p:cNvPr>
          <p:cNvCxnSpPr>
            <a:stCxn id="6" idx="0"/>
            <a:endCxn id="3" idx="2"/>
          </p:cNvCxnSpPr>
          <p:nvPr/>
        </p:nvCxnSpPr>
        <p:spPr>
          <a:xfrm flipV="1">
            <a:off x="7962900" y="3476625"/>
            <a:ext cx="0" cy="107632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8347490A-0FE4-4385-ACCE-DC12C503B545}"/>
              </a:ext>
            </a:extLst>
          </p:cNvPr>
          <p:cNvCxnSpPr>
            <a:stCxn id="4" idx="1"/>
            <a:endCxn id="6" idx="3"/>
          </p:cNvCxnSpPr>
          <p:nvPr/>
        </p:nvCxnSpPr>
        <p:spPr>
          <a:xfrm flipH="1">
            <a:off x="9677400" y="3019425"/>
            <a:ext cx="1466850" cy="2009775"/>
          </a:xfrm>
          <a:prstGeom prst="bentConnector3">
            <a:avLst>
              <a:gd name="adj1" fmla="val 15584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9CC13D15-E9BC-4CD1-AC35-2976A8DBC821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382500" y="3619500"/>
            <a:ext cx="266700" cy="2695575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A99A65D6-DDD5-4561-98B2-09BF4AC99404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77400" y="3000375"/>
            <a:ext cx="1466850" cy="190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D9608BCD-3EBD-4B8F-9818-176D3007FA6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3000375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8" name="text-0">
            <a:extLst>
              <a:ext uri="{FF2B5EF4-FFF2-40B4-BE49-F238E27FC236}">
                <ns2:creationId id="{58E90A3C-D0D3-4DEB-B3F5-555B305B5888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生成與編譯修復分支</a:t>
            </a:r>
          </a:p>
        </p:txBody>
      </p:sp>
      <p:sp>
        <p:nvSpPr>
          <p:cNvPr id="2" name="request">
            <a:extLst>
              <a:ext uri="{FF2B5EF4-FFF2-40B4-BE49-F238E27FC236}">
                <ns2:creationId id="{835F31C5-C5D6-43E2-8E05-4465809D6A73}"/>
              </a:ext>
            </a:extLst>
          </p:cNvPr>
          <p:cNvSpPr>
            <a:spLocks noGrp="1"/>
          </p:cNvSpPr>
          <p:nvPr/>
        </p:nvSpPr>
        <p:spPr>
          <a:xfrm>
            <a:off x="1762125" y="252412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基因輸入／Code修復輸出</a:t>
            </a:r>
          </a:p>
        </p:txBody>
      </p:sp>
      <p:sp>
        <p:nvSpPr>
          <p:cNvPr id="3" name="valid">
            <a:extLst>
              <a:ext uri="{FF2B5EF4-FFF2-40B4-BE49-F238E27FC236}">
                <ns2:creationId id="{6A23E871-DD9E-4957-82A0-0F5C933BE410}"/>
              </a:ext>
            </a:extLst>
          </p:cNvPr>
          <p:cNvSpPr>
            <a:spLocks noGrp="1"/>
          </p:cNvSpPr>
          <p:nvPr/>
        </p:nvSpPr>
        <p:spPr>
          <a:xfrm>
            <a:off x="6248400" y="252412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4" name="ok">
            <a:extLst>
              <a:ext uri="{FF2B5EF4-FFF2-40B4-BE49-F238E27FC236}">
                <ns2:creationId id="{C1083868-1A21-411F-8E4F-C2E8D95E5703}"/>
              </a:ext>
            </a:extLst>
          </p:cNvPr>
          <p:cNvSpPr>
            <a:spLocks noGrp="1"/>
          </p:cNvSpPr>
          <p:nvPr/>
        </p:nvSpPr>
        <p:spPr>
          <a:xfrm>
            <a:off x="11144250" y="2419350"/>
            <a:ext cx="2476500" cy="120015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通過？</a:t>
            </a:r>
          </a:p>
        </p:txBody>
      </p:sp>
      <p:sp>
        <p:nvSpPr>
          <p:cNvPr id="5" name="done">
            <a:extLst>
              <a:ext uri="{FF2B5EF4-FFF2-40B4-BE49-F238E27FC236}">
                <ns2:creationId id="{514A27FC-9A79-4A18-BC6E-E2BEA36B28E6}"/>
              </a:ext>
            </a:extLst>
          </p:cNvPr>
          <p:cNvSpPr>
            <a:spLocks noGrp="1"/>
          </p:cNvSpPr>
          <p:nvPr/>
        </p:nvSpPr>
        <p:spPr>
          <a:xfrm>
            <a:off x="10734675" y="631507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固定class，Integration</a:t>
            </a:r>
          </a:p>
        </p:txBody>
      </p:sp>
      <p:sp>
        <p:nvSpPr>
          <p:cNvPr id="6" name="repair">
            <a:extLst>
              <a:ext uri="{FF2B5EF4-FFF2-40B4-BE49-F238E27FC236}">
                <ns2:creationId id="{C19C57DC-F7F1-48F9-B2D8-BA7E229FB815}"/>
              </a:ext>
            </a:extLst>
          </p:cNvPr>
          <p:cNvSpPr>
            <a:spLocks noGrp="1"/>
          </p:cNvSpPr>
          <p:nvPr/>
        </p:nvSpPr>
        <p:spPr>
          <a:xfrm>
            <a:off x="6248400" y="45529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修復Java／重新解碼</a:t>
            </a:r>
          </a:p>
        </p:txBody>
      </p:sp>
      <p:sp>
        <p:nvSpPr>
          <p:cNvPr id="7" name="failed">
            <a:extLst>
              <a:ext uri="{FF2B5EF4-FFF2-40B4-BE49-F238E27FC236}">
                <ns2:creationId id="{207A6D90-A3ED-4C8A-9495-1079A2971E23}"/>
              </a:ext>
            </a:extLst>
          </p:cNvPr>
          <p:cNvSpPr>
            <a:spLocks noGrp="1"/>
          </p:cNvSpPr>
          <p:nvPr/>
        </p:nvSpPr>
        <p:spPr>
          <a:xfrm>
            <a:off x="1762125" y="631507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上限耗盡：失敗記錄</a:t>
            </a:r>
          </a:p>
        </p:txBody>
      </p:sp>
      <p:sp>
        <p:nvSpPr>
          <p:cNvPr id="14" name="text-13">
            <a:extLst>
              <a:ext uri="{FF2B5EF4-FFF2-40B4-BE49-F238E27FC236}">
                <ns2:creationId id="{EBABF765-7D47-4FEF-BB63-7A6DF4E54E8A}"/>
              </a:ext>
            </a:extLst>
          </p:cNvPr>
          <p:cNvSpPr>
            <a:spLocks noGrp="1"/>
          </p:cNvSpPr>
          <p:nvPr/>
        </p:nvSpPr>
        <p:spPr>
          <a:xfrm>
            <a:off x="12058650" y="5410200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5" name="text-14">
            <a:extLst>
              <a:ext uri="{FF2B5EF4-FFF2-40B4-BE49-F238E27FC236}">
                <ns2:creationId id="{3B2202E6-DA82-43DE-884D-4271322118F4}"/>
              </a:ext>
            </a:extLst>
          </p:cNvPr>
          <p:cNvSpPr>
            <a:spLocks noGrp="1"/>
          </p:cNvSpPr>
          <p:nvPr/>
        </p:nvSpPr>
        <p:spPr>
          <a:xfrm>
            <a:off x="9810750" y="4076700"/>
            <a:ext cx="571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否</a:t>
            </a:r>
          </a:p>
        </p:txBody>
      </p:sp>
      <p:sp>
        <p:nvSpPr>
          <p:cNvPr id="16" name="text-15">
            <a:extLst>
              <a:ext uri="{FF2B5EF4-FFF2-40B4-BE49-F238E27FC236}">
                <ns2:creationId id="{6DB9D1EA-C842-41F5-B116-DC6873F98035}"/>
              </a:ext>
            </a:extLst>
          </p:cNvPr>
          <p:cNvSpPr>
            <a:spLocks noGrp="1"/>
          </p:cNvSpPr>
          <p:nvPr/>
        </p:nvSpPr>
        <p:spPr>
          <a:xfrm>
            <a:off x="6572250" y="3857625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尚可重試</a:t>
            </a:r>
          </a:p>
        </p:txBody>
      </p:sp>
      <p:sp>
        <p:nvSpPr>
          <p:cNvPr id="17" name="text-16">
            <a:extLst>
              <a:ext uri="{FF2B5EF4-FFF2-40B4-BE49-F238E27FC236}">
                <ns2:creationId id="{F1460A6C-3D81-431A-8341-07C4DE6977D1}"/>
              </a:ext>
            </a:extLst>
          </p:cNvPr>
          <p:cNvSpPr>
            <a:spLocks noGrp="1"/>
          </p:cNvSpPr>
          <p:nvPr/>
        </p:nvSpPr>
        <p:spPr>
          <a:xfrm>
            <a:off x="1809750" y="3914775"/>
            <a:ext cx="4191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有完整來源：compile repair</a:t>
            </a:r>
          </a:p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普通解碼無來源：重抽</a:t>
            </a:r>
          </a:p>
        </p:txBody>
      </p:sp>
      <p:sp>
        <p:nvSpPr>
          <p:cNvPr id="19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</a:p>
        </p:txBody>
      </p:sp>
    </p:spTree>
    <p:extLst>
      <p:ext uri="{BB962C8B-B14F-4D97-AF65-F5344CB8AC3E}">
        <ns3:creationId val="1158990680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D374677A-9E29-4EA0-9AB0-1DE3D3E6646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搜尋評估的180場對戰矩陣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6E0794C1-4172-4BBD-9678-380E69E1F9EA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238500"/>
                <a:gridCol w="9544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維度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主線設定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10個self-play slots，每slot 18場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地圖與上限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8×8：1500 ticks，16×16：3000，24×24：4000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重複與換邊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每圖3 rounds，每round candidate為p0、p1各一場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總數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× 3 maps × 3 rounds × 2 sides = 180場／個體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</a:p>
        </p:txBody>
      </p:sp>
    </p:spTree>
    <p:extLst>
      <p:ext uri="{BB962C8B-B14F-4D97-AF65-F5344CB8AC3E}">
        <ns3:creationId val="575225492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67701888-ACF1-4DDB-A2C6-F87ECABBD152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單場Game Performance計分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838C3517-6130-467D-B629-DD5B03588855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238500"/>
                <a:gridCol w="9544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定義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勝負分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勝+100、和0、敗−100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Material／Resource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5×tanh(平均單位價值差／10)；3×tanh(最終資源差／10)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時間shaping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敗：2×存活比例；勝：2×(1−存活比例)；和：0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總分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shaping限制在[−10,10]，單場分=勝負分＋shaping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</a:p>
        </p:txBody>
      </p:sp>
    </p:spTree>
    <p:extLst>
      <p:ext uri="{BB962C8B-B14F-4D97-AF65-F5344CB8AC3E}">
        <ns3:creationId val="807022510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827383D1-51FA-49CC-8A6B-42B13C68B6A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對手分數、搜尋fitness與診斷</a:t>
            </a:r>
          </a:p>
        </p:txBody>
      </p:sp>
      <p:sp>
        <p:nvSpPr>
          <p:cNvPr id="2" name="text-1">
            <a:extLst>
              <a:ext uri="{FF2B5EF4-FFF2-40B4-BE49-F238E27FC236}">
                <ns2:creationId id="{0925F6D7-584D-4971-8994-41745402A3D0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每對手score為其18場平均分，保留10個對手結果供診斷。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86DDE6F7-A36D-4BD2-85C3-F859BC9B0024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Self-play主線以等權平均GP選擇，semantic signature處理近似平手。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5885F38C-5913-4266-9C3C-F665018AB562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Fixed-roster的lexicase使用各對手case，aggregate GP供報告與代表個體。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4317EE63-B93F-40AB-B176-1538FF5E5BD7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Code Quality是程式複雜度診斷，沒有加入主線搜尋fitness。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</a:p>
        </p:txBody>
      </p:sp>
    </p:spTree>
    <p:extLst>
      <p:ext uri="{BB962C8B-B14F-4D97-AF65-F5344CB8AC3E}">
        <ns3:creationId val="1451012487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777EFB1D-F4B4-4DCB-97A5-B68821C9E84B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pool的兩種模式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43CCAF58-57EA-4A2E-BCE9-8208534F937F}"/>
              </a:ext>
            </a:extLst>
          </p:cNvPr>
          <p:cNvGraphicFramePr/>
          <p:nvPr/>
        </p:nvGraphicFramePr>
        <p:xfrm>
          <a:off x="1571625" y="2152650"/>
          <a:ext cx="12782550" cy="4038600"/>
        </p:xfrm>
        <a:graphic>
          <a:graphicData uri="http://schemas.openxmlformats.org/drawingml/2006/table">
            <a:tbl>
              <a:tblPr/>
              <a:tblGrid>
                <a:gridCol w="2571750"/>
                <a:gridCol w="5000625"/>
                <a:gridCol w="521017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模式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主要規則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fixed_roster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固定十個內建／外部代理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Registry與固定權重，父代用lexicase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self_play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初始可編譯個體與run-local對手庫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定期輪替快照，父代用GP＋semantic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完成run後的固定十個代理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獨立600場，共同比較口徑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</a:p>
        </p:txBody>
      </p:sp>
    </p:spTree>
    <p:extLst>
      <p:ext uri="{BB962C8B-B14F-4D97-AF65-F5344CB8AC3E}">
        <ns3:creationId val="1419926372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B2D2677F-0435-457F-B90F-15BF7E1FE2BA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Fixed roster的對手與權重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76CA9F1F-5244-45DA-B67A-FDDA6C1BF298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809875"/>
                <a:gridCol w="6257925"/>
                <a:gridCol w="37147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類別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Case／代理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搜尋權重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基礎行為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Passive、Random、RandomBiased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各0.5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Rush基準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LightRush、HeavyRush、WorkerRush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各1.0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外部代理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AllInBot、Mayari、COAC、TMA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各2.0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部署準備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 adapter、SafeAllInBot、外部JAR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檔案、版本、依賴檢查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</a:p>
        </p:txBody>
      </p:sp>
    </p:spTree>
    <p:extLst>
      <p:ext uri="{BB962C8B-B14F-4D97-AF65-F5344CB8AC3E}">
        <ns3:creationId val="1997265642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5" name="">
            <a:extLst>
              <a:ext uri="{FF2B5EF4-FFF2-40B4-BE49-F238E27FC236}">
                <ns2:creationId id="{2BAB4478-5BA1-4CC0-ABBE-4CC6AAAF6CA7}"/>
              </a:ext>
            </a:extLst>
          </p:cNvPr>
          <p:cNvCxnSpPr>
            <a:stCxn id="8" idx="3"/>
            <a:endCxn id="3" idx="2"/>
          </p:cNvCxnSpPr>
          <p:nvPr/>
        </p:nvCxnSpPr>
        <p:spPr>
          <a:xfrm flipV="1">
            <a:off x="5191125" y="3476625"/>
            <a:ext cx="2771775" cy="3762375"/>
          </a:xfrm>
          <a:prstGeom prst="bentConnector4">
            <a:avLst>
              <a:gd name="adj1" fmla="val 8247"/>
              <a:gd name="adj2" fmla="val 93924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4" name="">
            <a:extLst>
              <a:ext uri="{FF2B5EF4-FFF2-40B4-BE49-F238E27FC236}">
                <ns2:creationId id="{B6ADF0F3-73D9-496E-A0D6-C23CF343911D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476625" y="5619750"/>
            <a:ext cx="0" cy="11430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4A447AB0-1E23-4D74-88D7-0848D6D3583F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143500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B5F7C1AB-A22E-479D-9E51-3826D130A704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77400" y="5143500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9FE7AA4C-6066-4A3A-ADCB-A9F0EE13EDF2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449175" y="3476625"/>
            <a:ext cx="0" cy="119062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5BC3C986-3837-446E-81FA-50483AD8306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77400" y="3000375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47E00F0F-4E5E-4BC4-96F0-677A67889A23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3000375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6" name="text-0">
            <a:extLst>
              <a:ext uri="{FF2B5EF4-FFF2-40B4-BE49-F238E27FC236}">
                <ns2:creationId id="{D8E602AD-A689-4BCA-80A7-1A2720BE48AD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Self-play對手庫的資料流</a:t>
            </a:r>
          </a:p>
        </p:txBody>
      </p:sp>
      <p:sp>
        <p:nvSpPr>
          <p:cNvPr id="2" name="valid">
            <a:extLst>
              <a:ext uri="{FF2B5EF4-FFF2-40B4-BE49-F238E27FC236}">
                <ns2:creationId id="{2CE4E254-284E-4E9F-AB58-93760A92C2CB}"/>
              </a:ext>
            </a:extLst>
          </p:cNvPr>
          <p:cNvSpPr>
            <a:spLocks noGrp="1"/>
          </p:cNvSpPr>
          <p:nvPr/>
        </p:nvSpPr>
        <p:spPr>
          <a:xfrm>
            <a:off x="1762125" y="252412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初始成功個體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刷新時的父代</a:t>
            </a:r>
          </a:p>
        </p:txBody>
      </p:sp>
      <p:sp>
        <p:nvSpPr>
          <p:cNvPr id="3" name="dedup">
            <a:extLst>
              <a:ext uri="{FF2B5EF4-FFF2-40B4-BE49-F238E27FC236}">
                <ns2:creationId id="{EA7EEDA1-C55B-442E-82D6-DED7847E811C}"/>
              </a:ext>
            </a:extLst>
          </p:cNvPr>
          <p:cNvSpPr>
            <a:spLocks noGrp="1"/>
          </p:cNvSpPr>
          <p:nvPr/>
        </p:nvSpPr>
        <p:spPr>
          <a:xfrm>
            <a:off x="6248400" y="252412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ID、Java、semantic去重</a:t>
            </a:r>
          </a:p>
        </p:txBody>
      </p:sp>
      <p:sp>
        <p:nvSpPr>
          <p:cNvPr id="4" name="library">
            <a:extLst>
              <a:ext uri="{FF2B5EF4-FFF2-40B4-BE49-F238E27FC236}">
                <ns2:creationId id="{03809D1D-60B1-4CF4-A192-29F943891C16}"/>
              </a:ext>
            </a:extLst>
          </p:cNvPr>
          <p:cNvSpPr>
            <a:spLocks noGrp="1"/>
          </p:cNvSpPr>
          <p:nvPr/>
        </p:nvSpPr>
        <p:spPr>
          <a:xfrm>
            <a:off x="10734675" y="252412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FIFO library，容量50</a:t>
            </a:r>
          </a:p>
        </p:txBody>
      </p:sp>
      <p:sp>
        <p:nvSpPr>
          <p:cNvPr id="5" name="rotate">
            <a:extLst>
              <a:ext uri="{FF2B5EF4-FFF2-40B4-BE49-F238E27FC236}">
                <ns2:creationId id="{12231615-BC0F-4BE6-BD80-0AD4E562CB37}"/>
              </a:ext>
            </a:extLst>
          </p:cNvPr>
          <p:cNvSpPr>
            <a:spLocks noGrp="1"/>
          </p:cNvSpPr>
          <p:nvPr/>
        </p:nvSpPr>
        <p:spPr>
          <a:xfrm>
            <a:off x="10734675" y="46672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刷新epoch，輪替來源</a:t>
            </a:r>
          </a:p>
        </p:txBody>
      </p:sp>
      <p:sp>
        <p:nvSpPr>
          <p:cNvPr id="6" name="slots">
            <a:extLst>
              <a:ext uri="{FF2B5EF4-FFF2-40B4-BE49-F238E27FC236}">
                <ns2:creationId id="{5E6E43DD-B1C5-4955-B10F-520A2F4067D7}"/>
              </a:ext>
            </a:extLst>
          </p:cNvPr>
          <p:cNvSpPr>
            <a:spLocks noGrp="1"/>
          </p:cNvSpPr>
          <p:nvPr/>
        </p:nvSpPr>
        <p:spPr>
          <a:xfrm>
            <a:off x="6248400" y="46672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循環展開為10 slots</a:t>
            </a:r>
          </a:p>
        </p:txBody>
      </p:sp>
      <p:sp>
        <p:nvSpPr>
          <p:cNvPr id="7" name="eval">
            <a:extLst>
              <a:ext uri="{FF2B5EF4-FFF2-40B4-BE49-F238E27FC236}">
                <ns2:creationId id="{38143998-37A4-4FD4-A8F5-656276F8999A}"/>
              </a:ext>
            </a:extLst>
          </p:cNvPr>
          <p:cNvSpPr>
            <a:spLocks noGrp="1"/>
          </p:cNvSpPr>
          <p:nvPr/>
        </p:nvSpPr>
        <p:spPr>
          <a:xfrm>
            <a:off x="1762125" y="46672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父代與子代使用同快照</a:t>
            </a:r>
          </a:p>
        </p:txBody>
      </p:sp>
      <p:sp>
        <p:nvSpPr>
          <p:cNvPr id="8" name="next">
            <a:extLst>
              <a:ext uri="{FF2B5EF4-FFF2-40B4-BE49-F238E27FC236}">
                <ns2:creationId id="{671A8B07-7419-4EFC-A453-A043287B697B}"/>
              </a:ext>
            </a:extLst>
          </p:cNvPr>
          <p:cNvSpPr>
            <a:spLocks noGrp="1"/>
          </p:cNvSpPr>
          <p:nvPr/>
        </p:nvSpPr>
        <p:spPr>
          <a:xfrm>
            <a:off x="1762125" y="67627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刷新時加入當時父代</a:t>
            </a:r>
          </a:p>
        </p:txBody>
      </p:sp>
      <p:sp>
        <p:nvSpPr>
          <p:cNvPr id="1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</a:p>
        </p:txBody>
      </p:sp>
    </p:spTree>
    <p:extLst>
      <p:ext uri="{BB962C8B-B14F-4D97-AF65-F5344CB8AC3E}">
        <ns3:creationId val="381769778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DC11169D-5B28-4E3E-8A48-253A0507A22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對手庫的准入條件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38824664-BD0E-43EA-A9F5-05AF9807F3A8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238500"/>
                <a:gridCol w="9544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檢查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條件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程式可執行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generated_java非空，compile_status=success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評估完成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status為evaluated／complete，無failure stage／reason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對戰完整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完成預期match count，沒有未完成opponent結果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無合格來源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拒絕建立空self-play pool，回報錯誤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</a:p>
        </p:txBody>
      </p:sp>
    </p:spTree>
    <p:extLst>
      <p:ext uri="{BB962C8B-B14F-4D97-AF65-F5344CB8AC3E}">
        <ns3:creationId val="651878543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F56497B6-50D7-40FD-929F-C76B286E1A2C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對手去重的三個判定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9BA4C082-C4CD-4305-BC6C-85783B95E3E2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143250"/>
                <a:gridCol w="5429250"/>
                <a:gridCol w="4210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順序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相同判定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結果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1：Candidate ID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已含同一個ID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不再加入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2：Java SHA-256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不同ID，但Java完全相同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不再加入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3：行為等價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相容且完整的probe/action向量相同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不再加入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Signature unavailable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缺少完整行為證據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標記缺資料，仍做ID／Java去重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</a:p>
        </p:txBody>
      </p:sp>
    </p:spTree>
    <p:extLst>
      <p:ext uri="{BB962C8B-B14F-4D97-AF65-F5344CB8AC3E}">
        <ns3:creationId val="1394696389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6C8C0173-81EB-4B86-8F4B-8B6E3583A87D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FIFO容量管理示例</a:t>
            </a:r>
          </a:p>
        </p:txBody>
      </p:sp>
      <p:sp>
        <p:nvSpPr>
          <p:cNvPr id="2" name="text-1">
            <a:extLst>
              <a:ext uri="{FF2B5EF4-FFF2-40B4-BE49-F238E27FC236}">
                <ns2:creationId id="{4A16627C-2D10-4D52-B757-1BDF519F7850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容量4的教學例子，主線容量為50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28FA5FF2-AFFF-49A9-87D9-B44CD88C8DF5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333750"/>
                <a:gridCol w="4191000"/>
                <a:gridCol w="5257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步驟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Library順序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規則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A、B、C、D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依加入時間排序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加入E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B、C、D、E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超容量，移除最舊A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E的重複程式F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B、C、D、E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hash相同，F不加入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加入G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C、D、E、G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超容量，移除最舊B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</a:p>
        </p:txBody>
      </p:sp>
    </p:spTree>
    <p:extLst>
      <p:ext uri="{BB962C8B-B14F-4D97-AF65-F5344CB8AC3E}">
        <ns3:creationId val="2142124051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A11A2607-983A-40EC-BE7D-42A1C4B55B87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快照輪替的精確選擇規則</a:t>
            </a:r>
          </a:p>
        </p:txBody>
      </p:sp>
      <p:sp>
        <p:nvSpPr>
          <p:cNvPr id="2" name="text-1">
            <a:extLst>
              <a:ext uri="{FF2B5EF4-FFF2-40B4-BE49-F238E27FC236}">
                <ns2:creationId id="{E1B87E80-B199-47E5-A48E-F13DCC20C9D8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來源數k=min(library長度,10)，按library的既有順序取來源。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EA4EE76D-7623-4F7A-AF54-86E32C0CDA6E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epoch=generation // refresh_interval，start=(epoch × k) % library長度。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5DD444BE-D62F-42DE-BDCF-0DF2FA5C3B6E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從start連續取k個項目，跨尾端時回到開頭。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AF9C9137-5488-4952-998A-5467B3BCDA90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主線每5代刷新，快照期間的父子比較共享同一對手上下文。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</a:p>
        </p:txBody>
      </p:sp>
    </p:spTree>
    <p:extLst>
      <p:ext uri="{BB962C8B-B14F-4D97-AF65-F5344CB8AC3E}">
        <ns3:creationId val="1597237734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52230214-1846-41B8-8550-DF8CF8BF6509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輪替來源的索引示例</a:t>
            </a:r>
          </a:p>
        </p:txBody>
      </p:sp>
      <p:sp>
        <p:nvSpPr>
          <p:cNvPr id="2" name="text-1">
            <a:extLst>
              <a:ext uri="{FF2B5EF4-FFF2-40B4-BE49-F238E27FC236}">
                <ns2:creationId id="{C881F96C-75FE-4347-AC86-0D9F6BEB9E41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固定library=[A…L]，長度12，interval=5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FB4711C0-42C0-4D23-913F-66238880BB0C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571750"/>
                <a:gridCol w="3143250"/>
                <a:gridCol w="70675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代數／epoch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start與來源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形成的快照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gen0／0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start=0，k=10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A、B、C、D、E、F、G、H、I、J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gen5／1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start=10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K、L、A、B、C、D、E、F、G、H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gen10／2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start=8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I、J、K、L、A、B、C、D、E、F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前提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本例library沒有新增或淘汰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實際刷新按當下library計算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21</a:t>
            </a:fld>
          </a:p>
        </p:txBody>
      </p:sp>
    </p:spTree>
    <p:extLst>
      <p:ext uri="{BB962C8B-B14F-4D97-AF65-F5344CB8AC3E}">
        <ns3:creationId val="1486525423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9D630CDD-0167-4779-9DE4-DF8D1C09C242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少於十個來源時的slot展開</a:t>
            </a:r>
          </a:p>
        </p:txBody>
      </p:sp>
      <p:sp>
        <p:nvSpPr>
          <p:cNvPr id="2" name="text-1">
            <a:extLst>
              <a:ext uri="{FF2B5EF4-FFF2-40B4-BE49-F238E27FC236}">
                <ns2:creationId id="{A7A8673A-D8D6-4615-9D7A-7FD7CBE43B68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假設只有A、B、C三個可用來源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0BECB3CC-AED3-4F53-BCA2-34320B82CFB3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4953000"/>
                <a:gridCol w="4095750"/>
                <a:gridCol w="3733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Slot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場數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000、003、006、009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A，共4 slots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 × 18 = 72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001、004、007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B，共3 slots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 × 18 = 54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002、005、008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C，共3 slots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 × 18 = 54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總數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slots，3個來源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72 + 54 + 54 = 180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22</a:t>
            </a:fld>
          </a:p>
        </p:txBody>
      </p:sp>
    </p:spTree>
    <p:extLst>
      <p:ext uri="{BB962C8B-B14F-4D97-AF65-F5344CB8AC3E}">
        <ns3:creationId val="1952852966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785BCB20-7310-4438-AADC-9BE11511F96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刷新快照與父代重新計分</a:t>
            </a:r>
          </a:p>
        </p:txBody>
      </p:sp>
      <p:sp>
        <p:nvSpPr>
          <p:cNvPr id="2" name="text-1">
            <a:extLst>
              <a:ext uri="{FF2B5EF4-FFF2-40B4-BE49-F238E27FC236}">
                <ns2:creationId id="{33EC0764-6910-490C-B0B3-527297B27824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gen5、gen10…先將當時source parents加入library，再輪替並保存新快照。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A413EB23-9753-4B44-A0B6-B8D744EEF28E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建立父代fitness-refresh replicas，使用原Java對新快照重新評估。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42BFCE6E-C897-41F7-BB1F-500C9F8B4ABF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子代也對同一新快照完成評估，再合併父子選倖存者。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ABB2A8D2-0A15-43C4-98AA-6F35DB934399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evaluation_context_id不一致時，拒絕進行self-play倖存者選擇。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23</a:t>
            </a:fld>
          </a:p>
        </p:txBody>
      </p:sp>
    </p:spTree>
    <p:extLst>
      <p:ext uri="{BB962C8B-B14F-4D97-AF65-F5344CB8AC3E}">
        <ns3:creationId val="125695574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8354F58F-F973-46A9-88FB-5C6744D6744B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第0代到第1代的上下文銜接</a:t>
            </a:r>
          </a:p>
        </p:txBody>
      </p:sp>
      <p:sp>
        <p:nvSpPr>
          <p:cNvPr id="2" name="text-1">
            <a:extLst>
              <a:ext uri="{FF2B5EF4-FFF2-40B4-BE49-F238E27FC236}">
                <ns2:creationId id="{33815464-9DCE-40A5-B797-A7C96305FDB3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gen0從成功編譯的初始population形成臨時十個slots，再評估初始個體。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61AD8D48-8C03-47A3-AE6D-4D9108397592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評估後，准入與去重可能縮小library，形成正式generation0 snapshot。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AA89959C-A492-4D99-9727-4A7C44282AB2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若正式快照與gen0評估上下文不同，gen1先重新計分父代。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47F810D8-1D05-440D-B4F0-EC325E2DDC74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1013只跑3演化代，無gen5週期刷新，仍可能需要這次context migration。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24</a:t>
            </a:fld>
          </a:p>
        </p:txBody>
      </p:sp>
    </p:spTree>
    <p:extLst>
      <p:ext uri="{BB962C8B-B14F-4D97-AF65-F5344CB8AC3E}">
        <ns3:creationId val="382345163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348AA1DF-DFFC-4EE1-92AF-D0970B883786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三種選擇的目的與集合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E933FC96-2E23-46E1-B8F3-F22D71D60A02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238500"/>
                <a:gridCol w="4114800"/>
                <a:gridCol w="54292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選擇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輸入集合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輸出與規則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Opponent snapshot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run-local對手library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按epoch輪替，展開10slots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繁殖父代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目前population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Top GP tier＋semantic，可重複同ID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倖存者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父代與新子代共同集合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μ+λ，選固定數量不同ID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Run代表個體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最終成功population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最高aggregate GP，summary首選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25</a:t>
            </a:fld>
          </a:p>
        </p:txBody>
      </p:sp>
    </p:spTree>
    <p:extLst>
      <p:ext uri="{BB962C8B-B14F-4D97-AF65-F5344CB8AC3E}">
        <ns3:creationId val="2054623702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7" name="text-0">
            <a:extLst>
              <a:ext uri="{FF2B5EF4-FFF2-40B4-BE49-F238E27FC236}">
                <ns2:creationId id="{0633A59D-513A-499D-96A5-972A55E7DF5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Self-play的繁殖父代選擇</a:t>
            </a:r>
          </a:p>
        </p:txBody>
      </p:sp>
      <p:sp>
        <p:nvSpPr>
          <p:cNvPr id="2" name="text-1">
            <a:extLst>
              <a:ext uri="{FF2B5EF4-FFF2-40B4-BE49-F238E27FC236}">
                <ns2:creationId id="{0D923B6D-4CEC-4CEB-B051-C595F5EF7E17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從目前population找最大GP，再建tolerance=1的top tier。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B4CF943B-E076-42FA-AD53-C96B386EA2E5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Tier錨於最大值：maxGP − GP ≤ 1，不把相鄰分數串成更大tier。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0858D310-46C2-42E5-B276-71E5CB761D99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Parent A在tier中選，Parent B以A為reference，優先較不同的行為。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CE2CA1C4-52D3-448A-B301-F53D56E3825E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最終平手用seeded random，A、B可能相同，未強制兩個不同ID。</a:t>
            </a:r>
          </a:p>
        </p:txBody>
      </p:sp>
      <p:sp>
        <p:nvSpPr>
          <p:cNvPr id="6" name="text-5">
            <a:extLst>
              <a:ext uri="{FF2B5EF4-FFF2-40B4-BE49-F238E27FC236}">
                <ns2:creationId id="{0E441203-95A4-4B28-AC8C-6E515728C936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gen0可能含失敗個體，completed-only過濾發生在μ＋λ階段</a:t>
            </a:r>
          </a:p>
        </p:txBody>
      </p:sp>
      <p:sp>
        <p:nvSpPr>
          <p:cNvPr id="8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26</a:t>
            </a:fld>
          </a:p>
        </p:txBody>
      </p:sp>
    </p:spTree>
    <p:extLst>
      <p:ext uri="{BB962C8B-B14F-4D97-AF65-F5344CB8AC3E}">
        <ns3:creationId val="1788036619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9FDFAE90-B51E-4272-A563-4DAB2C112DD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Semantic signature的產生方式</a:t>
            </a:r>
          </a:p>
        </p:txBody>
      </p:sp>
      <p:sp>
        <p:nvSpPr>
          <p:cNvPr id="2" name="text-1">
            <a:extLst>
              <a:ext uri="{FF2B5EF4-FFF2-40B4-BE49-F238E27FC236}">
                <ns2:creationId id="{1EFDA093-09F4-4BF3-81F2-9931289A14E3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固定三張地圖與reference agents產生早、中、晚期的不可變遊戲狀態。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784A3F71-AFEA-4DE3-BFA8-253E9CA191D5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對每個probe載入狀態，讓新代理輸出一次action，正規化後雜湊。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A04FE170-30D5-42D6-88C9-1CD581E21F70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同dataset上的有序action hashes構成完整、可比較的行為向量。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CF4E77EF-75AA-42C6-BA13-7F6C5D1982CC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主線啟用probes作去重與近似平手，probe失敗不改對戰fitness。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27</a:t>
            </a:fld>
          </a:p>
        </p:txBody>
      </p:sp>
    </p:spTree>
    <p:extLst>
      <p:ext uri="{BB962C8B-B14F-4D97-AF65-F5344CB8AC3E}">
        <ns3:creationId val="566687074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91BD273E-801C-4478-BE63-D90642AC1E46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Semantic距離與max-min示例</a:t>
            </a:r>
          </a:p>
        </p:txBody>
      </p:sp>
      <p:sp>
        <p:nvSpPr>
          <p:cNvPr id="2" name="text-1">
            <a:extLst>
              <a:ext uri="{FF2B5EF4-FFF2-40B4-BE49-F238E27FC236}">
                <ns2:creationId id="{9F067ECD-C520-4F75-91B4-E803DCF6C4E8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教學例子：固定相容probes的action hashes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E704E8B0-703A-4717-B430-5E87EDD0573C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047875"/>
                <a:gridCol w="5019675"/>
                <a:gridCol w="57150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個體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有序action向量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對reference A的距離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x、y、z、w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4 = 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x、y、p、q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 / 4 = 0.5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r、s、p、q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 / 4 = 1.0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選擇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同GP tier優先C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多references時，最大化最小距離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28</a:t>
            </a:fld>
          </a:p>
        </p:txBody>
      </p:sp>
    </p:spTree>
    <p:extLst>
      <p:ext uri="{BB962C8B-B14F-4D97-AF65-F5344CB8AC3E}">
        <ns3:creationId val="804786120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BC534CBE-2995-43C6-A38C-32859A5EA940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Fixed-roster的lexicase選擇</a:t>
            </a:r>
          </a:p>
        </p:txBody>
      </p:sp>
      <p:sp>
        <p:nvSpPr>
          <p:cNvPr id="2" name="text-1">
            <a:extLst>
              <a:ext uri="{FF2B5EF4-FFF2-40B4-BE49-F238E27FC236}">
                <ns2:creationId id="{7255214E-F707-4DFC-8D17-E4BC332413DD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替代模式：每位對手為一個獨立case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6C620F95-D648-41B8-918B-71C6C19D4EE8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238500"/>
                <a:gridCol w="9544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步驟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規則與例子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起始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A、B、C依ID排序，seed打亂case順序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Case 1：WorkerRush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A=20、B=20、C=10，只留A、B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Case 2：HeavyRush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A=5、B=8，只留B，立即選出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仍平手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所有cases檢查完，在剩餘候選seeded random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29</a:t>
            </a:fld>
          </a:p>
        </p:txBody>
      </p:sp>
    </p:spTree>
    <p:extLst>
      <p:ext uri="{BB962C8B-B14F-4D97-AF65-F5344CB8AC3E}">
        <ns3:creationId val="885448821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DC58F0D8-DC2E-452A-9F55-BD314DFFDEC6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交配與基因來源追蹤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A68F1B43-82BA-4BAC-A335-00E3C46F62A4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095625"/>
                <a:gridCol w="5334000"/>
                <a:gridCol w="435292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元件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交配規則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來源記錄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 DSL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獨立選A／B的一份完整策略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strategy_parent_id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prompt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獨立選A／B的一份生成指示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generation_prompt_parent_id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Inherited Java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主線獨立選A／B的完整Java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java_parent_id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不交配時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複製A，主線交配率0.75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保留單親元件來源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30</a:t>
            </a:fld>
          </a:p>
        </p:txBody>
      </p:sp>
    </p:spTree>
    <p:extLst>
      <p:ext uri="{BB962C8B-B14F-4D97-AF65-F5344CB8AC3E}">
        <ns3:creationId val="833327444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10BF1B30-8CB7-420A-9CA5-E2B664C0C3F4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143500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7CE7F0F2-4C68-4A1D-9FEC-D29DEF8D5FBA}"/>
              </a:ext>
            </a:extLst>
          </p:cNvPr>
          <p:cNvCxnSpPr>
            <a:stCxn id="4" idx="1"/>
            <a:endCxn id="6" idx="3"/>
          </p:cNvCxnSpPr>
          <p:nvPr/>
        </p:nvCxnSpPr>
        <p:spPr>
          <a:xfrm flipH="1">
            <a:off x="9677400" y="3019425"/>
            <a:ext cx="1466850" cy="2124075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35631383-95D9-4F91-8EA9-003BD4B7AD8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12449175" y="3629025"/>
            <a:ext cx="904875" cy="2638425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FC93519F-9599-4A20-BFA6-BF6528462DF6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77400" y="3000375"/>
            <a:ext cx="1466850" cy="190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86F26EBE-DAAB-4BFC-BAB5-F8281AEEBA99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3000375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6" name="text-0">
            <a:extLst>
              <a:ext uri="{FF2B5EF4-FFF2-40B4-BE49-F238E27FC236}">
                <ns2:creationId id="{0E51454A-8E6E-4DDE-AA26-85F9368AF57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繁殖前的Code Reflection檢查</a:t>
            </a:r>
          </a:p>
        </p:txBody>
      </p:sp>
      <p:sp>
        <p:nvSpPr>
          <p:cNvPr id="2" name="select">
            <a:extLst>
              <a:ext uri="{FF2B5EF4-FFF2-40B4-BE49-F238E27FC236}">
                <ns2:creationId id="{57349C65-9599-4A47-99E1-773357440A2D}"/>
              </a:ext>
            </a:extLst>
          </p:cNvPr>
          <p:cNvSpPr>
            <a:spLocks noGrp="1"/>
          </p:cNvSpPr>
          <p:nvPr/>
        </p:nvSpPr>
        <p:spPr>
          <a:xfrm>
            <a:off x="1762125" y="252412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選A，預定交配時選B</a:t>
            </a:r>
          </a:p>
        </p:txBody>
      </p:sp>
      <p:sp>
        <p:nvSpPr>
          <p:cNvPr id="3" name="check">
            <a:extLst>
              <a:ext uri="{FF2B5EF4-FFF2-40B4-BE49-F238E27FC236}">
                <ns2:creationId id="{BF219CE8-DBC1-4627-A119-91138FCC67C1}"/>
              </a:ext>
            </a:extLst>
          </p:cNvPr>
          <p:cNvSpPr>
            <a:spLocks noGrp="1"/>
          </p:cNvSpPr>
          <p:nvPr/>
        </p:nvSpPr>
        <p:spPr>
          <a:xfrm>
            <a:off x="6248400" y="252412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來源策略＋精確Java檢查</a:t>
            </a:r>
          </a:p>
        </p:txBody>
      </p:sp>
      <p:sp>
        <p:nvSpPr>
          <p:cNvPr id="4" name="healthy">
            <a:extLst>
              <a:ext uri="{FF2B5EF4-FFF2-40B4-BE49-F238E27FC236}">
                <ns2:creationId id="{8EA1BD38-65E8-4A0B-9D8C-D43A41E4B2D4}"/>
              </a:ext>
            </a:extLst>
          </p:cNvPr>
          <p:cNvSpPr>
            <a:spLocks noGrp="1"/>
          </p:cNvSpPr>
          <p:nvPr/>
        </p:nvSpPr>
        <p:spPr>
          <a:xfrm>
            <a:off x="11144250" y="2409825"/>
            <a:ext cx="2667000" cy="121920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所有來源健康？</a:t>
            </a:r>
          </a:p>
        </p:txBody>
      </p:sp>
      <p:sp>
        <p:nvSpPr>
          <p:cNvPr id="5" name="normal">
            <a:extLst>
              <a:ext uri="{FF2B5EF4-FFF2-40B4-BE49-F238E27FC236}">
                <ns2:creationId id="{65E3E9A8-A39A-423B-B4EF-FBC50717B10B}"/>
              </a:ext>
            </a:extLst>
          </p:cNvPr>
          <p:cNvSpPr>
            <a:spLocks noGrp="1"/>
          </p:cNvSpPr>
          <p:nvPr/>
        </p:nvSpPr>
        <p:spPr>
          <a:xfrm>
            <a:off x="10734675" y="62674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正常交配／複製與變異</a:t>
            </a:r>
          </a:p>
        </p:txBody>
      </p:sp>
      <p:sp>
        <p:nvSpPr>
          <p:cNvPr id="6" name="correct">
            <a:extLst>
              <a:ext uri="{FF2B5EF4-FFF2-40B4-BE49-F238E27FC236}">
                <ns2:creationId id="{5851A648-352C-4568-B2BD-10D89E4A96AF}"/>
              </a:ext>
            </a:extLst>
          </p:cNvPr>
          <p:cNvSpPr>
            <a:spLocks noGrp="1"/>
          </p:cNvSpPr>
          <p:nvPr/>
        </p:nvSpPr>
        <p:spPr>
          <a:xfrm>
            <a:off x="6248400" y="46672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缺陷來源的單親修復子代</a:t>
            </a:r>
          </a:p>
        </p:txBody>
      </p:sp>
      <p:sp>
        <p:nvSpPr>
          <p:cNvPr id="7" name="repair">
            <a:extLst>
              <a:ext uri="{FF2B5EF4-FFF2-40B4-BE49-F238E27FC236}">
                <ns2:creationId id="{FC4200F2-3126-4628-AB3F-2783B0771BC5}"/>
              </a:ext>
            </a:extLst>
          </p:cNvPr>
          <p:cNvSpPr>
            <a:spLocks noGrp="1"/>
          </p:cNvSpPr>
          <p:nvPr/>
        </p:nvSpPr>
        <p:spPr>
          <a:xfrm>
            <a:off x="1762125" y="466725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phase修訂Java</a:t>
            </a:r>
          </a:p>
        </p:txBody>
      </p:sp>
      <p:sp>
        <p:nvSpPr>
          <p:cNvPr id="13" name="text-12">
            <a:extLst>
              <a:ext uri="{FF2B5EF4-FFF2-40B4-BE49-F238E27FC236}">
                <ns2:creationId id="{1A97A92C-946F-48CC-ABC1-67549E2B1D1E}"/>
              </a:ext>
            </a:extLst>
          </p:cNvPr>
          <p:cNvSpPr>
            <a:spLocks noGrp="1"/>
          </p:cNvSpPr>
          <p:nvPr/>
        </p:nvSpPr>
        <p:spPr>
          <a:xfrm>
            <a:off x="12287250" y="5210175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4" name="text-13">
            <a:extLst>
              <a:ext uri="{FF2B5EF4-FFF2-40B4-BE49-F238E27FC236}">
                <ns2:creationId id="{962D66E3-1E48-4977-BA0B-106F8643B677}"/>
              </a:ext>
            </a:extLst>
          </p:cNvPr>
          <p:cNvSpPr>
            <a:spLocks noGrp="1"/>
          </p:cNvSpPr>
          <p:nvPr/>
        </p:nvSpPr>
        <p:spPr>
          <a:xfrm>
            <a:off x="9906000" y="414337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否：跳過C/M</a:t>
            </a:r>
          </a:p>
        </p:txBody>
      </p:sp>
      <p:sp>
        <p:nvSpPr>
          <p:cNvPr id="15" name="text-14">
            <a:extLst>
              <a:ext uri="{FF2B5EF4-FFF2-40B4-BE49-F238E27FC236}">
                <ns2:creationId id="{1FA91AF9-F154-40AF-A88A-EAB232CF59C3}"/>
              </a:ext>
            </a:extLst>
          </p:cNvPr>
          <p:cNvSpPr>
            <a:spLocks noGrp="1"/>
          </p:cNvSpPr>
          <p:nvPr/>
        </p:nvSpPr>
        <p:spPr>
          <a:xfrm>
            <a:off x="1762125" y="6572250"/>
            <a:ext cx="7620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修復子代保留來源DSL與prompt</a:t>
            </a:r>
          </a:p>
        </p:txBody>
      </p:sp>
      <p:sp>
        <p:nvSpPr>
          <p:cNvPr id="1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31</a:t>
            </a:fld>
          </a:p>
        </p:txBody>
      </p:sp>
    </p:spTree>
    <p:extLst>
      <p:ext uri="{BB962C8B-B14F-4D97-AF65-F5344CB8AC3E}">
        <ns3:creationId val="1154632066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1CCA1F0E-D22B-4A13-A871-9BDBC665F40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Reflection的診斷與修復契約</a:t>
            </a:r>
          </a:p>
        </p:txBody>
      </p:sp>
      <p:sp>
        <p:nvSpPr>
          <p:cNvPr id="2" name="text-1">
            <a:extLst>
              <a:ext uri="{FF2B5EF4-FFF2-40B4-BE49-F238E27FC236}">
                <ns2:creationId id="{65D242C6-C056-4C3B-8536-F5A24C61822B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分別判斷strategy_fidelity與code_correctness，檢查來源exact Java。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FB75CB83-2BA7-43AE-A877-D73AEC328FDE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策略unfaithful或程式incorrect時，要求修訂已診斷的來源程式。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9749C2D1-1F27-4638-97F6-2374DA27CCE5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保留來源策略與生成prompt，產生完整Java，再做Validation／javac。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4B754B65-B957-4D61-AF26-BE2DA308E3D9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Code輸出先直接驗證，完整Java未通過時仍可進入後續compile repair。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32</a:t>
            </a:fld>
          </a:p>
        </p:txBody>
      </p:sp>
    </p:spTree>
    <p:extLst>
      <p:ext uri="{BB962C8B-B14F-4D97-AF65-F5344CB8AC3E}">
        <ns3:creationId val="335174860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4F51AC87-B52E-4888-99B8-14260AECA56D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變異算子的實際選擇機率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C6278E71-A18D-469F-B643-A3A9586995D3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4095750"/>
                <a:gridCol w="3381375"/>
                <a:gridCol w="530542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設定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1013值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 probability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0.33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可選變異，正規化後0.50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Prompt probability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0.33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可選變異，正規化後0.50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 probability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0.34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不參與隨機變異，另作繁殖前gate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Mutation rate／mode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1.0／static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健康主線每子代嘗試一種變異，比例固定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33</a:t>
            </a:fld>
          </a:p>
        </p:txBody>
      </p:sp>
    </p:spTree>
    <p:extLst>
      <p:ext uri="{BB962C8B-B14F-4D97-AF65-F5344CB8AC3E}">
        <ns3:creationId val="1885005390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54528673-3529-4A77-A4A5-F3515EFB90BD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238750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1371B8AC-1FD4-47BB-85F6-6D3DF4B94839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77400" y="5238750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1334B364-804E-4982-A691-69A92245BC49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449175" y="3476625"/>
            <a:ext cx="0" cy="1285875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22AB198F-2682-4ECF-BB43-99E9FEB99246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77400" y="3000375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697EEDE8-2490-46CA-B5AC-A91AC3312C38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3000375"/>
            <a:ext cx="105727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D528155B-399F-4967-B44F-8FD8EF5E8356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Reflection的完整鏈</a:t>
            </a:r>
          </a:p>
        </p:txBody>
      </p:sp>
      <p:sp>
        <p:nvSpPr>
          <p:cNvPr id="2" name="parent">
            <a:extLst>
              <a:ext uri="{FF2B5EF4-FFF2-40B4-BE49-F238E27FC236}">
                <ns2:creationId id="{E0B7ABA1-006C-4021-97FF-663B24D006DA}"/>
              </a:ext>
            </a:extLst>
          </p:cNvPr>
          <p:cNvSpPr>
            <a:spLocks noGrp="1"/>
          </p:cNvSpPr>
          <p:nvPr/>
        </p:nvSpPr>
        <p:spPr>
          <a:xfrm>
            <a:off x="1762125" y="252412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定位strategy_parent_id</a:t>
            </a:r>
          </a:p>
        </p:txBody>
      </p:sp>
      <p:sp>
        <p:nvSpPr>
          <p:cNvPr id="3" name="worst">
            <a:extLst>
              <a:ext uri="{FF2B5EF4-FFF2-40B4-BE49-F238E27FC236}">
                <ns2:creationId id="{48F16C84-7F6E-41F5-B491-D127DD24032A}"/>
              </a:ext>
            </a:extLst>
          </p:cNvPr>
          <p:cNvSpPr>
            <a:spLocks noGrp="1"/>
          </p:cNvSpPr>
          <p:nvPr/>
        </p:nvSpPr>
        <p:spPr>
          <a:xfrm>
            <a:off x="6248400" y="252412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來源父代最差有效單場</a:t>
            </a:r>
          </a:p>
        </p:txBody>
      </p:sp>
      <p:sp>
        <p:nvSpPr>
          <p:cNvPr id="4" name="comment">
            <a:extLst>
              <a:ext uri="{FF2B5EF4-FFF2-40B4-BE49-F238E27FC236}">
                <ns2:creationId id="{82CE7083-3EF7-4E67-AB11-F331604633B4}"/>
              </a:ext>
            </a:extLst>
          </p:cNvPr>
          <p:cNvSpPr>
            <a:spLocks noGrp="1"/>
          </p:cNvSpPr>
          <p:nvPr/>
        </p:nvSpPr>
        <p:spPr>
          <a:xfrm>
            <a:off x="10734675" y="2524125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Commentator</a:t>
            </a:r>
          </a:p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分析單場trace</a:t>
            </a:r>
          </a:p>
        </p:txBody>
      </p:sp>
      <p:sp>
        <p:nvSpPr>
          <p:cNvPr id="5" name="coach">
            <a:extLst>
              <a:ext uri="{FF2B5EF4-FFF2-40B4-BE49-F238E27FC236}">
                <ns2:creationId id="{D5F492C2-78E3-4650-9093-58282B52E81E}"/>
              </a:ext>
            </a:extLst>
          </p:cNvPr>
          <p:cNvSpPr>
            <a:spLocks noGrp="1"/>
          </p:cNvSpPr>
          <p:nvPr/>
        </p:nvSpPr>
        <p:spPr>
          <a:xfrm>
            <a:off x="1073467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Coach＋全場摘要</a:t>
            </a:r>
          </a:p>
        </p:txBody>
      </p:sp>
      <p:sp>
        <p:nvSpPr>
          <p:cNvPr id="6" name="rewrite">
            <a:extLst>
              <a:ext uri="{FF2B5EF4-FFF2-40B4-BE49-F238E27FC236}">
                <ns2:creationId id="{C1A7DDE6-D538-42B0-8AAC-4FD0DDFAF402}"/>
              </a:ext>
            </a:extLst>
          </p:cNvPr>
          <p:cNvSpPr>
            <a:spLocks noGrp="1"/>
          </p:cNvSpPr>
          <p:nvPr/>
        </p:nvSpPr>
        <p:spPr>
          <a:xfrm>
            <a:off x="6248400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整理／驗證新策略DSL</a:t>
            </a:r>
          </a:p>
        </p:txBody>
      </p:sp>
      <p:sp>
        <p:nvSpPr>
          <p:cNvPr id="7" name="child">
            <a:extLst>
              <a:ext uri="{FF2B5EF4-FFF2-40B4-BE49-F238E27FC236}">
                <ns2:creationId id="{66EEB7DA-5CE5-4DBE-A86D-23873E0B2136}"/>
              </a:ext>
            </a:extLst>
          </p:cNvPr>
          <p:cNvSpPr>
            <a:spLocks noGrp="1"/>
          </p:cNvSpPr>
          <p:nvPr/>
        </p:nvSpPr>
        <p:spPr>
          <a:xfrm>
            <a:off x="176212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更新子代策略基因</a:t>
            </a:r>
          </a:p>
        </p:txBody>
      </p:sp>
      <p:sp>
        <p:nvSpPr>
          <p:cNvPr id="13" name="text-12">
            <a:extLst>
              <a:ext uri="{FF2B5EF4-FFF2-40B4-BE49-F238E27FC236}">
                <ns2:creationId id="{24E149E6-1CDF-4E6D-9FF4-A2350EE2D43C}"/>
              </a:ext>
            </a:extLst>
          </p:cNvPr>
          <p:cNvSpPr>
            <a:spLocks noGrp="1"/>
          </p:cNvSpPr>
          <p:nvPr/>
        </p:nvSpPr>
        <p:spPr>
          <a:xfrm>
            <a:off x="2190750" y="6858000"/>
            <a:ext cx="11715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單場戰術細節與全場摘要同時供Coach參考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34</a:t>
            </a:fld>
          </a:p>
        </p:txBody>
      </p:sp>
    </p:spTree>
    <p:extLst>
      <p:ext uri="{BB962C8B-B14F-4D97-AF65-F5344CB8AC3E}">
        <ns3:creationId val="1171907148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ACE2CE02-412A-49B8-85B0-473C1ABB8B9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最差有效比賽的精確選法</a:t>
            </a:r>
          </a:p>
        </p:txBody>
      </p:sp>
      <p:sp>
        <p:nvSpPr>
          <p:cNvPr id="2" name="text-1">
            <a:extLst>
              <a:ext uri="{FF2B5EF4-FFF2-40B4-BE49-F238E27FC236}">
                <ns2:creationId id="{721F2E1C-0232-46D8-9A62-EEFC889953EE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教學數值，來源必須是策略父代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D338BCA3-52C4-4591-B4EA-42E766C27B4F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667000"/>
                <a:gridCol w="5524500"/>
                <a:gridCol w="4591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Match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Performance／狀態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選取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m01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−105，completed loss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選取：有效最低分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m02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−95，completed loss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不選：較高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m03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−1000，runtime failed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排除：沒有完成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同分／缺trace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最低分同分按match_id決定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固定一場，缺trace不換第二差場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35</a:t>
            </a:fld>
          </a:p>
        </p:txBody>
      </p:sp>
    </p:spTree>
    <p:extLst>
      <p:ext uri="{BB962C8B-B14F-4D97-AF65-F5344CB8AC3E}">
        <ns3:creationId val="1818912690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068556A4-799C-4B81-8D50-B861C248C582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Coach與策略重寫的證據範圍</a:t>
            </a:r>
          </a:p>
        </p:txBody>
      </p:sp>
      <p:sp>
        <p:nvSpPr>
          <p:cNvPr id="2" name="text-1">
            <a:extLst>
              <a:ext uri="{FF2B5EF4-FFF2-40B4-BE49-F238E27FC236}">
                <ns2:creationId id="{79E51887-2542-4612-8370-FD8EDA79CECB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Commentator解釋單場事件、戰術失誤與關鍵決策，不憑空補trace。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B92ECFFB-FFD1-4157-847C-3E20914FC78E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Coach同時看來源策略、單場診斷與global_evaluation_summary。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0AAC1384-4199-48EA-9A7C-E80E7E243FB6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新策略須符合DSL contract，必要時做contract rewrite與正規化。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17A47377-22EC-430B-96DB-8BF780112702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普通策略子代保留其他基因，Generator依修訂策略產生Java。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36</a:t>
            </a:fld>
          </a:p>
        </p:txBody>
      </p:sp>
    </p:spTree>
    <p:extLst>
      <p:ext uri="{BB962C8B-B14F-4D97-AF65-F5344CB8AC3E}">
        <ns3:creationId val="1124893396"/>
      </p:ext>
    </p:extLst>
  </p:cSld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7788F8A7-12CF-425E-808E-1DB4C7B37F70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Reflection的輸入與改寫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007FA53C-6AC8-4058-8435-5DD46F65FB46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667000"/>
                <a:gridCol w="6000750"/>
                <a:gridCol w="4114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步驟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讀取／處理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輸出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證據限制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DSL、可編輯策略Java、結構診斷、API guide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實作問題與可重用建議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Reflection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分析生成指示與程式問題的關係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結構化反思回應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Rewrite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按證據重寫generation prompt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可重用生成指示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子代更新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只換generation_prompt，再交Generator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策略與其他基因沿既有來源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37</a:t>
            </a:fld>
          </a:p>
        </p:txBody>
      </p:sp>
    </p:spTree>
    <p:extLst>
      <p:ext uri="{BB962C8B-B14F-4D97-AF65-F5344CB8AC3E}">
        <ns3:creationId val="112261459"/>
      </p:ext>
    </p:extLst>
  </p:cSld>
</p:sld>
</file>

<file path=ppt/slides/slide3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B66F4674-3261-44C3-A0CA-8E67DAE0DF3D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μ＋λ的倖存者選擇</a:t>
            </a:r>
          </a:p>
        </p:txBody>
      </p:sp>
      <p:sp>
        <p:nvSpPr>
          <p:cNvPr id="2" name="text-1">
            <a:extLst>
              <a:ext uri="{FF2B5EF4-FFF2-40B4-BE49-F238E27FC236}">
                <ns2:creationId id="{D02B17FC-3FC8-4D4E-9D9E-AB20C77AB091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合併current parents與evaluated offspring，按Candidate ID去重。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8E301F76-FF87-422C-8C44-17AC0B9E2E91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只有completed evaluation可占固定population slots，失敗個體保留診斷。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512D7C29-0FB7-4B7A-ACCA-71F2B1DA0ECC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由最高GP逐tier填位，全tier放得下時按ID順序保留。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A0147D4E-145D-4090-979C-9EB406A33BD0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最後tier超出名額時採semantic max-min subset，再用seed解平手。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38</a:t>
            </a:fld>
          </a:p>
        </p:txBody>
      </p:sp>
    </p:spTree>
    <p:extLst>
      <p:ext uri="{BB962C8B-B14F-4D97-AF65-F5344CB8AC3E}">
        <ns3:creationId val="1767950424"/>
      </p:ext>
    </p:extLst>
  </p:cSld>
</p:sld>
</file>

<file path=ppt/slides/slide3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2B08CA05-1C67-4FEA-B648-2C7741EF1776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倖存者tier與cutoff示例</a:t>
            </a:r>
          </a:p>
        </p:txBody>
      </p:sp>
      <p:sp>
        <p:nvSpPr>
          <p:cNvPr id="2" name="text-1">
            <a:extLst>
              <a:ext uri="{FF2B5EF4-FFF2-40B4-BE49-F238E27FC236}">
                <ns2:creationId id="{2A100156-918D-4BB2-ABB4-AB2FA6FA0273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μ=2、tolerance=1，GP為教學數值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B3AEBFCB-B3CB-4EFC-9422-025E469E2C37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143250"/>
                <a:gridCol w="5191125"/>
                <a:gridCol w="444817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候選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GP與tier判定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處理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A、B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100、99.4，距max都不超過1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第一tier可全保留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98.8，距max=1.2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不因距B只有0.6就加入第一tier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另例A、B、C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100、99.4、99.2，同屬第一tier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3人搶2位，採semantic subset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較低tier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上tier沒有填滿μ才繼續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以remaining最大值重建下一tier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39</a:t>
            </a:fld>
          </a:p>
        </p:txBody>
      </p:sp>
    </p:spTree>
    <p:extLst>
      <p:ext uri="{BB962C8B-B14F-4D97-AF65-F5344CB8AC3E}">
        <ns3:creationId val="1418419062"/>
      </p:ext>
    </p:extLst>
  </p:cSld>
</p:sld>
</file>

<file path=ppt/slides/slide4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9E182553-5956-4BCC-85DE-3322AD173BC0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一個演化世代的執行順序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5BF7A62E-3FB1-4B55-A714-2750AC679BDE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238500"/>
                <a:gridCol w="9544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順序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執行內容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1：對手上下文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必要時更新snapshot，固定原Java重評父代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2：繁殖計畫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選父代，pre-crossover gate，交配／單親分支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3：產生與評估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Strategy／Prompt變異，Code修復，Java pipeline，180場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4：下一代狀態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Operator紀錄、診斷archive、μ+λ、checkpoint、停滯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40</a:t>
            </a:fld>
          </a:p>
        </p:txBody>
      </p:sp>
    </p:spTree>
    <p:extLst>
      <p:ext uri="{BB962C8B-B14F-4D97-AF65-F5344CB8AC3E}">
        <ns3:creationId val="1460246997"/>
      </p:ext>
    </p:extLst>
  </p:cSld>
</p:sld>
</file>

<file path=ppt/slides/slide4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7DF95282-F183-4222-8463-E32BB26CB2C0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Static與AOS的可選分支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17985421-E815-435D-8527-DE5E5D6A2A9B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190875"/>
                <a:gridCol w="6191250"/>
                <a:gridCol w="340042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模式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Reward與更新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主線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static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固定Strategy／Prompt機率，記usage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使用，0.5／0.5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aos_head2head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比較子代與來源父代的直接對戰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否，fixed-roster可選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aos_opponent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比較共同對手case表現取得reward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否，fixed-roster可選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Adaptive更新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EMA credit α=0.20，probability matching＋floor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 gate不收credit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41</a:t>
            </a:fld>
          </a:p>
        </p:txBody>
      </p:sp>
    </p:spTree>
    <p:extLst>
      <p:ext uri="{BB962C8B-B14F-4D97-AF65-F5344CB8AC3E}">
        <ns3:creationId val="359941165"/>
      </p:ext>
    </p:extLst>
  </p:cSld>
</p:sld>
</file>

<file path=ppt/slides/slide4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FB75DFA9-FF6E-49D5-A99D-E7AD2BD248D6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停止條件與代表個體</a:t>
            </a:r>
          </a:p>
        </p:txBody>
      </p:sp>
      <p:sp>
        <p:nvSpPr>
          <p:cNvPr id="2" name="text-1">
            <a:extLst>
              <a:ext uri="{FF2B5EF4-FFF2-40B4-BE49-F238E27FC236}">
                <ns2:creationId id="{FDD2FE22-AE9F-42CB-8E4E-B31A060EF6F6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generations計算gen1…genN的演化次數，第0代另外處理。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F52F8CE9-D7E2-4FA4-9AD8-ED4478EA3DA3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每代比selection-state signature，相同累加stagnation，不同歸零。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5DC7CABC-0113-4D6F-A0EF-BE727F039C36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Scalar signature含GP與semantic global hash，lexicase使用case vectors。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BD941D3C-7446-4DB9-96FF-30AE4A61A27D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代數上限或停滯門檻觸發完成，最高aggregate GP成功個體作summary best。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42</a:t>
            </a:fld>
          </a:p>
        </p:txBody>
      </p:sp>
    </p:spTree>
    <p:extLst>
      <p:ext uri="{BB962C8B-B14F-4D97-AF65-F5344CB8AC3E}">
        <ns3:creationId val="807745508"/>
      </p:ext>
    </p:extLst>
  </p:cSld>
</p:sld>
</file>

<file path=ppt/slides/slide4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18F2ACF7-4845-445F-962B-447ABCDD77B0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Artifacts、Archive與錯誤記憶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2C42B290-4272-4355-A19C-6B05D58FE36A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667125"/>
                <a:gridCol w="5191125"/>
                <a:gridCol w="39243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紀錄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保存內容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Candidate artifacts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基因、Java、生成attempts、對戰、變異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追溯個體生成與評估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snapshot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倖存人口、stagnation、resume狀態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恢復已完成世代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Library／snapshot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FIFO來源、10slots、context hash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固定對手上下文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Strategy／opponent／error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Niche、每case最佳報表、歸一化失敗top3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分析與反思有限證據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43</a:t>
            </a:fld>
          </a:p>
        </p:txBody>
      </p:sp>
    </p:spTree>
    <p:extLst>
      <p:ext uri="{BB962C8B-B14F-4D97-AF65-F5344CB8AC3E}">
        <ns3:creationId val="1875341460"/>
      </p:ext>
    </p:extLst>
  </p:cSld>
</p:sld>
</file>

<file path=ppt/slides/slide4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A9296D5A-25E5-4F67-B099-416FB52D4655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Random seed與平行執行</a:t>
            </a:r>
          </a:p>
        </p:txBody>
      </p:sp>
      <p:sp>
        <p:nvSpPr>
          <p:cNvPr id="2" name="text-1">
            <a:extLst>
              <a:ext uri="{FF2B5EF4-FFF2-40B4-BE49-F238E27FC236}">
                <ns2:creationId id="{A01CF7C3-55D1-421E-8260-47B4C0934D0A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random_seed是EA的根，候選ID與每個任務RNG由穩定identity派生。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65F080FF-C472-4B7D-BD81-43EF2C056EC8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request與MicroRTS match有任務seed，對戰identity含對手、圖、round、side。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CBD69953-C53F-4C60-A156-C39813A91F35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Workers改完成順序，紀錄仍以canonical match identity保存。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007B9753-EA59-4080-9084-42A4B4874825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固定seed提供可重跑契約，模型後端與硬體仍可能有外部非決定性。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44</a:t>
            </a:fld>
          </a:p>
        </p:txBody>
      </p:sp>
    </p:spTree>
    <p:extLst>
      <p:ext uri="{BB962C8B-B14F-4D97-AF65-F5344CB8AC3E}">
        <ns3:creationId val="534870655"/>
      </p:ext>
    </p:extLst>
  </p:cSld>
</p:sld>
</file>

<file path=ppt/slides/slide4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E92F6A5A-F00B-44E0-93EC-57BDF1B0707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Resume的恢復邊界</a:t>
            </a:r>
          </a:p>
        </p:txBody>
      </p:sp>
      <p:sp>
        <p:nvSpPr>
          <p:cNvPr id="2" name="text-1">
            <a:extLst>
              <a:ext uri="{FF2B5EF4-FFF2-40B4-BE49-F238E27FC236}">
                <ns2:creationId id="{D74A6254-C7FE-4C6E-91BB-B83863BA9FBC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從已完成generation snapshot恢復，未完成candidate attempts保留audit。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8766EC6C-BB1E-4014-8592-DFF670B22E97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讀取config、population、operator與archive狀態，從root seed重建RNG。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B2D4BCC3-062E-4546-91D5-64870E347A2A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核對context hash及來源artifacts，沿共用generation step繼續。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9A1DB254-A0CD-44E2-B219-F82D003B7CB0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新DSL／pre-crossover協定拒絕恢復舊自然語言策略run，歷史實驗需新run。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45</a:t>
            </a:fld>
          </a:p>
        </p:txBody>
      </p:sp>
    </p:spTree>
    <p:extLst>
      <p:ext uri="{BB962C8B-B14F-4D97-AF65-F5344CB8AC3E}">
        <ns3:creationId val="274955968"/>
      </p:ext>
    </p:extLst>
  </p:cSld>
</p:sld>
</file>

<file path=ppt/slides/slide4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42CF2300-E7ED-436F-9333-0CC8DF3104C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Test的個體選擇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4198EA13-451A-43B1-B36B-F3131CAF7B5C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238500"/>
                <a:gridCol w="9544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優先序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規則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前提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Run完成，候選Java與編譯class可執行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指定ID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由最新代向gen0找，找到不可執行候選即報錯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預設首選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最新代summary best，且須可執行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Fallback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由新向舊找，按七個較強case的lexicographic vector選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3" name="text-1">
            <a:extLst>
              <a:ext uri="{FF2B5EF4-FFF2-40B4-BE49-F238E27FC236}">
                <ns2:creationId id="{0C8C2560-D77D-4C30-80A9-C38370632E99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Self-play缺七個固定case，fallback向量全部同分，實際由ID順序解平手</a:t>
            </a:r>
          </a:p>
        </p:txBody>
      </p:sp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46</a:t>
            </a:fld>
          </a:p>
        </p:txBody>
      </p:sp>
    </p:spTree>
    <p:extLst>
      <p:ext uri="{BB962C8B-B14F-4D97-AF65-F5344CB8AC3E}">
        <ns3:creationId val="2130416609"/>
      </p:ext>
    </p:extLst>
  </p:cSld>
</p:sld>
</file>

<file path=ppt/slides/slide4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F7756427-DC9B-4B0E-B49C-3F5946BF3D9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Test的共同評估矩陣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F3B5DB94-01E5-4FCF-A244-3CAAA5569955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238500"/>
                <a:gridCol w="9544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維度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與搜尋評估的差異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固定對手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三個基礎代理、三種Rush、AllInBot、Mayari、COAC、TMA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固定條件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沿run-local三張地圖，每圖每side各10場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總數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opponents × 3 maps × 10 games × 2 sides = 600場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用途與輸出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共同口徑比較，保存逐場結果與summary，不回饋演化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47</a:t>
            </a:fld>
          </a:p>
        </p:txBody>
      </p:sp>
    </p:spTree>
    <p:extLst>
      <p:ext uri="{BB962C8B-B14F-4D97-AF65-F5344CB8AC3E}">
        <ns3:creationId val="238930113"/>
      </p:ext>
    </p:extLst>
  </p:cSld>
</p:sld>
</file>

<file path=ppt/slides/slide4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7A48A766-3F02-465F-99A2-C9BF9B03361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目前設定的參數解讀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16DA4DB7-BAE6-46DF-9607-3FA56AC1E67F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714750"/>
                <a:gridCol w="3829050"/>
                <a:gridCol w="52387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參數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1013值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影響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Crossover／mutation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0.75／1.0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健康來源交配與一種隨機變異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Refresh／capacity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5／50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每5代輪替，最多50來源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Tolerance／probes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1.0／enabled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近似GP平手用可用行為證據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Retries／temperature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Policy=3、mutation=3</a:t>
                      </a:r>
                    </a:p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Java=5，temperature=0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有界重試，固定取樣設定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48</a:t>
            </a:fld>
          </a:p>
        </p:txBody>
      </p:sp>
    </p:spTree>
    <p:extLst>
      <p:ext uri="{BB962C8B-B14F-4D97-AF65-F5344CB8AC3E}">
        <ns3:creationId val="1449691212"/>
      </p:ext>
    </p:extLst>
  </p:cSld>
</p:sld>
</file>

<file path=ppt/slides/slide4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2BCE6694-5469-4DF1-B616-CB3F1D328C68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Gen0至Gen5的流程示例</a:t>
            </a:r>
          </a:p>
        </p:txBody>
      </p:sp>
      <p:sp>
        <p:nvSpPr>
          <p:cNvPr id="2" name="text-1">
            <a:extLst>
              <a:ext uri="{FF2B5EF4-FFF2-40B4-BE49-F238E27FC236}">
                <ns2:creationId id="{FD63BBAF-09EB-4AD4-94C9-409B9614C5CC}"/>
              </a:ext>
            </a:extLst>
          </p:cNvPr>
          <p:cNvSpPr>
            <a:spLocks noGrp="1"/>
          </p:cNvSpPr>
          <p:nvPr/>
        </p:nvSpPr>
        <p:spPr>
          <a:xfrm>
            <a:off x="1714500" y="1543050"/>
            <a:ext cx="124968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假設延長到5代，以說明第一次週期刷新</a:t>
            </a:r>
          </a:p>
        </p:txBody>
      </p:sp>
      <p:graphicFrame>
        <p:nvGraphicFramePr>
          <p:cNvPr id="3" name="">
            <a:extLst>
              <a:ext uri="{FF2B5EF4-FFF2-40B4-BE49-F238E27FC236}">
                <ns2:creationId id="{FCD30DC0-23AD-40C8-953D-CE1CA53BE935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000250"/>
                <a:gridCol w="5476875"/>
                <a:gridCol w="530542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時點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對手上下文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人口處理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可編譯初始pool，評估後建library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初始policy、Java、評估、記錄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gen1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必要時遷移到去重後正式快照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父代重評，再繁殖與μ+λ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gen2–4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沿用快照，cached分數可重用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Gate、變異、子代評估、倖存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gen5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加入當時父代，輪替新快照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原Java重評，與子代同context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49</a:t>
            </a:fld>
          </a:p>
        </p:txBody>
      </p:sp>
    </p:spTree>
    <p:extLst>
      <p:ext uri="{BB962C8B-B14F-4D97-AF65-F5344CB8AC3E}">
        <ns3:creationId val="1026640074"/>
      </p:ext>
    </p:extLst>
  </p:cSld>
</p:sld>
</file>

<file path=ppt/slides/slide5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273DDC81-F052-475B-9E43-F5D4D93F0FC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閱讀當前流程的關鍵邊界</a:t>
            </a:r>
          </a:p>
        </p:txBody>
      </p:sp>
      <p:sp>
        <p:nvSpPr>
          <p:cNvPr id="2" name="text-1">
            <a:extLst>
              <a:ext uri="{FF2B5EF4-FFF2-40B4-BE49-F238E27FC236}">
                <ns2:creationId id="{77198038-B10A-4F4A-9570-CBCFA26400F6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10個self-play slots可能只有少數不同來源，FIFO／輪替沒有強度排名保證。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706BBC12-E31E-4070-8A97-E300EECE88F5}"/>
              </a:ext>
            </a:extLst>
          </p:cNvPr>
          <p:cNvSpPr>
            <a:spLocks noGrp="1"/>
          </p:cNvSpPr>
          <p:nvPr/>
        </p:nvSpPr>
        <p:spPr>
          <a:xfrm>
            <a:off x="1762125" y="35623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Search GP依對手快照而定，跨run比較應使用共同Final Test與相同條件。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426B5BA1-9B74-4AA3-8C44-BD842D7CFDBD}"/>
              </a:ext>
            </a:extLst>
          </p:cNvPr>
          <p:cNvSpPr>
            <a:spLocks noGrp="1"/>
          </p:cNvSpPr>
          <p:nvPr/>
        </p:nvSpPr>
        <p:spPr>
          <a:xfrm>
            <a:off x="1762125" y="48196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Semantic probes只覆蓋固定狀態，Code fidelity檢查亦非完整形式化驗證。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01C45E86-12AA-4D3F-AC45-E947F5262370}"/>
              </a:ext>
            </a:extLst>
          </p:cNvPr>
          <p:cNvSpPr>
            <a:spLocks noGrp="1"/>
          </p:cNvSpPr>
          <p:nvPr/>
        </p:nvSpPr>
        <p:spPr>
          <a:xfrm>
            <a:off x="1762125" y="6076950"/>
            <a:ext cx="124015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本簡報說明程式與設定，教學數值不代表新的勝率或耗時量測。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50</a:t>
            </a:fld>
          </a:p>
        </p:txBody>
      </p:sp>
    </p:spTree>
    <p:extLst>
      <p:ext uri="{BB962C8B-B14F-4D97-AF65-F5344CB8AC3E}">
        <ns3:creationId val="1247541825"/>
      </p:ext>
    </p:extLst>
  </p:cSld>
</p:sld>
</file>

<file path=ppt/slides/slide5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6C761ADB-0614-4269-B672-809586E1D2F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失敗與中斷的處理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F7D92D57-A6C1-4411-B194-FB414DA87082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3238500"/>
                <a:gridCol w="9544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失敗類型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處理與保留證據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核心評估失敗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停止依賴階段，failed狀態與−1000分，保留attempt／match證據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反思格式或契約錯誤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有界重試；Code返回不健康結果可形成單親修復子代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LLMServerError／傳輸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可直接中止規劃或修復，manifest記錄失敗／中斷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倖存者不足μ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報錯，不用failed個體補位；從已完成generation恢復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51</a:t>
            </a:fld>
          </a:p>
        </p:txBody>
      </p:sp>
    </p:spTree>
    <p:extLst>
      <p:ext uri="{BB962C8B-B14F-4D97-AF65-F5344CB8AC3E}">
        <ns3:creationId val="686323390"/>
      </p:ext>
    </p:extLst>
  </p:cSld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2026-10-13T07:41:47.0730000Z</dcterms:created>
  <dcterms:modified xsi:type="dcterms:W3CDTF">2026-10-13T07:41:47.0730000Z</dcterms:modified>
</coreProperties>
</file>