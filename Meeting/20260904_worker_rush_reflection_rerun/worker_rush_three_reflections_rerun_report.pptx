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a6dc75b3a8342dd" /><Relationship Type="http://schemas.openxmlformats.org/officeDocument/2006/relationships/extended-properties" Target="/docProps/app.xml" Id="R51eee2dfa7524f46" /><Relationship Type="http://schemas.openxmlformats.org/officeDocument/2006/relationships/officeDocument" Target="/ppt/presentation.xml" Id="R51aab2dc2f544085" /></Relationships>
</file>

<file path=ppt/presentation.xml><?xml version="1.0" encoding="utf-8"?>
<p:presentation xmlns:p="http://schemas.openxmlformats.org/presentationml/2006/main">
  <p:sldMasterIdLst>
    <p:sldMasterId xmlns:r="http://schemas.openxmlformats.org/officeDocument/2006/relationships" id="2147483648" r:id="R982b23a03fe94308"/>
  </p:sldMasterIdLst>
  <p:notesMasterIdLst>
    <p:notesMasterId xmlns:r="http://schemas.openxmlformats.org/officeDocument/2006/relationships" r:id="R065d10d854eb4985"/>
  </p:notesMasterIdLst>
  <p:sldIdLst>
    <p:sldId xmlns:r="http://schemas.openxmlformats.org/officeDocument/2006/relationships" id="256" r:id="Rd392815ef5224004"/>
    <p:sldId xmlns:r="http://schemas.openxmlformats.org/officeDocument/2006/relationships" id="257" r:id="Rcea7f98b8eee402c"/>
    <p:sldId xmlns:r="http://schemas.openxmlformats.org/officeDocument/2006/relationships" id="258" r:id="Rbfc4c901645b48a6"/>
    <p:sldId xmlns:r="http://schemas.openxmlformats.org/officeDocument/2006/relationships" id="259" r:id="R44c87c2b20f244fa"/>
    <p:sldId xmlns:r="http://schemas.openxmlformats.org/officeDocument/2006/relationships" id="260" r:id="Rbd54d38c3d354176"/>
    <p:sldId xmlns:r="http://schemas.openxmlformats.org/officeDocument/2006/relationships" id="261" r:id="Rd77bd7bb5ee6468a"/>
    <p:sldId xmlns:r="http://schemas.openxmlformats.org/officeDocument/2006/relationships" id="262" r:id="Rb3ca7ad050724683"/>
    <p:sldId xmlns:r="http://schemas.openxmlformats.org/officeDocument/2006/relationships" id="263" r:id="R0fa19483f2b14329"/>
    <p:sldId xmlns:r="http://schemas.openxmlformats.org/officeDocument/2006/relationships" id="264" r:id="Ra1cf5b34bcc547d0"/>
    <p:sldId xmlns:r="http://schemas.openxmlformats.org/officeDocument/2006/relationships" id="265" r:id="Rc3c5cee027e34a46"/>
    <p:sldId xmlns:r="http://schemas.openxmlformats.org/officeDocument/2006/relationships" id="266" r:id="Rf728ae3b72a04f8e"/>
    <p:sldId xmlns:r="http://schemas.openxmlformats.org/officeDocument/2006/relationships" id="267" r:id="R46b62833fc5144fb"/>
    <p:sldId xmlns:r="http://schemas.openxmlformats.org/officeDocument/2006/relationships" id="268" r:id="R1767b3ac65c74429"/>
    <p:sldId xmlns:r="http://schemas.openxmlformats.org/officeDocument/2006/relationships" id="269" r:id="R5a67ad5b03db4aa0"/>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1e70c96d924a47" /><Relationship Type="http://schemas.openxmlformats.org/officeDocument/2006/relationships/slideMaster" Target="/ppt/slideMasters/slideMaster1.xml" Id="R982b23a03fe94308" /><Relationship Type="http://schemas.openxmlformats.org/officeDocument/2006/relationships/notesMaster" Target="/ppt/notesMasters/notesMaster1.xml" Id="R065d10d854eb4985" /><Relationship Type="http://schemas.openxmlformats.org/officeDocument/2006/relationships/presProps" Target="/ppt/presProps.xml" Id="R76dd113b915f4e9c" /><Relationship Type="http://schemas.openxmlformats.org/officeDocument/2006/relationships/tableStyles" Target="/ppt/tableStyles.xml" Id="R46e57f1556c44c15" /><Relationship Type="http://schemas.openxmlformats.org/officeDocument/2006/relationships/slide" Target="/ppt/slides/slide1.xml" Id="Rd392815ef5224004" /><Relationship Type="http://schemas.openxmlformats.org/officeDocument/2006/relationships/slide" Target="/ppt/slides/slide2.xml" Id="Rcea7f98b8eee402c" /><Relationship Type="http://schemas.openxmlformats.org/officeDocument/2006/relationships/slide" Target="/ppt/slides/slide3.xml" Id="Rbfc4c901645b48a6" /><Relationship Type="http://schemas.openxmlformats.org/officeDocument/2006/relationships/slide" Target="/ppt/slides/slide4.xml" Id="R44c87c2b20f244fa" /><Relationship Type="http://schemas.openxmlformats.org/officeDocument/2006/relationships/slide" Target="/ppt/slides/slide5.xml" Id="Rbd54d38c3d354176" /><Relationship Type="http://schemas.openxmlformats.org/officeDocument/2006/relationships/slide" Target="/ppt/slides/slide6.xml" Id="Rd77bd7bb5ee6468a" /><Relationship Type="http://schemas.openxmlformats.org/officeDocument/2006/relationships/slide" Target="/ppt/slides/slide7.xml" Id="Rb3ca7ad050724683" /><Relationship Type="http://schemas.openxmlformats.org/officeDocument/2006/relationships/slide" Target="/ppt/slides/slide8.xml" Id="R0fa19483f2b14329" /><Relationship Type="http://schemas.openxmlformats.org/officeDocument/2006/relationships/slide" Target="/ppt/slides/slide9.xml" Id="Ra1cf5b34bcc547d0" /><Relationship Type="http://schemas.openxmlformats.org/officeDocument/2006/relationships/slide" Target="/ppt/slides/slide10.xml" Id="Rc3c5cee027e34a46" /><Relationship Type="http://schemas.openxmlformats.org/officeDocument/2006/relationships/slide" Target="/ppt/slides/slide11.xml" Id="Rf728ae3b72a04f8e" /><Relationship Type="http://schemas.openxmlformats.org/officeDocument/2006/relationships/slide" Target="/ppt/slides/slide12.xml" Id="R46b62833fc5144fb" /><Relationship Type="http://schemas.openxmlformats.org/officeDocument/2006/relationships/slide" Target="/ppt/slides/slide13.xml" Id="R1767b3ac65c74429" /><Relationship Type="http://schemas.openxmlformats.org/officeDocument/2006/relationships/slide" Target="/ppt/slides/slide14.xml" Id="R5a67ad5b03db4a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f49a10f0d34c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EAGLE Meeting">
      <a:dk1>
        <a:srgbClr val="000000"/>
      </a:dk1>
      <a:lt1>
        <a:srgbClr val="FFFFFF"/>
      </a:lt1>
      <a:dk2>
        <a:srgbClr val="25252A"/>
      </a:dk2>
      <a:lt2>
        <a:srgbClr val="FFFDF9"/>
      </a:lt2>
      <a:accent1>
        <a:srgbClr val="E36B78"/>
      </a:accent1>
      <a:accent2>
        <a:srgbClr val="47795C"/>
      </a:accent2>
      <a:accent3>
        <a:srgbClr val="BF872B"/>
      </a:accent3>
      <a:accent4>
        <a:srgbClr val="B95160"/>
      </a:accent4>
      <a:accent5>
        <a:srgbClr val="62606A"/>
      </a:accent5>
      <a:accent6>
        <a:srgbClr val="431218"/>
      </a:accent6>
      <a:hlink>
        <a:srgbClr val="B95160"/>
      </a:hlink>
      <a:folHlink>
        <a:srgbClr val="431218"/>
      </a:folHlink>
    </a:clrScheme>
    <a:fontScheme name="Office">
      <a:majorFont>
        <a:latin typeface="Calibri Light"/>
        <a:ea typeface="Calibri Light"/>
        <a:cs typeface="Calibri Light"/>
      </a:majorFont>
      <a:minorFont>
        <a:latin typeface="Calibri"/>
        <a:ea typeface="Calibri"/>
        <a:cs typeface="Calibri"/>
      </a:minorFont>
    </a:fontScheme>
    <a:fmtScheme name="EAGLE Meeting">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c1995083e74379" /><Relationship Type="http://schemas.openxmlformats.org/officeDocument/2006/relationships/notesMaster" Target="/ppt/notesMasters/notesMaster1.xml" Id="R36b19bf62e0642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9fd684696a4d9e" /><Relationship Type="http://schemas.openxmlformats.org/officeDocument/2006/relationships/notesMaster" Target="/ppt/notesMasters/notesMaster1.xml" Id="R65f3c1312a4a40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7af2c6b67e41ba" /><Relationship Type="http://schemas.openxmlformats.org/officeDocument/2006/relationships/notesMaster" Target="/ppt/notesMasters/notesMaster1.xml" Id="Rcaee3d74072046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342eb8a03644d5" /><Relationship Type="http://schemas.openxmlformats.org/officeDocument/2006/relationships/notesMaster" Target="/ppt/notesMasters/notesMaster1.xml" Id="Rd888873b80894e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3a5e3b83a9452e" /><Relationship Type="http://schemas.openxmlformats.org/officeDocument/2006/relationships/notesMaster" Target="/ppt/notesMasters/notesMaster1.xml" Id="R84eb65f0c60646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ceae2830af4ffb" /><Relationship Type="http://schemas.openxmlformats.org/officeDocument/2006/relationships/notesMaster" Target="/ppt/notesMasters/notesMaster1.xml" Id="Rf0ad7fcc5f8f4e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709c01cc2243a0" /><Relationship Type="http://schemas.openxmlformats.org/officeDocument/2006/relationships/notesMaster" Target="/ppt/notesMasters/notesMaster1.xml" Id="Rf793469810ef41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298ab7b6824f51" /><Relationship Type="http://schemas.openxmlformats.org/officeDocument/2006/relationships/notesMaster" Target="/ppt/notesMasters/notesMaster1.xml" Id="Rfe83283240b343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a7baba0b764358" /><Relationship Type="http://schemas.openxmlformats.org/officeDocument/2006/relationships/notesMaster" Target="/ppt/notesMasters/notesMaster1.xml" Id="Ra3dbf6b524a44e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c1dcb82a1743bc" /><Relationship Type="http://schemas.openxmlformats.org/officeDocument/2006/relationships/notesMaster" Target="/ppt/notesMasters/notesMaster1.xml" Id="R9194b193601442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4844c139aa04dbf" /><Relationship Type="http://schemas.openxmlformats.org/officeDocument/2006/relationships/notesMaster" Target="/ppt/notesMasters/notesMaster1.xml" Id="Re618f69e9f6547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4565d99f164821" /><Relationship Type="http://schemas.openxmlformats.org/officeDocument/2006/relationships/notesMaster" Target="/ppt/notesMasters/notesMaster1.xml" Id="R10a71803eaba43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2f3f03e46142c7" /><Relationship Type="http://schemas.openxmlformats.org/officeDocument/2006/relationships/notesMaster" Target="/ppt/notesMasters/notesMaster1.xml" Id="Rbc759f61b03048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99053a5e774744" /><Relationship Type="http://schemas.openxmlformats.org/officeDocument/2006/relationships/notesMaster" Target="/ppt/notesMasters/notesMaster1.xml" Id="R108734cb51844d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/home/mhlab/EAGLE/runs/reflection_inspections/20260904_094043_948222_worker_rush_three_reflections/manifest.json</a:t>
            </a:r>
          </a:p>
          <a:p xmlns:a="http://schemas.openxmlformats.org/drawingml/2006/main">
            <a:r>
              <a:t>Source: /home/mhlab/EAGLE/runs/reflection_inspections/20260904_094043_948222_worker_rush_three_reflections/summary.json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/home/mhlab/EAGLE/runs/reflection_inspections/20260904_094043_948222_worker_rush_three_reflections/summary.md</a:t>
            </a:r>
          </a:p>
          <a:p xmlns:a="http://schemas.openxmlformats.org/drawingml/2006/main">
            <a:r>
              <a:t>Source: /home/mhlab/EAGLE/runs/reflection_inspections/20260904_094043_948222_worker_rush_three_reflections/summary.json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/home/mhlab/EAGLE/runs/reflection_inspections/20260904_094043_948222_worker_rush_three_reflections/inputs/balance/reflection_context.json</a:t>
            </a:r>
          </a:p>
          <a:p xmlns:a="http://schemas.openxmlformats.org/drawingml/2006/main">
            <a:r>
              <a:t>Source: /home/mhlab/EAGLE/runs/reflection_inspections/20260904_094043_948222_worker_rush_three_reflections/baseline/candidates/worker_rush_parent/candidate.json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/home/mhlab/EAGLE/runs/reflection_inspections/20260904_094043_948222_worker_rush_three_reflections/summary.md</a:t>
            </a:r>
          </a:p>
          <a:p xmlns:a="http://schemas.openxmlformats.org/drawingml/2006/main">
            <a:r>
              <a:t>Source: /home/mhlab/EAGLE/runs/reflection_inspections/20260904_094043_948222_worker_rush_three_reflections/summary.json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/home/mhlab/EAGLE/runs/reflection_inspections/20260904_094043_948222_worker_rush_three_reflections/trials/strategy/trial_01/mutation/strategy_reflection/coach_request.json</a:t>
            </a:r>
          </a:p>
          <a:p xmlns:a="http://schemas.openxmlformats.org/drawingml/2006/main">
            <a:r>
              <a:t>Source: /home/mhlab/EAGLE/runs/reflection_inspections/20260904_094043_948222_worker_rush_three_reflections/trials/strategy/trial_01/mutation/strategy_reflection/coach_raw.txt</a:t>
            </a:r>
          </a:p>
          <a:p xmlns:a="http://schemas.openxmlformats.org/drawingml/2006/main">
            <a:r>
              <a:t>Source: /home/mhlab/EAGLE/runs/reflection_inspections/20260904_094043_948222_worker_rush_three_reflections/trials/strategy/trial_01/output/strategy_prompt.txt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/home/mhlab/EAGLE/runs/reflection_inspections/20260904_094043_948222_worker_rush_three_reflections/trials/strategy/trial_02/mutation/strategy_reflection/coach_request.json</a:t>
            </a:r>
          </a:p>
          <a:p xmlns:a="http://schemas.openxmlformats.org/drawingml/2006/main">
            <a:r>
              <a:t>Source: /home/mhlab/EAGLE/runs/reflection_inspections/20260904_094043_948222_worker_rush_three_reflections/trials/strategy/trial_02/mutation/strategy_reflection/coach_raw.txt</a:t>
            </a:r>
          </a:p>
          <a:p xmlns:a="http://schemas.openxmlformats.org/drawingml/2006/main">
            <a:r>
              <a:t>Source: /home/mhlab/EAGLE/runs/reflection_inspections/20260904_094043_948222_worker_rush_three_reflections/trials/strategy/trial_02/output/strategy_prompt.txt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/home/mhlab/EAGLE/runs/reflection_inspections/20260904_094043_948222_worker_rush_three_reflections/trials/strategy/trial_03/mutation/strategy_reflection/coach_request.json</a:t>
            </a:r>
          </a:p>
          <a:p xmlns:a="http://schemas.openxmlformats.org/drawingml/2006/main">
            <a:r>
              <a:t>Source: /home/mhlab/EAGLE/runs/reflection_inspections/20260904_094043_948222_worker_rush_three_reflections/trials/strategy/trial_03/mutation/strategy_reflection/coach_raw.txt</a:t>
            </a:r>
          </a:p>
          <a:p xmlns:a="http://schemas.openxmlformats.org/drawingml/2006/main">
            <a:r>
              <a:t>Source: /home/mhlab/EAGLE/runs/reflection_inspections/20260904_094043_948222_worker_rush_three_reflections/trials/strategy/trial_03/output/strategy_prompt.txt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/home/mhlab/EAGLE/runs/reflection_inspections/20260904_094043_948222_worker_rush_three_reflections/trials/code/trial_01/mutation/code_reflection/reflector_request.txt</a:t>
            </a:r>
          </a:p>
          <a:p xmlns:a="http://schemas.openxmlformats.org/drawingml/2006/main">
            <a:r>
              <a:t>Source: /home/mhlab/EAGLE/runs/reflection_inspections/20260904_094043_948222_worker_rush_three_reflections/trials/code/trial_01/mutation/code_reflection/reflector_response_raw.txt</a:t>
            </a:r>
          </a:p>
          <a:p xmlns:a="http://schemas.openxmlformats.org/drawingml/2006/main">
            <a:r>
              <a:t>Source: /home/mhlab/EAGLE/runs/reflection_inspections/20260904_094043_948222_worker_rush_three_reflections/trials/code/trial_01/output/code_generation_prompt.txt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/home/mhlab/EAGLE/runs/reflection_inspections/20260904_094043_948222_worker_rush_three_reflections/trials/code/trial_02/mutation/code_reflection/reflector_response_raw.txt</a:t>
            </a:r>
          </a:p>
          <a:p xmlns:a="http://schemas.openxmlformats.org/drawingml/2006/main">
            <a:r>
              <a:t>Source: /home/mhlab/EAGLE/runs/reflection_inspections/20260904_094043_948222_worker_rush_three_reflections/trials/code/trial_02/mutation/code_reflection/rewriter_attempt_003_request.txt</a:t>
            </a:r>
          </a:p>
          <a:p xmlns:a="http://schemas.openxmlformats.org/drawingml/2006/main">
            <a:r>
              <a:t>Source: /home/mhlab/EAGLE/runs/reflection_inspections/20260904_094043_948222_worker_rush_three_reflections/trials/code/trial_02/mutation/code_reflection/rewriter_attempt_003_response_raw.txt</a:t>
            </a:r>
          </a:p>
          <a:p xmlns:a="http://schemas.openxmlformats.org/drawingml/2006/main">
            <a:r>
              <a:t>Source: /home/mhlab/EAGLE/runs/reflection_inspections/20260904_094043_948222_worker_rush_three_reflections/trials/code/trial_02/trial_summary.json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/home/mhlab/EAGLE/runs/reflection_inspections/20260904_094043_948222_worker_rush_three_reflections/trials/code/trial_03/mutation/code_reflection/reflector_response_raw.txt</a:t>
            </a:r>
          </a:p>
          <a:p xmlns:a="http://schemas.openxmlformats.org/drawingml/2006/main">
            <a:r>
              <a:t>Source: /home/mhlab/EAGLE/runs/reflection_inspections/20260904_094043_948222_worker_rush_three_reflections/trials/code/trial_03/mutation/code_reflection/rewriter_attempt_003_response_raw.txt</a:t>
            </a:r>
          </a:p>
          <a:p xmlns:a="http://schemas.openxmlformats.org/drawingml/2006/main">
            <a:r>
              <a:t>Source: /home/mhlab/EAGLE/runs/reflection_inspections/20260904_094043_948222_worker_rush_three_reflections/trials/code/trial_03/trial_summary.json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/home/mhlab/EAGLE/runs/reflection_inspections/20260904_094043_948222_worker_rush_three_reflections/trials/balance/trial_01/mutation/balance_reflection/reflector_request.txt</a:t>
            </a:r>
          </a:p>
          <a:p xmlns:a="http://schemas.openxmlformats.org/drawingml/2006/main">
            <a:r>
              <a:t>Source: /home/mhlab/EAGLE/runs/reflection_inspections/20260904_094043_948222_worker_rush_three_reflections/trials/balance/trial_01/mutation/balance_reflection/reflector_attempt_003_response_raw.txt</a:t>
            </a:r>
          </a:p>
          <a:p xmlns:a="http://schemas.openxmlformats.org/drawingml/2006/main">
            <a:r>
              <a:t>Source: /home/mhlab/EAGLE/runs/reflection_inspections/20260904_094043_948222_worker_rush_three_reflections/trials/balance/trial_01/trial_summary.json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/home/mhlab/EAGLE/runs/reflection_inspections/20260904_094043_948222_worker_rush_three_reflections/trials/balance/trial_02/mutation/balance_reflection/reflector_response_raw.txt</a:t>
            </a:r>
          </a:p>
          <a:p xmlns:a="http://schemas.openxmlformats.org/drawingml/2006/main">
            <a:r>
              <a:t>Source: /home/mhlab/EAGLE/runs/reflection_inspections/20260904_094043_948222_worker_rush_three_reflections/trials/balance/trial_02/mutation/balance_reflection/strategy_rewriter_attempt_001_request.txt</a:t>
            </a:r>
          </a:p>
          <a:p xmlns:a="http://schemas.openxmlformats.org/drawingml/2006/main">
            <a:r>
              <a:t>Source: /home/mhlab/EAGLE/runs/reflection_inspections/20260904_094043_948222_worker_rush_three_reflections/trials/balance/trial_02/output/strategy_prompt.txt</a:t>
            </a:r>
          </a:p>
          <a:p xmlns:a="http://schemas.openxmlformats.org/drawingml/2006/main">
            <a:r>
              <a:t>Source: /home/mhlab/EAGLE/runs/reflection_inspections/20260904_094043_948222_worker_rush_three_reflections/trials/balance/trial_02/output/code_generation_prompt.txt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/home/mhlab/EAGLE/runs/reflection_inspections/20260904_094043_948222_worker_rush_three_reflections/trials/balance/trial_03/mutation/balance_reflection/reflector_response_raw.txt</a:t>
            </a:r>
          </a:p>
          <a:p xmlns:a="http://schemas.openxmlformats.org/drawingml/2006/main">
            <a:r>
              <a:t>Source: /home/mhlab/EAGLE/runs/reflection_inspections/20260904_094043_948222_worker_rush_three_reflections/trials/balance/trial_03/mutation/balance_reflection/strategy_rewriter_attempt_001_request.txt</a:t>
            </a:r>
          </a:p>
          <a:p xmlns:a="http://schemas.openxmlformats.org/drawingml/2006/main">
            <a:r>
              <a:t>Source: /home/mhlab/EAGLE/runs/reflection_inspections/20260904_094043_948222_worker_rush_three_reflections/trials/balance/trial_03/output/strategy_prompt.txt</a:t>
            </a:r>
          </a:p>
          <a:p xmlns:a="http://schemas.openxmlformats.org/drawingml/2006/main">
            <a:r>
              <a:t>Source: /home/mhlab/EAGLE/runs/reflection_inspections/20260904_094043_948222_worker_rush_three_reflections/trials/balance/trial_03/output/code_generation_prompt.txt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/home/mhlab/EAGLE/runs/reflection_inspections/20260904_094043_948222_worker_rush_three_reflections/summary.md</a:t>
            </a:r>
          </a:p>
          <a:p xmlns:a="http://schemas.openxmlformats.org/drawingml/2006/main">
            <a:r>
              <a:t>Source: /home/mhlab/EAGLE/runs/reflection_inspections/20260904_094043_948222_worker_rush_three_reflections/trials/strategy</a:t>
            </a:r>
          </a:p>
          <a:p xmlns:a="http://schemas.openxmlformats.org/drawingml/2006/main">
            <a:r>
              <a:t>Source: /home/mhlab/EAGLE/runs/reflection_inspections/20260904_094043_948222_worker_rush_three_reflections/trials/code</a:t>
            </a:r>
          </a:p>
          <a:p xmlns:a="http://schemas.openxmlformats.org/drawingml/2006/main">
            <a:r>
              <a:t>Source: /home/mhlab/EAGLE/runs/reflection_inspections/20260904_094043_948222_worker_rush_three_reflections/trials/balance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61d5af067147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c5d012745649c4" /><Relationship Type="http://schemas.openxmlformats.org/officeDocument/2006/relationships/slideLayout" Target="/ppt/slideLayouts/slideLayout1.xml" Id="R221426c8324f42e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1426c8324f42e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EAGLE Meeting">
      <a:dk1>
        <a:srgbClr val="000000"/>
      </a:dk1>
      <a:lt1>
        <a:srgbClr val="FFFFFF"/>
      </a:lt1>
      <a:dk2>
        <a:srgbClr val="25252A"/>
      </a:dk2>
      <a:lt2>
        <a:srgbClr val="FFFDF9"/>
      </a:lt2>
      <a:accent1>
        <a:srgbClr val="E36B78"/>
      </a:accent1>
      <a:accent2>
        <a:srgbClr val="47795C"/>
      </a:accent2>
      <a:accent3>
        <a:srgbClr val="BF872B"/>
      </a:accent3>
      <a:accent4>
        <a:srgbClr val="B95160"/>
      </a:accent4>
      <a:accent5>
        <a:srgbClr val="62606A"/>
      </a:accent5>
      <a:accent6>
        <a:srgbClr val="431218"/>
      </a:accent6>
      <a:hlink>
        <a:srgbClr val="B95160"/>
      </a:hlink>
      <a:folHlink>
        <a:srgbClr val="431218"/>
      </a:folHlink>
    </a:clrScheme>
    <a:fontScheme name="Office">
      <a:majorFont>
        <a:latin typeface="Calibri Light"/>
        <a:ea typeface="Calibri Light"/>
        <a:cs typeface="Calibri Light"/>
      </a:majorFont>
      <a:minorFont>
        <a:latin typeface="Calibri"/>
        <a:ea typeface="Calibri"/>
        <a:cs typeface="Calibri"/>
      </a:minorFont>
    </a:fontScheme>
    <a:fmtScheme name="EAGLE Meeting">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2844ce2d2d14655" /><Relationship Type="http://schemas.openxmlformats.org/officeDocument/2006/relationships/notesSlide" Target="/ppt/notesSlides/notesSlide1.xml" Id="Rfd4d2330aff240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fc228eb5ad44245" /><Relationship Type="http://schemas.openxmlformats.org/officeDocument/2006/relationships/notesSlide" Target="/ppt/notesSlides/notesSlide2.xml" Id="Rc61785bee86b41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869fa5f6a734d40" /><Relationship Type="http://schemas.openxmlformats.org/officeDocument/2006/relationships/chart" Target="/ppt/slides/charts/chart1.xml" Id="R91c7ed7beb504747" /><Relationship Type="http://schemas.openxmlformats.org/officeDocument/2006/relationships/notesSlide" Target="/ppt/notesSlides/notesSlide3.xml" Id="R234afe4432e84a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1069adba5004453" /><Relationship Type="http://schemas.openxmlformats.org/officeDocument/2006/relationships/chart" Target="/ppt/slides/charts/chart2.xml" Id="R60c918a0ba7b456f" /><Relationship Type="http://schemas.openxmlformats.org/officeDocument/2006/relationships/notesSlide" Target="/ppt/notesSlides/notesSlide4.xml" Id="Rcd983dfd233d44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e4e2f0df094867" /><Relationship Type="http://schemas.openxmlformats.org/officeDocument/2006/relationships/notesSlide" Target="/ppt/notesSlides/notesSlide5.xml" Id="Rf72f19c781904e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b503ce1f7243d5" /><Relationship Type="http://schemas.openxmlformats.org/officeDocument/2006/relationships/notesSlide" Target="/ppt/notesSlides/notesSlide6.xml" Id="Rc76ad6b971014e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cf1961d787460c" /><Relationship Type="http://schemas.openxmlformats.org/officeDocument/2006/relationships/notesSlide" Target="/ppt/notesSlides/notesSlide7.xml" Id="R3cb236cf391640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b3f8e18bf9494e" /><Relationship Type="http://schemas.openxmlformats.org/officeDocument/2006/relationships/notesSlide" Target="/ppt/notesSlides/notesSlide8.xml" Id="R4eeee75e107b40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6ebf317c9624cdc" /><Relationship Type="http://schemas.openxmlformats.org/officeDocument/2006/relationships/notesSlide" Target="/ppt/notesSlides/notesSlide9.xml" Id="Ra104264323684e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1645c9400ee4a0e" /><Relationship Type="http://schemas.openxmlformats.org/officeDocument/2006/relationships/notesSlide" Target="/ppt/notesSlides/notesSlide10.xml" Id="R1dde37509eef4d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6b5b5befceb4f31" /><Relationship Type="http://schemas.openxmlformats.org/officeDocument/2006/relationships/notesSlide" Target="/ppt/notesSlides/notesSlide11.xml" Id="R35e08257ce19419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09d30e9f3ee4ca1" /><Relationship Type="http://schemas.openxmlformats.org/officeDocument/2006/relationships/notesSlide" Target="/ppt/notesSlides/notesSlide12.xml" Id="R2a0e0a403dd7467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f1389420a7a4a9f" /><Relationship Type="http://schemas.openxmlformats.org/officeDocument/2006/relationships/notesSlide" Target="/ppt/notesSlides/notesSlide13.xml" Id="Rf3246aa9aa50482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c48907f5a014ae1" /><Relationship Type="http://schemas.openxmlformats.org/officeDocument/2006/relationships/notesSlide" Target="/ppt/notesSlides/notesSlide14.xml" Id="R9db6f5c947dd49e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Opponent score magnitude</c:v>
          </c:tx>
          <c:spPr>
            <a:solidFill xmlns:a="http://schemas.openxmlformats.org/drawingml/2006/main">
              <a:srgbClr val="E36B78"/>
            </a:solidFill>
          </c:spPr>
          <c:dPt>
            <c:idx val="0"/>
            <c:invertIfNegative val="0"/>
            <c:spPr>
              <a:solidFill xmlns:a="http://schemas.openxmlformats.org/drawingml/2006/main">
                <a:srgbClr val="47795C"/>
              </a:solidFill>
            </c:spPr>
          </c:dPt>
          <c:dPt>
            <c:idx val="1"/>
            <c:invertIfNegative val="0"/>
            <c:spPr>
              <a:solidFill xmlns:a="http://schemas.openxmlformats.org/drawingml/2006/main">
                <a:srgbClr val="47795C"/>
              </a:solidFill>
            </c:spPr>
          </c:dPt>
          <c:dPt>
            <c:idx val="2"/>
            <c:invertIfNegative val="0"/>
            <c:spPr>
              <a:solidFill xmlns:a="http://schemas.openxmlformats.org/drawingml/2006/main">
                <a:srgbClr val="E36B78"/>
              </a:solidFill>
            </c:spPr>
          </c:dPt>
          <c:dPt>
            <c:idx val="3"/>
            <c:invertIfNegative val="0"/>
            <c:spPr>
              <a:solidFill xmlns:a="http://schemas.openxmlformats.org/drawingml/2006/main">
                <a:srgbClr val="E36B78"/>
              </a:solidFill>
            </c:spPr>
          </c:dPt>
          <c:dPt>
            <c:idx val="4"/>
            <c:invertIfNegative val="0"/>
            <c:spPr>
              <a:solidFill xmlns:a="http://schemas.openxmlformats.org/drawingml/2006/main">
                <a:srgbClr val="E36B78"/>
              </a:solidFill>
            </c:spPr>
          </c:dPt>
          <c:dPt>
            <c:idx val="5"/>
            <c:invertIfNegative val="0"/>
            <c:spPr>
              <a:solidFill xmlns:a="http://schemas.openxmlformats.org/drawingml/2006/main">
                <a:srgbClr val="E36B78"/>
              </a:solidFill>
            </c:spPr>
          </c:dPt>
          <c:dPt>
            <c:idx val="6"/>
            <c:invertIfNegative val="0"/>
            <c:spPr>
              <a:solidFill xmlns:a="http://schemas.openxmlformats.org/drawingml/2006/main">
                <a:srgbClr val="E36B78"/>
              </a:solidFill>
            </c:spPr>
          </c:dPt>
          <c:dPt>
            <c:idx val="7"/>
            <c:invertIfNegative val="0"/>
            <c:spPr>
              <a:solidFill xmlns:a="http://schemas.openxmlformats.org/drawingml/2006/main">
                <a:srgbClr val="E36B78"/>
              </a:solidFill>
            </c:spPr>
          </c:dPt>
          <c:dPt>
            <c:idx val="8"/>
            <c:invertIfNegative val="0"/>
            <c:spPr>
              <a:solidFill xmlns:a="http://schemas.openxmlformats.org/drawingml/2006/main">
                <a:srgbClr val="E36B78"/>
              </a:solidFill>
            </c:spPr>
          </c:dPt>
          <c:dPt>
            <c:idx val="9"/>
            <c:invertIfNegative val="0"/>
            <c:spPr>
              <a:solidFill xmlns:a="http://schemas.openxmlformats.org/drawingml/2006/main">
                <a:srgbClr val="E36B78"/>
              </a:solidFill>
            </c:spPr>
          </c:dPt>
          <c:dLbls>
            <c:dLbl>
              <c:idx val="0"/>
              <c:tx>
                <c:rich>
                  <a:bodyPr xmlns:a="http://schemas.openxmlformats.org/drawingml/2006/main"/>
                  <a:lstStyle xmlns:a="http://schemas.openxmlformats.org/drawingml/2006/main"/>
                  <a:p xmlns:a="http://schemas.openxmlformats.org/drawingml/2006/main">
                    <a:r>
                      <a:rPr sz="1050" b="1">
                        <a:solidFill>
                          <a:srgbClr val="25252A"/>
                        </a:solidFill>
                        <a:latin typeface="Noto Sans CJK TC"/>
                        <a:ea typeface="Noto Sans CJK TC"/>
                        <a:cs typeface="Noto Sans CJK TC"/>
                      </a:rPr>
                      <a:t>3.399</a:t>
                    </a:r>
                  </a:p>
                </c:rich>
              </c:tx>
              <c:txPr>
                <a:bodyPr xmlns:a="http://schemas.openxmlformats.org/drawingml/2006/main" anchorCtr="1"/>
                <a:lstStyle xmlns:a="http://schemas.openxmlformats.org/drawingml/2006/main"/>
                <a:p xmlns:a="http://schemas.openxmlformats.org/drawingml/2006/main">
                  <a:pPr>
                    <a:defRPr sz="1050" b="1">
                      <a:solidFill>
                        <a:srgbClr val="25252A"/>
                      </a:solidFill>
                      <a:latin typeface="Noto Sans CJK TC"/>
                      <a:ea typeface="Noto Sans CJK TC"/>
                      <a:cs typeface="Noto Sans CJK TC"/>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050" b="1">
                        <a:solidFill>
                          <a:srgbClr val="25252A"/>
                        </a:solidFill>
                        <a:latin typeface="Noto Sans CJK TC"/>
                        <a:ea typeface="Noto Sans CJK TC"/>
                        <a:cs typeface="Noto Sans CJK TC"/>
                      </a:rPr>
                      <a:t>0.079</a:t>
                    </a:r>
                  </a:p>
                </c:rich>
              </c:tx>
              <c:txPr>
                <a:bodyPr xmlns:a="http://schemas.openxmlformats.org/drawingml/2006/main" anchorCtr="1"/>
                <a:lstStyle xmlns:a="http://schemas.openxmlformats.org/drawingml/2006/main"/>
                <a:p xmlns:a="http://schemas.openxmlformats.org/drawingml/2006/main">
                  <a:pPr>
                    <a:defRPr sz="1050" b="1">
                      <a:solidFill>
                        <a:srgbClr val="25252A"/>
                      </a:solidFill>
                      <a:latin typeface="Noto Sans CJK TC"/>
                      <a:ea typeface="Noto Sans CJK TC"/>
                      <a:cs typeface="Noto Sans CJK TC"/>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050" b="1">
                        <a:solidFill>
                          <a:srgbClr val="25252A"/>
                        </a:solidFill>
                        <a:latin typeface="Noto Sans CJK TC"/>
                        <a:ea typeface="Noto Sans CJK TC"/>
                        <a:cs typeface="Noto Sans CJK TC"/>
                      </a:rPr>
                      <a:t>-34.349</a:t>
                    </a:r>
                  </a:p>
                </c:rich>
              </c:tx>
              <c:txPr>
                <a:bodyPr xmlns:a="http://schemas.openxmlformats.org/drawingml/2006/main" anchorCtr="1"/>
                <a:lstStyle xmlns:a="http://schemas.openxmlformats.org/drawingml/2006/main"/>
                <a:p xmlns:a="http://schemas.openxmlformats.org/drawingml/2006/main">
                  <a:pPr>
                    <a:defRPr sz="1050" b="1">
                      <a:solidFill>
                        <a:srgbClr val="25252A"/>
                      </a:solidFill>
                      <a:latin typeface="Noto Sans CJK TC"/>
                      <a:ea typeface="Noto Sans CJK TC"/>
                      <a:cs typeface="Noto Sans CJK TC"/>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050" b="1">
                        <a:solidFill>
                          <a:srgbClr val="25252A"/>
                        </a:solidFill>
                        <a:latin typeface="Noto Sans CJK TC"/>
                        <a:ea typeface="Noto Sans CJK TC"/>
                        <a:cs typeface="Noto Sans CJK TC"/>
                      </a:rPr>
                      <a:t>-100.842</a:t>
                    </a:r>
                  </a:p>
                </c:rich>
              </c:tx>
              <c:txPr>
                <a:bodyPr xmlns:a="http://schemas.openxmlformats.org/drawingml/2006/main" anchorCtr="1"/>
                <a:lstStyle xmlns:a="http://schemas.openxmlformats.org/drawingml/2006/main"/>
                <a:p xmlns:a="http://schemas.openxmlformats.org/drawingml/2006/main">
                  <a:pPr>
                    <a:defRPr sz="1050" b="1">
                      <a:solidFill>
                        <a:srgbClr val="25252A"/>
                      </a:solidFill>
                      <a:latin typeface="Noto Sans CJK TC"/>
                      <a:ea typeface="Noto Sans CJK TC"/>
                      <a:cs typeface="Noto Sans CJK TC"/>
                    </a:defRPr>
                  </a:pPr>
                </a:p>
              </c:txPr>
              <c:dLblPos val="outEnd"/>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050" b="1">
                        <a:solidFill>
                          <a:srgbClr val="25252A"/>
                        </a:solidFill>
                        <a:latin typeface="Noto Sans CJK TC"/>
                        <a:ea typeface="Noto Sans CJK TC"/>
                        <a:cs typeface="Noto Sans CJK TC"/>
                      </a:rPr>
                      <a:t>-101.096</a:t>
                    </a:r>
                  </a:p>
                </c:rich>
              </c:tx>
              <c:txPr>
                <a:bodyPr xmlns:a="http://schemas.openxmlformats.org/drawingml/2006/main" anchorCtr="1"/>
                <a:lstStyle xmlns:a="http://schemas.openxmlformats.org/drawingml/2006/main"/>
                <a:p xmlns:a="http://schemas.openxmlformats.org/drawingml/2006/main">
                  <a:pPr>
                    <a:defRPr sz="1050" b="1">
                      <a:solidFill>
                        <a:srgbClr val="25252A"/>
                      </a:solidFill>
                      <a:latin typeface="Noto Sans CJK TC"/>
                      <a:ea typeface="Noto Sans CJK TC"/>
                      <a:cs typeface="Noto Sans CJK TC"/>
                    </a:defRPr>
                  </a:pPr>
                </a:p>
              </c:txPr>
              <c:dLblPos val="outEnd"/>
              <c:showLegendKey val="0"/>
              <c:showVal val="0"/>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050" b="1">
                        <a:solidFill>
                          <a:srgbClr val="25252A"/>
                        </a:solidFill>
                        <a:latin typeface="Noto Sans CJK TC"/>
                        <a:ea typeface="Noto Sans CJK TC"/>
                        <a:cs typeface="Noto Sans CJK TC"/>
                      </a:rPr>
                      <a:t>-100.251</a:t>
                    </a:r>
                  </a:p>
                </c:rich>
              </c:tx>
              <c:txPr>
                <a:bodyPr xmlns:a="http://schemas.openxmlformats.org/drawingml/2006/main" anchorCtr="1"/>
                <a:lstStyle xmlns:a="http://schemas.openxmlformats.org/drawingml/2006/main"/>
                <a:p xmlns:a="http://schemas.openxmlformats.org/drawingml/2006/main">
                  <a:pPr>
                    <a:defRPr sz="1050" b="1">
                      <a:solidFill>
                        <a:srgbClr val="25252A"/>
                      </a:solidFill>
                      <a:latin typeface="Noto Sans CJK TC"/>
                      <a:ea typeface="Noto Sans CJK TC"/>
                      <a:cs typeface="Noto Sans CJK TC"/>
                    </a:defRPr>
                  </a:pPr>
                </a:p>
              </c:txPr>
              <c:dLblPos val="outEnd"/>
              <c:showLegendKey val="0"/>
              <c:showVal val="0"/>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050" b="1">
                        <a:solidFill>
                          <a:srgbClr val="25252A"/>
                        </a:solidFill>
                        <a:latin typeface="Noto Sans CJK TC"/>
                        <a:ea typeface="Noto Sans CJK TC"/>
                        <a:cs typeface="Noto Sans CJK TC"/>
                      </a:rPr>
                      <a:t>-99.707</a:t>
                    </a:r>
                  </a:p>
                </c:rich>
              </c:tx>
              <c:txPr>
                <a:bodyPr xmlns:a="http://schemas.openxmlformats.org/drawingml/2006/main" anchorCtr="1"/>
                <a:lstStyle xmlns:a="http://schemas.openxmlformats.org/drawingml/2006/main"/>
                <a:p xmlns:a="http://schemas.openxmlformats.org/drawingml/2006/main">
                  <a:pPr>
                    <a:defRPr sz="1050" b="1">
                      <a:solidFill>
                        <a:srgbClr val="25252A"/>
                      </a:solidFill>
                      <a:latin typeface="Noto Sans CJK TC"/>
                      <a:ea typeface="Noto Sans CJK TC"/>
                      <a:cs typeface="Noto Sans CJK TC"/>
                    </a:defRPr>
                  </a:pPr>
                </a:p>
              </c:txPr>
              <c:dLblPos val="outEnd"/>
              <c:showLegendKey val="0"/>
              <c:showVal val="0"/>
              <c:showCatName val="0"/>
              <c:showSerName val="0"/>
              <c:showPercent val="0"/>
              <c:showBubbleSize val="0"/>
            </c:dLbl>
            <c:dLbl>
              <c:idx val="7"/>
              <c:tx>
                <c:rich>
                  <a:bodyPr xmlns:a="http://schemas.openxmlformats.org/drawingml/2006/main"/>
                  <a:lstStyle xmlns:a="http://schemas.openxmlformats.org/drawingml/2006/main"/>
                  <a:p xmlns:a="http://schemas.openxmlformats.org/drawingml/2006/main">
                    <a:r>
                      <a:rPr sz="1050" b="1">
                        <a:solidFill>
                          <a:srgbClr val="25252A"/>
                        </a:solidFill>
                        <a:latin typeface="Noto Sans CJK TC"/>
                        <a:ea typeface="Noto Sans CJK TC"/>
                        <a:cs typeface="Noto Sans CJK TC"/>
                      </a:rPr>
                      <a:t>-102.465</a:t>
                    </a:r>
                  </a:p>
                </c:rich>
              </c:tx>
              <c:txPr>
                <a:bodyPr xmlns:a="http://schemas.openxmlformats.org/drawingml/2006/main" anchorCtr="1"/>
                <a:lstStyle xmlns:a="http://schemas.openxmlformats.org/drawingml/2006/main"/>
                <a:p xmlns:a="http://schemas.openxmlformats.org/drawingml/2006/main">
                  <a:pPr>
                    <a:defRPr sz="1050" b="1">
                      <a:solidFill>
                        <a:srgbClr val="25252A"/>
                      </a:solidFill>
                      <a:latin typeface="Noto Sans CJK TC"/>
                      <a:ea typeface="Noto Sans CJK TC"/>
                      <a:cs typeface="Noto Sans CJK TC"/>
                    </a:defRPr>
                  </a:pPr>
                </a:p>
              </c:txPr>
              <c:dLblPos val="outEnd"/>
              <c:showLegendKey val="0"/>
              <c:showVal val="0"/>
              <c:showCatName val="0"/>
              <c:showSerName val="0"/>
              <c:showPercent val="0"/>
              <c:showBubbleSize val="0"/>
            </c:dLbl>
            <c:dLbl>
              <c:idx val="8"/>
              <c:tx>
                <c:rich>
                  <a:bodyPr xmlns:a="http://schemas.openxmlformats.org/drawingml/2006/main"/>
                  <a:lstStyle xmlns:a="http://schemas.openxmlformats.org/drawingml/2006/main"/>
                  <a:p xmlns:a="http://schemas.openxmlformats.org/drawingml/2006/main">
                    <a:r>
                      <a:rPr sz="1050" b="1">
                        <a:solidFill>
                          <a:srgbClr val="25252A"/>
                        </a:solidFill>
                        <a:latin typeface="Noto Sans CJK TC"/>
                        <a:ea typeface="Noto Sans CJK TC"/>
                        <a:cs typeface="Noto Sans CJK TC"/>
                      </a:rPr>
                      <a:t>-102.312</a:t>
                    </a:r>
                  </a:p>
                </c:rich>
              </c:tx>
              <c:txPr>
                <a:bodyPr xmlns:a="http://schemas.openxmlformats.org/drawingml/2006/main" anchorCtr="1"/>
                <a:lstStyle xmlns:a="http://schemas.openxmlformats.org/drawingml/2006/main"/>
                <a:p xmlns:a="http://schemas.openxmlformats.org/drawingml/2006/main">
                  <a:pPr>
                    <a:defRPr sz="1050" b="1">
                      <a:solidFill>
                        <a:srgbClr val="25252A"/>
                      </a:solidFill>
                      <a:latin typeface="Noto Sans CJK TC"/>
                      <a:ea typeface="Noto Sans CJK TC"/>
                      <a:cs typeface="Noto Sans CJK TC"/>
                    </a:defRPr>
                  </a:pPr>
                </a:p>
              </c:txPr>
              <c:dLblPos val="outEnd"/>
              <c:showLegendKey val="0"/>
              <c:showVal val="0"/>
              <c:showCatName val="0"/>
              <c:showSerName val="0"/>
              <c:showPercent val="0"/>
              <c:showBubbleSize val="0"/>
            </c:dLbl>
            <c:dLbl>
              <c:idx val="9"/>
              <c:tx>
                <c:rich>
                  <a:bodyPr xmlns:a="http://schemas.openxmlformats.org/drawingml/2006/main"/>
                  <a:lstStyle xmlns:a="http://schemas.openxmlformats.org/drawingml/2006/main"/>
                  <a:p xmlns:a="http://schemas.openxmlformats.org/drawingml/2006/main">
                    <a:r>
                      <a:rPr sz="1050" b="1">
                        <a:solidFill>
                          <a:srgbClr val="25252A"/>
                        </a:solidFill>
                        <a:latin typeface="Noto Sans CJK TC"/>
                        <a:ea typeface="Noto Sans CJK TC"/>
                        <a:cs typeface="Noto Sans CJK TC"/>
                      </a:rPr>
                      <a:t>-101.180</a:t>
                    </a:r>
                  </a:p>
                </c:rich>
              </c:tx>
              <c:txPr>
                <a:bodyPr xmlns:a="http://schemas.openxmlformats.org/drawingml/2006/main" anchorCtr="1"/>
                <a:lstStyle xmlns:a="http://schemas.openxmlformats.org/drawingml/2006/main"/>
                <a:p xmlns:a="http://schemas.openxmlformats.org/drawingml/2006/main">
                  <a:pPr>
                    <a:defRPr sz="1050" b="1">
                      <a:solidFill>
                        <a:srgbClr val="25252A"/>
                      </a:solidFill>
                      <a:latin typeface="Noto Sans CJK TC"/>
                      <a:ea typeface="Noto Sans CJK TC"/>
                      <a:cs typeface="Noto Sans CJK TC"/>
                    </a:defRPr>
                  </a:pPr>
                </a:p>
              </c:txPr>
              <c:dLblPos val="outEnd"/>
              <c:showLegendKey val="0"/>
              <c:showVal val="0"/>
              <c:showCatName val="0"/>
              <c:showSerName val="0"/>
              <c:showPercent val="0"/>
              <c:showBubbleSize val="0"/>
            </c:dLbl>
          </c:dLbls>
          <c:cat>
            <c:strRef>
              <c:f>'Chart Data'!$A$2:$A$11</c:f>
              <c:strCache>
                <c:ptCount val="10"/>
                <c:pt idx="0">
                  <c:v>Passive</c:v>
                </c:pt>
                <c:pt idx="1">
                  <c:v>Random</c:v>
                </c:pt>
                <c:pt idx="2">
                  <c:v>Randombias</c:v>
                </c:pt>
                <c:pt idx="3">
                  <c:v>LightRush</c:v>
                </c:pt>
                <c:pt idx="4">
                  <c:v>HeavyRush</c:v>
                </c:pt>
                <c:pt idx="5">
                  <c:v>WorkerRush</c:v>
                </c:pt>
                <c:pt idx="6">
                  <c:v>AllInBot</c:v>
                </c:pt>
                <c:pt idx="7">
                  <c:v>Mayari</c:v>
                </c:pt>
                <c:pt idx="8">
                  <c:v>COAC</c:v>
                </c:pt>
                <c:pt idx="9">
                  <c:v>TMA</c:v>
                </c:pt>
              </c:strCache>
            </c:strRef>
          </c:cat>
          <c:val>
            <c:numRef>
              <c:f>'Chart Data'!$B$2:$B$11</c:f>
              <c:numCache>
                <c:formatCode>General</c:formatCode>
                <c:ptCount val="10"/>
                <c:pt idx="0">
                  <c:v>3.399455</c:v>
                </c:pt>
                <c:pt idx="1">
                  <c:v>0.078562</c:v>
                </c:pt>
                <c:pt idx="2">
                  <c:v>34.349437</c:v>
                </c:pt>
                <c:pt idx="3">
                  <c:v>100.84174</c:v>
                </c:pt>
                <c:pt idx="4">
                  <c:v>101.095999</c:v>
                </c:pt>
                <c:pt idx="5">
                  <c:v>100.250835</c:v>
                </c:pt>
                <c:pt idx="6">
                  <c:v>99.706806</c:v>
                </c:pt>
                <c:pt idx="7">
                  <c:v>102.465154</c:v>
                </c:pt>
                <c:pt idx="8">
                  <c:v>102.312106</c:v>
                </c:pt>
                <c:pt idx="9">
                  <c:v>101.180077</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25252A"/>
                  </a:solidFill>
                  <a:latin typeface="Noto Sans CJK TC"/>
                  <a:ea typeface="Noto Sans CJK TC"/>
                  <a:cs typeface="Noto Sans CJK TC"/>
                </a:defRPr>
              </a:pPr>
            </a:p>
          </c:txPr>
          <c:dLblPos val="outEnd"/>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8DDDA"/>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2606A"/>
                </a:solidFill>
                <a:latin typeface="Noto Sans CJK TC"/>
                <a:ea typeface="Noto Sans CJK TC"/>
                <a:cs typeface="Noto Sans CJK TC"/>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E7B9B5"/>
            </a:solidFill>
            <a:prstDash val="solid"/>
          </a:ln>
        </c:spPr>
        <c:txPr>
          <a:bodyPr xmlns:a="http://schemas.openxmlformats.org/drawingml/2006/main" anchorCtr="1"/>
          <a:lstStyle xmlns:a="http://schemas.openxmlformats.org/drawingml/2006/main"/>
          <a:p xmlns:a="http://schemas.openxmlformats.org/drawingml/2006/main">
            <a:pPr>
              <a:defRPr sz="1200">
                <a:solidFill>
                  <a:srgbClr val="25252A"/>
                </a:solidFill>
                <a:latin typeface="Noto Sans CJK TC"/>
                <a:ea typeface="Noto Sans CJK TC"/>
                <a:cs typeface="Noto Sans CJK TC"/>
              </a:defRPr>
            </a:pPr>
          </a:p>
        </c:txPr>
        <c:crossAx val="48650112"/>
        <c:crossBetween val="between"/>
      </c:valAx>
      <c:spPr>
        <a:solidFill xmlns:a="http://schemas.openxmlformats.org/drawingml/2006/main">
          <a:srgbClr val="FFFDF9"/>
        </a:solidFill>
        <a:ln xmlns:a="http://schemas.openxmlformats.org/drawingml/2006/main" w="0">
          <a:noFill/>
        </a:ln>
      </c:spPr>
    </c:plotArea>
    <c:plotVisOnly val="1"/>
  </c:chart>
  <c:spPr>
    <a:solidFill xmlns:a="http://schemas.openxmlformats.org/drawingml/2006/main">
      <a:srgbClr val="FFFDF9"/>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Applied</c:v>
          </c:tx>
          <c:spPr>
            <a:solidFill xmlns:a="http://schemas.openxmlformats.org/drawingml/2006/main">
              <a:srgbClr val="47795C"/>
            </a:solidFill>
          </c:spPr>
          <c:cat>
            <c:strRef>
              <c:f>'Chart Data'!$A$2:$A$4</c:f>
              <c:strCache>
                <c:ptCount val="3"/>
                <c:pt idx="0">
                  <c:v>Strategy</c:v>
                </c:pt>
                <c:pt idx="1">
                  <c:v>Code</c:v>
                </c:pt>
                <c:pt idx="2">
                  <c:v>Balance</c:v>
                </c:pt>
              </c:strCache>
            </c:strRef>
          </c:cat>
          <c:val>
            <c:numRef>
              <c:f>'Chart Data'!$B$2:$B$4</c:f>
              <c:numCache>
                <c:formatCode>General</c:formatCode>
                <c:ptCount val="3"/>
                <c:pt idx="0">
                  <c:v>3</c:v>
                </c:pt>
                <c:pt idx="1">
                  <c:v>1</c:v>
                </c:pt>
                <c:pt idx="2">
                  <c:v>2</c:v>
                </c:pt>
              </c:numCache>
            </c:numRef>
          </c:val>
        </c:ser>
        <c:ser>
          <c:idx val="1"/>
          <c:order val="1"/>
          <c:tx>
            <c:v>Failed</c:v>
          </c:tx>
          <c:spPr>
            <a:solidFill xmlns:a="http://schemas.openxmlformats.org/drawingml/2006/main">
              <a:srgbClr val="E36B78"/>
            </a:solidFill>
          </c:spPr>
          <c:cat>
            <c:strRef>
              <c:f>'Chart Data'!$C$2:$C$4</c:f>
              <c:strCache>
                <c:ptCount val="3"/>
                <c:pt idx="0">
                  <c:v>Strategy</c:v>
                </c:pt>
                <c:pt idx="1">
                  <c:v>Code</c:v>
                </c:pt>
                <c:pt idx="2">
                  <c:v>Balance</c:v>
                </c:pt>
              </c:strCache>
            </c:strRef>
          </c:cat>
          <c:val>
            <c:numRef>
              <c:f>'Chart Data'!$D$2:$D$4</c:f>
              <c:numCache>
                <c:formatCode>General</c:formatCode>
                <c:ptCount val="3"/>
                <c:pt idx="0">
                  <c:v>0</c:v>
                </c:pt>
                <c:pt idx="1">
                  <c:v>2</c:v>
                </c:pt>
                <c:pt idx="2">
                  <c:v>1</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FFFFFF"/>
                  </a:solidFill>
                  <a:latin typeface="Noto Sans CJK TC"/>
                  <a:ea typeface="Noto Sans CJK TC"/>
                  <a:cs typeface="Noto Sans CJK TC"/>
                </a:defRPr>
              </a:pPr>
            </a:p>
          </c:txPr>
          <c:dLblPos val="ctr"/>
          <c:showLegendKey val="0"/>
          <c:showVal val="1"/>
          <c:showCatName val="0"/>
          <c:showSerName val="0"/>
          <c:showPercent val="0"/>
          <c:showBubbleSize val="0"/>
          <c:showLeaderLines val="0"/>
        </c:dLbls>
        <c:gapWidth val="6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7B9B5"/>
            </a:solidFill>
            <a:prstDash val="solid"/>
          </a:ln>
        </c:spPr>
        <c:txPr>
          <a:bodyPr xmlns:a="http://schemas.openxmlformats.org/drawingml/2006/main" anchorCtr="1"/>
          <a:lstStyle xmlns:a="http://schemas.openxmlformats.org/drawingml/2006/main"/>
          <a:p xmlns:a="http://schemas.openxmlformats.org/drawingml/2006/main">
            <a:pPr>
              <a:defRPr sz="1350">
                <a:solidFill>
                  <a:srgbClr val="25252A"/>
                </a:solidFill>
                <a:latin typeface="Noto Sans CJK TC"/>
                <a:ea typeface="Noto Sans CJK TC"/>
                <a:cs typeface="Noto Sans CJK TC"/>
              </a:defRPr>
            </a:pPr>
          </a:p>
        </c:txPr>
        <c:crossAx val="48672768"/>
      </c:catAx>
      <c:valAx>
        <c:axId val="48672768"/>
        <c:scaling>
          <c:orientation val="minMax"/>
          <c:max val="3"/>
          <c:min val="0"/>
        </c:scaling>
        <c:delete val="0"/>
        <c:axPos val="l"/>
        <c:majorGridlines>
          <c:spPr>
            <a:ln xmlns:a="http://schemas.openxmlformats.org/drawingml/2006/main" w="9525">
              <a:solidFill>
                <a:srgbClr val="E8DDDA"/>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2606A"/>
                </a:solidFill>
                <a:latin typeface="Noto Sans CJK TC"/>
                <a:ea typeface="Noto Sans CJK TC"/>
                <a:cs typeface="Noto Sans CJK TC"/>
              </a:defRPr>
            </a:pPr>
          </a:p>
        </c:txPr>
        <c:crossAx val="48650112"/>
        <c:crossBetween val="between"/>
        <c:majorUnit val="1"/>
      </c:valAx>
      <c:spPr>
        <a:solidFill xmlns:a="http://schemas.openxmlformats.org/drawingml/2006/main">
          <a:srgbClr val="FFFDF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62606A"/>
              </a:solidFill>
              <a:latin typeface="Noto Sans CJK TC"/>
              <a:ea typeface="Noto Sans CJK TC"/>
              <a:cs typeface="Noto Sans CJK TC"/>
            </a:defRPr>
          </a:pPr>
        </a:p>
      </c:txPr>
    </c:legend>
    <c:plotVisOnly val="1"/>
  </c:chart>
  <c:spPr>
    <a:solidFill xmlns:a="http://schemas.openxmlformats.org/drawingml/2006/main">
      <a:srgbClr val="FFFDF9"/>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4273CB2-3943-4615-969B-8A3D2189E81F}"/>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
            <a:extLst xmlns:a="http://schemas.openxmlformats.org/drawingml/2006/main">
              <a:ext uri="{FF2B5EF4-FFF2-40B4-BE49-F238E27FC236}">
                <a16:creationId xmlns:a16="http://schemas.microsoft.com/office/drawing/2014/main" id="{6A0D6D3E-9AF5-438F-9B95-AA9B29BED384}"/>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
            <a:extLst xmlns:a="http://schemas.openxmlformats.org/drawingml/2006/main">
              <a:ext uri="{FF2B5EF4-FFF2-40B4-BE49-F238E27FC236}">
                <a16:creationId xmlns:a16="http://schemas.microsoft.com/office/drawing/2014/main" id="{5E895E59-CC36-4F00-B801-FE6F08FEAA2D}"/>
              </a:ext>
            </a:extLst>
          </p:cNvPr>
          <p:cNvSpPr>
            <a:spLocks xmlns:a="http://schemas.openxmlformats.org/drawingml/2006/main" noGrp="1"/>
          </p:cNvSpPr>
          <p:nvPr/>
        </p:nvSpPr>
        <p:spPr>
          <a:xfrm xmlns:a="http://schemas.openxmlformats.org/drawingml/2006/main">
            <a:off x="9010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4" name="">
            <a:extLst xmlns:a="http://schemas.openxmlformats.org/drawingml/2006/main">
              <a:ext uri="{FF2B5EF4-FFF2-40B4-BE49-F238E27FC236}">
                <a16:creationId xmlns:a16="http://schemas.microsoft.com/office/drawing/2014/main" id="{55F20215-CDFB-4E03-9EDC-A993B7B52DEC}"/>
              </a:ext>
            </a:extLst>
          </p:cNvPr>
          <p:cNvSpPr>
            <a:spLocks xmlns:a="http://schemas.openxmlformats.org/drawingml/2006/main" noGrp="1"/>
          </p:cNvSpPr>
          <p:nvPr/>
        </p:nvSpPr>
        <p:spPr>
          <a:xfrm xmlns:a="http://schemas.openxmlformats.org/drawingml/2006/main">
            <a:off x="92011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5" name="">
            <a:extLst xmlns:a="http://schemas.openxmlformats.org/drawingml/2006/main">
              <a:ext uri="{FF2B5EF4-FFF2-40B4-BE49-F238E27FC236}">
                <a16:creationId xmlns:a16="http://schemas.microsoft.com/office/drawing/2014/main" id="{61179617-54A9-40EB-B50B-7ED125C4A2BB}"/>
              </a:ext>
            </a:extLst>
          </p:cNvPr>
          <p:cNvSpPr>
            <a:spLocks xmlns:a="http://schemas.openxmlformats.org/drawingml/2006/main" noGrp="1"/>
          </p:cNvSpPr>
          <p:nvPr/>
        </p:nvSpPr>
        <p:spPr>
          <a:xfrm xmlns:a="http://schemas.openxmlformats.org/drawingml/2006/main">
            <a:off x="9391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6" name="">
            <a:extLst xmlns:a="http://schemas.openxmlformats.org/drawingml/2006/main">
              <a:ext uri="{FF2B5EF4-FFF2-40B4-BE49-F238E27FC236}">
                <a16:creationId xmlns:a16="http://schemas.microsoft.com/office/drawing/2014/main" id="{C068A7D9-A7C4-4F07-86CB-B54384415001}"/>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7" name="">
            <a:extLst xmlns:a="http://schemas.openxmlformats.org/drawingml/2006/main">
              <a:ext uri="{FF2B5EF4-FFF2-40B4-BE49-F238E27FC236}">
                <a16:creationId xmlns:a16="http://schemas.microsoft.com/office/drawing/2014/main" id="{2409CDB8-289F-4F03-933F-B3475822EFBE}"/>
              </a:ext>
            </a:extLst>
          </p:cNvPr>
          <p:cNvSpPr>
            <a:spLocks xmlns:a="http://schemas.openxmlformats.org/drawingml/2006/main" noGrp="1"/>
          </p:cNvSpPr>
          <p:nvPr/>
        </p:nvSpPr>
        <p:spPr>
          <a:xfrm xmlns:a="http://schemas.openxmlformats.org/drawingml/2006/main">
            <a:off x="952500" y="109537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EAGLE REFLECTION INSPECTION</a:t>
            </a:r>
          </a:p>
        </p:txBody>
      </p:sp>
      <p:sp>
        <p:nvSpPr>
          <p:cNvPr id="8" name="">
            <a:extLst xmlns:a="http://schemas.openxmlformats.org/drawingml/2006/main">
              <a:ext uri="{FF2B5EF4-FFF2-40B4-BE49-F238E27FC236}">
                <a16:creationId xmlns:a16="http://schemas.microsoft.com/office/drawing/2014/main" id="{D1B97B41-2AF4-45CF-B6BA-C1DB9581834E}"/>
              </a:ext>
            </a:extLst>
          </p:cNvPr>
          <p:cNvSpPr>
            <a:spLocks xmlns:a="http://schemas.openxmlformats.org/drawingml/2006/main" noGrp="1"/>
          </p:cNvSpPr>
          <p:nvPr/>
        </p:nvSpPr>
        <p:spPr>
          <a:xfrm xmlns:a="http://schemas.openxmlformats.org/drawingml/2006/main">
            <a:off x="952500" y="1952625"/>
            <a:ext cx="12573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5400" b="1" i="0">
                <a:solidFill>
                  <a:srgbClr val="431218"/>
                </a:solidFill>
                <a:latin typeface="Noto Serif CJK TC"/>
                <a:ea typeface="Noto Serif CJK TC"/>
                <a:cs typeface="Noto Serif CJK TC"/>
              </a:defRPr>
            </a:pPr>
            <a:r>
              <a:rPr sz="5400" b="1" i="0">
                <a:solidFill>
                  <a:srgbClr val="431218"/>
                </a:solidFill>
                <a:latin typeface="Noto Serif CJK TC"/>
                <a:ea typeface="Noto Serif CJK TC"/>
                <a:cs typeface="Noto Serif CJK TC"/>
              </a:rPr>
              <a:t>Worker Rush</a:t>
            </a:r>
          </a:p>
          <a:p xmlns:a="http://schemas.openxmlformats.org/drawingml/2006/main">
            <a:pPr algn="l">
              <a:defRPr sz="5400" b="1" i="0">
                <a:solidFill>
                  <a:srgbClr val="431218"/>
                </a:solidFill>
                <a:latin typeface="Noto Serif CJK TC"/>
                <a:ea typeface="Noto Serif CJK TC"/>
                <a:cs typeface="Noto Serif CJK TC"/>
              </a:defRPr>
            </a:pPr>
            <a:r>
              <a:rPr sz="5400" b="1" i="0">
                <a:solidFill>
                  <a:srgbClr val="431218"/>
                </a:solidFill>
                <a:latin typeface="Noto Serif CJK TC"/>
                <a:ea typeface="Noto Serif CJK TC"/>
                <a:cs typeface="Noto Serif CJK TC"/>
              </a:rPr>
              <a:t>三種 Reflection 再驗證</a:t>
            </a:r>
          </a:p>
        </p:txBody>
      </p:sp>
      <p:sp>
        <p:nvSpPr>
          <p:cNvPr id="9" name="">
            <a:extLst xmlns:a="http://schemas.openxmlformats.org/drawingml/2006/main">
              <a:ext uri="{FF2B5EF4-FFF2-40B4-BE49-F238E27FC236}">
                <a16:creationId xmlns:a16="http://schemas.microsoft.com/office/drawing/2014/main" id="{1CF40BAA-7672-49D4-ABDA-83FD9EC1B2CE}"/>
              </a:ext>
            </a:extLst>
          </p:cNvPr>
          <p:cNvSpPr>
            <a:spLocks xmlns:a="http://schemas.openxmlformats.org/drawingml/2006/main" noGrp="1"/>
          </p:cNvSpPr>
          <p:nvPr/>
        </p:nvSpPr>
        <p:spPr>
          <a:xfrm xmlns:a="http://schemas.openxmlformats.org/drawingml/2006/main">
            <a:off x="1028700" y="452437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250" b="0" i="0">
                <a:solidFill>
                  <a:srgbClr val="62606A"/>
                </a:solidFill>
                <a:latin typeface="Noto Sans CJK TC"/>
                <a:ea typeface="Noto Sans CJK TC"/>
                <a:cs typeface="Noto Sans CJK TC"/>
              </a:defRPr>
            </a:pPr>
            <a:r>
              <a:rPr sz="2250" b="0" i="0">
                <a:solidFill>
                  <a:srgbClr val="62606A"/>
                </a:solidFill>
                <a:latin typeface="Noto Sans CJK TC"/>
                <a:ea typeface="Noto Sans CJK TC"/>
                <a:cs typeface="Noto Sans CJK TC"/>
              </a:rPr>
              <a:t>固定父代、相同 evaluation context、每種各三次</a:t>
            </a:r>
          </a:p>
        </p:txBody>
      </p:sp>
      <p:sp>
        <p:nvSpPr>
          <p:cNvPr id="10" name="cover-result">
            <a:extLst xmlns:a="http://schemas.openxmlformats.org/drawingml/2006/main">
              <a:ext uri="{FF2B5EF4-FFF2-40B4-BE49-F238E27FC236}">
                <a16:creationId xmlns:a16="http://schemas.microsoft.com/office/drawing/2014/main" id="{FDB7C80D-9050-4A92-B3F2-F13EC49B273D}"/>
              </a:ext>
            </a:extLst>
          </p:cNvPr>
          <p:cNvSpPr>
            <a:spLocks xmlns:a="http://schemas.openxmlformats.org/drawingml/2006/main" noGrp="1"/>
          </p:cNvSpPr>
          <p:nvPr/>
        </p:nvSpPr>
        <p:spPr>
          <a:xfrm xmlns:a="http://schemas.openxmlformats.org/drawingml/2006/main">
            <a:off x="952500" y="6191250"/>
            <a:ext cx="16383000" cy="2000250"/>
          </a:xfrm>
          <a:prstGeom xmlns:a="http://schemas.openxmlformats.org/drawingml/2006/main" prst="roundRect">
            <a:avLst>
              <a:gd name="adj" fmla="val 3810"/>
            </a:avLst>
          </a:prstGeom>
          <a:solidFill xmlns:a="http://schemas.openxmlformats.org/drawingml/2006/main">
            <a:srgbClr val="FFF3F1"/>
          </a:solidFill>
          <a:ln xmlns:a="http://schemas.openxmlformats.org/drawingml/2006/main" w="9525">
            <a:solidFill>
              <a:srgbClr val="E7B9B5"/>
            </a:solidFill>
            <a:prstDash val="solid"/>
          </a:ln>
        </p:spPr>
      </p:sp>
      <p:sp>
        <p:nvSpPr>
          <p:cNvPr id="11" name="">
            <a:extLst xmlns:a="http://schemas.openxmlformats.org/drawingml/2006/main">
              <a:ext uri="{FF2B5EF4-FFF2-40B4-BE49-F238E27FC236}">
                <a16:creationId xmlns:a16="http://schemas.microsoft.com/office/drawing/2014/main" id="{2F1B41EB-D242-4352-9BB4-8E79A7C690FF}"/>
              </a:ext>
            </a:extLst>
          </p:cNvPr>
          <p:cNvSpPr>
            <a:spLocks xmlns:a="http://schemas.openxmlformats.org/drawingml/2006/main" noGrp="1"/>
          </p:cNvSpPr>
          <p:nvPr/>
        </p:nvSpPr>
        <p:spPr>
          <a:xfrm xmlns:a="http://schemas.openxmlformats.org/drawingml/2006/main">
            <a:off x="1476375" y="6477000"/>
            <a:ext cx="133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171"/>
          </a:bodyPr>
          <a:lstStyle xmlns:a="http://schemas.openxmlformats.org/drawingml/2006/main"/>
          <a:p xmlns:a="http://schemas.openxmlformats.org/drawingml/2006/main">
            <a:pPr algn="l">
              <a:defRPr sz="5550" b="1" i="0">
                <a:solidFill>
                  <a:srgbClr val="B95160"/>
                </a:solidFill>
                <a:latin typeface="Noto Serif CJK TC"/>
                <a:ea typeface="Noto Serif CJK TC"/>
                <a:cs typeface="Noto Serif CJK TC"/>
              </a:defRPr>
            </a:pPr>
            <a:r>
              <a:rPr sz="5550" b="1" i="0">
                <a:solidFill>
                  <a:srgbClr val="B95160"/>
                </a:solidFill>
                <a:latin typeface="Noto Serif CJK TC"/>
                <a:ea typeface="Noto Serif CJK TC"/>
                <a:cs typeface="Noto Serif CJK TC"/>
              </a:rPr>
              <a:t>9</a:t>
            </a:r>
          </a:p>
        </p:txBody>
      </p:sp>
      <p:sp>
        <p:nvSpPr>
          <p:cNvPr id="12" name="">
            <a:extLst xmlns:a="http://schemas.openxmlformats.org/drawingml/2006/main">
              <a:ext uri="{FF2B5EF4-FFF2-40B4-BE49-F238E27FC236}">
                <a16:creationId xmlns:a16="http://schemas.microsoft.com/office/drawing/2014/main" id="{F6032DB3-C290-4423-BD99-AA1E3DE83F52}"/>
              </a:ext>
            </a:extLst>
          </p:cNvPr>
          <p:cNvSpPr>
            <a:spLocks xmlns:a="http://schemas.openxmlformats.org/drawingml/2006/main" noGrp="1"/>
          </p:cNvSpPr>
          <p:nvPr/>
        </p:nvSpPr>
        <p:spPr>
          <a:xfrm xmlns:a="http://schemas.openxmlformats.org/drawingml/2006/main">
            <a:off x="2952750" y="6743700"/>
            <a:ext cx="390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25252A"/>
                </a:solidFill>
                <a:latin typeface="Noto Sans CJK TC"/>
                <a:ea typeface="Noto Sans CJK TC"/>
                <a:cs typeface="Noto Sans CJK TC"/>
              </a:defRPr>
            </a:pPr>
            <a:r>
              <a:rPr sz="2100" b="1" i="0">
                <a:solidFill>
                  <a:srgbClr val="25252A"/>
                </a:solidFill>
                <a:latin typeface="Noto Sans CJK TC"/>
                <a:ea typeface="Noto Sans CJK TC"/>
                <a:cs typeface="Noto Sans CJK TC"/>
              </a:rPr>
              <a:t>trials 全部完成</a:t>
            </a:r>
          </a:p>
        </p:txBody>
      </p:sp>
      <p:sp>
        <p:nvSpPr>
          <p:cNvPr id="13" name="">
            <a:extLst xmlns:a="http://schemas.openxmlformats.org/drawingml/2006/main">
              <a:ext uri="{FF2B5EF4-FFF2-40B4-BE49-F238E27FC236}">
                <a16:creationId xmlns:a16="http://schemas.microsoft.com/office/drawing/2014/main" id="{0A7DBBB4-7FD8-450F-9B29-9743A7A16511}"/>
              </a:ext>
            </a:extLst>
          </p:cNvPr>
          <p:cNvSpPr>
            <a:spLocks xmlns:a="http://schemas.openxmlformats.org/drawingml/2006/main" noGrp="1"/>
          </p:cNvSpPr>
          <p:nvPr/>
        </p:nvSpPr>
        <p:spPr>
          <a:xfrm xmlns:a="http://schemas.openxmlformats.org/drawingml/2006/main">
            <a:off x="8096250" y="6477000"/>
            <a:ext cx="247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171"/>
          </a:bodyPr>
          <a:lstStyle xmlns:a="http://schemas.openxmlformats.org/drawingml/2006/main"/>
          <a:p xmlns:a="http://schemas.openxmlformats.org/drawingml/2006/main">
            <a:pPr algn="l">
              <a:defRPr sz="5550" b="1" i="0">
                <a:solidFill>
                  <a:srgbClr val="47795C"/>
                </a:solidFill>
                <a:latin typeface="Noto Serif CJK TC"/>
                <a:ea typeface="Noto Serif CJK TC"/>
                <a:cs typeface="Noto Serif CJK TC"/>
              </a:defRPr>
            </a:pPr>
            <a:r>
              <a:rPr sz="5550" b="1" i="0">
                <a:solidFill>
                  <a:srgbClr val="47795C"/>
                </a:solidFill>
                <a:latin typeface="Noto Serif CJK TC"/>
                <a:ea typeface="Noto Serif CJK TC"/>
                <a:cs typeface="Noto Serif CJK TC"/>
              </a:rPr>
              <a:t>6 / 9</a:t>
            </a:r>
          </a:p>
        </p:txBody>
      </p:sp>
      <p:sp>
        <p:nvSpPr>
          <p:cNvPr id="14" name="">
            <a:extLst xmlns:a="http://schemas.openxmlformats.org/drawingml/2006/main">
              <a:ext uri="{FF2B5EF4-FFF2-40B4-BE49-F238E27FC236}">
                <a16:creationId xmlns:a16="http://schemas.microsoft.com/office/drawing/2014/main" id="{F0822D21-A7F8-4436-8705-FE494DD59B82}"/>
              </a:ext>
            </a:extLst>
          </p:cNvPr>
          <p:cNvSpPr>
            <a:spLocks xmlns:a="http://schemas.openxmlformats.org/drawingml/2006/main" noGrp="1"/>
          </p:cNvSpPr>
          <p:nvPr/>
        </p:nvSpPr>
        <p:spPr>
          <a:xfrm xmlns:a="http://schemas.openxmlformats.org/drawingml/2006/main">
            <a:off x="10572750" y="674370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25252A"/>
                </a:solidFill>
                <a:latin typeface="Noto Sans CJK TC"/>
                <a:ea typeface="Noto Sans CJK TC"/>
                <a:cs typeface="Noto Sans CJK TC"/>
              </a:defRPr>
            </a:pPr>
            <a:r>
              <a:rPr sz="2100" b="1" i="0">
                <a:solidFill>
                  <a:srgbClr val="25252A"/>
                </a:solidFill>
                <a:latin typeface="Noto Sans CJK TC"/>
                <a:ea typeface="Noto Sans CJK TC"/>
                <a:cs typeface="Noto Sans CJK TC"/>
              </a:rPr>
              <a:t>成功套用</a:t>
            </a:r>
          </a:p>
        </p:txBody>
      </p:sp>
      <p:sp>
        <p:nvSpPr>
          <p:cNvPr id="15" name="">
            <a:extLst xmlns:a="http://schemas.openxmlformats.org/drawingml/2006/main">
              <a:ext uri="{FF2B5EF4-FFF2-40B4-BE49-F238E27FC236}">
                <a16:creationId xmlns:a16="http://schemas.microsoft.com/office/drawing/2014/main" id="{4F764CE7-5E49-4565-B3EA-485513E2D883}"/>
              </a:ext>
            </a:extLst>
          </p:cNvPr>
          <p:cNvSpPr>
            <a:spLocks xmlns:a="http://schemas.openxmlformats.org/drawingml/2006/main" noGrp="1"/>
          </p:cNvSpPr>
          <p:nvPr/>
        </p:nvSpPr>
        <p:spPr>
          <a:xfrm xmlns:a="http://schemas.openxmlformats.org/drawingml/2006/main">
            <a:off x="1047750" y="876300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75" b="0" i="0">
                <a:solidFill>
                  <a:srgbClr val="62606A"/>
                </a:solidFill>
                <a:latin typeface="Noto Sans CJK TC"/>
                <a:ea typeface="Noto Sans CJK TC"/>
                <a:cs typeface="Noto Sans CJK TC"/>
              </a:defRPr>
            </a:pPr>
            <a:r>
              <a:rPr sz="1575" b="0" i="0">
                <a:solidFill>
                  <a:srgbClr val="62606A"/>
                </a:solidFill>
                <a:latin typeface="Noto Sans CJK TC"/>
                <a:ea typeface="Noto Sans CJK TC"/>
                <a:cs typeface="Noto Sans CJK TC"/>
              </a:rPr>
              <a:t>2026-09-04  |  Ministral 3 8B</a:t>
            </a:r>
          </a:p>
        </p:txBody>
      </p:sp>
      <p:sp>
        <p:nvSpPr>
          <p:cNvPr id="16" name="">
            <a:extLst xmlns:a="http://schemas.openxmlformats.org/drawingml/2006/main">
              <a:ext uri="{FF2B5EF4-FFF2-40B4-BE49-F238E27FC236}">
                <a16:creationId xmlns:a16="http://schemas.microsoft.com/office/drawing/2014/main" id="{8C4ED59C-C032-473A-8111-C2E3D4393B9F}"/>
              </a:ext>
            </a:extLst>
          </p:cNvPr>
          <p:cNvSpPr>
            <a:spLocks xmlns:a="http://schemas.openxmlformats.org/drawingml/2006/main" noGrp="1"/>
          </p:cNvSpPr>
          <p:nvPr/>
        </p:nvSpPr>
        <p:spPr>
          <a:xfrm xmlns:a="http://schemas.openxmlformats.org/drawingml/2006/main">
            <a:off x="16764000" y="9829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06A"/>
                </a:solidFill>
                <a:latin typeface="Noto Sans CJK TC"/>
                <a:ea typeface="Noto Sans CJK TC"/>
                <a:cs typeface="Noto Sans CJK TC"/>
              </a:defRPr>
            </a:pPr>
            <a:r>
              <a:rPr sz="900" b="0" i="0">
                <a:solidFill>
                  <a:srgbClr val="62606A"/>
                </a:solidFill>
                <a:latin typeface="Noto Sans CJK TC"/>
                <a:ea typeface="Noto Sans CJK TC"/>
                <a:cs typeface="Noto Sans CJK TC"/>
              </a:rPr>
              <a:t>01 / 14</a:t>
            </a:r>
          </a:p>
        </p:txBody>
      </p:sp>
    </p:spTree>
    <p:extLst>
      <p:ext uri="{BB962C8B-B14F-4D97-AF65-F5344CB8AC3E}">
        <p14:creationId xmlns:p14="http://schemas.microsoft.com/office/powerpoint/2010/main" val="1697196086"/>
      </p:ext>
    </p:extLst>
  </p:cSld>
</p:sld>
</file>

<file path=ppt/slides/slide2.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10C46C6-F6F1-493F-91F0-C9038C8EB98D}"/>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
            <a:extLst xmlns:a="http://schemas.openxmlformats.org/drawingml/2006/main">
              <a:ext uri="{FF2B5EF4-FFF2-40B4-BE49-F238E27FC236}">
                <a16:creationId xmlns:a16="http://schemas.microsoft.com/office/drawing/2014/main" id="{169F0562-DBCF-4D97-B5A4-21995FFDF6ED}"/>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
            <a:extLst xmlns:a="http://schemas.openxmlformats.org/drawingml/2006/main">
              <a:ext uri="{FF2B5EF4-FFF2-40B4-BE49-F238E27FC236}">
                <a16:creationId xmlns:a16="http://schemas.microsoft.com/office/drawing/2014/main" id="{67503E5F-782A-403E-BB8D-1324861A8C6F}"/>
              </a:ext>
            </a:extLst>
          </p:cNvPr>
          <p:cNvSpPr>
            <a:spLocks xmlns:a="http://schemas.openxmlformats.org/drawingml/2006/main" noGrp="1"/>
          </p:cNvSpPr>
          <p:nvPr/>
        </p:nvSpPr>
        <p:spPr>
          <a:xfrm xmlns:a="http://schemas.openxmlformats.org/drawingml/2006/main">
            <a:off x="9010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4" name="">
            <a:extLst xmlns:a="http://schemas.openxmlformats.org/drawingml/2006/main">
              <a:ext uri="{FF2B5EF4-FFF2-40B4-BE49-F238E27FC236}">
                <a16:creationId xmlns:a16="http://schemas.microsoft.com/office/drawing/2014/main" id="{5638EC15-E9B3-4811-AE33-7CD82A452702}"/>
              </a:ext>
            </a:extLst>
          </p:cNvPr>
          <p:cNvSpPr>
            <a:spLocks xmlns:a="http://schemas.openxmlformats.org/drawingml/2006/main" noGrp="1"/>
          </p:cNvSpPr>
          <p:nvPr/>
        </p:nvSpPr>
        <p:spPr>
          <a:xfrm xmlns:a="http://schemas.openxmlformats.org/drawingml/2006/main">
            <a:off x="92011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5" name="">
            <a:extLst xmlns:a="http://schemas.openxmlformats.org/drawingml/2006/main">
              <a:ext uri="{FF2B5EF4-FFF2-40B4-BE49-F238E27FC236}">
                <a16:creationId xmlns:a16="http://schemas.microsoft.com/office/drawing/2014/main" id="{7FBCE89E-7408-4447-AE19-491984AC573B}"/>
              </a:ext>
            </a:extLst>
          </p:cNvPr>
          <p:cNvSpPr>
            <a:spLocks xmlns:a="http://schemas.openxmlformats.org/drawingml/2006/main" noGrp="1"/>
          </p:cNvSpPr>
          <p:nvPr/>
        </p:nvSpPr>
        <p:spPr>
          <a:xfrm xmlns:a="http://schemas.openxmlformats.org/drawingml/2006/main">
            <a:off x="9391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6" name="">
            <a:extLst xmlns:a="http://schemas.openxmlformats.org/drawingml/2006/main">
              <a:ext uri="{FF2B5EF4-FFF2-40B4-BE49-F238E27FC236}">
                <a16:creationId xmlns:a16="http://schemas.microsoft.com/office/drawing/2014/main" id="{817C9C9A-6728-4DE5-9798-543097896EE0}"/>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7" name="badge-2">
            <a:extLst xmlns:a="http://schemas.openxmlformats.org/drawingml/2006/main">
              <a:ext uri="{FF2B5EF4-FFF2-40B4-BE49-F238E27FC236}">
                <a16:creationId xmlns:a16="http://schemas.microsoft.com/office/drawing/2014/main" id="{5E8F5747-A54A-4AAC-8965-99B5249FB1F4}"/>
              </a:ext>
            </a:extLst>
          </p:cNvPr>
          <p:cNvSpPr>
            <a:spLocks xmlns:a="http://schemas.openxmlformats.org/drawingml/2006/main" noGrp="1"/>
          </p:cNvSpPr>
          <p:nvPr/>
        </p:nvSpPr>
        <p:spPr>
          <a:xfrm xmlns:a="http://schemas.openxmlformats.org/drawingml/2006/main">
            <a:off x="685800" y="590550"/>
            <a:ext cx="476250" cy="476250"/>
          </a:xfrm>
          <a:prstGeom xmlns:a="http://schemas.openxmlformats.org/drawingml/2006/main" prst="ellipse">
            <a:avLst/>
          </a:prstGeom>
          <a:solidFill xmlns:a="http://schemas.openxmlformats.org/drawingml/2006/main">
            <a:srgbClr val="E36B78"/>
          </a:solidFill>
          <a:ln xmlns:a="http://schemas.openxmlformats.org/drawingml/2006/main" w="0">
            <a:solidFill>
              <a:srgbClr val="E36B78"/>
            </a:solidFill>
          </a:ln>
        </p:spPr>
        <p:txBody>
          <a:bodyPr xmlns:a="http://schemas.openxmlformats.org/drawingml/2006/main" anchor="ctr">
            <a:normAutofit fontScale="76130"/>
          </a:bodyPr>
          <a:lstStyle xmlns:a="http://schemas.openxmlformats.org/drawingml/2006/main"/>
          <a:p xmlns:a="http://schemas.openxmlformats.org/drawingml/2006/main">
            <a:pPr algn="ctr">
              <a:defRPr sz="1350" b="1">
                <a:solidFill>
                  <a:srgbClr val="FFFFFF"/>
                </a:solidFill>
                <a:latin typeface="Noto Sans CJK TC"/>
                <a:ea typeface="Noto Sans CJK TC"/>
                <a:cs typeface="Noto Sans CJK TC"/>
              </a:defRPr>
            </a:pPr>
            <a:r>
              <a:rPr sz="1350" b="1">
                <a:solidFill>
                  <a:srgbClr val="FFFFFF"/>
                </a:solidFill>
                <a:latin typeface="Noto Sans CJK TC"/>
                <a:ea typeface="Noto Sans CJK TC"/>
                <a:cs typeface="Noto Sans CJK TC"/>
              </a:rPr>
              <a:t>01</a:t>
            </a:r>
          </a:p>
        </p:txBody>
      </p:sp>
      <p:sp>
        <p:nvSpPr>
          <p:cNvPr id="8" name="">
            <a:extLst xmlns:a="http://schemas.openxmlformats.org/drawingml/2006/main">
              <a:ext uri="{FF2B5EF4-FFF2-40B4-BE49-F238E27FC236}">
                <a16:creationId xmlns:a16="http://schemas.microsoft.com/office/drawing/2014/main" id="{478AA6E5-8980-46C1-9300-7C78363F15A8}"/>
              </a:ext>
            </a:extLst>
          </p:cNvPr>
          <p:cNvSpPr>
            <a:spLocks xmlns:a="http://schemas.openxmlformats.org/drawingml/2006/main" noGrp="1"/>
          </p:cNvSpPr>
          <p:nvPr/>
        </p:nvSpPr>
        <p:spPr>
          <a:xfrm xmlns:a="http://schemas.openxmlformats.org/drawingml/2006/main">
            <a:off x="1314450" y="523875"/>
            <a:ext cx="1276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225" b="1" i="0">
                <a:solidFill>
                  <a:srgbClr val="431218"/>
                </a:solidFill>
                <a:latin typeface="Noto Serif CJK TC"/>
                <a:ea typeface="Noto Serif CJK TC"/>
                <a:cs typeface="Noto Serif CJK TC"/>
              </a:defRPr>
            </a:pPr>
            <a:r>
              <a:rPr sz="3225" b="1" i="0">
                <a:solidFill>
                  <a:srgbClr val="431218"/>
                </a:solidFill>
                <a:latin typeface="Noto Serif CJK TC"/>
                <a:ea typeface="Noto Serif CJK TC"/>
                <a:cs typeface="Noto Serif CJK TC"/>
              </a:rPr>
              <a:t>執行成功，但內容可靠性仍不足</a:t>
            </a:r>
          </a:p>
        </p:txBody>
      </p:sp>
      <p:sp>
        <p:nvSpPr>
          <p:cNvPr id="9" name="">
            <a:extLst xmlns:a="http://schemas.openxmlformats.org/drawingml/2006/main">
              <a:ext uri="{FF2B5EF4-FFF2-40B4-BE49-F238E27FC236}">
                <a16:creationId xmlns:a16="http://schemas.microsoft.com/office/drawing/2014/main" id="{B3C3D86F-1802-409E-AFDA-AED2A91A9F2E}"/>
              </a:ext>
            </a:extLst>
          </p:cNvPr>
          <p:cNvSpPr>
            <a:spLocks xmlns:a="http://schemas.openxmlformats.org/drawingml/2006/main" noGrp="1"/>
          </p:cNvSpPr>
          <p:nvPr/>
        </p:nvSpPr>
        <p:spPr>
          <a:xfrm xmlns:a="http://schemas.openxmlformats.org/drawingml/2006/main">
            <a:off x="1333500" y="1143000"/>
            <a:ext cx="1381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本次檢查區分 pipeline 成功、scope 正確與策略規則正確</a:t>
            </a:r>
          </a:p>
        </p:txBody>
      </p:sp>
      <p:sp>
        <p:nvSpPr>
          <p:cNvPr id="10" name="">
            <a:extLst xmlns:a="http://schemas.openxmlformats.org/drawingml/2006/main">
              <a:ext uri="{FF2B5EF4-FFF2-40B4-BE49-F238E27FC236}">
                <a16:creationId xmlns:a16="http://schemas.microsoft.com/office/drawing/2014/main" id="{F18C8811-C723-46ED-8281-1996CB287B22}"/>
              </a:ext>
            </a:extLst>
          </p:cNvPr>
          <p:cNvSpPr>
            <a:spLocks xmlns:a="http://schemas.openxmlformats.org/drawingml/2006/main" noGrp="1"/>
          </p:cNvSpPr>
          <p:nvPr/>
        </p:nvSpPr>
        <p:spPr>
          <a:xfrm xmlns:a="http://schemas.openxmlformats.org/drawingml/2006/main">
            <a:off x="14287500" y="6286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1200" b="1" i="0">
                <a:solidFill>
                  <a:srgbClr val="47795C"/>
                </a:solidFill>
                <a:latin typeface="Noto Sans CJK TC"/>
                <a:ea typeface="Noto Sans CJK TC"/>
                <a:cs typeface="Noto Sans CJK TC"/>
              </a:defRPr>
            </a:pPr>
            <a:r>
              <a:rPr sz="1200" b="1" i="0">
                <a:solidFill>
                  <a:srgbClr val="47795C"/>
                </a:solidFill>
                <a:latin typeface="Noto Sans CJK TC"/>
                <a:ea typeface="Noto Sans CJK TC"/>
                <a:cs typeface="Noto Sans CJK TC"/>
              </a:rPr>
              <a:t>RUN COMPLETE</a:t>
            </a:r>
          </a:p>
        </p:txBody>
      </p:sp>
      <p:sp>
        <p:nvSpPr>
          <p:cNvPr id="11" name="">
            <a:extLst xmlns:a="http://schemas.openxmlformats.org/drawingml/2006/main">
              <a:ext uri="{FF2B5EF4-FFF2-40B4-BE49-F238E27FC236}">
                <a16:creationId xmlns:a16="http://schemas.microsoft.com/office/drawing/2014/main" id="{D70B7B32-310C-43B8-B1A0-17C6CE814E36}"/>
              </a:ext>
            </a:extLst>
          </p:cNvPr>
          <p:cNvSpPr>
            <a:spLocks xmlns:a="http://schemas.openxmlformats.org/drawingml/2006/main" noGrp="1"/>
          </p:cNvSpPr>
          <p:nvPr/>
        </p:nvSpPr>
        <p:spPr>
          <a:xfrm xmlns:a="http://schemas.openxmlformats.org/drawingml/2006/main">
            <a:off x="16764000" y="9829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06A"/>
                </a:solidFill>
                <a:latin typeface="Noto Sans CJK TC"/>
                <a:ea typeface="Noto Sans CJK TC"/>
                <a:cs typeface="Noto Sans CJK TC"/>
              </a:defRPr>
            </a:pPr>
            <a:r>
              <a:rPr sz="900" b="0" i="0">
                <a:solidFill>
                  <a:srgbClr val="62606A"/>
                </a:solidFill>
                <a:latin typeface="Noto Sans CJK TC"/>
                <a:ea typeface="Noto Sans CJK TC"/>
                <a:cs typeface="Noto Sans CJK TC"/>
              </a:rPr>
              <a:t>02 / 14</a:t>
            </a:r>
          </a:p>
        </p:txBody>
      </p:sp>
      <p:sp>
        <p:nvSpPr>
          <p:cNvPr id="12" name="">
            <a:extLst xmlns:a="http://schemas.openxmlformats.org/drawingml/2006/main">
              <a:ext uri="{FF2B5EF4-FFF2-40B4-BE49-F238E27FC236}">
                <a16:creationId xmlns:a16="http://schemas.microsoft.com/office/drawing/2014/main" id="{7F9E88CA-B9A9-400F-8B89-48571608C7F9}"/>
              </a:ext>
            </a:extLst>
          </p:cNvPr>
          <p:cNvSpPr>
            <a:spLocks xmlns:a="http://schemas.openxmlformats.org/drawingml/2006/main" noGrp="1"/>
          </p:cNvSpPr>
          <p:nvPr/>
        </p:nvSpPr>
        <p:spPr>
          <a:xfrm xmlns:a="http://schemas.openxmlformats.org/drawingml/2006/main">
            <a:off x="952500" y="2190750"/>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5400" b="1" i="0">
                <a:solidFill>
                  <a:srgbClr val="47795C"/>
                </a:solidFill>
                <a:latin typeface="Noto Serif CJK TC"/>
                <a:ea typeface="Noto Serif CJK TC"/>
                <a:cs typeface="Noto Serif CJK TC"/>
              </a:defRPr>
            </a:pPr>
            <a:r>
              <a:rPr sz="5400" b="1" i="0">
                <a:solidFill>
                  <a:srgbClr val="47795C"/>
                </a:solidFill>
                <a:latin typeface="Noto Serif CJK TC"/>
                <a:ea typeface="Noto Serif CJK TC"/>
                <a:cs typeface="Noto Serif CJK TC"/>
              </a:rPr>
              <a:t>3 / 3</a:t>
            </a:r>
          </a:p>
        </p:txBody>
      </p:sp>
      <p:sp>
        <p:nvSpPr>
          <p:cNvPr id="13" name="">
            <a:extLst xmlns:a="http://schemas.openxmlformats.org/drawingml/2006/main">
              <a:ext uri="{FF2B5EF4-FFF2-40B4-BE49-F238E27FC236}">
                <a16:creationId xmlns:a16="http://schemas.microsoft.com/office/drawing/2014/main" id="{81A6A1F5-9749-497F-AA78-B33599FD984D}"/>
              </a:ext>
            </a:extLst>
          </p:cNvPr>
          <p:cNvSpPr>
            <a:spLocks xmlns:a="http://schemas.openxmlformats.org/drawingml/2006/main" noGrp="1"/>
          </p:cNvSpPr>
          <p:nvPr/>
        </p:nvSpPr>
        <p:spPr>
          <a:xfrm xmlns:a="http://schemas.openxmlformats.org/drawingml/2006/main">
            <a:off x="3524250" y="233362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950" b="1" i="0">
                <a:solidFill>
                  <a:srgbClr val="25252A"/>
                </a:solidFill>
                <a:latin typeface="Noto Sans CJK TC"/>
                <a:ea typeface="Noto Sans CJK TC"/>
                <a:cs typeface="Noto Sans CJK TC"/>
              </a:defRPr>
            </a:pPr>
            <a:r>
              <a:rPr sz="1950" b="1" i="0">
                <a:solidFill>
                  <a:srgbClr val="25252A"/>
                </a:solidFill>
                <a:latin typeface="Noto Sans CJK TC"/>
                <a:ea typeface="Noto Sans CJK TC"/>
                <a:cs typeface="Noto Sans CJK TC"/>
              </a:rPr>
              <a:t>Strategy</a:t>
            </a:r>
          </a:p>
        </p:txBody>
      </p:sp>
      <p:sp>
        <p:nvSpPr>
          <p:cNvPr id="14" name="">
            <a:extLst xmlns:a="http://schemas.openxmlformats.org/drawingml/2006/main">
              <a:ext uri="{FF2B5EF4-FFF2-40B4-BE49-F238E27FC236}">
                <a16:creationId xmlns:a16="http://schemas.microsoft.com/office/drawing/2014/main" id="{673D40BA-A0D2-4453-B0EC-B4FFF781F914}"/>
              </a:ext>
            </a:extLst>
          </p:cNvPr>
          <p:cNvSpPr>
            <a:spLocks xmlns:a="http://schemas.openxmlformats.org/drawingml/2006/main" noGrp="1"/>
          </p:cNvSpPr>
          <p:nvPr/>
        </p:nvSpPr>
        <p:spPr>
          <a:xfrm xmlns:a="http://schemas.openxmlformats.org/drawingml/2006/main">
            <a:off x="3524250" y="2800350"/>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全部套用</a:t>
            </a:r>
          </a:p>
        </p:txBody>
      </p:sp>
      <p:sp>
        <p:nvSpPr>
          <p:cNvPr id="15" name="">
            <a:extLst xmlns:a="http://schemas.openxmlformats.org/drawingml/2006/main">
              <a:ext uri="{FF2B5EF4-FFF2-40B4-BE49-F238E27FC236}">
                <a16:creationId xmlns:a16="http://schemas.microsoft.com/office/drawing/2014/main" id="{FEEF9F93-F4DD-4CDD-9890-2D0D3729580A}"/>
              </a:ext>
            </a:extLst>
          </p:cNvPr>
          <p:cNvSpPr>
            <a:spLocks xmlns:a="http://schemas.openxmlformats.org/drawingml/2006/main" noGrp="1"/>
          </p:cNvSpPr>
          <p:nvPr/>
        </p:nvSpPr>
        <p:spPr>
          <a:xfrm xmlns:a="http://schemas.openxmlformats.org/drawingml/2006/main">
            <a:off x="6572250" y="2190750"/>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5400" b="1" i="0">
                <a:solidFill>
                  <a:srgbClr val="B95160"/>
                </a:solidFill>
                <a:latin typeface="Noto Serif CJK TC"/>
                <a:ea typeface="Noto Serif CJK TC"/>
                <a:cs typeface="Noto Serif CJK TC"/>
              </a:defRPr>
            </a:pPr>
            <a:r>
              <a:rPr sz="5400" b="1" i="0">
                <a:solidFill>
                  <a:srgbClr val="B95160"/>
                </a:solidFill>
                <a:latin typeface="Noto Serif CJK TC"/>
                <a:ea typeface="Noto Serif CJK TC"/>
                <a:cs typeface="Noto Serif CJK TC"/>
              </a:rPr>
              <a:t>1 / 3</a:t>
            </a:r>
          </a:p>
        </p:txBody>
      </p:sp>
      <p:sp>
        <p:nvSpPr>
          <p:cNvPr id="16" name="">
            <a:extLst xmlns:a="http://schemas.openxmlformats.org/drawingml/2006/main">
              <a:ext uri="{FF2B5EF4-FFF2-40B4-BE49-F238E27FC236}">
                <a16:creationId xmlns:a16="http://schemas.microsoft.com/office/drawing/2014/main" id="{2DDB6B76-2BC7-42C4-A7EF-1B8475DEEAE3}"/>
              </a:ext>
            </a:extLst>
          </p:cNvPr>
          <p:cNvSpPr>
            <a:spLocks xmlns:a="http://schemas.openxmlformats.org/drawingml/2006/main" noGrp="1"/>
          </p:cNvSpPr>
          <p:nvPr/>
        </p:nvSpPr>
        <p:spPr>
          <a:xfrm xmlns:a="http://schemas.openxmlformats.org/drawingml/2006/main">
            <a:off x="9144000" y="233362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950" b="1" i="0">
                <a:solidFill>
                  <a:srgbClr val="25252A"/>
                </a:solidFill>
                <a:latin typeface="Noto Sans CJK TC"/>
                <a:ea typeface="Noto Sans CJK TC"/>
                <a:cs typeface="Noto Sans CJK TC"/>
              </a:defRPr>
            </a:pPr>
            <a:r>
              <a:rPr sz="1950" b="1" i="0">
                <a:solidFill>
                  <a:srgbClr val="25252A"/>
                </a:solidFill>
                <a:latin typeface="Noto Sans CJK TC"/>
                <a:ea typeface="Noto Sans CJK TC"/>
                <a:cs typeface="Noto Sans CJK TC"/>
              </a:rPr>
              <a:t>Code</a:t>
            </a:r>
          </a:p>
        </p:txBody>
      </p:sp>
      <p:sp>
        <p:nvSpPr>
          <p:cNvPr id="17" name="">
            <a:extLst xmlns:a="http://schemas.openxmlformats.org/drawingml/2006/main">
              <a:ext uri="{FF2B5EF4-FFF2-40B4-BE49-F238E27FC236}">
                <a16:creationId xmlns:a16="http://schemas.microsoft.com/office/drawing/2014/main" id="{4B0A3BD2-A5D2-4466-BC54-B3C4A528F6AD}"/>
              </a:ext>
            </a:extLst>
          </p:cNvPr>
          <p:cNvSpPr>
            <a:spLocks xmlns:a="http://schemas.openxmlformats.org/drawingml/2006/main" noGrp="1"/>
          </p:cNvSpPr>
          <p:nvPr/>
        </p:nvSpPr>
        <p:spPr>
          <a:xfrm xmlns:a="http://schemas.openxmlformats.org/drawingml/2006/main">
            <a:off x="9144000" y="2800350"/>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兩次 rewrite 失敗</a:t>
            </a:r>
          </a:p>
        </p:txBody>
      </p:sp>
      <p:sp>
        <p:nvSpPr>
          <p:cNvPr id="18" name="">
            <a:extLst xmlns:a="http://schemas.openxmlformats.org/drawingml/2006/main">
              <a:ext uri="{FF2B5EF4-FFF2-40B4-BE49-F238E27FC236}">
                <a16:creationId xmlns:a16="http://schemas.microsoft.com/office/drawing/2014/main" id="{4ECA936F-80F3-4686-976C-0C081E768BCC}"/>
              </a:ext>
            </a:extLst>
          </p:cNvPr>
          <p:cNvSpPr>
            <a:spLocks xmlns:a="http://schemas.openxmlformats.org/drawingml/2006/main" noGrp="1"/>
          </p:cNvSpPr>
          <p:nvPr/>
        </p:nvSpPr>
        <p:spPr>
          <a:xfrm xmlns:a="http://schemas.openxmlformats.org/drawingml/2006/main">
            <a:off x="12192000" y="2190750"/>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5400" b="1" i="0">
                <a:solidFill>
                  <a:srgbClr val="BF872B"/>
                </a:solidFill>
                <a:latin typeface="Noto Serif CJK TC"/>
                <a:ea typeface="Noto Serif CJK TC"/>
                <a:cs typeface="Noto Serif CJK TC"/>
              </a:defRPr>
            </a:pPr>
            <a:r>
              <a:rPr sz="5400" b="1" i="0">
                <a:solidFill>
                  <a:srgbClr val="BF872B"/>
                </a:solidFill>
                <a:latin typeface="Noto Serif CJK TC"/>
                <a:ea typeface="Noto Serif CJK TC"/>
                <a:cs typeface="Noto Serif CJK TC"/>
              </a:rPr>
              <a:t>2 / 3</a:t>
            </a:r>
          </a:p>
        </p:txBody>
      </p:sp>
      <p:sp>
        <p:nvSpPr>
          <p:cNvPr id="19" name="">
            <a:extLst xmlns:a="http://schemas.openxmlformats.org/drawingml/2006/main">
              <a:ext uri="{FF2B5EF4-FFF2-40B4-BE49-F238E27FC236}">
                <a16:creationId xmlns:a16="http://schemas.microsoft.com/office/drawing/2014/main" id="{CB5A0FB9-0042-4C23-A0EC-A31EEFB3D849}"/>
              </a:ext>
            </a:extLst>
          </p:cNvPr>
          <p:cNvSpPr>
            <a:spLocks xmlns:a="http://schemas.openxmlformats.org/drawingml/2006/main" noGrp="1"/>
          </p:cNvSpPr>
          <p:nvPr/>
        </p:nvSpPr>
        <p:spPr>
          <a:xfrm xmlns:a="http://schemas.openxmlformats.org/drawingml/2006/main">
            <a:off x="14763750" y="233362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950" b="1" i="0">
                <a:solidFill>
                  <a:srgbClr val="25252A"/>
                </a:solidFill>
                <a:latin typeface="Noto Sans CJK TC"/>
                <a:ea typeface="Noto Sans CJK TC"/>
                <a:cs typeface="Noto Sans CJK TC"/>
              </a:defRPr>
            </a:pPr>
            <a:r>
              <a:rPr sz="1950" b="1" i="0">
                <a:solidFill>
                  <a:srgbClr val="25252A"/>
                </a:solidFill>
                <a:latin typeface="Noto Sans CJK TC"/>
                <a:ea typeface="Noto Sans CJK TC"/>
                <a:cs typeface="Noto Sans CJK TC"/>
              </a:rPr>
              <a:t>Balance</a:t>
            </a:r>
          </a:p>
        </p:txBody>
      </p:sp>
      <p:sp>
        <p:nvSpPr>
          <p:cNvPr id="20" name="">
            <a:extLst xmlns:a="http://schemas.openxmlformats.org/drawingml/2006/main">
              <a:ext uri="{FF2B5EF4-FFF2-40B4-BE49-F238E27FC236}">
                <a16:creationId xmlns:a16="http://schemas.microsoft.com/office/drawing/2014/main" id="{55D23624-29E5-46A5-9FFF-6F938D235D71}"/>
              </a:ext>
            </a:extLst>
          </p:cNvPr>
          <p:cNvSpPr>
            <a:spLocks xmlns:a="http://schemas.openxmlformats.org/drawingml/2006/main" noGrp="1"/>
          </p:cNvSpPr>
          <p:nvPr/>
        </p:nvSpPr>
        <p:spPr>
          <a:xfrm xmlns:a="http://schemas.openxmlformats.org/drawingml/2006/main">
            <a:off x="14763750" y="2800350"/>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一次 schema 失敗</a:t>
            </a:r>
          </a:p>
        </p:txBody>
      </p:sp>
      <p:sp>
        <p:nvSpPr>
          <p:cNvPr id="21" name="">
            <a:extLst xmlns:a="http://schemas.openxmlformats.org/drawingml/2006/main">
              <a:ext uri="{FF2B5EF4-FFF2-40B4-BE49-F238E27FC236}">
                <a16:creationId xmlns:a16="http://schemas.microsoft.com/office/drawing/2014/main" id="{444FE03C-8E6B-4A1B-A457-C696E0CF6C14}"/>
              </a:ext>
            </a:extLst>
          </p:cNvPr>
          <p:cNvSpPr>
            <a:spLocks xmlns:a="http://schemas.openxmlformats.org/drawingml/2006/main" noGrp="1"/>
          </p:cNvSpPr>
          <p:nvPr/>
        </p:nvSpPr>
        <p:spPr>
          <a:xfrm xmlns:a="http://schemas.openxmlformats.org/drawingml/2006/main">
            <a:off x="952500" y="3619500"/>
            <a:ext cx="163830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22" name="">
            <a:extLst xmlns:a="http://schemas.openxmlformats.org/drawingml/2006/main">
              <a:ext uri="{FF2B5EF4-FFF2-40B4-BE49-F238E27FC236}">
                <a16:creationId xmlns:a16="http://schemas.microsoft.com/office/drawing/2014/main" id="{9F94C2C1-7350-4CFB-8007-023F28D05A75}"/>
              </a:ext>
            </a:extLst>
          </p:cNvPr>
          <p:cNvSpPr>
            <a:spLocks xmlns:a="http://schemas.openxmlformats.org/drawingml/2006/main" noGrp="1"/>
          </p:cNvSpPr>
          <p:nvPr/>
        </p:nvSpPr>
        <p:spPr>
          <a:xfrm xmlns:a="http://schemas.openxmlformats.org/drawingml/2006/main">
            <a:off x="952500" y="4095750"/>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400" b="1" i="0">
                <a:solidFill>
                  <a:srgbClr val="431218"/>
                </a:solidFill>
                <a:latin typeface="Noto Serif CJK TC"/>
                <a:ea typeface="Noto Serif CJK TC"/>
                <a:cs typeface="Noto Serif CJK TC"/>
              </a:defRPr>
            </a:pPr>
            <a:r>
              <a:rPr sz="2400" b="1" i="0">
                <a:solidFill>
                  <a:srgbClr val="431218"/>
                </a:solidFill>
                <a:latin typeface="Noto Serif CJK TC"/>
                <a:ea typeface="Noto Serif CJK TC"/>
                <a:cs typeface="Noto Serif CJK TC"/>
              </a:rPr>
              <a:t>最重要的判讀</a:t>
            </a:r>
          </a:p>
        </p:txBody>
      </p:sp>
      <p:sp>
        <p:nvSpPr>
          <p:cNvPr id="23" name="">
            <a:extLst xmlns:a="http://schemas.openxmlformats.org/drawingml/2006/main">
              <a:ext uri="{FF2B5EF4-FFF2-40B4-BE49-F238E27FC236}">
                <a16:creationId xmlns:a16="http://schemas.microsoft.com/office/drawing/2014/main" id="{4D49979E-8F83-4EC0-B91B-159BE16AD729}"/>
              </a:ext>
            </a:extLst>
          </p:cNvPr>
          <p:cNvSpPr>
            <a:spLocks xmlns:a="http://schemas.openxmlformats.org/drawingml/2006/main" noGrp="1"/>
          </p:cNvSpPr>
          <p:nvPr/>
        </p:nvSpPr>
        <p:spPr>
          <a:xfrm xmlns:a="http://schemas.openxmlformats.org/drawingml/2006/main">
            <a:off x="952500" y="4857750"/>
            <a:ext cx="106680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15900" indent="-101600">
              <a:spcAft>
                <a:spcPts val="1200"/>
              </a:spcAft>
              <a:buChar char="•"/>
              <a:defRPr sz="1800">
                <a:solidFill>
                  <a:srgbClr val="25252A"/>
                </a:solidFill>
                <a:latin typeface="Noto Sans CJK TC"/>
                <a:ea typeface="Noto Sans CJK TC"/>
                <a:cs typeface="Noto Sans CJK TC"/>
              </a:defRPr>
            </a:pPr>
            <a:r>
              <a:rPr sz="1800">
                <a:solidFill>
                  <a:srgbClr val="25252A"/>
                </a:solidFill>
                <a:latin typeface="Noto Sans CJK TC"/>
                <a:ea typeface="Noto Sans CJK TC"/>
                <a:cs typeface="Noto Sans CJK TC"/>
              </a:rPr>
              <a:t>五份成功產生的 strategy prompt 仍出現遊戲規則問題。</a:t>
            </a:r>
          </a:p>
          <a:p xmlns:a="http://schemas.openxmlformats.org/drawingml/2006/main">
            <a:pPr marL="215900" indent="-101600">
              <a:spcAft>
                <a:spcPts val="1200"/>
              </a:spcAft>
              <a:buChar char="•"/>
              <a:defRPr sz="1800">
                <a:solidFill>
                  <a:srgbClr val="25252A"/>
                </a:solidFill>
                <a:latin typeface="Noto Sans CJK TC"/>
                <a:ea typeface="Noto Sans CJK TC"/>
                <a:cs typeface="Noto Sans CJK TC"/>
              </a:defRPr>
            </a:pPr>
            <a:r>
              <a:rPr sz="1800">
                <a:solidFill>
                  <a:srgbClr val="25252A"/>
                </a:solidFill>
                <a:latin typeface="Noto Sans CJK TC"/>
                <a:ea typeface="Noto Sans CJK TC"/>
                <a:cs typeface="Noto Sans CJK TC"/>
              </a:rPr>
              <a:t>Gameplay contract 已進入 Strategy Coach 與 Balance Strategy Rewriter，但模型沒有穩定遵守。</a:t>
            </a:r>
          </a:p>
          <a:p xmlns:a="http://schemas.openxmlformats.org/drawingml/2006/main">
            <a:pPr marL="215900" indent="-101600">
              <a:spcAft>
                <a:spcPts val="1200"/>
              </a:spcAft>
              <a:buChar char="•"/>
              <a:defRPr sz="1800">
                <a:solidFill>
                  <a:srgbClr val="25252A"/>
                </a:solidFill>
                <a:latin typeface="Noto Sans CJK TC"/>
                <a:ea typeface="Noto Sans CJK TC"/>
                <a:cs typeface="Noto Sans CJK TC"/>
              </a:defRPr>
            </a:pPr>
            <a:r>
              <a:rPr sz="1800">
                <a:solidFill>
                  <a:srgbClr val="25252A"/>
                </a:solidFill>
                <a:latin typeface="Noto Sans CJK TC"/>
                <a:ea typeface="Noto Sans CJK TC"/>
                <a:cs typeface="Noto Sans CJK TC"/>
              </a:rPr>
              <a:t>Code Reflector 多次誤讀既有 Java 行為，成功套用也不代表建議正確。</a:t>
            </a:r>
          </a:p>
          <a:p xmlns:a="http://schemas.openxmlformats.org/drawingml/2006/main">
            <a:pPr marL="215900" indent="-101600">
              <a:spcAft>
                <a:spcPts val="1200"/>
              </a:spcAft>
              <a:buChar char="•"/>
              <a:defRPr sz="1800">
                <a:solidFill>
                  <a:srgbClr val="25252A"/>
                </a:solidFill>
                <a:latin typeface="Noto Sans CJK TC"/>
                <a:ea typeface="Noto Sans CJK TC"/>
                <a:cs typeface="Noto Sans CJK TC"/>
              </a:defRPr>
            </a:pPr>
            <a:r>
              <a:rPr sz="1800">
                <a:solidFill>
                  <a:srgbClr val="25252A"/>
                </a:solidFill>
                <a:latin typeface="Noto Sans CJK TC"/>
                <a:ea typeface="Noto Sans CJK TC"/>
                <a:cs typeface="Noto Sans CJK TC"/>
              </a:rPr>
              <a:t>九次 trial 的 inherited Java hash 完全相同，父代 Java 沒有重新生成。</a:t>
            </a:r>
          </a:p>
        </p:txBody>
      </p:sp>
      <p:sp>
        <p:nvSpPr>
          <p:cNvPr id="24" name="scope-note">
            <a:extLst xmlns:a="http://schemas.openxmlformats.org/drawingml/2006/main">
              <a:ext uri="{FF2B5EF4-FFF2-40B4-BE49-F238E27FC236}">
                <a16:creationId xmlns:a16="http://schemas.microsoft.com/office/drawing/2014/main" id="{BFE4A625-A8A1-488C-856A-E9399FD7FA81}"/>
              </a:ext>
            </a:extLst>
          </p:cNvPr>
          <p:cNvSpPr>
            <a:spLocks xmlns:a="http://schemas.openxmlformats.org/drawingml/2006/main" noGrp="1"/>
          </p:cNvSpPr>
          <p:nvPr/>
        </p:nvSpPr>
        <p:spPr>
          <a:xfrm xmlns:a="http://schemas.openxmlformats.org/drawingml/2006/main">
            <a:off x="12382500" y="4191000"/>
            <a:ext cx="4953000" cy="3429000"/>
          </a:xfrm>
          <a:prstGeom xmlns:a="http://schemas.openxmlformats.org/drawingml/2006/main" prst="roundRect">
            <a:avLst>
              <a:gd name="adj" fmla="val 2222"/>
            </a:avLst>
          </a:prstGeom>
          <a:solidFill xmlns:a="http://schemas.openxmlformats.org/drawingml/2006/main">
            <a:srgbClr val="F7E7C8"/>
          </a:solidFill>
          <a:ln xmlns:a="http://schemas.openxmlformats.org/drawingml/2006/main" w="9525">
            <a:solidFill>
              <a:srgbClr val="BF872B"/>
            </a:solidFill>
            <a:prstDash val="solid"/>
          </a:ln>
        </p:spPr>
      </p:sp>
      <p:sp>
        <p:nvSpPr>
          <p:cNvPr id="25" name="">
            <a:extLst xmlns:a="http://schemas.openxmlformats.org/drawingml/2006/main">
              <a:ext uri="{FF2B5EF4-FFF2-40B4-BE49-F238E27FC236}">
                <a16:creationId xmlns:a16="http://schemas.microsoft.com/office/drawing/2014/main" id="{56BBBB60-1CF2-4399-8DF6-2B7827FB16ED}"/>
              </a:ext>
            </a:extLst>
          </p:cNvPr>
          <p:cNvSpPr>
            <a:spLocks xmlns:a="http://schemas.openxmlformats.org/drawingml/2006/main" noGrp="1"/>
          </p:cNvSpPr>
          <p:nvPr/>
        </p:nvSpPr>
        <p:spPr>
          <a:xfrm xmlns:a="http://schemas.openxmlformats.org/drawingml/2006/main">
            <a:off x="12763500" y="457200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75" b="1" i="0">
                <a:solidFill>
                  <a:srgbClr val="BF872B"/>
                </a:solidFill>
                <a:latin typeface="Noto Sans CJK TC"/>
                <a:ea typeface="Noto Sans CJK TC"/>
                <a:cs typeface="Noto Sans CJK TC"/>
              </a:defRPr>
            </a:pPr>
            <a:r>
              <a:rPr sz="1875" b="1" i="0">
                <a:solidFill>
                  <a:srgbClr val="BF872B"/>
                </a:solidFill>
                <a:latin typeface="Noto Sans CJK TC"/>
                <a:ea typeface="Noto Sans CJK TC"/>
                <a:cs typeface="Noto Sans CJK TC"/>
              </a:rPr>
              <a:t>本次沒有測量什麼</a:t>
            </a:r>
          </a:p>
        </p:txBody>
      </p:sp>
      <p:sp>
        <p:nvSpPr>
          <p:cNvPr id="26" name="">
            <a:extLst xmlns:a="http://schemas.openxmlformats.org/drawingml/2006/main">
              <a:ext uri="{FF2B5EF4-FFF2-40B4-BE49-F238E27FC236}">
                <a16:creationId xmlns:a16="http://schemas.microsoft.com/office/drawing/2014/main" id="{6625BC07-CB93-4113-997A-9EF9A013639E}"/>
              </a:ext>
            </a:extLst>
          </p:cNvPr>
          <p:cNvSpPr>
            <a:spLocks xmlns:a="http://schemas.openxmlformats.org/drawingml/2006/main" noGrp="1"/>
          </p:cNvSpPr>
          <p:nvPr/>
        </p:nvSpPr>
        <p:spPr>
          <a:xfrm xmlns:a="http://schemas.openxmlformats.org/drawingml/2006/main">
            <a:off x="12763500" y="5286375"/>
            <a:ext cx="4095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Reflection inspection 只檢查輸入、LLM response、解析、scope 與 artifact。</a:t>
            </a:r>
          </a:p>
          <a:p xmlns:a="http://schemas.openxmlformats.org/drawingml/2006/main">
            <a:r>
              <a:t/>
            </a:r>
          </a:p>
          <a:p xmlns:a="http://schemas.openxmlformats.org/drawingml/2006/main">
            <a:pPr algn="l">
              <a:defRPr sz="1650" b="0" i="0">
                <a:solidFill>
                  <a:srgbClr val="25252A"/>
                </a:solidFill>
                <a:latin typeface="Noto Sans CJK TC"/>
                <a:ea typeface="Noto Sans CJK TC"/>
                <a:cs typeface="Noto Sans CJK TC"/>
              </a:defRPr>
            </a:pPr>
            <a:r>
              <a:rPr sz="1650" b="0" i="0">
                <a:solidFill>
                  <a:srgbClr val="25252A"/>
                </a:solidFill>
                <a:latin typeface="Noto Sans CJK TC"/>
                <a:ea typeface="Noto Sans CJK TC"/>
                <a:cs typeface="Noto Sans CJK TC"/>
              </a:rPr>
              <a:t>它沒有把新 policy 重新生成 Java，也沒有重新跑對戰，因此不能推論修改後勝率提升。</a:t>
            </a:r>
          </a:p>
        </p:txBody>
      </p:sp>
    </p:spTree>
    <p:extLst>
      <p:ext uri="{BB962C8B-B14F-4D97-AF65-F5344CB8AC3E}">
        <p14:creationId xmlns:p14="http://schemas.microsoft.com/office/powerpoint/2010/main" val="1832019715"/>
      </p:ext>
    </p:extLst>
  </p:cSld>
</p:sld>
</file>

<file path=ppt/slides/slide3.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3753F31-CCE9-4ADD-81BC-541353555176}"/>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
            <a:extLst xmlns:a="http://schemas.openxmlformats.org/drawingml/2006/main">
              <a:ext uri="{FF2B5EF4-FFF2-40B4-BE49-F238E27FC236}">
                <a16:creationId xmlns:a16="http://schemas.microsoft.com/office/drawing/2014/main" id="{434F0B43-55BF-4C93-91FD-A628718C0F48}"/>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
            <a:extLst xmlns:a="http://schemas.openxmlformats.org/drawingml/2006/main">
              <a:ext uri="{FF2B5EF4-FFF2-40B4-BE49-F238E27FC236}">
                <a16:creationId xmlns:a16="http://schemas.microsoft.com/office/drawing/2014/main" id="{700EE241-EF8C-4EA6-8DA3-7DC960DC27B6}"/>
              </a:ext>
            </a:extLst>
          </p:cNvPr>
          <p:cNvSpPr>
            <a:spLocks xmlns:a="http://schemas.openxmlformats.org/drawingml/2006/main" noGrp="1"/>
          </p:cNvSpPr>
          <p:nvPr/>
        </p:nvSpPr>
        <p:spPr>
          <a:xfrm xmlns:a="http://schemas.openxmlformats.org/drawingml/2006/main">
            <a:off x="9010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4" name="">
            <a:extLst xmlns:a="http://schemas.openxmlformats.org/drawingml/2006/main">
              <a:ext uri="{FF2B5EF4-FFF2-40B4-BE49-F238E27FC236}">
                <a16:creationId xmlns:a16="http://schemas.microsoft.com/office/drawing/2014/main" id="{0CB7E427-1412-415E-AF8D-F9C50CA76BED}"/>
              </a:ext>
            </a:extLst>
          </p:cNvPr>
          <p:cNvSpPr>
            <a:spLocks xmlns:a="http://schemas.openxmlformats.org/drawingml/2006/main" noGrp="1"/>
          </p:cNvSpPr>
          <p:nvPr/>
        </p:nvSpPr>
        <p:spPr>
          <a:xfrm xmlns:a="http://schemas.openxmlformats.org/drawingml/2006/main">
            <a:off x="92011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5" name="">
            <a:extLst xmlns:a="http://schemas.openxmlformats.org/drawingml/2006/main">
              <a:ext uri="{FF2B5EF4-FFF2-40B4-BE49-F238E27FC236}">
                <a16:creationId xmlns:a16="http://schemas.microsoft.com/office/drawing/2014/main" id="{56588219-E520-47E1-A7B2-3FB9578860C5}"/>
              </a:ext>
            </a:extLst>
          </p:cNvPr>
          <p:cNvSpPr>
            <a:spLocks xmlns:a="http://schemas.openxmlformats.org/drawingml/2006/main" noGrp="1"/>
          </p:cNvSpPr>
          <p:nvPr/>
        </p:nvSpPr>
        <p:spPr>
          <a:xfrm xmlns:a="http://schemas.openxmlformats.org/drawingml/2006/main">
            <a:off x="9391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6" name="">
            <a:extLst xmlns:a="http://schemas.openxmlformats.org/drawingml/2006/main">
              <a:ext uri="{FF2B5EF4-FFF2-40B4-BE49-F238E27FC236}">
                <a16:creationId xmlns:a16="http://schemas.microsoft.com/office/drawing/2014/main" id="{55678B2D-3EA3-40F0-8A5A-2384652B7066}"/>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7" name="badge-3">
            <a:extLst xmlns:a="http://schemas.openxmlformats.org/drawingml/2006/main">
              <a:ext uri="{FF2B5EF4-FFF2-40B4-BE49-F238E27FC236}">
                <a16:creationId xmlns:a16="http://schemas.microsoft.com/office/drawing/2014/main" id="{B70093C3-20BA-4856-B4D6-6744915817E6}"/>
              </a:ext>
            </a:extLst>
          </p:cNvPr>
          <p:cNvSpPr>
            <a:spLocks xmlns:a="http://schemas.openxmlformats.org/drawingml/2006/main" noGrp="1"/>
          </p:cNvSpPr>
          <p:nvPr/>
        </p:nvSpPr>
        <p:spPr>
          <a:xfrm xmlns:a="http://schemas.openxmlformats.org/drawingml/2006/main">
            <a:off x="685800" y="590550"/>
            <a:ext cx="476250" cy="476250"/>
          </a:xfrm>
          <a:prstGeom xmlns:a="http://schemas.openxmlformats.org/drawingml/2006/main" prst="ellipse">
            <a:avLst/>
          </a:prstGeom>
          <a:solidFill xmlns:a="http://schemas.openxmlformats.org/drawingml/2006/main">
            <a:srgbClr val="E36B78"/>
          </a:solidFill>
          <a:ln xmlns:a="http://schemas.openxmlformats.org/drawingml/2006/main" w="0">
            <a:solidFill>
              <a:srgbClr val="E36B78"/>
            </a:solidFill>
          </a:ln>
        </p:spPr>
        <p:txBody>
          <a:bodyPr xmlns:a="http://schemas.openxmlformats.org/drawingml/2006/main" anchor="ctr">
            <a:normAutofit fontScale="76130"/>
          </a:bodyPr>
          <a:lstStyle xmlns:a="http://schemas.openxmlformats.org/drawingml/2006/main"/>
          <a:p xmlns:a="http://schemas.openxmlformats.org/drawingml/2006/main">
            <a:pPr algn="ctr">
              <a:defRPr sz="1350" b="1">
                <a:solidFill>
                  <a:srgbClr val="FFFFFF"/>
                </a:solidFill>
                <a:latin typeface="Noto Sans CJK TC"/>
                <a:ea typeface="Noto Sans CJK TC"/>
                <a:cs typeface="Noto Sans CJK TC"/>
              </a:defRPr>
            </a:pPr>
            <a:r>
              <a:rPr sz="1350" b="1">
                <a:solidFill>
                  <a:srgbClr val="FFFFFF"/>
                </a:solidFill>
                <a:latin typeface="Noto Sans CJK TC"/>
                <a:ea typeface="Noto Sans CJK TC"/>
                <a:cs typeface="Noto Sans CJK TC"/>
              </a:rPr>
              <a:t>02</a:t>
            </a:r>
          </a:p>
        </p:txBody>
      </p:sp>
      <p:sp>
        <p:nvSpPr>
          <p:cNvPr id="8" name="">
            <a:extLst xmlns:a="http://schemas.openxmlformats.org/drawingml/2006/main">
              <a:ext uri="{FF2B5EF4-FFF2-40B4-BE49-F238E27FC236}">
                <a16:creationId xmlns:a16="http://schemas.microsoft.com/office/drawing/2014/main" id="{ACFEEBE8-70F0-48E2-A06A-A40A0E61412D}"/>
              </a:ext>
            </a:extLst>
          </p:cNvPr>
          <p:cNvSpPr>
            <a:spLocks xmlns:a="http://schemas.openxmlformats.org/drawingml/2006/main" noGrp="1"/>
          </p:cNvSpPr>
          <p:nvPr/>
        </p:nvSpPr>
        <p:spPr>
          <a:xfrm xmlns:a="http://schemas.openxmlformats.org/drawingml/2006/main">
            <a:off x="1314450" y="523875"/>
            <a:ext cx="1276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225" b="1" i="0">
                <a:solidFill>
                  <a:srgbClr val="431218"/>
                </a:solidFill>
                <a:latin typeface="Noto Serif CJK TC"/>
                <a:ea typeface="Noto Serif CJK TC"/>
                <a:cs typeface="Noto Serif CJK TC"/>
              </a:defRPr>
            </a:pPr>
            <a:r>
              <a:rPr sz="3225" b="1" i="0">
                <a:solidFill>
                  <a:srgbClr val="431218"/>
                </a:solidFill>
                <a:latin typeface="Noto Serif CJK TC"/>
                <a:ea typeface="Noto Serif CJK TC"/>
                <a:cs typeface="Noto Serif CJK TC"/>
              </a:rPr>
              <a:t>固定父代與基準表現</a:t>
            </a:r>
          </a:p>
        </p:txBody>
      </p:sp>
      <p:sp>
        <p:nvSpPr>
          <p:cNvPr id="9" name="">
            <a:extLst xmlns:a="http://schemas.openxmlformats.org/drawingml/2006/main">
              <a:ext uri="{FF2B5EF4-FFF2-40B4-BE49-F238E27FC236}">
                <a16:creationId xmlns:a16="http://schemas.microsoft.com/office/drawing/2014/main" id="{2954DA66-D381-4A96-91FC-14580F6CE145}"/>
              </a:ext>
            </a:extLst>
          </p:cNvPr>
          <p:cNvSpPr>
            <a:spLocks xmlns:a="http://schemas.openxmlformats.org/drawingml/2006/main" noGrp="1"/>
          </p:cNvSpPr>
          <p:nvPr/>
        </p:nvSpPr>
        <p:spPr>
          <a:xfrm xmlns:a="http://schemas.openxmlformats.org/drawingml/2006/main">
            <a:off x="1333500" y="1143000"/>
            <a:ext cx="1381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同一份 Worker Rush policy、checked-in Java 與 opponent matrix</a:t>
            </a:r>
          </a:p>
        </p:txBody>
      </p:sp>
      <p:sp>
        <p:nvSpPr>
          <p:cNvPr id="10" name="">
            <a:extLst xmlns:a="http://schemas.openxmlformats.org/drawingml/2006/main">
              <a:ext uri="{FF2B5EF4-FFF2-40B4-BE49-F238E27FC236}">
                <a16:creationId xmlns:a16="http://schemas.microsoft.com/office/drawing/2014/main" id="{D0BEC6C7-9E01-4602-9C4E-48BB41865A52}"/>
              </a:ext>
            </a:extLst>
          </p:cNvPr>
          <p:cNvSpPr>
            <a:spLocks xmlns:a="http://schemas.openxmlformats.org/drawingml/2006/main" noGrp="1"/>
          </p:cNvSpPr>
          <p:nvPr/>
        </p:nvSpPr>
        <p:spPr>
          <a:xfrm xmlns:a="http://schemas.openxmlformats.org/drawingml/2006/main">
            <a:off x="14287500" y="6286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1200" b="1" i="0">
                <a:solidFill>
                  <a:srgbClr val="47795C"/>
                </a:solidFill>
                <a:latin typeface="Noto Sans CJK TC"/>
                <a:ea typeface="Noto Sans CJK TC"/>
                <a:cs typeface="Noto Sans CJK TC"/>
              </a:defRPr>
            </a:pPr>
            <a:r>
              <a:rPr sz="1200" b="1" i="0">
                <a:solidFill>
                  <a:srgbClr val="47795C"/>
                </a:solidFill>
                <a:latin typeface="Noto Sans CJK TC"/>
                <a:ea typeface="Noto Sans CJK TC"/>
                <a:cs typeface="Noto Sans CJK TC"/>
              </a:rPr>
              <a:t>180 MATCHES</a:t>
            </a:r>
          </a:p>
        </p:txBody>
      </p:sp>
      <p:sp>
        <p:nvSpPr>
          <p:cNvPr id="11" name="">
            <a:extLst xmlns:a="http://schemas.openxmlformats.org/drawingml/2006/main">
              <a:ext uri="{FF2B5EF4-FFF2-40B4-BE49-F238E27FC236}">
                <a16:creationId xmlns:a16="http://schemas.microsoft.com/office/drawing/2014/main" id="{166B0464-05C2-4CAB-871B-B9BFAED7C4E1}"/>
              </a:ext>
            </a:extLst>
          </p:cNvPr>
          <p:cNvSpPr>
            <a:spLocks xmlns:a="http://schemas.openxmlformats.org/drawingml/2006/main" noGrp="1"/>
          </p:cNvSpPr>
          <p:nvPr/>
        </p:nvSpPr>
        <p:spPr>
          <a:xfrm xmlns:a="http://schemas.openxmlformats.org/drawingml/2006/main">
            <a:off x="16764000" y="9829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06A"/>
                </a:solidFill>
                <a:latin typeface="Noto Sans CJK TC"/>
                <a:ea typeface="Noto Sans CJK TC"/>
                <a:cs typeface="Noto Sans CJK TC"/>
              </a:defRPr>
            </a:pPr>
            <a:r>
              <a:rPr sz="900" b="0" i="0">
                <a:solidFill>
                  <a:srgbClr val="62606A"/>
                </a:solidFill>
                <a:latin typeface="Noto Sans CJK TC"/>
                <a:ea typeface="Noto Sans CJK TC"/>
                <a:cs typeface="Noto Sans CJK TC"/>
              </a:rPr>
              <a:t>03 / 14</a:t>
            </a:r>
          </a:p>
        </p:txBody>
      </p:sp>
      <p:sp>
        <p:nvSpPr>
          <p:cNvPr id="12" name="">
            <a:extLst xmlns:a="http://schemas.openxmlformats.org/drawingml/2006/main">
              <a:ext uri="{FF2B5EF4-FFF2-40B4-BE49-F238E27FC236}">
                <a16:creationId xmlns:a16="http://schemas.microsoft.com/office/drawing/2014/main" id="{5C44E73B-39F0-414C-B9D4-E5433A9BF574}"/>
              </a:ext>
            </a:extLst>
          </p:cNvPr>
          <p:cNvSpPr>
            <a:spLocks xmlns:a="http://schemas.openxmlformats.org/drawingml/2006/main" noGrp="1"/>
          </p:cNvSpPr>
          <p:nvPr/>
        </p:nvSpPr>
        <p:spPr>
          <a:xfrm xmlns:a="http://schemas.openxmlformats.org/drawingml/2006/main">
            <a:off x="952500" y="171450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實驗設定</a:t>
            </a:r>
          </a:p>
        </p:txBody>
      </p:sp>
      <p:sp>
        <p:nvSpPr>
          <p:cNvPr id="13" name="">
            <a:extLst xmlns:a="http://schemas.openxmlformats.org/drawingml/2006/main">
              <a:ext uri="{FF2B5EF4-FFF2-40B4-BE49-F238E27FC236}">
                <a16:creationId xmlns:a16="http://schemas.microsoft.com/office/drawing/2014/main" id="{840C499E-3379-4A5D-ACDD-58760EA838BD}"/>
              </a:ext>
            </a:extLst>
          </p:cNvPr>
          <p:cNvSpPr>
            <a:spLocks xmlns:a="http://schemas.openxmlformats.org/drawingml/2006/main" noGrp="1"/>
          </p:cNvSpPr>
          <p:nvPr/>
        </p:nvSpPr>
        <p:spPr>
          <a:xfrm xmlns:a="http://schemas.openxmlformats.org/drawingml/2006/main">
            <a:off x="952500" y="2076450"/>
            <a:ext cx="53340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4" name="">
            <a:extLst xmlns:a="http://schemas.openxmlformats.org/drawingml/2006/main">
              <a:ext uri="{FF2B5EF4-FFF2-40B4-BE49-F238E27FC236}">
                <a16:creationId xmlns:a16="http://schemas.microsoft.com/office/drawing/2014/main" id="{310411BA-CF05-4990-9F67-19573F7D1BD2}"/>
              </a:ext>
            </a:extLst>
          </p:cNvPr>
          <p:cNvSpPr>
            <a:spLocks xmlns:a="http://schemas.openxmlformats.org/drawingml/2006/main" noGrp="1"/>
          </p:cNvSpPr>
          <p:nvPr/>
        </p:nvSpPr>
        <p:spPr>
          <a:xfrm xmlns:a="http://schemas.openxmlformats.org/drawingml/2006/main">
            <a:off x="952500" y="2286000"/>
            <a:ext cx="5334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15900" indent="-101600">
              <a:spcAft>
                <a:spcPts val="1100"/>
              </a:spcAft>
              <a:buChar char="•"/>
              <a:defRPr sz="1725">
                <a:solidFill>
                  <a:srgbClr val="25252A"/>
                </a:solidFill>
                <a:latin typeface="Noto Sans CJK TC"/>
                <a:ea typeface="Noto Sans CJK TC"/>
                <a:cs typeface="Noto Sans CJK TC"/>
              </a:defRPr>
            </a:pPr>
            <a:r>
              <a:rPr sz="1725">
                <a:solidFill>
                  <a:srgbClr val="25252A"/>
                </a:solidFill>
                <a:latin typeface="Noto Sans CJK TC"/>
                <a:ea typeface="Noto Sans CJK TC"/>
                <a:cs typeface="Noto Sans CJK TC"/>
              </a:rPr>
              <a:t>固定父代：worker_rush_parent</a:t>
            </a:r>
          </a:p>
          <a:p xmlns:a="http://schemas.openxmlformats.org/drawingml/2006/main">
            <a:pPr marL="215900" indent="-101600">
              <a:spcAft>
                <a:spcPts val="1100"/>
              </a:spcAft>
              <a:buChar char="•"/>
              <a:defRPr sz="1725">
                <a:solidFill>
                  <a:srgbClr val="25252A"/>
                </a:solidFill>
                <a:latin typeface="Noto Sans CJK TC"/>
                <a:ea typeface="Noto Sans CJK TC"/>
                <a:cs typeface="Noto Sans CJK TC"/>
              </a:defRPr>
            </a:pPr>
            <a:r>
              <a:rPr sz="1725">
                <a:solidFill>
                  <a:srgbClr val="25252A"/>
                </a:solidFill>
                <a:latin typeface="Noto Sans CJK TC"/>
                <a:ea typeface="Noto Sans CJK TC"/>
                <a:cs typeface="Noto Sans CJK TC"/>
              </a:rPr>
              <a:t>10 個 opponents，每個 18 場</a:t>
            </a:r>
          </a:p>
          <a:p xmlns:a="http://schemas.openxmlformats.org/drawingml/2006/main">
            <a:pPr marL="215900" indent="-101600">
              <a:spcAft>
                <a:spcPts val="1100"/>
              </a:spcAft>
              <a:buChar char="•"/>
              <a:defRPr sz="1725">
                <a:solidFill>
                  <a:srgbClr val="25252A"/>
                </a:solidFill>
                <a:latin typeface="Noto Sans CJK TC"/>
                <a:ea typeface="Noto Sans CJK TC"/>
                <a:cs typeface="Noto Sans CJK TC"/>
              </a:defRPr>
            </a:pPr>
            <a:r>
              <a:rPr sz="1725">
                <a:solidFill>
                  <a:srgbClr val="25252A"/>
                </a:solidFill>
                <a:latin typeface="Noto Sans CJK TC"/>
                <a:ea typeface="Noto Sans CJK TC"/>
                <a:cs typeface="Noto Sans CJK TC"/>
              </a:rPr>
              <a:t>3 張地圖，每張雙邊各 3 次</a:t>
            </a:r>
          </a:p>
          <a:p xmlns:a="http://schemas.openxmlformats.org/drawingml/2006/main">
            <a:pPr marL="215900" indent="-101600">
              <a:spcAft>
                <a:spcPts val="1100"/>
              </a:spcAft>
              <a:buChar char="•"/>
              <a:defRPr sz="1725">
                <a:solidFill>
                  <a:srgbClr val="25252A"/>
                </a:solidFill>
                <a:latin typeface="Noto Sans CJK TC"/>
                <a:ea typeface="Noto Sans CJK TC"/>
                <a:cs typeface="Noto Sans CJK TC"/>
              </a:defRPr>
            </a:pPr>
            <a:r>
              <a:rPr sz="1725">
                <a:solidFill>
                  <a:srgbClr val="25252A"/>
                </a:solidFill>
                <a:latin typeface="Noto Sans CJK TC"/>
                <a:ea typeface="Noto Sans CJK TC"/>
                <a:cs typeface="Noto Sans CJK TC"/>
              </a:rPr>
              <a:t>每次 trial 從同一 subject 重新開始</a:t>
            </a:r>
          </a:p>
          <a:p xmlns:a="http://schemas.openxmlformats.org/drawingml/2006/main">
            <a:pPr marL="215900" indent="-101600">
              <a:spcAft>
                <a:spcPts val="1100"/>
              </a:spcAft>
              <a:buChar char="•"/>
              <a:defRPr sz="1725">
                <a:solidFill>
                  <a:srgbClr val="25252A"/>
                </a:solidFill>
                <a:latin typeface="Noto Sans CJK TC"/>
                <a:ea typeface="Noto Sans CJK TC"/>
                <a:cs typeface="Noto Sans CJK TC"/>
              </a:defRPr>
            </a:pPr>
            <a:r>
              <a:rPr sz="1725">
                <a:solidFill>
                  <a:srgbClr val="25252A"/>
                </a:solidFill>
                <a:latin typeface="Noto Sans CJK TC"/>
                <a:ea typeface="Noto Sans CJK TC"/>
                <a:cs typeface="Noto Sans CJK TC"/>
              </a:rPr>
              <a:t>Strategy、Code、Balance 各 3 次</a:t>
            </a:r>
          </a:p>
        </p:txBody>
      </p:sp>
      <p:sp>
        <p:nvSpPr>
          <p:cNvPr id="15" name="">
            <a:extLst xmlns:a="http://schemas.openxmlformats.org/drawingml/2006/main">
              <a:ext uri="{FF2B5EF4-FFF2-40B4-BE49-F238E27FC236}">
                <a16:creationId xmlns:a16="http://schemas.microsoft.com/office/drawing/2014/main" id="{5B22946C-DF05-4441-ADF3-80159980C29A}"/>
              </a:ext>
            </a:extLst>
          </p:cNvPr>
          <p:cNvSpPr>
            <a:spLocks xmlns:a="http://schemas.openxmlformats.org/drawingml/2006/main" noGrp="1"/>
          </p:cNvSpPr>
          <p:nvPr/>
        </p:nvSpPr>
        <p:spPr>
          <a:xfrm xmlns:a="http://schemas.openxmlformats.org/drawingml/2006/main">
            <a:off x="952500" y="600075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4650" b="1" i="0">
                <a:solidFill>
                  <a:srgbClr val="B95160"/>
                </a:solidFill>
                <a:latin typeface="Noto Serif CJK TC"/>
                <a:ea typeface="Noto Serif CJK TC"/>
                <a:cs typeface="Noto Serif CJK TC"/>
              </a:defRPr>
            </a:pPr>
            <a:r>
              <a:rPr sz="4650" b="1" i="0">
                <a:solidFill>
                  <a:srgbClr val="B95160"/>
                </a:solidFill>
                <a:latin typeface="Noto Serif CJK TC"/>
                <a:ea typeface="Noto Serif CJK TC"/>
                <a:cs typeface="Noto Serif CJK TC"/>
              </a:rPr>
              <a:t>-90.316206</a:t>
            </a:r>
          </a:p>
        </p:txBody>
      </p:sp>
      <p:sp>
        <p:nvSpPr>
          <p:cNvPr id="16" name="">
            <a:extLst xmlns:a="http://schemas.openxmlformats.org/drawingml/2006/main">
              <a:ext uri="{FF2B5EF4-FFF2-40B4-BE49-F238E27FC236}">
                <a16:creationId xmlns:a16="http://schemas.microsoft.com/office/drawing/2014/main" id="{E07254C6-1BD0-4628-8671-711F80BEEF57}"/>
              </a:ext>
            </a:extLst>
          </p:cNvPr>
          <p:cNvSpPr>
            <a:spLocks xmlns:a="http://schemas.openxmlformats.org/drawingml/2006/main" noGrp="1"/>
          </p:cNvSpPr>
          <p:nvPr/>
        </p:nvSpPr>
        <p:spPr>
          <a:xfrm xmlns:a="http://schemas.openxmlformats.org/drawingml/2006/main">
            <a:off x="1000125" y="690562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i="0">
                <a:solidFill>
                  <a:srgbClr val="62606A"/>
                </a:solidFill>
                <a:latin typeface="Noto Sans CJK TC"/>
                <a:ea typeface="Noto Sans CJK TC"/>
                <a:cs typeface="Noto Sans CJK TC"/>
              </a:defRPr>
            </a:pPr>
            <a:r>
              <a:rPr sz="1500" b="0" i="0">
                <a:solidFill>
                  <a:srgbClr val="62606A"/>
                </a:solidFill>
                <a:latin typeface="Noto Sans CJK TC"/>
                <a:ea typeface="Noto Sans CJK TC"/>
                <a:cs typeface="Noto Sans CJK TC"/>
              </a:rPr>
              <a:t>aggregate game performance</a:t>
            </a:r>
          </a:p>
        </p:txBody>
      </p:sp>
      <p:sp>
        <p:nvSpPr>
          <p:cNvPr id="17" name="">
            <a:extLst xmlns:a="http://schemas.openxmlformats.org/drawingml/2006/main">
              <a:ext uri="{FF2B5EF4-FFF2-40B4-BE49-F238E27FC236}">
                <a16:creationId xmlns:a16="http://schemas.microsoft.com/office/drawing/2014/main" id="{C3F19303-18C1-4C6F-A147-1A283AC2EA4B}"/>
              </a:ext>
            </a:extLst>
          </p:cNvPr>
          <p:cNvSpPr>
            <a:spLocks xmlns:a="http://schemas.openxmlformats.org/drawingml/2006/main" noGrp="1"/>
          </p:cNvSpPr>
          <p:nvPr/>
        </p:nvSpPr>
        <p:spPr>
          <a:xfrm xmlns:a="http://schemas.openxmlformats.org/drawingml/2006/main">
            <a:off x="952500" y="7572375"/>
            <a:ext cx="5334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Passive 與 Random 全部和局。七個 rush 或強力 opponent 全部落敗。Randombias 只有和局與敗局。</a:t>
            </a:r>
          </a:p>
        </p:txBody>
      </p:sp>
      <p:graphicFrame>
        <p:nvGraphicFramePr>
          <p:cNvPr id="37" name="Chart"/>
          <p:cNvGraphicFramePr/>
          <p:nvPr/>
        </p:nvGraphicFramePr>
        <p:xfrm>
          <a:off xmlns:a="http://schemas.openxmlformats.org/drawingml/2006/main" x="6953250" y="1952625"/>
          <a:ext xmlns:a="http://schemas.openxmlformats.org/drawingml/2006/main" cx="10382250" cy="6572250"/>
        </p:xfrm>
        <a:graphic xmlns:a="http://schemas.openxmlformats.org/drawingml/2006/main">
          <a:graphicData uri="http://schemas.openxmlformats.org/drawingml/2006/chart">
            <c:chart xmlns:r="http://schemas.openxmlformats.org/officeDocument/2006/relationships" xmlns:c="http://schemas.openxmlformats.org/drawingml/2006/chart" r:id="R91c7ed7beb504747"/>
          </a:graphicData>
        </a:graphic>
      </p:graphicFrame>
      <p:sp>
        <p:nvSpPr>
          <p:cNvPr id="19" name="">
            <a:extLst xmlns:a="http://schemas.openxmlformats.org/drawingml/2006/main">
              <a:ext uri="{FF2B5EF4-FFF2-40B4-BE49-F238E27FC236}">
                <a16:creationId xmlns:a16="http://schemas.microsoft.com/office/drawing/2014/main" id="{8798841A-A20C-400B-8678-8B3B8ECFA841}"/>
              </a:ext>
            </a:extLst>
          </p:cNvPr>
          <p:cNvSpPr>
            <a:spLocks xmlns:a="http://schemas.openxmlformats.org/drawingml/2006/main" noGrp="1"/>
          </p:cNvSpPr>
          <p:nvPr/>
        </p:nvSpPr>
        <p:spPr>
          <a:xfrm xmlns:a="http://schemas.openxmlformats.org/drawingml/2006/main">
            <a:off x="7048500" y="866775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62606A"/>
                </a:solidFill>
                <a:latin typeface="Noto Sans CJK TC"/>
                <a:ea typeface="Noto Sans CJK TC"/>
                <a:cs typeface="Noto Sans CJK TC"/>
              </a:defRPr>
            </a:pPr>
            <a:r>
              <a:rPr sz="1125" b="0" i="0">
                <a:solidFill>
                  <a:srgbClr val="62606A"/>
                </a:solidFill>
                <a:latin typeface="Noto Sans CJK TC"/>
                <a:ea typeface="Noto Sans CJK TC"/>
                <a:cs typeface="Noto Sans CJK TC"/>
              </a:rPr>
              <a:t>Bar 長度顯示分數絕對值，數值標籤保留正負號。</a:t>
            </a:r>
          </a:p>
        </p:txBody>
      </p:sp>
    </p:spTree>
    <p:extLst>
      <p:ext uri="{BB962C8B-B14F-4D97-AF65-F5344CB8AC3E}">
        <p14:creationId xmlns:p14="http://schemas.microsoft.com/office/powerpoint/2010/main" val="205578248"/>
      </p:ext>
    </p:extLst>
  </p:cSld>
</p:sld>
</file>

<file path=ppt/slides/slide4.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00DBF8C-FB4E-4BB8-A31B-8A740DD1C507}"/>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
            <a:extLst xmlns:a="http://schemas.openxmlformats.org/drawingml/2006/main">
              <a:ext uri="{FF2B5EF4-FFF2-40B4-BE49-F238E27FC236}">
                <a16:creationId xmlns:a16="http://schemas.microsoft.com/office/drawing/2014/main" id="{8CD47A0B-8C5C-4E17-B85E-3436829F6021}"/>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
            <a:extLst xmlns:a="http://schemas.openxmlformats.org/drawingml/2006/main">
              <a:ext uri="{FF2B5EF4-FFF2-40B4-BE49-F238E27FC236}">
                <a16:creationId xmlns:a16="http://schemas.microsoft.com/office/drawing/2014/main" id="{1BA68B20-8012-4320-81D2-D1BE3EBDE39B}"/>
              </a:ext>
            </a:extLst>
          </p:cNvPr>
          <p:cNvSpPr>
            <a:spLocks xmlns:a="http://schemas.openxmlformats.org/drawingml/2006/main" noGrp="1"/>
          </p:cNvSpPr>
          <p:nvPr/>
        </p:nvSpPr>
        <p:spPr>
          <a:xfrm xmlns:a="http://schemas.openxmlformats.org/drawingml/2006/main">
            <a:off x="9010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4" name="">
            <a:extLst xmlns:a="http://schemas.openxmlformats.org/drawingml/2006/main">
              <a:ext uri="{FF2B5EF4-FFF2-40B4-BE49-F238E27FC236}">
                <a16:creationId xmlns:a16="http://schemas.microsoft.com/office/drawing/2014/main" id="{1F2250BF-9868-45A9-9ED0-7DBB27172BC9}"/>
              </a:ext>
            </a:extLst>
          </p:cNvPr>
          <p:cNvSpPr>
            <a:spLocks xmlns:a="http://schemas.openxmlformats.org/drawingml/2006/main" noGrp="1"/>
          </p:cNvSpPr>
          <p:nvPr/>
        </p:nvSpPr>
        <p:spPr>
          <a:xfrm xmlns:a="http://schemas.openxmlformats.org/drawingml/2006/main">
            <a:off x="92011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5" name="">
            <a:extLst xmlns:a="http://schemas.openxmlformats.org/drawingml/2006/main">
              <a:ext uri="{FF2B5EF4-FFF2-40B4-BE49-F238E27FC236}">
                <a16:creationId xmlns:a16="http://schemas.microsoft.com/office/drawing/2014/main" id="{33376527-C6B7-43CC-B700-0845F1AE8C69}"/>
              </a:ext>
            </a:extLst>
          </p:cNvPr>
          <p:cNvSpPr>
            <a:spLocks xmlns:a="http://schemas.openxmlformats.org/drawingml/2006/main" noGrp="1"/>
          </p:cNvSpPr>
          <p:nvPr/>
        </p:nvSpPr>
        <p:spPr>
          <a:xfrm xmlns:a="http://schemas.openxmlformats.org/drawingml/2006/main">
            <a:off x="9391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6" name="">
            <a:extLst xmlns:a="http://schemas.openxmlformats.org/drawingml/2006/main">
              <a:ext uri="{FF2B5EF4-FFF2-40B4-BE49-F238E27FC236}">
                <a16:creationId xmlns:a16="http://schemas.microsoft.com/office/drawing/2014/main" id="{1F5DD232-EC40-4F0A-B610-B5ABC048D885}"/>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7" name="badge-4">
            <a:extLst xmlns:a="http://schemas.openxmlformats.org/drawingml/2006/main">
              <a:ext uri="{FF2B5EF4-FFF2-40B4-BE49-F238E27FC236}">
                <a16:creationId xmlns:a16="http://schemas.microsoft.com/office/drawing/2014/main" id="{14088790-8713-4226-839B-8355EBA215CF}"/>
              </a:ext>
            </a:extLst>
          </p:cNvPr>
          <p:cNvSpPr>
            <a:spLocks xmlns:a="http://schemas.openxmlformats.org/drawingml/2006/main" noGrp="1"/>
          </p:cNvSpPr>
          <p:nvPr/>
        </p:nvSpPr>
        <p:spPr>
          <a:xfrm xmlns:a="http://schemas.openxmlformats.org/drawingml/2006/main">
            <a:off x="685800" y="590550"/>
            <a:ext cx="476250" cy="476250"/>
          </a:xfrm>
          <a:prstGeom xmlns:a="http://schemas.openxmlformats.org/drawingml/2006/main" prst="ellipse">
            <a:avLst/>
          </a:prstGeom>
          <a:solidFill xmlns:a="http://schemas.openxmlformats.org/drawingml/2006/main">
            <a:srgbClr val="E36B78"/>
          </a:solidFill>
          <a:ln xmlns:a="http://schemas.openxmlformats.org/drawingml/2006/main" w="0">
            <a:solidFill>
              <a:srgbClr val="E36B78"/>
            </a:solidFill>
          </a:ln>
        </p:spPr>
        <p:txBody>
          <a:bodyPr xmlns:a="http://schemas.openxmlformats.org/drawingml/2006/main" anchor="ctr">
            <a:normAutofit fontScale="76130"/>
          </a:bodyPr>
          <a:lstStyle xmlns:a="http://schemas.openxmlformats.org/drawingml/2006/main"/>
          <a:p xmlns:a="http://schemas.openxmlformats.org/drawingml/2006/main">
            <a:pPr algn="ctr">
              <a:defRPr sz="1350" b="1">
                <a:solidFill>
                  <a:srgbClr val="FFFFFF"/>
                </a:solidFill>
                <a:latin typeface="Noto Sans CJK TC"/>
                <a:ea typeface="Noto Sans CJK TC"/>
                <a:cs typeface="Noto Sans CJK TC"/>
              </a:defRPr>
            </a:pPr>
            <a:r>
              <a:rPr sz="1350" b="1">
                <a:solidFill>
                  <a:srgbClr val="FFFFFF"/>
                </a:solidFill>
                <a:latin typeface="Noto Sans CJK TC"/>
                <a:ea typeface="Noto Sans CJK TC"/>
                <a:cs typeface="Noto Sans CJK TC"/>
              </a:rPr>
              <a:t>03</a:t>
            </a:r>
          </a:p>
        </p:txBody>
      </p:sp>
      <p:sp>
        <p:nvSpPr>
          <p:cNvPr id="8" name="">
            <a:extLst xmlns:a="http://schemas.openxmlformats.org/drawingml/2006/main">
              <a:ext uri="{FF2B5EF4-FFF2-40B4-BE49-F238E27FC236}">
                <a16:creationId xmlns:a16="http://schemas.microsoft.com/office/drawing/2014/main" id="{E8525726-009D-41FE-B432-4C38C94A279A}"/>
              </a:ext>
            </a:extLst>
          </p:cNvPr>
          <p:cNvSpPr>
            <a:spLocks xmlns:a="http://schemas.openxmlformats.org/drawingml/2006/main" noGrp="1"/>
          </p:cNvSpPr>
          <p:nvPr/>
        </p:nvSpPr>
        <p:spPr>
          <a:xfrm xmlns:a="http://schemas.openxmlformats.org/drawingml/2006/main">
            <a:off x="1314450" y="523875"/>
            <a:ext cx="1276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225" b="1" i="0">
                <a:solidFill>
                  <a:srgbClr val="431218"/>
                </a:solidFill>
                <a:latin typeface="Noto Serif CJK TC"/>
                <a:ea typeface="Noto Serif CJK TC"/>
                <a:cs typeface="Noto Serif CJK TC"/>
              </a:defRPr>
            </a:pPr>
            <a:r>
              <a:rPr sz="3225" b="1" i="0">
                <a:solidFill>
                  <a:srgbClr val="431218"/>
                </a:solidFill>
                <a:latin typeface="Noto Serif CJK TC"/>
                <a:ea typeface="Noto Serif CJK TC"/>
                <a:cs typeface="Noto Serif CJK TC"/>
              </a:rPr>
              <a:t>三種 Reflection 的成功率與失敗位置</a:t>
            </a:r>
          </a:p>
        </p:txBody>
      </p:sp>
      <p:sp>
        <p:nvSpPr>
          <p:cNvPr id="9" name="">
            <a:extLst xmlns:a="http://schemas.openxmlformats.org/drawingml/2006/main">
              <a:ext uri="{FF2B5EF4-FFF2-40B4-BE49-F238E27FC236}">
                <a16:creationId xmlns:a16="http://schemas.microsoft.com/office/drawing/2014/main" id="{57139875-5DA5-4BB6-B964-289F5C44015C}"/>
              </a:ext>
            </a:extLst>
          </p:cNvPr>
          <p:cNvSpPr>
            <a:spLocks xmlns:a="http://schemas.openxmlformats.org/drawingml/2006/main" noGrp="1"/>
          </p:cNvSpPr>
          <p:nvPr/>
        </p:nvSpPr>
        <p:spPr>
          <a:xfrm xmlns:a="http://schemas.openxmlformats.org/drawingml/2006/main">
            <a:off x="1333500" y="1143000"/>
            <a:ext cx="1381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Applied 代表狀態轉換完成，不等於內容符合 gameplay contract</a:t>
            </a:r>
          </a:p>
        </p:txBody>
      </p:sp>
      <p:sp>
        <p:nvSpPr>
          <p:cNvPr id="10" name="">
            <a:extLst xmlns:a="http://schemas.openxmlformats.org/drawingml/2006/main">
              <a:ext uri="{FF2B5EF4-FFF2-40B4-BE49-F238E27FC236}">
                <a16:creationId xmlns:a16="http://schemas.microsoft.com/office/drawing/2014/main" id="{E6450799-5B57-4DEA-B2E1-88FE1C0B21D3}"/>
              </a:ext>
            </a:extLst>
          </p:cNvPr>
          <p:cNvSpPr>
            <a:spLocks xmlns:a="http://schemas.openxmlformats.org/drawingml/2006/main" noGrp="1"/>
          </p:cNvSpPr>
          <p:nvPr/>
        </p:nvSpPr>
        <p:spPr>
          <a:xfrm xmlns:a="http://schemas.openxmlformats.org/drawingml/2006/main">
            <a:off x="14287500" y="6286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1200" b="1" i="0">
                <a:solidFill>
                  <a:srgbClr val="47795C"/>
                </a:solidFill>
                <a:latin typeface="Noto Sans CJK TC"/>
                <a:ea typeface="Noto Sans CJK TC"/>
                <a:cs typeface="Noto Sans CJK TC"/>
              </a:defRPr>
            </a:pPr>
            <a:r>
              <a:rPr sz="1200" b="1" i="0">
                <a:solidFill>
                  <a:srgbClr val="47795C"/>
                </a:solidFill>
                <a:latin typeface="Noto Sans CJK TC"/>
                <a:ea typeface="Noto Sans CJK TC"/>
                <a:cs typeface="Noto Sans CJK TC"/>
              </a:rPr>
              <a:t>6 / 9 APPLIED</a:t>
            </a:r>
          </a:p>
        </p:txBody>
      </p:sp>
      <p:sp>
        <p:nvSpPr>
          <p:cNvPr id="11" name="">
            <a:extLst xmlns:a="http://schemas.openxmlformats.org/drawingml/2006/main">
              <a:ext uri="{FF2B5EF4-FFF2-40B4-BE49-F238E27FC236}">
                <a16:creationId xmlns:a16="http://schemas.microsoft.com/office/drawing/2014/main" id="{5F11D20E-3160-42F1-825D-08DFCD004FEB}"/>
              </a:ext>
            </a:extLst>
          </p:cNvPr>
          <p:cNvSpPr>
            <a:spLocks xmlns:a="http://schemas.openxmlformats.org/drawingml/2006/main" noGrp="1"/>
          </p:cNvSpPr>
          <p:nvPr/>
        </p:nvSpPr>
        <p:spPr>
          <a:xfrm xmlns:a="http://schemas.openxmlformats.org/drawingml/2006/main">
            <a:off x="16764000" y="9829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06A"/>
                </a:solidFill>
                <a:latin typeface="Noto Sans CJK TC"/>
                <a:ea typeface="Noto Sans CJK TC"/>
                <a:cs typeface="Noto Sans CJK TC"/>
              </a:defRPr>
            </a:pPr>
            <a:r>
              <a:rPr sz="900" b="0" i="0">
                <a:solidFill>
                  <a:srgbClr val="62606A"/>
                </a:solidFill>
                <a:latin typeface="Noto Sans CJK TC"/>
                <a:ea typeface="Noto Sans CJK TC"/>
                <a:cs typeface="Noto Sans CJK TC"/>
              </a:rPr>
              <a:t>04 / 14</a:t>
            </a:r>
          </a:p>
        </p:txBody>
      </p:sp>
      <p:graphicFrame>
        <p:nvGraphicFramePr>
          <p:cNvPr id="28" name="Chart"/>
          <p:cNvGraphicFramePr/>
          <p:nvPr/>
        </p:nvGraphicFramePr>
        <p:xfrm>
          <a:off xmlns:a="http://schemas.openxmlformats.org/drawingml/2006/main" x="952500" y="2095500"/>
          <a:ext xmlns:a="http://schemas.openxmlformats.org/drawingml/2006/main" cx="6953250" cy="5143500"/>
        </p:xfrm>
        <a:graphic xmlns:a="http://schemas.openxmlformats.org/drawingml/2006/main">
          <a:graphicData uri="http://schemas.openxmlformats.org/drawingml/2006/chart">
            <c:chart xmlns:r="http://schemas.openxmlformats.org/officeDocument/2006/relationships" xmlns:c="http://schemas.openxmlformats.org/drawingml/2006/chart" r:id="R60c918a0ba7b456f"/>
          </a:graphicData>
        </a:graphic>
      </p:graphicFrame>
      <p:graphicFrame>
        <p:nvGraphicFramePr>
          <p:cNvPr id="29" name=""/>
          <p:cNvGraphicFramePr/>
          <p:nvPr/>
        </p:nvGraphicFramePr>
        <p:xfrm>
          <a:off xmlns:a="http://schemas.openxmlformats.org/drawingml/2006/main" x="8382000" y="2143125"/>
          <a:ext xmlns:a="http://schemas.openxmlformats.org/drawingml/2006/main" cx="8953500" cy="4667250"/>
        </p:xfrm>
        <a:graphic xmlns:a="http://schemas.openxmlformats.org/drawingml/2006/main">
          <a:graphicData uri="http://schemas.openxmlformats.org/drawingml/2006/table">
            <a:tbl>
              <a:tblPr/>
              <a:tblGrid>
                <a:gridCol w="1619250"/>
                <a:gridCol w="2238375"/>
                <a:gridCol w="1143000"/>
                <a:gridCol w="1428750"/>
                <a:gridCol w="2524125"/>
              </a:tblGrid>
              <a:tr h="1166813">
                <a:tc>
                  <a:txBody>
                    <a:bodyPr/>
                    <a:lstStyle/>
                    <a:p>
                      <a:r>
                        <a:rPr sz="1275" b="1">
                          <a:solidFill>
                            <a:srgbClr val="FFFFFF"/>
                          </a:solidFill>
                          <a:latin typeface="Noto Sans CJK TC"/>
                          <a:ea typeface="Noto Sans CJK TC"/>
                          <a:cs typeface="Noto Sans CJK TC"/>
                        </a:rPr>
                        <a:t>Reflection</a:t>
                      </a:r>
                    </a:p>
                  </a:txBody>
                  <a:tcPr marL="95250" marR="95250" marT="76200" marB="76200">
                    <a:solidFill>
                      <a:srgbClr val="B95160"/>
                    </a:solidFill>
                  </a:tcPr>
                </a:tc>
                <a:tc>
                  <a:txBody>
                    <a:bodyPr/>
                    <a:lstStyle/>
                    <a:p>
                      <a:r>
                        <a:rPr sz="1275" b="1">
                          <a:solidFill>
                            <a:srgbClr val="FFFFFF"/>
                          </a:solidFill>
                          <a:latin typeface="Noto Sans CJK TC"/>
                          <a:ea typeface="Noto Sans CJK TC"/>
                          <a:cs typeface="Noto Sans CJK TC"/>
                        </a:rPr>
                        <a:t>預期改動</a:t>
                      </a:r>
                    </a:p>
                  </a:txBody>
                  <a:tcPr marL="95250" marR="95250" marT="76200" marB="76200">
                    <a:solidFill>
                      <a:srgbClr val="B95160"/>
                    </a:solidFill>
                  </a:tcPr>
                </a:tc>
                <a:tc>
                  <a:txBody>
                    <a:bodyPr/>
                    <a:lstStyle/>
                    <a:p>
                      <a:r>
                        <a:rPr sz="1275" b="1">
                          <a:solidFill>
                            <a:srgbClr val="FFFFFF"/>
                          </a:solidFill>
                          <a:latin typeface="Noto Sans CJK TC"/>
                          <a:ea typeface="Noto Sans CJK TC"/>
                          <a:cs typeface="Noto Sans CJK TC"/>
                        </a:rPr>
                        <a:t>Applied</a:t>
                      </a:r>
                    </a:p>
                  </a:txBody>
                  <a:tcPr marL="95250" marR="95250" marT="76200" marB="76200">
                    <a:solidFill>
                      <a:srgbClr val="B95160"/>
                    </a:solidFill>
                  </a:tcPr>
                </a:tc>
                <a:tc>
                  <a:txBody>
                    <a:bodyPr/>
                    <a:lstStyle/>
                    <a:p>
                      <a:r>
                        <a:rPr sz="1275" b="1">
                          <a:solidFill>
                            <a:srgbClr val="FFFFFF"/>
                          </a:solidFill>
                          <a:latin typeface="Noto Sans CJK TC"/>
                          <a:ea typeface="Noto Sans CJK TC"/>
                          <a:cs typeface="Noto Sans CJK TC"/>
                        </a:rPr>
                        <a:t>Scope</a:t>
                      </a:r>
                    </a:p>
                  </a:txBody>
                  <a:tcPr marL="95250" marR="95250" marT="76200" marB="76200">
                    <a:solidFill>
                      <a:srgbClr val="B95160"/>
                    </a:solidFill>
                  </a:tcPr>
                </a:tc>
                <a:tc>
                  <a:txBody>
                    <a:bodyPr/>
                    <a:lstStyle/>
                    <a:p>
                      <a:r>
                        <a:rPr sz="1275" b="1">
                          <a:solidFill>
                            <a:srgbClr val="FFFFFF"/>
                          </a:solidFill>
                          <a:latin typeface="Noto Sans CJK TC"/>
                          <a:ea typeface="Noto Sans CJK TC"/>
                          <a:cs typeface="Noto Sans CJK TC"/>
                        </a:rPr>
                        <a:t>主要問題</a:t>
                      </a:r>
                    </a:p>
                  </a:txBody>
                  <a:tcPr marL="95250" marR="95250" marT="76200" marB="76200">
                    <a:solidFill>
                      <a:srgbClr val="B95160"/>
                    </a:solidFill>
                  </a:tcPr>
                </a:tc>
              </a:tr>
              <a:tr h="1166813">
                <a:tc>
                  <a:txBody>
                    <a:bodyPr/>
                    <a:lstStyle/>
                    <a:p>
                      <a:r>
                        <a:rPr sz="1275">
                          <a:solidFill>
                            <a:srgbClr val="25252A"/>
                          </a:solidFill>
                          <a:latin typeface="Noto Sans CJK TC"/>
                          <a:ea typeface="Noto Sans CJK TC"/>
                          <a:cs typeface="Noto Sans CJK TC"/>
                        </a:rPr>
                        <a:t>Strategy</a:t>
                      </a:r>
                    </a:p>
                  </a:txBody>
                  <a:tcPr marL="95250" marR="95250" marT="76200" marB="76200">
                    <a:solidFill>
                      <a:srgbClr val="FFFDF9"/>
                    </a:solidFill>
                  </a:tcPr>
                </a:tc>
                <a:tc>
                  <a:txBody>
                    <a:bodyPr/>
                    <a:lstStyle/>
                    <a:p>
                      <a:r>
                        <a:rPr sz="1275">
                          <a:solidFill>
                            <a:srgbClr val="25252A"/>
                          </a:solidFill>
                          <a:latin typeface="Noto Sans CJK TC"/>
                          <a:ea typeface="Noto Sans CJK TC"/>
                          <a:cs typeface="Noto Sans CJK TC"/>
                        </a:rPr>
                        <a:t>strategy_prompt</a:t>
                      </a:r>
                    </a:p>
                  </a:txBody>
                  <a:tcPr marL="95250" marR="95250" marT="76200" marB="76200">
                    <a:solidFill>
                      <a:srgbClr val="FFFDF9"/>
                    </a:solidFill>
                  </a:tcPr>
                </a:tc>
                <a:tc>
                  <a:txBody>
                    <a:bodyPr/>
                    <a:lstStyle/>
                    <a:p>
                      <a:r>
                        <a:rPr sz="1275" b="1">
                          <a:solidFill>
                            <a:srgbClr val="25252A"/>
                          </a:solidFill>
                          <a:latin typeface="Noto Sans CJK TC"/>
                          <a:ea typeface="Noto Sans CJK TC"/>
                          <a:cs typeface="Noto Sans CJK TC"/>
                        </a:rPr>
                        <a:t>3 / 3</a:t>
                      </a:r>
                    </a:p>
                  </a:txBody>
                  <a:tcPr marL="95250" marR="95250" marT="76200" marB="76200">
                    <a:solidFill>
                      <a:srgbClr val="FFFDF9"/>
                    </a:solidFill>
                  </a:tcPr>
                </a:tc>
                <a:tc>
                  <a:txBody>
                    <a:bodyPr/>
                    <a:lstStyle/>
                    <a:p>
                      <a:r>
                        <a:rPr sz="1275" b="1">
                          <a:solidFill>
                            <a:srgbClr val="25252A"/>
                          </a:solidFill>
                          <a:latin typeface="Noto Sans CJK TC"/>
                          <a:ea typeface="Noto Sans CJK TC"/>
                          <a:cs typeface="Noto Sans CJK TC"/>
                        </a:rPr>
                        <a:t>3 / 3</a:t>
                      </a:r>
                    </a:p>
                  </a:txBody>
                  <a:tcPr marL="95250" marR="95250" marT="76200" marB="76200">
                    <a:solidFill>
                      <a:srgbClr val="FFFDF9"/>
                    </a:solidFill>
                  </a:tcPr>
                </a:tc>
                <a:tc>
                  <a:txBody>
                    <a:bodyPr/>
                    <a:lstStyle/>
                    <a:p>
                      <a:r>
                        <a:rPr sz="1275">
                          <a:solidFill>
                            <a:srgbClr val="25252A"/>
                          </a:solidFill>
                          <a:latin typeface="Noto Sans CJK TC"/>
                          <a:ea typeface="Noto Sans CJK TC"/>
                          <a:cs typeface="Noto Sans CJK TC"/>
                        </a:rPr>
                        <a:t>仍有非法規則</a:t>
                      </a:r>
                    </a:p>
                  </a:txBody>
                  <a:tcPr marL="95250" marR="95250" marT="76200" marB="76200">
                    <a:solidFill>
                      <a:srgbClr val="FFFDF9"/>
                    </a:solidFill>
                  </a:tcPr>
                </a:tc>
              </a:tr>
              <a:tr h="1166813">
                <a:tc>
                  <a:txBody>
                    <a:bodyPr/>
                    <a:lstStyle/>
                    <a:p>
                      <a:r>
                        <a:rPr sz="1275">
                          <a:solidFill>
                            <a:srgbClr val="25252A"/>
                          </a:solidFill>
                          <a:latin typeface="Noto Sans CJK TC"/>
                          <a:ea typeface="Noto Sans CJK TC"/>
                          <a:cs typeface="Noto Sans CJK TC"/>
                        </a:rPr>
                        <a:t>Code</a:t>
                      </a:r>
                    </a:p>
                  </a:txBody>
                  <a:tcPr marL="95250" marR="95250" marT="76200" marB="76200">
                    <a:solidFill>
                      <a:srgbClr val="FFFDF9"/>
                    </a:solidFill>
                  </a:tcPr>
                </a:tc>
                <a:tc>
                  <a:txBody>
                    <a:bodyPr/>
                    <a:lstStyle/>
                    <a:p>
                      <a:r>
                        <a:rPr sz="1275">
                          <a:solidFill>
                            <a:srgbClr val="25252A"/>
                          </a:solidFill>
                          <a:latin typeface="Noto Sans CJK TC"/>
                          <a:ea typeface="Noto Sans CJK TC"/>
                          <a:cs typeface="Noto Sans CJK TC"/>
                        </a:rPr>
                        <a:t>generation_prompt</a:t>
                      </a:r>
                    </a:p>
                  </a:txBody>
                  <a:tcPr marL="95250" marR="95250" marT="76200" marB="76200">
                    <a:solidFill>
                      <a:srgbClr val="FFFDF9"/>
                    </a:solidFill>
                  </a:tcPr>
                </a:tc>
                <a:tc>
                  <a:txBody>
                    <a:bodyPr/>
                    <a:lstStyle/>
                    <a:p>
                      <a:r>
                        <a:rPr sz="1275" b="1">
                          <a:solidFill>
                            <a:srgbClr val="25252A"/>
                          </a:solidFill>
                          <a:latin typeface="Noto Sans CJK TC"/>
                          <a:ea typeface="Noto Sans CJK TC"/>
                          <a:cs typeface="Noto Sans CJK TC"/>
                        </a:rPr>
                        <a:t>1 / 3</a:t>
                      </a:r>
                    </a:p>
                  </a:txBody>
                  <a:tcPr marL="95250" marR="95250" marT="76200" marB="76200">
                    <a:solidFill>
                      <a:srgbClr val="FFFDF9"/>
                    </a:solidFill>
                  </a:tcPr>
                </a:tc>
                <a:tc>
                  <a:txBody>
                    <a:bodyPr/>
                    <a:lstStyle/>
                    <a:p>
                      <a:r>
                        <a:rPr sz="1275" b="1">
                          <a:solidFill>
                            <a:srgbClr val="25252A"/>
                          </a:solidFill>
                          <a:latin typeface="Noto Sans CJK TC"/>
                          <a:ea typeface="Noto Sans CJK TC"/>
                          <a:cs typeface="Noto Sans CJK TC"/>
                        </a:rPr>
                        <a:t>1 / 3</a:t>
                      </a:r>
                    </a:p>
                  </a:txBody>
                  <a:tcPr marL="95250" marR="95250" marT="76200" marB="76200">
                    <a:solidFill>
                      <a:srgbClr val="FFFDF9"/>
                    </a:solidFill>
                  </a:tcPr>
                </a:tc>
                <a:tc>
                  <a:txBody>
                    <a:bodyPr/>
                    <a:lstStyle/>
                    <a:p>
                      <a:r>
                        <a:rPr sz="1275">
                          <a:solidFill>
                            <a:srgbClr val="25252A"/>
                          </a:solidFill>
                          <a:latin typeface="Noto Sans CJK TC"/>
                          <a:ea typeface="Noto Sans CJK TC"/>
                          <a:cs typeface="Noto Sans CJK TC"/>
                        </a:rPr>
                        <a:t>rewrite rule 被拒</a:t>
                      </a:r>
                    </a:p>
                  </a:txBody>
                  <a:tcPr marL="95250" marR="95250" marT="76200" marB="76200">
                    <a:solidFill>
                      <a:srgbClr val="FFFDF9"/>
                    </a:solidFill>
                  </a:tcPr>
                </a:tc>
              </a:tr>
              <a:tr h="1166813">
                <a:tc>
                  <a:txBody>
                    <a:bodyPr/>
                    <a:lstStyle/>
                    <a:p>
                      <a:r>
                        <a:rPr sz="1275">
                          <a:solidFill>
                            <a:srgbClr val="25252A"/>
                          </a:solidFill>
                          <a:latin typeface="Noto Sans CJK TC"/>
                          <a:ea typeface="Noto Sans CJK TC"/>
                          <a:cs typeface="Noto Sans CJK TC"/>
                        </a:rPr>
                        <a:t>Balance</a:t>
                      </a:r>
                    </a:p>
                  </a:txBody>
                  <a:tcPr marL="95250" marR="95250" marT="76200" marB="76200">
                    <a:solidFill>
                      <a:srgbClr val="FFFDF9"/>
                    </a:solidFill>
                  </a:tcPr>
                </a:tc>
                <a:tc>
                  <a:txBody>
                    <a:bodyPr/>
                    <a:lstStyle/>
                    <a:p>
                      <a:r>
                        <a:rPr sz="1275">
                          <a:solidFill>
                            <a:srgbClr val="25252A"/>
                          </a:solidFill>
                          <a:latin typeface="Noto Sans CJK TC"/>
                          <a:ea typeface="Noto Sans CJK TC"/>
                          <a:cs typeface="Noto Sans CJK TC"/>
                        </a:rPr>
                        <a:t>兩個 prompt</a:t>
                      </a:r>
                    </a:p>
                  </a:txBody>
                  <a:tcPr marL="95250" marR="95250" marT="76200" marB="76200">
                    <a:solidFill>
                      <a:srgbClr val="FFFDF9"/>
                    </a:solidFill>
                  </a:tcPr>
                </a:tc>
                <a:tc>
                  <a:txBody>
                    <a:bodyPr/>
                    <a:lstStyle/>
                    <a:p>
                      <a:r>
                        <a:rPr sz="1275" b="1">
                          <a:solidFill>
                            <a:srgbClr val="25252A"/>
                          </a:solidFill>
                          <a:latin typeface="Noto Sans CJK TC"/>
                          <a:ea typeface="Noto Sans CJK TC"/>
                          <a:cs typeface="Noto Sans CJK TC"/>
                        </a:rPr>
                        <a:t>2 / 3</a:t>
                      </a:r>
                    </a:p>
                  </a:txBody>
                  <a:tcPr marL="95250" marR="95250" marT="76200" marB="76200">
                    <a:solidFill>
                      <a:srgbClr val="FFFDF9"/>
                    </a:solidFill>
                  </a:tcPr>
                </a:tc>
                <a:tc>
                  <a:txBody>
                    <a:bodyPr/>
                    <a:lstStyle/>
                    <a:p>
                      <a:r>
                        <a:rPr sz="1275" b="1">
                          <a:solidFill>
                            <a:srgbClr val="25252A"/>
                          </a:solidFill>
                          <a:latin typeface="Noto Sans CJK TC"/>
                          <a:ea typeface="Noto Sans CJK TC"/>
                          <a:cs typeface="Noto Sans CJK TC"/>
                        </a:rPr>
                        <a:t>2 / 3</a:t>
                      </a:r>
                    </a:p>
                  </a:txBody>
                  <a:tcPr marL="95250" marR="95250" marT="76200" marB="76200">
                    <a:solidFill>
                      <a:srgbClr val="FFFDF9"/>
                    </a:solidFill>
                  </a:tcPr>
                </a:tc>
                <a:tc>
                  <a:txBody>
                    <a:bodyPr/>
                    <a:lstStyle/>
                    <a:p>
                      <a:r>
                        <a:rPr sz="1275">
                          <a:solidFill>
                            <a:srgbClr val="25252A"/>
                          </a:solidFill>
                          <a:latin typeface="Noto Sans CJK TC"/>
                          <a:ea typeface="Noto Sans CJK TC"/>
                          <a:cs typeface="Noto Sans CJK TC"/>
                        </a:rPr>
                        <a:t>schema 與規則問題</a:t>
                      </a:r>
                    </a:p>
                  </a:txBody>
                  <a:tcPr marL="95250" marR="95250" marT="76200" marB="76200">
                    <a:solidFill>
                      <a:srgbClr val="FFFDF9"/>
                    </a:solidFill>
                  </a:tcPr>
                </a:tc>
              </a:tr>
            </a:tbl>
          </a:graphicData>
        </a:graphic>
      </p:graphicFrame>
      <p:sp>
        <p:nvSpPr>
          <p:cNvPr id="14" name="interpretation">
            <a:extLst xmlns:a="http://schemas.openxmlformats.org/drawingml/2006/main">
              <a:ext uri="{FF2B5EF4-FFF2-40B4-BE49-F238E27FC236}">
                <a16:creationId xmlns:a16="http://schemas.microsoft.com/office/drawing/2014/main" id="{529647A5-4911-4300-83E0-DA6AF5373959}"/>
              </a:ext>
            </a:extLst>
          </p:cNvPr>
          <p:cNvSpPr>
            <a:spLocks xmlns:a="http://schemas.openxmlformats.org/drawingml/2006/main" noGrp="1"/>
          </p:cNvSpPr>
          <p:nvPr/>
        </p:nvSpPr>
        <p:spPr>
          <a:xfrm xmlns:a="http://schemas.openxmlformats.org/drawingml/2006/main">
            <a:off x="952500" y="7762875"/>
            <a:ext cx="16383000" cy="1095375"/>
          </a:xfrm>
          <a:prstGeom xmlns:a="http://schemas.openxmlformats.org/drawingml/2006/main" prst="roundRect">
            <a:avLst>
              <a:gd name="adj" fmla="val 6957"/>
            </a:avLst>
          </a:prstGeom>
          <a:solidFill xmlns:a="http://schemas.openxmlformats.org/drawingml/2006/main">
            <a:srgbClr val="FFF3F1"/>
          </a:solidFill>
          <a:ln xmlns:a="http://schemas.openxmlformats.org/drawingml/2006/main" w="9525">
            <a:solidFill>
              <a:srgbClr val="E7B9B5"/>
            </a:solidFill>
            <a:prstDash val="solid"/>
          </a:ln>
        </p:spPr>
      </p:sp>
      <p:sp>
        <p:nvSpPr>
          <p:cNvPr id="15" name="">
            <a:extLst xmlns:a="http://schemas.openxmlformats.org/drawingml/2006/main">
              <a:ext uri="{FF2B5EF4-FFF2-40B4-BE49-F238E27FC236}">
                <a16:creationId xmlns:a16="http://schemas.microsoft.com/office/drawing/2014/main" id="{9243A84E-9F12-43AE-812B-09A5C5F4CDC5}"/>
              </a:ext>
            </a:extLst>
          </p:cNvPr>
          <p:cNvSpPr>
            <a:spLocks xmlns:a="http://schemas.openxmlformats.org/drawingml/2006/main" noGrp="1"/>
          </p:cNvSpPr>
          <p:nvPr/>
        </p:nvSpPr>
        <p:spPr>
          <a:xfrm xmlns:a="http://schemas.openxmlformats.org/drawingml/2006/main">
            <a:off x="1285875" y="80200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判讀規則</a:t>
            </a:r>
          </a:p>
        </p:txBody>
      </p:sp>
      <p:sp>
        <p:nvSpPr>
          <p:cNvPr id="16" name="">
            <a:extLst xmlns:a="http://schemas.openxmlformats.org/drawingml/2006/main">
              <a:ext uri="{FF2B5EF4-FFF2-40B4-BE49-F238E27FC236}">
                <a16:creationId xmlns:a16="http://schemas.microsoft.com/office/drawing/2014/main" id="{7397B069-2F40-4EB7-90D8-D252A3D4009D}"/>
              </a:ext>
            </a:extLst>
          </p:cNvPr>
          <p:cNvSpPr>
            <a:spLocks xmlns:a="http://schemas.openxmlformats.org/drawingml/2006/main" noGrp="1"/>
          </p:cNvSpPr>
          <p:nvPr/>
        </p:nvSpPr>
        <p:spPr>
          <a:xfrm xmlns:a="http://schemas.openxmlformats.org/drawingml/2006/main">
            <a:off x="3143250" y="79438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00" b="1" i="0">
                <a:solidFill>
                  <a:srgbClr val="25252A"/>
                </a:solidFill>
                <a:latin typeface="Noto Sans CJK TC"/>
                <a:ea typeface="Noto Sans CJK TC"/>
                <a:cs typeface="Noto Sans CJK TC"/>
              </a:defRPr>
            </a:pPr>
            <a:r>
              <a:rPr sz="1800" b="1" i="0">
                <a:solidFill>
                  <a:srgbClr val="25252A"/>
                </a:solidFill>
                <a:latin typeface="Noto Sans CJK TC"/>
                <a:ea typeface="Noto Sans CJK TC"/>
                <a:cs typeface="Noto Sans CJK TC"/>
              </a:rPr>
              <a:t>Scope 正確只代表修改了預期欄位。策略是否可執行、是否忠於 evidence、是否改善勝率，需要另外檢查。</a:t>
            </a:r>
          </a:p>
        </p:txBody>
      </p:sp>
    </p:spTree>
    <p:extLst>
      <p:ext uri="{BB962C8B-B14F-4D97-AF65-F5344CB8AC3E}">
        <p14:creationId xmlns:p14="http://schemas.microsoft.com/office/powerpoint/2010/main" val="270984162"/>
      </p:ext>
    </p:extLst>
  </p:cSld>
</p:sld>
</file>

<file path=ppt/slides/slide5.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7822A8E-9EB9-4B35-B10B-098DE88562CD}"/>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
            <a:extLst xmlns:a="http://schemas.openxmlformats.org/drawingml/2006/main">
              <a:ext uri="{FF2B5EF4-FFF2-40B4-BE49-F238E27FC236}">
                <a16:creationId xmlns:a16="http://schemas.microsoft.com/office/drawing/2014/main" id="{64CF54AB-CBFD-4F0A-9E6B-2F35AE47A2E8}"/>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
            <a:extLst xmlns:a="http://schemas.openxmlformats.org/drawingml/2006/main">
              <a:ext uri="{FF2B5EF4-FFF2-40B4-BE49-F238E27FC236}">
                <a16:creationId xmlns:a16="http://schemas.microsoft.com/office/drawing/2014/main" id="{BC69748B-98F1-4025-9BA2-3238719D115A}"/>
              </a:ext>
            </a:extLst>
          </p:cNvPr>
          <p:cNvSpPr>
            <a:spLocks xmlns:a="http://schemas.openxmlformats.org/drawingml/2006/main" noGrp="1"/>
          </p:cNvSpPr>
          <p:nvPr/>
        </p:nvSpPr>
        <p:spPr>
          <a:xfrm xmlns:a="http://schemas.openxmlformats.org/drawingml/2006/main">
            <a:off x="9010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4" name="">
            <a:extLst xmlns:a="http://schemas.openxmlformats.org/drawingml/2006/main">
              <a:ext uri="{FF2B5EF4-FFF2-40B4-BE49-F238E27FC236}">
                <a16:creationId xmlns:a16="http://schemas.microsoft.com/office/drawing/2014/main" id="{4B6C5B96-F724-419B-9CA3-D8A62A98F504}"/>
              </a:ext>
            </a:extLst>
          </p:cNvPr>
          <p:cNvSpPr>
            <a:spLocks xmlns:a="http://schemas.openxmlformats.org/drawingml/2006/main" noGrp="1"/>
          </p:cNvSpPr>
          <p:nvPr/>
        </p:nvSpPr>
        <p:spPr>
          <a:xfrm xmlns:a="http://schemas.openxmlformats.org/drawingml/2006/main">
            <a:off x="92011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5" name="">
            <a:extLst xmlns:a="http://schemas.openxmlformats.org/drawingml/2006/main">
              <a:ext uri="{FF2B5EF4-FFF2-40B4-BE49-F238E27FC236}">
                <a16:creationId xmlns:a16="http://schemas.microsoft.com/office/drawing/2014/main" id="{58966479-8955-43DA-BE24-50E8A28D158A}"/>
              </a:ext>
            </a:extLst>
          </p:cNvPr>
          <p:cNvSpPr>
            <a:spLocks xmlns:a="http://schemas.openxmlformats.org/drawingml/2006/main" noGrp="1"/>
          </p:cNvSpPr>
          <p:nvPr/>
        </p:nvSpPr>
        <p:spPr>
          <a:xfrm xmlns:a="http://schemas.openxmlformats.org/drawingml/2006/main">
            <a:off x="9391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6" name="">
            <a:extLst xmlns:a="http://schemas.openxmlformats.org/drawingml/2006/main">
              <a:ext uri="{FF2B5EF4-FFF2-40B4-BE49-F238E27FC236}">
                <a16:creationId xmlns:a16="http://schemas.microsoft.com/office/drawing/2014/main" id="{8728C097-429B-4C00-B027-A4E7ED1DF141}"/>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7" name="badge-5">
            <a:extLst xmlns:a="http://schemas.openxmlformats.org/drawingml/2006/main">
              <a:ext uri="{FF2B5EF4-FFF2-40B4-BE49-F238E27FC236}">
                <a16:creationId xmlns:a16="http://schemas.microsoft.com/office/drawing/2014/main" id="{26FC6075-B1FB-4CA4-AC95-3FAB0219B3E4}"/>
              </a:ext>
            </a:extLst>
          </p:cNvPr>
          <p:cNvSpPr>
            <a:spLocks xmlns:a="http://schemas.openxmlformats.org/drawingml/2006/main" noGrp="1"/>
          </p:cNvSpPr>
          <p:nvPr/>
        </p:nvSpPr>
        <p:spPr>
          <a:xfrm xmlns:a="http://schemas.openxmlformats.org/drawingml/2006/main">
            <a:off x="685800" y="590550"/>
            <a:ext cx="476250" cy="476250"/>
          </a:xfrm>
          <a:prstGeom xmlns:a="http://schemas.openxmlformats.org/drawingml/2006/main" prst="ellipse">
            <a:avLst/>
          </a:prstGeom>
          <a:solidFill xmlns:a="http://schemas.openxmlformats.org/drawingml/2006/main">
            <a:srgbClr val="E36B78"/>
          </a:solidFill>
          <a:ln xmlns:a="http://schemas.openxmlformats.org/drawingml/2006/main" w="0">
            <a:solidFill>
              <a:srgbClr val="E36B78"/>
            </a:solidFill>
          </a:ln>
        </p:spPr>
        <p:txBody>
          <a:bodyPr xmlns:a="http://schemas.openxmlformats.org/drawingml/2006/main" anchor="ctr">
            <a:normAutofit fontScale="73436"/>
          </a:bodyPr>
          <a:lstStyle xmlns:a="http://schemas.openxmlformats.org/drawingml/2006/main"/>
          <a:p xmlns:a="http://schemas.openxmlformats.org/drawingml/2006/main">
            <a:pPr algn="ctr">
              <a:defRPr sz="1350" b="1">
                <a:solidFill>
                  <a:srgbClr val="FFFFFF"/>
                </a:solidFill>
                <a:latin typeface="Noto Sans CJK TC"/>
                <a:ea typeface="Noto Sans CJK TC"/>
                <a:cs typeface="Noto Sans CJK TC"/>
              </a:defRPr>
            </a:pPr>
            <a:r>
              <a:rPr sz="1350" b="1">
                <a:solidFill>
                  <a:srgbClr val="FFFFFF"/>
                </a:solidFill>
                <a:latin typeface="Noto Sans CJK TC"/>
                <a:ea typeface="Noto Sans CJK TC"/>
                <a:cs typeface="Noto Sans CJK TC"/>
              </a:rPr>
              <a:t>S1</a:t>
            </a:r>
          </a:p>
        </p:txBody>
      </p:sp>
      <p:sp>
        <p:nvSpPr>
          <p:cNvPr id="8" name="">
            <a:extLst xmlns:a="http://schemas.openxmlformats.org/drawingml/2006/main">
              <a:ext uri="{FF2B5EF4-FFF2-40B4-BE49-F238E27FC236}">
                <a16:creationId xmlns:a16="http://schemas.microsoft.com/office/drawing/2014/main" id="{C34BE65A-C80B-43D5-BC18-614AB92DCCF4}"/>
              </a:ext>
            </a:extLst>
          </p:cNvPr>
          <p:cNvSpPr>
            <a:spLocks xmlns:a="http://schemas.openxmlformats.org/drawingml/2006/main" noGrp="1"/>
          </p:cNvSpPr>
          <p:nvPr/>
        </p:nvSpPr>
        <p:spPr>
          <a:xfrm xmlns:a="http://schemas.openxmlformats.org/drawingml/2006/main">
            <a:off x="1314450" y="523875"/>
            <a:ext cx="1276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225" b="1" i="0">
                <a:solidFill>
                  <a:srgbClr val="431218"/>
                </a:solidFill>
                <a:latin typeface="Noto Serif CJK TC"/>
                <a:ea typeface="Noto Serif CJK TC"/>
                <a:cs typeface="Noto Serif CJK TC"/>
              </a:defRPr>
            </a:pPr>
            <a:r>
              <a:rPr sz="3225" b="1" i="0">
                <a:solidFill>
                  <a:srgbClr val="431218"/>
                </a:solidFill>
                <a:latin typeface="Noto Serif CJK TC"/>
                <a:ea typeface="Noto Serif CJK TC"/>
                <a:cs typeface="Noto Serif CJK TC"/>
              </a:rPr>
              <a:t>Strategy 1  |  Worker Rush 加入 Barracks fallback</a:t>
            </a:r>
          </a:p>
        </p:txBody>
      </p:sp>
      <p:sp>
        <p:nvSpPr>
          <p:cNvPr id="9" name="">
            <a:extLst xmlns:a="http://schemas.openxmlformats.org/drawingml/2006/main">
              <a:ext uri="{FF2B5EF4-FFF2-40B4-BE49-F238E27FC236}">
                <a16:creationId xmlns:a16="http://schemas.microsoft.com/office/drawing/2014/main" id="{C28F50FD-D443-4F95-9994-9C4C8FCCF416}"/>
              </a:ext>
            </a:extLst>
          </p:cNvPr>
          <p:cNvSpPr>
            <a:spLocks xmlns:a="http://schemas.openxmlformats.org/drawingml/2006/main" noGrp="1"/>
          </p:cNvSpPr>
          <p:nvPr/>
        </p:nvSpPr>
        <p:spPr>
          <a:xfrm xmlns:a="http://schemas.openxmlformats.org/drawingml/2006/main">
            <a:off x="1333500" y="1143000"/>
            <a:ext cx="1381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10 個 opponent commentary 與 gameplay contract 共同送入 Coach</a:t>
            </a:r>
          </a:p>
        </p:txBody>
      </p:sp>
      <p:sp>
        <p:nvSpPr>
          <p:cNvPr id="10" name="">
            <a:extLst xmlns:a="http://schemas.openxmlformats.org/drawingml/2006/main">
              <a:ext uri="{FF2B5EF4-FFF2-40B4-BE49-F238E27FC236}">
                <a16:creationId xmlns:a16="http://schemas.microsoft.com/office/drawing/2014/main" id="{643646AF-F0BC-4416-A34B-119D7F069458}"/>
              </a:ext>
            </a:extLst>
          </p:cNvPr>
          <p:cNvSpPr>
            <a:spLocks xmlns:a="http://schemas.openxmlformats.org/drawingml/2006/main" noGrp="1"/>
          </p:cNvSpPr>
          <p:nvPr/>
        </p:nvSpPr>
        <p:spPr>
          <a:xfrm xmlns:a="http://schemas.openxmlformats.org/drawingml/2006/main">
            <a:off x="14287500" y="6286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1200" b="1" i="0">
                <a:solidFill>
                  <a:srgbClr val="47795C"/>
                </a:solidFill>
                <a:latin typeface="Noto Sans CJK TC"/>
                <a:ea typeface="Noto Sans CJK TC"/>
                <a:cs typeface="Noto Sans CJK TC"/>
              </a:defRPr>
            </a:pPr>
            <a:r>
              <a:rPr sz="1200" b="1" i="0">
                <a:solidFill>
                  <a:srgbClr val="47795C"/>
                </a:solidFill>
                <a:latin typeface="Noto Sans CJK TC"/>
                <a:ea typeface="Noto Sans CJK TC"/>
                <a:cs typeface="Noto Sans CJK TC"/>
              </a:rPr>
              <a:t>APPLIED  ·  11 / 11 responses</a:t>
            </a:r>
          </a:p>
        </p:txBody>
      </p:sp>
      <p:sp>
        <p:nvSpPr>
          <p:cNvPr id="11" name="">
            <a:extLst xmlns:a="http://schemas.openxmlformats.org/drawingml/2006/main">
              <a:ext uri="{FF2B5EF4-FFF2-40B4-BE49-F238E27FC236}">
                <a16:creationId xmlns:a16="http://schemas.microsoft.com/office/drawing/2014/main" id="{F92B5E74-AA9C-41E8-9867-E75BE7933174}"/>
              </a:ext>
            </a:extLst>
          </p:cNvPr>
          <p:cNvSpPr>
            <a:spLocks xmlns:a="http://schemas.openxmlformats.org/drawingml/2006/main" noGrp="1"/>
          </p:cNvSpPr>
          <p:nvPr/>
        </p:nvSpPr>
        <p:spPr>
          <a:xfrm xmlns:a="http://schemas.openxmlformats.org/drawingml/2006/main">
            <a:off x="16764000" y="9829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06A"/>
                </a:solidFill>
                <a:latin typeface="Noto Sans CJK TC"/>
                <a:ea typeface="Noto Sans CJK TC"/>
                <a:cs typeface="Noto Sans CJK TC"/>
              </a:defRPr>
            </a:pPr>
            <a:r>
              <a:rPr sz="900" b="0" i="0">
                <a:solidFill>
                  <a:srgbClr val="62606A"/>
                </a:solidFill>
                <a:latin typeface="Noto Sans CJK TC"/>
                <a:ea typeface="Noto Sans CJK TC"/>
                <a:cs typeface="Noto Sans CJK TC"/>
              </a:rPr>
              <a:t>05 / 14</a:t>
            </a:r>
          </a:p>
        </p:txBody>
      </p:sp>
      <p:sp>
        <p:nvSpPr>
          <p:cNvPr id="12" name="">
            <a:extLst xmlns:a="http://schemas.openxmlformats.org/drawingml/2006/main">
              <a:ext uri="{FF2B5EF4-FFF2-40B4-BE49-F238E27FC236}">
                <a16:creationId xmlns:a16="http://schemas.microsoft.com/office/drawing/2014/main" id="{F6C475A6-1E9D-4BDD-8B87-773093717CAF}"/>
              </a:ext>
            </a:extLst>
          </p:cNvPr>
          <p:cNvSpPr>
            <a:spLocks xmlns:a="http://schemas.openxmlformats.org/drawingml/2006/main" noGrp="1"/>
          </p:cNvSpPr>
          <p:nvPr/>
        </p:nvSpPr>
        <p:spPr>
          <a:xfrm xmlns:a="http://schemas.openxmlformats.org/drawingml/2006/main">
            <a:off x="5638800" y="1924050"/>
            <a:ext cx="0" cy="621030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3" name="">
            <a:extLst xmlns:a="http://schemas.openxmlformats.org/drawingml/2006/main">
              <a:ext uri="{FF2B5EF4-FFF2-40B4-BE49-F238E27FC236}">
                <a16:creationId xmlns:a16="http://schemas.microsoft.com/office/drawing/2014/main" id="{2B592566-033A-4116-8352-7997CD1B3F5C}"/>
              </a:ext>
            </a:extLst>
          </p:cNvPr>
          <p:cNvSpPr>
            <a:spLocks xmlns:a="http://schemas.openxmlformats.org/drawingml/2006/main" noGrp="1"/>
          </p:cNvSpPr>
          <p:nvPr/>
        </p:nvSpPr>
        <p:spPr>
          <a:xfrm xmlns:a="http://schemas.openxmlformats.org/drawingml/2006/main">
            <a:off x="11353800" y="1924050"/>
            <a:ext cx="0" cy="621030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4" name="">
            <a:extLst xmlns:a="http://schemas.openxmlformats.org/drawingml/2006/main">
              <a:ext uri="{FF2B5EF4-FFF2-40B4-BE49-F238E27FC236}">
                <a16:creationId xmlns:a16="http://schemas.microsoft.com/office/drawing/2014/main" id="{4E395BB7-BEBE-4FEB-B39C-CF02A388D4D6}"/>
              </a:ext>
            </a:extLst>
          </p:cNvPr>
          <p:cNvSpPr>
            <a:spLocks xmlns:a="http://schemas.openxmlformats.org/drawingml/2006/main" noGrp="1"/>
          </p:cNvSpPr>
          <p:nvPr/>
        </p:nvSpPr>
        <p:spPr>
          <a:xfrm xmlns:a="http://schemas.openxmlformats.org/drawingml/2006/main">
            <a:off x="857250" y="16573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原始 Policy</a:t>
            </a:r>
          </a:p>
        </p:txBody>
      </p:sp>
      <p:sp>
        <p:nvSpPr>
          <p:cNvPr id="15" name="">
            <a:extLst xmlns:a="http://schemas.openxmlformats.org/drawingml/2006/main">
              <a:ext uri="{FF2B5EF4-FFF2-40B4-BE49-F238E27FC236}">
                <a16:creationId xmlns:a16="http://schemas.microsoft.com/office/drawing/2014/main" id="{8E5E88FE-2793-41AC-867D-AC2F0D2AD289}"/>
              </a:ext>
            </a:extLst>
          </p:cNvPr>
          <p:cNvSpPr>
            <a:spLocks xmlns:a="http://schemas.openxmlformats.org/drawingml/2006/main" noGrp="1"/>
          </p:cNvSpPr>
          <p:nvPr/>
        </p:nvSpPr>
        <p:spPr>
          <a:xfrm xmlns:a="http://schemas.openxmlformats.org/drawingml/2006/main">
            <a:off x="857250" y="2019300"/>
            <a:ext cx="44767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6" name="">
            <a:extLst xmlns:a="http://schemas.openxmlformats.org/drawingml/2006/main">
              <a:ext uri="{FF2B5EF4-FFF2-40B4-BE49-F238E27FC236}">
                <a16:creationId xmlns:a16="http://schemas.microsoft.com/office/drawing/2014/main" id="{6B1754CF-4D52-4239-BD9D-F9E28BD301AD}"/>
              </a:ext>
            </a:extLst>
          </p:cNvPr>
          <p:cNvSpPr>
            <a:spLocks xmlns:a="http://schemas.openxmlformats.org/drawingml/2006/main" noGrp="1"/>
          </p:cNvSpPr>
          <p:nvPr/>
        </p:nvSpPr>
        <p:spPr>
          <a:xfrm xmlns:a="http://schemas.openxmlformats.org/drawingml/2006/main">
            <a:off x="5924550" y="16573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送進 Reflection 的內容</a:t>
            </a:r>
          </a:p>
        </p:txBody>
      </p:sp>
      <p:sp>
        <p:nvSpPr>
          <p:cNvPr id="17" name="">
            <a:extLst xmlns:a="http://schemas.openxmlformats.org/drawingml/2006/main">
              <a:ext uri="{FF2B5EF4-FFF2-40B4-BE49-F238E27FC236}">
                <a16:creationId xmlns:a16="http://schemas.microsoft.com/office/drawing/2014/main" id="{49BC882D-DDEC-4B59-A4C1-7DE7764CE8D7}"/>
              </a:ext>
            </a:extLst>
          </p:cNvPr>
          <p:cNvSpPr>
            <a:spLocks xmlns:a="http://schemas.openxmlformats.org/drawingml/2006/main" noGrp="1"/>
          </p:cNvSpPr>
          <p:nvPr/>
        </p:nvSpPr>
        <p:spPr>
          <a:xfrm xmlns:a="http://schemas.openxmlformats.org/drawingml/2006/main">
            <a:off x="5924550" y="2019300"/>
            <a:ext cx="51435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8" name="">
            <a:extLst xmlns:a="http://schemas.openxmlformats.org/drawingml/2006/main">
              <a:ext uri="{FF2B5EF4-FFF2-40B4-BE49-F238E27FC236}">
                <a16:creationId xmlns:a16="http://schemas.microsoft.com/office/drawing/2014/main" id="{352C6462-E52C-4062-9028-1DA0815D6C01}"/>
              </a:ext>
            </a:extLst>
          </p:cNvPr>
          <p:cNvSpPr>
            <a:spLocks xmlns:a="http://schemas.openxmlformats.org/drawingml/2006/main" noGrp="1"/>
          </p:cNvSpPr>
          <p:nvPr/>
        </p:nvSpPr>
        <p:spPr>
          <a:xfrm xmlns:a="http://schemas.openxmlformats.org/drawingml/2006/main">
            <a:off x="11639550" y="165735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Reflection 後</a:t>
            </a:r>
          </a:p>
        </p:txBody>
      </p:sp>
      <p:sp>
        <p:nvSpPr>
          <p:cNvPr id="19" name="">
            <a:extLst xmlns:a="http://schemas.openxmlformats.org/drawingml/2006/main">
              <a:ext uri="{FF2B5EF4-FFF2-40B4-BE49-F238E27FC236}">
                <a16:creationId xmlns:a16="http://schemas.microsoft.com/office/drawing/2014/main" id="{0156AFF6-291E-4EB7-A591-70E83142F60B}"/>
              </a:ext>
            </a:extLst>
          </p:cNvPr>
          <p:cNvSpPr>
            <a:spLocks xmlns:a="http://schemas.openxmlformats.org/drawingml/2006/main" noGrp="1"/>
          </p:cNvSpPr>
          <p:nvPr/>
        </p:nvSpPr>
        <p:spPr>
          <a:xfrm xmlns:a="http://schemas.openxmlformats.org/drawingml/2006/main">
            <a:off x="11639550" y="2019300"/>
            <a:ext cx="58102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20" name="">
            <a:extLst xmlns:a="http://schemas.openxmlformats.org/drawingml/2006/main">
              <a:ext uri="{FF2B5EF4-FFF2-40B4-BE49-F238E27FC236}">
                <a16:creationId xmlns:a16="http://schemas.microsoft.com/office/drawing/2014/main" id="{809EC488-F1D2-45DC-8D77-856F3F10C76C}"/>
              </a:ext>
            </a:extLst>
          </p:cNvPr>
          <p:cNvSpPr>
            <a:spLocks xmlns:a="http://schemas.openxmlformats.org/drawingml/2006/main" noGrp="1"/>
          </p:cNvSpPr>
          <p:nvPr/>
        </p:nvSpPr>
        <p:spPr>
          <a:xfrm xmlns:a="http://schemas.openxmlformats.org/drawingml/2006/main">
            <a:off x="857250" y="2190750"/>
            <a:ext cx="447675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Use a continuous Worker-rush policy.</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p:txBody>
      </p:sp>
      <p:sp>
        <p:nvSpPr>
          <p:cNvPr id="21" name="">
            <a:extLst xmlns:a="http://schemas.openxmlformats.org/drawingml/2006/main">
              <a:ext uri="{FF2B5EF4-FFF2-40B4-BE49-F238E27FC236}">
                <a16:creationId xmlns:a16="http://schemas.microsoft.com/office/drawing/2014/main" id="{432A1523-EAB1-45F4-A630-2A18EC116E1A}"/>
              </a:ext>
            </a:extLst>
          </p:cNvPr>
          <p:cNvSpPr>
            <a:spLocks xmlns:a="http://schemas.openxmlformats.org/drawingml/2006/main" noGrp="1"/>
          </p:cNvSpPr>
          <p:nvPr/>
        </p:nvSpPr>
        <p:spPr>
          <a:xfrm xmlns:a="http://schemas.openxmlformats.org/drawingml/2006/main">
            <a:off x="5924550" y="2190750"/>
            <a:ext cx="514350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固定 evidence：同一組 10 場代表 match</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match_03, 26, 41, 68, 86, 93, 108, 140, 155, 171</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涵蓋 passive、random、randombias、三種 rush、allinbot、mayari、coac、tma。</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Coach 同時收到 parent policy、global evaluation summary、10 份 commentator JSON 與完整 gameplay contract。</a:t>
            </a:r>
          </a:p>
        </p:txBody>
      </p:sp>
      <p:sp>
        <p:nvSpPr>
          <p:cNvPr id="22" name="">
            <a:extLst xmlns:a="http://schemas.openxmlformats.org/drawingml/2006/main">
              <a:ext uri="{FF2B5EF4-FFF2-40B4-BE49-F238E27FC236}">
                <a16:creationId xmlns:a16="http://schemas.microsoft.com/office/drawing/2014/main" id="{6B818BE9-C8A3-4E0B-9EC6-3D44034C2B83}"/>
              </a:ext>
            </a:extLst>
          </p:cNvPr>
          <p:cNvSpPr>
            <a:spLocks xmlns:a="http://schemas.openxmlformats.org/drawingml/2006/main" noGrp="1"/>
          </p:cNvSpPr>
          <p:nvPr/>
        </p:nvSpPr>
        <p:spPr>
          <a:xfrm xmlns:a="http://schemas.openxmlformats.org/drawingml/2006/main">
            <a:off x="11639550" y="2190750"/>
            <a:ext cx="581025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新策略：Adaptive Worker Rush with Barracks Fallback</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主要改動</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遭遇 Barracks 或戰鬥單位時建 Barracks</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以 Light 補強 Worker 壓力</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Worker 分配採 harvest、combat、base defense</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威脅時投入 Base 防守</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明顯規則問題</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「idle all Workers until Base HP recovers」假設 HP 會自然恢復，遊戲沒有治療或修復機制。</a:t>
            </a:r>
          </a:p>
        </p:txBody>
      </p:sp>
      <p:sp>
        <p:nvSpPr>
          <p:cNvPr id="23" name="audit-strip">
            <a:extLst xmlns:a="http://schemas.openxmlformats.org/drawingml/2006/main">
              <a:ext uri="{FF2B5EF4-FFF2-40B4-BE49-F238E27FC236}">
                <a16:creationId xmlns:a16="http://schemas.microsoft.com/office/drawing/2014/main" id="{03264AE3-062F-4DE8-B1DB-1353B55A1C6A}"/>
              </a:ext>
            </a:extLst>
          </p:cNvPr>
          <p:cNvSpPr>
            <a:spLocks xmlns:a="http://schemas.openxmlformats.org/drawingml/2006/main" noGrp="1"/>
          </p:cNvSpPr>
          <p:nvPr/>
        </p:nvSpPr>
        <p:spPr>
          <a:xfrm xmlns:a="http://schemas.openxmlformats.org/drawingml/2006/main">
            <a:off x="857250" y="8420100"/>
            <a:ext cx="16573500" cy="1123950"/>
          </a:xfrm>
          <a:prstGeom xmlns:a="http://schemas.openxmlformats.org/drawingml/2006/main" prst="roundRect">
            <a:avLst>
              <a:gd name="adj" fmla="val 6780"/>
            </a:avLst>
          </a:prstGeom>
          <a:solidFill xmlns:a="http://schemas.openxmlformats.org/drawingml/2006/main">
            <a:srgbClr val="F8D8D8"/>
          </a:solidFill>
          <a:ln xmlns:a="http://schemas.openxmlformats.org/drawingml/2006/main" w="9525">
            <a:solidFill>
              <a:srgbClr val="B95160"/>
            </a:solidFill>
            <a:prstDash val="solid"/>
          </a:ln>
        </p:spPr>
      </p:sp>
      <p:sp>
        <p:nvSpPr>
          <p:cNvPr id="24" name="">
            <a:extLst xmlns:a="http://schemas.openxmlformats.org/drawingml/2006/main">
              <a:ext uri="{FF2B5EF4-FFF2-40B4-BE49-F238E27FC236}">
                <a16:creationId xmlns:a16="http://schemas.microsoft.com/office/drawing/2014/main" id="{3E66CA76-1803-4F1C-9A69-037B91B24CDD}"/>
              </a:ext>
            </a:extLst>
          </p:cNvPr>
          <p:cNvSpPr>
            <a:spLocks xmlns:a="http://schemas.openxmlformats.org/drawingml/2006/main" noGrp="1"/>
          </p:cNvSpPr>
          <p:nvPr/>
        </p:nvSpPr>
        <p:spPr>
          <a:xfrm xmlns:a="http://schemas.openxmlformats.org/drawingml/2006/main">
            <a:off x="1123950" y="85915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B95160"/>
                </a:solidFill>
                <a:latin typeface="Noto Sans CJK TC"/>
                <a:ea typeface="Noto Sans CJK TC"/>
                <a:cs typeface="Noto Sans CJK TC"/>
              </a:defRPr>
            </a:pPr>
            <a:r>
              <a:rPr sz="975" b="1" i="0">
                <a:solidFill>
                  <a:srgbClr val="B95160"/>
                </a:solidFill>
                <a:latin typeface="Noto Sans CJK TC"/>
                <a:ea typeface="Noto Sans CJK TC"/>
                <a:cs typeface="Noto Sans CJK TC"/>
              </a:rPr>
              <a:t>GEN SCOPE</a:t>
            </a:r>
          </a:p>
        </p:txBody>
      </p:sp>
      <p:sp>
        <p:nvSpPr>
          <p:cNvPr id="25" name="">
            <a:extLst xmlns:a="http://schemas.openxmlformats.org/drawingml/2006/main">
              <a:ext uri="{FF2B5EF4-FFF2-40B4-BE49-F238E27FC236}">
                <a16:creationId xmlns:a16="http://schemas.microsoft.com/office/drawing/2014/main" id="{1AAA5049-69CC-45ED-B3BC-486B7C37A255}"/>
              </a:ext>
            </a:extLst>
          </p:cNvPr>
          <p:cNvSpPr>
            <a:spLocks xmlns:a="http://schemas.openxmlformats.org/drawingml/2006/main" noGrp="1"/>
          </p:cNvSpPr>
          <p:nvPr/>
        </p:nvSpPr>
        <p:spPr>
          <a:xfrm xmlns:a="http://schemas.openxmlformats.org/drawingml/2006/main">
            <a:off x="1123950" y="8858250"/>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25252A"/>
                </a:solidFill>
                <a:latin typeface="Noto Sans CJK TC"/>
                <a:ea typeface="Noto Sans CJK TC"/>
                <a:cs typeface="Noto Sans CJK TC"/>
              </a:defRPr>
            </a:pPr>
            <a:r>
              <a:rPr sz="1350" b="1" i="0">
                <a:solidFill>
                  <a:srgbClr val="25252A"/>
                </a:solidFill>
                <a:latin typeface="Noto Sans CJK TC"/>
                <a:ea typeface="Noto Sans CJK TC"/>
                <a:cs typeface="Noto Sans CJK TC"/>
              </a:rPr>
              <a:t>strategy_prompt changed  |  generation_prompt 與 inherited_java unchanged</a:t>
            </a:r>
          </a:p>
        </p:txBody>
      </p:sp>
      <p:sp>
        <p:nvSpPr>
          <p:cNvPr id="26" name="">
            <a:extLst xmlns:a="http://schemas.openxmlformats.org/drawingml/2006/main">
              <a:ext uri="{FF2B5EF4-FFF2-40B4-BE49-F238E27FC236}">
                <a16:creationId xmlns:a16="http://schemas.microsoft.com/office/drawing/2014/main" id="{45BC1908-6827-4735-A544-A2B3C80035DF}"/>
              </a:ext>
            </a:extLst>
          </p:cNvPr>
          <p:cNvSpPr>
            <a:spLocks xmlns:a="http://schemas.openxmlformats.org/drawingml/2006/main" noGrp="1"/>
          </p:cNvSpPr>
          <p:nvPr/>
        </p:nvSpPr>
        <p:spPr>
          <a:xfrm xmlns:a="http://schemas.openxmlformats.org/drawingml/2006/main">
            <a:off x="7334250" y="8648700"/>
            <a:ext cx="0" cy="685800"/>
          </a:xfrm>
          <a:prstGeom xmlns:a="http://schemas.openxmlformats.org/drawingml/2006/main" prst="line">
            <a:avLst/>
          </a:prstGeom>
          <a:noFill xmlns:a="http://schemas.openxmlformats.org/drawingml/2006/main"/>
          <a:ln xmlns:a="http://schemas.openxmlformats.org/drawingml/2006/main" w="9525">
            <a:solidFill>
              <a:srgbClr val="B95160"/>
            </a:solidFill>
            <a:prstDash val="solid"/>
          </a:ln>
        </p:spPr>
      </p:sp>
      <p:sp>
        <p:nvSpPr>
          <p:cNvPr id="27" name="">
            <a:extLst xmlns:a="http://schemas.openxmlformats.org/drawingml/2006/main">
              <a:ext uri="{FF2B5EF4-FFF2-40B4-BE49-F238E27FC236}">
                <a16:creationId xmlns:a16="http://schemas.microsoft.com/office/drawing/2014/main" id="{BF6DD368-1124-4773-8381-89467EAF4F0D}"/>
              </a:ext>
            </a:extLst>
          </p:cNvPr>
          <p:cNvSpPr>
            <a:spLocks xmlns:a="http://schemas.openxmlformats.org/drawingml/2006/main" noGrp="1"/>
          </p:cNvSpPr>
          <p:nvPr/>
        </p:nvSpPr>
        <p:spPr>
          <a:xfrm xmlns:a="http://schemas.openxmlformats.org/drawingml/2006/main">
            <a:off x="7667625" y="85915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B95160"/>
                </a:solidFill>
                <a:latin typeface="Noto Sans CJK TC"/>
                <a:ea typeface="Noto Sans CJK TC"/>
                <a:cs typeface="Noto Sans CJK TC"/>
              </a:defRPr>
            </a:pPr>
            <a:r>
              <a:rPr sz="975" b="1" i="0">
                <a:solidFill>
                  <a:srgbClr val="B95160"/>
                </a:solidFill>
                <a:latin typeface="Noto Sans CJK TC"/>
                <a:ea typeface="Noto Sans CJK TC"/>
                <a:cs typeface="Noto Sans CJK TC"/>
              </a:rPr>
              <a:t>人工判讀</a:t>
            </a:r>
          </a:p>
        </p:txBody>
      </p:sp>
      <p:sp>
        <p:nvSpPr>
          <p:cNvPr id="28" name="">
            <a:extLst xmlns:a="http://schemas.openxmlformats.org/drawingml/2006/main">
              <a:ext uri="{FF2B5EF4-FFF2-40B4-BE49-F238E27FC236}">
                <a16:creationId xmlns:a16="http://schemas.microsoft.com/office/drawing/2014/main" id="{1A95D967-9476-498A-B106-2C8A927DC477}"/>
              </a:ext>
            </a:extLst>
          </p:cNvPr>
          <p:cNvSpPr>
            <a:spLocks xmlns:a="http://schemas.openxmlformats.org/drawingml/2006/main" noGrp="1"/>
          </p:cNvSpPr>
          <p:nvPr/>
        </p:nvSpPr>
        <p:spPr>
          <a:xfrm xmlns:a="http://schemas.openxmlformats.org/drawingml/2006/main">
            <a:off x="7667625" y="8858250"/>
            <a:ext cx="9382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欄位 scope 正確，但 gameplay grounding 不合格。</a:t>
            </a:r>
          </a:p>
        </p:txBody>
      </p:sp>
    </p:spTree>
    <p:extLst>
      <p:ext uri="{BB962C8B-B14F-4D97-AF65-F5344CB8AC3E}">
        <p14:creationId xmlns:p14="http://schemas.microsoft.com/office/powerpoint/2010/main" val="1386273180"/>
      </p:ext>
    </p:extLst>
  </p:cSld>
</p:sld>
</file>

<file path=ppt/slides/slide6.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AB0166D-5F16-4D93-91D5-EEF6D7EF7DC8}"/>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
            <a:extLst xmlns:a="http://schemas.openxmlformats.org/drawingml/2006/main">
              <a:ext uri="{FF2B5EF4-FFF2-40B4-BE49-F238E27FC236}">
                <a16:creationId xmlns:a16="http://schemas.microsoft.com/office/drawing/2014/main" id="{B0E7EF35-0B3C-4FB2-93E2-B5ACFB4C23BE}"/>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
            <a:extLst xmlns:a="http://schemas.openxmlformats.org/drawingml/2006/main">
              <a:ext uri="{FF2B5EF4-FFF2-40B4-BE49-F238E27FC236}">
                <a16:creationId xmlns:a16="http://schemas.microsoft.com/office/drawing/2014/main" id="{5E6B32D4-B7BB-400A-B706-B8BF4B889F9D}"/>
              </a:ext>
            </a:extLst>
          </p:cNvPr>
          <p:cNvSpPr>
            <a:spLocks xmlns:a="http://schemas.openxmlformats.org/drawingml/2006/main" noGrp="1"/>
          </p:cNvSpPr>
          <p:nvPr/>
        </p:nvSpPr>
        <p:spPr>
          <a:xfrm xmlns:a="http://schemas.openxmlformats.org/drawingml/2006/main">
            <a:off x="9010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4" name="">
            <a:extLst xmlns:a="http://schemas.openxmlformats.org/drawingml/2006/main">
              <a:ext uri="{FF2B5EF4-FFF2-40B4-BE49-F238E27FC236}">
                <a16:creationId xmlns:a16="http://schemas.microsoft.com/office/drawing/2014/main" id="{C6E4DAA7-3A6E-45B7-B91B-F9887606F88E}"/>
              </a:ext>
            </a:extLst>
          </p:cNvPr>
          <p:cNvSpPr>
            <a:spLocks xmlns:a="http://schemas.openxmlformats.org/drawingml/2006/main" noGrp="1"/>
          </p:cNvSpPr>
          <p:nvPr/>
        </p:nvSpPr>
        <p:spPr>
          <a:xfrm xmlns:a="http://schemas.openxmlformats.org/drawingml/2006/main">
            <a:off x="92011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5" name="">
            <a:extLst xmlns:a="http://schemas.openxmlformats.org/drawingml/2006/main">
              <a:ext uri="{FF2B5EF4-FFF2-40B4-BE49-F238E27FC236}">
                <a16:creationId xmlns:a16="http://schemas.microsoft.com/office/drawing/2014/main" id="{5E96468E-A1AB-4B4D-A5B4-7A646312AE5B}"/>
              </a:ext>
            </a:extLst>
          </p:cNvPr>
          <p:cNvSpPr>
            <a:spLocks xmlns:a="http://schemas.openxmlformats.org/drawingml/2006/main" noGrp="1"/>
          </p:cNvSpPr>
          <p:nvPr/>
        </p:nvSpPr>
        <p:spPr>
          <a:xfrm xmlns:a="http://schemas.openxmlformats.org/drawingml/2006/main">
            <a:off x="9391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6" name="">
            <a:extLst xmlns:a="http://schemas.openxmlformats.org/drawingml/2006/main">
              <a:ext uri="{FF2B5EF4-FFF2-40B4-BE49-F238E27FC236}">
                <a16:creationId xmlns:a16="http://schemas.microsoft.com/office/drawing/2014/main" id="{DE171D44-28B6-4DF8-9C50-B3864CE4A571}"/>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7" name="badge-6">
            <a:extLst xmlns:a="http://schemas.openxmlformats.org/drawingml/2006/main">
              <a:ext uri="{FF2B5EF4-FFF2-40B4-BE49-F238E27FC236}">
                <a16:creationId xmlns:a16="http://schemas.microsoft.com/office/drawing/2014/main" id="{AD448F2F-C136-4C13-8E02-C5BDACE454BD}"/>
              </a:ext>
            </a:extLst>
          </p:cNvPr>
          <p:cNvSpPr>
            <a:spLocks xmlns:a="http://schemas.openxmlformats.org/drawingml/2006/main" noGrp="1"/>
          </p:cNvSpPr>
          <p:nvPr/>
        </p:nvSpPr>
        <p:spPr>
          <a:xfrm xmlns:a="http://schemas.openxmlformats.org/drawingml/2006/main">
            <a:off x="685800" y="590550"/>
            <a:ext cx="476250" cy="476250"/>
          </a:xfrm>
          <a:prstGeom xmlns:a="http://schemas.openxmlformats.org/drawingml/2006/main" prst="ellipse">
            <a:avLst/>
          </a:prstGeom>
          <a:solidFill xmlns:a="http://schemas.openxmlformats.org/drawingml/2006/main">
            <a:srgbClr val="E36B78"/>
          </a:solidFill>
          <a:ln xmlns:a="http://schemas.openxmlformats.org/drawingml/2006/main" w="0">
            <a:solidFill>
              <a:srgbClr val="E36B78"/>
            </a:solidFill>
          </a:ln>
        </p:spPr>
        <p:txBody>
          <a:bodyPr xmlns:a="http://schemas.openxmlformats.org/drawingml/2006/main" anchor="ctr">
            <a:normAutofit fontScale="73436"/>
          </a:bodyPr>
          <a:lstStyle xmlns:a="http://schemas.openxmlformats.org/drawingml/2006/main"/>
          <a:p xmlns:a="http://schemas.openxmlformats.org/drawingml/2006/main">
            <a:pPr algn="ctr">
              <a:defRPr sz="1350" b="1">
                <a:solidFill>
                  <a:srgbClr val="FFFFFF"/>
                </a:solidFill>
                <a:latin typeface="Noto Sans CJK TC"/>
                <a:ea typeface="Noto Sans CJK TC"/>
                <a:cs typeface="Noto Sans CJK TC"/>
              </a:defRPr>
            </a:pPr>
            <a:r>
              <a:rPr sz="1350" b="1">
                <a:solidFill>
                  <a:srgbClr val="FFFFFF"/>
                </a:solidFill>
                <a:latin typeface="Noto Sans CJK TC"/>
                <a:ea typeface="Noto Sans CJK TC"/>
                <a:cs typeface="Noto Sans CJK TC"/>
              </a:rPr>
              <a:t>S2</a:t>
            </a:r>
          </a:p>
        </p:txBody>
      </p:sp>
      <p:sp>
        <p:nvSpPr>
          <p:cNvPr id="8" name="">
            <a:extLst xmlns:a="http://schemas.openxmlformats.org/drawingml/2006/main">
              <a:ext uri="{FF2B5EF4-FFF2-40B4-BE49-F238E27FC236}">
                <a16:creationId xmlns:a16="http://schemas.microsoft.com/office/drawing/2014/main" id="{B6E87B05-51F0-4F31-B617-4E5FEE42A497}"/>
              </a:ext>
            </a:extLst>
          </p:cNvPr>
          <p:cNvSpPr>
            <a:spLocks xmlns:a="http://schemas.openxmlformats.org/drawingml/2006/main" noGrp="1"/>
          </p:cNvSpPr>
          <p:nvPr/>
        </p:nvSpPr>
        <p:spPr>
          <a:xfrm xmlns:a="http://schemas.openxmlformats.org/drawingml/2006/main">
            <a:off x="1314450" y="523875"/>
            <a:ext cx="1276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225" b="1" i="0">
                <a:solidFill>
                  <a:srgbClr val="431218"/>
                </a:solidFill>
                <a:latin typeface="Noto Serif CJK TC"/>
                <a:ea typeface="Noto Serif CJK TC"/>
                <a:cs typeface="Noto Serif CJK TC"/>
              </a:defRPr>
            </a:pPr>
            <a:r>
              <a:rPr sz="3225" b="1" i="0">
                <a:solidFill>
                  <a:srgbClr val="431218"/>
                </a:solidFill>
                <a:latin typeface="Noto Serif CJK TC"/>
                <a:ea typeface="Noto Serif CJK TC"/>
                <a:cs typeface="Noto Serif CJK TC"/>
              </a:rPr>
              <a:t>Strategy 2  |  雙 harvester 與 Heavy transition</a:t>
            </a:r>
          </a:p>
        </p:txBody>
      </p:sp>
      <p:sp>
        <p:nvSpPr>
          <p:cNvPr id="9" name="">
            <a:extLst xmlns:a="http://schemas.openxmlformats.org/drawingml/2006/main">
              <a:ext uri="{FF2B5EF4-FFF2-40B4-BE49-F238E27FC236}">
                <a16:creationId xmlns:a16="http://schemas.microsoft.com/office/drawing/2014/main" id="{A9F16B5B-1B21-47C5-9441-F6C6F1E2D67F}"/>
              </a:ext>
            </a:extLst>
          </p:cNvPr>
          <p:cNvSpPr>
            <a:spLocks xmlns:a="http://schemas.openxmlformats.org/drawingml/2006/main" noGrp="1"/>
          </p:cNvSpPr>
          <p:nvPr/>
        </p:nvSpPr>
        <p:spPr>
          <a:xfrm xmlns:a="http://schemas.openxmlformats.org/drawingml/2006/main">
            <a:off x="1333500" y="1143000"/>
            <a:ext cx="1381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Root request 與 S1、S3 相同，差異只來自 LLM response</a:t>
            </a:r>
          </a:p>
        </p:txBody>
      </p:sp>
      <p:sp>
        <p:nvSpPr>
          <p:cNvPr id="10" name="">
            <a:extLst xmlns:a="http://schemas.openxmlformats.org/drawingml/2006/main">
              <a:ext uri="{FF2B5EF4-FFF2-40B4-BE49-F238E27FC236}">
                <a16:creationId xmlns:a16="http://schemas.microsoft.com/office/drawing/2014/main" id="{7853A9D2-E36D-452B-BD1F-F682B22834B0}"/>
              </a:ext>
            </a:extLst>
          </p:cNvPr>
          <p:cNvSpPr>
            <a:spLocks xmlns:a="http://schemas.openxmlformats.org/drawingml/2006/main" noGrp="1"/>
          </p:cNvSpPr>
          <p:nvPr/>
        </p:nvSpPr>
        <p:spPr>
          <a:xfrm xmlns:a="http://schemas.openxmlformats.org/drawingml/2006/main">
            <a:off x="14287500" y="6286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1200" b="1" i="0">
                <a:solidFill>
                  <a:srgbClr val="47795C"/>
                </a:solidFill>
                <a:latin typeface="Noto Sans CJK TC"/>
                <a:ea typeface="Noto Sans CJK TC"/>
                <a:cs typeface="Noto Sans CJK TC"/>
              </a:defRPr>
            </a:pPr>
            <a:r>
              <a:rPr sz="1200" b="1" i="0">
                <a:solidFill>
                  <a:srgbClr val="47795C"/>
                </a:solidFill>
                <a:latin typeface="Noto Sans CJK TC"/>
                <a:ea typeface="Noto Sans CJK TC"/>
                <a:cs typeface="Noto Sans CJK TC"/>
              </a:rPr>
              <a:t>APPLIED  ·  11 / 11 responses</a:t>
            </a:r>
          </a:p>
        </p:txBody>
      </p:sp>
      <p:sp>
        <p:nvSpPr>
          <p:cNvPr id="11" name="">
            <a:extLst xmlns:a="http://schemas.openxmlformats.org/drawingml/2006/main">
              <a:ext uri="{FF2B5EF4-FFF2-40B4-BE49-F238E27FC236}">
                <a16:creationId xmlns:a16="http://schemas.microsoft.com/office/drawing/2014/main" id="{A7208172-5832-427A-99B5-CF350ABAED71}"/>
              </a:ext>
            </a:extLst>
          </p:cNvPr>
          <p:cNvSpPr>
            <a:spLocks xmlns:a="http://schemas.openxmlformats.org/drawingml/2006/main" noGrp="1"/>
          </p:cNvSpPr>
          <p:nvPr/>
        </p:nvSpPr>
        <p:spPr>
          <a:xfrm xmlns:a="http://schemas.openxmlformats.org/drawingml/2006/main">
            <a:off x="16764000" y="9829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06A"/>
                </a:solidFill>
                <a:latin typeface="Noto Sans CJK TC"/>
                <a:ea typeface="Noto Sans CJK TC"/>
                <a:cs typeface="Noto Sans CJK TC"/>
              </a:defRPr>
            </a:pPr>
            <a:r>
              <a:rPr sz="900" b="0" i="0">
                <a:solidFill>
                  <a:srgbClr val="62606A"/>
                </a:solidFill>
                <a:latin typeface="Noto Sans CJK TC"/>
                <a:ea typeface="Noto Sans CJK TC"/>
                <a:cs typeface="Noto Sans CJK TC"/>
              </a:rPr>
              <a:t>06 / 14</a:t>
            </a:r>
          </a:p>
        </p:txBody>
      </p:sp>
      <p:sp>
        <p:nvSpPr>
          <p:cNvPr id="12" name="">
            <a:extLst xmlns:a="http://schemas.openxmlformats.org/drawingml/2006/main">
              <a:ext uri="{FF2B5EF4-FFF2-40B4-BE49-F238E27FC236}">
                <a16:creationId xmlns:a16="http://schemas.microsoft.com/office/drawing/2014/main" id="{8C209D31-9FE4-44F5-8028-CA8A229D5D99}"/>
              </a:ext>
            </a:extLst>
          </p:cNvPr>
          <p:cNvSpPr>
            <a:spLocks xmlns:a="http://schemas.openxmlformats.org/drawingml/2006/main" noGrp="1"/>
          </p:cNvSpPr>
          <p:nvPr/>
        </p:nvSpPr>
        <p:spPr>
          <a:xfrm xmlns:a="http://schemas.openxmlformats.org/drawingml/2006/main">
            <a:off x="5638800" y="1924050"/>
            <a:ext cx="0" cy="621030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3" name="">
            <a:extLst xmlns:a="http://schemas.openxmlformats.org/drawingml/2006/main">
              <a:ext uri="{FF2B5EF4-FFF2-40B4-BE49-F238E27FC236}">
                <a16:creationId xmlns:a16="http://schemas.microsoft.com/office/drawing/2014/main" id="{4BE5CCEC-1145-47E4-9826-D04DC602E672}"/>
              </a:ext>
            </a:extLst>
          </p:cNvPr>
          <p:cNvSpPr>
            <a:spLocks xmlns:a="http://schemas.openxmlformats.org/drawingml/2006/main" noGrp="1"/>
          </p:cNvSpPr>
          <p:nvPr/>
        </p:nvSpPr>
        <p:spPr>
          <a:xfrm xmlns:a="http://schemas.openxmlformats.org/drawingml/2006/main">
            <a:off x="11353800" y="1924050"/>
            <a:ext cx="0" cy="621030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4" name="">
            <a:extLst xmlns:a="http://schemas.openxmlformats.org/drawingml/2006/main">
              <a:ext uri="{FF2B5EF4-FFF2-40B4-BE49-F238E27FC236}">
                <a16:creationId xmlns:a16="http://schemas.microsoft.com/office/drawing/2014/main" id="{58B40FE7-D85B-459F-B766-BFAA53AB6EE3}"/>
              </a:ext>
            </a:extLst>
          </p:cNvPr>
          <p:cNvSpPr>
            <a:spLocks xmlns:a="http://schemas.openxmlformats.org/drawingml/2006/main" noGrp="1"/>
          </p:cNvSpPr>
          <p:nvPr/>
        </p:nvSpPr>
        <p:spPr>
          <a:xfrm xmlns:a="http://schemas.openxmlformats.org/drawingml/2006/main">
            <a:off x="857250" y="16573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原始 Policy</a:t>
            </a:r>
          </a:p>
        </p:txBody>
      </p:sp>
      <p:sp>
        <p:nvSpPr>
          <p:cNvPr id="15" name="">
            <a:extLst xmlns:a="http://schemas.openxmlformats.org/drawingml/2006/main">
              <a:ext uri="{FF2B5EF4-FFF2-40B4-BE49-F238E27FC236}">
                <a16:creationId xmlns:a16="http://schemas.microsoft.com/office/drawing/2014/main" id="{BE0894AB-11CA-4147-9869-1B13B45680B5}"/>
              </a:ext>
            </a:extLst>
          </p:cNvPr>
          <p:cNvSpPr>
            <a:spLocks xmlns:a="http://schemas.openxmlformats.org/drawingml/2006/main" noGrp="1"/>
          </p:cNvSpPr>
          <p:nvPr/>
        </p:nvSpPr>
        <p:spPr>
          <a:xfrm xmlns:a="http://schemas.openxmlformats.org/drawingml/2006/main">
            <a:off x="857250" y="2019300"/>
            <a:ext cx="44767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6" name="">
            <a:extLst xmlns:a="http://schemas.openxmlformats.org/drawingml/2006/main">
              <a:ext uri="{FF2B5EF4-FFF2-40B4-BE49-F238E27FC236}">
                <a16:creationId xmlns:a16="http://schemas.microsoft.com/office/drawing/2014/main" id="{2CA25D8D-8E8F-4021-860F-B5458C276E62}"/>
              </a:ext>
            </a:extLst>
          </p:cNvPr>
          <p:cNvSpPr>
            <a:spLocks xmlns:a="http://schemas.openxmlformats.org/drawingml/2006/main" noGrp="1"/>
          </p:cNvSpPr>
          <p:nvPr/>
        </p:nvSpPr>
        <p:spPr>
          <a:xfrm xmlns:a="http://schemas.openxmlformats.org/drawingml/2006/main">
            <a:off x="5924550" y="16573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送進 Reflection 的內容</a:t>
            </a:r>
          </a:p>
        </p:txBody>
      </p:sp>
      <p:sp>
        <p:nvSpPr>
          <p:cNvPr id="17" name="">
            <a:extLst xmlns:a="http://schemas.openxmlformats.org/drawingml/2006/main">
              <a:ext uri="{FF2B5EF4-FFF2-40B4-BE49-F238E27FC236}">
                <a16:creationId xmlns:a16="http://schemas.microsoft.com/office/drawing/2014/main" id="{FD9F2EA6-80D9-4DC5-99B4-443067D033F9}"/>
              </a:ext>
            </a:extLst>
          </p:cNvPr>
          <p:cNvSpPr>
            <a:spLocks xmlns:a="http://schemas.openxmlformats.org/drawingml/2006/main" noGrp="1"/>
          </p:cNvSpPr>
          <p:nvPr/>
        </p:nvSpPr>
        <p:spPr>
          <a:xfrm xmlns:a="http://schemas.openxmlformats.org/drawingml/2006/main">
            <a:off x="5924550" y="2019300"/>
            <a:ext cx="51435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8" name="">
            <a:extLst xmlns:a="http://schemas.openxmlformats.org/drawingml/2006/main">
              <a:ext uri="{FF2B5EF4-FFF2-40B4-BE49-F238E27FC236}">
                <a16:creationId xmlns:a16="http://schemas.microsoft.com/office/drawing/2014/main" id="{76656E67-C733-4E36-B79B-8C8E689B8DE1}"/>
              </a:ext>
            </a:extLst>
          </p:cNvPr>
          <p:cNvSpPr>
            <a:spLocks xmlns:a="http://schemas.openxmlformats.org/drawingml/2006/main" noGrp="1"/>
          </p:cNvSpPr>
          <p:nvPr/>
        </p:nvSpPr>
        <p:spPr>
          <a:xfrm xmlns:a="http://schemas.openxmlformats.org/drawingml/2006/main">
            <a:off x="11639550" y="165735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Reflection 後</a:t>
            </a:r>
          </a:p>
        </p:txBody>
      </p:sp>
      <p:sp>
        <p:nvSpPr>
          <p:cNvPr id="19" name="">
            <a:extLst xmlns:a="http://schemas.openxmlformats.org/drawingml/2006/main">
              <a:ext uri="{FF2B5EF4-FFF2-40B4-BE49-F238E27FC236}">
                <a16:creationId xmlns:a16="http://schemas.microsoft.com/office/drawing/2014/main" id="{70A80DA8-862B-4375-BFB9-D26895514B15}"/>
              </a:ext>
            </a:extLst>
          </p:cNvPr>
          <p:cNvSpPr>
            <a:spLocks xmlns:a="http://schemas.openxmlformats.org/drawingml/2006/main" noGrp="1"/>
          </p:cNvSpPr>
          <p:nvPr/>
        </p:nvSpPr>
        <p:spPr>
          <a:xfrm xmlns:a="http://schemas.openxmlformats.org/drawingml/2006/main">
            <a:off x="11639550" y="2019300"/>
            <a:ext cx="58102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20" name="">
            <a:extLst xmlns:a="http://schemas.openxmlformats.org/drawingml/2006/main">
              <a:ext uri="{FF2B5EF4-FFF2-40B4-BE49-F238E27FC236}">
                <a16:creationId xmlns:a16="http://schemas.microsoft.com/office/drawing/2014/main" id="{D099DA9D-B7FF-4B5A-B160-D5F48A32550A}"/>
              </a:ext>
            </a:extLst>
          </p:cNvPr>
          <p:cNvSpPr>
            <a:spLocks xmlns:a="http://schemas.openxmlformats.org/drawingml/2006/main" noGrp="1"/>
          </p:cNvSpPr>
          <p:nvPr/>
        </p:nvSpPr>
        <p:spPr>
          <a:xfrm xmlns:a="http://schemas.openxmlformats.org/drawingml/2006/main">
            <a:off x="857250" y="2190750"/>
            <a:ext cx="447675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Use a continuous Worker-rush policy.</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p:txBody>
      </p:sp>
      <p:sp>
        <p:nvSpPr>
          <p:cNvPr id="21" name="">
            <a:extLst xmlns:a="http://schemas.openxmlformats.org/drawingml/2006/main">
              <a:ext uri="{FF2B5EF4-FFF2-40B4-BE49-F238E27FC236}">
                <a16:creationId xmlns:a16="http://schemas.microsoft.com/office/drawing/2014/main" id="{F4944899-6E0B-4448-B7B4-267C8B80B53B}"/>
              </a:ext>
            </a:extLst>
          </p:cNvPr>
          <p:cNvSpPr>
            <a:spLocks xmlns:a="http://schemas.openxmlformats.org/drawingml/2006/main" noGrp="1"/>
          </p:cNvSpPr>
          <p:nvPr/>
        </p:nvSpPr>
        <p:spPr>
          <a:xfrm xmlns:a="http://schemas.openxmlformats.org/drawingml/2006/main">
            <a:off x="5924550" y="2190750"/>
            <a:ext cx="514350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固定 evidence 與 S1 完全相同。</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10 個 selected matches、10 份 commentator、parent policy、global evaluation summary 與 gameplay contract。</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root_request_set_sha256 與另外兩次 Strategy trial 相同。</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目的：觀察同一輸入下的輸出變異，不承接前一輪結果。</a:t>
            </a:r>
          </a:p>
        </p:txBody>
      </p:sp>
      <p:sp>
        <p:nvSpPr>
          <p:cNvPr id="22" name="">
            <a:extLst xmlns:a="http://schemas.openxmlformats.org/drawingml/2006/main">
              <a:ext uri="{FF2B5EF4-FFF2-40B4-BE49-F238E27FC236}">
                <a16:creationId xmlns:a16="http://schemas.microsoft.com/office/drawing/2014/main" id="{1A87AB79-3743-4529-B604-0B7E5FB5FF1A}"/>
              </a:ext>
            </a:extLst>
          </p:cNvPr>
          <p:cNvSpPr>
            <a:spLocks xmlns:a="http://schemas.openxmlformats.org/drawingml/2006/main" noGrp="1"/>
          </p:cNvSpPr>
          <p:nvPr/>
        </p:nvSpPr>
        <p:spPr>
          <a:xfrm xmlns:a="http://schemas.openxmlformats.org/drawingml/2006/main">
            <a:off x="11639550" y="2190750"/>
            <a:ext cx="581025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新策略：Adaptive Worker Rush with Redundant Harvesters</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主要改動</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每個 Base 維持兩名 harvesters</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Base 受攻擊時以 Worker 防守</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對手出 Barracks 或戰鬥單位時轉 Heavy</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contested resource 優先選敵人較少的位置</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風險</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Base 重建與 Barracks 建造使用「immediately」描述，沒有明列 Worker、資源與 free-cell 前提。</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full observability 下，「enemy not visible」分支沒有清楚語意。</a:t>
            </a:r>
          </a:p>
        </p:txBody>
      </p:sp>
      <p:sp>
        <p:nvSpPr>
          <p:cNvPr id="23" name="audit-strip">
            <a:extLst xmlns:a="http://schemas.openxmlformats.org/drawingml/2006/main">
              <a:ext uri="{FF2B5EF4-FFF2-40B4-BE49-F238E27FC236}">
                <a16:creationId xmlns:a16="http://schemas.microsoft.com/office/drawing/2014/main" id="{691A0FB7-ACC6-4BBD-9A0E-1E320AAF466D}"/>
              </a:ext>
            </a:extLst>
          </p:cNvPr>
          <p:cNvSpPr>
            <a:spLocks xmlns:a="http://schemas.openxmlformats.org/drawingml/2006/main" noGrp="1"/>
          </p:cNvSpPr>
          <p:nvPr/>
        </p:nvSpPr>
        <p:spPr>
          <a:xfrm xmlns:a="http://schemas.openxmlformats.org/drawingml/2006/main">
            <a:off x="857250" y="8420100"/>
            <a:ext cx="16573500" cy="1123950"/>
          </a:xfrm>
          <a:prstGeom xmlns:a="http://schemas.openxmlformats.org/drawingml/2006/main" prst="roundRect">
            <a:avLst>
              <a:gd name="adj" fmla="val 6780"/>
            </a:avLst>
          </a:prstGeom>
          <a:solidFill xmlns:a="http://schemas.openxmlformats.org/drawingml/2006/main">
            <a:srgbClr val="F7E7C8"/>
          </a:solidFill>
          <a:ln xmlns:a="http://schemas.openxmlformats.org/drawingml/2006/main" w="9525">
            <a:solidFill>
              <a:srgbClr val="BF872B"/>
            </a:solidFill>
            <a:prstDash val="solid"/>
          </a:ln>
        </p:spPr>
      </p:sp>
      <p:sp>
        <p:nvSpPr>
          <p:cNvPr id="24" name="">
            <a:extLst xmlns:a="http://schemas.openxmlformats.org/drawingml/2006/main">
              <a:ext uri="{FF2B5EF4-FFF2-40B4-BE49-F238E27FC236}">
                <a16:creationId xmlns:a16="http://schemas.microsoft.com/office/drawing/2014/main" id="{73BF118B-7EF6-45D7-92E9-9F829E4D702F}"/>
              </a:ext>
            </a:extLst>
          </p:cNvPr>
          <p:cNvSpPr>
            <a:spLocks xmlns:a="http://schemas.openxmlformats.org/drawingml/2006/main" noGrp="1"/>
          </p:cNvSpPr>
          <p:nvPr/>
        </p:nvSpPr>
        <p:spPr>
          <a:xfrm xmlns:a="http://schemas.openxmlformats.org/drawingml/2006/main">
            <a:off x="1123950" y="85915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BF872B"/>
                </a:solidFill>
                <a:latin typeface="Noto Sans CJK TC"/>
                <a:ea typeface="Noto Sans CJK TC"/>
                <a:cs typeface="Noto Sans CJK TC"/>
              </a:defRPr>
            </a:pPr>
            <a:r>
              <a:rPr sz="975" b="1" i="0">
                <a:solidFill>
                  <a:srgbClr val="BF872B"/>
                </a:solidFill>
                <a:latin typeface="Noto Sans CJK TC"/>
                <a:ea typeface="Noto Sans CJK TC"/>
                <a:cs typeface="Noto Sans CJK TC"/>
              </a:rPr>
              <a:t>GEN SCOPE</a:t>
            </a:r>
          </a:p>
        </p:txBody>
      </p:sp>
      <p:sp>
        <p:nvSpPr>
          <p:cNvPr id="25" name="">
            <a:extLst xmlns:a="http://schemas.openxmlformats.org/drawingml/2006/main">
              <a:ext uri="{FF2B5EF4-FFF2-40B4-BE49-F238E27FC236}">
                <a16:creationId xmlns:a16="http://schemas.microsoft.com/office/drawing/2014/main" id="{ABD3CB1A-31A8-4F7D-B35E-10A7656E53DB}"/>
              </a:ext>
            </a:extLst>
          </p:cNvPr>
          <p:cNvSpPr>
            <a:spLocks xmlns:a="http://schemas.openxmlformats.org/drawingml/2006/main" noGrp="1"/>
          </p:cNvSpPr>
          <p:nvPr/>
        </p:nvSpPr>
        <p:spPr>
          <a:xfrm xmlns:a="http://schemas.openxmlformats.org/drawingml/2006/main">
            <a:off x="1123950" y="8858250"/>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25252A"/>
                </a:solidFill>
                <a:latin typeface="Noto Sans CJK TC"/>
                <a:ea typeface="Noto Sans CJK TC"/>
                <a:cs typeface="Noto Sans CJK TC"/>
              </a:defRPr>
            </a:pPr>
            <a:r>
              <a:rPr sz="1350" b="1" i="0">
                <a:solidFill>
                  <a:srgbClr val="25252A"/>
                </a:solidFill>
                <a:latin typeface="Noto Sans CJK TC"/>
                <a:ea typeface="Noto Sans CJK TC"/>
                <a:cs typeface="Noto Sans CJK TC"/>
              </a:rPr>
              <a:t>strategy_prompt changed  |  generation_prompt 與 inherited_java unchanged</a:t>
            </a:r>
          </a:p>
        </p:txBody>
      </p:sp>
      <p:sp>
        <p:nvSpPr>
          <p:cNvPr id="26" name="">
            <a:extLst xmlns:a="http://schemas.openxmlformats.org/drawingml/2006/main">
              <a:ext uri="{FF2B5EF4-FFF2-40B4-BE49-F238E27FC236}">
                <a16:creationId xmlns:a16="http://schemas.microsoft.com/office/drawing/2014/main" id="{A69B9260-12FA-4F33-84F6-C884A674603D}"/>
              </a:ext>
            </a:extLst>
          </p:cNvPr>
          <p:cNvSpPr>
            <a:spLocks xmlns:a="http://schemas.openxmlformats.org/drawingml/2006/main" noGrp="1"/>
          </p:cNvSpPr>
          <p:nvPr/>
        </p:nvSpPr>
        <p:spPr>
          <a:xfrm xmlns:a="http://schemas.openxmlformats.org/drawingml/2006/main">
            <a:off x="7334250" y="8648700"/>
            <a:ext cx="0" cy="685800"/>
          </a:xfrm>
          <a:prstGeom xmlns:a="http://schemas.openxmlformats.org/drawingml/2006/main" prst="line">
            <a:avLst/>
          </a:prstGeom>
          <a:noFill xmlns:a="http://schemas.openxmlformats.org/drawingml/2006/main"/>
          <a:ln xmlns:a="http://schemas.openxmlformats.org/drawingml/2006/main" w="9525">
            <a:solidFill>
              <a:srgbClr val="BF872B"/>
            </a:solidFill>
            <a:prstDash val="solid"/>
          </a:ln>
        </p:spPr>
      </p:sp>
      <p:sp>
        <p:nvSpPr>
          <p:cNvPr id="27" name="">
            <a:extLst xmlns:a="http://schemas.openxmlformats.org/drawingml/2006/main">
              <a:ext uri="{FF2B5EF4-FFF2-40B4-BE49-F238E27FC236}">
                <a16:creationId xmlns:a16="http://schemas.microsoft.com/office/drawing/2014/main" id="{A4345A5B-CD09-4BED-B6FC-EA7E873A6B2F}"/>
              </a:ext>
            </a:extLst>
          </p:cNvPr>
          <p:cNvSpPr>
            <a:spLocks xmlns:a="http://schemas.openxmlformats.org/drawingml/2006/main" noGrp="1"/>
          </p:cNvSpPr>
          <p:nvPr/>
        </p:nvSpPr>
        <p:spPr>
          <a:xfrm xmlns:a="http://schemas.openxmlformats.org/drawingml/2006/main">
            <a:off x="7667625" y="85915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BF872B"/>
                </a:solidFill>
                <a:latin typeface="Noto Sans CJK TC"/>
                <a:ea typeface="Noto Sans CJK TC"/>
                <a:cs typeface="Noto Sans CJK TC"/>
              </a:defRPr>
            </a:pPr>
            <a:r>
              <a:rPr sz="975" b="1" i="0">
                <a:solidFill>
                  <a:srgbClr val="BF872B"/>
                </a:solidFill>
                <a:latin typeface="Noto Sans CJK TC"/>
                <a:ea typeface="Noto Sans CJK TC"/>
                <a:cs typeface="Noto Sans CJK TC"/>
              </a:rPr>
              <a:t>人工判讀</a:t>
            </a:r>
          </a:p>
        </p:txBody>
      </p:sp>
      <p:sp>
        <p:nvSpPr>
          <p:cNvPr id="28" name="">
            <a:extLst xmlns:a="http://schemas.openxmlformats.org/drawingml/2006/main">
              <a:ext uri="{FF2B5EF4-FFF2-40B4-BE49-F238E27FC236}">
                <a16:creationId xmlns:a16="http://schemas.microsoft.com/office/drawing/2014/main" id="{C2DD152B-8DCC-42E2-87AE-3794519F7EA6}"/>
              </a:ext>
            </a:extLst>
          </p:cNvPr>
          <p:cNvSpPr>
            <a:spLocks xmlns:a="http://schemas.openxmlformats.org/drawingml/2006/main" noGrp="1"/>
          </p:cNvSpPr>
          <p:nvPr/>
        </p:nvSpPr>
        <p:spPr>
          <a:xfrm xmlns:a="http://schemas.openxmlformats.org/drawingml/2006/main">
            <a:off x="7667625" y="8858250"/>
            <a:ext cx="9382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欄位 scope 正確，策略可實作性仍需補足 action preconditions。</a:t>
            </a:r>
          </a:p>
        </p:txBody>
      </p:sp>
    </p:spTree>
    <p:extLst>
      <p:ext uri="{BB962C8B-B14F-4D97-AF65-F5344CB8AC3E}">
        <p14:creationId xmlns:p14="http://schemas.microsoft.com/office/powerpoint/2010/main" val="1429621294"/>
      </p:ext>
    </p:extLst>
  </p:cSld>
</p:sld>
</file>

<file path=ppt/slides/slide7.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E1AD91A-5717-4633-9081-4B148E6B8E0E}"/>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
            <a:extLst xmlns:a="http://schemas.openxmlformats.org/drawingml/2006/main">
              <a:ext uri="{FF2B5EF4-FFF2-40B4-BE49-F238E27FC236}">
                <a16:creationId xmlns:a16="http://schemas.microsoft.com/office/drawing/2014/main" id="{E19A66CC-ABE9-4C30-A802-B27A3FF630B4}"/>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
            <a:extLst xmlns:a="http://schemas.openxmlformats.org/drawingml/2006/main">
              <a:ext uri="{FF2B5EF4-FFF2-40B4-BE49-F238E27FC236}">
                <a16:creationId xmlns:a16="http://schemas.microsoft.com/office/drawing/2014/main" id="{C89AC791-D26E-4F4A-9767-BE09B15A0E63}"/>
              </a:ext>
            </a:extLst>
          </p:cNvPr>
          <p:cNvSpPr>
            <a:spLocks xmlns:a="http://schemas.openxmlformats.org/drawingml/2006/main" noGrp="1"/>
          </p:cNvSpPr>
          <p:nvPr/>
        </p:nvSpPr>
        <p:spPr>
          <a:xfrm xmlns:a="http://schemas.openxmlformats.org/drawingml/2006/main">
            <a:off x="9010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4" name="">
            <a:extLst xmlns:a="http://schemas.openxmlformats.org/drawingml/2006/main">
              <a:ext uri="{FF2B5EF4-FFF2-40B4-BE49-F238E27FC236}">
                <a16:creationId xmlns:a16="http://schemas.microsoft.com/office/drawing/2014/main" id="{F3B64F71-B0FE-4C8A-83A9-EB467FCCD7CE}"/>
              </a:ext>
            </a:extLst>
          </p:cNvPr>
          <p:cNvSpPr>
            <a:spLocks xmlns:a="http://schemas.openxmlformats.org/drawingml/2006/main" noGrp="1"/>
          </p:cNvSpPr>
          <p:nvPr/>
        </p:nvSpPr>
        <p:spPr>
          <a:xfrm xmlns:a="http://schemas.openxmlformats.org/drawingml/2006/main">
            <a:off x="92011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5" name="">
            <a:extLst xmlns:a="http://schemas.openxmlformats.org/drawingml/2006/main">
              <a:ext uri="{FF2B5EF4-FFF2-40B4-BE49-F238E27FC236}">
                <a16:creationId xmlns:a16="http://schemas.microsoft.com/office/drawing/2014/main" id="{A619E26D-C202-4E05-85DC-75A5A9135D19}"/>
              </a:ext>
            </a:extLst>
          </p:cNvPr>
          <p:cNvSpPr>
            <a:spLocks xmlns:a="http://schemas.openxmlformats.org/drawingml/2006/main" noGrp="1"/>
          </p:cNvSpPr>
          <p:nvPr/>
        </p:nvSpPr>
        <p:spPr>
          <a:xfrm xmlns:a="http://schemas.openxmlformats.org/drawingml/2006/main">
            <a:off x="9391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6" name="">
            <a:extLst xmlns:a="http://schemas.openxmlformats.org/drawingml/2006/main">
              <a:ext uri="{FF2B5EF4-FFF2-40B4-BE49-F238E27FC236}">
                <a16:creationId xmlns:a16="http://schemas.microsoft.com/office/drawing/2014/main" id="{6E8085DF-AC7D-4F96-8AEB-18E91BA449E3}"/>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7" name="badge-7">
            <a:extLst xmlns:a="http://schemas.openxmlformats.org/drawingml/2006/main">
              <a:ext uri="{FF2B5EF4-FFF2-40B4-BE49-F238E27FC236}">
                <a16:creationId xmlns:a16="http://schemas.microsoft.com/office/drawing/2014/main" id="{794F64B4-4C79-4B01-BC1C-FF4843434160}"/>
              </a:ext>
            </a:extLst>
          </p:cNvPr>
          <p:cNvSpPr>
            <a:spLocks xmlns:a="http://schemas.openxmlformats.org/drawingml/2006/main" noGrp="1"/>
          </p:cNvSpPr>
          <p:nvPr/>
        </p:nvSpPr>
        <p:spPr>
          <a:xfrm xmlns:a="http://schemas.openxmlformats.org/drawingml/2006/main">
            <a:off x="685800" y="590550"/>
            <a:ext cx="476250" cy="476250"/>
          </a:xfrm>
          <a:prstGeom xmlns:a="http://schemas.openxmlformats.org/drawingml/2006/main" prst="ellipse">
            <a:avLst/>
          </a:prstGeom>
          <a:solidFill xmlns:a="http://schemas.openxmlformats.org/drawingml/2006/main">
            <a:srgbClr val="E36B78"/>
          </a:solidFill>
          <a:ln xmlns:a="http://schemas.openxmlformats.org/drawingml/2006/main" w="0">
            <a:solidFill>
              <a:srgbClr val="E36B78"/>
            </a:solidFill>
          </a:ln>
        </p:spPr>
        <p:txBody>
          <a:bodyPr xmlns:a="http://schemas.openxmlformats.org/drawingml/2006/main" anchor="ctr">
            <a:normAutofit fontScale="73436"/>
          </a:bodyPr>
          <a:lstStyle xmlns:a="http://schemas.openxmlformats.org/drawingml/2006/main"/>
          <a:p xmlns:a="http://schemas.openxmlformats.org/drawingml/2006/main">
            <a:pPr algn="ctr">
              <a:defRPr sz="1350" b="1">
                <a:solidFill>
                  <a:srgbClr val="FFFFFF"/>
                </a:solidFill>
                <a:latin typeface="Noto Sans CJK TC"/>
                <a:ea typeface="Noto Sans CJK TC"/>
                <a:cs typeface="Noto Sans CJK TC"/>
              </a:defRPr>
            </a:pPr>
            <a:r>
              <a:rPr sz="1350" b="1">
                <a:solidFill>
                  <a:srgbClr val="FFFFFF"/>
                </a:solidFill>
                <a:latin typeface="Noto Sans CJK TC"/>
                <a:ea typeface="Noto Sans CJK TC"/>
                <a:cs typeface="Noto Sans CJK TC"/>
              </a:rPr>
              <a:t>S3</a:t>
            </a:r>
          </a:p>
        </p:txBody>
      </p:sp>
      <p:sp>
        <p:nvSpPr>
          <p:cNvPr id="8" name="">
            <a:extLst xmlns:a="http://schemas.openxmlformats.org/drawingml/2006/main">
              <a:ext uri="{FF2B5EF4-FFF2-40B4-BE49-F238E27FC236}">
                <a16:creationId xmlns:a16="http://schemas.microsoft.com/office/drawing/2014/main" id="{1E6C9C9A-B531-4AD2-BC07-F10DCD452509}"/>
              </a:ext>
            </a:extLst>
          </p:cNvPr>
          <p:cNvSpPr>
            <a:spLocks xmlns:a="http://schemas.openxmlformats.org/drawingml/2006/main" noGrp="1"/>
          </p:cNvSpPr>
          <p:nvPr/>
        </p:nvSpPr>
        <p:spPr>
          <a:xfrm xmlns:a="http://schemas.openxmlformats.org/drawingml/2006/main">
            <a:off x="1314450" y="523875"/>
            <a:ext cx="1276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225" b="1" i="0">
                <a:solidFill>
                  <a:srgbClr val="431218"/>
                </a:solidFill>
                <a:latin typeface="Noto Serif CJK TC"/>
                <a:ea typeface="Noto Serif CJK TC"/>
                <a:cs typeface="Noto Serif CJK TC"/>
              </a:defRPr>
            </a:pPr>
            <a:r>
              <a:rPr sz="3225" b="1" i="0">
                <a:solidFill>
                  <a:srgbClr val="431218"/>
                </a:solidFill>
                <a:latin typeface="Noto Serif CJK TC"/>
                <a:ea typeface="Noto Serif CJK TC"/>
                <a:cs typeface="Noto Serif CJK TC"/>
              </a:rPr>
              <a:t>Strategy 3  |  Resource recovery 與 defensive fallback</a:t>
            </a:r>
          </a:p>
        </p:txBody>
      </p:sp>
      <p:sp>
        <p:nvSpPr>
          <p:cNvPr id="9" name="">
            <a:extLst xmlns:a="http://schemas.openxmlformats.org/drawingml/2006/main">
              <a:ext uri="{FF2B5EF4-FFF2-40B4-BE49-F238E27FC236}">
                <a16:creationId xmlns:a16="http://schemas.microsoft.com/office/drawing/2014/main" id="{8FF2B035-B45C-42E5-9C49-19D5402E78FF}"/>
              </a:ext>
            </a:extLst>
          </p:cNvPr>
          <p:cNvSpPr>
            <a:spLocks xmlns:a="http://schemas.openxmlformats.org/drawingml/2006/main" noGrp="1"/>
          </p:cNvSpPr>
          <p:nvPr/>
        </p:nvSpPr>
        <p:spPr>
          <a:xfrm xmlns:a="http://schemas.openxmlformats.org/drawingml/2006/main">
            <a:off x="1333500" y="1143000"/>
            <a:ext cx="1381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同一 evidence 產生第三個獨立 policy variant</a:t>
            </a:r>
          </a:p>
        </p:txBody>
      </p:sp>
      <p:sp>
        <p:nvSpPr>
          <p:cNvPr id="10" name="">
            <a:extLst xmlns:a="http://schemas.openxmlformats.org/drawingml/2006/main">
              <a:ext uri="{FF2B5EF4-FFF2-40B4-BE49-F238E27FC236}">
                <a16:creationId xmlns:a16="http://schemas.microsoft.com/office/drawing/2014/main" id="{ADEA025A-E7AD-4623-83AA-5C7C9A775AE9}"/>
              </a:ext>
            </a:extLst>
          </p:cNvPr>
          <p:cNvSpPr>
            <a:spLocks xmlns:a="http://schemas.openxmlformats.org/drawingml/2006/main" noGrp="1"/>
          </p:cNvSpPr>
          <p:nvPr/>
        </p:nvSpPr>
        <p:spPr>
          <a:xfrm xmlns:a="http://schemas.openxmlformats.org/drawingml/2006/main">
            <a:off x="14287500" y="6286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1200" b="1" i="0">
                <a:solidFill>
                  <a:srgbClr val="47795C"/>
                </a:solidFill>
                <a:latin typeface="Noto Sans CJK TC"/>
                <a:ea typeface="Noto Sans CJK TC"/>
                <a:cs typeface="Noto Sans CJK TC"/>
              </a:defRPr>
            </a:pPr>
            <a:r>
              <a:rPr sz="1200" b="1" i="0">
                <a:solidFill>
                  <a:srgbClr val="47795C"/>
                </a:solidFill>
                <a:latin typeface="Noto Sans CJK TC"/>
                <a:ea typeface="Noto Sans CJK TC"/>
                <a:cs typeface="Noto Sans CJK TC"/>
              </a:rPr>
              <a:t>APPLIED  ·  11 / 11 responses</a:t>
            </a:r>
          </a:p>
        </p:txBody>
      </p:sp>
      <p:sp>
        <p:nvSpPr>
          <p:cNvPr id="11" name="">
            <a:extLst xmlns:a="http://schemas.openxmlformats.org/drawingml/2006/main">
              <a:ext uri="{FF2B5EF4-FFF2-40B4-BE49-F238E27FC236}">
                <a16:creationId xmlns:a16="http://schemas.microsoft.com/office/drawing/2014/main" id="{6218A96D-4750-4394-ABDF-88080AD009C4}"/>
              </a:ext>
            </a:extLst>
          </p:cNvPr>
          <p:cNvSpPr>
            <a:spLocks xmlns:a="http://schemas.openxmlformats.org/drawingml/2006/main" noGrp="1"/>
          </p:cNvSpPr>
          <p:nvPr/>
        </p:nvSpPr>
        <p:spPr>
          <a:xfrm xmlns:a="http://schemas.openxmlformats.org/drawingml/2006/main">
            <a:off x="16764000" y="9829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06A"/>
                </a:solidFill>
                <a:latin typeface="Noto Sans CJK TC"/>
                <a:ea typeface="Noto Sans CJK TC"/>
                <a:cs typeface="Noto Sans CJK TC"/>
              </a:defRPr>
            </a:pPr>
            <a:r>
              <a:rPr sz="900" b="0" i="0">
                <a:solidFill>
                  <a:srgbClr val="62606A"/>
                </a:solidFill>
                <a:latin typeface="Noto Sans CJK TC"/>
                <a:ea typeface="Noto Sans CJK TC"/>
                <a:cs typeface="Noto Sans CJK TC"/>
              </a:rPr>
              <a:t>07 / 14</a:t>
            </a:r>
          </a:p>
        </p:txBody>
      </p:sp>
      <p:sp>
        <p:nvSpPr>
          <p:cNvPr id="12" name="">
            <a:extLst xmlns:a="http://schemas.openxmlformats.org/drawingml/2006/main">
              <a:ext uri="{FF2B5EF4-FFF2-40B4-BE49-F238E27FC236}">
                <a16:creationId xmlns:a16="http://schemas.microsoft.com/office/drawing/2014/main" id="{E8365E15-0FFA-4DF1-8429-89329FBF31AE}"/>
              </a:ext>
            </a:extLst>
          </p:cNvPr>
          <p:cNvSpPr>
            <a:spLocks xmlns:a="http://schemas.openxmlformats.org/drawingml/2006/main" noGrp="1"/>
          </p:cNvSpPr>
          <p:nvPr/>
        </p:nvSpPr>
        <p:spPr>
          <a:xfrm xmlns:a="http://schemas.openxmlformats.org/drawingml/2006/main">
            <a:off x="5638800" y="1924050"/>
            <a:ext cx="0" cy="621030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3" name="">
            <a:extLst xmlns:a="http://schemas.openxmlformats.org/drawingml/2006/main">
              <a:ext uri="{FF2B5EF4-FFF2-40B4-BE49-F238E27FC236}">
                <a16:creationId xmlns:a16="http://schemas.microsoft.com/office/drawing/2014/main" id="{17B9D4CE-2877-493A-9E35-06E7C59CF4FD}"/>
              </a:ext>
            </a:extLst>
          </p:cNvPr>
          <p:cNvSpPr>
            <a:spLocks xmlns:a="http://schemas.openxmlformats.org/drawingml/2006/main" noGrp="1"/>
          </p:cNvSpPr>
          <p:nvPr/>
        </p:nvSpPr>
        <p:spPr>
          <a:xfrm xmlns:a="http://schemas.openxmlformats.org/drawingml/2006/main">
            <a:off x="11353800" y="1924050"/>
            <a:ext cx="0" cy="621030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4" name="">
            <a:extLst xmlns:a="http://schemas.openxmlformats.org/drawingml/2006/main">
              <a:ext uri="{FF2B5EF4-FFF2-40B4-BE49-F238E27FC236}">
                <a16:creationId xmlns:a16="http://schemas.microsoft.com/office/drawing/2014/main" id="{4EABCC77-3844-4404-A99A-B2B2874B45DD}"/>
              </a:ext>
            </a:extLst>
          </p:cNvPr>
          <p:cNvSpPr>
            <a:spLocks xmlns:a="http://schemas.openxmlformats.org/drawingml/2006/main" noGrp="1"/>
          </p:cNvSpPr>
          <p:nvPr/>
        </p:nvSpPr>
        <p:spPr>
          <a:xfrm xmlns:a="http://schemas.openxmlformats.org/drawingml/2006/main">
            <a:off x="857250" y="16573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原始 Policy</a:t>
            </a:r>
          </a:p>
        </p:txBody>
      </p:sp>
      <p:sp>
        <p:nvSpPr>
          <p:cNvPr id="15" name="">
            <a:extLst xmlns:a="http://schemas.openxmlformats.org/drawingml/2006/main">
              <a:ext uri="{FF2B5EF4-FFF2-40B4-BE49-F238E27FC236}">
                <a16:creationId xmlns:a16="http://schemas.microsoft.com/office/drawing/2014/main" id="{DBF192C0-86D2-45B1-9FCE-667955CFC0C7}"/>
              </a:ext>
            </a:extLst>
          </p:cNvPr>
          <p:cNvSpPr>
            <a:spLocks xmlns:a="http://schemas.openxmlformats.org/drawingml/2006/main" noGrp="1"/>
          </p:cNvSpPr>
          <p:nvPr/>
        </p:nvSpPr>
        <p:spPr>
          <a:xfrm xmlns:a="http://schemas.openxmlformats.org/drawingml/2006/main">
            <a:off x="857250" y="2019300"/>
            <a:ext cx="44767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6" name="">
            <a:extLst xmlns:a="http://schemas.openxmlformats.org/drawingml/2006/main">
              <a:ext uri="{FF2B5EF4-FFF2-40B4-BE49-F238E27FC236}">
                <a16:creationId xmlns:a16="http://schemas.microsoft.com/office/drawing/2014/main" id="{36B1E308-D399-488F-B3D5-775863FD13C5}"/>
              </a:ext>
            </a:extLst>
          </p:cNvPr>
          <p:cNvSpPr>
            <a:spLocks xmlns:a="http://schemas.openxmlformats.org/drawingml/2006/main" noGrp="1"/>
          </p:cNvSpPr>
          <p:nvPr/>
        </p:nvSpPr>
        <p:spPr>
          <a:xfrm xmlns:a="http://schemas.openxmlformats.org/drawingml/2006/main">
            <a:off x="5924550" y="16573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送進 Reflection 的內容</a:t>
            </a:r>
          </a:p>
        </p:txBody>
      </p:sp>
      <p:sp>
        <p:nvSpPr>
          <p:cNvPr id="17" name="">
            <a:extLst xmlns:a="http://schemas.openxmlformats.org/drawingml/2006/main">
              <a:ext uri="{FF2B5EF4-FFF2-40B4-BE49-F238E27FC236}">
                <a16:creationId xmlns:a16="http://schemas.microsoft.com/office/drawing/2014/main" id="{8AF12681-C4E4-4875-915D-D910BDEA71ED}"/>
              </a:ext>
            </a:extLst>
          </p:cNvPr>
          <p:cNvSpPr>
            <a:spLocks xmlns:a="http://schemas.openxmlformats.org/drawingml/2006/main" noGrp="1"/>
          </p:cNvSpPr>
          <p:nvPr/>
        </p:nvSpPr>
        <p:spPr>
          <a:xfrm xmlns:a="http://schemas.openxmlformats.org/drawingml/2006/main">
            <a:off x="5924550" y="2019300"/>
            <a:ext cx="51435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8" name="">
            <a:extLst xmlns:a="http://schemas.openxmlformats.org/drawingml/2006/main">
              <a:ext uri="{FF2B5EF4-FFF2-40B4-BE49-F238E27FC236}">
                <a16:creationId xmlns:a16="http://schemas.microsoft.com/office/drawing/2014/main" id="{D7D5D9D0-613D-4E51-95CC-FC05C7C1BA5B}"/>
              </a:ext>
            </a:extLst>
          </p:cNvPr>
          <p:cNvSpPr>
            <a:spLocks xmlns:a="http://schemas.openxmlformats.org/drawingml/2006/main" noGrp="1"/>
          </p:cNvSpPr>
          <p:nvPr/>
        </p:nvSpPr>
        <p:spPr>
          <a:xfrm xmlns:a="http://schemas.openxmlformats.org/drawingml/2006/main">
            <a:off x="11639550" y="165735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Reflection 後</a:t>
            </a:r>
          </a:p>
        </p:txBody>
      </p:sp>
      <p:sp>
        <p:nvSpPr>
          <p:cNvPr id="19" name="">
            <a:extLst xmlns:a="http://schemas.openxmlformats.org/drawingml/2006/main">
              <a:ext uri="{FF2B5EF4-FFF2-40B4-BE49-F238E27FC236}">
                <a16:creationId xmlns:a16="http://schemas.microsoft.com/office/drawing/2014/main" id="{9C1AD623-1467-4195-89A7-D6C213A1CC1B}"/>
              </a:ext>
            </a:extLst>
          </p:cNvPr>
          <p:cNvSpPr>
            <a:spLocks xmlns:a="http://schemas.openxmlformats.org/drawingml/2006/main" noGrp="1"/>
          </p:cNvSpPr>
          <p:nvPr/>
        </p:nvSpPr>
        <p:spPr>
          <a:xfrm xmlns:a="http://schemas.openxmlformats.org/drawingml/2006/main">
            <a:off x="11639550" y="2019300"/>
            <a:ext cx="58102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20" name="">
            <a:extLst xmlns:a="http://schemas.openxmlformats.org/drawingml/2006/main">
              <a:ext uri="{FF2B5EF4-FFF2-40B4-BE49-F238E27FC236}">
                <a16:creationId xmlns:a16="http://schemas.microsoft.com/office/drawing/2014/main" id="{C278286F-CA02-4CAB-BCD1-F0F59381FDC3}"/>
              </a:ext>
            </a:extLst>
          </p:cNvPr>
          <p:cNvSpPr>
            <a:spLocks xmlns:a="http://schemas.openxmlformats.org/drawingml/2006/main" noGrp="1"/>
          </p:cNvSpPr>
          <p:nvPr/>
        </p:nvSpPr>
        <p:spPr>
          <a:xfrm xmlns:a="http://schemas.openxmlformats.org/drawingml/2006/main">
            <a:off x="857250" y="2190750"/>
            <a:ext cx="447675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Use a continuous Worker-rush policy.</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p:txBody>
      </p:sp>
      <p:sp>
        <p:nvSpPr>
          <p:cNvPr id="21" name="">
            <a:extLst xmlns:a="http://schemas.openxmlformats.org/drawingml/2006/main">
              <a:ext uri="{FF2B5EF4-FFF2-40B4-BE49-F238E27FC236}">
                <a16:creationId xmlns:a16="http://schemas.microsoft.com/office/drawing/2014/main" id="{AD42B208-3C48-455E-A99F-4584CB4A2A2B}"/>
              </a:ext>
            </a:extLst>
          </p:cNvPr>
          <p:cNvSpPr>
            <a:spLocks xmlns:a="http://schemas.openxmlformats.org/drawingml/2006/main" noGrp="1"/>
          </p:cNvSpPr>
          <p:nvPr/>
        </p:nvSpPr>
        <p:spPr>
          <a:xfrm xmlns:a="http://schemas.openxmlformats.org/drawingml/2006/main">
            <a:off x="5924550" y="2190750"/>
            <a:ext cx="514350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固定 evidence 與 S1、S2 完全相同。</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Coach 收到 gameplay contract，其中明列：</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只有 Worker 能建 Base 或 Barracks</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Base 只能生 Worker</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Barracks 才能生 Light、Heavy、Ranged</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只能對 idle friendly unit 下 action</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game state 完全可觀察</a:t>
            </a:r>
          </a:p>
        </p:txBody>
      </p:sp>
      <p:sp>
        <p:nvSpPr>
          <p:cNvPr id="22" name="">
            <a:extLst xmlns:a="http://schemas.openxmlformats.org/drawingml/2006/main">
              <a:ext uri="{FF2B5EF4-FFF2-40B4-BE49-F238E27FC236}">
                <a16:creationId xmlns:a16="http://schemas.microsoft.com/office/drawing/2014/main" id="{76097806-A74F-4F9D-AE9C-2B6EC475CFFA}"/>
              </a:ext>
            </a:extLst>
          </p:cNvPr>
          <p:cNvSpPr>
            <a:spLocks xmlns:a="http://schemas.openxmlformats.org/drawingml/2006/main" noGrp="1"/>
          </p:cNvSpPr>
          <p:nvPr/>
        </p:nvSpPr>
        <p:spPr>
          <a:xfrm xmlns:a="http://schemas.openxmlformats.org/drawingml/2006/main">
            <a:off x="11639550" y="2190750"/>
            <a:ext cx="581025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新策略：Worker Rush with Adaptive Resource Collection</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主要改動</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第一名 Worker 優先 harvest</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Worker 被攻擊時集中反擊</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戰鬥單位靠近 Base 時建 Barracks</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孤立敵方 Worker 優先處理</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明顯規則問題</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「If all Workers are lost, immediately build a Barracks」無法執行。所有 Worker 已死後，沒有單位能建造 Barracks。</a:t>
            </a:r>
          </a:p>
        </p:txBody>
      </p:sp>
      <p:sp>
        <p:nvSpPr>
          <p:cNvPr id="23" name="audit-strip">
            <a:extLst xmlns:a="http://schemas.openxmlformats.org/drawingml/2006/main">
              <a:ext uri="{FF2B5EF4-FFF2-40B4-BE49-F238E27FC236}">
                <a16:creationId xmlns:a16="http://schemas.microsoft.com/office/drawing/2014/main" id="{36FE8EFB-F908-4E95-AAA9-0EFF10237B0B}"/>
              </a:ext>
            </a:extLst>
          </p:cNvPr>
          <p:cNvSpPr>
            <a:spLocks xmlns:a="http://schemas.openxmlformats.org/drawingml/2006/main" noGrp="1"/>
          </p:cNvSpPr>
          <p:nvPr/>
        </p:nvSpPr>
        <p:spPr>
          <a:xfrm xmlns:a="http://schemas.openxmlformats.org/drawingml/2006/main">
            <a:off x="857250" y="8420100"/>
            <a:ext cx="16573500" cy="1123950"/>
          </a:xfrm>
          <a:prstGeom xmlns:a="http://schemas.openxmlformats.org/drawingml/2006/main" prst="roundRect">
            <a:avLst>
              <a:gd name="adj" fmla="val 6780"/>
            </a:avLst>
          </a:prstGeom>
          <a:solidFill xmlns:a="http://schemas.openxmlformats.org/drawingml/2006/main">
            <a:srgbClr val="F8D8D8"/>
          </a:solidFill>
          <a:ln xmlns:a="http://schemas.openxmlformats.org/drawingml/2006/main" w="9525">
            <a:solidFill>
              <a:srgbClr val="B95160"/>
            </a:solidFill>
            <a:prstDash val="solid"/>
          </a:ln>
        </p:spPr>
      </p:sp>
      <p:sp>
        <p:nvSpPr>
          <p:cNvPr id="24" name="">
            <a:extLst xmlns:a="http://schemas.openxmlformats.org/drawingml/2006/main">
              <a:ext uri="{FF2B5EF4-FFF2-40B4-BE49-F238E27FC236}">
                <a16:creationId xmlns:a16="http://schemas.microsoft.com/office/drawing/2014/main" id="{E80EAE8B-78C1-4E49-A44F-CE1D766D7E05}"/>
              </a:ext>
            </a:extLst>
          </p:cNvPr>
          <p:cNvSpPr>
            <a:spLocks xmlns:a="http://schemas.openxmlformats.org/drawingml/2006/main" noGrp="1"/>
          </p:cNvSpPr>
          <p:nvPr/>
        </p:nvSpPr>
        <p:spPr>
          <a:xfrm xmlns:a="http://schemas.openxmlformats.org/drawingml/2006/main">
            <a:off x="1123950" y="85915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B95160"/>
                </a:solidFill>
                <a:latin typeface="Noto Sans CJK TC"/>
                <a:ea typeface="Noto Sans CJK TC"/>
                <a:cs typeface="Noto Sans CJK TC"/>
              </a:defRPr>
            </a:pPr>
            <a:r>
              <a:rPr sz="975" b="1" i="0">
                <a:solidFill>
                  <a:srgbClr val="B95160"/>
                </a:solidFill>
                <a:latin typeface="Noto Sans CJK TC"/>
                <a:ea typeface="Noto Sans CJK TC"/>
                <a:cs typeface="Noto Sans CJK TC"/>
              </a:rPr>
              <a:t>GEN SCOPE</a:t>
            </a:r>
          </a:p>
        </p:txBody>
      </p:sp>
      <p:sp>
        <p:nvSpPr>
          <p:cNvPr id="25" name="">
            <a:extLst xmlns:a="http://schemas.openxmlformats.org/drawingml/2006/main">
              <a:ext uri="{FF2B5EF4-FFF2-40B4-BE49-F238E27FC236}">
                <a16:creationId xmlns:a16="http://schemas.microsoft.com/office/drawing/2014/main" id="{5BD1D4F8-9782-486C-A357-96403C375409}"/>
              </a:ext>
            </a:extLst>
          </p:cNvPr>
          <p:cNvSpPr>
            <a:spLocks xmlns:a="http://schemas.openxmlformats.org/drawingml/2006/main" noGrp="1"/>
          </p:cNvSpPr>
          <p:nvPr/>
        </p:nvSpPr>
        <p:spPr>
          <a:xfrm xmlns:a="http://schemas.openxmlformats.org/drawingml/2006/main">
            <a:off x="1123950" y="8858250"/>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25252A"/>
                </a:solidFill>
                <a:latin typeface="Noto Sans CJK TC"/>
                <a:ea typeface="Noto Sans CJK TC"/>
                <a:cs typeface="Noto Sans CJK TC"/>
              </a:defRPr>
            </a:pPr>
            <a:r>
              <a:rPr sz="1350" b="1" i="0">
                <a:solidFill>
                  <a:srgbClr val="25252A"/>
                </a:solidFill>
                <a:latin typeface="Noto Sans CJK TC"/>
                <a:ea typeface="Noto Sans CJK TC"/>
                <a:cs typeface="Noto Sans CJK TC"/>
              </a:rPr>
              <a:t>strategy_prompt changed  |  generation_prompt 與 inherited_java unchanged</a:t>
            </a:r>
          </a:p>
        </p:txBody>
      </p:sp>
      <p:sp>
        <p:nvSpPr>
          <p:cNvPr id="26" name="">
            <a:extLst xmlns:a="http://schemas.openxmlformats.org/drawingml/2006/main">
              <a:ext uri="{FF2B5EF4-FFF2-40B4-BE49-F238E27FC236}">
                <a16:creationId xmlns:a16="http://schemas.microsoft.com/office/drawing/2014/main" id="{4D84D201-C31B-447C-B0FB-D4DA96C1F969}"/>
              </a:ext>
            </a:extLst>
          </p:cNvPr>
          <p:cNvSpPr>
            <a:spLocks xmlns:a="http://schemas.openxmlformats.org/drawingml/2006/main" noGrp="1"/>
          </p:cNvSpPr>
          <p:nvPr/>
        </p:nvSpPr>
        <p:spPr>
          <a:xfrm xmlns:a="http://schemas.openxmlformats.org/drawingml/2006/main">
            <a:off x="7334250" y="8648700"/>
            <a:ext cx="0" cy="685800"/>
          </a:xfrm>
          <a:prstGeom xmlns:a="http://schemas.openxmlformats.org/drawingml/2006/main" prst="line">
            <a:avLst/>
          </a:prstGeom>
          <a:noFill xmlns:a="http://schemas.openxmlformats.org/drawingml/2006/main"/>
          <a:ln xmlns:a="http://schemas.openxmlformats.org/drawingml/2006/main" w="9525">
            <a:solidFill>
              <a:srgbClr val="B95160"/>
            </a:solidFill>
            <a:prstDash val="solid"/>
          </a:ln>
        </p:spPr>
      </p:sp>
      <p:sp>
        <p:nvSpPr>
          <p:cNvPr id="27" name="">
            <a:extLst xmlns:a="http://schemas.openxmlformats.org/drawingml/2006/main">
              <a:ext uri="{FF2B5EF4-FFF2-40B4-BE49-F238E27FC236}">
                <a16:creationId xmlns:a16="http://schemas.microsoft.com/office/drawing/2014/main" id="{0D2161E1-E008-402E-A3DB-BDBC02CE7211}"/>
              </a:ext>
            </a:extLst>
          </p:cNvPr>
          <p:cNvSpPr>
            <a:spLocks xmlns:a="http://schemas.openxmlformats.org/drawingml/2006/main" noGrp="1"/>
          </p:cNvSpPr>
          <p:nvPr/>
        </p:nvSpPr>
        <p:spPr>
          <a:xfrm xmlns:a="http://schemas.openxmlformats.org/drawingml/2006/main">
            <a:off x="7667625" y="85915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B95160"/>
                </a:solidFill>
                <a:latin typeface="Noto Sans CJK TC"/>
                <a:ea typeface="Noto Sans CJK TC"/>
                <a:cs typeface="Noto Sans CJK TC"/>
              </a:defRPr>
            </a:pPr>
            <a:r>
              <a:rPr sz="975" b="1" i="0">
                <a:solidFill>
                  <a:srgbClr val="B95160"/>
                </a:solidFill>
                <a:latin typeface="Noto Sans CJK TC"/>
                <a:ea typeface="Noto Sans CJK TC"/>
                <a:cs typeface="Noto Sans CJK TC"/>
              </a:rPr>
              <a:t>人工判讀</a:t>
            </a:r>
          </a:p>
        </p:txBody>
      </p:sp>
      <p:sp>
        <p:nvSpPr>
          <p:cNvPr id="28" name="">
            <a:extLst xmlns:a="http://schemas.openxmlformats.org/drawingml/2006/main">
              <a:ext uri="{FF2B5EF4-FFF2-40B4-BE49-F238E27FC236}">
                <a16:creationId xmlns:a16="http://schemas.microsoft.com/office/drawing/2014/main" id="{F2DBE3EC-E35C-4C9F-AFD2-56B8EEF528AD}"/>
              </a:ext>
            </a:extLst>
          </p:cNvPr>
          <p:cNvSpPr>
            <a:spLocks xmlns:a="http://schemas.openxmlformats.org/drawingml/2006/main" noGrp="1"/>
          </p:cNvSpPr>
          <p:nvPr/>
        </p:nvSpPr>
        <p:spPr>
          <a:xfrm xmlns:a="http://schemas.openxmlformats.org/drawingml/2006/main">
            <a:off x="7667625" y="8858250"/>
            <a:ext cx="9382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完整 contract 已提供，模型仍直接違反 production graph。</a:t>
            </a:r>
          </a:p>
        </p:txBody>
      </p:sp>
    </p:spTree>
    <p:extLst>
      <p:ext uri="{BB962C8B-B14F-4D97-AF65-F5344CB8AC3E}">
        <p14:creationId xmlns:p14="http://schemas.microsoft.com/office/powerpoint/2010/main" val="767526739"/>
      </p:ext>
    </p:extLst>
  </p:cSld>
</p:sld>
</file>

<file path=ppt/slides/slide8.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1C57393-D3B2-4017-B573-D4A5F6017897}"/>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
            <a:extLst xmlns:a="http://schemas.openxmlformats.org/drawingml/2006/main">
              <a:ext uri="{FF2B5EF4-FFF2-40B4-BE49-F238E27FC236}">
                <a16:creationId xmlns:a16="http://schemas.microsoft.com/office/drawing/2014/main" id="{928CA30F-1FC0-41BB-AFDC-A59041F833E1}"/>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
            <a:extLst xmlns:a="http://schemas.openxmlformats.org/drawingml/2006/main">
              <a:ext uri="{FF2B5EF4-FFF2-40B4-BE49-F238E27FC236}">
                <a16:creationId xmlns:a16="http://schemas.microsoft.com/office/drawing/2014/main" id="{960E53AE-C95A-4C3B-8FDD-EDFD3FF37520}"/>
              </a:ext>
            </a:extLst>
          </p:cNvPr>
          <p:cNvSpPr>
            <a:spLocks xmlns:a="http://schemas.openxmlformats.org/drawingml/2006/main" noGrp="1"/>
          </p:cNvSpPr>
          <p:nvPr/>
        </p:nvSpPr>
        <p:spPr>
          <a:xfrm xmlns:a="http://schemas.openxmlformats.org/drawingml/2006/main">
            <a:off x="9010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4" name="">
            <a:extLst xmlns:a="http://schemas.openxmlformats.org/drawingml/2006/main">
              <a:ext uri="{FF2B5EF4-FFF2-40B4-BE49-F238E27FC236}">
                <a16:creationId xmlns:a16="http://schemas.microsoft.com/office/drawing/2014/main" id="{8D76C17B-6A85-499C-A109-F6F761D86F1A}"/>
              </a:ext>
            </a:extLst>
          </p:cNvPr>
          <p:cNvSpPr>
            <a:spLocks xmlns:a="http://schemas.openxmlformats.org/drawingml/2006/main" noGrp="1"/>
          </p:cNvSpPr>
          <p:nvPr/>
        </p:nvSpPr>
        <p:spPr>
          <a:xfrm xmlns:a="http://schemas.openxmlformats.org/drawingml/2006/main">
            <a:off x="92011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5" name="">
            <a:extLst xmlns:a="http://schemas.openxmlformats.org/drawingml/2006/main">
              <a:ext uri="{FF2B5EF4-FFF2-40B4-BE49-F238E27FC236}">
                <a16:creationId xmlns:a16="http://schemas.microsoft.com/office/drawing/2014/main" id="{F68EE60A-0418-4FC2-B8C0-2CBB4141F52E}"/>
              </a:ext>
            </a:extLst>
          </p:cNvPr>
          <p:cNvSpPr>
            <a:spLocks xmlns:a="http://schemas.openxmlformats.org/drawingml/2006/main" noGrp="1"/>
          </p:cNvSpPr>
          <p:nvPr/>
        </p:nvSpPr>
        <p:spPr>
          <a:xfrm xmlns:a="http://schemas.openxmlformats.org/drawingml/2006/main">
            <a:off x="9391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6" name="">
            <a:extLst xmlns:a="http://schemas.openxmlformats.org/drawingml/2006/main">
              <a:ext uri="{FF2B5EF4-FFF2-40B4-BE49-F238E27FC236}">
                <a16:creationId xmlns:a16="http://schemas.microsoft.com/office/drawing/2014/main" id="{B45BDB44-02D7-4D55-8EE6-716FBF6552F3}"/>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7" name="badge-8">
            <a:extLst xmlns:a="http://schemas.openxmlformats.org/drawingml/2006/main">
              <a:ext uri="{FF2B5EF4-FFF2-40B4-BE49-F238E27FC236}">
                <a16:creationId xmlns:a16="http://schemas.microsoft.com/office/drawing/2014/main" id="{49228F50-1719-484B-A410-EFA664B546C2}"/>
              </a:ext>
            </a:extLst>
          </p:cNvPr>
          <p:cNvSpPr>
            <a:spLocks xmlns:a="http://schemas.openxmlformats.org/drawingml/2006/main" noGrp="1"/>
          </p:cNvSpPr>
          <p:nvPr/>
        </p:nvSpPr>
        <p:spPr>
          <a:xfrm xmlns:a="http://schemas.openxmlformats.org/drawingml/2006/main">
            <a:off x="685800" y="590550"/>
            <a:ext cx="476250" cy="476250"/>
          </a:xfrm>
          <a:prstGeom xmlns:a="http://schemas.openxmlformats.org/drawingml/2006/main" prst="ellipse">
            <a:avLst/>
          </a:prstGeom>
          <a:solidFill xmlns:a="http://schemas.openxmlformats.org/drawingml/2006/main">
            <a:srgbClr val="E36B78"/>
          </a:solidFill>
          <a:ln xmlns:a="http://schemas.openxmlformats.org/drawingml/2006/main" w="0">
            <a:solidFill>
              <a:srgbClr val="E36B78"/>
            </a:solidFill>
          </a:ln>
        </p:spPr>
        <p:txBody>
          <a:bodyPr xmlns:a="http://schemas.openxmlformats.org/drawingml/2006/main" anchor="ctr">
            <a:normAutofit fontScale="71436"/>
          </a:bodyPr>
          <a:lstStyle xmlns:a="http://schemas.openxmlformats.org/drawingml/2006/main"/>
          <a:p xmlns:a="http://schemas.openxmlformats.org/drawingml/2006/main">
            <a:pPr algn="ctr">
              <a:defRPr sz="1350" b="1">
                <a:solidFill>
                  <a:srgbClr val="FFFFFF"/>
                </a:solidFill>
                <a:latin typeface="Noto Sans CJK TC"/>
                <a:ea typeface="Noto Sans CJK TC"/>
                <a:cs typeface="Noto Sans CJK TC"/>
              </a:defRPr>
            </a:pPr>
            <a:r>
              <a:rPr sz="1350" b="1">
                <a:solidFill>
                  <a:srgbClr val="FFFFFF"/>
                </a:solidFill>
                <a:latin typeface="Noto Sans CJK TC"/>
                <a:ea typeface="Noto Sans CJK TC"/>
                <a:cs typeface="Noto Sans CJK TC"/>
              </a:rPr>
              <a:t>C1</a:t>
            </a:r>
          </a:p>
        </p:txBody>
      </p:sp>
      <p:sp>
        <p:nvSpPr>
          <p:cNvPr id="8" name="">
            <a:extLst xmlns:a="http://schemas.openxmlformats.org/drawingml/2006/main">
              <a:ext uri="{FF2B5EF4-FFF2-40B4-BE49-F238E27FC236}">
                <a16:creationId xmlns:a16="http://schemas.microsoft.com/office/drawing/2014/main" id="{91A52C8E-5550-4569-B1FF-51A0CD86B481}"/>
              </a:ext>
            </a:extLst>
          </p:cNvPr>
          <p:cNvSpPr>
            <a:spLocks xmlns:a="http://schemas.openxmlformats.org/drawingml/2006/main" noGrp="1"/>
          </p:cNvSpPr>
          <p:nvPr/>
        </p:nvSpPr>
        <p:spPr>
          <a:xfrm xmlns:a="http://schemas.openxmlformats.org/drawingml/2006/main">
            <a:off x="1314450" y="523875"/>
            <a:ext cx="1276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225" b="1" i="0">
                <a:solidFill>
                  <a:srgbClr val="431218"/>
                </a:solidFill>
                <a:latin typeface="Noto Serif CJK TC"/>
                <a:ea typeface="Noto Serif CJK TC"/>
                <a:cs typeface="Noto Serif CJK TC"/>
              </a:defRPr>
            </a:pPr>
            <a:r>
              <a:rPr sz="3225" b="1" i="0">
                <a:solidFill>
                  <a:srgbClr val="431218"/>
                </a:solidFill>
                <a:latin typeface="Noto Serif CJK TC"/>
                <a:ea typeface="Noto Serif CJK TC"/>
                <a:cs typeface="Noto Serif CJK TC"/>
              </a:rPr>
              <a:t>Code 1  |  成功新增 reusable rule，但診斷失真</a:t>
            </a:r>
          </a:p>
        </p:txBody>
      </p:sp>
      <p:sp>
        <p:nvSpPr>
          <p:cNvPr id="9" name="">
            <a:extLst xmlns:a="http://schemas.openxmlformats.org/drawingml/2006/main">
              <a:ext uri="{FF2B5EF4-FFF2-40B4-BE49-F238E27FC236}">
                <a16:creationId xmlns:a16="http://schemas.microsoft.com/office/drawing/2014/main" id="{24AAE8CD-2E34-4CC4-A8F5-57353CA6BC2C}"/>
              </a:ext>
            </a:extLst>
          </p:cNvPr>
          <p:cNvSpPr>
            <a:spLocks xmlns:a="http://schemas.openxmlformats.org/drawingml/2006/main" noGrp="1"/>
          </p:cNvSpPr>
          <p:nvPr/>
        </p:nvSpPr>
        <p:spPr>
          <a:xfrm xmlns:a="http://schemas.openxmlformats.org/drawingml/2006/main">
            <a:off x="1333500" y="1143000"/>
            <a:ext cx="1381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Code Reflection 比對 policy、editable Java 與 immutable API contract</a:t>
            </a:r>
          </a:p>
        </p:txBody>
      </p:sp>
      <p:sp>
        <p:nvSpPr>
          <p:cNvPr id="10" name="">
            <a:extLst xmlns:a="http://schemas.openxmlformats.org/drawingml/2006/main">
              <a:ext uri="{FF2B5EF4-FFF2-40B4-BE49-F238E27FC236}">
                <a16:creationId xmlns:a16="http://schemas.microsoft.com/office/drawing/2014/main" id="{53CB4B86-6F87-40D0-8CEB-D8CCC46BE635}"/>
              </a:ext>
            </a:extLst>
          </p:cNvPr>
          <p:cNvSpPr>
            <a:spLocks xmlns:a="http://schemas.openxmlformats.org/drawingml/2006/main" noGrp="1"/>
          </p:cNvSpPr>
          <p:nvPr/>
        </p:nvSpPr>
        <p:spPr>
          <a:xfrm xmlns:a="http://schemas.openxmlformats.org/drawingml/2006/main">
            <a:off x="14287500" y="6286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1200" b="1" i="0">
                <a:solidFill>
                  <a:srgbClr val="47795C"/>
                </a:solidFill>
                <a:latin typeface="Noto Sans CJK TC"/>
                <a:ea typeface="Noto Sans CJK TC"/>
                <a:cs typeface="Noto Sans CJK TC"/>
              </a:defRPr>
            </a:pPr>
            <a:r>
              <a:rPr sz="1200" b="1" i="0">
                <a:solidFill>
                  <a:srgbClr val="47795C"/>
                </a:solidFill>
                <a:latin typeface="Noto Sans CJK TC"/>
                <a:ea typeface="Noto Sans CJK TC"/>
                <a:cs typeface="Noto Sans CJK TC"/>
              </a:rPr>
              <a:t>APPLIED  ·  reflection 1  ·  rewrites 2</a:t>
            </a:r>
          </a:p>
        </p:txBody>
      </p:sp>
      <p:sp>
        <p:nvSpPr>
          <p:cNvPr id="11" name="">
            <a:extLst xmlns:a="http://schemas.openxmlformats.org/drawingml/2006/main">
              <a:ext uri="{FF2B5EF4-FFF2-40B4-BE49-F238E27FC236}">
                <a16:creationId xmlns:a16="http://schemas.microsoft.com/office/drawing/2014/main" id="{7DC3EB6F-4779-4D7A-9BF9-92E58EE7DA26}"/>
              </a:ext>
            </a:extLst>
          </p:cNvPr>
          <p:cNvSpPr>
            <a:spLocks xmlns:a="http://schemas.openxmlformats.org/drawingml/2006/main" noGrp="1"/>
          </p:cNvSpPr>
          <p:nvPr/>
        </p:nvSpPr>
        <p:spPr>
          <a:xfrm xmlns:a="http://schemas.openxmlformats.org/drawingml/2006/main">
            <a:off x="16764000" y="9829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06A"/>
                </a:solidFill>
                <a:latin typeface="Noto Sans CJK TC"/>
                <a:ea typeface="Noto Sans CJK TC"/>
                <a:cs typeface="Noto Sans CJK TC"/>
              </a:defRPr>
            </a:pPr>
            <a:r>
              <a:rPr sz="900" b="0" i="0">
                <a:solidFill>
                  <a:srgbClr val="62606A"/>
                </a:solidFill>
                <a:latin typeface="Noto Sans CJK TC"/>
                <a:ea typeface="Noto Sans CJK TC"/>
                <a:cs typeface="Noto Sans CJK TC"/>
              </a:rPr>
              <a:t>08 / 14</a:t>
            </a:r>
          </a:p>
        </p:txBody>
      </p:sp>
      <p:sp>
        <p:nvSpPr>
          <p:cNvPr id="12" name="">
            <a:extLst xmlns:a="http://schemas.openxmlformats.org/drawingml/2006/main">
              <a:ext uri="{FF2B5EF4-FFF2-40B4-BE49-F238E27FC236}">
                <a16:creationId xmlns:a16="http://schemas.microsoft.com/office/drawing/2014/main" id="{D2D2D0A2-5872-4DAC-A0C2-96419F4609B6}"/>
              </a:ext>
            </a:extLst>
          </p:cNvPr>
          <p:cNvSpPr>
            <a:spLocks xmlns:a="http://schemas.openxmlformats.org/drawingml/2006/main" noGrp="1"/>
          </p:cNvSpPr>
          <p:nvPr/>
        </p:nvSpPr>
        <p:spPr>
          <a:xfrm xmlns:a="http://schemas.openxmlformats.org/drawingml/2006/main">
            <a:off x="5638800" y="1924050"/>
            <a:ext cx="0" cy="621030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3" name="">
            <a:extLst xmlns:a="http://schemas.openxmlformats.org/drawingml/2006/main">
              <a:ext uri="{FF2B5EF4-FFF2-40B4-BE49-F238E27FC236}">
                <a16:creationId xmlns:a16="http://schemas.microsoft.com/office/drawing/2014/main" id="{B84FC13C-986B-45AA-8FD6-E0D42B8D812D}"/>
              </a:ext>
            </a:extLst>
          </p:cNvPr>
          <p:cNvSpPr>
            <a:spLocks xmlns:a="http://schemas.openxmlformats.org/drawingml/2006/main" noGrp="1"/>
          </p:cNvSpPr>
          <p:nvPr/>
        </p:nvSpPr>
        <p:spPr>
          <a:xfrm xmlns:a="http://schemas.openxmlformats.org/drawingml/2006/main">
            <a:off x="11353800" y="1924050"/>
            <a:ext cx="0" cy="621030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4" name="">
            <a:extLst xmlns:a="http://schemas.openxmlformats.org/drawingml/2006/main">
              <a:ext uri="{FF2B5EF4-FFF2-40B4-BE49-F238E27FC236}">
                <a16:creationId xmlns:a16="http://schemas.microsoft.com/office/drawing/2014/main" id="{11E8682C-87BF-4978-BE39-0186327B1E27}"/>
              </a:ext>
            </a:extLst>
          </p:cNvPr>
          <p:cNvSpPr>
            <a:spLocks xmlns:a="http://schemas.openxmlformats.org/drawingml/2006/main" noGrp="1"/>
          </p:cNvSpPr>
          <p:nvPr/>
        </p:nvSpPr>
        <p:spPr>
          <a:xfrm xmlns:a="http://schemas.openxmlformats.org/drawingml/2006/main">
            <a:off x="857250" y="16573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原始 Policy 與 Java</a:t>
            </a:r>
          </a:p>
        </p:txBody>
      </p:sp>
      <p:sp>
        <p:nvSpPr>
          <p:cNvPr id="15" name="">
            <a:extLst xmlns:a="http://schemas.openxmlformats.org/drawingml/2006/main">
              <a:ext uri="{FF2B5EF4-FFF2-40B4-BE49-F238E27FC236}">
                <a16:creationId xmlns:a16="http://schemas.microsoft.com/office/drawing/2014/main" id="{8B2BAAF6-FE43-494E-9738-4252F38F491B}"/>
              </a:ext>
            </a:extLst>
          </p:cNvPr>
          <p:cNvSpPr>
            <a:spLocks xmlns:a="http://schemas.openxmlformats.org/drawingml/2006/main" noGrp="1"/>
          </p:cNvSpPr>
          <p:nvPr/>
        </p:nvSpPr>
        <p:spPr>
          <a:xfrm xmlns:a="http://schemas.openxmlformats.org/drawingml/2006/main">
            <a:off x="857250" y="2019300"/>
            <a:ext cx="44767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6" name="">
            <a:extLst xmlns:a="http://schemas.openxmlformats.org/drawingml/2006/main">
              <a:ext uri="{FF2B5EF4-FFF2-40B4-BE49-F238E27FC236}">
                <a16:creationId xmlns:a16="http://schemas.microsoft.com/office/drawing/2014/main" id="{D436CDD6-6DA6-4287-B5AB-2EF72601D775}"/>
              </a:ext>
            </a:extLst>
          </p:cNvPr>
          <p:cNvSpPr>
            <a:spLocks xmlns:a="http://schemas.openxmlformats.org/drawingml/2006/main" noGrp="1"/>
          </p:cNvSpPr>
          <p:nvPr/>
        </p:nvSpPr>
        <p:spPr>
          <a:xfrm xmlns:a="http://schemas.openxmlformats.org/drawingml/2006/main">
            <a:off x="5924550" y="16573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送進 Reflection 的內容</a:t>
            </a:r>
          </a:p>
        </p:txBody>
      </p:sp>
      <p:sp>
        <p:nvSpPr>
          <p:cNvPr id="17" name="">
            <a:extLst xmlns:a="http://schemas.openxmlformats.org/drawingml/2006/main">
              <a:ext uri="{FF2B5EF4-FFF2-40B4-BE49-F238E27FC236}">
                <a16:creationId xmlns:a16="http://schemas.microsoft.com/office/drawing/2014/main" id="{08C09707-6E53-4609-87B6-B9150534540C}"/>
              </a:ext>
            </a:extLst>
          </p:cNvPr>
          <p:cNvSpPr>
            <a:spLocks xmlns:a="http://schemas.openxmlformats.org/drawingml/2006/main" noGrp="1"/>
          </p:cNvSpPr>
          <p:nvPr/>
        </p:nvSpPr>
        <p:spPr>
          <a:xfrm xmlns:a="http://schemas.openxmlformats.org/drawingml/2006/main">
            <a:off x="5924550" y="2019300"/>
            <a:ext cx="51435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8" name="">
            <a:extLst xmlns:a="http://schemas.openxmlformats.org/drawingml/2006/main">
              <a:ext uri="{FF2B5EF4-FFF2-40B4-BE49-F238E27FC236}">
                <a16:creationId xmlns:a16="http://schemas.microsoft.com/office/drawing/2014/main" id="{F67FD145-70DD-4365-8A11-CF1EEB218AE9}"/>
              </a:ext>
            </a:extLst>
          </p:cNvPr>
          <p:cNvSpPr>
            <a:spLocks xmlns:a="http://schemas.openxmlformats.org/drawingml/2006/main" noGrp="1"/>
          </p:cNvSpPr>
          <p:nvPr/>
        </p:nvSpPr>
        <p:spPr>
          <a:xfrm xmlns:a="http://schemas.openxmlformats.org/drawingml/2006/main">
            <a:off x="11639550" y="165735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Reflection 後</a:t>
            </a:r>
          </a:p>
        </p:txBody>
      </p:sp>
      <p:sp>
        <p:nvSpPr>
          <p:cNvPr id="19" name="">
            <a:extLst xmlns:a="http://schemas.openxmlformats.org/drawingml/2006/main">
              <a:ext uri="{FF2B5EF4-FFF2-40B4-BE49-F238E27FC236}">
                <a16:creationId xmlns:a16="http://schemas.microsoft.com/office/drawing/2014/main" id="{1FE03198-2F2D-4E43-9F7E-FF889BBC56B4}"/>
              </a:ext>
            </a:extLst>
          </p:cNvPr>
          <p:cNvSpPr>
            <a:spLocks xmlns:a="http://schemas.openxmlformats.org/drawingml/2006/main" noGrp="1"/>
          </p:cNvSpPr>
          <p:nvPr/>
        </p:nvSpPr>
        <p:spPr>
          <a:xfrm xmlns:a="http://schemas.openxmlformats.org/drawingml/2006/main">
            <a:off x="11639550" y="2019300"/>
            <a:ext cx="58102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20" name="">
            <a:extLst xmlns:a="http://schemas.openxmlformats.org/drawingml/2006/main">
              <a:ext uri="{FF2B5EF4-FFF2-40B4-BE49-F238E27FC236}">
                <a16:creationId xmlns:a16="http://schemas.microsoft.com/office/drawing/2014/main" id="{C2DE0D00-D5BD-47AE-9175-8D7162B1FDC4}"/>
              </a:ext>
            </a:extLst>
          </p:cNvPr>
          <p:cNvSpPr>
            <a:spLocks xmlns:a="http://schemas.openxmlformats.org/drawingml/2006/main" noGrp="1"/>
          </p:cNvSpPr>
          <p:nvPr/>
        </p:nvSpPr>
        <p:spPr>
          <a:xfrm xmlns:a="http://schemas.openxmlformats.org/drawingml/2006/main">
            <a:off x="857250" y="2190750"/>
            <a:ext cx="447675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Use a continuous Worker-rush policy.</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Java 狀態</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compile_success = true</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decide 每個 game cycle 被呼叫</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trainWorkers 走訪所有 idle Bases</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attackNearestEnemy 先找 enemy Base</a:t>
            </a:r>
          </a:p>
        </p:txBody>
      </p:sp>
      <p:sp>
        <p:nvSpPr>
          <p:cNvPr id="21" name="">
            <a:extLst xmlns:a="http://schemas.openxmlformats.org/drawingml/2006/main">
              <a:ext uri="{FF2B5EF4-FFF2-40B4-BE49-F238E27FC236}">
                <a16:creationId xmlns:a16="http://schemas.microsoft.com/office/drawing/2014/main" id="{3DC42144-56AF-46B5-8B4C-1A0114AF788A}"/>
              </a:ext>
            </a:extLst>
          </p:cNvPr>
          <p:cNvSpPr>
            <a:spLocks xmlns:a="http://schemas.openxmlformats.org/drawingml/2006/main" noGrp="1"/>
          </p:cNvSpPr>
          <p:nvPr/>
        </p:nvSpPr>
        <p:spPr>
          <a:xfrm xmlns:a="http://schemas.openxmlformats.org/drawingml/2006/main">
            <a:off x="5924550" y="2190750"/>
            <a:ext cx="514350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Reflector 收到：</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原始 policy prompt</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完整 editable strategy region</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immutable scaffold 與 API contract</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compile_success = true</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Reflector 卻聲稱：</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continuous production 需要 method 內部 loop</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Java 沒有優先 enemy Base</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commandHarvest 沒有保證 return to Base</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這些判讀與現有程式不一致。</a:t>
            </a:r>
          </a:p>
        </p:txBody>
      </p:sp>
      <p:sp>
        <p:nvSpPr>
          <p:cNvPr id="22" name="">
            <a:extLst xmlns:a="http://schemas.openxmlformats.org/drawingml/2006/main">
              <a:ext uri="{FF2B5EF4-FFF2-40B4-BE49-F238E27FC236}">
                <a16:creationId xmlns:a16="http://schemas.microsoft.com/office/drawing/2014/main" id="{0C244678-E1E0-4CEF-BEEC-4284CC758089}"/>
              </a:ext>
            </a:extLst>
          </p:cNvPr>
          <p:cNvSpPr>
            <a:spLocks xmlns:a="http://schemas.openxmlformats.org/drawingml/2006/main" noGrp="1"/>
          </p:cNvSpPr>
          <p:nvPr/>
        </p:nvSpPr>
        <p:spPr>
          <a:xfrm xmlns:a="http://schemas.openxmlformats.org/drawingml/2006/main">
            <a:off x="11639550" y="2190750"/>
            <a:ext cx="581025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新增 rule</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[rule-4e04bbc24de2]</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category: api_compliance</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“Enforce unit-type constraints by validating all command targets against policy-defined restrictions before execution.”</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結果</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generation_prompt 改變</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strategy_prompt 不變</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inherited Java 不變</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Rule 格式合法，但來源 diagnosis 多數不成立，實際價值偏低。</a:t>
            </a:r>
          </a:p>
        </p:txBody>
      </p:sp>
      <p:sp>
        <p:nvSpPr>
          <p:cNvPr id="23" name="audit-strip">
            <a:extLst xmlns:a="http://schemas.openxmlformats.org/drawingml/2006/main">
              <a:ext uri="{FF2B5EF4-FFF2-40B4-BE49-F238E27FC236}">
                <a16:creationId xmlns:a16="http://schemas.microsoft.com/office/drawing/2014/main" id="{EC5C28FB-2B4E-4ADF-AF2E-70149CC09956}"/>
              </a:ext>
            </a:extLst>
          </p:cNvPr>
          <p:cNvSpPr>
            <a:spLocks xmlns:a="http://schemas.openxmlformats.org/drawingml/2006/main" noGrp="1"/>
          </p:cNvSpPr>
          <p:nvPr/>
        </p:nvSpPr>
        <p:spPr>
          <a:xfrm xmlns:a="http://schemas.openxmlformats.org/drawingml/2006/main">
            <a:off x="857250" y="8420100"/>
            <a:ext cx="16573500" cy="1123950"/>
          </a:xfrm>
          <a:prstGeom xmlns:a="http://schemas.openxmlformats.org/drawingml/2006/main" prst="roundRect">
            <a:avLst>
              <a:gd name="adj" fmla="val 6780"/>
            </a:avLst>
          </a:prstGeom>
          <a:solidFill xmlns:a="http://schemas.openxmlformats.org/drawingml/2006/main">
            <a:srgbClr val="F7E7C8"/>
          </a:solidFill>
          <a:ln xmlns:a="http://schemas.openxmlformats.org/drawingml/2006/main" w="9525">
            <a:solidFill>
              <a:srgbClr val="BF872B"/>
            </a:solidFill>
            <a:prstDash val="solid"/>
          </a:ln>
        </p:spPr>
      </p:sp>
      <p:sp>
        <p:nvSpPr>
          <p:cNvPr id="24" name="">
            <a:extLst xmlns:a="http://schemas.openxmlformats.org/drawingml/2006/main">
              <a:ext uri="{FF2B5EF4-FFF2-40B4-BE49-F238E27FC236}">
                <a16:creationId xmlns:a16="http://schemas.microsoft.com/office/drawing/2014/main" id="{B97FFFAF-DA20-40E3-ACCB-1A4FF64889D3}"/>
              </a:ext>
            </a:extLst>
          </p:cNvPr>
          <p:cNvSpPr>
            <a:spLocks xmlns:a="http://schemas.openxmlformats.org/drawingml/2006/main" noGrp="1"/>
          </p:cNvSpPr>
          <p:nvPr/>
        </p:nvSpPr>
        <p:spPr>
          <a:xfrm xmlns:a="http://schemas.openxmlformats.org/drawingml/2006/main">
            <a:off x="1123950" y="85915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BF872B"/>
                </a:solidFill>
                <a:latin typeface="Noto Sans CJK TC"/>
                <a:ea typeface="Noto Sans CJK TC"/>
                <a:cs typeface="Noto Sans CJK TC"/>
              </a:defRPr>
            </a:pPr>
            <a:r>
              <a:rPr sz="975" b="1" i="0">
                <a:solidFill>
                  <a:srgbClr val="BF872B"/>
                </a:solidFill>
                <a:latin typeface="Noto Sans CJK TC"/>
                <a:ea typeface="Noto Sans CJK TC"/>
                <a:cs typeface="Noto Sans CJK TC"/>
              </a:rPr>
              <a:t>GEN SCOPE</a:t>
            </a:r>
          </a:p>
        </p:txBody>
      </p:sp>
      <p:sp>
        <p:nvSpPr>
          <p:cNvPr id="25" name="">
            <a:extLst xmlns:a="http://schemas.openxmlformats.org/drawingml/2006/main">
              <a:ext uri="{FF2B5EF4-FFF2-40B4-BE49-F238E27FC236}">
                <a16:creationId xmlns:a16="http://schemas.microsoft.com/office/drawing/2014/main" id="{906D05FD-8AE5-4984-9AC3-EEA380E5DAB7}"/>
              </a:ext>
            </a:extLst>
          </p:cNvPr>
          <p:cNvSpPr>
            <a:spLocks xmlns:a="http://schemas.openxmlformats.org/drawingml/2006/main" noGrp="1"/>
          </p:cNvSpPr>
          <p:nvPr/>
        </p:nvSpPr>
        <p:spPr>
          <a:xfrm xmlns:a="http://schemas.openxmlformats.org/drawingml/2006/main">
            <a:off x="1123950" y="8858250"/>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25252A"/>
                </a:solidFill>
                <a:latin typeface="Noto Sans CJK TC"/>
                <a:ea typeface="Noto Sans CJK TC"/>
                <a:cs typeface="Noto Sans CJK TC"/>
              </a:defRPr>
            </a:pPr>
            <a:r>
              <a:rPr sz="1350" b="1" i="0">
                <a:solidFill>
                  <a:srgbClr val="25252A"/>
                </a:solidFill>
                <a:latin typeface="Noto Sans CJK TC"/>
                <a:ea typeface="Noto Sans CJK TC"/>
                <a:cs typeface="Noto Sans CJK TC"/>
              </a:rPr>
              <a:t>generation_prompt changed  |  strategy_prompt 與 inherited_java unchanged</a:t>
            </a:r>
          </a:p>
        </p:txBody>
      </p:sp>
      <p:sp>
        <p:nvSpPr>
          <p:cNvPr id="26" name="">
            <a:extLst xmlns:a="http://schemas.openxmlformats.org/drawingml/2006/main">
              <a:ext uri="{FF2B5EF4-FFF2-40B4-BE49-F238E27FC236}">
                <a16:creationId xmlns:a16="http://schemas.microsoft.com/office/drawing/2014/main" id="{47B088C0-25AF-4ACA-AFCB-598814669F49}"/>
              </a:ext>
            </a:extLst>
          </p:cNvPr>
          <p:cNvSpPr>
            <a:spLocks xmlns:a="http://schemas.openxmlformats.org/drawingml/2006/main" noGrp="1"/>
          </p:cNvSpPr>
          <p:nvPr/>
        </p:nvSpPr>
        <p:spPr>
          <a:xfrm xmlns:a="http://schemas.openxmlformats.org/drawingml/2006/main">
            <a:off x="7334250" y="8648700"/>
            <a:ext cx="0" cy="685800"/>
          </a:xfrm>
          <a:prstGeom xmlns:a="http://schemas.openxmlformats.org/drawingml/2006/main" prst="line">
            <a:avLst/>
          </a:prstGeom>
          <a:noFill xmlns:a="http://schemas.openxmlformats.org/drawingml/2006/main"/>
          <a:ln xmlns:a="http://schemas.openxmlformats.org/drawingml/2006/main" w="9525">
            <a:solidFill>
              <a:srgbClr val="BF872B"/>
            </a:solidFill>
            <a:prstDash val="solid"/>
          </a:ln>
        </p:spPr>
      </p:sp>
      <p:sp>
        <p:nvSpPr>
          <p:cNvPr id="27" name="">
            <a:extLst xmlns:a="http://schemas.openxmlformats.org/drawingml/2006/main">
              <a:ext uri="{FF2B5EF4-FFF2-40B4-BE49-F238E27FC236}">
                <a16:creationId xmlns:a16="http://schemas.microsoft.com/office/drawing/2014/main" id="{A21753B3-DAD4-481F-8B8F-8F4DDCF558B3}"/>
              </a:ext>
            </a:extLst>
          </p:cNvPr>
          <p:cNvSpPr>
            <a:spLocks xmlns:a="http://schemas.openxmlformats.org/drawingml/2006/main" noGrp="1"/>
          </p:cNvSpPr>
          <p:nvPr/>
        </p:nvSpPr>
        <p:spPr>
          <a:xfrm xmlns:a="http://schemas.openxmlformats.org/drawingml/2006/main">
            <a:off x="7667625" y="85915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BF872B"/>
                </a:solidFill>
                <a:latin typeface="Noto Sans CJK TC"/>
                <a:ea typeface="Noto Sans CJK TC"/>
                <a:cs typeface="Noto Sans CJK TC"/>
              </a:defRPr>
            </a:pPr>
            <a:r>
              <a:rPr sz="975" b="1" i="0">
                <a:solidFill>
                  <a:srgbClr val="BF872B"/>
                </a:solidFill>
                <a:latin typeface="Noto Sans CJK TC"/>
                <a:ea typeface="Noto Sans CJK TC"/>
                <a:cs typeface="Noto Sans CJK TC"/>
              </a:rPr>
              <a:t>人工判讀</a:t>
            </a:r>
          </a:p>
        </p:txBody>
      </p:sp>
      <p:sp>
        <p:nvSpPr>
          <p:cNvPr id="28" name="">
            <a:extLst xmlns:a="http://schemas.openxmlformats.org/drawingml/2006/main">
              <a:ext uri="{FF2B5EF4-FFF2-40B4-BE49-F238E27FC236}">
                <a16:creationId xmlns:a16="http://schemas.microsoft.com/office/drawing/2014/main" id="{E6B3C0E0-0DA2-472B-8545-ADFFB505ECF0}"/>
              </a:ext>
            </a:extLst>
          </p:cNvPr>
          <p:cNvSpPr>
            <a:spLocks xmlns:a="http://schemas.openxmlformats.org/drawingml/2006/main" noGrp="1"/>
          </p:cNvSpPr>
          <p:nvPr/>
        </p:nvSpPr>
        <p:spPr>
          <a:xfrm xmlns:a="http://schemas.openxmlformats.org/drawingml/2006/main">
            <a:off x="7667625" y="8858250"/>
            <a:ext cx="9382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狀態轉換正確，reflection reasoning 不可信。</a:t>
            </a:r>
          </a:p>
        </p:txBody>
      </p:sp>
    </p:spTree>
    <p:extLst>
      <p:ext uri="{BB962C8B-B14F-4D97-AF65-F5344CB8AC3E}">
        <p14:creationId xmlns:p14="http://schemas.microsoft.com/office/powerpoint/2010/main" val="479038151"/>
      </p:ext>
    </p:extLst>
  </p:cSld>
</p:sld>
</file>

<file path=ppt/slides/slide9.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4B66571-E8A6-41AB-8D6D-E487FF61402C}"/>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
            <a:extLst xmlns:a="http://schemas.openxmlformats.org/drawingml/2006/main">
              <a:ext uri="{FF2B5EF4-FFF2-40B4-BE49-F238E27FC236}">
                <a16:creationId xmlns:a16="http://schemas.microsoft.com/office/drawing/2014/main" id="{4719CAC2-28CC-433C-B415-17914EDE9F79}"/>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
            <a:extLst xmlns:a="http://schemas.openxmlformats.org/drawingml/2006/main">
              <a:ext uri="{FF2B5EF4-FFF2-40B4-BE49-F238E27FC236}">
                <a16:creationId xmlns:a16="http://schemas.microsoft.com/office/drawing/2014/main" id="{B7C6DB3A-9D96-4A9E-A945-66725127C749}"/>
              </a:ext>
            </a:extLst>
          </p:cNvPr>
          <p:cNvSpPr>
            <a:spLocks xmlns:a="http://schemas.openxmlformats.org/drawingml/2006/main" noGrp="1"/>
          </p:cNvSpPr>
          <p:nvPr/>
        </p:nvSpPr>
        <p:spPr>
          <a:xfrm xmlns:a="http://schemas.openxmlformats.org/drawingml/2006/main">
            <a:off x="9010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4" name="">
            <a:extLst xmlns:a="http://schemas.openxmlformats.org/drawingml/2006/main">
              <a:ext uri="{FF2B5EF4-FFF2-40B4-BE49-F238E27FC236}">
                <a16:creationId xmlns:a16="http://schemas.microsoft.com/office/drawing/2014/main" id="{1F1F3AC4-61B5-47E2-8F3C-DB1B83CE21A7}"/>
              </a:ext>
            </a:extLst>
          </p:cNvPr>
          <p:cNvSpPr>
            <a:spLocks xmlns:a="http://schemas.openxmlformats.org/drawingml/2006/main" noGrp="1"/>
          </p:cNvSpPr>
          <p:nvPr/>
        </p:nvSpPr>
        <p:spPr>
          <a:xfrm xmlns:a="http://schemas.openxmlformats.org/drawingml/2006/main">
            <a:off x="92011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5" name="">
            <a:extLst xmlns:a="http://schemas.openxmlformats.org/drawingml/2006/main">
              <a:ext uri="{FF2B5EF4-FFF2-40B4-BE49-F238E27FC236}">
                <a16:creationId xmlns:a16="http://schemas.microsoft.com/office/drawing/2014/main" id="{6D102C67-24AD-42F9-AB03-970D638148C3}"/>
              </a:ext>
            </a:extLst>
          </p:cNvPr>
          <p:cNvSpPr>
            <a:spLocks xmlns:a="http://schemas.openxmlformats.org/drawingml/2006/main" noGrp="1"/>
          </p:cNvSpPr>
          <p:nvPr/>
        </p:nvSpPr>
        <p:spPr>
          <a:xfrm xmlns:a="http://schemas.openxmlformats.org/drawingml/2006/main">
            <a:off x="9391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6" name="">
            <a:extLst xmlns:a="http://schemas.openxmlformats.org/drawingml/2006/main">
              <a:ext uri="{FF2B5EF4-FFF2-40B4-BE49-F238E27FC236}">
                <a16:creationId xmlns:a16="http://schemas.microsoft.com/office/drawing/2014/main" id="{E43B9226-7826-4C8F-B41E-BEA8F0730040}"/>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7" name="badge-9">
            <a:extLst xmlns:a="http://schemas.openxmlformats.org/drawingml/2006/main">
              <a:ext uri="{FF2B5EF4-FFF2-40B4-BE49-F238E27FC236}">
                <a16:creationId xmlns:a16="http://schemas.microsoft.com/office/drawing/2014/main" id="{4844BD4A-772B-417D-9A0E-C5010D2D3F3F}"/>
              </a:ext>
            </a:extLst>
          </p:cNvPr>
          <p:cNvSpPr>
            <a:spLocks xmlns:a="http://schemas.openxmlformats.org/drawingml/2006/main" noGrp="1"/>
          </p:cNvSpPr>
          <p:nvPr/>
        </p:nvSpPr>
        <p:spPr>
          <a:xfrm xmlns:a="http://schemas.openxmlformats.org/drawingml/2006/main">
            <a:off x="685800" y="590550"/>
            <a:ext cx="476250" cy="476250"/>
          </a:xfrm>
          <a:prstGeom xmlns:a="http://schemas.openxmlformats.org/drawingml/2006/main" prst="ellipse">
            <a:avLst/>
          </a:prstGeom>
          <a:solidFill xmlns:a="http://schemas.openxmlformats.org/drawingml/2006/main">
            <a:srgbClr val="E36B78"/>
          </a:solidFill>
          <a:ln xmlns:a="http://schemas.openxmlformats.org/drawingml/2006/main" w="0">
            <a:solidFill>
              <a:srgbClr val="E36B78"/>
            </a:solidFill>
          </a:ln>
        </p:spPr>
        <p:txBody>
          <a:bodyPr xmlns:a="http://schemas.openxmlformats.org/drawingml/2006/main" anchor="ctr">
            <a:normAutofit fontScale="71436"/>
          </a:bodyPr>
          <a:lstStyle xmlns:a="http://schemas.openxmlformats.org/drawingml/2006/main"/>
          <a:p xmlns:a="http://schemas.openxmlformats.org/drawingml/2006/main">
            <a:pPr algn="ctr">
              <a:defRPr sz="1350" b="1">
                <a:solidFill>
                  <a:srgbClr val="FFFFFF"/>
                </a:solidFill>
                <a:latin typeface="Noto Sans CJK TC"/>
                <a:ea typeface="Noto Sans CJK TC"/>
                <a:cs typeface="Noto Sans CJK TC"/>
              </a:defRPr>
            </a:pPr>
            <a:r>
              <a:rPr sz="1350" b="1">
                <a:solidFill>
                  <a:srgbClr val="FFFFFF"/>
                </a:solidFill>
                <a:latin typeface="Noto Sans CJK TC"/>
                <a:ea typeface="Noto Sans CJK TC"/>
                <a:cs typeface="Noto Sans CJK TC"/>
              </a:rPr>
              <a:t>C2</a:t>
            </a:r>
          </a:p>
        </p:txBody>
      </p:sp>
      <p:sp>
        <p:nvSpPr>
          <p:cNvPr id="8" name="">
            <a:extLst xmlns:a="http://schemas.openxmlformats.org/drawingml/2006/main">
              <a:ext uri="{FF2B5EF4-FFF2-40B4-BE49-F238E27FC236}">
                <a16:creationId xmlns:a16="http://schemas.microsoft.com/office/drawing/2014/main" id="{8A69E7A9-B679-4573-9000-FB71997509F8}"/>
              </a:ext>
            </a:extLst>
          </p:cNvPr>
          <p:cNvSpPr>
            <a:spLocks xmlns:a="http://schemas.openxmlformats.org/drawingml/2006/main" noGrp="1"/>
          </p:cNvSpPr>
          <p:nvPr/>
        </p:nvSpPr>
        <p:spPr>
          <a:xfrm xmlns:a="http://schemas.openxmlformats.org/drawingml/2006/main">
            <a:off x="1314450" y="523875"/>
            <a:ext cx="1276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225" b="1" i="0">
                <a:solidFill>
                  <a:srgbClr val="431218"/>
                </a:solidFill>
                <a:latin typeface="Noto Serif CJK TC"/>
                <a:ea typeface="Noto Serif CJK TC"/>
                <a:cs typeface="Noto Serif CJK TC"/>
              </a:defRPr>
            </a:pPr>
            <a:r>
              <a:rPr sz="3225" b="1" i="0">
                <a:solidFill>
                  <a:srgbClr val="431218"/>
                </a:solidFill>
                <a:latin typeface="Noto Serif CJK TC"/>
                <a:ea typeface="Noto Serif CJK TC"/>
                <a:cs typeface="Noto Serif CJK TC"/>
              </a:rPr>
              <a:t>Code 2  |  三次 rewrite 後仍被 generic-rule validator 拒絕</a:t>
            </a:r>
          </a:p>
        </p:txBody>
      </p:sp>
      <p:sp>
        <p:nvSpPr>
          <p:cNvPr id="9" name="">
            <a:extLst xmlns:a="http://schemas.openxmlformats.org/drawingml/2006/main">
              <a:ext uri="{FF2B5EF4-FFF2-40B4-BE49-F238E27FC236}">
                <a16:creationId xmlns:a16="http://schemas.microsoft.com/office/drawing/2014/main" id="{56DAE3ED-49E3-49AD-A1E4-6C8393E7B2BF}"/>
              </a:ext>
            </a:extLst>
          </p:cNvPr>
          <p:cNvSpPr>
            <a:spLocks xmlns:a="http://schemas.openxmlformats.org/drawingml/2006/main" noGrp="1"/>
          </p:cNvSpPr>
          <p:nvPr/>
        </p:nvSpPr>
        <p:spPr>
          <a:xfrm xmlns:a="http://schemas.openxmlformats.org/drawingml/2006/main">
            <a:off x="1333500" y="1143000"/>
            <a:ext cx="1381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Reflector 成功，失敗發生在 Code Generation Prompt Rewrite</a:t>
            </a:r>
          </a:p>
        </p:txBody>
      </p:sp>
      <p:sp>
        <p:nvSpPr>
          <p:cNvPr id="10" name="">
            <a:extLst xmlns:a="http://schemas.openxmlformats.org/drawingml/2006/main">
              <a:ext uri="{FF2B5EF4-FFF2-40B4-BE49-F238E27FC236}">
                <a16:creationId xmlns:a16="http://schemas.microsoft.com/office/drawing/2014/main" id="{2A60D041-3380-4F47-8966-64168B3D6B6F}"/>
              </a:ext>
            </a:extLst>
          </p:cNvPr>
          <p:cNvSpPr>
            <a:spLocks xmlns:a="http://schemas.openxmlformats.org/drawingml/2006/main" noGrp="1"/>
          </p:cNvSpPr>
          <p:nvPr/>
        </p:nvSpPr>
        <p:spPr>
          <a:xfrm xmlns:a="http://schemas.openxmlformats.org/drawingml/2006/main">
            <a:off x="14287500" y="6286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1200" b="1" i="0">
                <a:solidFill>
                  <a:srgbClr val="B95160"/>
                </a:solidFill>
                <a:latin typeface="Noto Sans CJK TC"/>
                <a:ea typeface="Noto Sans CJK TC"/>
                <a:cs typeface="Noto Sans CJK TC"/>
              </a:defRPr>
            </a:pPr>
            <a:r>
              <a:rPr sz="1200" b="1" i="0">
                <a:solidFill>
                  <a:srgbClr val="B95160"/>
                </a:solidFill>
                <a:latin typeface="Noto Sans CJK TC"/>
                <a:ea typeface="Noto Sans CJK TC"/>
                <a:cs typeface="Noto Sans CJK TC"/>
              </a:rPr>
              <a:t>FAILED  ·  reflection 1  ·  rewrites 3</a:t>
            </a:r>
          </a:p>
        </p:txBody>
      </p:sp>
      <p:sp>
        <p:nvSpPr>
          <p:cNvPr id="11" name="">
            <a:extLst xmlns:a="http://schemas.openxmlformats.org/drawingml/2006/main">
              <a:ext uri="{FF2B5EF4-FFF2-40B4-BE49-F238E27FC236}">
                <a16:creationId xmlns:a16="http://schemas.microsoft.com/office/drawing/2014/main" id="{5E693E66-0A77-4E44-AEA8-C6F79E0041F5}"/>
              </a:ext>
            </a:extLst>
          </p:cNvPr>
          <p:cNvSpPr>
            <a:spLocks xmlns:a="http://schemas.openxmlformats.org/drawingml/2006/main" noGrp="1"/>
          </p:cNvSpPr>
          <p:nvPr/>
        </p:nvSpPr>
        <p:spPr>
          <a:xfrm xmlns:a="http://schemas.openxmlformats.org/drawingml/2006/main">
            <a:off x="16764000" y="9829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06A"/>
                </a:solidFill>
                <a:latin typeface="Noto Sans CJK TC"/>
                <a:ea typeface="Noto Sans CJK TC"/>
                <a:cs typeface="Noto Sans CJK TC"/>
              </a:defRPr>
            </a:pPr>
            <a:r>
              <a:rPr sz="900" b="0" i="0">
                <a:solidFill>
                  <a:srgbClr val="62606A"/>
                </a:solidFill>
                <a:latin typeface="Noto Sans CJK TC"/>
                <a:ea typeface="Noto Sans CJK TC"/>
                <a:cs typeface="Noto Sans CJK TC"/>
              </a:rPr>
              <a:t>09 / 14</a:t>
            </a:r>
          </a:p>
        </p:txBody>
      </p:sp>
      <p:sp>
        <p:nvSpPr>
          <p:cNvPr id="12" name="">
            <a:extLst xmlns:a="http://schemas.openxmlformats.org/drawingml/2006/main">
              <a:ext uri="{FF2B5EF4-FFF2-40B4-BE49-F238E27FC236}">
                <a16:creationId xmlns:a16="http://schemas.microsoft.com/office/drawing/2014/main" id="{97DDF607-3159-4EF9-AD58-A36B9FD26278}"/>
              </a:ext>
            </a:extLst>
          </p:cNvPr>
          <p:cNvSpPr>
            <a:spLocks xmlns:a="http://schemas.openxmlformats.org/drawingml/2006/main" noGrp="1"/>
          </p:cNvSpPr>
          <p:nvPr/>
        </p:nvSpPr>
        <p:spPr>
          <a:xfrm xmlns:a="http://schemas.openxmlformats.org/drawingml/2006/main">
            <a:off x="5638800" y="1924050"/>
            <a:ext cx="0" cy="621030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3" name="">
            <a:extLst xmlns:a="http://schemas.openxmlformats.org/drawingml/2006/main">
              <a:ext uri="{FF2B5EF4-FFF2-40B4-BE49-F238E27FC236}">
                <a16:creationId xmlns:a16="http://schemas.microsoft.com/office/drawing/2014/main" id="{FC993411-8FDB-468E-B60D-ADD8C263C021}"/>
              </a:ext>
            </a:extLst>
          </p:cNvPr>
          <p:cNvSpPr>
            <a:spLocks xmlns:a="http://schemas.openxmlformats.org/drawingml/2006/main" noGrp="1"/>
          </p:cNvSpPr>
          <p:nvPr/>
        </p:nvSpPr>
        <p:spPr>
          <a:xfrm xmlns:a="http://schemas.openxmlformats.org/drawingml/2006/main">
            <a:off x="11353800" y="1924050"/>
            <a:ext cx="0" cy="621030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4" name="">
            <a:extLst xmlns:a="http://schemas.openxmlformats.org/drawingml/2006/main">
              <a:ext uri="{FF2B5EF4-FFF2-40B4-BE49-F238E27FC236}">
                <a16:creationId xmlns:a16="http://schemas.microsoft.com/office/drawing/2014/main" id="{3A7B0720-3F6F-4DB8-B594-E4A71EFC68C8}"/>
              </a:ext>
            </a:extLst>
          </p:cNvPr>
          <p:cNvSpPr>
            <a:spLocks xmlns:a="http://schemas.openxmlformats.org/drawingml/2006/main" noGrp="1"/>
          </p:cNvSpPr>
          <p:nvPr/>
        </p:nvSpPr>
        <p:spPr>
          <a:xfrm xmlns:a="http://schemas.openxmlformats.org/drawingml/2006/main">
            <a:off x="857250" y="16573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原始 Policy 與 prompt</a:t>
            </a:r>
          </a:p>
        </p:txBody>
      </p:sp>
      <p:sp>
        <p:nvSpPr>
          <p:cNvPr id="15" name="">
            <a:extLst xmlns:a="http://schemas.openxmlformats.org/drawingml/2006/main">
              <a:ext uri="{FF2B5EF4-FFF2-40B4-BE49-F238E27FC236}">
                <a16:creationId xmlns:a16="http://schemas.microsoft.com/office/drawing/2014/main" id="{FFA58429-D4F5-46D7-B41D-6C7D0A0FB3AF}"/>
              </a:ext>
            </a:extLst>
          </p:cNvPr>
          <p:cNvSpPr>
            <a:spLocks xmlns:a="http://schemas.openxmlformats.org/drawingml/2006/main" noGrp="1"/>
          </p:cNvSpPr>
          <p:nvPr/>
        </p:nvSpPr>
        <p:spPr>
          <a:xfrm xmlns:a="http://schemas.openxmlformats.org/drawingml/2006/main">
            <a:off x="857250" y="2019300"/>
            <a:ext cx="44767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6" name="">
            <a:extLst xmlns:a="http://schemas.openxmlformats.org/drawingml/2006/main">
              <a:ext uri="{FF2B5EF4-FFF2-40B4-BE49-F238E27FC236}">
                <a16:creationId xmlns:a16="http://schemas.microsoft.com/office/drawing/2014/main" id="{8949A92A-703F-440F-969A-89D6FB0EEBA3}"/>
              </a:ext>
            </a:extLst>
          </p:cNvPr>
          <p:cNvSpPr>
            <a:spLocks xmlns:a="http://schemas.openxmlformats.org/drawingml/2006/main" noGrp="1"/>
          </p:cNvSpPr>
          <p:nvPr/>
        </p:nvSpPr>
        <p:spPr>
          <a:xfrm xmlns:a="http://schemas.openxmlformats.org/drawingml/2006/main">
            <a:off x="5924550" y="16573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送進 Reflection 的內容</a:t>
            </a:r>
          </a:p>
        </p:txBody>
      </p:sp>
      <p:sp>
        <p:nvSpPr>
          <p:cNvPr id="17" name="">
            <a:extLst xmlns:a="http://schemas.openxmlformats.org/drawingml/2006/main">
              <a:ext uri="{FF2B5EF4-FFF2-40B4-BE49-F238E27FC236}">
                <a16:creationId xmlns:a16="http://schemas.microsoft.com/office/drawing/2014/main" id="{83D67541-6CBB-41A6-91D1-58875445B6B1}"/>
              </a:ext>
            </a:extLst>
          </p:cNvPr>
          <p:cNvSpPr>
            <a:spLocks xmlns:a="http://schemas.openxmlformats.org/drawingml/2006/main" noGrp="1"/>
          </p:cNvSpPr>
          <p:nvPr/>
        </p:nvSpPr>
        <p:spPr>
          <a:xfrm xmlns:a="http://schemas.openxmlformats.org/drawingml/2006/main">
            <a:off x="5924550" y="2019300"/>
            <a:ext cx="51435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8" name="">
            <a:extLst xmlns:a="http://schemas.openxmlformats.org/drawingml/2006/main">
              <a:ext uri="{FF2B5EF4-FFF2-40B4-BE49-F238E27FC236}">
                <a16:creationId xmlns:a16="http://schemas.microsoft.com/office/drawing/2014/main" id="{7E8BBFF5-C78A-4847-9A0A-FDB07ED42E4F}"/>
              </a:ext>
            </a:extLst>
          </p:cNvPr>
          <p:cNvSpPr>
            <a:spLocks xmlns:a="http://schemas.openxmlformats.org/drawingml/2006/main" noGrp="1"/>
          </p:cNvSpPr>
          <p:nvPr/>
        </p:nvSpPr>
        <p:spPr>
          <a:xfrm xmlns:a="http://schemas.openxmlformats.org/drawingml/2006/main">
            <a:off x="11639550" y="165735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Reflection 後</a:t>
            </a:r>
          </a:p>
        </p:txBody>
      </p:sp>
      <p:sp>
        <p:nvSpPr>
          <p:cNvPr id="19" name="">
            <a:extLst xmlns:a="http://schemas.openxmlformats.org/drawingml/2006/main">
              <a:ext uri="{FF2B5EF4-FFF2-40B4-BE49-F238E27FC236}">
                <a16:creationId xmlns:a16="http://schemas.microsoft.com/office/drawing/2014/main" id="{1F9E81A2-60E1-4157-B54B-08593938265E}"/>
              </a:ext>
            </a:extLst>
          </p:cNvPr>
          <p:cNvSpPr>
            <a:spLocks xmlns:a="http://schemas.openxmlformats.org/drawingml/2006/main" noGrp="1"/>
          </p:cNvSpPr>
          <p:nvPr/>
        </p:nvSpPr>
        <p:spPr>
          <a:xfrm xmlns:a="http://schemas.openxmlformats.org/drawingml/2006/main">
            <a:off x="11639550" y="2019300"/>
            <a:ext cx="58102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20" name="">
            <a:extLst xmlns:a="http://schemas.openxmlformats.org/drawingml/2006/main">
              <a:ext uri="{FF2B5EF4-FFF2-40B4-BE49-F238E27FC236}">
                <a16:creationId xmlns:a16="http://schemas.microsoft.com/office/drawing/2014/main" id="{161AE20B-1F2A-46CE-A5EC-4DE22C3918D2}"/>
              </a:ext>
            </a:extLst>
          </p:cNvPr>
          <p:cNvSpPr>
            <a:spLocks xmlns:a="http://schemas.openxmlformats.org/drawingml/2006/main" noGrp="1"/>
          </p:cNvSpPr>
          <p:nvPr/>
        </p:nvSpPr>
        <p:spPr>
          <a:xfrm xmlns:a="http://schemas.openxmlformats.org/drawingml/2006/main">
            <a:off x="857250" y="2190750"/>
            <a:ext cx="447675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Use a continuous Worker-rush policy.</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原 generation prompt 有 6 條 core reusable rules，涵蓋 requirement coverage、priority、role assignment、state continuity、target fallback 與 policy grounding。</a:t>
            </a:r>
          </a:p>
        </p:txBody>
      </p:sp>
      <p:sp>
        <p:nvSpPr>
          <p:cNvPr id="21" name="">
            <a:extLst xmlns:a="http://schemas.openxmlformats.org/drawingml/2006/main">
              <a:ext uri="{FF2B5EF4-FFF2-40B4-BE49-F238E27FC236}">
                <a16:creationId xmlns:a16="http://schemas.microsoft.com/office/drawing/2014/main" id="{7A23894E-CC28-45D7-8D46-446D3357E303}"/>
              </a:ext>
            </a:extLst>
          </p:cNvPr>
          <p:cNvSpPr>
            <a:spLocks xmlns:a="http://schemas.openxmlformats.org/drawingml/2006/main" noGrp="1"/>
          </p:cNvSpPr>
          <p:nvPr/>
        </p:nvSpPr>
        <p:spPr>
          <a:xfrm xmlns:a="http://schemas.openxmlformats.org/drawingml/2006/main">
            <a:off x="5924550" y="2190750"/>
            <a:ext cx="514350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輸入與 C1、C3 相同：policy、editable Java、API contract、compile success。</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Reflector 再次將 per-cycle 行為誤判成缺少 loop，也把已存在的 Base targeting 與 harvest return 說成缺失。</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最後一次 rewrite response：</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“Ensure all resource-dependent actions loop until conditions cease to apply, using only immutable API helpers and AgentContext parameters.”</a:t>
            </a:r>
          </a:p>
        </p:txBody>
      </p:sp>
      <p:sp>
        <p:nvSpPr>
          <p:cNvPr id="22" name="">
            <a:extLst xmlns:a="http://schemas.openxmlformats.org/drawingml/2006/main">
              <a:ext uri="{FF2B5EF4-FFF2-40B4-BE49-F238E27FC236}">
                <a16:creationId xmlns:a16="http://schemas.microsoft.com/office/drawing/2014/main" id="{CFA1C8AD-F6F4-4811-8875-88E0D3BC5EFE}"/>
              </a:ext>
            </a:extLst>
          </p:cNvPr>
          <p:cNvSpPr>
            <a:spLocks xmlns:a="http://schemas.openxmlformats.org/drawingml/2006/main" noGrp="1"/>
          </p:cNvSpPr>
          <p:nvPr/>
        </p:nvSpPr>
        <p:spPr>
          <a:xfrm xmlns:a="http://schemas.openxmlformats.org/drawingml/2006/main">
            <a:off x="11639550" y="2190750"/>
            <a:ext cx="581025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最終 validation error</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Code Rewrite add_rules[0] is invalid. Reusable generation rules must not name a concrete strategy, unit type, agent, or Java/API symbol.</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Rejected term: “resource”</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結果</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mutation_status = failed</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generation_prompt 不變</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strategy_prompt 不變</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inherited Java 不變</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失敗是預期改動缺失，不是改到禁止欄位。</a:t>
            </a:r>
          </a:p>
        </p:txBody>
      </p:sp>
      <p:sp>
        <p:nvSpPr>
          <p:cNvPr id="23" name="audit-strip">
            <a:extLst xmlns:a="http://schemas.openxmlformats.org/drawingml/2006/main">
              <a:ext uri="{FF2B5EF4-FFF2-40B4-BE49-F238E27FC236}">
                <a16:creationId xmlns:a16="http://schemas.microsoft.com/office/drawing/2014/main" id="{4111448C-262B-4BCB-99A8-28A5D2BB0003}"/>
              </a:ext>
            </a:extLst>
          </p:cNvPr>
          <p:cNvSpPr>
            <a:spLocks xmlns:a="http://schemas.openxmlformats.org/drawingml/2006/main" noGrp="1"/>
          </p:cNvSpPr>
          <p:nvPr/>
        </p:nvSpPr>
        <p:spPr>
          <a:xfrm xmlns:a="http://schemas.openxmlformats.org/drawingml/2006/main">
            <a:off x="857250" y="8420100"/>
            <a:ext cx="16573500" cy="1123950"/>
          </a:xfrm>
          <a:prstGeom xmlns:a="http://schemas.openxmlformats.org/drawingml/2006/main" prst="roundRect">
            <a:avLst>
              <a:gd name="adj" fmla="val 6780"/>
            </a:avLst>
          </a:prstGeom>
          <a:solidFill xmlns:a="http://schemas.openxmlformats.org/drawingml/2006/main">
            <a:srgbClr val="F8D8D8"/>
          </a:solidFill>
          <a:ln xmlns:a="http://schemas.openxmlformats.org/drawingml/2006/main" w="9525">
            <a:solidFill>
              <a:srgbClr val="B95160"/>
            </a:solidFill>
            <a:prstDash val="solid"/>
          </a:ln>
        </p:spPr>
      </p:sp>
      <p:sp>
        <p:nvSpPr>
          <p:cNvPr id="24" name="">
            <a:extLst xmlns:a="http://schemas.openxmlformats.org/drawingml/2006/main">
              <a:ext uri="{FF2B5EF4-FFF2-40B4-BE49-F238E27FC236}">
                <a16:creationId xmlns:a16="http://schemas.microsoft.com/office/drawing/2014/main" id="{748DF7E1-FEBE-4F46-8562-9E5D875FFC6C}"/>
              </a:ext>
            </a:extLst>
          </p:cNvPr>
          <p:cNvSpPr>
            <a:spLocks xmlns:a="http://schemas.openxmlformats.org/drawingml/2006/main" noGrp="1"/>
          </p:cNvSpPr>
          <p:nvPr/>
        </p:nvSpPr>
        <p:spPr>
          <a:xfrm xmlns:a="http://schemas.openxmlformats.org/drawingml/2006/main">
            <a:off x="1123950" y="85915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B95160"/>
                </a:solidFill>
                <a:latin typeface="Noto Sans CJK TC"/>
                <a:ea typeface="Noto Sans CJK TC"/>
                <a:cs typeface="Noto Sans CJK TC"/>
              </a:defRPr>
            </a:pPr>
            <a:r>
              <a:rPr sz="975" b="1" i="0">
                <a:solidFill>
                  <a:srgbClr val="B95160"/>
                </a:solidFill>
                <a:latin typeface="Noto Sans CJK TC"/>
                <a:ea typeface="Noto Sans CJK TC"/>
                <a:cs typeface="Noto Sans CJK TC"/>
              </a:rPr>
              <a:t>GEN SCOPE</a:t>
            </a:r>
          </a:p>
        </p:txBody>
      </p:sp>
      <p:sp>
        <p:nvSpPr>
          <p:cNvPr id="25" name="">
            <a:extLst xmlns:a="http://schemas.openxmlformats.org/drawingml/2006/main">
              <a:ext uri="{FF2B5EF4-FFF2-40B4-BE49-F238E27FC236}">
                <a16:creationId xmlns:a16="http://schemas.microsoft.com/office/drawing/2014/main" id="{B7D8F269-4A1C-41AD-A1C4-DFF0A315FC06}"/>
              </a:ext>
            </a:extLst>
          </p:cNvPr>
          <p:cNvSpPr>
            <a:spLocks xmlns:a="http://schemas.openxmlformats.org/drawingml/2006/main" noGrp="1"/>
          </p:cNvSpPr>
          <p:nvPr/>
        </p:nvSpPr>
        <p:spPr>
          <a:xfrm xmlns:a="http://schemas.openxmlformats.org/drawingml/2006/main">
            <a:off x="1123950" y="8858250"/>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25252A"/>
                </a:solidFill>
                <a:latin typeface="Noto Sans CJK TC"/>
                <a:ea typeface="Noto Sans CJK TC"/>
                <a:cs typeface="Noto Sans CJK TC"/>
              </a:defRPr>
            </a:pPr>
            <a:r>
              <a:rPr sz="1350" b="1" i="0">
                <a:solidFill>
                  <a:srgbClr val="25252A"/>
                </a:solidFill>
                <a:latin typeface="Noto Sans CJK TC"/>
                <a:ea typeface="Noto Sans CJK TC"/>
                <a:cs typeface="Noto Sans CJK TC"/>
              </a:rPr>
              <a:t>no fields changed  |  safe rollback</a:t>
            </a:r>
          </a:p>
        </p:txBody>
      </p:sp>
      <p:sp>
        <p:nvSpPr>
          <p:cNvPr id="26" name="">
            <a:extLst xmlns:a="http://schemas.openxmlformats.org/drawingml/2006/main">
              <a:ext uri="{FF2B5EF4-FFF2-40B4-BE49-F238E27FC236}">
                <a16:creationId xmlns:a16="http://schemas.microsoft.com/office/drawing/2014/main" id="{A7C9F3FE-3A03-476F-9610-D8E76D162989}"/>
              </a:ext>
            </a:extLst>
          </p:cNvPr>
          <p:cNvSpPr>
            <a:spLocks xmlns:a="http://schemas.openxmlformats.org/drawingml/2006/main" noGrp="1"/>
          </p:cNvSpPr>
          <p:nvPr/>
        </p:nvSpPr>
        <p:spPr>
          <a:xfrm xmlns:a="http://schemas.openxmlformats.org/drawingml/2006/main">
            <a:off x="7334250" y="8648700"/>
            <a:ext cx="0" cy="685800"/>
          </a:xfrm>
          <a:prstGeom xmlns:a="http://schemas.openxmlformats.org/drawingml/2006/main" prst="line">
            <a:avLst/>
          </a:prstGeom>
          <a:noFill xmlns:a="http://schemas.openxmlformats.org/drawingml/2006/main"/>
          <a:ln xmlns:a="http://schemas.openxmlformats.org/drawingml/2006/main" w="9525">
            <a:solidFill>
              <a:srgbClr val="B95160"/>
            </a:solidFill>
            <a:prstDash val="solid"/>
          </a:ln>
        </p:spPr>
      </p:sp>
      <p:sp>
        <p:nvSpPr>
          <p:cNvPr id="27" name="">
            <a:extLst xmlns:a="http://schemas.openxmlformats.org/drawingml/2006/main">
              <a:ext uri="{FF2B5EF4-FFF2-40B4-BE49-F238E27FC236}">
                <a16:creationId xmlns:a16="http://schemas.microsoft.com/office/drawing/2014/main" id="{47897A70-CB9D-4914-A4A0-EA0245CB8AF0}"/>
              </a:ext>
            </a:extLst>
          </p:cNvPr>
          <p:cNvSpPr>
            <a:spLocks xmlns:a="http://schemas.openxmlformats.org/drawingml/2006/main" noGrp="1"/>
          </p:cNvSpPr>
          <p:nvPr/>
        </p:nvSpPr>
        <p:spPr>
          <a:xfrm xmlns:a="http://schemas.openxmlformats.org/drawingml/2006/main">
            <a:off x="7667625" y="85915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B95160"/>
                </a:solidFill>
                <a:latin typeface="Noto Sans CJK TC"/>
                <a:ea typeface="Noto Sans CJK TC"/>
                <a:cs typeface="Noto Sans CJK TC"/>
              </a:defRPr>
            </a:pPr>
            <a:r>
              <a:rPr sz="975" b="1" i="0">
                <a:solidFill>
                  <a:srgbClr val="B95160"/>
                </a:solidFill>
                <a:latin typeface="Noto Sans CJK TC"/>
                <a:ea typeface="Noto Sans CJK TC"/>
                <a:cs typeface="Noto Sans CJK TC"/>
              </a:rPr>
              <a:t>人工判讀</a:t>
            </a:r>
          </a:p>
        </p:txBody>
      </p:sp>
      <p:sp>
        <p:nvSpPr>
          <p:cNvPr id="28" name="">
            <a:extLst xmlns:a="http://schemas.openxmlformats.org/drawingml/2006/main">
              <a:ext uri="{FF2B5EF4-FFF2-40B4-BE49-F238E27FC236}">
                <a16:creationId xmlns:a16="http://schemas.microsoft.com/office/drawing/2014/main" id="{69C21B09-933B-41B0-B6B6-058524838EE4}"/>
              </a:ext>
            </a:extLst>
          </p:cNvPr>
          <p:cNvSpPr>
            <a:spLocks xmlns:a="http://schemas.openxmlformats.org/drawingml/2006/main" noGrp="1"/>
          </p:cNvSpPr>
          <p:nvPr/>
        </p:nvSpPr>
        <p:spPr>
          <a:xfrm xmlns:a="http://schemas.openxmlformats.org/drawingml/2006/main">
            <a:off x="7667625" y="8858250"/>
            <a:ext cx="9382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Validator 成功擋下具體詞，但 retry prompt 沒讓 8B 模型抽象化規則。</a:t>
            </a:r>
          </a:p>
        </p:txBody>
      </p:sp>
    </p:spTree>
    <p:extLst>
      <p:ext uri="{BB962C8B-B14F-4D97-AF65-F5344CB8AC3E}">
        <p14:creationId xmlns:p14="http://schemas.microsoft.com/office/powerpoint/2010/main" val="820480003"/>
      </p:ext>
    </p:extLst>
  </p:cSld>
</p:sld>
</file>

<file path=ppt/slides/slide10.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CC30211-6E45-4DC9-8C8D-A31DF230EE31}"/>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
            <a:extLst xmlns:a="http://schemas.openxmlformats.org/drawingml/2006/main">
              <a:ext uri="{FF2B5EF4-FFF2-40B4-BE49-F238E27FC236}">
                <a16:creationId xmlns:a16="http://schemas.microsoft.com/office/drawing/2014/main" id="{5BDFA0E2-DD91-4B2C-A2EB-F956DBFB533D}"/>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
            <a:extLst xmlns:a="http://schemas.openxmlformats.org/drawingml/2006/main">
              <a:ext uri="{FF2B5EF4-FFF2-40B4-BE49-F238E27FC236}">
                <a16:creationId xmlns:a16="http://schemas.microsoft.com/office/drawing/2014/main" id="{216016D2-550B-416D-8ECF-5E21E8DB6C60}"/>
              </a:ext>
            </a:extLst>
          </p:cNvPr>
          <p:cNvSpPr>
            <a:spLocks xmlns:a="http://schemas.openxmlformats.org/drawingml/2006/main" noGrp="1"/>
          </p:cNvSpPr>
          <p:nvPr/>
        </p:nvSpPr>
        <p:spPr>
          <a:xfrm xmlns:a="http://schemas.openxmlformats.org/drawingml/2006/main">
            <a:off x="9010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4" name="">
            <a:extLst xmlns:a="http://schemas.openxmlformats.org/drawingml/2006/main">
              <a:ext uri="{FF2B5EF4-FFF2-40B4-BE49-F238E27FC236}">
                <a16:creationId xmlns:a16="http://schemas.microsoft.com/office/drawing/2014/main" id="{57263CE4-C045-494D-90E2-DDCFE4A61EA1}"/>
              </a:ext>
            </a:extLst>
          </p:cNvPr>
          <p:cNvSpPr>
            <a:spLocks xmlns:a="http://schemas.openxmlformats.org/drawingml/2006/main" noGrp="1"/>
          </p:cNvSpPr>
          <p:nvPr/>
        </p:nvSpPr>
        <p:spPr>
          <a:xfrm xmlns:a="http://schemas.openxmlformats.org/drawingml/2006/main">
            <a:off x="92011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5" name="">
            <a:extLst xmlns:a="http://schemas.openxmlformats.org/drawingml/2006/main">
              <a:ext uri="{FF2B5EF4-FFF2-40B4-BE49-F238E27FC236}">
                <a16:creationId xmlns:a16="http://schemas.microsoft.com/office/drawing/2014/main" id="{8F69349D-C4D4-4053-B6AA-EA2DB4DE4DBC}"/>
              </a:ext>
            </a:extLst>
          </p:cNvPr>
          <p:cNvSpPr>
            <a:spLocks xmlns:a="http://schemas.openxmlformats.org/drawingml/2006/main" noGrp="1"/>
          </p:cNvSpPr>
          <p:nvPr/>
        </p:nvSpPr>
        <p:spPr>
          <a:xfrm xmlns:a="http://schemas.openxmlformats.org/drawingml/2006/main">
            <a:off x="9391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6" name="">
            <a:extLst xmlns:a="http://schemas.openxmlformats.org/drawingml/2006/main">
              <a:ext uri="{FF2B5EF4-FFF2-40B4-BE49-F238E27FC236}">
                <a16:creationId xmlns:a16="http://schemas.microsoft.com/office/drawing/2014/main" id="{DE97AF5E-7B82-455F-8076-A44D3ACC6A34}"/>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7" name="badge-10">
            <a:extLst xmlns:a="http://schemas.openxmlformats.org/drawingml/2006/main">
              <a:ext uri="{FF2B5EF4-FFF2-40B4-BE49-F238E27FC236}">
                <a16:creationId xmlns:a16="http://schemas.microsoft.com/office/drawing/2014/main" id="{E79FD630-2FEC-4852-AB22-7DE583D71C1C}"/>
              </a:ext>
            </a:extLst>
          </p:cNvPr>
          <p:cNvSpPr>
            <a:spLocks xmlns:a="http://schemas.openxmlformats.org/drawingml/2006/main" noGrp="1"/>
          </p:cNvSpPr>
          <p:nvPr/>
        </p:nvSpPr>
        <p:spPr>
          <a:xfrm xmlns:a="http://schemas.openxmlformats.org/drawingml/2006/main">
            <a:off x="685800" y="590550"/>
            <a:ext cx="476250" cy="476250"/>
          </a:xfrm>
          <a:prstGeom xmlns:a="http://schemas.openxmlformats.org/drawingml/2006/main" prst="ellipse">
            <a:avLst/>
          </a:prstGeom>
          <a:solidFill xmlns:a="http://schemas.openxmlformats.org/drawingml/2006/main">
            <a:srgbClr val="E36B78"/>
          </a:solidFill>
          <a:ln xmlns:a="http://schemas.openxmlformats.org/drawingml/2006/main" w="0">
            <a:solidFill>
              <a:srgbClr val="E36B78"/>
            </a:solidFill>
          </a:ln>
        </p:spPr>
        <p:txBody>
          <a:bodyPr xmlns:a="http://schemas.openxmlformats.org/drawingml/2006/main" anchor="ctr">
            <a:normAutofit fontScale="71436"/>
          </a:bodyPr>
          <a:lstStyle xmlns:a="http://schemas.openxmlformats.org/drawingml/2006/main"/>
          <a:p xmlns:a="http://schemas.openxmlformats.org/drawingml/2006/main">
            <a:pPr algn="ctr">
              <a:defRPr sz="1350" b="1">
                <a:solidFill>
                  <a:srgbClr val="FFFFFF"/>
                </a:solidFill>
                <a:latin typeface="Noto Sans CJK TC"/>
                <a:ea typeface="Noto Sans CJK TC"/>
                <a:cs typeface="Noto Sans CJK TC"/>
              </a:defRPr>
            </a:pPr>
            <a:r>
              <a:rPr sz="1350" b="1">
                <a:solidFill>
                  <a:srgbClr val="FFFFFF"/>
                </a:solidFill>
                <a:latin typeface="Noto Sans CJK TC"/>
                <a:ea typeface="Noto Sans CJK TC"/>
                <a:cs typeface="Noto Sans CJK TC"/>
              </a:rPr>
              <a:t>C3</a:t>
            </a:r>
          </a:p>
        </p:txBody>
      </p:sp>
      <p:sp>
        <p:nvSpPr>
          <p:cNvPr id="8" name="">
            <a:extLst xmlns:a="http://schemas.openxmlformats.org/drawingml/2006/main">
              <a:ext uri="{FF2B5EF4-FFF2-40B4-BE49-F238E27FC236}">
                <a16:creationId xmlns:a16="http://schemas.microsoft.com/office/drawing/2014/main" id="{034B3C2F-0105-4061-80D7-436459A6EEE0}"/>
              </a:ext>
            </a:extLst>
          </p:cNvPr>
          <p:cNvSpPr>
            <a:spLocks xmlns:a="http://schemas.openxmlformats.org/drawingml/2006/main" noGrp="1"/>
          </p:cNvSpPr>
          <p:nvPr/>
        </p:nvSpPr>
        <p:spPr>
          <a:xfrm xmlns:a="http://schemas.openxmlformats.org/drawingml/2006/main">
            <a:off x="1314450" y="523875"/>
            <a:ext cx="1276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225" b="1" i="0">
                <a:solidFill>
                  <a:srgbClr val="431218"/>
                </a:solidFill>
                <a:latin typeface="Noto Serif CJK TC"/>
                <a:ea typeface="Noto Serif CJK TC"/>
                <a:cs typeface="Noto Serif CJK TC"/>
              </a:defRPr>
            </a:pPr>
            <a:r>
              <a:rPr sz="3225" b="1" i="0">
                <a:solidFill>
                  <a:srgbClr val="431218"/>
                </a:solidFill>
                <a:latin typeface="Noto Serif CJK TC"/>
                <a:ea typeface="Noto Serif CJK TC"/>
                <a:cs typeface="Noto Serif CJK TC"/>
              </a:rPr>
              <a:t>Code 3  |  API symbol 在三次 retry 後仍未移除</a:t>
            </a:r>
          </a:p>
        </p:txBody>
      </p:sp>
      <p:sp>
        <p:nvSpPr>
          <p:cNvPr id="9" name="">
            <a:extLst xmlns:a="http://schemas.openxmlformats.org/drawingml/2006/main">
              <a:ext uri="{FF2B5EF4-FFF2-40B4-BE49-F238E27FC236}">
                <a16:creationId xmlns:a16="http://schemas.microsoft.com/office/drawing/2014/main" id="{114464B4-F2AA-44FE-9974-52ADEF13FCE1}"/>
              </a:ext>
            </a:extLst>
          </p:cNvPr>
          <p:cNvSpPr>
            <a:spLocks xmlns:a="http://schemas.openxmlformats.org/drawingml/2006/main" noGrp="1"/>
          </p:cNvSpPr>
          <p:nvPr/>
        </p:nvSpPr>
        <p:spPr>
          <a:xfrm xmlns:a="http://schemas.openxmlformats.org/drawingml/2006/main">
            <a:off x="1333500" y="1143000"/>
            <a:ext cx="1381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失敗模式與 C2 相同，但禁用詞換成 commandTrain</a:t>
            </a:r>
          </a:p>
        </p:txBody>
      </p:sp>
      <p:sp>
        <p:nvSpPr>
          <p:cNvPr id="10" name="">
            <a:extLst xmlns:a="http://schemas.openxmlformats.org/drawingml/2006/main">
              <a:ext uri="{FF2B5EF4-FFF2-40B4-BE49-F238E27FC236}">
                <a16:creationId xmlns:a16="http://schemas.microsoft.com/office/drawing/2014/main" id="{A858942F-97FC-4DB1-A39E-C0CF808B8848}"/>
              </a:ext>
            </a:extLst>
          </p:cNvPr>
          <p:cNvSpPr>
            <a:spLocks xmlns:a="http://schemas.openxmlformats.org/drawingml/2006/main" noGrp="1"/>
          </p:cNvSpPr>
          <p:nvPr/>
        </p:nvSpPr>
        <p:spPr>
          <a:xfrm xmlns:a="http://schemas.openxmlformats.org/drawingml/2006/main">
            <a:off x="14287500" y="6286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1200" b="1" i="0">
                <a:solidFill>
                  <a:srgbClr val="B95160"/>
                </a:solidFill>
                <a:latin typeface="Noto Sans CJK TC"/>
                <a:ea typeface="Noto Sans CJK TC"/>
                <a:cs typeface="Noto Sans CJK TC"/>
              </a:defRPr>
            </a:pPr>
            <a:r>
              <a:rPr sz="1200" b="1" i="0">
                <a:solidFill>
                  <a:srgbClr val="B95160"/>
                </a:solidFill>
                <a:latin typeface="Noto Sans CJK TC"/>
                <a:ea typeface="Noto Sans CJK TC"/>
                <a:cs typeface="Noto Sans CJK TC"/>
              </a:rPr>
              <a:t>FAILED  ·  reflection 1  ·  rewrites 3</a:t>
            </a:r>
          </a:p>
        </p:txBody>
      </p:sp>
      <p:sp>
        <p:nvSpPr>
          <p:cNvPr id="11" name="">
            <a:extLst xmlns:a="http://schemas.openxmlformats.org/drawingml/2006/main">
              <a:ext uri="{FF2B5EF4-FFF2-40B4-BE49-F238E27FC236}">
                <a16:creationId xmlns:a16="http://schemas.microsoft.com/office/drawing/2014/main" id="{4763A87B-1637-4DB8-808A-4C7ADDA4B309}"/>
              </a:ext>
            </a:extLst>
          </p:cNvPr>
          <p:cNvSpPr>
            <a:spLocks xmlns:a="http://schemas.openxmlformats.org/drawingml/2006/main" noGrp="1"/>
          </p:cNvSpPr>
          <p:nvPr/>
        </p:nvSpPr>
        <p:spPr>
          <a:xfrm xmlns:a="http://schemas.openxmlformats.org/drawingml/2006/main">
            <a:off x="16764000" y="9829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06A"/>
                </a:solidFill>
                <a:latin typeface="Noto Sans CJK TC"/>
                <a:ea typeface="Noto Sans CJK TC"/>
                <a:cs typeface="Noto Sans CJK TC"/>
              </a:defRPr>
            </a:pPr>
            <a:r>
              <a:rPr sz="900" b="0" i="0">
                <a:solidFill>
                  <a:srgbClr val="62606A"/>
                </a:solidFill>
                <a:latin typeface="Noto Sans CJK TC"/>
                <a:ea typeface="Noto Sans CJK TC"/>
                <a:cs typeface="Noto Sans CJK TC"/>
              </a:rPr>
              <a:t>10 / 14</a:t>
            </a:r>
          </a:p>
        </p:txBody>
      </p:sp>
      <p:sp>
        <p:nvSpPr>
          <p:cNvPr id="12" name="">
            <a:extLst xmlns:a="http://schemas.openxmlformats.org/drawingml/2006/main">
              <a:ext uri="{FF2B5EF4-FFF2-40B4-BE49-F238E27FC236}">
                <a16:creationId xmlns:a16="http://schemas.microsoft.com/office/drawing/2014/main" id="{E5038FB1-C20B-488B-B411-04E38173E43D}"/>
              </a:ext>
            </a:extLst>
          </p:cNvPr>
          <p:cNvSpPr>
            <a:spLocks xmlns:a="http://schemas.openxmlformats.org/drawingml/2006/main" noGrp="1"/>
          </p:cNvSpPr>
          <p:nvPr/>
        </p:nvSpPr>
        <p:spPr>
          <a:xfrm xmlns:a="http://schemas.openxmlformats.org/drawingml/2006/main">
            <a:off x="5638800" y="1924050"/>
            <a:ext cx="0" cy="621030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3" name="">
            <a:extLst xmlns:a="http://schemas.openxmlformats.org/drawingml/2006/main">
              <a:ext uri="{FF2B5EF4-FFF2-40B4-BE49-F238E27FC236}">
                <a16:creationId xmlns:a16="http://schemas.microsoft.com/office/drawing/2014/main" id="{9F25D254-5317-4309-A60F-5F9F517DBE2B}"/>
              </a:ext>
            </a:extLst>
          </p:cNvPr>
          <p:cNvSpPr>
            <a:spLocks xmlns:a="http://schemas.openxmlformats.org/drawingml/2006/main" noGrp="1"/>
          </p:cNvSpPr>
          <p:nvPr/>
        </p:nvSpPr>
        <p:spPr>
          <a:xfrm xmlns:a="http://schemas.openxmlformats.org/drawingml/2006/main">
            <a:off x="11353800" y="1924050"/>
            <a:ext cx="0" cy="621030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4" name="">
            <a:extLst xmlns:a="http://schemas.openxmlformats.org/drawingml/2006/main">
              <a:ext uri="{FF2B5EF4-FFF2-40B4-BE49-F238E27FC236}">
                <a16:creationId xmlns:a16="http://schemas.microsoft.com/office/drawing/2014/main" id="{E4360660-CA60-4849-BFBB-2EDDC8062F6C}"/>
              </a:ext>
            </a:extLst>
          </p:cNvPr>
          <p:cNvSpPr>
            <a:spLocks xmlns:a="http://schemas.openxmlformats.org/drawingml/2006/main" noGrp="1"/>
          </p:cNvSpPr>
          <p:nvPr/>
        </p:nvSpPr>
        <p:spPr>
          <a:xfrm xmlns:a="http://schemas.openxmlformats.org/drawingml/2006/main">
            <a:off x="857250" y="16573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原始 Policy 與 prompt</a:t>
            </a:r>
          </a:p>
        </p:txBody>
      </p:sp>
      <p:sp>
        <p:nvSpPr>
          <p:cNvPr id="15" name="">
            <a:extLst xmlns:a="http://schemas.openxmlformats.org/drawingml/2006/main">
              <a:ext uri="{FF2B5EF4-FFF2-40B4-BE49-F238E27FC236}">
                <a16:creationId xmlns:a16="http://schemas.microsoft.com/office/drawing/2014/main" id="{9301DC15-C89A-42F0-8AF2-FA8B5821223E}"/>
              </a:ext>
            </a:extLst>
          </p:cNvPr>
          <p:cNvSpPr>
            <a:spLocks xmlns:a="http://schemas.openxmlformats.org/drawingml/2006/main" noGrp="1"/>
          </p:cNvSpPr>
          <p:nvPr/>
        </p:nvSpPr>
        <p:spPr>
          <a:xfrm xmlns:a="http://schemas.openxmlformats.org/drawingml/2006/main">
            <a:off x="857250" y="2019300"/>
            <a:ext cx="44767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6" name="">
            <a:extLst xmlns:a="http://schemas.openxmlformats.org/drawingml/2006/main">
              <a:ext uri="{FF2B5EF4-FFF2-40B4-BE49-F238E27FC236}">
                <a16:creationId xmlns:a16="http://schemas.microsoft.com/office/drawing/2014/main" id="{F48F8AE9-8C54-4434-A46B-D4B6939308AA}"/>
              </a:ext>
            </a:extLst>
          </p:cNvPr>
          <p:cNvSpPr>
            <a:spLocks xmlns:a="http://schemas.openxmlformats.org/drawingml/2006/main" noGrp="1"/>
          </p:cNvSpPr>
          <p:nvPr/>
        </p:nvSpPr>
        <p:spPr>
          <a:xfrm xmlns:a="http://schemas.openxmlformats.org/drawingml/2006/main">
            <a:off x="5924550" y="16573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送進 Reflection 的內容</a:t>
            </a:r>
          </a:p>
        </p:txBody>
      </p:sp>
      <p:sp>
        <p:nvSpPr>
          <p:cNvPr id="17" name="">
            <a:extLst xmlns:a="http://schemas.openxmlformats.org/drawingml/2006/main">
              <a:ext uri="{FF2B5EF4-FFF2-40B4-BE49-F238E27FC236}">
                <a16:creationId xmlns:a16="http://schemas.microsoft.com/office/drawing/2014/main" id="{4A712A7C-7157-4A6B-9610-90FBE4B3E5D9}"/>
              </a:ext>
            </a:extLst>
          </p:cNvPr>
          <p:cNvSpPr>
            <a:spLocks xmlns:a="http://schemas.openxmlformats.org/drawingml/2006/main" noGrp="1"/>
          </p:cNvSpPr>
          <p:nvPr/>
        </p:nvSpPr>
        <p:spPr>
          <a:xfrm xmlns:a="http://schemas.openxmlformats.org/drawingml/2006/main">
            <a:off x="5924550" y="2019300"/>
            <a:ext cx="51435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8" name="">
            <a:extLst xmlns:a="http://schemas.openxmlformats.org/drawingml/2006/main">
              <a:ext uri="{FF2B5EF4-FFF2-40B4-BE49-F238E27FC236}">
                <a16:creationId xmlns:a16="http://schemas.microsoft.com/office/drawing/2014/main" id="{48F59BB7-284F-42B3-8FDD-3279C3D3E089}"/>
              </a:ext>
            </a:extLst>
          </p:cNvPr>
          <p:cNvSpPr>
            <a:spLocks xmlns:a="http://schemas.openxmlformats.org/drawingml/2006/main" noGrp="1"/>
          </p:cNvSpPr>
          <p:nvPr/>
        </p:nvSpPr>
        <p:spPr>
          <a:xfrm xmlns:a="http://schemas.openxmlformats.org/drawingml/2006/main">
            <a:off x="11639550" y="165735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Reflection 後</a:t>
            </a:r>
          </a:p>
        </p:txBody>
      </p:sp>
      <p:sp>
        <p:nvSpPr>
          <p:cNvPr id="19" name="">
            <a:extLst xmlns:a="http://schemas.openxmlformats.org/drawingml/2006/main">
              <a:ext uri="{FF2B5EF4-FFF2-40B4-BE49-F238E27FC236}">
                <a16:creationId xmlns:a16="http://schemas.microsoft.com/office/drawing/2014/main" id="{C2DE23C3-284F-4593-8F82-4D3F0D304F6C}"/>
              </a:ext>
            </a:extLst>
          </p:cNvPr>
          <p:cNvSpPr>
            <a:spLocks xmlns:a="http://schemas.openxmlformats.org/drawingml/2006/main" noGrp="1"/>
          </p:cNvSpPr>
          <p:nvPr/>
        </p:nvSpPr>
        <p:spPr>
          <a:xfrm xmlns:a="http://schemas.openxmlformats.org/drawingml/2006/main">
            <a:off x="11639550" y="2019300"/>
            <a:ext cx="58102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20" name="">
            <a:extLst xmlns:a="http://schemas.openxmlformats.org/drawingml/2006/main">
              <a:ext uri="{FF2B5EF4-FFF2-40B4-BE49-F238E27FC236}">
                <a16:creationId xmlns:a16="http://schemas.microsoft.com/office/drawing/2014/main" id="{B54AB78D-ACF1-4208-BA99-5817378AD76B}"/>
              </a:ext>
            </a:extLst>
          </p:cNvPr>
          <p:cNvSpPr>
            <a:spLocks xmlns:a="http://schemas.openxmlformats.org/drawingml/2006/main" noGrp="1"/>
          </p:cNvSpPr>
          <p:nvPr/>
        </p:nvSpPr>
        <p:spPr>
          <a:xfrm xmlns:a="http://schemas.openxmlformats.org/drawingml/2006/main">
            <a:off x="857250" y="2190750"/>
            <a:ext cx="447675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Use a continuous Worker-rush policy.</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原 generation prompt 與 C1、C2 完全相同。</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每次 trial 都從同一 genotype 開始，沒有承接前一次新增 rule。</a:t>
            </a:r>
          </a:p>
        </p:txBody>
      </p:sp>
      <p:sp>
        <p:nvSpPr>
          <p:cNvPr id="21" name="">
            <a:extLst xmlns:a="http://schemas.openxmlformats.org/drawingml/2006/main">
              <a:ext uri="{FF2B5EF4-FFF2-40B4-BE49-F238E27FC236}">
                <a16:creationId xmlns:a16="http://schemas.microsoft.com/office/drawing/2014/main" id="{A52058D9-821F-428A-AF65-905F267DBCE9}"/>
              </a:ext>
            </a:extLst>
          </p:cNvPr>
          <p:cNvSpPr>
            <a:spLocks xmlns:a="http://schemas.openxmlformats.org/drawingml/2006/main" noGrp="1"/>
          </p:cNvSpPr>
          <p:nvPr/>
        </p:nvSpPr>
        <p:spPr>
          <a:xfrm xmlns:a="http://schemas.openxmlformats.org/drawingml/2006/main">
            <a:off x="5924550" y="2190750"/>
            <a:ext cx="514350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Reflector 仍把以下行為判為缺失：</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禁止非 Worker production</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每個 Base 的 continuous production</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harvester return to Base</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enemy Base priority</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no-target movement</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最後一次 rewrite response：</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“Validate producer units and unit types via allowed API helpers before issuing any commandTrain or commandBuild calls.”</a:t>
            </a:r>
          </a:p>
        </p:txBody>
      </p:sp>
      <p:sp>
        <p:nvSpPr>
          <p:cNvPr id="22" name="">
            <a:extLst xmlns:a="http://schemas.openxmlformats.org/drawingml/2006/main">
              <a:ext uri="{FF2B5EF4-FFF2-40B4-BE49-F238E27FC236}">
                <a16:creationId xmlns:a16="http://schemas.microsoft.com/office/drawing/2014/main" id="{03E46303-0187-4F52-A459-16D810CB7015}"/>
              </a:ext>
            </a:extLst>
          </p:cNvPr>
          <p:cNvSpPr>
            <a:spLocks xmlns:a="http://schemas.openxmlformats.org/drawingml/2006/main" noGrp="1"/>
          </p:cNvSpPr>
          <p:nvPr/>
        </p:nvSpPr>
        <p:spPr>
          <a:xfrm xmlns:a="http://schemas.openxmlformats.org/drawingml/2006/main">
            <a:off x="11639550" y="2190750"/>
            <a:ext cx="581025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最終 validation error</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Reusable generation rules must remain policy-agnostic and may not name Java/API symbols.</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Rejected term: “commandTrain”</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結果</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mutation_status = failed</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三個 genotype 欄位全未變</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inherited Java hash 保持一致</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retry 回應仍直接複製 API 名稱，沒有完成抽象化。</a:t>
            </a:r>
          </a:p>
        </p:txBody>
      </p:sp>
      <p:sp>
        <p:nvSpPr>
          <p:cNvPr id="23" name="audit-strip">
            <a:extLst xmlns:a="http://schemas.openxmlformats.org/drawingml/2006/main">
              <a:ext uri="{FF2B5EF4-FFF2-40B4-BE49-F238E27FC236}">
                <a16:creationId xmlns:a16="http://schemas.microsoft.com/office/drawing/2014/main" id="{289908C1-53D9-4135-B4A5-DC6D649F9775}"/>
              </a:ext>
            </a:extLst>
          </p:cNvPr>
          <p:cNvSpPr>
            <a:spLocks xmlns:a="http://schemas.openxmlformats.org/drawingml/2006/main" noGrp="1"/>
          </p:cNvSpPr>
          <p:nvPr/>
        </p:nvSpPr>
        <p:spPr>
          <a:xfrm xmlns:a="http://schemas.openxmlformats.org/drawingml/2006/main">
            <a:off x="857250" y="8420100"/>
            <a:ext cx="16573500" cy="1123950"/>
          </a:xfrm>
          <a:prstGeom xmlns:a="http://schemas.openxmlformats.org/drawingml/2006/main" prst="roundRect">
            <a:avLst>
              <a:gd name="adj" fmla="val 6780"/>
            </a:avLst>
          </a:prstGeom>
          <a:solidFill xmlns:a="http://schemas.openxmlformats.org/drawingml/2006/main">
            <a:srgbClr val="F8D8D8"/>
          </a:solidFill>
          <a:ln xmlns:a="http://schemas.openxmlformats.org/drawingml/2006/main" w="9525">
            <a:solidFill>
              <a:srgbClr val="B95160"/>
            </a:solidFill>
            <a:prstDash val="solid"/>
          </a:ln>
        </p:spPr>
      </p:sp>
      <p:sp>
        <p:nvSpPr>
          <p:cNvPr id="24" name="">
            <a:extLst xmlns:a="http://schemas.openxmlformats.org/drawingml/2006/main">
              <a:ext uri="{FF2B5EF4-FFF2-40B4-BE49-F238E27FC236}">
                <a16:creationId xmlns:a16="http://schemas.microsoft.com/office/drawing/2014/main" id="{112FEED5-E71A-47F7-852A-13228FF651F3}"/>
              </a:ext>
            </a:extLst>
          </p:cNvPr>
          <p:cNvSpPr>
            <a:spLocks xmlns:a="http://schemas.openxmlformats.org/drawingml/2006/main" noGrp="1"/>
          </p:cNvSpPr>
          <p:nvPr/>
        </p:nvSpPr>
        <p:spPr>
          <a:xfrm xmlns:a="http://schemas.openxmlformats.org/drawingml/2006/main">
            <a:off x="1123950" y="85915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B95160"/>
                </a:solidFill>
                <a:latin typeface="Noto Sans CJK TC"/>
                <a:ea typeface="Noto Sans CJK TC"/>
                <a:cs typeface="Noto Sans CJK TC"/>
              </a:defRPr>
            </a:pPr>
            <a:r>
              <a:rPr sz="975" b="1" i="0">
                <a:solidFill>
                  <a:srgbClr val="B95160"/>
                </a:solidFill>
                <a:latin typeface="Noto Sans CJK TC"/>
                <a:ea typeface="Noto Sans CJK TC"/>
                <a:cs typeface="Noto Sans CJK TC"/>
              </a:rPr>
              <a:t>GEN SCOPE</a:t>
            </a:r>
          </a:p>
        </p:txBody>
      </p:sp>
      <p:sp>
        <p:nvSpPr>
          <p:cNvPr id="25" name="">
            <a:extLst xmlns:a="http://schemas.openxmlformats.org/drawingml/2006/main">
              <a:ext uri="{FF2B5EF4-FFF2-40B4-BE49-F238E27FC236}">
                <a16:creationId xmlns:a16="http://schemas.microsoft.com/office/drawing/2014/main" id="{6B51FD7C-DFC9-4AE3-946B-3FB62949D7AE}"/>
              </a:ext>
            </a:extLst>
          </p:cNvPr>
          <p:cNvSpPr>
            <a:spLocks xmlns:a="http://schemas.openxmlformats.org/drawingml/2006/main" noGrp="1"/>
          </p:cNvSpPr>
          <p:nvPr/>
        </p:nvSpPr>
        <p:spPr>
          <a:xfrm xmlns:a="http://schemas.openxmlformats.org/drawingml/2006/main">
            <a:off x="1123950" y="8858250"/>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25252A"/>
                </a:solidFill>
                <a:latin typeface="Noto Sans CJK TC"/>
                <a:ea typeface="Noto Sans CJK TC"/>
                <a:cs typeface="Noto Sans CJK TC"/>
              </a:defRPr>
            </a:pPr>
            <a:r>
              <a:rPr sz="1350" b="1" i="0">
                <a:solidFill>
                  <a:srgbClr val="25252A"/>
                </a:solidFill>
                <a:latin typeface="Noto Sans CJK TC"/>
                <a:ea typeface="Noto Sans CJK TC"/>
                <a:cs typeface="Noto Sans CJK TC"/>
              </a:rPr>
              <a:t>no fields changed  |  safe rollback</a:t>
            </a:r>
          </a:p>
        </p:txBody>
      </p:sp>
      <p:sp>
        <p:nvSpPr>
          <p:cNvPr id="26" name="">
            <a:extLst xmlns:a="http://schemas.openxmlformats.org/drawingml/2006/main">
              <a:ext uri="{FF2B5EF4-FFF2-40B4-BE49-F238E27FC236}">
                <a16:creationId xmlns:a16="http://schemas.microsoft.com/office/drawing/2014/main" id="{AB4E379A-5143-4AB3-9EA8-8206C819DEEF}"/>
              </a:ext>
            </a:extLst>
          </p:cNvPr>
          <p:cNvSpPr>
            <a:spLocks xmlns:a="http://schemas.openxmlformats.org/drawingml/2006/main" noGrp="1"/>
          </p:cNvSpPr>
          <p:nvPr/>
        </p:nvSpPr>
        <p:spPr>
          <a:xfrm xmlns:a="http://schemas.openxmlformats.org/drawingml/2006/main">
            <a:off x="7334250" y="8648700"/>
            <a:ext cx="0" cy="685800"/>
          </a:xfrm>
          <a:prstGeom xmlns:a="http://schemas.openxmlformats.org/drawingml/2006/main" prst="line">
            <a:avLst/>
          </a:prstGeom>
          <a:noFill xmlns:a="http://schemas.openxmlformats.org/drawingml/2006/main"/>
          <a:ln xmlns:a="http://schemas.openxmlformats.org/drawingml/2006/main" w="9525">
            <a:solidFill>
              <a:srgbClr val="B95160"/>
            </a:solidFill>
            <a:prstDash val="solid"/>
          </a:ln>
        </p:spPr>
      </p:sp>
      <p:sp>
        <p:nvSpPr>
          <p:cNvPr id="27" name="">
            <a:extLst xmlns:a="http://schemas.openxmlformats.org/drawingml/2006/main">
              <a:ext uri="{FF2B5EF4-FFF2-40B4-BE49-F238E27FC236}">
                <a16:creationId xmlns:a16="http://schemas.microsoft.com/office/drawing/2014/main" id="{3F191355-1CC1-40A0-AF3C-768D77AC0AED}"/>
              </a:ext>
            </a:extLst>
          </p:cNvPr>
          <p:cNvSpPr>
            <a:spLocks xmlns:a="http://schemas.openxmlformats.org/drawingml/2006/main" noGrp="1"/>
          </p:cNvSpPr>
          <p:nvPr/>
        </p:nvSpPr>
        <p:spPr>
          <a:xfrm xmlns:a="http://schemas.openxmlformats.org/drawingml/2006/main">
            <a:off x="7667625" y="85915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B95160"/>
                </a:solidFill>
                <a:latin typeface="Noto Sans CJK TC"/>
                <a:ea typeface="Noto Sans CJK TC"/>
                <a:cs typeface="Noto Sans CJK TC"/>
              </a:defRPr>
            </a:pPr>
            <a:r>
              <a:rPr sz="975" b="1" i="0">
                <a:solidFill>
                  <a:srgbClr val="B95160"/>
                </a:solidFill>
                <a:latin typeface="Noto Sans CJK TC"/>
                <a:ea typeface="Noto Sans CJK TC"/>
                <a:cs typeface="Noto Sans CJK TC"/>
              </a:rPr>
              <a:t>人工判讀</a:t>
            </a:r>
          </a:p>
        </p:txBody>
      </p:sp>
      <p:sp>
        <p:nvSpPr>
          <p:cNvPr id="28" name="">
            <a:extLst xmlns:a="http://schemas.openxmlformats.org/drawingml/2006/main">
              <a:ext uri="{FF2B5EF4-FFF2-40B4-BE49-F238E27FC236}">
                <a16:creationId xmlns:a16="http://schemas.microsoft.com/office/drawing/2014/main" id="{86DE3D8E-6228-462F-81B0-CA23DF25762F}"/>
              </a:ext>
            </a:extLst>
          </p:cNvPr>
          <p:cNvSpPr>
            <a:spLocks xmlns:a="http://schemas.openxmlformats.org/drawingml/2006/main" noGrp="1"/>
          </p:cNvSpPr>
          <p:nvPr/>
        </p:nvSpPr>
        <p:spPr>
          <a:xfrm xmlns:a="http://schemas.openxmlformats.org/drawingml/2006/main">
            <a:off x="7667625" y="8858250"/>
            <a:ext cx="9382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主要問題位於 prompt compliance 與 Code Reflector 的錯誤診斷。</a:t>
            </a:r>
          </a:p>
        </p:txBody>
      </p:sp>
    </p:spTree>
    <p:extLst>
      <p:ext uri="{BB962C8B-B14F-4D97-AF65-F5344CB8AC3E}">
        <p14:creationId xmlns:p14="http://schemas.microsoft.com/office/powerpoint/2010/main" val="2041110442"/>
      </p:ext>
    </p:extLst>
  </p:cSld>
</p:sld>
</file>

<file path=ppt/slides/slide11.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F1A7974-2519-43C4-B6F2-D7763CE8615F}"/>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
            <a:extLst xmlns:a="http://schemas.openxmlformats.org/drawingml/2006/main">
              <a:ext uri="{FF2B5EF4-FFF2-40B4-BE49-F238E27FC236}">
                <a16:creationId xmlns:a16="http://schemas.microsoft.com/office/drawing/2014/main" id="{00155042-BF5E-4E1D-8D2F-443BD3A1CD74}"/>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
            <a:extLst xmlns:a="http://schemas.openxmlformats.org/drawingml/2006/main">
              <a:ext uri="{FF2B5EF4-FFF2-40B4-BE49-F238E27FC236}">
                <a16:creationId xmlns:a16="http://schemas.microsoft.com/office/drawing/2014/main" id="{B462E6F7-F7F6-40C0-A166-739D3462A0E9}"/>
              </a:ext>
            </a:extLst>
          </p:cNvPr>
          <p:cNvSpPr>
            <a:spLocks xmlns:a="http://schemas.openxmlformats.org/drawingml/2006/main" noGrp="1"/>
          </p:cNvSpPr>
          <p:nvPr/>
        </p:nvSpPr>
        <p:spPr>
          <a:xfrm xmlns:a="http://schemas.openxmlformats.org/drawingml/2006/main">
            <a:off x="9010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4" name="">
            <a:extLst xmlns:a="http://schemas.openxmlformats.org/drawingml/2006/main">
              <a:ext uri="{FF2B5EF4-FFF2-40B4-BE49-F238E27FC236}">
                <a16:creationId xmlns:a16="http://schemas.microsoft.com/office/drawing/2014/main" id="{2EA2990D-2941-441F-9D46-7BA1DA4F5C80}"/>
              </a:ext>
            </a:extLst>
          </p:cNvPr>
          <p:cNvSpPr>
            <a:spLocks xmlns:a="http://schemas.openxmlformats.org/drawingml/2006/main" noGrp="1"/>
          </p:cNvSpPr>
          <p:nvPr/>
        </p:nvSpPr>
        <p:spPr>
          <a:xfrm xmlns:a="http://schemas.openxmlformats.org/drawingml/2006/main">
            <a:off x="92011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5" name="">
            <a:extLst xmlns:a="http://schemas.openxmlformats.org/drawingml/2006/main">
              <a:ext uri="{FF2B5EF4-FFF2-40B4-BE49-F238E27FC236}">
                <a16:creationId xmlns:a16="http://schemas.microsoft.com/office/drawing/2014/main" id="{265C3305-0844-44B5-A177-AF03F09CD09A}"/>
              </a:ext>
            </a:extLst>
          </p:cNvPr>
          <p:cNvSpPr>
            <a:spLocks xmlns:a="http://schemas.openxmlformats.org/drawingml/2006/main" noGrp="1"/>
          </p:cNvSpPr>
          <p:nvPr/>
        </p:nvSpPr>
        <p:spPr>
          <a:xfrm xmlns:a="http://schemas.openxmlformats.org/drawingml/2006/main">
            <a:off x="9391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6" name="">
            <a:extLst xmlns:a="http://schemas.openxmlformats.org/drawingml/2006/main">
              <a:ext uri="{FF2B5EF4-FFF2-40B4-BE49-F238E27FC236}">
                <a16:creationId xmlns:a16="http://schemas.microsoft.com/office/drawing/2014/main" id="{A5A4977F-9DB4-4FA9-A041-26EBBD6E5166}"/>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7" name="badge-11">
            <a:extLst xmlns:a="http://schemas.openxmlformats.org/drawingml/2006/main">
              <a:ext uri="{FF2B5EF4-FFF2-40B4-BE49-F238E27FC236}">
                <a16:creationId xmlns:a16="http://schemas.microsoft.com/office/drawing/2014/main" id="{D1810E92-AF71-409D-A12B-59FFBF58E3CD}"/>
              </a:ext>
            </a:extLst>
          </p:cNvPr>
          <p:cNvSpPr>
            <a:spLocks xmlns:a="http://schemas.openxmlformats.org/drawingml/2006/main" noGrp="1"/>
          </p:cNvSpPr>
          <p:nvPr/>
        </p:nvSpPr>
        <p:spPr>
          <a:xfrm xmlns:a="http://schemas.openxmlformats.org/drawingml/2006/main">
            <a:off x="685800" y="590550"/>
            <a:ext cx="476250" cy="476250"/>
          </a:xfrm>
          <a:prstGeom xmlns:a="http://schemas.openxmlformats.org/drawingml/2006/main" prst="ellipse">
            <a:avLst/>
          </a:prstGeom>
          <a:solidFill xmlns:a="http://schemas.openxmlformats.org/drawingml/2006/main">
            <a:srgbClr val="E36B78"/>
          </a:solidFill>
          <a:ln xmlns:a="http://schemas.openxmlformats.org/drawingml/2006/main" w="0">
            <a:solidFill>
              <a:srgbClr val="E36B78"/>
            </a:solidFill>
          </a:ln>
        </p:spPr>
        <p:txBody>
          <a:bodyPr xmlns:a="http://schemas.openxmlformats.org/drawingml/2006/main" anchor="ctr">
            <a:normAutofit fontScale="70053"/>
          </a:bodyPr>
          <a:lstStyle xmlns:a="http://schemas.openxmlformats.org/drawingml/2006/main"/>
          <a:p xmlns:a="http://schemas.openxmlformats.org/drawingml/2006/main">
            <a:pPr algn="ctr">
              <a:defRPr sz="1350" b="1">
                <a:solidFill>
                  <a:srgbClr val="FFFFFF"/>
                </a:solidFill>
                <a:latin typeface="Noto Sans CJK TC"/>
                <a:ea typeface="Noto Sans CJK TC"/>
                <a:cs typeface="Noto Sans CJK TC"/>
              </a:defRPr>
            </a:pPr>
            <a:r>
              <a:rPr sz="1350" b="1">
                <a:solidFill>
                  <a:srgbClr val="FFFFFF"/>
                </a:solidFill>
                <a:latin typeface="Noto Sans CJK TC"/>
                <a:ea typeface="Noto Sans CJK TC"/>
                <a:cs typeface="Noto Sans CJK TC"/>
              </a:rPr>
              <a:t>B1</a:t>
            </a:r>
          </a:p>
        </p:txBody>
      </p:sp>
      <p:sp>
        <p:nvSpPr>
          <p:cNvPr id="8" name="">
            <a:extLst xmlns:a="http://schemas.openxmlformats.org/drawingml/2006/main">
              <a:ext uri="{FF2B5EF4-FFF2-40B4-BE49-F238E27FC236}">
                <a16:creationId xmlns:a16="http://schemas.microsoft.com/office/drawing/2014/main" id="{4E8B7BA2-DC2D-48FE-BED5-5BA0C0BA617F}"/>
              </a:ext>
            </a:extLst>
          </p:cNvPr>
          <p:cNvSpPr>
            <a:spLocks xmlns:a="http://schemas.openxmlformats.org/drawingml/2006/main" noGrp="1"/>
          </p:cNvSpPr>
          <p:nvPr/>
        </p:nvSpPr>
        <p:spPr>
          <a:xfrm xmlns:a="http://schemas.openxmlformats.org/drawingml/2006/main">
            <a:off x="1314450" y="523875"/>
            <a:ext cx="1276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225" b="1" i="0">
                <a:solidFill>
                  <a:srgbClr val="431218"/>
                </a:solidFill>
                <a:latin typeface="Noto Serif CJK TC"/>
                <a:ea typeface="Noto Serif CJK TC"/>
                <a:cs typeface="Noto Serif CJK TC"/>
              </a:defRPr>
            </a:pPr>
            <a:r>
              <a:rPr sz="3225" b="1" i="0">
                <a:solidFill>
                  <a:srgbClr val="431218"/>
                </a:solidFill>
                <a:latin typeface="Noto Serif CJK TC"/>
                <a:ea typeface="Noto Serif CJK TC"/>
                <a:cs typeface="Noto Serif CJK TC"/>
              </a:rPr>
              <a:t>Balance 1  |  Weakness schema 三次都不合格</a:t>
            </a:r>
          </a:p>
        </p:txBody>
      </p:sp>
      <p:sp>
        <p:nvSpPr>
          <p:cNvPr id="9" name="">
            <a:extLst xmlns:a="http://schemas.openxmlformats.org/drawingml/2006/main">
              <a:ext uri="{FF2B5EF4-FFF2-40B4-BE49-F238E27FC236}">
                <a16:creationId xmlns:a16="http://schemas.microsoft.com/office/drawing/2014/main" id="{76E2790D-903B-424D-A794-0F0BA7DD7F93}"/>
              </a:ext>
            </a:extLst>
          </p:cNvPr>
          <p:cNvSpPr>
            <a:spLocks xmlns:a="http://schemas.openxmlformats.org/drawingml/2006/main" noGrp="1"/>
          </p:cNvSpPr>
          <p:nvPr/>
        </p:nvSpPr>
        <p:spPr>
          <a:xfrm xmlns:a="http://schemas.openxmlformats.org/drawingml/2006/main">
            <a:off x="1333500" y="1143000"/>
            <a:ext cx="1381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失敗發生在 Balance Reflector，未進入兩個 rewriter</a:t>
            </a:r>
          </a:p>
        </p:txBody>
      </p:sp>
      <p:sp>
        <p:nvSpPr>
          <p:cNvPr id="10" name="">
            <a:extLst xmlns:a="http://schemas.openxmlformats.org/drawingml/2006/main">
              <a:ext uri="{FF2B5EF4-FFF2-40B4-BE49-F238E27FC236}">
                <a16:creationId xmlns:a16="http://schemas.microsoft.com/office/drawing/2014/main" id="{00B2F7AE-C688-4778-B73B-EDE3F7EE083D}"/>
              </a:ext>
            </a:extLst>
          </p:cNvPr>
          <p:cNvSpPr>
            <a:spLocks xmlns:a="http://schemas.openxmlformats.org/drawingml/2006/main" noGrp="1"/>
          </p:cNvSpPr>
          <p:nvPr/>
        </p:nvSpPr>
        <p:spPr>
          <a:xfrm xmlns:a="http://schemas.openxmlformats.org/drawingml/2006/main">
            <a:off x="14287500" y="6286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1200" b="1" i="0">
                <a:solidFill>
                  <a:srgbClr val="B95160"/>
                </a:solidFill>
                <a:latin typeface="Noto Sans CJK TC"/>
                <a:ea typeface="Noto Sans CJK TC"/>
                <a:cs typeface="Noto Sans CJK TC"/>
              </a:defRPr>
            </a:pPr>
            <a:r>
              <a:rPr sz="1200" b="1" i="0">
                <a:solidFill>
                  <a:srgbClr val="B95160"/>
                </a:solidFill>
                <a:latin typeface="Noto Sans CJK TC"/>
                <a:ea typeface="Noto Sans CJK TC"/>
                <a:cs typeface="Noto Sans CJK TC"/>
              </a:rPr>
              <a:t>FAILED  ·  reflector attempts 3</a:t>
            </a:r>
          </a:p>
        </p:txBody>
      </p:sp>
      <p:sp>
        <p:nvSpPr>
          <p:cNvPr id="11" name="">
            <a:extLst xmlns:a="http://schemas.openxmlformats.org/drawingml/2006/main">
              <a:ext uri="{FF2B5EF4-FFF2-40B4-BE49-F238E27FC236}">
                <a16:creationId xmlns:a16="http://schemas.microsoft.com/office/drawing/2014/main" id="{3210E774-5358-4E9C-9C63-51671847FCCF}"/>
              </a:ext>
            </a:extLst>
          </p:cNvPr>
          <p:cNvSpPr>
            <a:spLocks xmlns:a="http://schemas.openxmlformats.org/drawingml/2006/main" noGrp="1"/>
          </p:cNvSpPr>
          <p:nvPr/>
        </p:nvSpPr>
        <p:spPr>
          <a:xfrm xmlns:a="http://schemas.openxmlformats.org/drawingml/2006/main">
            <a:off x="16764000" y="9829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06A"/>
                </a:solidFill>
                <a:latin typeface="Noto Sans CJK TC"/>
                <a:ea typeface="Noto Sans CJK TC"/>
                <a:cs typeface="Noto Sans CJK TC"/>
              </a:defRPr>
            </a:pPr>
            <a:r>
              <a:rPr sz="900" b="0" i="0">
                <a:solidFill>
                  <a:srgbClr val="62606A"/>
                </a:solidFill>
                <a:latin typeface="Noto Sans CJK TC"/>
                <a:ea typeface="Noto Sans CJK TC"/>
                <a:cs typeface="Noto Sans CJK TC"/>
              </a:rPr>
              <a:t>11 / 14</a:t>
            </a:r>
          </a:p>
        </p:txBody>
      </p:sp>
      <p:sp>
        <p:nvSpPr>
          <p:cNvPr id="12" name="">
            <a:extLst xmlns:a="http://schemas.openxmlformats.org/drawingml/2006/main">
              <a:ext uri="{FF2B5EF4-FFF2-40B4-BE49-F238E27FC236}">
                <a16:creationId xmlns:a16="http://schemas.microsoft.com/office/drawing/2014/main" id="{81708480-36D2-4263-BE4A-31FBAE388E42}"/>
              </a:ext>
            </a:extLst>
          </p:cNvPr>
          <p:cNvSpPr>
            <a:spLocks xmlns:a="http://schemas.openxmlformats.org/drawingml/2006/main" noGrp="1"/>
          </p:cNvSpPr>
          <p:nvPr/>
        </p:nvSpPr>
        <p:spPr>
          <a:xfrm xmlns:a="http://schemas.openxmlformats.org/drawingml/2006/main">
            <a:off x="5638800" y="1924050"/>
            <a:ext cx="0" cy="621030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3" name="">
            <a:extLst xmlns:a="http://schemas.openxmlformats.org/drawingml/2006/main">
              <a:ext uri="{FF2B5EF4-FFF2-40B4-BE49-F238E27FC236}">
                <a16:creationId xmlns:a16="http://schemas.microsoft.com/office/drawing/2014/main" id="{22E49E16-23BA-4D91-8BBD-472440A1B617}"/>
              </a:ext>
            </a:extLst>
          </p:cNvPr>
          <p:cNvSpPr>
            <a:spLocks xmlns:a="http://schemas.openxmlformats.org/drawingml/2006/main" noGrp="1"/>
          </p:cNvSpPr>
          <p:nvPr/>
        </p:nvSpPr>
        <p:spPr>
          <a:xfrm xmlns:a="http://schemas.openxmlformats.org/drawingml/2006/main">
            <a:off x="11353800" y="1924050"/>
            <a:ext cx="0" cy="621030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4" name="">
            <a:extLst xmlns:a="http://schemas.openxmlformats.org/drawingml/2006/main">
              <a:ext uri="{FF2B5EF4-FFF2-40B4-BE49-F238E27FC236}">
                <a16:creationId xmlns:a16="http://schemas.microsoft.com/office/drawing/2014/main" id="{F5527EBF-5C8D-4D96-8D07-784AFC19FBE8}"/>
              </a:ext>
            </a:extLst>
          </p:cNvPr>
          <p:cNvSpPr>
            <a:spLocks xmlns:a="http://schemas.openxmlformats.org/drawingml/2006/main" noGrp="1"/>
          </p:cNvSpPr>
          <p:nvPr/>
        </p:nvSpPr>
        <p:spPr>
          <a:xfrm xmlns:a="http://schemas.openxmlformats.org/drawingml/2006/main">
            <a:off x="857250" y="16573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原始 Policy</a:t>
            </a:r>
          </a:p>
        </p:txBody>
      </p:sp>
      <p:sp>
        <p:nvSpPr>
          <p:cNvPr id="15" name="">
            <a:extLst xmlns:a="http://schemas.openxmlformats.org/drawingml/2006/main">
              <a:ext uri="{FF2B5EF4-FFF2-40B4-BE49-F238E27FC236}">
                <a16:creationId xmlns:a16="http://schemas.microsoft.com/office/drawing/2014/main" id="{76F01D99-E386-461A-BE04-43092C2DE07E}"/>
              </a:ext>
            </a:extLst>
          </p:cNvPr>
          <p:cNvSpPr>
            <a:spLocks xmlns:a="http://schemas.openxmlformats.org/drawingml/2006/main" noGrp="1"/>
          </p:cNvSpPr>
          <p:nvPr/>
        </p:nvSpPr>
        <p:spPr>
          <a:xfrm xmlns:a="http://schemas.openxmlformats.org/drawingml/2006/main">
            <a:off x="857250" y="2019300"/>
            <a:ext cx="44767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6" name="">
            <a:extLst xmlns:a="http://schemas.openxmlformats.org/drawingml/2006/main">
              <a:ext uri="{FF2B5EF4-FFF2-40B4-BE49-F238E27FC236}">
                <a16:creationId xmlns:a16="http://schemas.microsoft.com/office/drawing/2014/main" id="{2586397E-62BD-479C-AF1F-A516B5D4AD5D}"/>
              </a:ext>
            </a:extLst>
          </p:cNvPr>
          <p:cNvSpPr>
            <a:spLocks xmlns:a="http://schemas.openxmlformats.org/drawingml/2006/main" noGrp="1"/>
          </p:cNvSpPr>
          <p:nvPr/>
        </p:nvSpPr>
        <p:spPr>
          <a:xfrm xmlns:a="http://schemas.openxmlformats.org/drawingml/2006/main">
            <a:off x="5924550" y="16573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送進 Reflection 的內容</a:t>
            </a:r>
          </a:p>
        </p:txBody>
      </p:sp>
      <p:sp>
        <p:nvSpPr>
          <p:cNvPr id="17" name="">
            <a:extLst xmlns:a="http://schemas.openxmlformats.org/drawingml/2006/main">
              <a:ext uri="{FF2B5EF4-FFF2-40B4-BE49-F238E27FC236}">
                <a16:creationId xmlns:a16="http://schemas.microsoft.com/office/drawing/2014/main" id="{785F9DAA-0EF9-4BCA-943C-E6CF08F3A6BB}"/>
              </a:ext>
            </a:extLst>
          </p:cNvPr>
          <p:cNvSpPr>
            <a:spLocks xmlns:a="http://schemas.openxmlformats.org/drawingml/2006/main" noGrp="1"/>
          </p:cNvSpPr>
          <p:nvPr/>
        </p:nvSpPr>
        <p:spPr>
          <a:xfrm xmlns:a="http://schemas.openxmlformats.org/drawingml/2006/main">
            <a:off x="5924550" y="2019300"/>
            <a:ext cx="51435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8" name="">
            <a:extLst xmlns:a="http://schemas.openxmlformats.org/drawingml/2006/main">
              <a:ext uri="{FF2B5EF4-FFF2-40B4-BE49-F238E27FC236}">
                <a16:creationId xmlns:a16="http://schemas.microsoft.com/office/drawing/2014/main" id="{F9ECD546-03FF-4B98-BC7E-60A3DDEA01FE}"/>
              </a:ext>
            </a:extLst>
          </p:cNvPr>
          <p:cNvSpPr>
            <a:spLocks xmlns:a="http://schemas.openxmlformats.org/drawingml/2006/main" noGrp="1"/>
          </p:cNvSpPr>
          <p:nvPr/>
        </p:nvSpPr>
        <p:spPr>
          <a:xfrm xmlns:a="http://schemas.openxmlformats.org/drawingml/2006/main">
            <a:off x="11639550" y="165735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Reflection 後</a:t>
            </a:r>
          </a:p>
        </p:txBody>
      </p:sp>
      <p:sp>
        <p:nvSpPr>
          <p:cNvPr id="19" name="">
            <a:extLst xmlns:a="http://schemas.openxmlformats.org/drawingml/2006/main">
              <a:ext uri="{FF2B5EF4-FFF2-40B4-BE49-F238E27FC236}">
                <a16:creationId xmlns:a16="http://schemas.microsoft.com/office/drawing/2014/main" id="{F77109AA-9BDF-42F8-B423-3468589FD386}"/>
              </a:ext>
            </a:extLst>
          </p:cNvPr>
          <p:cNvSpPr>
            <a:spLocks xmlns:a="http://schemas.openxmlformats.org/drawingml/2006/main" noGrp="1"/>
          </p:cNvSpPr>
          <p:nvPr/>
        </p:nvSpPr>
        <p:spPr>
          <a:xfrm xmlns:a="http://schemas.openxmlformats.org/drawingml/2006/main">
            <a:off x="11639550" y="2019300"/>
            <a:ext cx="58102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20" name="">
            <a:extLst xmlns:a="http://schemas.openxmlformats.org/drawingml/2006/main">
              <a:ext uri="{FF2B5EF4-FFF2-40B4-BE49-F238E27FC236}">
                <a16:creationId xmlns:a16="http://schemas.microsoft.com/office/drawing/2014/main" id="{27CF50E6-1C1E-429A-9341-C23B88CA2D7A}"/>
              </a:ext>
            </a:extLst>
          </p:cNvPr>
          <p:cNvSpPr>
            <a:spLocks xmlns:a="http://schemas.openxmlformats.org/drawingml/2006/main" noGrp="1"/>
          </p:cNvSpPr>
          <p:nvPr/>
        </p:nvSpPr>
        <p:spPr>
          <a:xfrm xmlns:a="http://schemas.openxmlformats.org/drawingml/2006/main">
            <a:off x="857250" y="2190750"/>
            <a:ext cx="447675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Use a continuous Worker-rush policy.</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p:txBody>
      </p:sp>
      <p:sp>
        <p:nvSpPr>
          <p:cNvPr id="21" name="">
            <a:extLst xmlns:a="http://schemas.openxmlformats.org/drawingml/2006/main">
              <a:ext uri="{FF2B5EF4-FFF2-40B4-BE49-F238E27FC236}">
                <a16:creationId xmlns:a16="http://schemas.microsoft.com/office/drawing/2014/main" id="{E138519B-8060-4FCD-B7E5-4CAD10734BC4}"/>
              </a:ext>
            </a:extLst>
          </p:cNvPr>
          <p:cNvSpPr>
            <a:spLocks xmlns:a="http://schemas.openxmlformats.org/drawingml/2006/main" noGrp="1"/>
          </p:cNvSpPr>
          <p:nvPr/>
        </p:nvSpPr>
        <p:spPr>
          <a:xfrm xmlns:a="http://schemas.openxmlformats.org/drawingml/2006/main">
            <a:off x="5924550" y="2190750"/>
            <a:ext cx="514350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Balance Reflector 只收到固定 W/D/L 表。</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Passive、Random：每張 map 0W / 6D / 0L</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Randombias：map_1 0/1/5，map_2 0/5/1，map_3 0/6/0</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LightRush、HeavyRush、WorkerRush、AllInBot、Mayari、COAC、TMA：每張 map 0W / 0D / 6L</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總計 180 場，三張 map、雙邊各三次。</a:t>
            </a:r>
          </a:p>
        </p:txBody>
      </p:sp>
      <p:sp>
        <p:nvSpPr>
          <p:cNvPr id="22" name="">
            <a:extLst xmlns:a="http://schemas.openxmlformats.org/drawingml/2006/main">
              <a:ext uri="{FF2B5EF4-FFF2-40B4-BE49-F238E27FC236}">
                <a16:creationId xmlns:a16="http://schemas.microsoft.com/office/drawing/2014/main" id="{435ABDF4-71F1-4F7A-90D9-E447E29DE57F}"/>
              </a:ext>
            </a:extLst>
          </p:cNvPr>
          <p:cNvSpPr>
            <a:spLocks xmlns:a="http://schemas.openxmlformats.org/drawingml/2006/main" noGrp="1"/>
          </p:cNvSpPr>
          <p:nvPr/>
        </p:nvSpPr>
        <p:spPr>
          <a:xfrm xmlns:a="http://schemas.openxmlformats.org/drawingml/2006/main">
            <a:off x="11639550" y="2190750"/>
            <a:ext cx="581025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最後一次 response 把多個 opponent 與 map 放進同一 weakness：</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opponent: [lightrush, heavyrush, workerrush,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map: [map_1, map_2, map_3]</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side: both</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Validator 要求每一筆 weakness 各自指出 opponent、map、side、reason。</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結果</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reflection_status = failed</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strategy rewriter 未執行</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code rewriter 未執行</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所有 genotype 欄位保持不變</a:t>
            </a:r>
          </a:p>
        </p:txBody>
      </p:sp>
      <p:sp>
        <p:nvSpPr>
          <p:cNvPr id="23" name="audit-strip">
            <a:extLst xmlns:a="http://schemas.openxmlformats.org/drawingml/2006/main">
              <a:ext uri="{FF2B5EF4-FFF2-40B4-BE49-F238E27FC236}">
                <a16:creationId xmlns:a16="http://schemas.microsoft.com/office/drawing/2014/main" id="{DD64CB28-F2AA-41FC-9B0F-AE43461BC979}"/>
              </a:ext>
            </a:extLst>
          </p:cNvPr>
          <p:cNvSpPr>
            <a:spLocks xmlns:a="http://schemas.openxmlformats.org/drawingml/2006/main" noGrp="1"/>
          </p:cNvSpPr>
          <p:nvPr/>
        </p:nvSpPr>
        <p:spPr>
          <a:xfrm xmlns:a="http://schemas.openxmlformats.org/drawingml/2006/main">
            <a:off x="857250" y="8420100"/>
            <a:ext cx="16573500" cy="1123950"/>
          </a:xfrm>
          <a:prstGeom xmlns:a="http://schemas.openxmlformats.org/drawingml/2006/main" prst="roundRect">
            <a:avLst>
              <a:gd name="adj" fmla="val 6780"/>
            </a:avLst>
          </a:prstGeom>
          <a:solidFill xmlns:a="http://schemas.openxmlformats.org/drawingml/2006/main">
            <a:srgbClr val="F8D8D8"/>
          </a:solidFill>
          <a:ln xmlns:a="http://schemas.openxmlformats.org/drawingml/2006/main" w="9525">
            <a:solidFill>
              <a:srgbClr val="B95160"/>
            </a:solidFill>
            <a:prstDash val="solid"/>
          </a:ln>
        </p:spPr>
      </p:sp>
      <p:sp>
        <p:nvSpPr>
          <p:cNvPr id="24" name="">
            <a:extLst xmlns:a="http://schemas.openxmlformats.org/drawingml/2006/main">
              <a:ext uri="{FF2B5EF4-FFF2-40B4-BE49-F238E27FC236}">
                <a16:creationId xmlns:a16="http://schemas.microsoft.com/office/drawing/2014/main" id="{385BCB8D-0191-40EF-926B-C3B1B3755D76}"/>
              </a:ext>
            </a:extLst>
          </p:cNvPr>
          <p:cNvSpPr>
            <a:spLocks xmlns:a="http://schemas.openxmlformats.org/drawingml/2006/main" noGrp="1"/>
          </p:cNvSpPr>
          <p:nvPr/>
        </p:nvSpPr>
        <p:spPr>
          <a:xfrm xmlns:a="http://schemas.openxmlformats.org/drawingml/2006/main">
            <a:off x="1123950" y="85915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B95160"/>
                </a:solidFill>
                <a:latin typeface="Noto Sans CJK TC"/>
                <a:ea typeface="Noto Sans CJK TC"/>
                <a:cs typeface="Noto Sans CJK TC"/>
              </a:defRPr>
            </a:pPr>
            <a:r>
              <a:rPr sz="975" b="1" i="0">
                <a:solidFill>
                  <a:srgbClr val="B95160"/>
                </a:solidFill>
                <a:latin typeface="Noto Sans CJK TC"/>
                <a:ea typeface="Noto Sans CJK TC"/>
                <a:cs typeface="Noto Sans CJK TC"/>
              </a:rPr>
              <a:t>GEN SCOPE</a:t>
            </a:r>
          </a:p>
        </p:txBody>
      </p:sp>
      <p:sp>
        <p:nvSpPr>
          <p:cNvPr id="25" name="">
            <a:extLst xmlns:a="http://schemas.openxmlformats.org/drawingml/2006/main">
              <a:ext uri="{FF2B5EF4-FFF2-40B4-BE49-F238E27FC236}">
                <a16:creationId xmlns:a16="http://schemas.microsoft.com/office/drawing/2014/main" id="{41442FDD-2DCA-4BD3-B1A7-FADC9221AECC}"/>
              </a:ext>
            </a:extLst>
          </p:cNvPr>
          <p:cNvSpPr>
            <a:spLocks xmlns:a="http://schemas.openxmlformats.org/drawingml/2006/main" noGrp="1"/>
          </p:cNvSpPr>
          <p:nvPr/>
        </p:nvSpPr>
        <p:spPr>
          <a:xfrm xmlns:a="http://schemas.openxmlformats.org/drawingml/2006/main">
            <a:off x="1123950" y="8858250"/>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25252A"/>
                </a:solidFill>
                <a:latin typeface="Noto Sans CJK TC"/>
                <a:ea typeface="Noto Sans CJK TC"/>
                <a:cs typeface="Noto Sans CJK TC"/>
              </a:defRPr>
            </a:pPr>
            <a:r>
              <a:rPr sz="1350" b="1" i="0">
                <a:solidFill>
                  <a:srgbClr val="25252A"/>
                </a:solidFill>
                <a:latin typeface="Noto Sans CJK TC"/>
                <a:ea typeface="Noto Sans CJK TC"/>
                <a:cs typeface="Noto Sans CJK TC"/>
              </a:rPr>
              <a:t>no fields changed  |  safe rollback</a:t>
            </a:r>
          </a:p>
        </p:txBody>
      </p:sp>
      <p:sp>
        <p:nvSpPr>
          <p:cNvPr id="26" name="">
            <a:extLst xmlns:a="http://schemas.openxmlformats.org/drawingml/2006/main">
              <a:ext uri="{FF2B5EF4-FFF2-40B4-BE49-F238E27FC236}">
                <a16:creationId xmlns:a16="http://schemas.microsoft.com/office/drawing/2014/main" id="{2B087DF9-A04E-4932-83B3-DDDB2CE87AFD}"/>
              </a:ext>
            </a:extLst>
          </p:cNvPr>
          <p:cNvSpPr>
            <a:spLocks xmlns:a="http://schemas.openxmlformats.org/drawingml/2006/main" noGrp="1"/>
          </p:cNvSpPr>
          <p:nvPr/>
        </p:nvSpPr>
        <p:spPr>
          <a:xfrm xmlns:a="http://schemas.openxmlformats.org/drawingml/2006/main">
            <a:off x="7334250" y="8648700"/>
            <a:ext cx="0" cy="685800"/>
          </a:xfrm>
          <a:prstGeom xmlns:a="http://schemas.openxmlformats.org/drawingml/2006/main" prst="line">
            <a:avLst/>
          </a:prstGeom>
          <a:noFill xmlns:a="http://schemas.openxmlformats.org/drawingml/2006/main"/>
          <a:ln xmlns:a="http://schemas.openxmlformats.org/drawingml/2006/main" w="9525">
            <a:solidFill>
              <a:srgbClr val="B95160"/>
            </a:solidFill>
            <a:prstDash val="solid"/>
          </a:ln>
        </p:spPr>
      </p:sp>
      <p:sp>
        <p:nvSpPr>
          <p:cNvPr id="27" name="">
            <a:extLst xmlns:a="http://schemas.openxmlformats.org/drawingml/2006/main">
              <a:ext uri="{FF2B5EF4-FFF2-40B4-BE49-F238E27FC236}">
                <a16:creationId xmlns:a16="http://schemas.microsoft.com/office/drawing/2014/main" id="{B729F89B-30FE-47AA-9B26-34137580740B}"/>
              </a:ext>
            </a:extLst>
          </p:cNvPr>
          <p:cNvSpPr>
            <a:spLocks xmlns:a="http://schemas.openxmlformats.org/drawingml/2006/main" noGrp="1"/>
          </p:cNvSpPr>
          <p:nvPr/>
        </p:nvSpPr>
        <p:spPr>
          <a:xfrm xmlns:a="http://schemas.openxmlformats.org/drawingml/2006/main">
            <a:off x="7667625" y="85915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B95160"/>
                </a:solidFill>
                <a:latin typeface="Noto Sans CJK TC"/>
                <a:ea typeface="Noto Sans CJK TC"/>
                <a:cs typeface="Noto Sans CJK TC"/>
              </a:defRPr>
            </a:pPr>
            <a:r>
              <a:rPr sz="975" b="1" i="0">
                <a:solidFill>
                  <a:srgbClr val="B95160"/>
                </a:solidFill>
                <a:latin typeface="Noto Sans CJK TC"/>
                <a:ea typeface="Noto Sans CJK TC"/>
                <a:cs typeface="Noto Sans CJK TC"/>
              </a:rPr>
              <a:t>人工判讀</a:t>
            </a:r>
          </a:p>
        </p:txBody>
      </p:sp>
      <p:sp>
        <p:nvSpPr>
          <p:cNvPr id="28" name="">
            <a:extLst xmlns:a="http://schemas.openxmlformats.org/drawingml/2006/main">
              <a:ext uri="{FF2B5EF4-FFF2-40B4-BE49-F238E27FC236}">
                <a16:creationId xmlns:a16="http://schemas.microsoft.com/office/drawing/2014/main" id="{C56FDB25-C8B5-45CA-A60B-752B3E8E4339}"/>
              </a:ext>
            </a:extLst>
          </p:cNvPr>
          <p:cNvSpPr>
            <a:spLocks xmlns:a="http://schemas.openxmlformats.org/drawingml/2006/main" noGrp="1"/>
          </p:cNvSpPr>
          <p:nvPr/>
        </p:nvSpPr>
        <p:spPr>
          <a:xfrm xmlns:a="http://schemas.openxmlformats.org/drawingml/2006/main">
            <a:off x="7667625" y="8858250"/>
            <a:ext cx="9382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不是 gameplay failure，而是 JSON schema 粒度不符合預期。</a:t>
            </a:r>
          </a:p>
        </p:txBody>
      </p:sp>
    </p:spTree>
    <p:extLst>
      <p:ext uri="{BB962C8B-B14F-4D97-AF65-F5344CB8AC3E}">
        <p14:creationId xmlns:p14="http://schemas.microsoft.com/office/powerpoint/2010/main" val="684538562"/>
      </p:ext>
    </p:extLst>
  </p:cSld>
</p:sld>
</file>

<file path=ppt/slides/slide12.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20310AF-55B1-4AB4-B1E5-558255CDCB33}"/>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
            <a:extLst xmlns:a="http://schemas.openxmlformats.org/drawingml/2006/main">
              <a:ext uri="{FF2B5EF4-FFF2-40B4-BE49-F238E27FC236}">
                <a16:creationId xmlns:a16="http://schemas.microsoft.com/office/drawing/2014/main" id="{5B1B7061-1827-4859-913E-C0FBE3AB2C1D}"/>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
            <a:extLst xmlns:a="http://schemas.openxmlformats.org/drawingml/2006/main">
              <a:ext uri="{FF2B5EF4-FFF2-40B4-BE49-F238E27FC236}">
                <a16:creationId xmlns:a16="http://schemas.microsoft.com/office/drawing/2014/main" id="{76308A3D-4F73-4318-B58B-27A1E87F0AE5}"/>
              </a:ext>
            </a:extLst>
          </p:cNvPr>
          <p:cNvSpPr>
            <a:spLocks xmlns:a="http://schemas.openxmlformats.org/drawingml/2006/main" noGrp="1"/>
          </p:cNvSpPr>
          <p:nvPr/>
        </p:nvSpPr>
        <p:spPr>
          <a:xfrm xmlns:a="http://schemas.openxmlformats.org/drawingml/2006/main">
            <a:off x="9010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4" name="">
            <a:extLst xmlns:a="http://schemas.openxmlformats.org/drawingml/2006/main">
              <a:ext uri="{FF2B5EF4-FFF2-40B4-BE49-F238E27FC236}">
                <a16:creationId xmlns:a16="http://schemas.microsoft.com/office/drawing/2014/main" id="{A582236B-D8AD-4967-B380-36D777A97695}"/>
              </a:ext>
            </a:extLst>
          </p:cNvPr>
          <p:cNvSpPr>
            <a:spLocks xmlns:a="http://schemas.openxmlformats.org/drawingml/2006/main" noGrp="1"/>
          </p:cNvSpPr>
          <p:nvPr/>
        </p:nvSpPr>
        <p:spPr>
          <a:xfrm xmlns:a="http://schemas.openxmlformats.org/drawingml/2006/main">
            <a:off x="92011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5" name="">
            <a:extLst xmlns:a="http://schemas.openxmlformats.org/drawingml/2006/main">
              <a:ext uri="{FF2B5EF4-FFF2-40B4-BE49-F238E27FC236}">
                <a16:creationId xmlns:a16="http://schemas.microsoft.com/office/drawing/2014/main" id="{DF2C719E-A71E-4C1C-B48F-E809B23F23C6}"/>
              </a:ext>
            </a:extLst>
          </p:cNvPr>
          <p:cNvSpPr>
            <a:spLocks xmlns:a="http://schemas.openxmlformats.org/drawingml/2006/main" noGrp="1"/>
          </p:cNvSpPr>
          <p:nvPr/>
        </p:nvSpPr>
        <p:spPr>
          <a:xfrm xmlns:a="http://schemas.openxmlformats.org/drawingml/2006/main">
            <a:off x="9391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6" name="">
            <a:extLst xmlns:a="http://schemas.openxmlformats.org/drawingml/2006/main">
              <a:ext uri="{FF2B5EF4-FFF2-40B4-BE49-F238E27FC236}">
                <a16:creationId xmlns:a16="http://schemas.microsoft.com/office/drawing/2014/main" id="{9F171A69-641D-46A7-8E3A-1BB7E5B4FCBB}"/>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7" name="badge-12">
            <a:extLst xmlns:a="http://schemas.openxmlformats.org/drawingml/2006/main">
              <a:ext uri="{FF2B5EF4-FFF2-40B4-BE49-F238E27FC236}">
                <a16:creationId xmlns:a16="http://schemas.microsoft.com/office/drawing/2014/main" id="{8D9F5579-ED36-49C8-84AB-AD7FD3C948BF}"/>
              </a:ext>
            </a:extLst>
          </p:cNvPr>
          <p:cNvSpPr>
            <a:spLocks xmlns:a="http://schemas.openxmlformats.org/drawingml/2006/main" noGrp="1"/>
          </p:cNvSpPr>
          <p:nvPr/>
        </p:nvSpPr>
        <p:spPr>
          <a:xfrm xmlns:a="http://schemas.openxmlformats.org/drawingml/2006/main">
            <a:off x="685800" y="590550"/>
            <a:ext cx="476250" cy="476250"/>
          </a:xfrm>
          <a:prstGeom xmlns:a="http://schemas.openxmlformats.org/drawingml/2006/main" prst="ellipse">
            <a:avLst/>
          </a:prstGeom>
          <a:solidFill xmlns:a="http://schemas.openxmlformats.org/drawingml/2006/main">
            <a:srgbClr val="E36B78"/>
          </a:solidFill>
          <a:ln xmlns:a="http://schemas.openxmlformats.org/drawingml/2006/main" w="0">
            <a:solidFill>
              <a:srgbClr val="E36B78"/>
            </a:solidFill>
          </a:ln>
        </p:spPr>
        <p:txBody>
          <a:bodyPr xmlns:a="http://schemas.openxmlformats.org/drawingml/2006/main" anchor="ctr">
            <a:normAutofit fontScale="70053"/>
          </a:bodyPr>
          <a:lstStyle xmlns:a="http://schemas.openxmlformats.org/drawingml/2006/main"/>
          <a:p xmlns:a="http://schemas.openxmlformats.org/drawingml/2006/main">
            <a:pPr algn="ctr">
              <a:defRPr sz="1350" b="1">
                <a:solidFill>
                  <a:srgbClr val="FFFFFF"/>
                </a:solidFill>
                <a:latin typeface="Noto Sans CJK TC"/>
                <a:ea typeface="Noto Sans CJK TC"/>
                <a:cs typeface="Noto Sans CJK TC"/>
              </a:defRPr>
            </a:pPr>
            <a:r>
              <a:rPr sz="1350" b="1">
                <a:solidFill>
                  <a:srgbClr val="FFFFFF"/>
                </a:solidFill>
                <a:latin typeface="Noto Sans CJK TC"/>
                <a:ea typeface="Noto Sans CJK TC"/>
                <a:cs typeface="Noto Sans CJK TC"/>
              </a:rPr>
              <a:t>B2</a:t>
            </a:r>
          </a:p>
        </p:txBody>
      </p:sp>
      <p:sp>
        <p:nvSpPr>
          <p:cNvPr id="8" name="">
            <a:extLst xmlns:a="http://schemas.openxmlformats.org/drawingml/2006/main">
              <a:ext uri="{FF2B5EF4-FFF2-40B4-BE49-F238E27FC236}">
                <a16:creationId xmlns:a16="http://schemas.microsoft.com/office/drawing/2014/main" id="{1DA1843F-9BCF-42E6-9487-A22B07512B30}"/>
              </a:ext>
            </a:extLst>
          </p:cNvPr>
          <p:cNvSpPr>
            <a:spLocks xmlns:a="http://schemas.openxmlformats.org/drawingml/2006/main" noGrp="1"/>
          </p:cNvSpPr>
          <p:nvPr/>
        </p:nvSpPr>
        <p:spPr>
          <a:xfrm xmlns:a="http://schemas.openxmlformats.org/drawingml/2006/main">
            <a:off x="1314450" y="523875"/>
            <a:ext cx="1276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225" b="1" i="0">
                <a:solidFill>
                  <a:srgbClr val="431218"/>
                </a:solidFill>
                <a:latin typeface="Noto Serif CJK TC"/>
                <a:ea typeface="Noto Serif CJK TC"/>
                <a:cs typeface="Noto Serif CJK TC"/>
              </a:defRPr>
            </a:pPr>
            <a:r>
              <a:rPr sz="3225" b="1" i="0">
                <a:solidFill>
                  <a:srgbClr val="431218"/>
                </a:solidFill>
                <a:latin typeface="Noto Serif CJK TC"/>
                <a:ea typeface="Noto Serif CJK TC"/>
                <a:cs typeface="Noto Serif CJK TC"/>
              </a:rPr>
              <a:t>Balance 2  |  W/D/L 產生 hybrid defense policy</a:t>
            </a:r>
          </a:p>
        </p:txBody>
      </p:sp>
      <p:sp>
        <p:nvSpPr>
          <p:cNvPr id="9" name="">
            <a:extLst xmlns:a="http://schemas.openxmlformats.org/drawingml/2006/main">
              <a:ext uri="{FF2B5EF4-FFF2-40B4-BE49-F238E27FC236}">
                <a16:creationId xmlns:a16="http://schemas.microsoft.com/office/drawing/2014/main" id="{647741F9-4311-412E-86B7-2722076945BF}"/>
              </a:ext>
            </a:extLst>
          </p:cNvPr>
          <p:cNvSpPr>
            <a:spLocks xmlns:a="http://schemas.openxmlformats.org/drawingml/2006/main" noGrp="1"/>
          </p:cNvSpPr>
          <p:nvPr/>
        </p:nvSpPr>
        <p:spPr>
          <a:xfrm xmlns:a="http://schemas.openxmlformats.org/drawingml/2006/main">
            <a:off x="1333500" y="1143000"/>
            <a:ext cx="1381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Reflector 通過後，同時改寫 strategy prompt 與 generation prompt</a:t>
            </a:r>
          </a:p>
        </p:txBody>
      </p:sp>
      <p:sp>
        <p:nvSpPr>
          <p:cNvPr id="10" name="">
            <a:extLst xmlns:a="http://schemas.openxmlformats.org/drawingml/2006/main">
              <a:ext uri="{FF2B5EF4-FFF2-40B4-BE49-F238E27FC236}">
                <a16:creationId xmlns:a16="http://schemas.microsoft.com/office/drawing/2014/main" id="{385E9FDD-EF39-4AA1-B9FE-FE39B3132FB0}"/>
              </a:ext>
            </a:extLst>
          </p:cNvPr>
          <p:cNvSpPr>
            <a:spLocks xmlns:a="http://schemas.openxmlformats.org/drawingml/2006/main" noGrp="1"/>
          </p:cNvSpPr>
          <p:nvPr/>
        </p:nvSpPr>
        <p:spPr>
          <a:xfrm xmlns:a="http://schemas.openxmlformats.org/drawingml/2006/main">
            <a:off x="14287500" y="6286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1200" b="1" i="0">
                <a:solidFill>
                  <a:srgbClr val="47795C"/>
                </a:solidFill>
                <a:latin typeface="Noto Sans CJK TC"/>
                <a:ea typeface="Noto Sans CJK TC"/>
                <a:cs typeface="Noto Sans CJK TC"/>
              </a:defRPr>
            </a:pPr>
            <a:r>
              <a:rPr sz="1200" b="1" i="0">
                <a:solidFill>
                  <a:srgbClr val="47795C"/>
                </a:solidFill>
                <a:latin typeface="Noto Sans CJK TC"/>
                <a:ea typeface="Noto Sans CJK TC"/>
                <a:cs typeface="Noto Sans CJK TC"/>
              </a:rPr>
              <a:t>APPLIED  ·  reflector 1  ·  rewriters 2</a:t>
            </a:r>
          </a:p>
        </p:txBody>
      </p:sp>
      <p:sp>
        <p:nvSpPr>
          <p:cNvPr id="11" name="">
            <a:extLst xmlns:a="http://schemas.openxmlformats.org/drawingml/2006/main">
              <a:ext uri="{FF2B5EF4-FFF2-40B4-BE49-F238E27FC236}">
                <a16:creationId xmlns:a16="http://schemas.microsoft.com/office/drawing/2014/main" id="{B6A9A98D-69CC-465C-A659-34DB445FD4C4}"/>
              </a:ext>
            </a:extLst>
          </p:cNvPr>
          <p:cNvSpPr>
            <a:spLocks xmlns:a="http://schemas.openxmlformats.org/drawingml/2006/main" noGrp="1"/>
          </p:cNvSpPr>
          <p:nvPr/>
        </p:nvSpPr>
        <p:spPr>
          <a:xfrm xmlns:a="http://schemas.openxmlformats.org/drawingml/2006/main">
            <a:off x="16764000" y="9829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06A"/>
                </a:solidFill>
                <a:latin typeface="Noto Sans CJK TC"/>
                <a:ea typeface="Noto Sans CJK TC"/>
                <a:cs typeface="Noto Sans CJK TC"/>
              </a:defRPr>
            </a:pPr>
            <a:r>
              <a:rPr sz="900" b="0" i="0">
                <a:solidFill>
                  <a:srgbClr val="62606A"/>
                </a:solidFill>
                <a:latin typeface="Noto Sans CJK TC"/>
                <a:ea typeface="Noto Sans CJK TC"/>
                <a:cs typeface="Noto Sans CJK TC"/>
              </a:rPr>
              <a:t>12 / 14</a:t>
            </a:r>
          </a:p>
        </p:txBody>
      </p:sp>
      <p:sp>
        <p:nvSpPr>
          <p:cNvPr id="12" name="">
            <a:extLst xmlns:a="http://schemas.openxmlformats.org/drawingml/2006/main">
              <a:ext uri="{FF2B5EF4-FFF2-40B4-BE49-F238E27FC236}">
                <a16:creationId xmlns:a16="http://schemas.microsoft.com/office/drawing/2014/main" id="{CD8399A2-91AF-4105-B21E-1B0104E62E74}"/>
              </a:ext>
            </a:extLst>
          </p:cNvPr>
          <p:cNvSpPr>
            <a:spLocks xmlns:a="http://schemas.openxmlformats.org/drawingml/2006/main" noGrp="1"/>
          </p:cNvSpPr>
          <p:nvPr/>
        </p:nvSpPr>
        <p:spPr>
          <a:xfrm xmlns:a="http://schemas.openxmlformats.org/drawingml/2006/main">
            <a:off x="5638800" y="1924050"/>
            <a:ext cx="0" cy="621030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3" name="">
            <a:extLst xmlns:a="http://schemas.openxmlformats.org/drawingml/2006/main">
              <a:ext uri="{FF2B5EF4-FFF2-40B4-BE49-F238E27FC236}">
                <a16:creationId xmlns:a16="http://schemas.microsoft.com/office/drawing/2014/main" id="{FB220FB3-41A4-4A8D-BD83-F8677057B225}"/>
              </a:ext>
            </a:extLst>
          </p:cNvPr>
          <p:cNvSpPr>
            <a:spLocks xmlns:a="http://schemas.openxmlformats.org/drawingml/2006/main" noGrp="1"/>
          </p:cNvSpPr>
          <p:nvPr/>
        </p:nvSpPr>
        <p:spPr>
          <a:xfrm xmlns:a="http://schemas.openxmlformats.org/drawingml/2006/main">
            <a:off x="11353800" y="1924050"/>
            <a:ext cx="0" cy="621030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4" name="">
            <a:extLst xmlns:a="http://schemas.openxmlformats.org/drawingml/2006/main">
              <a:ext uri="{FF2B5EF4-FFF2-40B4-BE49-F238E27FC236}">
                <a16:creationId xmlns:a16="http://schemas.microsoft.com/office/drawing/2014/main" id="{00D0CA80-8267-4823-A201-C935184C93D7}"/>
              </a:ext>
            </a:extLst>
          </p:cNvPr>
          <p:cNvSpPr>
            <a:spLocks xmlns:a="http://schemas.openxmlformats.org/drawingml/2006/main" noGrp="1"/>
          </p:cNvSpPr>
          <p:nvPr/>
        </p:nvSpPr>
        <p:spPr>
          <a:xfrm xmlns:a="http://schemas.openxmlformats.org/drawingml/2006/main">
            <a:off x="857250" y="16573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原始 Policy</a:t>
            </a:r>
          </a:p>
        </p:txBody>
      </p:sp>
      <p:sp>
        <p:nvSpPr>
          <p:cNvPr id="15" name="">
            <a:extLst xmlns:a="http://schemas.openxmlformats.org/drawingml/2006/main">
              <a:ext uri="{FF2B5EF4-FFF2-40B4-BE49-F238E27FC236}">
                <a16:creationId xmlns:a16="http://schemas.microsoft.com/office/drawing/2014/main" id="{C37734C7-EA17-41B7-829F-1F09D1960310}"/>
              </a:ext>
            </a:extLst>
          </p:cNvPr>
          <p:cNvSpPr>
            <a:spLocks xmlns:a="http://schemas.openxmlformats.org/drawingml/2006/main" noGrp="1"/>
          </p:cNvSpPr>
          <p:nvPr/>
        </p:nvSpPr>
        <p:spPr>
          <a:xfrm xmlns:a="http://schemas.openxmlformats.org/drawingml/2006/main">
            <a:off x="857250" y="2019300"/>
            <a:ext cx="44767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6" name="">
            <a:extLst xmlns:a="http://schemas.openxmlformats.org/drawingml/2006/main">
              <a:ext uri="{FF2B5EF4-FFF2-40B4-BE49-F238E27FC236}">
                <a16:creationId xmlns:a16="http://schemas.microsoft.com/office/drawing/2014/main" id="{66856F3F-A1F5-4AE5-A7DB-248373B4BDB4}"/>
              </a:ext>
            </a:extLst>
          </p:cNvPr>
          <p:cNvSpPr>
            <a:spLocks xmlns:a="http://schemas.openxmlformats.org/drawingml/2006/main" noGrp="1"/>
          </p:cNvSpPr>
          <p:nvPr/>
        </p:nvSpPr>
        <p:spPr>
          <a:xfrm xmlns:a="http://schemas.openxmlformats.org/drawingml/2006/main">
            <a:off x="5924550" y="16573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送進 Reflection 的內容</a:t>
            </a:r>
          </a:p>
        </p:txBody>
      </p:sp>
      <p:sp>
        <p:nvSpPr>
          <p:cNvPr id="17" name="">
            <a:extLst xmlns:a="http://schemas.openxmlformats.org/drawingml/2006/main">
              <a:ext uri="{FF2B5EF4-FFF2-40B4-BE49-F238E27FC236}">
                <a16:creationId xmlns:a16="http://schemas.microsoft.com/office/drawing/2014/main" id="{88507F80-5AD1-4391-816E-8EA204D1C25B}"/>
              </a:ext>
            </a:extLst>
          </p:cNvPr>
          <p:cNvSpPr>
            <a:spLocks xmlns:a="http://schemas.openxmlformats.org/drawingml/2006/main" noGrp="1"/>
          </p:cNvSpPr>
          <p:nvPr/>
        </p:nvSpPr>
        <p:spPr>
          <a:xfrm xmlns:a="http://schemas.openxmlformats.org/drawingml/2006/main">
            <a:off x="5924550" y="2019300"/>
            <a:ext cx="51435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8" name="">
            <a:extLst xmlns:a="http://schemas.openxmlformats.org/drawingml/2006/main">
              <a:ext uri="{FF2B5EF4-FFF2-40B4-BE49-F238E27FC236}">
                <a16:creationId xmlns:a16="http://schemas.microsoft.com/office/drawing/2014/main" id="{8DCB1952-0602-464E-8CE4-51AB8B4C3A15}"/>
              </a:ext>
            </a:extLst>
          </p:cNvPr>
          <p:cNvSpPr>
            <a:spLocks xmlns:a="http://schemas.openxmlformats.org/drawingml/2006/main" noGrp="1"/>
          </p:cNvSpPr>
          <p:nvPr/>
        </p:nvSpPr>
        <p:spPr>
          <a:xfrm xmlns:a="http://schemas.openxmlformats.org/drawingml/2006/main">
            <a:off x="11639550" y="165735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Reflection 後</a:t>
            </a:r>
          </a:p>
        </p:txBody>
      </p:sp>
      <p:sp>
        <p:nvSpPr>
          <p:cNvPr id="19" name="">
            <a:extLst xmlns:a="http://schemas.openxmlformats.org/drawingml/2006/main">
              <a:ext uri="{FF2B5EF4-FFF2-40B4-BE49-F238E27FC236}">
                <a16:creationId xmlns:a16="http://schemas.microsoft.com/office/drawing/2014/main" id="{8ACF71C2-7B58-4CF2-A52A-E8FA4F89CCB6}"/>
              </a:ext>
            </a:extLst>
          </p:cNvPr>
          <p:cNvSpPr>
            <a:spLocks xmlns:a="http://schemas.openxmlformats.org/drawingml/2006/main" noGrp="1"/>
          </p:cNvSpPr>
          <p:nvPr/>
        </p:nvSpPr>
        <p:spPr>
          <a:xfrm xmlns:a="http://schemas.openxmlformats.org/drawingml/2006/main">
            <a:off x="11639550" y="2019300"/>
            <a:ext cx="58102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20" name="">
            <a:extLst xmlns:a="http://schemas.openxmlformats.org/drawingml/2006/main">
              <a:ext uri="{FF2B5EF4-FFF2-40B4-BE49-F238E27FC236}">
                <a16:creationId xmlns:a16="http://schemas.microsoft.com/office/drawing/2014/main" id="{804B4160-7B31-4548-8517-9704D20D3859}"/>
              </a:ext>
            </a:extLst>
          </p:cNvPr>
          <p:cNvSpPr>
            <a:spLocks xmlns:a="http://schemas.openxmlformats.org/drawingml/2006/main" noGrp="1"/>
          </p:cNvSpPr>
          <p:nvPr/>
        </p:nvSpPr>
        <p:spPr>
          <a:xfrm xmlns:a="http://schemas.openxmlformats.org/drawingml/2006/main">
            <a:off x="857250" y="2190750"/>
            <a:ext cx="447675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Use a continuous Worker-rush policy.</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p:txBody>
      </p:sp>
      <p:sp>
        <p:nvSpPr>
          <p:cNvPr id="21" name="">
            <a:extLst xmlns:a="http://schemas.openxmlformats.org/drawingml/2006/main">
              <a:ext uri="{FF2B5EF4-FFF2-40B4-BE49-F238E27FC236}">
                <a16:creationId xmlns:a16="http://schemas.microsoft.com/office/drawing/2014/main" id="{34B0DFE4-1C18-4D64-8396-C9706BB13737}"/>
              </a:ext>
            </a:extLst>
          </p:cNvPr>
          <p:cNvSpPr>
            <a:spLocks xmlns:a="http://schemas.openxmlformats.org/drawingml/2006/main" noGrp="1"/>
          </p:cNvSpPr>
          <p:nvPr/>
        </p:nvSpPr>
        <p:spPr>
          <a:xfrm xmlns:a="http://schemas.openxmlformats.org/drawingml/2006/main">
            <a:off x="5924550" y="2190750"/>
            <a:ext cx="514350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Balance Reflector 只收到固定 W/D/L 表。</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Passive、Random：每張 map 0W / 6D / 0L</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Randombias：map_1 0/1/5，map_2 0/5/1，map_3 0/6/0</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LightRush、HeavyRush、WorkerRush、AllInBot、Mayari、COAC、TMA：每張 map 0W / 0D / 6L</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總計 180 場，三張 map、雙邊各三次。</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Reflector focus：rush defense、adaptive macro、map-specific response。</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Strategy Rewriter 收到 gameplay contract；Code Rewriter 收到 API contract 與 reusable-rule constraints。</a:t>
            </a:r>
          </a:p>
        </p:txBody>
      </p:sp>
      <p:sp>
        <p:nvSpPr>
          <p:cNvPr id="22" name="">
            <a:extLst xmlns:a="http://schemas.openxmlformats.org/drawingml/2006/main">
              <a:ext uri="{FF2B5EF4-FFF2-40B4-BE49-F238E27FC236}">
                <a16:creationId xmlns:a16="http://schemas.microsoft.com/office/drawing/2014/main" id="{CB3A8718-8C6E-4E50-B1E0-554866F146AA}"/>
              </a:ext>
            </a:extLst>
          </p:cNvPr>
          <p:cNvSpPr>
            <a:spLocks xmlns:a="http://schemas.openxmlformats.org/drawingml/2006/main" noGrp="1"/>
          </p:cNvSpPr>
          <p:nvPr/>
        </p:nvSpPr>
        <p:spPr>
          <a:xfrm xmlns:a="http://schemas.openxmlformats.org/drawingml/2006/main">
            <a:off x="11639550" y="2190750"/>
            <a:ext cx="581025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新策略：Adaptive Hybrid Defense-Forward Macro</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主要改動</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兩名 harvesting Workers</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依敵方 composition 生產 Heavy 或 Ranged</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低資源時暫停戰鬥單位 production</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建立第二個 Base 作為 economy fallback</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規則問題</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用 scouting 偵測敵方 Base，但遊戲完全可觀察</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直接使用 Map_1、Map_2 作為條件，並非可觀察狀態</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全部 Worker 死後要求建造 Base，沒有 builder</a:t>
            </a:r>
          </a:p>
        </p:txBody>
      </p:sp>
      <p:sp>
        <p:nvSpPr>
          <p:cNvPr id="23" name="audit-strip">
            <a:extLst xmlns:a="http://schemas.openxmlformats.org/drawingml/2006/main">
              <a:ext uri="{FF2B5EF4-FFF2-40B4-BE49-F238E27FC236}">
                <a16:creationId xmlns:a16="http://schemas.microsoft.com/office/drawing/2014/main" id="{573E6CBF-2965-406E-8E6A-23D6B1B1BE2C}"/>
              </a:ext>
            </a:extLst>
          </p:cNvPr>
          <p:cNvSpPr>
            <a:spLocks xmlns:a="http://schemas.openxmlformats.org/drawingml/2006/main" noGrp="1"/>
          </p:cNvSpPr>
          <p:nvPr/>
        </p:nvSpPr>
        <p:spPr>
          <a:xfrm xmlns:a="http://schemas.openxmlformats.org/drawingml/2006/main">
            <a:off x="857250" y="8420100"/>
            <a:ext cx="16573500" cy="1123950"/>
          </a:xfrm>
          <a:prstGeom xmlns:a="http://schemas.openxmlformats.org/drawingml/2006/main" prst="roundRect">
            <a:avLst>
              <a:gd name="adj" fmla="val 6780"/>
            </a:avLst>
          </a:prstGeom>
          <a:solidFill xmlns:a="http://schemas.openxmlformats.org/drawingml/2006/main">
            <a:srgbClr val="F8D8D8"/>
          </a:solidFill>
          <a:ln xmlns:a="http://schemas.openxmlformats.org/drawingml/2006/main" w="9525">
            <a:solidFill>
              <a:srgbClr val="B95160"/>
            </a:solidFill>
            <a:prstDash val="solid"/>
          </a:ln>
        </p:spPr>
      </p:sp>
      <p:sp>
        <p:nvSpPr>
          <p:cNvPr id="24" name="">
            <a:extLst xmlns:a="http://schemas.openxmlformats.org/drawingml/2006/main">
              <a:ext uri="{FF2B5EF4-FFF2-40B4-BE49-F238E27FC236}">
                <a16:creationId xmlns:a16="http://schemas.microsoft.com/office/drawing/2014/main" id="{6DA1D131-C099-4D95-9094-E21CC22AAC72}"/>
              </a:ext>
            </a:extLst>
          </p:cNvPr>
          <p:cNvSpPr>
            <a:spLocks xmlns:a="http://schemas.openxmlformats.org/drawingml/2006/main" noGrp="1"/>
          </p:cNvSpPr>
          <p:nvPr/>
        </p:nvSpPr>
        <p:spPr>
          <a:xfrm xmlns:a="http://schemas.openxmlformats.org/drawingml/2006/main">
            <a:off x="1123950" y="85915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B95160"/>
                </a:solidFill>
                <a:latin typeface="Noto Sans CJK TC"/>
                <a:ea typeface="Noto Sans CJK TC"/>
                <a:cs typeface="Noto Sans CJK TC"/>
              </a:defRPr>
            </a:pPr>
            <a:r>
              <a:rPr sz="975" b="1" i="0">
                <a:solidFill>
                  <a:srgbClr val="B95160"/>
                </a:solidFill>
                <a:latin typeface="Noto Sans CJK TC"/>
                <a:ea typeface="Noto Sans CJK TC"/>
                <a:cs typeface="Noto Sans CJK TC"/>
              </a:rPr>
              <a:t>GEN SCOPE</a:t>
            </a:r>
          </a:p>
        </p:txBody>
      </p:sp>
      <p:sp>
        <p:nvSpPr>
          <p:cNvPr id="25" name="">
            <a:extLst xmlns:a="http://schemas.openxmlformats.org/drawingml/2006/main">
              <a:ext uri="{FF2B5EF4-FFF2-40B4-BE49-F238E27FC236}">
                <a16:creationId xmlns:a16="http://schemas.microsoft.com/office/drawing/2014/main" id="{A5E034FC-0EA8-4358-B909-D7F15464C172}"/>
              </a:ext>
            </a:extLst>
          </p:cNvPr>
          <p:cNvSpPr>
            <a:spLocks xmlns:a="http://schemas.openxmlformats.org/drawingml/2006/main" noGrp="1"/>
          </p:cNvSpPr>
          <p:nvPr/>
        </p:nvSpPr>
        <p:spPr>
          <a:xfrm xmlns:a="http://schemas.openxmlformats.org/drawingml/2006/main">
            <a:off x="1123950" y="8858250"/>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25252A"/>
                </a:solidFill>
                <a:latin typeface="Noto Sans CJK TC"/>
                <a:ea typeface="Noto Sans CJK TC"/>
                <a:cs typeface="Noto Sans CJK TC"/>
              </a:defRPr>
            </a:pPr>
            <a:r>
              <a:rPr sz="1350" b="1" i="0">
                <a:solidFill>
                  <a:srgbClr val="25252A"/>
                </a:solidFill>
                <a:latin typeface="Noto Sans CJK TC"/>
                <a:ea typeface="Noto Sans CJK TC"/>
                <a:cs typeface="Noto Sans CJK TC"/>
              </a:rPr>
              <a:t>strategy_prompt + generation_prompt changed  |  inherited_java unchanged</a:t>
            </a:r>
          </a:p>
        </p:txBody>
      </p:sp>
      <p:sp>
        <p:nvSpPr>
          <p:cNvPr id="26" name="">
            <a:extLst xmlns:a="http://schemas.openxmlformats.org/drawingml/2006/main">
              <a:ext uri="{FF2B5EF4-FFF2-40B4-BE49-F238E27FC236}">
                <a16:creationId xmlns:a16="http://schemas.microsoft.com/office/drawing/2014/main" id="{92116C9B-8349-40BF-B8F2-C06792D65060}"/>
              </a:ext>
            </a:extLst>
          </p:cNvPr>
          <p:cNvSpPr>
            <a:spLocks xmlns:a="http://schemas.openxmlformats.org/drawingml/2006/main" noGrp="1"/>
          </p:cNvSpPr>
          <p:nvPr/>
        </p:nvSpPr>
        <p:spPr>
          <a:xfrm xmlns:a="http://schemas.openxmlformats.org/drawingml/2006/main">
            <a:off x="7334250" y="8648700"/>
            <a:ext cx="0" cy="685800"/>
          </a:xfrm>
          <a:prstGeom xmlns:a="http://schemas.openxmlformats.org/drawingml/2006/main" prst="line">
            <a:avLst/>
          </a:prstGeom>
          <a:noFill xmlns:a="http://schemas.openxmlformats.org/drawingml/2006/main"/>
          <a:ln xmlns:a="http://schemas.openxmlformats.org/drawingml/2006/main" w="9525">
            <a:solidFill>
              <a:srgbClr val="B95160"/>
            </a:solidFill>
            <a:prstDash val="solid"/>
          </a:ln>
        </p:spPr>
      </p:sp>
      <p:sp>
        <p:nvSpPr>
          <p:cNvPr id="27" name="">
            <a:extLst xmlns:a="http://schemas.openxmlformats.org/drawingml/2006/main">
              <a:ext uri="{FF2B5EF4-FFF2-40B4-BE49-F238E27FC236}">
                <a16:creationId xmlns:a16="http://schemas.microsoft.com/office/drawing/2014/main" id="{78F5D664-1C14-4C7A-9A8C-672838BC799E}"/>
              </a:ext>
            </a:extLst>
          </p:cNvPr>
          <p:cNvSpPr>
            <a:spLocks xmlns:a="http://schemas.openxmlformats.org/drawingml/2006/main" noGrp="1"/>
          </p:cNvSpPr>
          <p:nvPr/>
        </p:nvSpPr>
        <p:spPr>
          <a:xfrm xmlns:a="http://schemas.openxmlformats.org/drawingml/2006/main">
            <a:off x="7667625" y="85915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B95160"/>
                </a:solidFill>
                <a:latin typeface="Noto Sans CJK TC"/>
                <a:ea typeface="Noto Sans CJK TC"/>
                <a:cs typeface="Noto Sans CJK TC"/>
              </a:defRPr>
            </a:pPr>
            <a:r>
              <a:rPr sz="975" b="1" i="0">
                <a:solidFill>
                  <a:srgbClr val="B95160"/>
                </a:solidFill>
                <a:latin typeface="Noto Sans CJK TC"/>
                <a:ea typeface="Noto Sans CJK TC"/>
                <a:cs typeface="Noto Sans CJK TC"/>
              </a:rPr>
              <a:t>人工判讀</a:t>
            </a:r>
          </a:p>
        </p:txBody>
      </p:sp>
      <p:sp>
        <p:nvSpPr>
          <p:cNvPr id="28" name="">
            <a:extLst xmlns:a="http://schemas.openxmlformats.org/drawingml/2006/main">
              <a:ext uri="{FF2B5EF4-FFF2-40B4-BE49-F238E27FC236}">
                <a16:creationId xmlns:a16="http://schemas.microsoft.com/office/drawing/2014/main" id="{103A15FB-072E-4197-8C60-6ADAA306399C}"/>
              </a:ext>
            </a:extLst>
          </p:cNvPr>
          <p:cNvSpPr>
            <a:spLocks xmlns:a="http://schemas.openxmlformats.org/drawingml/2006/main" noGrp="1"/>
          </p:cNvSpPr>
          <p:nvPr/>
        </p:nvSpPr>
        <p:spPr>
          <a:xfrm xmlns:a="http://schemas.openxmlformats.org/drawingml/2006/main">
            <a:off x="7667625" y="8858250"/>
            <a:ext cx="9382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兩個欄位 scope 正確，策略仍含多項不可執行規則。</a:t>
            </a:r>
          </a:p>
        </p:txBody>
      </p:sp>
    </p:spTree>
    <p:extLst>
      <p:ext uri="{BB962C8B-B14F-4D97-AF65-F5344CB8AC3E}">
        <p14:creationId xmlns:p14="http://schemas.microsoft.com/office/powerpoint/2010/main" val="1511889942"/>
      </p:ext>
    </p:extLst>
  </p:cSld>
</p:sld>
</file>

<file path=ppt/slides/slide13.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B95FB94-35DB-404D-9047-97145183F609}"/>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
            <a:extLst xmlns:a="http://schemas.openxmlformats.org/drawingml/2006/main">
              <a:ext uri="{FF2B5EF4-FFF2-40B4-BE49-F238E27FC236}">
                <a16:creationId xmlns:a16="http://schemas.microsoft.com/office/drawing/2014/main" id="{0AC9D266-683B-4643-860D-214E0623A430}"/>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
            <a:extLst xmlns:a="http://schemas.openxmlformats.org/drawingml/2006/main">
              <a:ext uri="{FF2B5EF4-FFF2-40B4-BE49-F238E27FC236}">
                <a16:creationId xmlns:a16="http://schemas.microsoft.com/office/drawing/2014/main" id="{A78D182B-C18E-4CBE-A0FC-809AC3262517}"/>
              </a:ext>
            </a:extLst>
          </p:cNvPr>
          <p:cNvSpPr>
            <a:spLocks xmlns:a="http://schemas.openxmlformats.org/drawingml/2006/main" noGrp="1"/>
          </p:cNvSpPr>
          <p:nvPr/>
        </p:nvSpPr>
        <p:spPr>
          <a:xfrm xmlns:a="http://schemas.openxmlformats.org/drawingml/2006/main">
            <a:off x="9010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4" name="">
            <a:extLst xmlns:a="http://schemas.openxmlformats.org/drawingml/2006/main">
              <a:ext uri="{FF2B5EF4-FFF2-40B4-BE49-F238E27FC236}">
                <a16:creationId xmlns:a16="http://schemas.microsoft.com/office/drawing/2014/main" id="{121A2121-5549-4BED-ABC9-B5E31BC76B9B}"/>
              </a:ext>
            </a:extLst>
          </p:cNvPr>
          <p:cNvSpPr>
            <a:spLocks xmlns:a="http://schemas.openxmlformats.org/drawingml/2006/main" noGrp="1"/>
          </p:cNvSpPr>
          <p:nvPr/>
        </p:nvSpPr>
        <p:spPr>
          <a:xfrm xmlns:a="http://schemas.openxmlformats.org/drawingml/2006/main">
            <a:off x="92011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5" name="">
            <a:extLst xmlns:a="http://schemas.openxmlformats.org/drawingml/2006/main">
              <a:ext uri="{FF2B5EF4-FFF2-40B4-BE49-F238E27FC236}">
                <a16:creationId xmlns:a16="http://schemas.microsoft.com/office/drawing/2014/main" id="{68DD2FDF-B98D-4CF9-973E-933C60490BEF}"/>
              </a:ext>
            </a:extLst>
          </p:cNvPr>
          <p:cNvSpPr>
            <a:spLocks xmlns:a="http://schemas.openxmlformats.org/drawingml/2006/main" noGrp="1"/>
          </p:cNvSpPr>
          <p:nvPr/>
        </p:nvSpPr>
        <p:spPr>
          <a:xfrm xmlns:a="http://schemas.openxmlformats.org/drawingml/2006/main">
            <a:off x="9391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6" name="">
            <a:extLst xmlns:a="http://schemas.openxmlformats.org/drawingml/2006/main">
              <a:ext uri="{FF2B5EF4-FFF2-40B4-BE49-F238E27FC236}">
                <a16:creationId xmlns:a16="http://schemas.microsoft.com/office/drawing/2014/main" id="{D457FE84-4E4E-45F8-B394-B1C2DA3A7485}"/>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7" name="badge-13">
            <a:extLst xmlns:a="http://schemas.openxmlformats.org/drawingml/2006/main">
              <a:ext uri="{FF2B5EF4-FFF2-40B4-BE49-F238E27FC236}">
                <a16:creationId xmlns:a16="http://schemas.microsoft.com/office/drawing/2014/main" id="{D44FF472-EEF5-4291-9B43-82A062FB1548}"/>
              </a:ext>
            </a:extLst>
          </p:cNvPr>
          <p:cNvSpPr>
            <a:spLocks xmlns:a="http://schemas.openxmlformats.org/drawingml/2006/main" noGrp="1"/>
          </p:cNvSpPr>
          <p:nvPr/>
        </p:nvSpPr>
        <p:spPr>
          <a:xfrm xmlns:a="http://schemas.openxmlformats.org/drawingml/2006/main">
            <a:off x="685800" y="590550"/>
            <a:ext cx="476250" cy="476250"/>
          </a:xfrm>
          <a:prstGeom xmlns:a="http://schemas.openxmlformats.org/drawingml/2006/main" prst="ellipse">
            <a:avLst/>
          </a:prstGeom>
          <a:solidFill xmlns:a="http://schemas.openxmlformats.org/drawingml/2006/main">
            <a:srgbClr val="E36B78"/>
          </a:solidFill>
          <a:ln xmlns:a="http://schemas.openxmlformats.org/drawingml/2006/main" w="0">
            <a:solidFill>
              <a:srgbClr val="E36B78"/>
            </a:solidFill>
          </a:ln>
        </p:spPr>
        <p:txBody>
          <a:bodyPr xmlns:a="http://schemas.openxmlformats.org/drawingml/2006/main" anchor="ctr">
            <a:normAutofit fontScale="70053"/>
          </a:bodyPr>
          <a:lstStyle xmlns:a="http://schemas.openxmlformats.org/drawingml/2006/main"/>
          <a:p xmlns:a="http://schemas.openxmlformats.org/drawingml/2006/main">
            <a:pPr algn="ctr">
              <a:defRPr sz="1350" b="1">
                <a:solidFill>
                  <a:srgbClr val="FFFFFF"/>
                </a:solidFill>
                <a:latin typeface="Noto Sans CJK TC"/>
                <a:ea typeface="Noto Sans CJK TC"/>
                <a:cs typeface="Noto Sans CJK TC"/>
              </a:defRPr>
            </a:pPr>
            <a:r>
              <a:rPr sz="1350" b="1">
                <a:solidFill>
                  <a:srgbClr val="FFFFFF"/>
                </a:solidFill>
                <a:latin typeface="Noto Sans CJK TC"/>
                <a:ea typeface="Noto Sans CJK TC"/>
                <a:cs typeface="Noto Sans CJK TC"/>
              </a:rPr>
              <a:t>B3</a:t>
            </a:r>
          </a:p>
        </p:txBody>
      </p:sp>
      <p:sp>
        <p:nvSpPr>
          <p:cNvPr id="8" name="">
            <a:extLst xmlns:a="http://schemas.openxmlformats.org/drawingml/2006/main">
              <a:ext uri="{FF2B5EF4-FFF2-40B4-BE49-F238E27FC236}">
                <a16:creationId xmlns:a16="http://schemas.microsoft.com/office/drawing/2014/main" id="{2E3951E1-A0F2-456A-957F-8573B1B644FD}"/>
              </a:ext>
            </a:extLst>
          </p:cNvPr>
          <p:cNvSpPr>
            <a:spLocks xmlns:a="http://schemas.openxmlformats.org/drawingml/2006/main" noGrp="1"/>
          </p:cNvSpPr>
          <p:nvPr/>
        </p:nvSpPr>
        <p:spPr>
          <a:xfrm xmlns:a="http://schemas.openxmlformats.org/drawingml/2006/main">
            <a:off x="1314450" y="523875"/>
            <a:ext cx="1276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225" b="1" i="0">
                <a:solidFill>
                  <a:srgbClr val="431218"/>
                </a:solidFill>
                <a:latin typeface="Noto Serif CJK TC"/>
                <a:ea typeface="Noto Serif CJK TC"/>
                <a:cs typeface="Noto Serif CJK TC"/>
              </a:defRPr>
            </a:pPr>
            <a:r>
              <a:rPr sz="3225" b="1" i="0">
                <a:solidFill>
                  <a:srgbClr val="431218"/>
                </a:solidFill>
                <a:latin typeface="Noto Serif CJK TC"/>
                <a:ea typeface="Noto Serif CJK TC"/>
                <a:cs typeface="Noto Serif CJK TC"/>
              </a:rPr>
              <a:t>Balance 3  |  Hybrid expansion 仍引入不存在的機制</a:t>
            </a:r>
          </a:p>
        </p:txBody>
      </p:sp>
      <p:sp>
        <p:nvSpPr>
          <p:cNvPr id="9" name="">
            <a:extLst xmlns:a="http://schemas.openxmlformats.org/drawingml/2006/main">
              <a:ext uri="{FF2B5EF4-FFF2-40B4-BE49-F238E27FC236}">
                <a16:creationId xmlns:a16="http://schemas.microsoft.com/office/drawing/2014/main" id="{050E246F-0E88-40FB-A205-5E58494D8018}"/>
              </a:ext>
            </a:extLst>
          </p:cNvPr>
          <p:cNvSpPr>
            <a:spLocks xmlns:a="http://schemas.openxmlformats.org/drawingml/2006/main" noGrp="1"/>
          </p:cNvSpPr>
          <p:nvPr/>
        </p:nvSpPr>
        <p:spPr>
          <a:xfrm xmlns:a="http://schemas.openxmlformats.org/drawingml/2006/main">
            <a:off x="1333500" y="1143000"/>
            <a:ext cx="1381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Contract 已送入 strategy rewriter，但 closed-world grounding 未落實</a:t>
            </a:r>
          </a:p>
        </p:txBody>
      </p:sp>
      <p:sp>
        <p:nvSpPr>
          <p:cNvPr id="10" name="">
            <a:extLst xmlns:a="http://schemas.openxmlformats.org/drawingml/2006/main">
              <a:ext uri="{FF2B5EF4-FFF2-40B4-BE49-F238E27FC236}">
                <a16:creationId xmlns:a16="http://schemas.microsoft.com/office/drawing/2014/main" id="{A4564C63-5C68-41F8-B5BD-688218F626CA}"/>
              </a:ext>
            </a:extLst>
          </p:cNvPr>
          <p:cNvSpPr>
            <a:spLocks xmlns:a="http://schemas.openxmlformats.org/drawingml/2006/main" noGrp="1"/>
          </p:cNvSpPr>
          <p:nvPr/>
        </p:nvSpPr>
        <p:spPr>
          <a:xfrm xmlns:a="http://schemas.openxmlformats.org/drawingml/2006/main">
            <a:off x="14287500" y="6286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1200" b="1" i="0">
                <a:solidFill>
                  <a:srgbClr val="47795C"/>
                </a:solidFill>
                <a:latin typeface="Noto Sans CJK TC"/>
                <a:ea typeface="Noto Sans CJK TC"/>
                <a:cs typeface="Noto Sans CJK TC"/>
              </a:defRPr>
            </a:pPr>
            <a:r>
              <a:rPr sz="1200" b="1" i="0">
                <a:solidFill>
                  <a:srgbClr val="47795C"/>
                </a:solidFill>
                <a:latin typeface="Noto Sans CJK TC"/>
                <a:ea typeface="Noto Sans CJK TC"/>
                <a:cs typeface="Noto Sans CJK TC"/>
              </a:rPr>
              <a:t>APPLIED  ·  reflector 1  ·  rewriters 2</a:t>
            </a:r>
          </a:p>
        </p:txBody>
      </p:sp>
      <p:sp>
        <p:nvSpPr>
          <p:cNvPr id="11" name="">
            <a:extLst xmlns:a="http://schemas.openxmlformats.org/drawingml/2006/main">
              <a:ext uri="{FF2B5EF4-FFF2-40B4-BE49-F238E27FC236}">
                <a16:creationId xmlns:a16="http://schemas.microsoft.com/office/drawing/2014/main" id="{1A1B457E-EE2C-4268-8F00-1D5FBFD56108}"/>
              </a:ext>
            </a:extLst>
          </p:cNvPr>
          <p:cNvSpPr>
            <a:spLocks xmlns:a="http://schemas.openxmlformats.org/drawingml/2006/main" noGrp="1"/>
          </p:cNvSpPr>
          <p:nvPr/>
        </p:nvSpPr>
        <p:spPr>
          <a:xfrm xmlns:a="http://schemas.openxmlformats.org/drawingml/2006/main">
            <a:off x="16764000" y="9829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06A"/>
                </a:solidFill>
                <a:latin typeface="Noto Sans CJK TC"/>
                <a:ea typeface="Noto Sans CJK TC"/>
                <a:cs typeface="Noto Sans CJK TC"/>
              </a:defRPr>
            </a:pPr>
            <a:r>
              <a:rPr sz="900" b="0" i="0">
                <a:solidFill>
                  <a:srgbClr val="62606A"/>
                </a:solidFill>
                <a:latin typeface="Noto Sans CJK TC"/>
                <a:ea typeface="Noto Sans CJK TC"/>
                <a:cs typeface="Noto Sans CJK TC"/>
              </a:rPr>
              <a:t>13 / 14</a:t>
            </a:r>
          </a:p>
        </p:txBody>
      </p:sp>
      <p:sp>
        <p:nvSpPr>
          <p:cNvPr id="12" name="">
            <a:extLst xmlns:a="http://schemas.openxmlformats.org/drawingml/2006/main">
              <a:ext uri="{FF2B5EF4-FFF2-40B4-BE49-F238E27FC236}">
                <a16:creationId xmlns:a16="http://schemas.microsoft.com/office/drawing/2014/main" id="{FE1E3BE8-45CC-4CF5-ACD6-BBAB1118A070}"/>
              </a:ext>
            </a:extLst>
          </p:cNvPr>
          <p:cNvSpPr>
            <a:spLocks xmlns:a="http://schemas.openxmlformats.org/drawingml/2006/main" noGrp="1"/>
          </p:cNvSpPr>
          <p:nvPr/>
        </p:nvSpPr>
        <p:spPr>
          <a:xfrm xmlns:a="http://schemas.openxmlformats.org/drawingml/2006/main">
            <a:off x="5638800" y="1924050"/>
            <a:ext cx="0" cy="621030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3" name="">
            <a:extLst xmlns:a="http://schemas.openxmlformats.org/drawingml/2006/main">
              <a:ext uri="{FF2B5EF4-FFF2-40B4-BE49-F238E27FC236}">
                <a16:creationId xmlns:a16="http://schemas.microsoft.com/office/drawing/2014/main" id="{C7972A27-AAB4-4505-BD9E-369F2E8F337F}"/>
              </a:ext>
            </a:extLst>
          </p:cNvPr>
          <p:cNvSpPr>
            <a:spLocks xmlns:a="http://schemas.openxmlformats.org/drawingml/2006/main" noGrp="1"/>
          </p:cNvSpPr>
          <p:nvPr/>
        </p:nvSpPr>
        <p:spPr>
          <a:xfrm xmlns:a="http://schemas.openxmlformats.org/drawingml/2006/main">
            <a:off x="11353800" y="1924050"/>
            <a:ext cx="0" cy="621030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4" name="">
            <a:extLst xmlns:a="http://schemas.openxmlformats.org/drawingml/2006/main">
              <a:ext uri="{FF2B5EF4-FFF2-40B4-BE49-F238E27FC236}">
                <a16:creationId xmlns:a16="http://schemas.microsoft.com/office/drawing/2014/main" id="{C5C9509D-15CC-42FF-A5E3-402CEC3DACBD}"/>
              </a:ext>
            </a:extLst>
          </p:cNvPr>
          <p:cNvSpPr>
            <a:spLocks xmlns:a="http://schemas.openxmlformats.org/drawingml/2006/main" noGrp="1"/>
          </p:cNvSpPr>
          <p:nvPr/>
        </p:nvSpPr>
        <p:spPr>
          <a:xfrm xmlns:a="http://schemas.openxmlformats.org/drawingml/2006/main">
            <a:off x="857250" y="16573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原始 Policy</a:t>
            </a:r>
          </a:p>
        </p:txBody>
      </p:sp>
      <p:sp>
        <p:nvSpPr>
          <p:cNvPr id="15" name="">
            <a:extLst xmlns:a="http://schemas.openxmlformats.org/drawingml/2006/main">
              <a:ext uri="{FF2B5EF4-FFF2-40B4-BE49-F238E27FC236}">
                <a16:creationId xmlns:a16="http://schemas.microsoft.com/office/drawing/2014/main" id="{F358985B-882C-494D-B3E5-F654FA74BBCB}"/>
              </a:ext>
            </a:extLst>
          </p:cNvPr>
          <p:cNvSpPr>
            <a:spLocks xmlns:a="http://schemas.openxmlformats.org/drawingml/2006/main" noGrp="1"/>
          </p:cNvSpPr>
          <p:nvPr/>
        </p:nvSpPr>
        <p:spPr>
          <a:xfrm xmlns:a="http://schemas.openxmlformats.org/drawingml/2006/main">
            <a:off x="857250" y="2019300"/>
            <a:ext cx="44767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6" name="">
            <a:extLst xmlns:a="http://schemas.openxmlformats.org/drawingml/2006/main">
              <a:ext uri="{FF2B5EF4-FFF2-40B4-BE49-F238E27FC236}">
                <a16:creationId xmlns:a16="http://schemas.microsoft.com/office/drawing/2014/main" id="{3C01BF86-40EC-431B-8BFD-4A9402B943D3}"/>
              </a:ext>
            </a:extLst>
          </p:cNvPr>
          <p:cNvSpPr>
            <a:spLocks xmlns:a="http://schemas.openxmlformats.org/drawingml/2006/main" noGrp="1"/>
          </p:cNvSpPr>
          <p:nvPr/>
        </p:nvSpPr>
        <p:spPr>
          <a:xfrm xmlns:a="http://schemas.openxmlformats.org/drawingml/2006/main">
            <a:off x="5924550" y="16573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送進 Reflection 的內容</a:t>
            </a:r>
          </a:p>
        </p:txBody>
      </p:sp>
      <p:sp>
        <p:nvSpPr>
          <p:cNvPr id="17" name="">
            <a:extLst xmlns:a="http://schemas.openxmlformats.org/drawingml/2006/main">
              <a:ext uri="{FF2B5EF4-FFF2-40B4-BE49-F238E27FC236}">
                <a16:creationId xmlns:a16="http://schemas.microsoft.com/office/drawing/2014/main" id="{6BD38253-3D3E-4E4F-BCBD-CFD426DFD448}"/>
              </a:ext>
            </a:extLst>
          </p:cNvPr>
          <p:cNvSpPr>
            <a:spLocks xmlns:a="http://schemas.openxmlformats.org/drawingml/2006/main" noGrp="1"/>
          </p:cNvSpPr>
          <p:nvPr/>
        </p:nvSpPr>
        <p:spPr>
          <a:xfrm xmlns:a="http://schemas.openxmlformats.org/drawingml/2006/main">
            <a:off x="5924550" y="2019300"/>
            <a:ext cx="51435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8" name="">
            <a:extLst xmlns:a="http://schemas.openxmlformats.org/drawingml/2006/main">
              <a:ext uri="{FF2B5EF4-FFF2-40B4-BE49-F238E27FC236}">
                <a16:creationId xmlns:a16="http://schemas.microsoft.com/office/drawing/2014/main" id="{22CE8891-D83A-4C9C-9F6E-D6E4735CEBC8}"/>
              </a:ext>
            </a:extLst>
          </p:cNvPr>
          <p:cNvSpPr>
            <a:spLocks xmlns:a="http://schemas.openxmlformats.org/drawingml/2006/main" noGrp="1"/>
          </p:cNvSpPr>
          <p:nvPr/>
        </p:nvSpPr>
        <p:spPr>
          <a:xfrm xmlns:a="http://schemas.openxmlformats.org/drawingml/2006/main">
            <a:off x="11639550" y="165735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Reflection 後</a:t>
            </a:r>
          </a:p>
        </p:txBody>
      </p:sp>
      <p:sp>
        <p:nvSpPr>
          <p:cNvPr id="19" name="">
            <a:extLst xmlns:a="http://schemas.openxmlformats.org/drawingml/2006/main">
              <a:ext uri="{FF2B5EF4-FFF2-40B4-BE49-F238E27FC236}">
                <a16:creationId xmlns:a16="http://schemas.microsoft.com/office/drawing/2014/main" id="{2DB1D435-AFD5-4ABE-96BE-9D5441B20E14}"/>
              </a:ext>
            </a:extLst>
          </p:cNvPr>
          <p:cNvSpPr>
            <a:spLocks xmlns:a="http://schemas.openxmlformats.org/drawingml/2006/main" noGrp="1"/>
          </p:cNvSpPr>
          <p:nvPr/>
        </p:nvSpPr>
        <p:spPr>
          <a:xfrm xmlns:a="http://schemas.openxmlformats.org/drawingml/2006/main">
            <a:off x="11639550" y="2019300"/>
            <a:ext cx="58102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20" name="">
            <a:extLst xmlns:a="http://schemas.openxmlformats.org/drawingml/2006/main">
              <a:ext uri="{FF2B5EF4-FFF2-40B4-BE49-F238E27FC236}">
                <a16:creationId xmlns:a16="http://schemas.microsoft.com/office/drawing/2014/main" id="{FFAE163E-4EE6-4EA7-AD32-D964504309B9}"/>
              </a:ext>
            </a:extLst>
          </p:cNvPr>
          <p:cNvSpPr>
            <a:spLocks xmlns:a="http://schemas.openxmlformats.org/drawingml/2006/main" noGrp="1"/>
          </p:cNvSpPr>
          <p:nvPr/>
        </p:nvSpPr>
        <p:spPr>
          <a:xfrm xmlns:a="http://schemas.openxmlformats.org/drawingml/2006/main">
            <a:off x="857250" y="2190750"/>
            <a:ext cx="447675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Use a continuous Worker-rush policy.</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p:txBody>
      </p:sp>
      <p:sp>
        <p:nvSpPr>
          <p:cNvPr id="21" name="">
            <a:extLst xmlns:a="http://schemas.openxmlformats.org/drawingml/2006/main">
              <a:ext uri="{FF2B5EF4-FFF2-40B4-BE49-F238E27FC236}">
                <a16:creationId xmlns:a16="http://schemas.microsoft.com/office/drawing/2014/main" id="{43CA4C7C-55E9-43CE-818D-84BA4963E2FF}"/>
              </a:ext>
            </a:extLst>
          </p:cNvPr>
          <p:cNvSpPr>
            <a:spLocks xmlns:a="http://schemas.openxmlformats.org/drawingml/2006/main" noGrp="1"/>
          </p:cNvSpPr>
          <p:nvPr/>
        </p:nvSpPr>
        <p:spPr>
          <a:xfrm xmlns:a="http://schemas.openxmlformats.org/drawingml/2006/main">
            <a:off x="5924550" y="2190750"/>
            <a:ext cx="514350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Balance Reflector 只收到固定 W/D/L 表。</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Passive、Random：每張 map 0W / 6D / 0L</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Randombias：map_1 0/1/5，map_2 0/5/1，map_3 0/6/0</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LightRush、HeavyRush、WorkerRush、AllInBot、Mayari、COAC、TMA：每張 map 0W / 0D / 6L</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總計 180 場，三張 map、雙邊各三次。</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Reflector focus：early defense、macroeconomic adaptation、side-specific behavior。</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Reflection 文字本身已出現 scouting、advanced AI、side advantage 等推測，後續 rewriter 沒有完全轉成可觀察條件。</a:t>
            </a:r>
          </a:p>
        </p:txBody>
      </p:sp>
      <p:sp>
        <p:nvSpPr>
          <p:cNvPr id="22" name="">
            <a:extLst xmlns:a="http://schemas.openxmlformats.org/drawingml/2006/main">
              <a:ext uri="{FF2B5EF4-FFF2-40B4-BE49-F238E27FC236}">
                <a16:creationId xmlns:a16="http://schemas.microsoft.com/office/drawing/2014/main" id="{1DE0D729-592A-4A8C-9EDF-E9077F2A872B}"/>
              </a:ext>
            </a:extLst>
          </p:cNvPr>
          <p:cNvSpPr>
            <a:spLocks xmlns:a="http://schemas.openxmlformats.org/drawingml/2006/main" noGrp="1"/>
          </p:cNvSpPr>
          <p:nvPr/>
        </p:nvSpPr>
        <p:spPr>
          <a:xfrm xmlns:a="http://schemas.openxmlformats.org/drawingml/2006/main">
            <a:off x="11639550" y="2190750"/>
            <a:ext cx="5810250" cy="581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新策略：Adaptive Hybrid Defense-Expansion</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主要改動</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早期維持三名 Workers</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中期依 enemy composition 調整 Light、Heavy、Ranged 比例</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P0 與 P1 使用不同 production timing</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後期以 Heavy 與 Ranged 施壓</a:t>
            </a:r>
          </a:p>
          <a:p xmlns:a="http://schemas.openxmlformats.org/drawingml/2006/main">
            <a:r>
              <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規則問題</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要求在不建 Barracks 時生產 Ranged</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兩次提到 Barracks upgrades，但遊戲沒有 upgrade</a:t>
            </a:r>
          </a:p>
          <a:p xmlns:a="http://schemas.openxmlformats.org/drawingml/2006/main">
            <a:pPr algn="l">
              <a:defRPr sz="1275" b="0" i="0">
                <a:solidFill>
                  <a:srgbClr val="25252A"/>
                </a:solidFill>
                <a:latin typeface="Noto Sans CJK TC"/>
                <a:ea typeface="Noto Sans CJK TC"/>
                <a:cs typeface="Noto Sans CJK TC"/>
              </a:defRPr>
            </a:pPr>
            <a:r>
              <a:rPr sz="1275" b="0" i="0">
                <a:solidFill>
                  <a:srgbClr val="25252A"/>
                </a:solidFill>
                <a:latin typeface="Noto Sans CJK TC"/>
                <a:ea typeface="Noto Sans CJK TC"/>
                <a:cs typeface="Noto Sans CJK TC"/>
              </a:rPr>
              <a:t>• 把資源歸屬於單一 Base，而非 player stockpile</a:t>
            </a:r>
          </a:p>
        </p:txBody>
      </p:sp>
      <p:sp>
        <p:nvSpPr>
          <p:cNvPr id="23" name="audit-strip">
            <a:extLst xmlns:a="http://schemas.openxmlformats.org/drawingml/2006/main">
              <a:ext uri="{FF2B5EF4-FFF2-40B4-BE49-F238E27FC236}">
                <a16:creationId xmlns:a16="http://schemas.microsoft.com/office/drawing/2014/main" id="{73077BE4-C6F4-468B-B985-0F2DA2498524}"/>
              </a:ext>
            </a:extLst>
          </p:cNvPr>
          <p:cNvSpPr>
            <a:spLocks xmlns:a="http://schemas.openxmlformats.org/drawingml/2006/main" noGrp="1"/>
          </p:cNvSpPr>
          <p:nvPr/>
        </p:nvSpPr>
        <p:spPr>
          <a:xfrm xmlns:a="http://schemas.openxmlformats.org/drawingml/2006/main">
            <a:off x="857250" y="8420100"/>
            <a:ext cx="16573500" cy="1123950"/>
          </a:xfrm>
          <a:prstGeom xmlns:a="http://schemas.openxmlformats.org/drawingml/2006/main" prst="roundRect">
            <a:avLst>
              <a:gd name="adj" fmla="val 6780"/>
            </a:avLst>
          </a:prstGeom>
          <a:solidFill xmlns:a="http://schemas.openxmlformats.org/drawingml/2006/main">
            <a:srgbClr val="F8D8D8"/>
          </a:solidFill>
          <a:ln xmlns:a="http://schemas.openxmlformats.org/drawingml/2006/main" w="9525">
            <a:solidFill>
              <a:srgbClr val="B95160"/>
            </a:solidFill>
            <a:prstDash val="solid"/>
          </a:ln>
        </p:spPr>
      </p:sp>
      <p:sp>
        <p:nvSpPr>
          <p:cNvPr id="24" name="">
            <a:extLst xmlns:a="http://schemas.openxmlformats.org/drawingml/2006/main">
              <a:ext uri="{FF2B5EF4-FFF2-40B4-BE49-F238E27FC236}">
                <a16:creationId xmlns:a16="http://schemas.microsoft.com/office/drawing/2014/main" id="{78AC2CCD-1C9E-476B-8348-A3E4A5CC4C0E}"/>
              </a:ext>
            </a:extLst>
          </p:cNvPr>
          <p:cNvSpPr>
            <a:spLocks xmlns:a="http://schemas.openxmlformats.org/drawingml/2006/main" noGrp="1"/>
          </p:cNvSpPr>
          <p:nvPr/>
        </p:nvSpPr>
        <p:spPr>
          <a:xfrm xmlns:a="http://schemas.openxmlformats.org/drawingml/2006/main">
            <a:off x="1123950" y="85915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B95160"/>
                </a:solidFill>
                <a:latin typeface="Noto Sans CJK TC"/>
                <a:ea typeface="Noto Sans CJK TC"/>
                <a:cs typeface="Noto Sans CJK TC"/>
              </a:defRPr>
            </a:pPr>
            <a:r>
              <a:rPr sz="975" b="1" i="0">
                <a:solidFill>
                  <a:srgbClr val="B95160"/>
                </a:solidFill>
                <a:latin typeface="Noto Sans CJK TC"/>
                <a:ea typeface="Noto Sans CJK TC"/>
                <a:cs typeface="Noto Sans CJK TC"/>
              </a:rPr>
              <a:t>GEN SCOPE</a:t>
            </a:r>
          </a:p>
        </p:txBody>
      </p:sp>
      <p:sp>
        <p:nvSpPr>
          <p:cNvPr id="25" name="">
            <a:extLst xmlns:a="http://schemas.openxmlformats.org/drawingml/2006/main">
              <a:ext uri="{FF2B5EF4-FFF2-40B4-BE49-F238E27FC236}">
                <a16:creationId xmlns:a16="http://schemas.microsoft.com/office/drawing/2014/main" id="{C3342A98-7A71-4B7C-9471-48A444A5231D}"/>
              </a:ext>
            </a:extLst>
          </p:cNvPr>
          <p:cNvSpPr>
            <a:spLocks xmlns:a="http://schemas.openxmlformats.org/drawingml/2006/main" noGrp="1"/>
          </p:cNvSpPr>
          <p:nvPr/>
        </p:nvSpPr>
        <p:spPr>
          <a:xfrm xmlns:a="http://schemas.openxmlformats.org/drawingml/2006/main">
            <a:off x="1123950" y="8858250"/>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25252A"/>
                </a:solidFill>
                <a:latin typeface="Noto Sans CJK TC"/>
                <a:ea typeface="Noto Sans CJK TC"/>
                <a:cs typeface="Noto Sans CJK TC"/>
              </a:defRPr>
            </a:pPr>
            <a:r>
              <a:rPr sz="1350" b="1" i="0">
                <a:solidFill>
                  <a:srgbClr val="25252A"/>
                </a:solidFill>
                <a:latin typeface="Noto Sans CJK TC"/>
                <a:ea typeface="Noto Sans CJK TC"/>
                <a:cs typeface="Noto Sans CJK TC"/>
              </a:rPr>
              <a:t>strategy_prompt + generation_prompt changed  |  inherited_java unchanged</a:t>
            </a:r>
          </a:p>
        </p:txBody>
      </p:sp>
      <p:sp>
        <p:nvSpPr>
          <p:cNvPr id="26" name="">
            <a:extLst xmlns:a="http://schemas.openxmlformats.org/drawingml/2006/main">
              <a:ext uri="{FF2B5EF4-FFF2-40B4-BE49-F238E27FC236}">
                <a16:creationId xmlns:a16="http://schemas.microsoft.com/office/drawing/2014/main" id="{8416BDDF-0918-48B4-9247-F6ED66833746}"/>
              </a:ext>
            </a:extLst>
          </p:cNvPr>
          <p:cNvSpPr>
            <a:spLocks xmlns:a="http://schemas.openxmlformats.org/drawingml/2006/main" noGrp="1"/>
          </p:cNvSpPr>
          <p:nvPr/>
        </p:nvSpPr>
        <p:spPr>
          <a:xfrm xmlns:a="http://schemas.openxmlformats.org/drawingml/2006/main">
            <a:off x="7334250" y="8648700"/>
            <a:ext cx="0" cy="685800"/>
          </a:xfrm>
          <a:prstGeom xmlns:a="http://schemas.openxmlformats.org/drawingml/2006/main" prst="line">
            <a:avLst/>
          </a:prstGeom>
          <a:noFill xmlns:a="http://schemas.openxmlformats.org/drawingml/2006/main"/>
          <a:ln xmlns:a="http://schemas.openxmlformats.org/drawingml/2006/main" w="9525">
            <a:solidFill>
              <a:srgbClr val="B95160"/>
            </a:solidFill>
            <a:prstDash val="solid"/>
          </a:ln>
        </p:spPr>
      </p:sp>
      <p:sp>
        <p:nvSpPr>
          <p:cNvPr id="27" name="">
            <a:extLst xmlns:a="http://schemas.openxmlformats.org/drawingml/2006/main">
              <a:ext uri="{FF2B5EF4-FFF2-40B4-BE49-F238E27FC236}">
                <a16:creationId xmlns:a16="http://schemas.microsoft.com/office/drawing/2014/main" id="{3148CC91-C8C6-4C34-B27E-B0D200A4B828}"/>
              </a:ext>
            </a:extLst>
          </p:cNvPr>
          <p:cNvSpPr>
            <a:spLocks xmlns:a="http://schemas.openxmlformats.org/drawingml/2006/main" noGrp="1"/>
          </p:cNvSpPr>
          <p:nvPr/>
        </p:nvSpPr>
        <p:spPr>
          <a:xfrm xmlns:a="http://schemas.openxmlformats.org/drawingml/2006/main">
            <a:off x="7667625" y="85915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i="0">
                <a:solidFill>
                  <a:srgbClr val="B95160"/>
                </a:solidFill>
                <a:latin typeface="Noto Sans CJK TC"/>
                <a:ea typeface="Noto Sans CJK TC"/>
                <a:cs typeface="Noto Sans CJK TC"/>
              </a:defRPr>
            </a:pPr>
            <a:r>
              <a:rPr sz="975" b="1" i="0">
                <a:solidFill>
                  <a:srgbClr val="B95160"/>
                </a:solidFill>
                <a:latin typeface="Noto Sans CJK TC"/>
                <a:ea typeface="Noto Sans CJK TC"/>
                <a:cs typeface="Noto Sans CJK TC"/>
              </a:rPr>
              <a:t>人工判讀</a:t>
            </a:r>
          </a:p>
        </p:txBody>
      </p:sp>
      <p:sp>
        <p:nvSpPr>
          <p:cNvPr id="28" name="">
            <a:extLst xmlns:a="http://schemas.openxmlformats.org/drawingml/2006/main">
              <a:ext uri="{FF2B5EF4-FFF2-40B4-BE49-F238E27FC236}">
                <a16:creationId xmlns:a16="http://schemas.microsoft.com/office/drawing/2014/main" id="{FC20CDD3-E551-4115-9440-1205D0EA8E33}"/>
              </a:ext>
            </a:extLst>
          </p:cNvPr>
          <p:cNvSpPr>
            <a:spLocks xmlns:a="http://schemas.openxmlformats.org/drawingml/2006/main" noGrp="1"/>
          </p:cNvSpPr>
          <p:nvPr/>
        </p:nvSpPr>
        <p:spPr>
          <a:xfrm xmlns:a="http://schemas.openxmlformats.org/drawingml/2006/main">
            <a:off x="7667625" y="8858250"/>
            <a:ext cx="9382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25252A"/>
                </a:solidFill>
                <a:latin typeface="Noto Sans CJK TC"/>
                <a:ea typeface="Noto Sans CJK TC"/>
                <a:cs typeface="Noto Sans CJK TC"/>
              </a:defRPr>
            </a:pPr>
            <a:r>
              <a:rPr sz="1350" b="0" i="0">
                <a:solidFill>
                  <a:srgbClr val="25252A"/>
                </a:solidFill>
                <a:latin typeface="Noto Sans CJK TC"/>
                <a:ea typeface="Noto Sans CJK TC"/>
                <a:cs typeface="Noto Sans CJK TC"/>
              </a:rPr>
              <a:t>最明顯問題是 production graph、resource ownership 與不存在的 upgrade。</a:t>
            </a:r>
          </a:p>
        </p:txBody>
      </p:sp>
    </p:spTree>
    <p:extLst>
      <p:ext uri="{BB962C8B-B14F-4D97-AF65-F5344CB8AC3E}">
        <p14:creationId xmlns:p14="http://schemas.microsoft.com/office/powerpoint/2010/main" val="194993906"/>
      </p:ext>
    </p:extLst>
  </p:cSld>
</p:sld>
</file>

<file path=ppt/slides/slide14.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A6FAA36-01C1-431B-AD03-323263D11B02}"/>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
            <a:extLst xmlns:a="http://schemas.openxmlformats.org/drawingml/2006/main">
              <a:ext uri="{FF2B5EF4-FFF2-40B4-BE49-F238E27FC236}">
                <a16:creationId xmlns:a16="http://schemas.microsoft.com/office/drawing/2014/main" id="{F0E3FF5B-042C-4DF9-B4CD-B50A56B6172D}"/>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
            <a:extLst xmlns:a="http://schemas.openxmlformats.org/drawingml/2006/main">
              <a:ext uri="{FF2B5EF4-FFF2-40B4-BE49-F238E27FC236}">
                <a16:creationId xmlns:a16="http://schemas.microsoft.com/office/drawing/2014/main" id="{BBDE7BBE-C7EF-4A46-9B46-9F0951C62AB6}"/>
              </a:ext>
            </a:extLst>
          </p:cNvPr>
          <p:cNvSpPr>
            <a:spLocks xmlns:a="http://schemas.openxmlformats.org/drawingml/2006/main" noGrp="1"/>
          </p:cNvSpPr>
          <p:nvPr/>
        </p:nvSpPr>
        <p:spPr>
          <a:xfrm xmlns:a="http://schemas.openxmlformats.org/drawingml/2006/main">
            <a:off x="9010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4" name="">
            <a:extLst xmlns:a="http://schemas.openxmlformats.org/drawingml/2006/main">
              <a:ext uri="{FF2B5EF4-FFF2-40B4-BE49-F238E27FC236}">
                <a16:creationId xmlns:a16="http://schemas.microsoft.com/office/drawing/2014/main" id="{020A65E2-1295-4F5A-B0D7-63033760AF89}"/>
              </a:ext>
            </a:extLst>
          </p:cNvPr>
          <p:cNvSpPr>
            <a:spLocks xmlns:a="http://schemas.openxmlformats.org/drawingml/2006/main" noGrp="1"/>
          </p:cNvSpPr>
          <p:nvPr/>
        </p:nvSpPr>
        <p:spPr>
          <a:xfrm xmlns:a="http://schemas.openxmlformats.org/drawingml/2006/main">
            <a:off x="92011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5" name="">
            <a:extLst xmlns:a="http://schemas.openxmlformats.org/drawingml/2006/main">
              <a:ext uri="{FF2B5EF4-FFF2-40B4-BE49-F238E27FC236}">
                <a16:creationId xmlns:a16="http://schemas.microsoft.com/office/drawing/2014/main" id="{196C6CFE-65AF-4DA6-B5AE-256F622F592E}"/>
              </a:ext>
            </a:extLst>
          </p:cNvPr>
          <p:cNvSpPr>
            <a:spLocks xmlns:a="http://schemas.openxmlformats.org/drawingml/2006/main" noGrp="1"/>
          </p:cNvSpPr>
          <p:nvPr/>
        </p:nvSpPr>
        <p:spPr>
          <a:xfrm xmlns:a="http://schemas.openxmlformats.org/drawingml/2006/main">
            <a:off x="9391650" y="257175"/>
            <a:ext cx="114300" cy="114300"/>
          </a:xfrm>
          <a:prstGeom xmlns:a="http://schemas.openxmlformats.org/drawingml/2006/main" prst="diamond">
            <a:avLst/>
          </a:prstGeom>
          <a:solidFill xmlns:a="http://schemas.openxmlformats.org/drawingml/2006/main">
            <a:srgbClr val="E36B78"/>
          </a:solidFill>
          <a:ln xmlns:a="http://schemas.openxmlformats.org/drawingml/2006/main" w="0">
            <a:solidFill>
              <a:srgbClr val="E36B78"/>
            </a:solidFill>
          </a:ln>
        </p:spPr>
      </p:sp>
      <p:sp>
        <p:nvSpPr>
          <p:cNvPr id="6" name="">
            <a:extLst xmlns:a="http://schemas.openxmlformats.org/drawingml/2006/main">
              <a:ext uri="{FF2B5EF4-FFF2-40B4-BE49-F238E27FC236}">
                <a16:creationId xmlns:a16="http://schemas.microsoft.com/office/drawing/2014/main" id="{029C0F96-D3F6-4D61-BF5C-6A5533671E2B}"/>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7" name="badge-14">
            <a:extLst xmlns:a="http://schemas.openxmlformats.org/drawingml/2006/main">
              <a:ext uri="{FF2B5EF4-FFF2-40B4-BE49-F238E27FC236}">
                <a16:creationId xmlns:a16="http://schemas.microsoft.com/office/drawing/2014/main" id="{558D5A65-5BB3-4BE8-A9BD-01FF0A955578}"/>
              </a:ext>
            </a:extLst>
          </p:cNvPr>
          <p:cNvSpPr>
            <a:spLocks xmlns:a="http://schemas.openxmlformats.org/drawingml/2006/main" noGrp="1"/>
          </p:cNvSpPr>
          <p:nvPr/>
        </p:nvSpPr>
        <p:spPr>
          <a:xfrm xmlns:a="http://schemas.openxmlformats.org/drawingml/2006/main">
            <a:off x="685800" y="590550"/>
            <a:ext cx="476250" cy="476250"/>
          </a:xfrm>
          <a:prstGeom xmlns:a="http://schemas.openxmlformats.org/drawingml/2006/main" prst="ellipse">
            <a:avLst/>
          </a:prstGeom>
          <a:solidFill xmlns:a="http://schemas.openxmlformats.org/drawingml/2006/main">
            <a:srgbClr val="E36B78"/>
          </a:solidFill>
          <a:ln xmlns:a="http://schemas.openxmlformats.org/drawingml/2006/main" w="0">
            <a:solidFill>
              <a:srgbClr val="E36B78"/>
            </a:solidFill>
          </a:ln>
        </p:spPr>
        <p:txBody>
          <a:bodyPr xmlns:a="http://schemas.openxmlformats.org/drawingml/2006/main" anchor="ctr">
            <a:normAutofit fontScale="76130"/>
          </a:bodyPr>
          <a:lstStyle xmlns:a="http://schemas.openxmlformats.org/drawingml/2006/main"/>
          <a:p xmlns:a="http://schemas.openxmlformats.org/drawingml/2006/main">
            <a:pPr algn="ctr">
              <a:defRPr sz="1350" b="1">
                <a:solidFill>
                  <a:srgbClr val="FFFFFF"/>
                </a:solidFill>
                <a:latin typeface="Noto Sans CJK TC"/>
                <a:ea typeface="Noto Sans CJK TC"/>
                <a:cs typeface="Noto Sans CJK TC"/>
              </a:defRPr>
            </a:pPr>
            <a:r>
              <a:rPr sz="1350" b="1">
                <a:solidFill>
                  <a:srgbClr val="FFFFFF"/>
                </a:solidFill>
                <a:latin typeface="Noto Sans CJK TC"/>
                <a:ea typeface="Noto Sans CJK TC"/>
                <a:cs typeface="Noto Sans CJK TC"/>
              </a:rPr>
              <a:t>04</a:t>
            </a:r>
          </a:p>
        </p:txBody>
      </p:sp>
      <p:sp>
        <p:nvSpPr>
          <p:cNvPr id="8" name="">
            <a:extLst xmlns:a="http://schemas.openxmlformats.org/drawingml/2006/main">
              <a:ext uri="{FF2B5EF4-FFF2-40B4-BE49-F238E27FC236}">
                <a16:creationId xmlns:a16="http://schemas.microsoft.com/office/drawing/2014/main" id="{077E7DAF-D3B5-4CB0-AFEF-2EBBADAFAB0F}"/>
              </a:ext>
            </a:extLst>
          </p:cNvPr>
          <p:cNvSpPr>
            <a:spLocks xmlns:a="http://schemas.openxmlformats.org/drawingml/2006/main" noGrp="1"/>
          </p:cNvSpPr>
          <p:nvPr/>
        </p:nvSpPr>
        <p:spPr>
          <a:xfrm xmlns:a="http://schemas.openxmlformats.org/drawingml/2006/main">
            <a:off x="1314450" y="523875"/>
            <a:ext cx="1276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225" b="1" i="0">
                <a:solidFill>
                  <a:srgbClr val="431218"/>
                </a:solidFill>
                <a:latin typeface="Noto Serif CJK TC"/>
                <a:ea typeface="Noto Serif CJK TC"/>
                <a:cs typeface="Noto Serif CJK TC"/>
              </a:defRPr>
            </a:pPr>
            <a:r>
              <a:rPr sz="3225" b="1" i="0">
                <a:solidFill>
                  <a:srgbClr val="431218"/>
                </a:solidFill>
                <a:latin typeface="Noto Serif CJK TC"/>
                <a:ea typeface="Noto Serif CJK TC"/>
                <a:cs typeface="Noto Serif CJK TC"/>
              </a:rPr>
              <a:t>問題根因與建議修正方向</a:t>
            </a:r>
          </a:p>
        </p:txBody>
      </p:sp>
      <p:sp>
        <p:nvSpPr>
          <p:cNvPr id="9" name="">
            <a:extLst xmlns:a="http://schemas.openxmlformats.org/drawingml/2006/main">
              <a:ext uri="{FF2B5EF4-FFF2-40B4-BE49-F238E27FC236}">
                <a16:creationId xmlns:a16="http://schemas.microsoft.com/office/drawing/2014/main" id="{BCECACB5-A938-4552-9F03-48C5470F008F}"/>
              </a:ext>
            </a:extLst>
          </p:cNvPr>
          <p:cNvSpPr>
            <a:spLocks xmlns:a="http://schemas.openxmlformats.org/drawingml/2006/main" noGrp="1"/>
          </p:cNvSpPr>
          <p:nvPr/>
        </p:nvSpPr>
        <p:spPr>
          <a:xfrm xmlns:a="http://schemas.openxmlformats.org/drawingml/2006/main">
            <a:off x="1333500" y="1143000"/>
            <a:ext cx="1381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優先增加 LLM 可用的規則資訊與自我修正，不把策略變異直接擋掉</a:t>
            </a:r>
          </a:p>
        </p:txBody>
      </p:sp>
      <p:sp>
        <p:nvSpPr>
          <p:cNvPr id="10" name="">
            <a:extLst xmlns:a="http://schemas.openxmlformats.org/drawingml/2006/main">
              <a:ext uri="{FF2B5EF4-FFF2-40B4-BE49-F238E27FC236}">
                <a16:creationId xmlns:a16="http://schemas.microsoft.com/office/drawing/2014/main" id="{64744E72-D488-47B1-BC7E-19DA709CED54}"/>
              </a:ext>
            </a:extLst>
          </p:cNvPr>
          <p:cNvSpPr>
            <a:spLocks xmlns:a="http://schemas.openxmlformats.org/drawingml/2006/main" noGrp="1"/>
          </p:cNvSpPr>
          <p:nvPr/>
        </p:nvSpPr>
        <p:spPr>
          <a:xfrm xmlns:a="http://schemas.openxmlformats.org/drawingml/2006/main">
            <a:off x="14287500" y="6286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1200" b="1" i="0">
                <a:solidFill>
                  <a:srgbClr val="BF872B"/>
                </a:solidFill>
                <a:latin typeface="Noto Sans CJK TC"/>
                <a:ea typeface="Noto Sans CJK TC"/>
                <a:cs typeface="Noto Sans CJK TC"/>
              </a:defRPr>
            </a:pPr>
            <a:r>
              <a:rPr sz="1200" b="1" i="0">
                <a:solidFill>
                  <a:srgbClr val="BF872B"/>
                </a:solidFill>
                <a:latin typeface="Noto Sans CJK TC"/>
                <a:ea typeface="Noto Sans CJK TC"/>
                <a:cs typeface="Noto Sans CJK TC"/>
              </a:rPr>
              <a:t>NEXT ITERATION</a:t>
            </a:r>
          </a:p>
        </p:txBody>
      </p:sp>
      <p:sp>
        <p:nvSpPr>
          <p:cNvPr id="11" name="">
            <a:extLst xmlns:a="http://schemas.openxmlformats.org/drawingml/2006/main">
              <a:ext uri="{FF2B5EF4-FFF2-40B4-BE49-F238E27FC236}">
                <a16:creationId xmlns:a16="http://schemas.microsoft.com/office/drawing/2014/main" id="{14A97D05-69DC-4D4F-8E8F-8893C50232FE}"/>
              </a:ext>
            </a:extLst>
          </p:cNvPr>
          <p:cNvSpPr>
            <a:spLocks xmlns:a="http://schemas.openxmlformats.org/drawingml/2006/main" noGrp="1"/>
          </p:cNvSpPr>
          <p:nvPr/>
        </p:nvSpPr>
        <p:spPr>
          <a:xfrm xmlns:a="http://schemas.openxmlformats.org/drawingml/2006/main">
            <a:off x="16764000" y="982980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06A"/>
                </a:solidFill>
                <a:latin typeface="Noto Sans CJK TC"/>
                <a:ea typeface="Noto Sans CJK TC"/>
                <a:cs typeface="Noto Sans CJK TC"/>
              </a:defRPr>
            </a:pPr>
            <a:r>
              <a:rPr sz="900" b="0" i="0">
                <a:solidFill>
                  <a:srgbClr val="62606A"/>
                </a:solidFill>
                <a:latin typeface="Noto Sans CJK TC"/>
                <a:ea typeface="Noto Sans CJK TC"/>
                <a:cs typeface="Noto Sans CJK TC"/>
              </a:rPr>
              <a:t>14 / 14</a:t>
            </a:r>
          </a:p>
        </p:txBody>
      </p:sp>
      <p:sp>
        <p:nvSpPr>
          <p:cNvPr id="12" name="">
            <a:extLst xmlns:a="http://schemas.openxmlformats.org/drawingml/2006/main">
              <a:ext uri="{FF2B5EF4-FFF2-40B4-BE49-F238E27FC236}">
                <a16:creationId xmlns:a16="http://schemas.microsoft.com/office/drawing/2014/main" id="{EFF85D86-0B4D-4989-B491-85260CDEFA6F}"/>
              </a:ext>
            </a:extLst>
          </p:cNvPr>
          <p:cNvSpPr>
            <a:spLocks xmlns:a="http://schemas.openxmlformats.org/drawingml/2006/main" noGrp="1"/>
          </p:cNvSpPr>
          <p:nvPr/>
        </p:nvSpPr>
        <p:spPr>
          <a:xfrm xmlns:a="http://schemas.openxmlformats.org/drawingml/2006/main">
            <a:off x="952500" y="1762125"/>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這次確認的根因</a:t>
            </a:r>
          </a:p>
        </p:txBody>
      </p:sp>
      <p:sp>
        <p:nvSpPr>
          <p:cNvPr id="13" name="">
            <a:extLst xmlns:a="http://schemas.openxmlformats.org/drawingml/2006/main">
              <a:ext uri="{FF2B5EF4-FFF2-40B4-BE49-F238E27FC236}">
                <a16:creationId xmlns:a16="http://schemas.microsoft.com/office/drawing/2014/main" id="{15D539A8-9F33-45CB-B970-C165EC6ED70A}"/>
              </a:ext>
            </a:extLst>
          </p:cNvPr>
          <p:cNvSpPr>
            <a:spLocks xmlns:a="http://schemas.openxmlformats.org/drawingml/2006/main" noGrp="1"/>
          </p:cNvSpPr>
          <p:nvPr/>
        </p:nvSpPr>
        <p:spPr>
          <a:xfrm xmlns:a="http://schemas.openxmlformats.org/drawingml/2006/main">
            <a:off x="952500" y="2124075"/>
            <a:ext cx="723900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4" name="">
            <a:extLst xmlns:a="http://schemas.openxmlformats.org/drawingml/2006/main">
              <a:ext uri="{FF2B5EF4-FFF2-40B4-BE49-F238E27FC236}">
                <a16:creationId xmlns:a16="http://schemas.microsoft.com/office/drawing/2014/main" id="{BF963E8E-F97E-4182-99ED-42EB813DF105}"/>
              </a:ext>
            </a:extLst>
          </p:cNvPr>
          <p:cNvSpPr>
            <a:spLocks xmlns:a="http://schemas.openxmlformats.org/drawingml/2006/main" noGrp="1"/>
          </p:cNvSpPr>
          <p:nvPr/>
        </p:nvSpPr>
        <p:spPr>
          <a:xfrm xmlns:a="http://schemas.openxmlformats.org/drawingml/2006/main">
            <a:off x="952500" y="2333625"/>
            <a:ext cx="72390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15900" indent="-101600">
              <a:spcAft>
                <a:spcPts val="1000"/>
              </a:spcAft>
              <a:buChar char="•"/>
              <a:defRPr sz="1650">
                <a:solidFill>
                  <a:srgbClr val="25252A"/>
                </a:solidFill>
                <a:latin typeface="Noto Sans CJK TC"/>
                <a:ea typeface="Noto Sans CJK TC"/>
                <a:cs typeface="Noto Sans CJK TC"/>
              </a:defRPr>
            </a:pPr>
            <a:r>
              <a:rPr sz="1650">
                <a:solidFill>
                  <a:srgbClr val="25252A"/>
                </a:solidFill>
                <a:latin typeface="Noto Sans CJK TC"/>
                <a:ea typeface="Noto Sans CJK TC"/>
                <a:cs typeface="Noto Sans CJK TC"/>
              </a:rPr>
              <a:t>Strategy 與 Balance rewriter 收到 contract，但沒有逐條驗證自己的 final policy。</a:t>
            </a:r>
          </a:p>
          <a:p xmlns:a="http://schemas.openxmlformats.org/drawingml/2006/main">
            <a:pPr marL="215900" indent="-101600">
              <a:spcAft>
                <a:spcPts val="1000"/>
              </a:spcAft>
              <a:buChar char="•"/>
              <a:defRPr sz="1650">
                <a:solidFill>
                  <a:srgbClr val="25252A"/>
                </a:solidFill>
                <a:latin typeface="Noto Sans CJK TC"/>
                <a:ea typeface="Noto Sans CJK TC"/>
                <a:cs typeface="Noto Sans CJK TC"/>
              </a:defRPr>
            </a:pPr>
            <a:r>
              <a:rPr sz="1650">
                <a:solidFill>
                  <a:srgbClr val="25252A"/>
                </a:solidFill>
                <a:latin typeface="Noto Sans CJK TC"/>
                <a:ea typeface="Noto Sans CJK TC"/>
                <a:cs typeface="Noto Sans CJK TC"/>
              </a:rPr>
              <a:t>Balance Reflector 只看 W/D/L，先產生 scouting、tech、upgrade 等錯誤概念，後續 rewriter 會承接這些詞。</a:t>
            </a:r>
          </a:p>
          <a:p xmlns:a="http://schemas.openxmlformats.org/drawingml/2006/main">
            <a:pPr marL="215900" indent="-101600">
              <a:spcAft>
                <a:spcPts val="1000"/>
              </a:spcAft>
              <a:buChar char="•"/>
              <a:defRPr sz="1650">
                <a:solidFill>
                  <a:srgbClr val="25252A"/>
                </a:solidFill>
                <a:latin typeface="Noto Sans CJK TC"/>
                <a:ea typeface="Noto Sans CJK TC"/>
                <a:cs typeface="Noto Sans CJK TC"/>
              </a:defRPr>
            </a:pPr>
            <a:r>
              <a:rPr sz="1650">
                <a:solidFill>
                  <a:srgbClr val="25252A"/>
                </a:solidFill>
                <a:latin typeface="Noto Sans CJK TC"/>
                <a:ea typeface="Noto Sans CJK TC"/>
                <a:cs typeface="Noto Sans CJK TC"/>
              </a:rPr>
              <a:t>Code Reflector 不理解 decide 每 cycle 呼叫與既有 helper 語意，導致大量 false mismatch。</a:t>
            </a:r>
          </a:p>
          <a:p xmlns:a="http://schemas.openxmlformats.org/drawingml/2006/main">
            <a:pPr marL="215900" indent="-101600">
              <a:spcAft>
                <a:spcPts val="1000"/>
              </a:spcAft>
              <a:buChar char="•"/>
              <a:defRPr sz="1650">
                <a:solidFill>
                  <a:srgbClr val="25252A"/>
                </a:solidFill>
                <a:latin typeface="Noto Sans CJK TC"/>
                <a:ea typeface="Noto Sans CJK TC"/>
                <a:cs typeface="Noto Sans CJK TC"/>
              </a:defRPr>
            </a:pPr>
            <a:r>
              <a:rPr sz="1650">
                <a:solidFill>
                  <a:srgbClr val="25252A"/>
                </a:solidFill>
                <a:latin typeface="Noto Sans CJK TC"/>
                <a:ea typeface="Noto Sans CJK TC"/>
                <a:cs typeface="Noto Sans CJK TC"/>
              </a:rPr>
              <a:t>Code Rewrite retry 只回報禁用詞，8B 模型仍複製 resource 或 API symbol。</a:t>
            </a:r>
          </a:p>
        </p:txBody>
      </p:sp>
      <p:sp>
        <p:nvSpPr>
          <p:cNvPr id="15" name="">
            <a:extLst xmlns:a="http://schemas.openxmlformats.org/drawingml/2006/main">
              <a:ext uri="{FF2B5EF4-FFF2-40B4-BE49-F238E27FC236}">
                <a16:creationId xmlns:a16="http://schemas.microsoft.com/office/drawing/2014/main" id="{B048DD30-0501-4FD2-972C-87A668390B3E}"/>
              </a:ext>
            </a:extLst>
          </p:cNvPr>
          <p:cNvSpPr>
            <a:spLocks xmlns:a="http://schemas.openxmlformats.org/drawingml/2006/main" noGrp="1"/>
          </p:cNvSpPr>
          <p:nvPr/>
        </p:nvSpPr>
        <p:spPr>
          <a:xfrm xmlns:a="http://schemas.openxmlformats.org/drawingml/2006/main">
            <a:off x="9239250" y="17621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95160"/>
                </a:solidFill>
                <a:latin typeface="Noto Sans CJK TC"/>
                <a:ea typeface="Noto Sans CJK TC"/>
                <a:cs typeface="Noto Sans CJK TC"/>
              </a:defRPr>
            </a:pPr>
            <a:r>
              <a:rPr sz="1350" b="1" i="0">
                <a:solidFill>
                  <a:srgbClr val="B95160"/>
                </a:solidFill>
                <a:latin typeface="Noto Sans CJK TC"/>
                <a:ea typeface="Noto Sans CJK TC"/>
                <a:cs typeface="Noto Sans CJK TC"/>
              </a:rPr>
              <a:t>下一版 prompt 設計</a:t>
            </a:r>
          </a:p>
        </p:txBody>
      </p:sp>
      <p:sp>
        <p:nvSpPr>
          <p:cNvPr id="16" name="">
            <a:extLst xmlns:a="http://schemas.openxmlformats.org/drawingml/2006/main">
              <a:ext uri="{FF2B5EF4-FFF2-40B4-BE49-F238E27FC236}">
                <a16:creationId xmlns:a16="http://schemas.microsoft.com/office/drawing/2014/main" id="{EC721937-22B3-44C7-9F91-D02EF9A9F47C}"/>
              </a:ext>
            </a:extLst>
          </p:cNvPr>
          <p:cNvSpPr>
            <a:spLocks xmlns:a="http://schemas.openxmlformats.org/drawingml/2006/main" noGrp="1"/>
          </p:cNvSpPr>
          <p:nvPr/>
        </p:nvSpPr>
        <p:spPr>
          <a:xfrm xmlns:a="http://schemas.openxmlformats.org/drawingml/2006/main">
            <a:off x="9239250" y="2124075"/>
            <a:ext cx="8096250" cy="0"/>
          </a:xfrm>
          <a:prstGeom xmlns:a="http://schemas.openxmlformats.org/drawingml/2006/main" prst="line">
            <a:avLst/>
          </a:prstGeom>
          <a:noFill xmlns:a="http://schemas.openxmlformats.org/drawingml/2006/main"/>
          <a:ln xmlns:a="http://schemas.openxmlformats.org/drawingml/2006/main" w="9525">
            <a:solidFill>
              <a:srgbClr val="E7B9B5"/>
            </a:solidFill>
            <a:prstDash val="solid"/>
          </a:ln>
        </p:spPr>
      </p:sp>
      <p:sp>
        <p:nvSpPr>
          <p:cNvPr id="17" name="">
            <a:extLst xmlns:a="http://schemas.openxmlformats.org/drawingml/2006/main">
              <a:ext uri="{FF2B5EF4-FFF2-40B4-BE49-F238E27FC236}">
                <a16:creationId xmlns:a16="http://schemas.microsoft.com/office/drawing/2014/main" id="{DDF041C6-3499-4EF2-ADEE-38115CF4A0EE}"/>
              </a:ext>
            </a:extLst>
          </p:cNvPr>
          <p:cNvSpPr>
            <a:spLocks xmlns:a="http://schemas.openxmlformats.org/drawingml/2006/main" noGrp="1"/>
          </p:cNvSpPr>
          <p:nvPr/>
        </p:nvSpPr>
        <p:spPr>
          <a:xfrm xmlns:a="http://schemas.openxmlformats.org/drawingml/2006/main">
            <a:off x="9239250" y="2333625"/>
            <a:ext cx="8096250" cy="485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15900" indent="-101600">
              <a:spcAft>
                <a:spcPts val="900"/>
              </a:spcAft>
              <a:buChar char="•"/>
              <a:defRPr sz="1650">
                <a:solidFill>
                  <a:srgbClr val="25252A"/>
                </a:solidFill>
                <a:latin typeface="Noto Sans CJK TC"/>
                <a:ea typeface="Noto Sans CJK TC"/>
                <a:cs typeface="Noto Sans CJK TC"/>
              </a:defRPr>
            </a:pPr>
            <a:r>
              <a:rPr sz="1650">
                <a:solidFill>
                  <a:srgbClr val="25252A"/>
                </a:solidFill>
                <a:latin typeface="Noto Sans CJK TC"/>
                <a:ea typeface="Noto Sans CJK TC"/>
                <a:cs typeface="Noto Sans CJK TC"/>
              </a:rPr>
              <a:t>Balance Reflector 同樣取得 gameplay contract，規則資訊不算 candidate behavior evidence。</a:t>
            </a:r>
          </a:p>
          <a:p xmlns:a="http://schemas.openxmlformats.org/drawingml/2006/main">
            <a:pPr marL="215900" indent="-101600">
              <a:spcAft>
                <a:spcPts val="900"/>
              </a:spcAft>
              <a:buChar char="•"/>
              <a:defRPr sz="1650">
                <a:solidFill>
                  <a:srgbClr val="25252A"/>
                </a:solidFill>
                <a:latin typeface="Noto Sans CJK TC"/>
                <a:ea typeface="Noto Sans CJK TC"/>
                <a:cs typeface="Noto Sans CJK TC"/>
              </a:defRPr>
            </a:pPr>
            <a:r>
              <a:rPr sz="1650">
                <a:solidFill>
                  <a:srgbClr val="25252A"/>
                </a:solidFill>
                <a:latin typeface="Noto Sans CJK TC"/>
                <a:ea typeface="Noto Sans CJK TC"/>
                <a:cs typeface="Noto Sans CJK TC"/>
              </a:rPr>
              <a:t>所有 strategy response 先輸出 condition、actor、legal action、production prerequisite，再組成自然語言 policy。</a:t>
            </a:r>
          </a:p>
          <a:p xmlns:a="http://schemas.openxmlformats.org/drawingml/2006/main">
            <a:pPr marL="215900" indent="-101600">
              <a:spcAft>
                <a:spcPts val="900"/>
              </a:spcAft>
              <a:buChar char="•"/>
              <a:defRPr sz="1650">
                <a:solidFill>
                  <a:srgbClr val="25252A"/>
                </a:solidFill>
                <a:latin typeface="Noto Sans CJK TC"/>
                <a:ea typeface="Noto Sans CJK TC"/>
                <a:cs typeface="Noto Sans CJK TC"/>
              </a:defRPr>
            </a:pPr>
            <a:r>
              <a:rPr sz="1650">
                <a:solidFill>
                  <a:srgbClr val="25252A"/>
                </a:solidFill>
                <a:latin typeface="Noto Sans CJK TC"/>
                <a:ea typeface="Noto Sans CJK TC"/>
                <a:cs typeface="Noto Sans CJK TC"/>
              </a:rPr>
              <a:t>Final response 前加入 closed-world self-check：entity、observation、action、builder、producer、resource、free cell。</a:t>
            </a:r>
          </a:p>
          <a:p xmlns:a="http://schemas.openxmlformats.org/drawingml/2006/main">
            <a:pPr marL="215900" indent="-101600">
              <a:spcAft>
                <a:spcPts val="900"/>
              </a:spcAft>
              <a:buChar char="•"/>
              <a:defRPr sz="1650">
                <a:solidFill>
                  <a:srgbClr val="25252A"/>
                </a:solidFill>
                <a:latin typeface="Noto Sans CJK TC"/>
                <a:ea typeface="Noto Sans CJK TC"/>
                <a:cs typeface="Noto Sans CJK TC"/>
              </a:defRPr>
            </a:pPr>
            <a:r>
              <a:rPr sz="1650">
                <a:solidFill>
                  <a:srgbClr val="25252A"/>
                </a:solidFill>
                <a:latin typeface="Noto Sans CJK TC"/>
                <a:ea typeface="Noto Sans CJK TC"/>
                <a:cs typeface="Noto Sans CJK TC"/>
              </a:rPr>
              <a:t>發現違規時，把具體違規句送回同一模型要求重寫，保留 mutation 而非整體丟棄。</a:t>
            </a:r>
          </a:p>
          <a:p xmlns:a="http://schemas.openxmlformats.org/drawingml/2006/main">
            <a:pPr marL="215900" indent="-101600">
              <a:spcAft>
                <a:spcPts val="900"/>
              </a:spcAft>
              <a:buChar char="•"/>
              <a:defRPr sz="1650">
                <a:solidFill>
                  <a:srgbClr val="25252A"/>
                </a:solidFill>
                <a:latin typeface="Noto Sans CJK TC"/>
                <a:ea typeface="Noto Sans CJK TC"/>
                <a:cs typeface="Noto Sans CJK TC"/>
              </a:defRPr>
            </a:pPr>
            <a:r>
              <a:rPr sz="1650">
                <a:solidFill>
                  <a:srgbClr val="25252A"/>
                </a:solidFill>
                <a:latin typeface="Noto Sans CJK TC"/>
                <a:ea typeface="Noto Sans CJK TC"/>
                <a:cs typeface="Noto Sans CJK TC"/>
              </a:rPr>
              <a:t>Code Reflector prompt 明說 decide 的呼叫週期與 fixed helper 已保證的行為，減少 false mismatch。</a:t>
            </a:r>
          </a:p>
        </p:txBody>
      </p:sp>
      <p:sp>
        <p:nvSpPr>
          <p:cNvPr id="18" name="final-takeaway">
            <a:extLst xmlns:a="http://schemas.openxmlformats.org/drawingml/2006/main">
              <a:ext uri="{FF2B5EF4-FFF2-40B4-BE49-F238E27FC236}">
                <a16:creationId xmlns:a16="http://schemas.microsoft.com/office/drawing/2014/main" id="{B8B5E1F6-073D-4BE3-B4C9-3C4AD1DE6A8B}"/>
              </a:ext>
            </a:extLst>
          </p:cNvPr>
          <p:cNvSpPr>
            <a:spLocks xmlns:a="http://schemas.openxmlformats.org/drawingml/2006/main" noGrp="1"/>
          </p:cNvSpPr>
          <p:nvPr/>
        </p:nvSpPr>
        <p:spPr>
          <a:xfrm xmlns:a="http://schemas.openxmlformats.org/drawingml/2006/main">
            <a:off x="952500" y="7715250"/>
            <a:ext cx="16383000" cy="1190625"/>
          </a:xfrm>
          <a:prstGeom xmlns:a="http://schemas.openxmlformats.org/drawingml/2006/main" prst="roundRect">
            <a:avLst>
              <a:gd name="adj" fmla="val 6400"/>
            </a:avLst>
          </a:prstGeom>
          <a:solidFill xmlns:a="http://schemas.openxmlformats.org/drawingml/2006/main">
            <a:srgbClr val="F7E7C8"/>
          </a:solidFill>
          <a:ln xmlns:a="http://schemas.openxmlformats.org/drawingml/2006/main" w="9525">
            <a:solidFill>
              <a:srgbClr val="BF872B"/>
            </a:solidFill>
            <a:prstDash val="solid"/>
          </a:ln>
        </p:spPr>
      </p:sp>
      <p:sp>
        <p:nvSpPr>
          <p:cNvPr id="19" name="">
            <a:extLst xmlns:a="http://schemas.openxmlformats.org/drawingml/2006/main">
              <a:ext uri="{FF2B5EF4-FFF2-40B4-BE49-F238E27FC236}">
                <a16:creationId xmlns:a16="http://schemas.microsoft.com/office/drawing/2014/main" id="{940216D6-0FA0-4973-9563-6C774DD27E43}"/>
              </a:ext>
            </a:extLst>
          </p:cNvPr>
          <p:cNvSpPr>
            <a:spLocks xmlns:a="http://schemas.openxmlformats.org/drawingml/2006/main" noGrp="1"/>
          </p:cNvSpPr>
          <p:nvPr/>
        </p:nvSpPr>
        <p:spPr>
          <a:xfrm xmlns:a="http://schemas.openxmlformats.org/drawingml/2006/main">
            <a:off x="1285875" y="8048625"/>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F872B"/>
                </a:solidFill>
                <a:latin typeface="Noto Sans CJK TC"/>
                <a:ea typeface="Noto Sans CJK TC"/>
                <a:cs typeface="Noto Sans CJK TC"/>
              </a:defRPr>
            </a:pPr>
            <a:r>
              <a:rPr sz="1350" b="1" i="0">
                <a:solidFill>
                  <a:srgbClr val="BF872B"/>
                </a:solidFill>
                <a:latin typeface="Noto Sans CJK TC"/>
                <a:ea typeface="Noto Sans CJK TC"/>
                <a:cs typeface="Noto Sans CJK TC"/>
              </a:rPr>
              <a:t>結論</a:t>
            </a:r>
          </a:p>
        </p:txBody>
      </p:sp>
      <p:sp>
        <p:nvSpPr>
          <p:cNvPr id="20" name="">
            <a:extLst xmlns:a="http://schemas.openxmlformats.org/drawingml/2006/main">
              <a:ext uri="{FF2B5EF4-FFF2-40B4-BE49-F238E27FC236}">
                <a16:creationId xmlns:a16="http://schemas.microsoft.com/office/drawing/2014/main" id="{DDFD9205-EF2D-4F56-9C6D-CB2FBCC6A4C1}"/>
              </a:ext>
            </a:extLst>
          </p:cNvPr>
          <p:cNvSpPr>
            <a:spLocks xmlns:a="http://schemas.openxmlformats.org/drawingml/2006/main" noGrp="1"/>
          </p:cNvSpPr>
          <p:nvPr/>
        </p:nvSpPr>
        <p:spPr>
          <a:xfrm xmlns:a="http://schemas.openxmlformats.org/drawingml/2006/main">
            <a:off x="2857500" y="7943850"/>
            <a:ext cx="1381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950" b="1" i="0">
                <a:solidFill>
                  <a:srgbClr val="431218"/>
                </a:solidFill>
                <a:latin typeface="Noto Sans CJK TC"/>
                <a:ea typeface="Noto Sans CJK TC"/>
                <a:cs typeface="Noto Sans CJK TC"/>
              </a:defRPr>
            </a:pPr>
            <a:r>
              <a:rPr sz="1950" b="1" i="0">
                <a:solidFill>
                  <a:srgbClr val="431218"/>
                </a:solidFill>
                <a:latin typeface="Noto Sans CJK TC"/>
                <a:ea typeface="Noto Sans CJK TC"/>
                <a:cs typeface="Noto Sans CJK TC"/>
              </a:rPr>
              <a:t>目前可以保存與回溯 reflection，但還不能把 applied response 直接視為可生成、可執行或會改善勝率的策略。</a:t>
            </a:r>
          </a:p>
        </p:txBody>
      </p:sp>
    </p:spTree>
    <p:extLst>
      <p:ext uri="{BB962C8B-B14F-4D97-AF65-F5344CB8AC3E}">
        <p14:creationId xmlns:p14="http://schemas.microsoft.com/office/powerpoint/2010/main" val="493541529"/>
      </p:ext>
    </p:extLst>
  </p:cSld>
</p:sld>
</file>

<file path=ppt/theme/theme1.xml><?xml version="1.0" encoding="utf-8"?>
<a:theme xmlns:a="http://schemas.openxmlformats.org/drawingml/2006/main" name="ChatGPT">
  <a:themeElements>
    <a:clrScheme name="EAGLE Meeting">
      <a:dk1>
        <a:srgbClr val="000000"/>
      </a:dk1>
      <a:lt1>
        <a:srgbClr val="FFFFFF"/>
      </a:lt1>
      <a:dk2>
        <a:srgbClr val="25252A"/>
      </a:dk2>
      <a:lt2>
        <a:srgbClr val="FFFDF9"/>
      </a:lt2>
      <a:accent1>
        <a:srgbClr val="E36B78"/>
      </a:accent1>
      <a:accent2>
        <a:srgbClr val="47795C"/>
      </a:accent2>
      <a:accent3>
        <a:srgbClr val="BF872B"/>
      </a:accent3>
      <a:accent4>
        <a:srgbClr val="B95160"/>
      </a:accent4>
      <a:accent5>
        <a:srgbClr val="62606A"/>
      </a:accent5>
      <a:accent6>
        <a:srgbClr val="431218"/>
      </a:accent6>
      <a:hlink>
        <a:srgbClr val="B95160"/>
      </a:hlink>
      <a:folHlink>
        <a:srgbClr val="431218"/>
      </a:folHlink>
    </a:clrScheme>
    <a:fontScheme name="Office">
      <a:majorFont>
        <a:latin typeface="Calibri Light"/>
        <a:ea typeface="Calibri Light"/>
        <a:cs typeface="Calibri Light"/>
      </a:majorFont>
      <a:minorFont>
        <a:latin typeface="Calibri"/>
        <a:ea typeface="Calibri"/>
        <a:cs typeface="Calibri"/>
      </a:minorFont>
    </a:fontScheme>
    <a:fmtScheme name="EAGLE Meeting">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2026-09-04T02:35:04.2670000Z</dcterms:created>
  <dcterms:modified xsi:type="dcterms:W3CDTF">2026-09-04T02:35:04.2670000Z</dcterms:modified>
</coreProperties>
</file>